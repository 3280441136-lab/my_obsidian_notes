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gif" ContentType="image/gif"/>
  <Default Extension="wmf" ContentType="image/x-w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89" r:id="rId3"/>
    <p:sldId id="262" r:id="rId4"/>
    <p:sldId id="263" r:id="rId5"/>
    <p:sldId id="274" r:id="rId6"/>
    <p:sldId id="292" r:id="rId7"/>
    <p:sldId id="293" r:id="rId8"/>
    <p:sldId id="269" r:id="rId9"/>
    <p:sldId id="272" r:id="rId10"/>
    <p:sldId id="264" r:id="rId11"/>
    <p:sldId id="294" r:id="rId12"/>
    <p:sldId id="295" r:id="rId13"/>
    <p:sldId id="297" r:id="rId14"/>
    <p:sldId id="296" r:id="rId15"/>
    <p:sldId id="298" r:id="rId16"/>
    <p:sldId id="265" r:id="rId17"/>
    <p:sldId id="266" r:id="rId18"/>
    <p:sldId id="267" r:id="rId19"/>
    <p:sldId id="268" r:id="rId20"/>
    <p:sldId id="280" r:id="rId21"/>
    <p:sldId id="281" r:id="rId22"/>
    <p:sldId id="257" r:id="rId23"/>
    <p:sldId id="261" r:id="rId24"/>
    <p:sldId id="283" r:id="rId25"/>
    <p:sldId id="258" r:id="rId26"/>
    <p:sldId id="803" r:id="rId27"/>
    <p:sldId id="299" r:id="rId28"/>
    <p:sldId id="300" r:id="rId29"/>
    <p:sldId id="279" r:id="rId30"/>
    <p:sldId id="271" r:id="rId31"/>
    <p:sldId id="273" r:id="rId32"/>
    <p:sldId id="259" r:id="rId33"/>
    <p:sldId id="276" r:id="rId34"/>
    <p:sldId id="306" r:id="rId35"/>
    <p:sldId id="304" r:id="rId36"/>
    <p:sldId id="317" r:id="rId37"/>
    <p:sldId id="314" r:id="rId38"/>
    <p:sldId id="796" r:id="rId39"/>
    <p:sldId id="318" r:id="rId40"/>
    <p:sldId id="313" r:id="rId41"/>
    <p:sldId id="312" r:id="rId42"/>
    <p:sldId id="797" r:id="rId43"/>
    <p:sldId id="290" r:id="rId44"/>
    <p:sldId id="291" r:id="rId45"/>
    <p:sldId id="282" r:id="rId46"/>
  </p:sldIdLst>
  <p:sldSz cx="9144000" cy="6858000" type="screen4x3"/>
  <p:notesSz cx="6858000" cy="9144000"/>
  <p:custDataLst>
    <p:tags r:id="rId5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2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498" y="67"/>
      </p:cViewPr>
      <p:guideLst>
        <p:guide orient="horz" pos="2162"/>
        <p:guide pos="29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gs" Target="tags/tag1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notesMaster" Target="notesMasters/notesMaster1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40AF7-1EF4-445B-8A8D-6B046769B2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4BB101-19F6-4E6C-B272-3B94502695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4D03FC-D3A5-4758-8319-927431E758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FC5D4F1-AB99-4EC4-92FF-BB9972732EF9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GIF"/><Relationship Id="rId3" Type="http://schemas.openxmlformats.org/officeDocument/2006/relationships/image" Target="../media/image36.GIF"/><Relationship Id="rId2" Type="http://schemas.openxmlformats.org/officeDocument/2006/relationships/image" Target="../media/image35.emf"/><Relationship Id="rId1" Type="http://schemas.openxmlformats.org/officeDocument/2006/relationships/oleObject" Target="../embeddings/oleObject1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emf"/><Relationship Id="rId1" Type="http://schemas.openxmlformats.org/officeDocument/2006/relationships/oleObject" Target="../embeddings/oleObject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png"/><Relationship Id="rId3" Type="http://schemas.openxmlformats.org/officeDocument/2006/relationships/image" Target="../media/image45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45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       </a:t>
            </a:r>
            <a:r>
              <a:rPr lang="zh-CN" altLang="en-US" sz="2800" b="1" dirty="0">
                <a:solidFill>
                  <a:srgbClr val="FF0000"/>
                </a:solidFill>
              </a:rPr>
              <a:t>本课程是在模电、数电等验证性实验基础上， 进行的更高层次的设计实验，</a:t>
            </a:r>
            <a:r>
              <a:rPr lang="zh-CN" altLang="en-US" sz="2800" dirty="0"/>
              <a:t>是在老师的指导下学生独立查阅资料、设计、安装和调试特定功能的电子电路综合设计实验。综合设计实验对提高学生的电子工程素质和科学实验能力非常重要。有学生自行设计、自行制作和自行调试的综合性实验，旨在培养学生综合模拟、数字等知识，解决电子信息方面常见实际问题的能力，促使学生积累实际电子制作的经验，准备走向更加复杂更实用的应用领域。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1338606" y="5410986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数电模电（基础）</a:t>
            </a:r>
            <a:r>
              <a:rPr lang="en-US" altLang="zh-CN" sz="3600" b="1" dirty="0">
                <a:solidFill>
                  <a:srgbClr val="FF0000"/>
                </a:solidFill>
              </a:rPr>
              <a:t>+</a:t>
            </a:r>
            <a:r>
              <a:rPr lang="zh-CN" altLang="en-US" sz="3600" b="1" dirty="0">
                <a:solidFill>
                  <a:srgbClr val="FF0000"/>
                </a:solidFill>
              </a:rPr>
              <a:t>通信（扩展）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教学方式和课程要求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5470" y="1767300"/>
            <a:ext cx="8259098" cy="3880773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/>
              <a:t>    1  </a:t>
            </a:r>
            <a:r>
              <a:rPr lang="zh-CN" altLang="en-US" sz="2800" dirty="0"/>
              <a:t>教师指导和学生设计相结合：学生根据给定题目进行</a:t>
            </a:r>
            <a:r>
              <a:rPr lang="en-US" altLang="zh-CN" sz="2800" dirty="0"/>
              <a:t>4</a:t>
            </a:r>
            <a:r>
              <a:rPr lang="zh-CN" altLang="en-US" sz="2800" dirty="0"/>
              <a:t>人一组，完成电子线路系统的设计、仿真、焊接到调试，并于</a:t>
            </a:r>
            <a:r>
              <a:rPr lang="en-US" altLang="zh-CN" sz="2800" dirty="0"/>
              <a:t>15</a:t>
            </a:r>
            <a:r>
              <a:rPr lang="zh-CN" altLang="en-US" sz="2800" dirty="0"/>
              <a:t>周前上交设计报告，</a:t>
            </a:r>
            <a:r>
              <a:rPr lang="en-US" altLang="zh-CN" sz="2800" dirty="0"/>
              <a:t>16</a:t>
            </a:r>
            <a:r>
              <a:rPr lang="zh-CN" altLang="en-US" sz="2800" dirty="0"/>
              <a:t>周答辩。</a:t>
            </a:r>
            <a:endParaRPr lang="en-US" altLang="zh-CN" sz="2800" dirty="0"/>
          </a:p>
          <a:p>
            <a:pPr>
              <a:lnSpc>
                <a:spcPct val="125000"/>
              </a:lnSpc>
            </a:pPr>
            <a:r>
              <a:rPr lang="en-US" altLang="zh-CN" sz="2800" dirty="0"/>
              <a:t>   2   </a:t>
            </a:r>
            <a:r>
              <a:rPr lang="zh-CN" altLang="en-US" sz="2800" dirty="0"/>
              <a:t>学生定期向老师汇报设计的进展，作为本课程的出勤率考核。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成绩评价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dirty="0"/>
              <a:t>           </a:t>
            </a:r>
            <a:r>
              <a:rPr lang="zh-CN" altLang="en-US" sz="2800" dirty="0"/>
              <a:t>根据学生在课程设计中的表现（含出勤率）及设计成果、答辩和设计报告确定成绩。</a:t>
            </a:r>
            <a:endParaRPr lang="zh-CN" altLang="en-US" sz="2800" dirty="0"/>
          </a:p>
          <a:p>
            <a:pPr>
              <a:lnSpc>
                <a:spcPct val="125000"/>
              </a:lnSpc>
            </a:pPr>
            <a:endParaRPr lang="zh-CN" altLang="en-US" sz="2800" dirty="0"/>
          </a:p>
          <a:p>
            <a:pPr>
              <a:lnSpc>
                <a:spcPct val="125000"/>
              </a:lnSpc>
            </a:pPr>
            <a:endParaRPr lang="zh-CN" altLang="en-US" sz="2800" dirty="0"/>
          </a:p>
          <a:p>
            <a:pPr>
              <a:lnSpc>
                <a:spcPct val="125000"/>
              </a:lnSpc>
            </a:pPr>
            <a:r>
              <a:rPr lang="zh-CN" altLang="en-US" sz="2800" dirty="0"/>
              <a:t>方案设计，电路设计（指标实现</a:t>
            </a:r>
            <a:r>
              <a:rPr lang="zh-CN" altLang="en-US" sz="2800" dirty="0"/>
              <a:t>情况），软件仿真，硬件调试，团队表现，课程报告，汇报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3328670"/>
            <a:ext cx="891540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先修课程：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sz="2800" dirty="0"/>
              <a:t>    </a:t>
            </a:r>
            <a:r>
              <a:rPr lang="en-US" altLang="zh-CN" sz="2800" dirty="0"/>
              <a:t>《</a:t>
            </a:r>
            <a:r>
              <a:rPr lang="zh-CN" altLang="en-US" sz="2800" dirty="0"/>
              <a:t>模拟电子线路</a:t>
            </a:r>
            <a:r>
              <a:rPr lang="en-US" altLang="zh-CN" sz="2800" dirty="0"/>
              <a:t>》</a:t>
            </a:r>
            <a:endParaRPr lang="en-US" altLang="zh-CN" sz="2800" dirty="0"/>
          </a:p>
          <a:p>
            <a:r>
              <a:rPr lang="zh-CN" altLang="en-US" sz="2800" dirty="0"/>
              <a:t>    </a:t>
            </a:r>
            <a:r>
              <a:rPr lang="en-US" altLang="zh-CN" sz="2800" dirty="0"/>
              <a:t>《</a:t>
            </a:r>
            <a:r>
              <a:rPr lang="zh-CN" altLang="en-US" sz="2800" dirty="0"/>
              <a:t>数字电子线路</a:t>
            </a:r>
            <a:r>
              <a:rPr lang="en-US" altLang="zh-CN" sz="2800" dirty="0"/>
              <a:t>》</a:t>
            </a:r>
            <a:endParaRPr lang="en-US" altLang="zh-CN" sz="2800" dirty="0"/>
          </a:p>
          <a:p>
            <a:r>
              <a:rPr lang="zh-CN" altLang="en-US" sz="2800" dirty="0"/>
              <a:t>    </a:t>
            </a:r>
            <a:r>
              <a:rPr lang="en-US" altLang="zh-CN" sz="2800" dirty="0"/>
              <a:t>《</a:t>
            </a:r>
            <a:r>
              <a:rPr lang="zh-CN" altLang="en-US" sz="2800" dirty="0"/>
              <a:t>电路基础</a:t>
            </a:r>
            <a:r>
              <a:rPr lang="en-US" altLang="zh-CN" sz="2800" dirty="0"/>
              <a:t>》</a:t>
            </a:r>
            <a:endParaRPr lang="en-US" altLang="zh-CN" sz="2800" dirty="0"/>
          </a:p>
          <a:p>
            <a:endParaRPr lang="en-US" altLang="zh-CN" sz="2800" dirty="0"/>
          </a:p>
          <a:p>
            <a:pPr>
              <a:lnSpc>
                <a:spcPct val="160000"/>
              </a:lnSpc>
            </a:pPr>
            <a:r>
              <a:rPr lang="en-US" altLang="zh-CN" sz="2800" dirty="0">
                <a:highlight>
                  <a:srgbClr val="FFFF00"/>
                </a:highlight>
              </a:rPr>
              <a:t> </a:t>
            </a:r>
            <a:r>
              <a:rPr lang="zh-CN" altLang="en-US" sz="2800" dirty="0">
                <a:highlight>
                  <a:srgbClr val="FFFF00"/>
                </a:highlight>
              </a:rPr>
              <a:t>要求：把模电和数电的书以及模电和数电实验好好复习总结，（把不同的知识点进行归类、什么器件是实现什么功能的），数电和模电的设计思路，要求写复习笔记和思维导图。</a:t>
            </a:r>
            <a:endParaRPr lang="en-US" altLang="zh-CN" sz="2800" dirty="0">
              <a:highlight>
                <a:srgbClr val="FFFF00"/>
              </a:highlight>
            </a:endParaRPr>
          </a:p>
          <a:p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思维导图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" y="2006980"/>
            <a:ext cx="9144000" cy="41185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960" y="0"/>
            <a:ext cx="7543800" cy="1450757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课程结构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157" y="0"/>
            <a:ext cx="84496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903099"/>
          </a:xfrm>
        </p:spPr>
        <p:txBody>
          <a:bodyPr/>
          <a:lstStyle/>
          <a:p>
            <a:r>
              <a:rPr lang="zh-CN" altLang="en-US" b="1" dirty="0"/>
              <a:t>模电书目录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0947" y="1417320"/>
            <a:ext cx="7543801" cy="4023360"/>
          </a:xfrm>
        </p:spPr>
        <p:txBody>
          <a:bodyPr>
            <a:noAutofit/>
          </a:bodyPr>
          <a:lstStyle/>
          <a:p>
            <a:r>
              <a:rPr lang="en-US" altLang="zh-CN" sz="2400" b="1" dirty="0"/>
              <a:t>1 </a:t>
            </a:r>
            <a:r>
              <a:rPr lang="zh-CN" altLang="en-US" sz="2400" b="1" dirty="0"/>
              <a:t>绪论</a:t>
            </a:r>
            <a:endParaRPr lang="en-US" altLang="zh-CN" sz="2400" b="1" dirty="0"/>
          </a:p>
          <a:p>
            <a:r>
              <a:rPr lang="en-US" altLang="zh-CN" sz="2400" b="1" dirty="0"/>
              <a:t>2 </a:t>
            </a:r>
            <a:r>
              <a:rPr lang="zh-CN" altLang="en-US" sz="2400" b="1" dirty="0"/>
              <a:t>二极管及应用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3 </a:t>
            </a:r>
            <a:r>
              <a:rPr lang="zh-CN" altLang="en-US" sz="2400" b="1" dirty="0">
                <a:solidFill>
                  <a:srgbClr val="FF0000"/>
                </a:solidFill>
              </a:rPr>
              <a:t>三极管及放大电路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4 </a:t>
            </a:r>
            <a:r>
              <a:rPr lang="zh-CN" altLang="en-US" sz="2400" b="1" dirty="0"/>
              <a:t>场效应管及放大电路</a:t>
            </a:r>
            <a:endParaRPr lang="en-US" altLang="zh-CN" sz="2400" b="1" dirty="0"/>
          </a:p>
          <a:p>
            <a:r>
              <a:rPr lang="en-US" altLang="zh-CN" sz="2400" b="1" dirty="0"/>
              <a:t>5 </a:t>
            </a:r>
            <a:r>
              <a:rPr lang="zh-CN" altLang="en-US" sz="2400" b="1" dirty="0"/>
              <a:t>集成运算放大器</a:t>
            </a:r>
            <a:endParaRPr lang="en-US" altLang="zh-CN" sz="2400" b="1" dirty="0"/>
          </a:p>
          <a:p>
            <a:r>
              <a:rPr lang="en-US" altLang="zh-CN" sz="2400" b="1" dirty="0"/>
              <a:t>6 </a:t>
            </a:r>
            <a:r>
              <a:rPr lang="zh-CN" altLang="en-US" sz="2400" b="1" dirty="0"/>
              <a:t>负反馈放大器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7 </a:t>
            </a:r>
            <a:r>
              <a:rPr lang="zh-CN" altLang="en-US" sz="2400" b="1" dirty="0">
                <a:solidFill>
                  <a:srgbClr val="FF0000"/>
                </a:solidFill>
              </a:rPr>
              <a:t>信号运算和处理电路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8 </a:t>
            </a:r>
            <a:r>
              <a:rPr lang="zh-CN" altLang="en-US" sz="2400" b="1" dirty="0">
                <a:solidFill>
                  <a:srgbClr val="FF0000"/>
                </a:solidFill>
              </a:rPr>
              <a:t>信号产生电路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9  </a:t>
            </a:r>
            <a:r>
              <a:rPr lang="zh-CN" altLang="en-US" sz="2400" b="1" dirty="0">
                <a:solidFill>
                  <a:srgbClr val="FF0000"/>
                </a:solidFill>
              </a:rPr>
              <a:t>功率放大电路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10</a:t>
            </a:r>
            <a:r>
              <a:rPr lang="zh-CN" altLang="en-US" sz="2400" b="1" dirty="0"/>
              <a:t>直流稳压电源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数电书目录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99" y="1474121"/>
            <a:ext cx="8023124" cy="4474395"/>
          </a:xfrm>
        </p:spPr>
        <p:txBody>
          <a:bodyPr>
            <a:noAutofit/>
          </a:bodyPr>
          <a:lstStyle/>
          <a:p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组合逻辑电路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800" dirty="0"/>
              <a:t>（加法器、比较器、编码器、译码器、数据选择器）</a:t>
            </a:r>
            <a:endParaRPr lang="en-US" altLang="zh-CN" sz="2800" dirty="0"/>
          </a:p>
          <a:p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触发器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800" dirty="0"/>
              <a:t>（基本、</a:t>
            </a:r>
            <a:r>
              <a:rPr lang="en-US" altLang="zh-CN" sz="2800" dirty="0"/>
              <a:t>JK</a:t>
            </a:r>
            <a:r>
              <a:rPr lang="zh-CN" altLang="en-US" sz="2800" dirty="0"/>
              <a:t>、</a:t>
            </a:r>
            <a:r>
              <a:rPr lang="en-US" altLang="zh-CN" sz="2800" dirty="0"/>
              <a:t>RS</a:t>
            </a:r>
            <a:r>
              <a:rPr lang="zh-CN" altLang="en-US" sz="2800" dirty="0"/>
              <a:t>、边沿和集成触发器）</a:t>
            </a:r>
            <a:endParaRPr lang="en-US" altLang="zh-CN" sz="2800" dirty="0"/>
          </a:p>
          <a:p>
            <a:r>
              <a:rPr lang="en-US" altLang="zh-CN" sz="2800" dirty="0"/>
              <a:t>3</a:t>
            </a:r>
            <a:r>
              <a:rPr lang="zh-CN" altLang="en-US" sz="2800" dirty="0"/>
              <a:t>脉冲形成的产生与整形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        思考：都用这些器件做过哪些实验？并对功能进行归类。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什么是电子电路设计？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600" dirty="0"/>
              <a:t>1 </a:t>
            </a:r>
            <a:r>
              <a:rPr lang="zh-CN" altLang="en-US" sz="3600" dirty="0"/>
              <a:t>满足性能指标要求的总体方案选择；</a:t>
            </a:r>
            <a:endParaRPr lang="en-US" altLang="zh-CN" sz="3600" dirty="0"/>
          </a:p>
          <a:p>
            <a:r>
              <a:rPr lang="en-US" altLang="zh-CN" sz="3600" dirty="0"/>
              <a:t>2 </a:t>
            </a:r>
            <a:r>
              <a:rPr lang="zh-CN" altLang="en-US" sz="3600" dirty="0"/>
              <a:t>各部分原理电路的设计；</a:t>
            </a:r>
            <a:endParaRPr lang="en-US" altLang="zh-CN" sz="3600" dirty="0"/>
          </a:p>
          <a:p>
            <a:r>
              <a:rPr lang="en-US" altLang="zh-CN" sz="3600" dirty="0"/>
              <a:t>3 </a:t>
            </a:r>
            <a:r>
              <a:rPr lang="zh-CN" altLang="en-US" sz="3600" dirty="0"/>
              <a:t>参数值的计算；</a:t>
            </a:r>
            <a:endParaRPr lang="en-US" altLang="zh-CN" sz="3600" dirty="0"/>
          </a:p>
          <a:p>
            <a:r>
              <a:rPr lang="en-US" altLang="zh-CN" sz="3600" dirty="0"/>
              <a:t>4 </a:t>
            </a:r>
            <a:r>
              <a:rPr lang="zh-CN" altLang="en-US" sz="3600" dirty="0"/>
              <a:t>电路的实验与调试以及参数的修改、调整。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980" y="0"/>
            <a:ext cx="7543800" cy="1450757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如何进行设计？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979" y="1757244"/>
            <a:ext cx="7543801" cy="402336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sz="4000" dirty="0"/>
              <a:t> </a:t>
            </a:r>
            <a:r>
              <a:rPr lang="zh-CN" altLang="en-US" sz="4000" dirty="0">
                <a:solidFill>
                  <a:srgbClr val="FF0000"/>
                </a:solidFill>
              </a:rPr>
              <a:t>基本方法</a:t>
            </a:r>
            <a:r>
              <a:rPr lang="zh-CN" altLang="en-US" sz="4000" dirty="0"/>
              <a:t>：</a:t>
            </a:r>
            <a:r>
              <a:rPr lang="zh-CN" altLang="en-US" sz="3200" dirty="0"/>
              <a:t> 在设计一个常用的电子电路时，首先必须明确设计任务，根据设计任务按照下图的一般设计步骤进行设计，由于电子电路种类很多，器件选择的灵活性很大，因此设计方法和步骤也会不同，设计者应该根据具体情况，灵活掌握。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-1" y="1954108"/>
            <a:ext cx="7673419" cy="3446529"/>
          </a:xfrm>
          <a:prstGeom prst="roundRect">
            <a:avLst/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设计的基本流程</a:t>
            </a:r>
            <a:endParaRPr lang="zh-CN" altLang="en-US" b="1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21" y="2347264"/>
            <a:ext cx="8658958" cy="305337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60775" y="5533534"/>
            <a:ext cx="3770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基础部分</a:t>
            </a:r>
            <a:r>
              <a:rPr lang="en-US" altLang="zh-CN" sz="3200" dirty="0"/>
              <a:t>1-2</a:t>
            </a:r>
            <a:r>
              <a:rPr lang="zh-CN" altLang="en-US" sz="3200" dirty="0"/>
              <a:t>周完成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/>
              <a:t>1  </a:t>
            </a:r>
            <a:r>
              <a:rPr lang="zh-CN" altLang="en-US" sz="2800" dirty="0"/>
              <a:t>针对事关全局的主要问题，要开动脑筋、多提方案，便于合理选择；</a:t>
            </a:r>
            <a:endParaRPr lang="en-US" altLang="zh-CN" sz="2800" dirty="0"/>
          </a:p>
          <a:p>
            <a:pPr>
              <a:lnSpc>
                <a:spcPct val="125000"/>
              </a:lnSpc>
            </a:pPr>
            <a:r>
              <a:rPr lang="en-US" altLang="zh-CN" sz="2800" dirty="0"/>
              <a:t>2  </a:t>
            </a:r>
            <a:r>
              <a:rPr lang="zh-CN" altLang="en-US" sz="2800" dirty="0"/>
              <a:t>电子设计需要不断的改进和完善，出现反复是难免的，</a:t>
            </a:r>
            <a:r>
              <a:rPr lang="zh-CN" altLang="en-US" sz="2800" dirty="0">
                <a:highlight>
                  <a:srgbClr val="FFFF00"/>
                </a:highlight>
              </a:rPr>
              <a:t>但应避免方案上的大反复</a:t>
            </a:r>
            <a:r>
              <a:rPr lang="zh-CN" altLang="en-US" sz="2800" dirty="0"/>
              <a:t>，以免浪费时间和精力。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模拟电子线路系统基本构成</a:t>
            </a:r>
            <a:endParaRPr lang="zh-CN" altLang="en-US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2802" y="2299714"/>
            <a:ext cx="6914034" cy="282092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98839" y="5338917"/>
            <a:ext cx="1484671" cy="923330"/>
          </a:xfrm>
          <a:prstGeom prst="rect">
            <a:avLst/>
          </a:prstGeom>
          <a:noFill/>
          <a:ln w="22225">
            <a:solidFill>
              <a:srgbClr val="00B05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滤波、隔离、阻抗变换、放大等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960374" y="5338917"/>
            <a:ext cx="1484671" cy="923330"/>
          </a:xfrm>
          <a:prstGeom prst="rect">
            <a:avLst/>
          </a:prstGeom>
          <a:noFill/>
          <a:ln w="22225">
            <a:solidFill>
              <a:srgbClr val="00B05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运算、比较、采样、保持功率放大等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模拟电子线路系统基本构成</a:t>
            </a:r>
            <a:endParaRPr lang="zh-CN" altLang="en-US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6325" y="2018537"/>
            <a:ext cx="6914034" cy="282092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42801" y="4992691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放大电路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18916" y="5362023"/>
            <a:ext cx="2276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信号运算和处理电路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242801" y="5731355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信号产生电路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69223" y="4992691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功率放大电路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69223" y="5362023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直流稳压电源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前端：各种传感器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239" y="2009664"/>
            <a:ext cx="1310754" cy="112785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737" y="1976738"/>
            <a:ext cx="1511575" cy="11336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671" y="1845734"/>
            <a:ext cx="1339403" cy="111616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945828" y="2852402"/>
            <a:ext cx="1339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光敏电阻</a:t>
            </a:r>
            <a:endParaRPr lang="zh-CN" altLang="en-US" sz="16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685" y="3720479"/>
            <a:ext cx="1320085" cy="11977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327" y="3623090"/>
            <a:ext cx="872920" cy="79240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137" y="3714181"/>
            <a:ext cx="1341236" cy="117358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5253" y="3696505"/>
            <a:ext cx="1280271" cy="1112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举例</a:t>
            </a: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：循迹小车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69" y="1846263"/>
            <a:ext cx="7151511" cy="4022725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838" y="185202"/>
            <a:ext cx="6393917" cy="1147211"/>
          </a:xfrm>
        </p:spPr>
        <p:txBody>
          <a:bodyPr/>
          <a:lstStyle/>
          <a:p>
            <a:r>
              <a:rPr lang="zh-CN" altLang="en-US" dirty="0"/>
              <a:t>搜索资料：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22325" y="2165156"/>
            <a:ext cx="7543800" cy="33849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54" y="1172121"/>
            <a:ext cx="7819596" cy="13982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473" y="802198"/>
            <a:ext cx="4395585" cy="879117"/>
          </a:xfrm>
          <a:prstGeom prst="rect">
            <a:avLst/>
          </a:prstGeom>
        </p:spPr>
      </p:pic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7807" y="1846263"/>
            <a:ext cx="5152835" cy="40227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资料搜索、阅读、思考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1  </a:t>
            </a:r>
            <a:r>
              <a:rPr lang="zh-CN" altLang="en-US" sz="2800" dirty="0"/>
              <a:t>对比不同的方案；</a:t>
            </a:r>
            <a:endParaRPr lang="en-US" altLang="zh-CN" sz="2800" dirty="0"/>
          </a:p>
          <a:p>
            <a:r>
              <a:rPr lang="en-US" altLang="zh-CN" sz="2800" dirty="0"/>
              <a:t>2  </a:t>
            </a:r>
            <a:r>
              <a:rPr lang="zh-CN" altLang="en-US" sz="2800" dirty="0"/>
              <a:t>确定所设计系统的具体方案；</a:t>
            </a:r>
            <a:endParaRPr lang="en-US" altLang="zh-CN" sz="2800" dirty="0"/>
          </a:p>
          <a:p>
            <a:r>
              <a:rPr lang="en-US" altLang="zh-CN" sz="2800" dirty="0"/>
              <a:t>3  </a:t>
            </a:r>
            <a:r>
              <a:rPr lang="zh-CN" altLang="en-US" sz="2800" dirty="0"/>
              <a:t>电路设计的具体细节问题</a:t>
            </a:r>
            <a:r>
              <a:rPr lang="en-US" altLang="zh-CN" sz="2800" dirty="0"/>
              <a:t>: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</a:t>
            </a:r>
            <a:r>
              <a:rPr lang="zh-CN" altLang="en-US" sz="2800" dirty="0"/>
              <a:t>芯片的选型、元器件参数的计算等</a:t>
            </a:r>
            <a:endParaRPr lang="en-US" altLang="zh-CN" sz="2800" dirty="0"/>
          </a:p>
          <a:p>
            <a:r>
              <a:rPr lang="en-US" altLang="zh-CN" sz="2800" dirty="0"/>
              <a:t>4  </a:t>
            </a:r>
            <a:r>
              <a:rPr lang="zh-CN" altLang="en-US" sz="2800" dirty="0"/>
              <a:t>器件列表；（为焊接做准备）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数据手册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599" y="2291827"/>
            <a:ext cx="5409871" cy="4022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655" y="248173"/>
            <a:ext cx="3399657" cy="16359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altLang="zh-CN" dirty="0"/>
            </a:b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29" y="2126699"/>
            <a:ext cx="8489141" cy="3497352"/>
          </a:xfrm>
        </p:spPr>
      </p:pic>
      <p:sp>
        <p:nvSpPr>
          <p:cNvPr id="6" name="标题 1"/>
          <p:cNvSpPr txBox="1"/>
          <p:nvPr/>
        </p:nvSpPr>
        <p:spPr>
          <a:xfrm>
            <a:off x="-84841" y="439004"/>
            <a:ext cx="8604001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    电路原理图</a:t>
            </a:r>
            <a:endParaRPr lang="en-US" altLang="zh-CN" dirty="0"/>
          </a:p>
          <a:p>
            <a:r>
              <a:rPr lang="zh-CN" altLang="en-US" dirty="0"/>
              <a:t>（可直接在仿真软件中完成）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Multisim</a:t>
            </a:r>
            <a:r>
              <a:rPr lang="zh-CN" altLang="en-US" b="1" dirty="0">
                <a:solidFill>
                  <a:schemeClr val="tx1"/>
                </a:solidFill>
              </a:rPr>
              <a:t>中仿真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5" y="1945311"/>
            <a:ext cx="7543800" cy="3824628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器件列表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3584" y="629266"/>
            <a:ext cx="4717456" cy="50572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altLang="zh-CN" dirty="0"/>
            </a:b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51" y="815974"/>
            <a:ext cx="4999993" cy="5432426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096" y="0"/>
            <a:ext cx="2734904" cy="23622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77686" y="2905780"/>
            <a:ext cx="2997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制作</a:t>
            </a:r>
            <a:r>
              <a:rPr lang="en-US" altLang="zh-CN" sz="2800" dirty="0"/>
              <a:t>PCB</a:t>
            </a:r>
            <a:r>
              <a:rPr lang="zh-CN" altLang="en-US" sz="2800" dirty="0"/>
              <a:t>（可选）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焊接和调试</a:t>
            </a:r>
            <a:endParaRPr lang="zh-CN" alt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88" y="2772495"/>
            <a:ext cx="3525740" cy="2348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IMG_20200606_095219"/>
          <p:cNvPicPr>
            <a:picLocks noChangeAspect="1"/>
          </p:cNvPicPr>
          <p:nvPr/>
        </p:nvPicPr>
        <p:blipFill>
          <a:blip r:embed="rId2"/>
          <a:srcRect t="22095"/>
          <a:stretch>
            <a:fillRect/>
          </a:stretch>
        </p:blipFill>
        <p:spPr>
          <a:xfrm>
            <a:off x="4394660" y="2619658"/>
            <a:ext cx="4541952" cy="265381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140" y="0"/>
            <a:ext cx="7543800" cy="1450757"/>
          </a:xfrm>
        </p:spPr>
        <p:txBody>
          <a:bodyPr/>
          <a:lstStyle/>
          <a:p>
            <a:r>
              <a:rPr lang="zh-CN" altLang="en-US" dirty="0"/>
              <a:t>数字电子线路的设计方法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32457" y="1796355"/>
            <a:ext cx="6216420" cy="45660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7693" y="1951793"/>
            <a:ext cx="8303584" cy="3849238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176921" y="951851"/>
            <a:ext cx="3847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数字秒表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94760" y="59061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计时范围：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00:00~59:99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电子线路在生活中的应用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2960" y="2071876"/>
            <a:ext cx="7543801" cy="4023360"/>
          </a:xfrm>
        </p:spPr>
        <p:txBody>
          <a:bodyPr/>
          <a:lstStyle/>
          <a:p>
            <a:r>
              <a:rPr lang="en-US" altLang="zh-CN" sz="2400" dirty="0"/>
              <a:t>1  </a:t>
            </a:r>
            <a:r>
              <a:rPr lang="zh-CN" altLang="en-US" sz="2400" dirty="0"/>
              <a:t>红外遥控（单路</a:t>
            </a:r>
            <a:r>
              <a:rPr lang="en-US" altLang="zh-CN" sz="2400" dirty="0"/>
              <a:t>/</a:t>
            </a:r>
            <a:r>
              <a:rPr lang="zh-CN" altLang="en-US" sz="2400" dirty="0"/>
              <a:t>多路）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 </a:t>
            </a:r>
            <a:r>
              <a:rPr lang="zh-CN" altLang="en-US" sz="2400" dirty="0"/>
              <a:t> 自动感应水龙头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2978" y="3906575"/>
            <a:ext cx="2823764" cy="239729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506" y="1689947"/>
            <a:ext cx="3112678" cy="27332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3663" y="-133389"/>
            <a:ext cx="7543800" cy="1450757"/>
          </a:xfrm>
        </p:spPr>
        <p:txBody>
          <a:bodyPr/>
          <a:lstStyle/>
          <a:p>
            <a:r>
              <a:rPr lang="zh-CN" altLang="en-US" dirty="0"/>
              <a:t>电子线路在生活中的应用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6538" y="1816237"/>
            <a:ext cx="7543801" cy="40233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3   </a:t>
            </a:r>
            <a:r>
              <a:rPr lang="zh-CN" altLang="en-US" dirty="0"/>
              <a:t>人体心电信号采集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  </a:t>
            </a:r>
            <a:r>
              <a:rPr lang="zh-CN" altLang="en-US" dirty="0"/>
              <a:t>电子密码锁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9330" y="1350188"/>
            <a:ext cx="4680155" cy="24777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88" y="3995799"/>
            <a:ext cx="3328475" cy="24467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462" y="0"/>
            <a:ext cx="7020233" cy="13208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应用：</a:t>
            </a:r>
            <a:r>
              <a:rPr lang="zh-CN" altLang="en-US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同学们自己发现并总结</a:t>
            </a:r>
            <a:endParaRPr lang="zh-CN" altLang="en-US" sz="4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zh-CN" dirty="0"/>
              <a:t>2</a:t>
            </a:r>
            <a:endParaRPr lang="en-US" altLang="zh-CN" dirty="0"/>
          </a:p>
          <a:p>
            <a:r>
              <a:rPr lang="en-US" altLang="zh-CN" dirty="0"/>
              <a:t>3</a:t>
            </a:r>
            <a:endParaRPr lang="en-US" altLang="zh-CN" dirty="0"/>
          </a:p>
          <a:p>
            <a:r>
              <a:rPr lang="en-US" altLang="zh-CN" dirty="0"/>
              <a:t>4</a:t>
            </a:r>
            <a:endParaRPr lang="en-US" altLang="zh-CN" dirty="0"/>
          </a:p>
          <a:p>
            <a:r>
              <a:rPr lang="en-US" altLang="zh-CN" dirty="0"/>
              <a:t>5</a:t>
            </a:r>
            <a:endParaRPr lang="en-US" altLang="zh-CN" dirty="0"/>
          </a:p>
          <a:p>
            <a:r>
              <a:rPr lang="en-US" altLang="zh-CN" dirty="0"/>
              <a:t>6</a:t>
            </a:r>
            <a:endParaRPr lang="en-US" altLang="zh-CN" dirty="0"/>
          </a:p>
          <a:p>
            <a:r>
              <a:rPr lang="en-US" altLang="zh-CN" dirty="0"/>
              <a:t>7</a:t>
            </a:r>
            <a:endParaRPr lang="en-US" altLang="zh-CN" dirty="0"/>
          </a:p>
          <a:p>
            <a:r>
              <a:rPr lang="en-US" altLang="zh-CN" dirty="0"/>
              <a:t>8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22" y="125113"/>
            <a:ext cx="8439027" cy="1450757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</a:rPr>
              <a:t>历年电子设计大赛题目列表（未更新）</a:t>
            </a:r>
            <a:endParaRPr lang="zh-CN" altLang="en-US" sz="4000" b="1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3056" y="1818968"/>
            <a:ext cx="2861189" cy="4424516"/>
          </a:xfrm>
          <a:solidFill>
            <a:schemeClr val="accent1">
              <a:alpha val="10000"/>
            </a:schemeClr>
          </a:solidFill>
        </p:spPr>
        <p:txBody>
          <a:bodyPr>
            <a:noAutofit/>
          </a:bodyPr>
          <a:lstStyle/>
          <a:p>
            <a:r>
              <a:rPr lang="zh-CN" altLang="en-US" dirty="0"/>
              <a:t>数字频率计；</a:t>
            </a:r>
            <a:endParaRPr lang="en-US" altLang="zh-CN" dirty="0"/>
          </a:p>
          <a:p>
            <a:r>
              <a:rPr lang="zh-CN" altLang="en-US" dirty="0"/>
              <a:t>巡线避障小车；</a:t>
            </a:r>
            <a:endParaRPr lang="en-US" altLang="zh-CN" dirty="0"/>
          </a:p>
          <a:p>
            <a:r>
              <a:rPr lang="zh-CN" altLang="en-US" dirty="0"/>
              <a:t>手势识别；</a:t>
            </a:r>
            <a:endParaRPr lang="en-US" altLang="zh-CN" dirty="0"/>
          </a:p>
          <a:p>
            <a:r>
              <a:rPr lang="zh-CN" altLang="en-US" dirty="0"/>
              <a:t>平衡跷跷板；</a:t>
            </a:r>
            <a:endParaRPr lang="en-US" altLang="zh-CN" dirty="0"/>
          </a:p>
          <a:p>
            <a:r>
              <a:rPr lang="zh-CN" altLang="en-US" dirty="0"/>
              <a:t>任意波形发生器；</a:t>
            </a:r>
            <a:endParaRPr lang="en-US" altLang="zh-CN" dirty="0"/>
          </a:p>
          <a:p>
            <a:r>
              <a:rPr lang="zh-CN" altLang="en-US" dirty="0"/>
              <a:t>微弱信号检测；</a:t>
            </a:r>
            <a:endParaRPr lang="en-US" altLang="zh-CN" dirty="0"/>
          </a:p>
          <a:p>
            <a:r>
              <a:rPr lang="zh-CN" altLang="en-US" dirty="0"/>
              <a:t>金属物体探测定位；</a:t>
            </a:r>
            <a:endParaRPr lang="en-US" altLang="zh-CN" dirty="0"/>
          </a:p>
          <a:p>
            <a:r>
              <a:rPr lang="zh-CN" altLang="en-US" dirty="0"/>
              <a:t>简易水箱控制；</a:t>
            </a:r>
            <a:endParaRPr lang="en-US" altLang="zh-CN" dirty="0"/>
          </a:p>
          <a:p>
            <a:r>
              <a:rPr lang="zh-CN" altLang="en-US" dirty="0"/>
              <a:t>物品分拣系统；</a:t>
            </a:r>
            <a:endParaRPr lang="en-US" altLang="zh-CN" dirty="0"/>
          </a:p>
          <a:p>
            <a:r>
              <a:rPr lang="zh-CN" altLang="en-US" dirty="0"/>
              <a:t>简易电子秤；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172076" y="1818968"/>
            <a:ext cx="2681007" cy="4194610"/>
          </a:xfrm>
          <a:prstGeom prst="rect">
            <a:avLst/>
          </a:prstGeom>
          <a:solidFill>
            <a:srgbClr val="00B050">
              <a:alpha val="27000"/>
            </a:srgb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频率补偿电路；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声音定位系统；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线阵</a:t>
            </a:r>
            <a:r>
              <a:rPr lang="en-US" altLang="zh-CN" sz="2000" dirty="0"/>
              <a:t>LED</a:t>
            </a:r>
            <a:r>
              <a:rPr lang="zh-CN" altLang="en-US" sz="2000" dirty="0"/>
              <a:t>图阵显示；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位同步时钟提取；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四旋翼飞行器；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多路信号采集系统；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低频功率放大；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实用信号源的制作；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无线电遥控系统；</a:t>
            </a:r>
            <a:endParaRPr lang="en-US" altLang="zh-CN" sz="2000" dirty="0"/>
          </a:p>
        </p:txBody>
      </p:sp>
      <p:sp>
        <p:nvSpPr>
          <p:cNvPr id="6" name="爆炸形: 8 pt  5"/>
          <p:cNvSpPr/>
          <p:nvPr/>
        </p:nvSpPr>
        <p:spPr>
          <a:xfrm>
            <a:off x="6469626" y="3755922"/>
            <a:ext cx="2792361" cy="1661652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鼓励创新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60" y="167148"/>
            <a:ext cx="6403750" cy="881955"/>
          </a:xfrm>
        </p:spPr>
        <p:txBody>
          <a:bodyPr/>
          <a:lstStyle/>
          <a:p>
            <a:r>
              <a:rPr lang="zh-CN" altLang="en-US" dirty="0"/>
              <a:t>本课程的任务：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5016" y="866877"/>
            <a:ext cx="7806814" cy="3880773"/>
          </a:xfrm>
        </p:spPr>
        <p:txBody>
          <a:bodyPr>
            <a:noAutofit/>
          </a:bodyPr>
          <a:lstStyle/>
          <a:p>
            <a:endParaRPr lang="en-US" altLang="zh-CN" dirty="0"/>
          </a:p>
          <a:p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3969733" y="241291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186219" y="29742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03" y="1827093"/>
            <a:ext cx="3790950" cy="3438525"/>
          </a:xfrm>
          <a:prstGeom prst="rect">
            <a:avLst/>
          </a:prstGeom>
        </p:spPr>
      </p:pic>
      <p:sp>
        <p:nvSpPr>
          <p:cNvPr id="9" name="矩形: 圆角 8"/>
          <p:cNvSpPr/>
          <p:nvPr/>
        </p:nvSpPr>
        <p:spPr>
          <a:xfrm>
            <a:off x="522253" y="1434967"/>
            <a:ext cx="3165942" cy="3784702"/>
          </a:xfrm>
          <a:prstGeom prst="roundRect">
            <a:avLst/>
          </a:prstGeom>
          <a:solidFill>
            <a:srgbClr val="92D050">
              <a:alpha val="30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49856" y="2717379"/>
            <a:ext cx="1338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＋</a:t>
            </a:r>
            <a:endParaRPr lang="zh-CN" altLang="en-US" sz="7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004009" y="1832105"/>
            <a:ext cx="43355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Costas</a:t>
            </a:r>
            <a:r>
              <a:rPr lang="zh-CN" altLang="en-US" sz="2400" b="1" dirty="0">
                <a:solidFill>
                  <a:srgbClr val="FF0000"/>
                </a:solidFill>
              </a:rPr>
              <a:t>环的</a:t>
            </a:r>
            <a:r>
              <a:rPr lang="en-US" altLang="zh-CN" sz="2400" b="1" dirty="0">
                <a:solidFill>
                  <a:srgbClr val="FF0000"/>
                </a:solidFill>
              </a:rPr>
              <a:t>FPGA</a:t>
            </a:r>
            <a:r>
              <a:rPr lang="zh-CN" altLang="en-US" sz="2400" b="1" dirty="0">
                <a:solidFill>
                  <a:srgbClr val="FF0000"/>
                </a:solidFill>
              </a:rPr>
              <a:t>设计及实现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endParaRPr lang="en-US" altLang="zh-CN" sz="2400" b="1" dirty="0">
              <a:solidFill>
                <a:srgbClr val="FF0000"/>
              </a:solidFill>
            </a:endParaRPr>
          </a:p>
          <a:p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solidFill>
                  <a:srgbClr val="FF0000"/>
                </a:solidFill>
              </a:rPr>
              <a:t>混沌信号发生器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endParaRPr lang="en-US" altLang="zh-CN" sz="2400" b="1" dirty="0">
              <a:solidFill>
                <a:srgbClr val="FF0000"/>
              </a:solidFill>
            </a:endParaRPr>
          </a:p>
          <a:p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2PSK</a:t>
            </a:r>
            <a:r>
              <a:rPr lang="zh-CN" altLang="en-US" sz="2400" b="1" dirty="0">
                <a:solidFill>
                  <a:srgbClr val="FF0000"/>
                </a:solidFill>
              </a:rPr>
              <a:t>调制解调系统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4866425" y="1434967"/>
            <a:ext cx="3910827" cy="3527800"/>
          </a:xfrm>
          <a:prstGeom prst="roundRect">
            <a:avLst/>
          </a:prstGeom>
          <a:solidFill>
            <a:srgbClr val="92D050">
              <a:alpha val="30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57480" y="5282565"/>
            <a:ext cx="44151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基本任务（两个都要完成软件仿真，但只需</a:t>
            </a:r>
            <a:r>
              <a:rPr lang="en-US" altLang="zh-CN" sz="2800" dirty="0"/>
              <a:t>2</a:t>
            </a:r>
            <a:r>
              <a:rPr lang="zh-CN" altLang="en-US" sz="2800" dirty="0"/>
              <a:t>选</a:t>
            </a:r>
            <a:r>
              <a:rPr lang="en-US" altLang="zh-CN" sz="2800" dirty="0"/>
              <a:t>1</a:t>
            </a:r>
            <a:r>
              <a:rPr lang="zh-CN" altLang="en-US" sz="2800" dirty="0"/>
              <a:t>完成实物电路）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77634" y="5240901"/>
            <a:ext cx="3700253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拓展任务（</a:t>
            </a:r>
            <a:r>
              <a:rPr lang="en-US" altLang="zh-CN" sz="2800" dirty="0"/>
              <a:t>3</a:t>
            </a:r>
            <a:r>
              <a:rPr lang="zh-CN" altLang="en-US" sz="2800" dirty="0"/>
              <a:t>选</a:t>
            </a:r>
            <a:r>
              <a:rPr lang="en-US" altLang="zh-CN" sz="2800" dirty="0"/>
              <a:t>1</a:t>
            </a:r>
            <a:r>
              <a:rPr lang="zh-CN" altLang="en-US" sz="2800" dirty="0"/>
              <a:t>完成软件仿真）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2468" y="1404205"/>
            <a:ext cx="7806814" cy="3880773"/>
          </a:xfrm>
        </p:spPr>
        <p:txBody>
          <a:bodyPr>
            <a:noAutofit/>
          </a:bodyPr>
          <a:lstStyle/>
          <a:p>
            <a:endParaRPr lang="en-US" altLang="zh-CN" dirty="0"/>
          </a:p>
          <a:p>
            <a:r>
              <a:rPr lang="zh-CN" altLang="en-US" dirty="0"/>
              <a:t>课题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(</a:t>
            </a:r>
            <a:r>
              <a:rPr lang="zh-CN" altLang="en-US" dirty="0"/>
              <a:t>仅示例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b="1" dirty="0"/>
              <a:t>                                          </a:t>
            </a:r>
            <a:r>
              <a:rPr lang="zh-CN" altLang="zh-CN" b="1" dirty="0"/>
              <a:t>可编程放大器的设计</a:t>
            </a:r>
            <a:endParaRPr lang="zh-CN" altLang="zh-CN" b="1" dirty="0"/>
          </a:p>
          <a:p>
            <a:pPr>
              <a:lnSpc>
                <a:spcPct val="170000"/>
              </a:lnSpc>
            </a:pPr>
            <a:r>
              <a:rPr lang="en-US" altLang="zh-CN" dirty="0"/>
              <a:t>         </a:t>
            </a:r>
            <a:r>
              <a:rPr lang="zh-CN" altLang="zh-CN" dirty="0"/>
              <a:t>利用</a:t>
            </a:r>
            <a:r>
              <a:rPr lang="en-US" altLang="zh-CN" dirty="0"/>
              <a:t>RS</a:t>
            </a:r>
            <a:r>
              <a:rPr lang="zh-CN" altLang="zh-CN" dirty="0"/>
              <a:t>触发器</a:t>
            </a:r>
            <a:r>
              <a:rPr lang="en-US" altLang="zh-CN" dirty="0"/>
              <a:t>74LS279</a:t>
            </a:r>
            <a:r>
              <a:rPr lang="zh-CN" altLang="zh-CN" dirty="0"/>
              <a:t>、计数器</a:t>
            </a:r>
            <a:r>
              <a:rPr lang="en-US" altLang="zh-CN" dirty="0"/>
              <a:t>74LS163</a:t>
            </a:r>
            <a:r>
              <a:rPr lang="zh-CN" altLang="zh-CN" dirty="0"/>
              <a:t>、模拟开关</a:t>
            </a:r>
            <a:r>
              <a:rPr lang="en-US" altLang="zh-CN" dirty="0"/>
              <a:t>CD4066</a:t>
            </a:r>
            <a:r>
              <a:rPr lang="zh-CN" altLang="zh-CN" dirty="0"/>
              <a:t>、运放</a:t>
            </a:r>
            <a:r>
              <a:rPr lang="en-US" altLang="zh-CN" dirty="0"/>
              <a:t>TL084</a:t>
            </a:r>
            <a:r>
              <a:rPr lang="zh-CN" altLang="zh-CN" dirty="0"/>
              <a:t>或</a:t>
            </a:r>
            <a:r>
              <a:rPr lang="en-US" altLang="zh-CN" dirty="0"/>
              <a:t>LM324</a:t>
            </a:r>
            <a:r>
              <a:rPr lang="zh-CN" altLang="zh-CN" dirty="0"/>
              <a:t>设计一增益可调的放大电路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70000"/>
              </a:lnSpc>
            </a:pPr>
            <a:r>
              <a:rPr lang="zh-CN" altLang="en-US" dirty="0"/>
              <a:t>要求：</a:t>
            </a:r>
            <a:endParaRPr lang="en-US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）可以通过按键</a:t>
            </a:r>
            <a:r>
              <a:rPr lang="en-US" altLang="zh-CN" dirty="0"/>
              <a:t>K</a:t>
            </a:r>
            <a:r>
              <a:rPr lang="zh-CN" altLang="zh-CN" dirty="0"/>
              <a:t>来实现电路放大倍数的调节。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）设计电路</a:t>
            </a:r>
            <a:r>
              <a:rPr lang="en-US" altLang="zh-CN" dirty="0"/>
              <a:t>PCB</a:t>
            </a:r>
            <a:r>
              <a:rPr lang="zh-CN" altLang="zh-CN" dirty="0"/>
              <a:t>，并完成调试。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zh-CN" altLang="zh-CN" dirty="0"/>
              <a:t>分析整个电路中，放大倍数的可调范围多大？</a:t>
            </a:r>
            <a:endParaRPr lang="en-US" altLang="zh-CN" dirty="0"/>
          </a:p>
          <a:p>
            <a:r>
              <a:rPr lang="zh-CN" altLang="zh-CN" dirty="0"/>
              <a:t>注意：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TL084</a:t>
            </a:r>
            <a:r>
              <a:rPr lang="zh-CN" altLang="zh-CN" dirty="0"/>
              <a:t>的引脚和</a:t>
            </a:r>
            <a:r>
              <a:rPr lang="en-US" altLang="zh-CN" dirty="0"/>
              <a:t>LM324</a:t>
            </a:r>
            <a:r>
              <a:rPr lang="zh-CN" altLang="zh-CN" dirty="0"/>
              <a:t>完全相同，本题中也可以采用</a:t>
            </a:r>
            <a:r>
              <a:rPr lang="en-US" altLang="zh-CN" dirty="0"/>
              <a:t>LM324</a:t>
            </a:r>
            <a:r>
              <a:rPr lang="zh-CN" altLang="zh-CN" dirty="0"/>
              <a:t>作为运放；</a:t>
            </a:r>
            <a:endParaRPr lang="zh-CN" altLang="zh-CN" dirty="0"/>
          </a:p>
          <a:p>
            <a:pPr>
              <a:lnSpc>
                <a:spcPct val="170000"/>
              </a:lnSpc>
            </a:pPr>
            <a:endParaRPr lang="en-US" altLang="zh-CN" sz="2000" dirty="0"/>
          </a:p>
          <a:p>
            <a:pPr marL="0" indent="0">
              <a:lnSpc>
                <a:spcPct val="170000"/>
              </a:lnSpc>
              <a:buNone/>
            </a:pPr>
            <a:endParaRPr lang="en-US" altLang="zh-CN" dirty="0"/>
          </a:p>
          <a:p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262163" y="164921"/>
            <a:ext cx="9042093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</a:rPr>
              <a:t>本课程的任务（仅</a:t>
            </a:r>
            <a:r>
              <a:rPr kumimoji="0" lang="zh-CN" alt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</a:rPr>
              <a:t>是示例）：</a:t>
            </a:r>
            <a:endParaRPr kumimoji="0" lang="en-US" altLang="zh-CN" sz="4800" b="0" i="0" u="none" strike="noStrike" kern="1200" cap="none" spc="-5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 Light" panose="020F0302020204030204"/>
              <a:ea typeface="宋体" panose="02010600030101010101" pitchFamily="2" charset="-122"/>
              <a:cs typeface="+mj-cs"/>
            </a:endParaRPr>
          </a:p>
          <a:p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</a:rPr>
              <a:t>基本任务</a:t>
            </a:r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 （</a:t>
            </a:r>
            <a:r>
              <a:rPr kumimoji="0" lang="en-US" altLang="zh-CN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4</a:t>
            </a:r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人</a:t>
            </a:r>
            <a:r>
              <a:rPr kumimoji="0" lang="en-US" altLang="zh-CN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1</a:t>
            </a:r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组</a:t>
            </a:r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1976" y="389359"/>
            <a:ext cx="7806814" cy="3880773"/>
          </a:xfrm>
        </p:spPr>
        <p:txBody>
          <a:bodyPr>
            <a:noAutofit/>
          </a:bodyPr>
          <a:lstStyle/>
          <a:p>
            <a:endParaRPr lang="en-US" altLang="zh-CN" dirty="0"/>
          </a:p>
          <a:p>
            <a:r>
              <a:rPr lang="zh-CN" altLang="zh-CN" sz="4800" spc="-50" dirty="0">
                <a:latin typeface="+mj-lt"/>
                <a:ea typeface="+mj-ea"/>
                <a:cs typeface="+mj-cs"/>
              </a:rPr>
              <a:t>可编程放大器的设计</a:t>
            </a:r>
            <a:r>
              <a:rPr lang="zh-CN" altLang="en-US" sz="4800" spc="-50" dirty="0">
                <a:latin typeface="+mj-lt"/>
                <a:ea typeface="+mj-ea"/>
                <a:cs typeface="+mj-cs"/>
              </a:rPr>
              <a:t>任务</a:t>
            </a:r>
            <a:endParaRPr lang="zh-CN" altLang="zh-CN" sz="4800" spc="-50" dirty="0">
              <a:latin typeface="+mj-lt"/>
              <a:ea typeface="+mj-ea"/>
              <a:cs typeface="+mj-cs"/>
            </a:endParaRPr>
          </a:p>
          <a:p>
            <a:pPr>
              <a:lnSpc>
                <a:spcPct val="170000"/>
              </a:lnSpc>
            </a:pPr>
            <a:r>
              <a:rPr lang="en-US" altLang="zh-CN" dirty="0"/>
              <a:t>         </a:t>
            </a:r>
            <a:r>
              <a:rPr lang="zh-CN" altLang="zh-CN" dirty="0"/>
              <a:t>利用触发器、计数器、模拟开关、运放</a:t>
            </a:r>
            <a:r>
              <a:rPr lang="en-US" altLang="zh-CN" dirty="0"/>
              <a:t>TL084</a:t>
            </a:r>
            <a:r>
              <a:rPr lang="zh-CN" altLang="zh-CN" dirty="0"/>
              <a:t>或</a:t>
            </a:r>
            <a:r>
              <a:rPr lang="en-US" altLang="zh-CN" dirty="0"/>
              <a:t>LM324</a:t>
            </a:r>
            <a:r>
              <a:rPr lang="zh-CN" altLang="zh-CN" dirty="0"/>
              <a:t>设计一增益可调的放大电路</a:t>
            </a:r>
            <a:r>
              <a:rPr lang="zh-CN" altLang="en-US" dirty="0"/>
              <a:t>（至少实现</a:t>
            </a:r>
            <a:r>
              <a:rPr lang="en-US" altLang="zh-CN" dirty="0"/>
              <a:t>8</a:t>
            </a:r>
            <a:r>
              <a:rPr lang="zh-CN" altLang="en-US" dirty="0"/>
              <a:t>种以上增益）。</a:t>
            </a:r>
            <a:endParaRPr lang="en-US" altLang="zh-CN" dirty="0"/>
          </a:p>
          <a:p>
            <a:pPr marL="0" indent="0">
              <a:lnSpc>
                <a:spcPct val="170000"/>
              </a:lnSpc>
              <a:buNone/>
            </a:pPr>
            <a:endParaRPr lang="en-US" altLang="zh-CN" dirty="0"/>
          </a:p>
          <a:p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35586" y="3044398"/>
          <a:ext cx="8608414" cy="3043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Visio" r:id="rId1" imgW="4436745" imgH="1822450" progId="Visio.Drawing.11">
                  <p:embed/>
                </p:oleObj>
              </mc:Choice>
              <mc:Fallback>
                <p:oleObj name="Visio" r:id="rId1" imgW="4436745" imgH="1822450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4107"/>
                      <a:stretch>
                        <a:fillRect/>
                      </a:stretch>
                    </p:blipFill>
                    <p:spPr bwMode="auto">
                      <a:xfrm>
                        <a:off x="535586" y="3044398"/>
                        <a:ext cx="8608414" cy="3043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76" y="3889547"/>
            <a:ext cx="1948535" cy="15729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008" y="3889547"/>
            <a:ext cx="2193969" cy="166046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b="1" dirty="0"/>
              <a:t>语音信号放大电路</a:t>
            </a:r>
            <a:endParaRPr lang="zh-CN" altLang="en-US" dirty="0"/>
          </a:p>
        </p:txBody>
      </p:sp>
      <p:pic>
        <p:nvPicPr>
          <p:cNvPr id="17" name="D615156B714B1DE34FE04F48C7E067D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99117" y="1913638"/>
            <a:ext cx="8199785" cy="4421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9921" y="425899"/>
            <a:ext cx="6403750" cy="8819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本课程的任务：（仅</a:t>
            </a:r>
            <a:r>
              <a:rPr lang="zh-CN" altLang="en-US" dirty="0"/>
              <a:t>示例）</a:t>
            </a:r>
            <a:br>
              <a:rPr lang="en-US" altLang="zh-CN" dirty="0"/>
            </a:br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</a:rPr>
              <a:t>基本任务</a:t>
            </a:r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 （</a:t>
            </a:r>
            <a:r>
              <a:rPr kumimoji="0" lang="en-US" altLang="zh-CN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4</a:t>
            </a:r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人</a:t>
            </a:r>
            <a:r>
              <a:rPr kumimoji="0" lang="en-US" altLang="zh-CN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1</a:t>
            </a:r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  <a:sym typeface="Wingdings" panose="05000000000000000000" pitchFamily="2" charset="2"/>
              </a:rPr>
              <a:t>组</a:t>
            </a:r>
            <a:r>
              <a:rPr kumimoji="0" lang="zh-CN" altLang="en-US" sz="4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</a:rPr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2723" y="962583"/>
            <a:ext cx="7806814" cy="3880773"/>
          </a:xfrm>
        </p:spPr>
        <p:txBody>
          <a:bodyPr>
            <a:noAutofit/>
          </a:bodyPr>
          <a:lstStyle/>
          <a:p>
            <a:endParaRPr lang="en-US" altLang="zh-CN" dirty="0"/>
          </a:p>
          <a:p>
            <a:r>
              <a:rPr lang="zh-CN" altLang="en-US" dirty="0"/>
              <a:t>课题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b="1" dirty="0"/>
              <a:t>                                         </a:t>
            </a:r>
            <a:r>
              <a:rPr lang="zh-CN" altLang="en-US" sz="2800" b="1" dirty="0"/>
              <a:t>语音信号放大电路</a:t>
            </a:r>
            <a:endParaRPr lang="en-US" altLang="zh-CN" sz="2800" b="1" dirty="0"/>
          </a:p>
          <a:p>
            <a:pPr>
              <a:lnSpc>
                <a:spcPct val="170000"/>
              </a:lnSpc>
            </a:pPr>
            <a:r>
              <a:rPr lang="en-US" altLang="zh-CN" dirty="0"/>
              <a:t>        </a:t>
            </a:r>
            <a:r>
              <a:rPr lang="zh-CN" altLang="zh-CN" sz="2000" dirty="0"/>
              <a:t>采用集成运算放大器</a:t>
            </a:r>
            <a:r>
              <a:rPr lang="en-US" altLang="zh-CN" sz="2000" dirty="0"/>
              <a:t>LM324</a:t>
            </a:r>
            <a:r>
              <a:rPr lang="zh-CN" altLang="zh-CN" sz="2000" dirty="0"/>
              <a:t>和集成功放</a:t>
            </a:r>
            <a:r>
              <a:rPr lang="en-US" altLang="zh-CN" sz="2000" dirty="0"/>
              <a:t>LM386N-4</a:t>
            </a:r>
            <a:r>
              <a:rPr lang="zh-CN" altLang="zh-CN" sz="2000" dirty="0"/>
              <a:t>设计一个语音放大电路；假设语音信号的为一正弦波信号，峰峰值为</a:t>
            </a:r>
            <a:r>
              <a:rPr lang="en-US" altLang="zh-CN" sz="2000" dirty="0"/>
              <a:t>5mV</a:t>
            </a:r>
            <a:r>
              <a:rPr lang="zh-CN" altLang="zh-CN" sz="2000" dirty="0"/>
              <a:t>，频率范围为</a:t>
            </a:r>
            <a:r>
              <a:rPr lang="en-US" altLang="zh-CN" sz="2000" dirty="0"/>
              <a:t>100Hz~3.4KHz</a:t>
            </a:r>
            <a:r>
              <a:rPr lang="zh-CN" altLang="zh-CN" sz="2000" dirty="0"/>
              <a:t>，电路总体原理图如下所示；</a:t>
            </a:r>
            <a:endParaRPr lang="en-US" altLang="zh-CN" sz="2000" dirty="0"/>
          </a:p>
          <a:p>
            <a:pPr marL="0" indent="0">
              <a:lnSpc>
                <a:spcPct val="170000"/>
              </a:lnSpc>
              <a:buNone/>
            </a:pPr>
            <a:endParaRPr lang="en-US" altLang="zh-CN" dirty="0"/>
          </a:p>
          <a:p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38130" y="4052319"/>
          <a:ext cx="6867740" cy="2379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Visio" r:id="rId1" imgW="4269105" imgH="1474470" progId="">
                  <p:embed/>
                </p:oleObj>
              </mc:Choice>
              <mc:Fallback>
                <p:oleObj name="Visio" r:id="rId1" imgW="4269105" imgH="147447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130" y="4052319"/>
                        <a:ext cx="6867740" cy="23797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sz="21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557530" indent="-21463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18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857250" indent="-1714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165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200150" indent="-1714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15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1543050" indent="-171450">
              <a:lnSpc>
                <a:spcPct val="115000"/>
              </a:lnSpc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1885950" indent="-17145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228850" indent="-17145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2571750" indent="-17145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2914650" indent="-17145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defTabSz="6858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fld id="{85A491F4-E9B3-4798-8027-D0B4168AF1C5}" type="slidenum">
              <a:rPr lang="en-US" altLang="zh-CN" sz="1200" b="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rgbClr val="FF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638" y="2265142"/>
            <a:ext cx="6549065" cy="419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195946" y="3318974"/>
          <a:ext cx="564893" cy="25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" name="Equation" r:id="rId3" imgW="10668000" imgH="4876800" progId="Equation.DSMT4">
                  <p:embed/>
                </p:oleObj>
              </mc:Choice>
              <mc:Fallback>
                <p:oleObj name="Equation" r:id="rId3" imgW="10668000" imgH="4876800" progId="Equation.DSMT4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946" y="3318974"/>
                        <a:ext cx="564893" cy="258237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/>
          <p:nvPr/>
        </p:nvCxnSpPr>
        <p:spPr bwMode="auto">
          <a:xfrm flipH="1">
            <a:off x="5437334" y="3577211"/>
            <a:ext cx="58994" cy="226526"/>
          </a:xfrm>
          <a:prstGeom prst="straightConnector1">
            <a:avLst/>
          </a:prstGeom>
          <a:solidFill>
            <a:schemeClr val="accent1"/>
          </a:solidFill>
          <a:ln w="12700" cap="rnd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</p:spPr>
      </p:cxn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002223" y="3299877"/>
          <a:ext cx="916091" cy="333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Equation" r:id="rId5" imgW="15849600" imgH="5791200" progId="Equation.DSMT4">
                  <p:embed/>
                </p:oleObj>
              </mc:Choice>
              <mc:Fallback>
                <p:oleObj name="Equation" r:id="rId5" imgW="15849600" imgH="5791200" progId="Equation.DSMT4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2223" y="3299877"/>
                        <a:ext cx="916091" cy="333124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870545" y="3612985"/>
            <a:ext cx="59406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>
                <a:solidFill>
                  <a:srgbClr val="FF0000"/>
                </a:solidFill>
              </a:rPr>
              <a:t>提取载波</a:t>
            </a:r>
            <a:endParaRPr lang="zh-CN" altLang="en-US" sz="1350" b="1" dirty="0">
              <a:solidFill>
                <a:srgbClr val="FF0000"/>
              </a:solidFill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扩展任务：三选一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738666" y="1855986"/>
            <a:ext cx="74518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  Costas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环的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FPGA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设计及实现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扩展任务：三选一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5919" y="4247196"/>
            <a:ext cx="3903842" cy="174688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2959" y="2026763"/>
            <a:ext cx="819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2 </a:t>
            </a:r>
            <a:r>
              <a:rPr lang="zh-CN" altLang="en-US" sz="3600" b="1" dirty="0">
                <a:solidFill>
                  <a:srgbClr val="FF0000"/>
                </a:solidFill>
              </a:rPr>
              <a:t>混沌信号发生器 （</a:t>
            </a:r>
            <a:r>
              <a:rPr lang="en-US" altLang="zh-CN" sz="3600" b="1" dirty="0">
                <a:solidFill>
                  <a:srgbClr val="FF0000"/>
                </a:solidFill>
              </a:rPr>
              <a:t> FPGA</a:t>
            </a:r>
            <a:r>
              <a:rPr lang="zh-CN" altLang="en-US" sz="3600" b="1" dirty="0">
                <a:solidFill>
                  <a:srgbClr val="FF0000"/>
                </a:solidFill>
              </a:rPr>
              <a:t>设计及实现）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790334" y="53732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428813" y="2673094"/>
          <a:ext cx="4829224" cy="1282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Equation" r:id="rId2" imgW="2667000" imgH="711200" progId="Equation.DSMT4">
                  <p:embed/>
                </p:oleObj>
              </mc:Choice>
              <mc:Fallback>
                <p:oleObj name="Equation" r:id="rId2" imgW="26670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813" y="2673094"/>
                        <a:ext cx="4829224" cy="12820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221" y="3989253"/>
            <a:ext cx="3307826" cy="2262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混沌信号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       混沌现象是指发生在确定性系统中的貌似随机的不规则运动，一个确定性理论描述的系统，其行为却表现为不确定性一不可重复、不可预测，这就是混沌现象。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77240" y="3429000"/>
            <a:ext cx="7589520" cy="21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      混沌是近代非常引人注目的热点研究，它掀起了继相对论和量子力学以来基础科学的第三次革命。科学中的混沌概念不同于古典哲学和日常语言中的理解，简单地说，混沌是一种确定系统中出现的无规则的运动。混沌理论所研究的是</a:t>
            </a:r>
            <a:r>
              <a:rPr lang="zh-CN" altLang="en-US" b="1" dirty="0">
                <a:solidFill>
                  <a:srgbClr val="FF0000"/>
                </a:solidFill>
              </a:rPr>
              <a:t>非线性动力</a:t>
            </a:r>
            <a:r>
              <a:rPr lang="zh-CN" altLang="en-US" dirty="0"/>
              <a:t>学混沌，目的是要揭示</a:t>
            </a:r>
            <a:r>
              <a:rPr lang="zh-CN" altLang="en-US" b="1" dirty="0">
                <a:solidFill>
                  <a:srgbClr val="FF0000"/>
                </a:solidFill>
              </a:rPr>
              <a:t>貌似随机的现象背后可能隐藏的简单规律</a:t>
            </a:r>
            <a:r>
              <a:rPr lang="zh-CN" altLang="en-US" dirty="0"/>
              <a:t>，以求发现一大类复杂问题普遍遵循的共同规律。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42025"/>
            <a:ext cx="4111471" cy="7746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387" y="5518391"/>
            <a:ext cx="2925654" cy="8312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混沌信号发生器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5314" y="1979429"/>
            <a:ext cx="4234700" cy="4022725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214" y="1818031"/>
            <a:ext cx="4335472" cy="43455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822960" y="717816"/>
            <a:ext cx="7543800" cy="8889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扩展任务：三选一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90985" y="1875934"/>
            <a:ext cx="7444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3 </a:t>
            </a:r>
            <a:r>
              <a:rPr lang="zh-CN" altLang="en-US" sz="3600" b="1" dirty="0">
                <a:solidFill>
                  <a:srgbClr val="FF0000"/>
                </a:solidFill>
              </a:rPr>
              <a:t>基于</a:t>
            </a:r>
            <a:r>
              <a:rPr lang="en-US" altLang="zh-CN" sz="3600" b="1" dirty="0">
                <a:solidFill>
                  <a:srgbClr val="FF0000"/>
                </a:solidFill>
              </a:rPr>
              <a:t>FPGA</a:t>
            </a:r>
            <a:r>
              <a:rPr lang="zh-CN" altLang="en-US" sz="3600" b="1" dirty="0">
                <a:solidFill>
                  <a:srgbClr val="FF0000"/>
                </a:solidFill>
              </a:rPr>
              <a:t>的</a:t>
            </a:r>
            <a:r>
              <a:rPr lang="en-US" altLang="zh-CN" sz="3600" b="1" dirty="0">
                <a:solidFill>
                  <a:srgbClr val="FF0000"/>
                </a:solidFill>
              </a:rPr>
              <a:t>2PSK/2DPSK</a:t>
            </a:r>
            <a:r>
              <a:rPr lang="zh-CN" altLang="en-US" sz="3600" b="1" dirty="0">
                <a:solidFill>
                  <a:srgbClr val="FF0000"/>
                </a:solidFill>
              </a:rPr>
              <a:t>调制解调系统的设计与实现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" y="3659190"/>
            <a:ext cx="9144000" cy="165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课程报告内容和格式</a:t>
            </a:r>
            <a:br>
              <a:rPr lang="zh-CN" altLang="en-US" dirty="0"/>
            </a:br>
            <a:r>
              <a:rPr lang="en-US" altLang="zh-CN" dirty="0"/>
              <a:t>(</a:t>
            </a:r>
            <a:r>
              <a:rPr lang="zh-CN" altLang="en-US" dirty="0"/>
              <a:t>之后会提供模板文档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1 </a:t>
            </a:r>
            <a:r>
              <a:rPr lang="zh-CN" altLang="en-US" sz="2400" dirty="0"/>
              <a:t>设计题目</a:t>
            </a:r>
            <a:endParaRPr lang="en-US" altLang="zh-CN" sz="2400" dirty="0"/>
          </a:p>
          <a:p>
            <a:r>
              <a:rPr lang="en-US" altLang="zh-CN" sz="2400" dirty="0"/>
              <a:t>2 </a:t>
            </a:r>
            <a:r>
              <a:rPr lang="zh-CN" altLang="en-US" sz="2400" dirty="0"/>
              <a:t>设计任务和要求</a:t>
            </a:r>
            <a:endParaRPr lang="en-US" altLang="zh-CN" sz="2400" dirty="0"/>
          </a:p>
          <a:p>
            <a:r>
              <a:rPr lang="en-US" altLang="zh-CN" sz="2400" dirty="0"/>
              <a:t>3 </a:t>
            </a:r>
            <a:r>
              <a:rPr lang="zh-CN" altLang="en-US" sz="2400" dirty="0"/>
              <a:t>方案设计与论证（方案的比较）</a:t>
            </a:r>
            <a:endParaRPr lang="en-US" altLang="zh-CN" sz="2400" dirty="0"/>
          </a:p>
          <a:p>
            <a:r>
              <a:rPr lang="en-US" altLang="zh-CN" sz="2400" dirty="0"/>
              <a:t>4 </a:t>
            </a:r>
            <a:r>
              <a:rPr lang="zh-CN" altLang="en-US" sz="2400" dirty="0"/>
              <a:t>电路原理设计</a:t>
            </a:r>
            <a:endParaRPr lang="en-US" altLang="zh-CN" sz="2400" dirty="0"/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）单元电路设计与参数计算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）元件选择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）整体电路（含元件型号和参数）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）说明电路工作原理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课程报告内容和格式</a:t>
            </a:r>
            <a:br>
              <a:rPr lang="zh-CN" altLang="en-US" dirty="0"/>
            </a:br>
            <a:r>
              <a:rPr lang="zh-CN" altLang="en-US" dirty="0">
                <a:sym typeface="+mn-ea"/>
              </a:rPr>
              <a:t>之后会提供模板文档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5 </a:t>
            </a:r>
            <a:r>
              <a:rPr lang="zh-CN" altLang="en-US" sz="2400" dirty="0"/>
              <a:t>电路软件仿真及结果</a:t>
            </a:r>
            <a:endParaRPr lang="en-US" altLang="zh-CN" sz="2400" dirty="0"/>
          </a:p>
          <a:p>
            <a:r>
              <a:rPr lang="en-US" altLang="zh-CN" sz="2400" dirty="0"/>
              <a:t>6  </a:t>
            </a:r>
            <a:r>
              <a:rPr lang="zh-CN" altLang="en-US" sz="2400" dirty="0"/>
              <a:t>焊接</a:t>
            </a:r>
            <a:endParaRPr lang="en-US" altLang="zh-CN" sz="2400" dirty="0"/>
          </a:p>
          <a:p>
            <a:r>
              <a:rPr lang="en-US" altLang="zh-CN" sz="2400" dirty="0"/>
              <a:t>7  </a:t>
            </a:r>
            <a:r>
              <a:rPr lang="zh-CN" altLang="en-US" sz="2400" dirty="0"/>
              <a:t>调试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8   </a:t>
            </a:r>
            <a:r>
              <a:rPr lang="zh-CN" altLang="en-US" sz="2400" dirty="0"/>
              <a:t>实验结果分析（和预定任务进行比较，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                               </a:t>
            </a:r>
            <a:r>
              <a:rPr lang="zh-CN" altLang="en-US" sz="2400" dirty="0"/>
              <a:t>是否完成设计任务，误差分析等）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9  </a:t>
            </a:r>
            <a:r>
              <a:rPr lang="zh-CN" altLang="en-US" sz="2400" dirty="0"/>
              <a:t>实验时遇到的困难及解决措施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参考文献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1" y="2026275"/>
            <a:ext cx="7543800" cy="145075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zh-CN" altLang="en-US" dirty="0">
                <a:solidFill>
                  <a:schemeClr val="tx1"/>
                </a:solidFill>
              </a:rPr>
              <a:t>确定方案并完成</a:t>
            </a:r>
            <a:r>
              <a:rPr lang="zh-CN" altLang="en-US" b="1" dirty="0">
                <a:solidFill>
                  <a:srgbClr val="FF0000"/>
                </a:solidFill>
              </a:rPr>
              <a:t>基础任务</a:t>
            </a:r>
            <a:r>
              <a:rPr lang="zh-CN" altLang="en-US" dirty="0">
                <a:solidFill>
                  <a:schemeClr val="tx1"/>
                </a:solidFill>
              </a:rPr>
              <a:t>仿真，老师对结果进行检查。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1" y="3673478"/>
            <a:ext cx="7354528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</a:rPr>
              <a:t>     </a:t>
            </a:r>
            <a:r>
              <a:rPr kumimoji="0" lang="zh-CN" alt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宋体" panose="02010600030101010101" pitchFamily="2" charset="-122"/>
                <a:cs typeface="+mj-cs"/>
              </a:rPr>
              <a:t>确定电子元器件并完成采购，进行后续实验室里的焊接和调试任务。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2Y3MTNkM2UxN2M3YTIyZTU4YzcwMmI1MjEyNmJhYzYifQ=="/>
</p:tagLst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2873</Words>
  <Application>WPS 演示</Application>
  <PresentationFormat>全屏显示(4:3)</PresentationFormat>
  <Paragraphs>301</Paragraphs>
  <Slides>44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44</vt:i4>
      </vt:variant>
    </vt:vector>
  </HeadingPairs>
  <TitlesOfParts>
    <vt:vector size="64" baseType="lpstr">
      <vt:lpstr>Arial</vt:lpstr>
      <vt:lpstr>宋体</vt:lpstr>
      <vt:lpstr>Wingdings</vt:lpstr>
      <vt:lpstr>Calibri</vt:lpstr>
      <vt:lpstr>Calibri Light</vt:lpstr>
      <vt:lpstr>微软雅黑</vt:lpstr>
      <vt:lpstr>Arial Unicode MS</vt:lpstr>
      <vt:lpstr>等线</vt:lpstr>
      <vt:lpstr>Times New Roman</vt:lpstr>
      <vt:lpstr>Calibri Light</vt:lpstr>
      <vt:lpstr>楷体_GB2312</vt:lpstr>
      <vt:lpstr>新宋体</vt:lpstr>
      <vt:lpstr>Tahoma</vt:lpstr>
      <vt:lpstr>Calibri</vt:lpstr>
      <vt:lpstr>MiSans Normal</vt:lpstr>
      <vt:lpstr>回顾</vt:lpstr>
      <vt:lpstr>Visio.Drawing.11</vt:lpstr>
      <vt:lpstr>Equation.DSMT4</vt:lpstr>
      <vt:lpstr>Equation.DSMT4</vt:lpstr>
      <vt:lpstr>Equation.DSMT4</vt:lpstr>
      <vt:lpstr>课程简介</vt:lpstr>
      <vt:lpstr>教学方式和课程要求</vt:lpstr>
      <vt:lpstr>成绩评价</vt:lpstr>
      <vt:lpstr>先修课程：</vt:lpstr>
      <vt:lpstr>思维导图</vt:lpstr>
      <vt:lpstr>课程结构</vt:lpstr>
      <vt:lpstr>模电书目录</vt:lpstr>
      <vt:lpstr>数电书目录</vt:lpstr>
      <vt:lpstr>什么是电子电路设计？</vt:lpstr>
      <vt:lpstr>如何进行设计？</vt:lpstr>
      <vt:lpstr>设计的基本流程</vt:lpstr>
      <vt:lpstr>注意事项</vt:lpstr>
      <vt:lpstr>模拟电子线路系统基本构成</vt:lpstr>
      <vt:lpstr>模拟电子线路系统基本构成</vt:lpstr>
      <vt:lpstr>前端：各种传感器</vt:lpstr>
      <vt:lpstr>举例1：循迹小车</vt:lpstr>
      <vt:lpstr>搜索资料：</vt:lpstr>
      <vt:lpstr>PowerPoint 演示文稿</vt:lpstr>
      <vt:lpstr>资料搜索、阅读、思考</vt:lpstr>
      <vt:lpstr>数据手册</vt:lpstr>
      <vt:lpstr> </vt:lpstr>
      <vt:lpstr>Multisim中仿真</vt:lpstr>
      <vt:lpstr>器件列表</vt:lpstr>
      <vt:lpstr> </vt:lpstr>
      <vt:lpstr>焊接和调试</vt:lpstr>
      <vt:lpstr>数字电子线路的设计方法</vt:lpstr>
      <vt:lpstr> </vt:lpstr>
      <vt:lpstr>电子线路在生活中的应用</vt:lpstr>
      <vt:lpstr>电子线路在生活中的应用</vt:lpstr>
      <vt:lpstr>应用：同学们自己发现并总结</vt:lpstr>
      <vt:lpstr>历年电子设计大赛题目列表（未更新）</vt:lpstr>
      <vt:lpstr>本课程的任务：</vt:lpstr>
      <vt:lpstr>PowerPoint 演示文稿</vt:lpstr>
      <vt:lpstr>PowerPoint 演示文稿</vt:lpstr>
      <vt:lpstr>语音信号放大电路</vt:lpstr>
      <vt:lpstr>本课程的任务： 基本任务 （4人1组）</vt:lpstr>
      <vt:lpstr>扩展任务：三选一</vt:lpstr>
      <vt:lpstr>扩展任务：三选一</vt:lpstr>
      <vt:lpstr>混沌信号</vt:lpstr>
      <vt:lpstr>混沌信号发生器</vt:lpstr>
      <vt:lpstr>PowerPoint 演示文稿</vt:lpstr>
      <vt:lpstr>课程报告内容和格式</vt:lpstr>
      <vt:lpstr>课程报告内容和格式</vt:lpstr>
      <vt:lpstr>     1-2周内确定方案并完成基础任务仿真，老师对结果进行检查。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zhuzhu</dc:creator>
  <cp:lastModifiedBy>董鑫瑞</cp:lastModifiedBy>
  <cp:revision>201</cp:revision>
  <dcterms:created xsi:type="dcterms:W3CDTF">2020-04-16T02:10:00Z</dcterms:created>
  <dcterms:modified xsi:type="dcterms:W3CDTF">2026-10-09T11:16:16Z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F5ECD96179BF4054A69CFCDE54B9AEF3_12</vt:lpwstr>
  </property>
  <property fmtid="{D5CDD505-2E9C-101B-9397-08002B2CF9AE}" pid="3" name="KSOProductBuildVer">
    <vt:lpwstr>2052-12.1.0.19302</vt:lpwstr>
  </property>
</Properties>
</file>