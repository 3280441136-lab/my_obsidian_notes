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3"/>
    <p:sldId id="282" r:id="rId4"/>
    <p:sldId id="283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256" r:id="rId15"/>
    <p:sldId id="257" r:id="rId16"/>
    <p:sldId id="341" r:id="rId17"/>
    <p:sldId id="342" r:id="rId18"/>
    <p:sldId id="343" r:id="rId19"/>
    <p:sldId id="270" r:id="rId20"/>
    <p:sldId id="285" r:id="rId21"/>
    <p:sldId id="348" r:id="rId22"/>
    <p:sldId id="286" r:id="rId23"/>
    <p:sldId id="271" r:id="rId24"/>
    <p:sldId id="331" r:id="rId25"/>
    <p:sldId id="332" r:id="rId26"/>
    <p:sldId id="349" r:id="rId27"/>
    <p:sldId id="274" r:id="rId28"/>
    <p:sldId id="333" r:id="rId29"/>
    <p:sldId id="334" r:id="rId30"/>
    <p:sldId id="335" r:id="rId31"/>
    <p:sldId id="287" r:id="rId32"/>
    <p:sldId id="290" r:id="rId33"/>
    <p:sldId id="276" r:id="rId34"/>
    <p:sldId id="291" r:id="rId35"/>
    <p:sldId id="293" r:id="rId36"/>
    <p:sldId id="278" r:id="rId37"/>
    <p:sldId id="320" r:id="rId38"/>
    <p:sldId id="344" r:id="rId39"/>
    <p:sldId id="345" r:id="rId40"/>
    <p:sldId id="296" r:id="rId41"/>
    <p:sldId id="305" r:id="rId42"/>
    <p:sldId id="306" r:id="rId43"/>
    <p:sldId id="307" r:id="rId44"/>
    <p:sldId id="308" r:id="rId45"/>
    <p:sldId id="309" r:id="rId46"/>
    <p:sldId id="350" r:id="rId47"/>
    <p:sldId id="310" r:id="rId48"/>
    <p:sldId id="311" r:id="rId49"/>
    <p:sldId id="315" r:id="rId50"/>
    <p:sldId id="316" r:id="rId51"/>
    <p:sldId id="337" r:id="rId52"/>
    <p:sldId id="340" r:id="rId53"/>
    <p:sldId id="339" r:id="rId54"/>
    <p:sldId id="346" r:id="rId55"/>
    <p:sldId id="347" r:id="rId56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tags" Target="tags/tag1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1"/>
          <p:cNvSpPr txBox="1"/>
          <p:nvPr/>
        </p:nvSpPr>
        <p:spPr>
          <a:xfrm>
            <a:off x="3940696" y="1389168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60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信息论基础</a:t>
            </a:r>
            <a:endParaRPr lang="zh-CN" altLang="en-US" sz="6000" b="1" dirty="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2697174" y="2953875"/>
            <a:ext cx="6518917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+mn-ea"/>
              </a:rPr>
              <a:t>南京信息工程大学 电子与信息工程学院</a:t>
            </a:r>
            <a:endParaRPr lang="en-US" altLang="zh-CN" sz="2800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+mn-ea"/>
              </a:rPr>
              <a:t>授课教师：杜川</a:t>
            </a:r>
            <a:r>
              <a:rPr lang="en-US" altLang="zh-CN" sz="2800" b="1" dirty="0">
                <a:latin typeface="+mn-ea"/>
              </a:rPr>
              <a:t> </a:t>
            </a:r>
            <a:endParaRPr lang="en-US" altLang="zh-CN" sz="2800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+mn-ea"/>
              </a:rPr>
              <a:t>电话：</a:t>
            </a:r>
            <a:r>
              <a:rPr lang="en-US" altLang="zh-CN" sz="2800" b="1" dirty="0">
                <a:latin typeface="+mn-ea"/>
              </a:rPr>
              <a:t>17765011068</a:t>
            </a:r>
            <a:endParaRPr lang="en-US" altLang="zh-CN" sz="2800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E-mail: hnlyjzdc@163.com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6" name="图片 5" descr="E:\Adata-教学_教材_学生\jc\信息论与编码第三版\信息论第3版提交稿\信息论与编码第3版封面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62" b="1701"/>
          <a:stretch>
            <a:fillRect/>
          </a:stretch>
        </p:blipFill>
        <p:spPr bwMode="auto">
          <a:xfrm>
            <a:off x="6217285" y="1070610"/>
            <a:ext cx="3792855" cy="48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22869" y="320335"/>
            <a:ext cx="1097280" cy="46037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400" dirty="0">
                <a:solidFill>
                  <a:srgbClr val="FF0000"/>
                </a:solidFill>
              </a:rPr>
              <a:t>教材：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560" y="1070610"/>
            <a:ext cx="3277235" cy="485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59155" y="1270635"/>
            <a:ext cx="11117580" cy="23069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总评成绩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考试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60%~70%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+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作业和平时表现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10%~20%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+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540"/>
            <a:ext cx="12188825" cy="6861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2540"/>
            <a:ext cx="12188190" cy="6861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540"/>
            <a:ext cx="12186920" cy="6860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" y="-635"/>
            <a:ext cx="1218311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" y="635"/>
            <a:ext cx="12179935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1905"/>
            <a:ext cx="12186285" cy="68599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-3175"/>
            <a:ext cx="12188825" cy="68618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2095" y="5659120"/>
            <a:ext cx="94996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accent6"/>
                </a:solidFill>
              </a:rPr>
              <a:t>信息论从理论上揭示了通信过程的基本规律与能力</a:t>
            </a:r>
            <a:endParaRPr lang="zh-CN" altLang="en-US" sz="2000">
              <a:solidFill>
                <a:schemeClr val="accent6"/>
              </a:solidFill>
            </a:endParaRPr>
          </a:p>
          <a:p>
            <a:pPr algn="ctr"/>
            <a:r>
              <a:rPr lang="zh-CN" altLang="en-US" sz="2000">
                <a:solidFill>
                  <a:schemeClr val="accent6"/>
                </a:solidFill>
              </a:rPr>
              <a:t>建立了通信系统优化和设计的科学思想和方法论</a:t>
            </a:r>
            <a:endParaRPr lang="zh-CN" altLang="en-US" sz="2000">
              <a:solidFill>
                <a:schemeClr val="accent6"/>
              </a:solidFill>
            </a:endParaRPr>
          </a:p>
          <a:p>
            <a:pPr algn="ctr"/>
            <a:r>
              <a:rPr lang="zh-CN" altLang="en-US" sz="2000">
                <a:solidFill>
                  <a:schemeClr val="accent6"/>
                </a:solidFill>
              </a:rPr>
              <a:t>而编码技术是近代各种通信系统变革的有</a:t>
            </a:r>
            <a:r>
              <a:rPr lang="zh-CN" altLang="en-US" sz="2000">
                <a:solidFill>
                  <a:schemeClr val="accent6"/>
                </a:solidFill>
              </a:rPr>
              <a:t>力推手</a:t>
            </a:r>
            <a:endParaRPr lang="zh-CN" altLang="en-US" sz="20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-635"/>
            <a:ext cx="1218184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85595" y="5974715"/>
            <a:ext cx="9499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accent6"/>
                </a:solidFill>
              </a:rPr>
              <a:t>探索如何实现信息的可靠有效传输</a:t>
            </a:r>
            <a:endParaRPr lang="zh-CN" altLang="en-US" sz="24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175"/>
            <a:ext cx="12185015" cy="6861175"/>
          </a:xfrm>
          <a:prstGeom prst="rect">
            <a:avLst/>
          </a:prstGeom>
        </p:spPr>
      </p:pic>
      <p:sp>
        <p:nvSpPr>
          <p:cNvPr id="6" name="圆柱形 5"/>
          <p:cNvSpPr/>
          <p:nvPr/>
        </p:nvSpPr>
        <p:spPr>
          <a:xfrm>
            <a:off x="4150043" y="2748280"/>
            <a:ext cx="929640" cy="2428240"/>
          </a:xfrm>
          <a:prstGeom prst="can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/>
              <a:t>信息</a:t>
            </a:r>
            <a:endParaRPr lang="zh-CN" altLang="en-US" sz="4400" b="1" dirty="0"/>
          </a:p>
        </p:txBody>
      </p:sp>
      <p:sp>
        <p:nvSpPr>
          <p:cNvPr id="7" name="圆柱形 6"/>
          <p:cNvSpPr/>
          <p:nvPr/>
        </p:nvSpPr>
        <p:spPr>
          <a:xfrm>
            <a:off x="5789295" y="2748280"/>
            <a:ext cx="929640" cy="2428240"/>
          </a:xfrm>
          <a:prstGeom prst="can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/>
              <a:t>材料</a:t>
            </a:r>
            <a:endParaRPr lang="zh-CN" altLang="en-US" sz="4400" b="1" dirty="0"/>
          </a:p>
        </p:txBody>
      </p:sp>
      <p:sp>
        <p:nvSpPr>
          <p:cNvPr id="8" name="圆柱形 7"/>
          <p:cNvSpPr/>
          <p:nvPr/>
        </p:nvSpPr>
        <p:spPr>
          <a:xfrm>
            <a:off x="7428548" y="2748280"/>
            <a:ext cx="929640" cy="2428240"/>
          </a:xfrm>
          <a:prstGeom prst="can">
            <a:avLst/>
          </a:prstGeom>
          <a:solidFill>
            <a:srgbClr val="33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/>
              <a:t>能源</a:t>
            </a:r>
            <a:endParaRPr lang="zh-CN" altLang="en-US" sz="4400" b="1" dirty="0"/>
          </a:p>
        </p:txBody>
      </p:sp>
      <p:sp>
        <p:nvSpPr>
          <p:cNvPr id="9" name="文本框 27"/>
          <p:cNvSpPr txBox="1">
            <a:spLocks noChangeArrowheads="1"/>
          </p:cNvSpPr>
          <p:nvPr/>
        </p:nvSpPr>
        <p:spPr bwMode="auto">
          <a:xfrm>
            <a:off x="3895408" y="1786573"/>
            <a:ext cx="50480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di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当代文明的三大支柱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87800" y="730250"/>
            <a:ext cx="6612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0070C0"/>
                </a:solidFill>
              </a:rPr>
              <a:t>同学们在生活中什么时候会提到信息？</a:t>
            </a:r>
            <a:endParaRPr lang="zh-CN" altLang="en-US" sz="24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2" grpId="1"/>
      <p:bldP spid="3" grpId="1" build="p"/>
      <p:bldP spid="6" grpId="0" animBg="1"/>
      <p:bldP spid="7" grpId="0" animBg="1"/>
      <p:bldP spid="8" grpId="0" animBg="1"/>
      <p:bldP spid="9" grpId="0"/>
      <p:bldP spid="6" grpId="1" animBg="1"/>
      <p:bldP spid="7" grpId="1" animBg="1"/>
      <p:bldP spid="8" grpId="1" animBg="1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1270"/>
            <a:ext cx="12188825" cy="6859270"/>
          </a:xfrm>
          <a:prstGeom prst="rect">
            <a:avLst/>
          </a:prstGeom>
        </p:spPr>
      </p:pic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2053590" y="2870200"/>
            <a:ext cx="8122920" cy="19583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kumimoji="0"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没有物质的世界是虚无的世界；没有能源的世界是死寂的世界；没有信息的世界是混乱的世界。” </a:t>
            </a:r>
            <a:endParaRPr kumimoji="0"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96760" y="5878830"/>
            <a:ext cx="2170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如何评价一个信息</a:t>
            </a:r>
            <a:r>
              <a:rPr lang="zh-CN" altLang="en-US"/>
              <a:t>工作者的</a:t>
            </a:r>
            <a:r>
              <a:rPr lang="zh-CN" altLang="en-US"/>
              <a:t>价值呢？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nimBg="1"/>
      <p:bldP spid="129029" grpId="1" animBg="1"/>
      <p:bldP spid="129029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" y="-635"/>
            <a:ext cx="12187555" cy="68586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01005" y="960755"/>
            <a:ext cx="34067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在这种信息测度条件下，在信息传输和处理中的一些什么样的规律？</a:t>
            </a:r>
            <a:endParaRPr lang="zh-CN" altLang="en-US"/>
          </a:p>
          <a:p>
            <a:r>
              <a:rPr lang="zh-CN" altLang="en-US"/>
              <a:t>这样的规律在我们进行通信系统设计时有能带来什么样的启示</a:t>
            </a:r>
            <a:r>
              <a:rPr lang="zh-CN" altLang="en-US"/>
              <a:t>呢？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绪论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  <a:p>
            <a:pPr fontAlgn="auto">
              <a:lnSpc>
                <a:spcPct val="200000"/>
              </a:lnSpc>
            </a:pPr>
            <a:r>
              <a:rPr lang="zh-CN" altLang="en-US"/>
              <a:t>1.1 信息的定义</a:t>
            </a:r>
            <a:endParaRPr lang="zh-CN" altLang="en-US"/>
          </a:p>
          <a:p>
            <a:pPr fontAlgn="auto">
              <a:lnSpc>
                <a:spcPct val="200000"/>
              </a:lnSpc>
            </a:pPr>
            <a:r>
              <a:rPr lang="zh-CN" altLang="en-US"/>
              <a:t>1.2 信息测度基本概念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93815" y="921385"/>
            <a:ext cx="3985895" cy="1962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>
                <a:solidFill>
                  <a:srgbClr val="FF0000"/>
                </a:solidFill>
              </a:rPr>
              <a:t>描述要反映事物本身的特质</a:t>
            </a:r>
            <a:endParaRPr lang="zh-CN" altLang="en-US" sz="2000">
              <a:solidFill>
                <a:srgbClr val="FF0000"/>
              </a:solidFill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FF0000"/>
                </a:solidFill>
              </a:rPr>
              <a:t>描述要能方便后续用数学公式进行定量的的测度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绪论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  <a:p>
            <a:pPr fontAlgn="auto">
              <a:lnSpc>
                <a:spcPct val="200000"/>
              </a:lnSpc>
            </a:pPr>
            <a:r>
              <a:rPr lang="zh-CN" altLang="en-US"/>
              <a:t>1.1 信息的定义</a:t>
            </a:r>
            <a:endParaRPr lang="zh-CN" altLang="en-US"/>
          </a:p>
          <a:p>
            <a:pPr fontAlgn="auto">
              <a:lnSpc>
                <a:spcPct val="200000"/>
              </a:lnSpc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1.2 信息测度基本概念</a:t>
            </a:r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3965" y="5328285"/>
            <a:ext cx="46361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提问：同学们对信息的定义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1270"/>
            <a:ext cx="1219454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40280" y="1120775"/>
            <a:ext cx="8366760" cy="2445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5400"/>
              <a:t>1.1</a:t>
            </a:r>
            <a:r>
              <a:rPr lang="en-US" altLang="zh-CN" sz="5400"/>
              <a:t>   </a:t>
            </a:r>
            <a:r>
              <a:rPr lang="zh-CN" altLang="en-US" sz="5400"/>
              <a:t>信息的定义</a:t>
            </a:r>
            <a:endParaRPr lang="zh-CN" altLang="en-US" sz="5400"/>
          </a:p>
          <a:p>
            <a:pPr indent="0" fontAlgn="auto">
              <a:lnSpc>
                <a:spcPct val="150000"/>
              </a:lnSpc>
            </a:pPr>
            <a:endParaRPr lang="zh-CN" altLang="en-US" sz="4800"/>
          </a:p>
        </p:txBody>
      </p:sp>
      <p:sp>
        <p:nvSpPr>
          <p:cNvPr id="6" name="文本框 5"/>
          <p:cNvSpPr txBox="1"/>
          <p:nvPr/>
        </p:nvSpPr>
        <p:spPr>
          <a:xfrm>
            <a:off x="2426335" y="2694305"/>
            <a:ext cx="609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4000">
                <a:sym typeface="+mn-ea"/>
              </a:rPr>
              <a:t>一、统计信息的概念</a:t>
            </a:r>
            <a:endParaRPr lang="zh-CN" altLang="en-US" sz="4000"/>
          </a:p>
          <a:p>
            <a:pPr indent="0" fontAlgn="auto">
              <a:lnSpc>
                <a:spcPct val="150000"/>
              </a:lnSpc>
            </a:pPr>
            <a:r>
              <a:rPr lang="zh-CN" altLang="en-US" sz="4000">
                <a:sym typeface="+mn-ea"/>
              </a:rPr>
              <a:t>二、全信息概念简介</a:t>
            </a:r>
            <a:endParaRPr lang="zh-CN" altLang="en-US" sz="4000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393825" y="1223645"/>
            <a:ext cx="609600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 sz="2800"/>
              <a:t>1.</a:t>
            </a:r>
            <a:r>
              <a:rPr lang="en-US" altLang="zh-CN" sz="2800"/>
              <a:t> </a:t>
            </a:r>
            <a:r>
              <a:rPr lang="zh-CN" altLang="en-US" sz="2800"/>
              <a:t>信息</a:t>
            </a:r>
            <a:r>
              <a:rPr lang="en-US" altLang="zh-CN" sz="2800"/>
              <a:t>    =</a:t>
            </a:r>
            <a:r>
              <a:rPr lang="en-US" altLang="zh-CN" sz="2800">
                <a:sym typeface="+mn-ea"/>
              </a:rPr>
              <a:t>?</a:t>
            </a:r>
            <a:r>
              <a:rPr lang="en-US" altLang="zh-CN" sz="2800"/>
              <a:t>    </a:t>
            </a:r>
            <a:r>
              <a:rPr lang="zh-CN" altLang="en-US" sz="2800"/>
              <a:t>情报</a:t>
            </a:r>
            <a:endParaRPr lang="zh-CN" altLang="en-US" sz="2800"/>
          </a:p>
          <a:p>
            <a:pPr indent="0" fontAlgn="auto">
              <a:lnSpc>
                <a:spcPct val="200000"/>
              </a:lnSpc>
            </a:pPr>
            <a:r>
              <a:rPr lang="zh-CN" altLang="en-US" sz="2800"/>
              <a:t>2.</a:t>
            </a:r>
            <a:r>
              <a:rPr lang="en-US" altLang="zh-CN" sz="2800"/>
              <a:t> </a:t>
            </a:r>
            <a:r>
              <a:rPr lang="zh-CN" altLang="en-US" sz="2800"/>
              <a:t>信息</a:t>
            </a:r>
            <a:r>
              <a:rPr lang="en-US" altLang="zh-CN" sz="2800">
                <a:sym typeface="+mn-ea"/>
              </a:rPr>
              <a:t>    =</a:t>
            </a:r>
            <a:r>
              <a:rPr lang="en-US" altLang="zh-CN" sz="2800">
                <a:sym typeface="+mn-ea"/>
              </a:rPr>
              <a:t>?</a:t>
            </a:r>
            <a:r>
              <a:rPr lang="en-US" altLang="zh-CN" sz="2800">
                <a:sym typeface="+mn-ea"/>
              </a:rPr>
              <a:t>    </a:t>
            </a:r>
            <a:r>
              <a:rPr lang="zh-CN" altLang="en-US" sz="2800"/>
              <a:t>知识</a:t>
            </a:r>
            <a:endParaRPr lang="zh-CN" altLang="en-US" sz="2800"/>
          </a:p>
          <a:p>
            <a:pPr indent="0" fontAlgn="auto">
              <a:lnSpc>
                <a:spcPct val="200000"/>
              </a:lnSpc>
            </a:pPr>
            <a:r>
              <a:rPr lang="zh-CN" altLang="en-US" sz="2800"/>
              <a:t>3.</a:t>
            </a:r>
            <a:r>
              <a:rPr lang="en-US" altLang="zh-CN" sz="2800"/>
              <a:t> </a:t>
            </a:r>
            <a:r>
              <a:rPr lang="zh-CN" altLang="en-US" sz="2800"/>
              <a:t>信息</a:t>
            </a:r>
            <a:r>
              <a:rPr lang="en-US" altLang="zh-CN" sz="2800">
                <a:sym typeface="+mn-ea"/>
              </a:rPr>
              <a:t>    =</a:t>
            </a:r>
            <a:r>
              <a:rPr lang="en-US" altLang="zh-CN" sz="2800">
                <a:sym typeface="+mn-ea"/>
              </a:rPr>
              <a:t>?</a:t>
            </a:r>
            <a:r>
              <a:rPr lang="en-US" altLang="zh-CN" sz="2800">
                <a:sym typeface="+mn-ea"/>
              </a:rPr>
              <a:t>    </a:t>
            </a:r>
            <a:r>
              <a:rPr lang="zh-CN" altLang="en-US" sz="2800"/>
              <a:t>消息</a:t>
            </a:r>
            <a:endParaRPr lang="zh-CN" altLang="en-US" sz="2800"/>
          </a:p>
          <a:p>
            <a:pPr indent="0" fontAlgn="auto">
              <a:lnSpc>
                <a:spcPct val="200000"/>
              </a:lnSpc>
            </a:pPr>
            <a:r>
              <a:rPr lang="zh-CN" altLang="en-US" sz="2800"/>
              <a:t>4.</a:t>
            </a:r>
            <a:r>
              <a:rPr lang="en-US" altLang="zh-CN" sz="2800"/>
              <a:t> </a:t>
            </a:r>
            <a:r>
              <a:rPr lang="zh-CN" altLang="en-US" sz="2800"/>
              <a:t>信息</a:t>
            </a:r>
            <a:r>
              <a:rPr lang="en-US" altLang="zh-CN" sz="2800">
                <a:sym typeface="+mn-ea"/>
              </a:rPr>
              <a:t>    =</a:t>
            </a:r>
            <a:r>
              <a:rPr lang="en-US" altLang="zh-CN" sz="2800">
                <a:sym typeface="+mn-ea"/>
              </a:rPr>
              <a:t>?</a:t>
            </a:r>
            <a:r>
              <a:rPr lang="en-US" altLang="zh-CN" sz="2800">
                <a:sym typeface="+mn-ea"/>
              </a:rPr>
              <a:t>    </a:t>
            </a:r>
            <a:r>
              <a:rPr lang="zh-CN" altLang="en-US" sz="2800"/>
              <a:t>信号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470535" y="0"/>
            <a:ext cx="836676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4400"/>
              <a:t>一、统计信息的概念</a:t>
            </a:r>
            <a:endParaRPr lang="zh-CN" altLang="en-US" sz="4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393825" y="1223645"/>
            <a:ext cx="609600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 sz="2800"/>
              <a:t>1.</a:t>
            </a:r>
            <a:r>
              <a:rPr lang="en-US" altLang="zh-CN" sz="2800"/>
              <a:t> </a:t>
            </a:r>
            <a:r>
              <a:rPr lang="zh-CN" altLang="en-US" sz="2800"/>
              <a:t>信息不等同于情报</a:t>
            </a:r>
            <a:endParaRPr lang="zh-CN" altLang="en-US" sz="2800"/>
          </a:p>
          <a:p>
            <a:pPr indent="0" fontAlgn="auto">
              <a:lnSpc>
                <a:spcPct val="200000"/>
              </a:lnSpc>
            </a:pPr>
            <a:r>
              <a:rPr lang="zh-CN" altLang="en-US" sz="2800"/>
              <a:t>2.</a:t>
            </a:r>
            <a:r>
              <a:rPr lang="en-US" altLang="zh-CN" sz="2800"/>
              <a:t> </a:t>
            </a:r>
            <a:r>
              <a:rPr lang="zh-CN" altLang="en-US" sz="2800"/>
              <a:t>信息不等同于知识</a:t>
            </a:r>
            <a:endParaRPr lang="zh-CN" altLang="en-US" sz="2800"/>
          </a:p>
          <a:p>
            <a:pPr indent="0" fontAlgn="auto">
              <a:lnSpc>
                <a:spcPct val="200000"/>
              </a:lnSpc>
            </a:pPr>
            <a:r>
              <a:rPr lang="zh-CN" altLang="en-US" sz="2800"/>
              <a:t>3.</a:t>
            </a:r>
            <a:r>
              <a:rPr lang="en-US" altLang="zh-CN" sz="2800"/>
              <a:t> </a:t>
            </a:r>
            <a:r>
              <a:rPr lang="zh-CN" altLang="en-US" sz="2800"/>
              <a:t>信息不等同于消息</a:t>
            </a:r>
            <a:endParaRPr lang="zh-CN" altLang="en-US" sz="2800"/>
          </a:p>
          <a:p>
            <a:pPr indent="0" fontAlgn="auto">
              <a:lnSpc>
                <a:spcPct val="200000"/>
              </a:lnSpc>
            </a:pPr>
            <a:r>
              <a:rPr lang="zh-CN" altLang="en-US" sz="2800"/>
              <a:t>4.</a:t>
            </a:r>
            <a:r>
              <a:rPr lang="en-US" altLang="zh-CN" sz="2800"/>
              <a:t> </a:t>
            </a:r>
            <a:r>
              <a:rPr lang="zh-CN" altLang="en-US" sz="2800"/>
              <a:t>信息不等同于信号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470535" y="0"/>
            <a:ext cx="836676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4400"/>
              <a:t>一、统计信息的概念</a:t>
            </a:r>
            <a:endParaRPr lang="zh-CN" altLang="en-US" sz="4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192635" cy="6861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80" y="675640"/>
            <a:ext cx="3486785" cy="27647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96635" y="611124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比如跟对象发消息，消息是</a:t>
            </a:r>
            <a:r>
              <a:rPr lang="zh-CN" altLang="en-US"/>
              <a:t>具象，信息是心意，是抽象</a:t>
            </a:r>
            <a:r>
              <a:rPr lang="zh-CN" altLang="en-US"/>
              <a:t>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" y="-635"/>
            <a:ext cx="1218755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905"/>
            <a:ext cx="12189460" cy="68599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16850" y="3338195"/>
            <a:ext cx="3792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二战之后，图灵、冯诺依曼、香农、维纳对信息的本质进行</a:t>
            </a:r>
            <a:r>
              <a:rPr lang="zh-CN" altLang="en-US"/>
              <a:t>讨论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880985" y="5416550"/>
            <a:ext cx="3629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所要表达的内容其实</a:t>
            </a:r>
            <a:r>
              <a:rPr lang="zh-CN" altLang="en-US"/>
              <a:t>并不重要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207240" cy="68694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75480" y="5179695"/>
            <a:ext cx="20085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（</a:t>
            </a:r>
            <a:r>
              <a:rPr lang="en-US" altLang="zh-CN" sz="2000" b="1"/>
              <a:t>Shannon </a:t>
            </a:r>
            <a:r>
              <a:rPr lang="zh-CN" altLang="en-US" sz="2000" b="1"/>
              <a:t>信息）</a:t>
            </a:r>
            <a:endParaRPr lang="zh-CN" altLang="en-US" sz="2000" b="1"/>
          </a:p>
        </p:txBody>
      </p:sp>
      <p:sp>
        <p:nvSpPr>
          <p:cNvPr id="4" name="矩形 3"/>
          <p:cNvSpPr/>
          <p:nvPr/>
        </p:nvSpPr>
        <p:spPr>
          <a:xfrm>
            <a:off x="537210" y="3364230"/>
            <a:ext cx="6250940" cy="2961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"/>
            <a:ext cx="12207240" cy="68694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75480" y="5179695"/>
            <a:ext cx="20085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（</a:t>
            </a:r>
            <a:r>
              <a:rPr lang="en-US" altLang="zh-CN" sz="2000" b="1"/>
              <a:t>Shannon </a:t>
            </a:r>
            <a:r>
              <a:rPr lang="zh-CN" altLang="en-US" sz="2000" b="1"/>
              <a:t>信息）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" y="635"/>
            <a:ext cx="1218438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635"/>
            <a:ext cx="12194540" cy="68573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295265" y="6165215"/>
            <a:ext cx="3051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苏联兵力都在</a:t>
            </a:r>
            <a:r>
              <a:rPr lang="zh-CN" altLang="en-US"/>
              <a:t>西伯利亚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137015" y="3582670"/>
            <a:ext cx="1935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传奇间谍佐尔格发送了</a:t>
            </a:r>
            <a:r>
              <a:rPr lang="en-US" altLang="zh-CN"/>
              <a:t>5</a:t>
            </a:r>
            <a:r>
              <a:rPr lang="zh-CN" altLang="en-US"/>
              <a:t>字情报：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-635"/>
            <a:ext cx="12188190" cy="68592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85340"/>
            <a:ext cx="10515600" cy="4351338"/>
          </a:xfrm>
        </p:spPr>
        <p:txBody>
          <a:bodyPr/>
          <a:p>
            <a:pPr fontAlgn="auto">
              <a:lnSpc>
                <a:spcPct val="200000"/>
              </a:lnSpc>
            </a:pPr>
            <a:r>
              <a:rPr lang="zh-CN" altLang="en-US" sz="2400"/>
              <a:t>信息</a:t>
            </a:r>
            <a:r>
              <a:rPr lang="zh-CN" altLang="en-US" sz="2400"/>
              <a:t>在通信系统中传输的形式是消息;</a:t>
            </a:r>
            <a:endParaRPr lang="zh-CN" altLang="en-US" sz="2400"/>
          </a:p>
          <a:p>
            <a:pPr fontAlgn="auto">
              <a:lnSpc>
                <a:spcPct val="200000"/>
              </a:lnSpc>
            </a:pPr>
            <a:r>
              <a:rPr lang="zh-CN" altLang="en-US" sz="2400"/>
              <a:t>通信的实质是通过消息的传递，消除不确定性，获得信息。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470535" y="0"/>
            <a:ext cx="836676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4400"/>
              <a:t>一、统计信息的概念</a:t>
            </a:r>
            <a:endParaRPr lang="zh-CN" altLang="en-US" sz="4400"/>
          </a:p>
        </p:txBody>
      </p:sp>
      <p:sp>
        <p:nvSpPr>
          <p:cNvPr id="5" name="文本框 4"/>
          <p:cNvSpPr txBox="1"/>
          <p:nvPr/>
        </p:nvSpPr>
        <p:spPr>
          <a:xfrm>
            <a:off x="1057275" y="131000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>
                <a:sym typeface="+mn-ea"/>
              </a:rPr>
              <a:t>信息与消息</a:t>
            </a:r>
            <a:endParaRPr lang="zh-CN" altLang="en-US" sz="3600">
              <a:sym typeface="+mn-ea"/>
            </a:endParaRPr>
          </a:p>
        </p:txBody>
      </p:sp>
      <p:sp>
        <p:nvSpPr>
          <p:cNvPr id="7" name="椭圆形标注 6"/>
          <p:cNvSpPr/>
          <p:nvPr/>
        </p:nvSpPr>
        <p:spPr>
          <a:xfrm>
            <a:off x="5712460" y="1310005"/>
            <a:ext cx="4102735" cy="964565"/>
          </a:xfrm>
          <a:prstGeom prst="wedgeEllipseCallout">
            <a:avLst>
              <a:gd name="adj1" fmla="val -63430"/>
              <a:gd name="adj2" fmla="val 79229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消息是信息的载体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椭圆形标注 7"/>
          <p:cNvSpPr/>
          <p:nvPr/>
        </p:nvSpPr>
        <p:spPr>
          <a:xfrm>
            <a:off x="5641975" y="4072255"/>
            <a:ext cx="3992880" cy="964565"/>
          </a:xfrm>
          <a:prstGeom prst="wedgeEllipseCallout">
            <a:avLst>
              <a:gd name="adj1" fmla="val -58667"/>
              <a:gd name="adj2" fmla="val -8996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信息是抽象的传输主体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393825" y="1223645"/>
            <a:ext cx="609600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200000"/>
              </a:lnSpc>
            </a:pPr>
            <a:r>
              <a:rPr lang="zh-CN" altLang="en-US" sz="2800"/>
              <a:t>1.</a:t>
            </a:r>
            <a:r>
              <a:rPr lang="en-US" altLang="zh-CN" sz="2800"/>
              <a:t> </a:t>
            </a:r>
            <a:r>
              <a:rPr lang="zh-CN" altLang="en-US" sz="2800"/>
              <a:t>信息不等同于情报</a:t>
            </a:r>
            <a:endParaRPr lang="zh-CN" altLang="en-US" sz="2800"/>
          </a:p>
          <a:p>
            <a:pPr indent="0" fontAlgn="auto">
              <a:lnSpc>
                <a:spcPct val="200000"/>
              </a:lnSpc>
            </a:pPr>
            <a:r>
              <a:rPr lang="zh-CN" altLang="en-US" sz="2800"/>
              <a:t>2.</a:t>
            </a:r>
            <a:r>
              <a:rPr lang="en-US" altLang="zh-CN" sz="2800"/>
              <a:t> </a:t>
            </a:r>
            <a:r>
              <a:rPr lang="zh-CN" altLang="en-US" sz="2800"/>
              <a:t>信息不等同于知识</a:t>
            </a:r>
            <a:endParaRPr lang="zh-CN" altLang="en-US" sz="2800"/>
          </a:p>
          <a:p>
            <a:pPr indent="0" fontAlgn="auto">
              <a:lnSpc>
                <a:spcPct val="200000"/>
              </a:lnSpc>
            </a:pPr>
            <a:r>
              <a:rPr lang="zh-CN" altLang="en-US" sz="2800"/>
              <a:t>3.</a:t>
            </a:r>
            <a:r>
              <a:rPr lang="en-US" altLang="zh-CN" sz="2800"/>
              <a:t> </a:t>
            </a:r>
            <a:r>
              <a:rPr lang="zh-CN" altLang="en-US" sz="2800"/>
              <a:t>信息不等同于消息</a:t>
            </a:r>
            <a:endParaRPr lang="zh-CN" altLang="en-US" sz="2800"/>
          </a:p>
          <a:p>
            <a:pPr indent="0" fontAlgn="auto">
              <a:lnSpc>
                <a:spcPct val="200000"/>
              </a:lnSpc>
            </a:pPr>
            <a:r>
              <a:rPr lang="zh-CN" altLang="en-US" sz="2800"/>
              <a:t>4.</a:t>
            </a:r>
            <a:r>
              <a:rPr lang="en-US" altLang="zh-CN" sz="2800"/>
              <a:t> </a:t>
            </a:r>
            <a:r>
              <a:rPr lang="zh-CN" altLang="en-US" sz="2800"/>
              <a:t>信息不等同于信号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470535" y="0"/>
            <a:ext cx="836676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4400"/>
              <a:t>一、统计信息的概念</a:t>
            </a:r>
            <a:endParaRPr lang="zh-CN" altLang="en-US" sz="4400"/>
          </a:p>
        </p:txBody>
      </p:sp>
      <p:sp>
        <p:nvSpPr>
          <p:cNvPr id="2" name="圆角矩形标注 1"/>
          <p:cNvSpPr/>
          <p:nvPr/>
        </p:nvSpPr>
        <p:spPr>
          <a:xfrm>
            <a:off x="1465580" y="4997450"/>
            <a:ext cx="8963660" cy="1486535"/>
          </a:xfrm>
          <a:prstGeom prst="wedgeRoundRectCallout">
            <a:avLst>
              <a:gd name="adj1" fmla="val -23096"/>
              <a:gd name="adj2" fmla="val -72595"/>
              <a:gd name="adj3" fmla="val 1666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indent="0" algn="ctr" fontAlgn="auto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把消息变换成适合信道传输的物理量，这种物理量就称为信号。</a:t>
            </a:r>
            <a:endParaRPr lang="zh-CN" altLang="en-US" sz="2400">
              <a:solidFill>
                <a:srgbClr val="FF0000"/>
              </a:solidFill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sym typeface="+mn-ea"/>
              </a:rPr>
              <a:t>在通信中为什么有了消息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还要有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信号？</a:t>
            </a:r>
            <a:endParaRPr lang="zh-CN" altLang="en-US" sz="24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" y="635"/>
            <a:ext cx="12184380" cy="68573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44015" y="4957445"/>
            <a:ext cx="666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消息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07260" y="4243705"/>
            <a:ext cx="1014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发射机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0770" y="4283710"/>
            <a:ext cx="807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信源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99765" y="4750435"/>
            <a:ext cx="718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信号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977640" y="3720465"/>
            <a:ext cx="800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(信道)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40400" y="4291330"/>
            <a:ext cx="92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接收机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259320" y="4320540"/>
            <a:ext cx="799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信宿</a:t>
            </a:r>
            <a:endParaRPr lang="zh-CN" altLang="en-US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92570" y="4957445"/>
            <a:ext cx="666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消息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42570" y="5325745"/>
            <a:ext cx="46215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通信的目的:</a:t>
            </a:r>
            <a:endParaRPr lang="zh-CN" altLang="en-US" sz="2400">
              <a:solidFill>
                <a:srgbClr val="FF0000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实现信息的保真传输。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8630" y="348615"/>
            <a:ext cx="8901430" cy="56464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0535" y="0"/>
            <a:ext cx="836676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4400"/>
              <a:t>二、</a:t>
            </a:r>
            <a:r>
              <a:rPr lang="zh-CN" altLang="en-US" sz="4400"/>
              <a:t>全信息的概念</a:t>
            </a:r>
            <a:endParaRPr lang="zh-CN" altLang="en-US" sz="4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605" y="1645285"/>
            <a:ext cx="9944100" cy="514540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2"/>
        </p:blipFill>
        <p:spPr>
          <a:xfrm>
            <a:off x="1673860" y="2008505"/>
            <a:ext cx="2023745" cy="273558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3"/>
        </p:blipFill>
        <p:spPr>
          <a:xfrm>
            <a:off x="1673860" y="2008505"/>
            <a:ext cx="2023745" cy="273558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377315" y="1115695"/>
            <a:ext cx="7239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zh-CN" altLang="en-US" sz="2400"/>
              <a:t>人们对客观世界运动规律和存在状态的认识结果</a:t>
            </a:r>
            <a:endParaRPr lang="zh-CN" altLang="en-US" sz="2400"/>
          </a:p>
        </p:txBody>
      </p:sp>
      <p:pic>
        <p:nvPicPr>
          <p:cNvPr id="12" name="图片 11"/>
          <p:cNvPicPr/>
          <p:nvPr/>
        </p:nvPicPr>
        <p:blipFill>
          <a:blip r:embed="rId4"/>
        </p:blipFill>
        <p:spPr>
          <a:xfrm>
            <a:off x="7334885" y="301625"/>
            <a:ext cx="2891790" cy="20891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4335" y="5828665"/>
            <a:ext cx="1152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关注信息的</a:t>
            </a:r>
            <a:r>
              <a:rPr lang="zh-CN" altLang="en-US"/>
              <a:t>含义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226675" y="723265"/>
            <a:ext cx="17183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关注波形的结构</a:t>
            </a:r>
            <a:r>
              <a:rPr lang="zh-CN" altLang="en-US"/>
              <a:t>组成，波形的复现</a:t>
            </a:r>
            <a:r>
              <a:rPr lang="zh-CN" altLang="en-US"/>
              <a:t>过程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" y="-635"/>
            <a:ext cx="12186920" cy="68586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93010" y="1688465"/>
            <a:ext cx="334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ym typeface="+mn-ea"/>
              </a:rPr>
              <a:t>（semantic information)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2493010" y="2968625"/>
            <a:ext cx="334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ym typeface="+mn-ea"/>
              </a:rPr>
              <a:t>（</a:t>
            </a:r>
            <a:r>
              <a:rPr lang="zh-CN" altLang="en-US" sz="2400">
                <a:sym typeface="+mn-ea"/>
              </a:rPr>
              <a:t>s</a:t>
            </a:r>
            <a:r>
              <a:rPr lang="en-US" altLang="zh-CN" sz="2400">
                <a:sym typeface="+mn-ea"/>
              </a:rPr>
              <a:t>y</a:t>
            </a:r>
            <a:r>
              <a:rPr lang="zh-CN" altLang="en-US" sz="2400">
                <a:sym typeface="+mn-ea"/>
              </a:rPr>
              <a:t>ntactic information</a:t>
            </a:r>
            <a:r>
              <a:rPr lang="zh-CN" altLang="en-US" sz="2400">
                <a:sym typeface="+mn-ea"/>
              </a:rPr>
              <a:t>)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2298065" y="4983480"/>
            <a:ext cx="334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ym typeface="+mn-ea"/>
              </a:rPr>
              <a:t>（</a:t>
            </a:r>
            <a:r>
              <a:rPr lang="zh-CN" altLang="en-US" sz="2400">
                <a:sym typeface="+mn-ea"/>
              </a:rPr>
              <a:t>pragmati</a:t>
            </a:r>
            <a:r>
              <a:rPr lang="en-US" altLang="zh-CN" sz="2400">
                <a:sym typeface="+mn-ea"/>
              </a:rPr>
              <a:t>c </a:t>
            </a:r>
            <a:r>
              <a:rPr lang="zh-CN" altLang="en-US" sz="2400">
                <a:sym typeface="+mn-ea"/>
              </a:rPr>
              <a:t>information</a:t>
            </a:r>
            <a:r>
              <a:rPr lang="zh-CN" altLang="en-US" sz="2400">
                <a:sym typeface="+mn-ea"/>
              </a:rPr>
              <a:t>)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92710" y="3054985"/>
            <a:ext cx="44894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0000"/>
                </a:solidFill>
                <a:sym typeface="+mn-ea"/>
              </a:rPr>
              <a:t>统计信息</a:t>
            </a:r>
            <a:endParaRPr lang="zh-CN" alt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710" y="1270000"/>
            <a:ext cx="2101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信息获取阶段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2710" y="2600325"/>
            <a:ext cx="2101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信息传递阶段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2710" y="4538345"/>
            <a:ext cx="2101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信息应用阶段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绪论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  <a:p>
            <a:pPr fontAlgn="auto">
              <a:lnSpc>
                <a:spcPct val="200000"/>
              </a:lnSpc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1.1 信息的定义</a:t>
            </a:r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  <a:p>
            <a:pPr fontAlgn="auto">
              <a:lnSpc>
                <a:spcPct val="200000"/>
              </a:lnSpc>
            </a:pPr>
            <a:r>
              <a:rPr lang="zh-CN" altLang="en-US"/>
              <a:t>1.2 信息测度基本概念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" y="635"/>
            <a:ext cx="12168505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-635"/>
            <a:ext cx="12193905" cy="68592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" y="-635"/>
            <a:ext cx="121831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0"/>
            <a:ext cx="12183745" cy="68611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-635"/>
            <a:ext cx="12185015" cy="685927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540"/>
            <a:ext cx="12192000" cy="6863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" y="-2540"/>
            <a:ext cx="12191365" cy="686244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917055" y="1499235"/>
            <a:ext cx="3660775" cy="3733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540"/>
            <a:ext cx="12191365" cy="686244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" y="0"/>
            <a:ext cx="12186920" cy="68605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5064125"/>
            <a:ext cx="469900" cy="463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177665" y="5928360"/>
            <a:ext cx="3274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事件发生的难度</a:t>
            </a:r>
            <a:r>
              <a:rPr lang="zh-CN" altLang="en-US"/>
              <a:t>是多少</a:t>
            </a:r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二、联合</a:t>
            </a:r>
            <a:r>
              <a:rPr lang="zh-CN" altLang="en-US"/>
              <a:t>自信息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fontAlgn="auto">
              <a:lnSpc>
                <a:spcPct val="150000"/>
              </a:lnSpc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联合事件集合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中的事件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=a,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的自信息定义为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I(a,b)=-logP</a:t>
            </a:r>
            <a:r>
              <a:rPr lang="en-US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 (a,b)</a:t>
            </a:r>
            <a:endParaRPr lang="zh-CN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简记为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I(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)= -log P(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三、 条件自信息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在事件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Y=b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给定条件下的自信息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定义为   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I(a|b)= -log </a:t>
            </a:r>
            <a:r>
              <a:rPr lang="zh-CN" altLang="en-US" i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i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X|Y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(a|b)</a:t>
            </a:r>
            <a:endParaRPr lang="zh-CN" altLang="en-US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简记为   </a:t>
            </a:r>
            <a:r>
              <a:rPr lang="zh-CN" altLang="en-US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I(X|Y)= -log P(X|Y)</a:t>
            </a:r>
            <a:endParaRPr lang="zh-CN" altLang="en-US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3175"/>
            <a:ext cx="12204700" cy="68643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练习1: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fontAlgn="auto">
              <a:lnSpc>
                <a:spcPct val="150000"/>
              </a:lnSpc>
              <a:buNone/>
            </a:pPr>
            <a:r>
              <a:rPr lang="zh-CN" altLang="en-US"/>
              <a:t>福利彩票双色球：</a:t>
            </a:r>
            <a:r>
              <a:t>双色球投注区分为红球号码区和蓝球号码区，红球号码范围为01～33，蓝球号码范围为01～16。双色球每期从33个红球中开出6个号码，从16个蓝球中开出1个号码作为中奖号码，双色球玩法即是竞猜开奖号码的6个红球号码和1个蓝球号码，顺序不限 </a:t>
            </a:r>
            <a:r>
              <a:rPr lang="zh-CN"/>
              <a:t>。</a:t>
            </a:r>
            <a:endParaRPr lang="zh-C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练习1: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 fontAlgn="auto">
              <a:lnSpc>
                <a:spcPct val="150000"/>
              </a:lnSpc>
              <a:buNone/>
            </a:pPr>
            <a:r>
              <a:t>1.</a:t>
            </a:r>
            <a:r>
              <a:rPr lang="en-US"/>
              <a:t> </a:t>
            </a:r>
            <a:r>
              <a:t>猜中第一个球号码为“7”的难度?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t>2.</a:t>
            </a:r>
            <a:r>
              <a:rPr lang="en-US"/>
              <a:t> </a:t>
            </a:r>
            <a:r>
              <a:t>第一个球出现后，猜中第二个球号码为“16”的难度?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t>3.</a:t>
            </a:r>
            <a:r>
              <a:rPr lang="en-US"/>
              <a:t> </a:t>
            </a:r>
            <a:r>
              <a:t>已知前5球号码为“7</a:t>
            </a:r>
            <a:r>
              <a:rPr lang="en-US"/>
              <a:t> </a:t>
            </a:r>
            <a:r>
              <a:t> 16</a:t>
            </a:r>
            <a:r>
              <a:rPr lang="en-US"/>
              <a:t> </a:t>
            </a:r>
            <a:r>
              <a:t> 21</a:t>
            </a:r>
            <a:r>
              <a:rPr lang="en-US"/>
              <a:t> </a:t>
            </a:r>
            <a:r>
              <a:t> 17</a:t>
            </a:r>
            <a:r>
              <a:rPr lang="en-US"/>
              <a:t>  </a:t>
            </a:r>
            <a:r>
              <a:t>1”后，猜中第6个球号码为“19”的难度?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t>4.</a:t>
            </a:r>
            <a:r>
              <a:rPr lang="en-US"/>
              <a:t> </a:t>
            </a:r>
            <a:r>
              <a:t>猜中双色球为“红:7</a:t>
            </a:r>
            <a:r>
              <a:rPr lang="en-US"/>
              <a:t>  </a:t>
            </a:r>
            <a:r>
              <a:t>16</a:t>
            </a:r>
            <a:r>
              <a:rPr lang="en-US"/>
              <a:t> </a:t>
            </a:r>
            <a:r>
              <a:t> 21</a:t>
            </a:r>
            <a:r>
              <a:rPr lang="en-US"/>
              <a:t>  </a:t>
            </a:r>
            <a:r>
              <a:t>17</a:t>
            </a:r>
            <a:r>
              <a:rPr lang="en-US"/>
              <a:t>  </a:t>
            </a:r>
            <a:r>
              <a:t>1</a:t>
            </a:r>
            <a:r>
              <a:rPr lang="en-US"/>
              <a:t>  </a:t>
            </a:r>
            <a:r>
              <a:t>19 蓝 :14”的难度?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GI3MTk2NWMwMmQzMDkyYjE4OTQ1YjUxMGMxZDBhNz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WPS 演示</Application>
  <PresentationFormat>宽屏</PresentationFormat>
  <Paragraphs>180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7" baseType="lpstr">
      <vt:lpstr>Arial</vt:lpstr>
      <vt:lpstr>宋体</vt:lpstr>
      <vt:lpstr>Wingdings</vt:lpstr>
      <vt:lpstr>华文隶书</vt:lpstr>
      <vt:lpstr>Calibri</vt:lpstr>
      <vt:lpstr>Times New Roman</vt:lpstr>
      <vt:lpstr>微软雅黑</vt:lpstr>
      <vt:lpstr>Arial Unicode MS</vt:lpstr>
      <vt:lpstr>Symbol</vt:lpstr>
      <vt:lpstr>黑体</vt:lpstr>
      <vt:lpstr>华文中宋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绪论</vt:lpstr>
      <vt:lpstr>1. 绪论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绪论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二、联合自信息</vt:lpstr>
      <vt:lpstr>三、 条件自信息</vt:lpstr>
      <vt:lpstr>PowerPoint 演示文稿</vt:lpstr>
      <vt:lpstr>PowerPoint 演示文稿</vt:lpstr>
      <vt:lpstr>PowerPoint 演示文稿</vt:lpstr>
      <vt:lpstr>练习1:</vt:lpstr>
      <vt:lpstr>练习1: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杜川</dc:creator>
  <cp:lastModifiedBy>行者无疆</cp:lastModifiedBy>
  <cp:revision>53</cp:revision>
  <dcterms:created xsi:type="dcterms:W3CDTF">2023-08-09T12:44:00Z</dcterms:created>
  <dcterms:modified xsi:type="dcterms:W3CDTF">2026-09-13T11:39:03Z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2052-12.1.0.28505</vt:lpwstr>
  </property>
</Properties>
</file>