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3"/>
    <p:sldId id="417" r:id="rId4"/>
    <p:sldId id="418" r:id="rId5"/>
    <p:sldId id="442" r:id="rId6"/>
    <p:sldId id="443" r:id="rId7"/>
    <p:sldId id="419" r:id="rId8"/>
    <p:sldId id="421" r:id="rId9"/>
    <p:sldId id="420" r:id="rId10"/>
    <p:sldId id="444" r:id="rId11"/>
    <p:sldId id="422" r:id="rId12"/>
    <p:sldId id="445" r:id="rId13"/>
    <p:sldId id="423" r:id="rId14"/>
    <p:sldId id="424" r:id="rId15"/>
    <p:sldId id="425" r:id="rId16"/>
    <p:sldId id="446" r:id="rId17"/>
    <p:sldId id="447" r:id="rId18"/>
    <p:sldId id="426" r:id="rId19"/>
    <p:sldId id="448" r:id="rId20"/>
    <p:sldId id="427" r:id="rId21"/>
    <p:sldId id="428" r:id="rId22"/>
    <p:sldId id="429" r:id="rId23"/>
    <p:sldId id="430" r:id="rId24"/>
    <p:sldId id="441" r:id="rId25"/>
    <p:sldId id="501" r:id="rId26"/>
    <p:sldId id="432" r:id="rId27"/>
    <p:sldId id="482" r:id="rId28"/>
    <p:sldId id="433" r:id="rId29"/>
    <p:sldId id="434" r:id="rId30"/>
    <p:sldId id="502" r:id="rId31"/>
    <p:sldId id="450" r:id="rId32"/>
    <p:sldId id="435" r:id="rId33"/>
    <p:sldId id="449" r:id="rId34"/>
    <p:sldId id="436" r:id="rId35"/>
    <p:sldId id="437" r:id="rId36"/>
    <p:sldId id="439" r:id="rId37"/>
    <p:sldId id="440" r:id="rId38"/>
    <p:sldId id="473" r:id="rId39"/>
    <p:sldId id="476" r:id="rId40"/>
    <p:sldId id="474" r:id="rId41"/>
    <p:sldId id="483" r:id="rId42"/>
    <p:sldId id="478" r:id="rId43"/>
    <p:sldId id="484" r:id="rId44"/>
    <p:sldId id="479" r:id="rId45"/>
    <p:sldId id="480" r:id="rId46"/>
    <p:sldId id="481" r:id="rId47"/>
  </p:sldIdLst>
  <p:sldSz cx="9144000" cy="6858000" type="screen4x3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53566826" name="行者无疆" initials="行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5F9ED"/>
    <a:srgbClr val="FFFF99"/>
    <a:srgbClr val="66FF33"/>
    <a:srgbClr val="FF00FF"/>
    <a:srgbClr val="3333CC"/>
    <a:srgbClr val="CCFF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06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1140" y="68"/>
      </p:cViewPr>
      <p:guideLst>
        <p:guide orient="horz" pos="206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gs" Target="tags/tag4.xml"/><Relationship Id="rId52" Type="http://schemas.openxmlformats.org/officeDocument/2006/relationships/commentAuthors" Target="commentAuthors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3.xml"/><Relationship Id="rId49" Type="http://schemas.openxmlformats.org/officeDocument/2006/relationships/presProps" Target="presProps.xml"/><Relationship Id="rId48" Type="http://schemas.openxmlformats.org/officeDocument/2006/relationships/notesMaster" Target="notesMasters/notesMaster1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7" Type="http://schemas.openxmlformats.org/officeDocument/2006/relationships/image" Target="../media/image23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25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5" Type="http://schemas.openxmlformats.org/officeDocument/2006/relationships/image" Target="../media/image32.wmf"/><Relationship Id="rId4" Type="http://schemas.openxmlformats.org/officeDocument/2006/relationships/image" Target="../media/image31.wmf"/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47.wmf"/><Relationship Id="rId3" Type="http://schemas.openxmlformats.org/officeDocument/2006/relationships/image" Target="../media/image39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54.wmf"/></Relationships>
</file>

<file path=ppt/drawings/_rels/vmlDrawing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56.wmf"/><Relationship Id="rId3" Type="http://schemas.openxmlformats.org/officeDocument/2006/relationships/image" Target="../media/image55.wmf"/><Relationship Id="rId2" Type="http://schemas.openxmlformats.org/officeDocument/2006/relationships/image" Target="../media/image50.wmf"/><Relationship Id="rId1" Type="http://schemas.openxmlformats.org/officeDocument/2006/relationships/image" Target="../media/image54.wmf"/></Relationships>
</file>

<file path=ppt/drawings/_rels/vmlDrawing19.vml.rels><?xml version="1.0" encoding="UTF-8" standalone="yes"?>
<Relationships xmlns="http://schemas.openxmlformats.org/package/2006/relationships"><Relationship Id="rId4" Type="http://schemas.openxmlformats.org/officeDocument/2006/relationships/image" Target="../media/image56.wmf"/><Relationship Id="rId3" Type="http://schemas.openxmlformats.org/officeDocument/2006/relationships/image" Target="../media/image57.wmf"/><Relationship Id="rId2" Type="http://schemas.openxmlformats.org/officeDocument/2006/relationships/image" Target="../media/image50.wmf"/><Relationship Id="rId1" Type="http://schemas.openxmlformats.org/officeDocument/2006/relationships/image" Target="../media/image54.wmf"/></Relationships>
</file>

<file path=ppt/drawings/_rels/vmlDrawing20.vml.rels><?xml version="1.0" encoding="UTF-8" standalone="yes"?>
<Relationships xmlns="http://schemas.openxmlformats.org/package/2006/relationships"><Relationship Id="rId5" Type="http://schemas.openxmlformats.org/officeDocument/2006/relationships/image" Target="../media/image61.wmf"/><Relationship Id="rId4" Type="http://schemas.openxmlformats.org/officeDocument/2006/relationships/image" Target="../media/image60.wmf"/><Relationship Id="rId3" Type="http://schemas.openxmlformats.org/officeDocument/2006/relationships/image" Target="../media/image59.wmf"/><Relationship Id="rId2" Type="http://schemas.openxmlformats.org/officeDocument/2006/relationships/image" Target="../media/image50.wmf"/><Relationship Id="rId1" Type="http://schemas.openxmlformats.org/officeDocument/2006/relationships/image" Target="../media/image58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50.wmf"/><Relationship Id="rId1" Type="http://schemas.openxmlformats.org/officeDocument/2006/relationships/image" Target="../media/image69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3.wmf"/><Relationship Id="rId1" Type="http://schemas.openxmlformats.org/officeDocument/2006/relationships/image" Target="../media/image50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50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wmf"/><Relationship Id="rId1" Type="http://schemas.openxmlformats.org/officeDocument/2006/relationships/image" Target="../media/image50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wmf"/><Relationship Id="rId1" Type="http://schemas.openxmlformats.org/officeDocument/2006/relationships/image" Target="../media/image50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50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81.wmf"/><Relationship Id="rId1" Type="http://schemas.openxmlformats.org/officeDocument/2006/relationships/image" Target="../media/image50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50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5.wmf"/><Relationship Id="rId1" Type="http://schemas.openxmlformats.org/officeDocument/2006/relationships/image" Target="../media/image50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5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AB79C7-73D6-4AEE-B294-F5A528EFF1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2C8D3-31E1-4012-82D6-E55B505F3F9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802B-4A77-4C99-890D-319A83AC3D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B11C-14A7-44A5-B401-6F38A141F1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802B-4A77-4C99-890D-319A83AC3D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B11C-14A7-44A5-B401-6F38A141F1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802B-4A77-4C99-890D-319A83AC3D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B11C-14A7-44A5-B401-6F38A141F1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802B-4A77-4C99-890D-319A83AC3D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B11C-14A7-44A5-B401-6F38A141F1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802B-4A77-4C99-890D-319A83AC3D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B11C-14A7-44A5-B401-6F38A141F1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802B-4A77-4C99-890D-319A83AC3D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B11C-14A7-44A5-B401-6F38A141F1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802B-4A77-4C99-890D-319A83AC3D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B11C-14A7-44A5-B401-6F38A141F1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802B-4A77-4C99-890D-319A83AC3D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B11C-14A7-44A5-B401-6F38A141F1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802B-4A77-4C99-890D-319A83AC3D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B11C-14A7-44A5-B401-6F38A141F1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802B-4A77-4C99-890D-319A83AC3D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B11C-14A7-44A5-B401-6F38A141F1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802B-4A77-4C99-890D-319A83AC3D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B11C-14A7-44A5-B401-6F38A141F1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2A039D-C991-4DFC-BFB0-09A56EEDB3A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40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C802B-4A77-4C99-890D-319A83AC3D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AB11C-14A7-44A5-B401-6F38A141F1D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.wmf"/><Relationship Id="rId7" Type="http://schemas.openxmlformats.org/officeDocument/2006/relationships/oleObject" Target="../embeddings/oleObject3.bin"/><Relationship Id="rId6" Type="http://schemas.openxmlformats.org/officeDocument/2006/relationships/image" Target="../media/image9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0" Type="http://schemas.openxmlformats.org/officeDocument/2006/relationships/vmlDrawing" Target="../drawings/vmlDrawing1.v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6" Type="http://schemas.openxmlformats.org/officeDocument/2006/relationships/image" Target="../media/image14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2.w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20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7.wmf"/><Relationship Id="rId18" Type="http://schemas.openxmlformats.org/officeDocument/2006/relationships/vmlDrawing" Target="../drawings/vmlDrawing4.v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24.wmf"/><Relationship Id="rId15" Type="http://schemas.openxmlformats.org/officeDocument/2006/relationships/oleObject" Target="../embeddings/oleObject17.bin"/><Relationship Id="rId14" Type="http://schemas.openxmlformats.org/officeDocument/2006/relationships/image" Target="../media/image23.wmf"/><Relationship Id="rId13" Type="http://schemas.openxmlformats.org/officeDocument/2006/relationships/oleObject" Target="../embeddings/oleObject16.bin"/><Relationship Id="rId12" Type="http://schemas.openxmlformats.org/officeDocument/2006/relationships/image" Target="../media/image22.wmf"/><Relationship Id="rId11" Type="http://schemas.openxmlformats.org/officeDocument/2006/relationships/oleObject" Target="../embeddings/oleObject15.bin"/><Relationship Id="rId10" Type="http://schemas.openxmlformats.org/officeDocument/2006/relationships/image" Target="../media/image21.wmf"/><Relationship Id="rId1" Type="http://schemas.openxmlformats.org/officeDocument/2006/relationships/oleObject" Target="../embeddings/oleObject10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8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5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17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21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.bin"/><Relationship Id="rId8" Type="http://schemas.openxmlformats.org/officeDocument/2006/relationships/image" Target="../media/image25.wmf"/><Relationship Id="rId7" Type="http://schemas.openxmlformats.org/officeDocument/2006/relationships/oleObject" Target="../embeddings/oleObject28.bin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17.wmf"/><Relationship Id="rId14" Type="http://schemas.openxmlformats.org/officeDocument/2006/relationships/vmlDrawing" Target="../drawings/vmlDrawing7.v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7.wmf"/><Relationship Id="rId11" Type="http://schemas.openxmlformats.org/officeDocument/2006/relationships/oleObject" Target="../embeddings/oleObject30.bin"/><Relationship Id="rId10" Type="http://schemas.openxmlformats.org/officeDocument/2006/relationships/image" Target="../media/image26.wmf"/><Relationship Id="rId1" Type="http://schemas.openxmlformats.org/officeDocument/2006/relationships/oleObject" Target="../embeddings/oleObject25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.bin"/><Relationship Id="rId8" Type="http://schemas.openxmlformats.org/officeDocument/2006/relationships/image" Target="../media/image31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28.wmf"/><Relationship Id="rId12" Type="http://schemas.openxmlformats.org/officeDocument/2006/relationships/vmlDrawing" Target="../drawings/vmlDrawing8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2.wmf"/><Relationship Id="rId1" Type="http://schemas.openxmlformats.org/officeDocument/2006/relationships/oleObject" Target="../embeddings/oleObject31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33.wmf"/><Relationship Id="rId1" Type="http://schemas.openxmlformats.org/officeDocument/2006/relationships/oleObject" Target="../embeddings/oleObject36.bin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wmf"/><Relationship Id="rId1" Type="http://schemas.openxmlformats.org/officeDocument/2006/relationships/oleObject" Target="../embeddings/oleObject38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42.bin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36.wmf"/><Relationship Id="rId14" Type="http://schemas.openxmlformats.org/officeDocument/2006/relationships/vmlDrawing" Target="../drawings/vmlDrawing11.v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44.bin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39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4.wmf"/><Relationship Id="rId2" Type="http://schemas.openxmlformats.org/officeDocument/2006/relationships/oleObject" Target="../embeddings/oleObject45.bin"/><Relationship Id="rId1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7.wmf"/><Relationship Id="rId7" Type="http://schemas.openxmlformats.org/officeDocument/2006/relationships/oleObject" Target="../embeddings/oleObject49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6.wmf"/><Relationship Id="rId3" Type="http://schemas.openxmlformats.org/officeDocument/2006/relationships/oleObject" Target="../embeddings/oleObject47.bin"/><Relationship Id="rId2" Type="http://schemas.openxmlformats.org/officeDocument/2006/relationships/image" Target="../media/image45.wmf"/><Relationship Id="rId10" Type="http://schemas.openxmlformats.org/officeDocument/2006/relationships/vmlDrawing" Target="../drawings/vmlDrawing13.vml"/><Relationship Id="rId1" Type="http://schemas.openxmlformats.org/officeDocument/2006/relationships/oleObject" Target="../embeddings/oleObject46.bin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wmf"/><Relationship Id="rId1" Type="http://schemas.openxmlformats.org/officeDocument/2006/relationships/oleObject" Target="../embeddings/oleObject50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49.wmf"/><Relationship Id="rId1" Type="http://schemas.openxmlformats.org/officeDocument/2006/relationships/oleObject" Target="../embeddings/oleObject51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6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3.png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49.wmf"/><Relationship Id="rId1" Type="http://schemas.openxmlformats.org/officeDocument/2006/relationships/oleObject" Target="../embeddings/oleObject54.bin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0.wmf"/><Relationship Id="rId3" Type="http://schemas.openxmlformats.org/officeDocument/2006/relationships/oleObject" Target="../embeddings/oleObject58.bin"/><Relationship Id="rId2" Type="http://schemas.openxmlformats.org/officeDocument/2006/relationships/image" Target="../media/image54.wmf"/><Relationship Id="rId1" Type="http://schemas.openxmlformats.org/officeDocument/2006/relationships/oleObject" Target="../embeddings/oleObject57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6.wmf"/><Relationship Id="rId7" Type="http://schemas.openxmlformats.org/officeDocument/2006/relationships/oleObject" Target="../embeddings/oleObject62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60.bin"/><Relationship Id="rId2" Type="http://schemas.openxmlformats.org/officeDocument/2006/relationships/image" Target="../media/image54.wmf"/><Relationship Id="rId10" Type="http://schemas.openxmlformats.org/officeDocument/2006/relationships/vmlDrawing" Target="../drawings/vmlDrawing18.vml"/><Relationship Id="rId1" Type="http://schemas.openxmlformats.org/officeDocument/2006/relationships/oleObject" Target="../embeddings/oleObject59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6.wmf"/><Relationship Id="rId7" Type="http://schemas.openxmlformats.org/officeDocument/2006/relationships/oleObject" Target="../embeddings/oleObject66.bin"/><Relationship Id="rId6" Type="http://schemas.openxmlformats.org/officeDocument/2006/relationships/image" Target="../media/image57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54.wmf"/><Relationship Id="rId10" Type="http://schemas.openxmlformats.org/officeDocument/2006/relationships/vmlDrawing" Target="../drawings/vmlDrawing19.vml"/><Relationship Id="rId1" Type="http://schemas.openxmlformats.org/officeDocument/2006/relationships/oleObject" Target="../embeddings/oleObject63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1.bin"/><Relationship Id="rId8" Type="http://schemas.openxmlformats.org/officeDocument/2006/relationships/image" Target="../media/image60.wmf"/><Relationship Id="rId7" Type="http://schemas.openxmlformats.org/officeDocument/2006/relationships/oleObject" Target="../embeddings/oleObject70.bin"/><Relationship Id="rId6" Type="http://schemas.openxmlformats.org/officeDocument/2006/relationships/image" Target="../media/image59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68.bin"/><Relationship Id="rId2" Type="http://schemas.openxmlformats.org/officeDocument/2006/relationships/image" Target="../media/image58.wmf"/><Relationship Id="rId12" Type="http://schemas.openxmlformats.org/officeDocument/2006/relationships/vmlDrawing" Target="../drawings/vmlDrawing20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61.wmf"/><Relationship Id="rId1" Type="http://schemas.openxmlformats.org/officeDocument/2006/relationships/oleObject" Target="../embeddings/oleObject67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8.png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1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73.bin"/><Relationship Id="rId2" Type="http://schemas.openxmlformats.org/officeDocument/2006/relationships/image" Target="../media/image69.wmf"/><Relationship Id="rId1" Type="http://schemas.openxmlformats.org/officeDocument/2006/relationships/oleObject" Target="../embeddings/oleObject72.bin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2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50.wmf"/><Relationship Id="rId1" Type="http://schemas.openxmlformats.org/officeDocument/2006/relationships/oleObject" Target="../embeddings/oleObject75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3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5.wmf"/><Relationship Id="rId6" Type="http://schemas.openxmlformats.org/officeDocument/2006/relationships/oleObject" Target="../embeddings/oleObject78.bin"/><Relationship Id="rId5" Type="http://schemas.openxmlformats.org/officeDocument/2006/relationships/image" Target="../media/image74.png"/><Relationship Id="rId4" Type="http://schemas.openxmlformats.org/officeDocument/2006/relationships/image" Target="../media/image73.wmf"/><Relationship Id="rId3" Type="http://schemas.openxmlformats.org/officeDocument/2006/relationships/oleObject" Target="../embeddings/oleObject77.bin"/><Relationship Id="rId2" Type="http://schemas.openxmlformats.org/officeDocument/2006/relationships/image" Target="../media/image50.wmf"/><Relationship Id="rId1" Type="http://schemas.openxmlformats.org/officeDocument/2006/relationships/oleObject" Target="../embeddings/oleObject76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4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7.wmf"/><Relationship Id="rId6" Type="http://schemas.openxmlformats.org/officeDocument/2006/relationships/oleObject" Target="../embeddings/oleObject81.bin"/><Relationship Id="rId5" Type="http://schemas.openxmlformats.org/officeDocument/2006/relationships/image" Target="../media/image74.png"/><Relationship Id="rId4" Type="http://schemas.openxmlformats.org/officeDocument/2006/relationships/image" Target="../media/image76.wmf"/><Relationship Id="rId3" Type="http://schemas.openxmlformats.org/officeDocument/2006/relationships/oleObject" Target="../embeddings/oleObject80.bin"/><Relationship Id="rId2" Type="http://schemas.openxmlformats.org/officeDocument/2006/relationships/image" Target="../media/image50.wmf"/><Relationship Id="rId1" Type="http://schemas.openxmlformats.org/officeDocument/2006/relationships/oleObject" Target="../embeddings/oleObject79.bin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5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8.w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50.wmf"/><Relationship Id="rId1" Type="http://schemas.openxmlformats.org/officeDocument/2006/relationships/oleObject" Target="../embeddings/oleObject82.bin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6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9.wmf"/><Relationship Id="rId3" Type="http://schemas.openxmlformats.org/officeDocument/2006/relationships/oleObject" Target="../embeddings/oleObject85.bin"/><Relationship Id="rId2" Type="http://schemas.openxmlformats.org/officeDocument/2006/relationships/image" Target="../media/image50.wmf"/><Relationship Id="rId1" Type="http://schemas.openxmlformats.org/officeDocument/2006/relationships/oleObject" Target="../embeddings/oleObject84.bin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7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0.wmf"/><Relationship Id="rId3" Type="http://schemas.openxmlformats.org/officeDocument/2006/relationships/oleObject" Target="../embeddings/oleObject87.bin"/><Relationship Id="rId2" Type="http://schemas.openxmlformats.org/officeDocument/2006/relationships/image" Target="../media/image50.wmf"/><Relationship Id="rId1" Type="http://schemas.openxmlformats.org/officeDocument/2006/relationships/oleObject" Target="../embeddings/oleObject86.bin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8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2.png"/><Relationship Id="rId4" Type="http://schemas.openxmlformats.org/officeDocument/2006/relationships/image" Target="../media/image81.wmf"/><Relationship Id="rId3" Type="http://schemas.openxmlformats.org/officeDocument/2006/relationships/oleObject" Target="../embeddings/oleObject89.bin"/><Relationship Id="rId2" Type="http://schemas.openxmlformats.org/officeDocument/2006/relationships/image" Target="../media/image50.wmf"/><Relationship Id="rId1" Type="http://schemas.openxmlformats.org/officeDocument/2006/relationships/oleObject" Target="../embeddings/oleObject88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9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83.wmf"/><Relationship Id="rId3" Type="http://schemas.openxmlformats.org/officeDocument/2006/relationships/oleObject" Target="../embeddings/oleObject91.bin"/><Relationship Id="rId2" Type="http://schemas.openxmlformats.org/officeDocument/2006/relationships/image" Target="../media/image50.wmf"/><Relationship Id="rId1" Type="http://schemas.openxmlformats.org/officeDocument/2006/relationships/oleObject" Target="../embeddings/oleObject90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0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6.png"/><Relationship Id="rId6" Type="http://schemas.openxmlformats.org/officeDocument/2006/relationships/image" Target="../media/image84.wmf"/><Relationship Id="rId5" Type="http://schemas.openxmlformats.org/officeDocument/2006/relationships/oleObject" Target="../embeddings/oleObject95.bin"/><Relationship Id="rId4" Type="http://schemas.openxmlformats.org/officeDocument/2006/relationships/image" Target="../media/image85.wmf"/><Relationship Id="rId3" Type="http://schemas.openxmlformats.org/officeDocument/2006/relationships/oleObject" Target="../embeddings/oleObject94.bin"/><Relationship Id="rId2" Type="http://schemas.openxmlformats.org/officeDocument/2006/relationships/image" Target="../media/image50.wmf"/><Relationship Id="rId1" Type="http://schemas.openxmlformats.org/officeDocument/2006/relationships/oleObject" Target="../embeddings/oleObject93.bin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1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8.png"/><Relationship Id="rId4" Type="http://schemas.openxmlformats.org/officeDocument/2006/relationships/image" Target="../media/image87.wmf"/><Relationship Id="rId3" Type="http://schemas.openxmlformats.org/officeDocument/2006/relationships/oleObject" Target="../embeddings/oleObject97.bin"/><Relationship Id="rId2" Type="http://schemas.openxmlformats.org/officeDocument/2006/relationships/image" Target="../media/image50.wmf"/><Relationship Id="rId1" Type="http://schemas.openxmlformats.org/officeDocument/2006/relationships/oleObject" Target="../embeddings/oleObject96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76220" y="1575435"/>
            <a:ext cx="477139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u"/>
            </a:pPr>
            <a:r>
              <a:rPr lang="zh-CN" altLang="en-US" sz="2800"/>
              <a:t>信道</a:t>
            </a:r>
            <a:r>
              <a:rPr lang="zh-CN" altLang="en-US" sz="2800"/>
              <a:t>模型</a:t>
            </a:r>
            <a:endParaRPr lang="zh-CN" altLang="en-US" sz="2800"/>
          </a:p>
          <a:p>
            <a:pPr marL="457200" indent="-457200">
              <a:buFont typeface="Wingdings" panose="05000000000000000000" charset="0"/>
              <a:buChar char="u"/>
            </a:pPr>
            <a:endParaRPr lang="zh-CN" altLang="en-US" sz="2800"/>
          </a:p>
          <a:p>
            <a:pPr marL="457200" indent="-457200">
              <a:buFont typeface="Wingdings" panose="05000000000000000000" charset="0"/>
              <a:buChar char="u"/>
            </a:pPr>
            <a:r>
              <a:rPr lang="zh-CN" altLang="en-US" sz="2800"/>
              <a:t>平均</a:t>
            </a:r>
            <a:r>
              <a:rPr lang="zh-CN" altLang="en-US" sz="2800"/>
              <a:t>互信息</a:t>
            </a:r>
            <a:endParaRPr lang="zh-CN" altLang="en-US" sz="2800"/>
          </a:p>
          <a:p>
            <a:pPr marL="457200" indent="-457200">
              <a:buFont typeface="Wingdings" panose="05000000000000000000" charset="0"/>
              <a:buChar char="u"/>
            </a:pPr>
            <a:endParaRPr lang="zh-CN" altLang="en-US" sz="2800"/>
          </a:p>
          <a:p>
            <a:pPr marL="457200" indent="-457200">
              <a:buFont typeface="Wingdings" panose="05000000000000000000" charset="0"/>
              <a:buChar char="u"/>
            </a:pPr>
            <a:r>
              <a:rPr lang="zh-CN" altLang="en-US" sz="2800"/>
              <a:t>信道容量</a:t>
            </a:r>
            <a:endParaRPr lang="zh-CN" altLang="en-US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ctr"/>
            <a:r>
              <a:rPr lang="zh-CN" altLang="en-US" sz="3600" dirty="0">
                <a:sym typeface="+mn-ea"/>
              </a:rPr>
              <a:t>第三章</a:t>
            </a:r>
            <a:r>
              <a:rPr lang="en-US" sz="3600" dirty="0">
                <a:sym typeface="+mn-ea"/>
              </a:rPr>
              <a:t>.  </a:t>
            </a:r>
            <a:r>
              <a:rPr lang="zh-CN" altLang="en-US" sz="3600" dirty="0">
                <a:sym typeface="+mn-ea"/>
              </a:rPr>
              <a:t>信道与</a:t>
            </a:r>
            <a:r>
              <a:rPr lang="zh-CN" altLang="en-US" sz="3600" dirty="0">
                <a:sym typeface="+mn-ea"/>
              </a:rPr>
              <a:t>信道容量</a:t>
            </a:r>
            <a:endParaRPr lang="zh-CN" altLang="en-US" sz="3600" dirty="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17550" y="1231265"/>
            <a:ext cx="77114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       </a:t>
            </a:r>
            <a:r>
              <a:rPr lang="zh-CN" altLang="en-US" sz="2800"/>
              <a:t>研究信道的目的是研究信道能传输的最大信息量，即信道的最大传输能力。</a:t>
            </a:r>
            <a:endParaRPr lang="zh-CN" altLang="en-US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l"/>
            <a:r>
              <a:rPr lang="en-US" sz="3600" dirty="0">
                <a:sym typeface="+mn-ea"/>
              </a:rPr>
              <a:t>3.1  </a:t>
            </a:r>
            <a:r>
              <a:rPr lang="zh-CN" altLang="en-US" sz="3600">
                <a:sym typeface="+mn-ea"/>
              </a:rPr>
              <a:t>信道模型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25990" y="1308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131445" y="2990215"/>
            <a:ext cx="4513580" cy="197739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2"/>
          <a:srcRect t="1002"/>
          <a:stretch>
            <a:fillRect/>
          </a:stretch>
        </p:blipFill>
        <p:spPr>
          <a:xfrm>
            <a:off x="4745990" y="2891790"/>
            <a:ext cx="4268470" cy="21964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17550" y="1231265"/>
            <a:ext cx="771144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        </a:t>
            </a:r>
            <a:r>
              <a:rPr sz="2800"/>
              <a:t>由于噪声和干扰存在，信道输入输出之间是统计依赖关系，而不是确定关系。研究信道就是要研究输入输出信号特性和它们的统计依赖关系</a:t>
            </a:r>
            <a:r>
              <a:rPr lang="zh-CN" sz="2800"/>
              <a:t>。</a:t>
            </a:r>
            <a:endParaRPr lang="zh-CN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l"/>
            <a:r>
              <a:rPr lang="en-US" sz="3600" dirty="0">
                <a:sym typeface="+mn-ea"/>
              </a:rPr>
              <a:t>3.1  </a:t>
            </a:r>
            <a:r>
              <a:rPr lang="zh-CN" altLang="en-US" sz="3600">
                <a:sym typeface="+mn-ea"/>
              </a:rPr>
              <a:t>信道模型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25990" y="1308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131445" y="2990215"/>
            <a:ext cx="4513580" cy="197739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2"/>
          <a:srcRect t="1002"/>
          <a:stretch>
            <a:fillRect/>
          </a:stretch>
        </p:blipFill>
        <p:spPr>
          <a:xfrm>
            <a:off x="4745990" y="2891790"/>
            <a:ext cx="4268470" cy="21964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890" y="89662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一、信道模型的</a:t>
            </a:r>
            <a:r>
              <a:rPr lang="zh-CN" altLang="en-US" sz="2800"/>
              <a:t>三要素</a:t>
            </a:r>
            <a:endParaRPr lang="zh-CN" altLang="en-US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l"/>
            <a:r>
              <a:rPr lang="en-US" sz="3600" dirty="0">
                <a:sym typeface="+mn-ea"/>
              </a:rPr>
              <a:t>3.1  </a:t>
            </a:r>
            <a:r>
              <a:rPr lang="zh-CN" altLang="en-US" sz="3600">
                <a:sym typeface="+mn-ea"/>
              </a:rPr>
              <a:t>信道模型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25990" y="1308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389630" y="1781175"/>
            <a:ext cx="2306955" cy="8820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3600"/>
              <a:t>信道</a:t>
            </a:r>
            <a:endParaRPr lang="zh-CN" altLang="en-US" sz="3600"/>
          </a:p>
        </p:txBody>
      </p:sp>
      <p:cxnSp>
        <p:nvCxnSpPr>
          <p:cNvPr id="7" name="直接箭头连接符 6"/>
          <p:cNvCxnSpPr>
            <a:endCxn id="4" idx="1"/>
          </p:cNvCxnSpPr>
          <p:nvPr/>
        </p:nvCxnSpPr>
        <p:spPr>
          <a:xfrm flipV="1">
            <a:off x="1419225" y="2222500"/>
            <a:ext cx="197040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5696585" y="2224405"/>
            <a:ext cx="197040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90295" y="2397760"/>
            <a:ext cx="1212215" cy="48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/>
              <a:t>输入</a:t>
            </a:r>
            <a:endParaRPr lang="zh-CN" altLang="en-US" sz="3600"/>
          </a:p>
        </p:txBody>
      </p:sp>
      <p:sp>
        <p:nvSpPr>
          <p:cNvPr id="11" name="文本框 10"/>
          <p:cNvSpPr txBox="1"/>
          <p:nvPr/>
        </p:nvSpPr>
        <p:spPr>
          <a:xfrm>
            <a:off x="6075680" y="2397760"/>
            <a:ext cx="1212215" cy="48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/>
              <a:t>输</a:t>
            </a:r>
            <a:r>
              <a:rPr lang="zh-CN" altLang="en-US" sz="3600"/>
              <a:t>出</a:t>
            </a:r>
            <a:endParaRPr lang="zh-CN" altLang="en-US"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890" y="89662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一、信道模型的</a:t>
            </a:r>
            <a:r>
              <a:rPr lang="zh-CN" altLang="en-US" sz="2800"/>
              <a:t>三要素</a:t>
            </a:r>
            <a:endParaRPr lang="zh-CN" altLang="en-US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l"/>
            <a:r>
              <a:rPr lang="en-US" sz="3600" dirty="0">
                <a:sym typeface="+mn-ea"/>
              </a:rPr>
              <a:t>3.1  </a:t>
            </a:r>
            <a:r>
              <a:rPr lang="zh-CN" altLang="en-US" sz="3600">
                <a:sym typeface="+mn-ea"/>
              </a:rPr>
              <a:t>信道模型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25990" y="1308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389630" y="1781175"/>
            <a:ext cx="2306955" cy="8820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3600"/>
              <a:t>信道</a:t>
            </a:r>
            <a:endParaRPr lang="zh-CN" altLang="en-US" sz="3600"/>
          </a:p>
        </p:txBody>
      </p:sp>
      <p:cxnSp>
        <p:nvCxnSpPr>
          <p:cNvPr id="7" name="直接箭头连接符 6"/>
          <p:cNvCxnSpPr>
            <a:endCxn id="4" idx="1"/>
          </p:cNvCxnSpPr>
          <p:nvPr/>
        </p:nvCxnSpPr>
        <p:spPr>
          <a:xfrm flipV="1">
            <a:off x="1419225" y="2222500"/>
            <a:ext cx="197040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5696585" y="2224405"/>
            <a:ext cx="197040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90295" y="2397760"/>
            <a:ext cx="1212215" cy="48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/>
              <a:t>输入</a:t>
            </a:r>
            <a:endParaRPr lang="zh-CN" altLang="en-US" sz="3600"/>
          </a:p>
        </p:txBody>
      </p:sp>
      <p:sp>
        <p:nvSpPr>
          <p:cNvPr id="11" name="文本框 10"/>
          <p:cNvSpPr txBox="1"/>
          <p:nvPr/>
        </p:nvSpPr>
        <p:spPr>
          <a:xfrm>
            <a:off x="6075680" y="2397760"/>
            <a:ext cx="1212215" cy="48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/>
              <a:t>输</a:t>
            </a:r>
            <a:r>
              <a:rPr lang="zh-CN" altLang="en-US" sz="3600"/>
              <a:t>出</a:t>
            </a:r>
            <a:endParaRPr lang="zh-CN" altLang="en-US" sz="36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7305" y="3429000"/>
            <a:ext cx="5666740" cy="128270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3151505" y="4413250"/>
            <a:ext cx="233743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transition probabilities</a:t>
            </a:r>
            <a:endParaRPr lang="zh-CN" alt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890" y="89662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一、信道模型的</a:t>
            </a:r>
            <a:r>
              <a:rPr lang="zh-CN" altLang="en-US" sz="2800"/>
              <a:t>三要素</a:t>
            </a:r>
            <a:endParaRPr lang="zh-CN" altLang="en-US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l"/>
            <a:r>
              <a:rPr lang="en-US" sz="3600" dirty="0">
                <a:sym typeface="+mn-ea"/>
              </a:rPr>
              <a:t>3.1  </a:t>
            </a:r>
            <a:r>
              <a:rPr lang="zh-CN" altLang="en-US" sz="3600">
                <a:sym typeface="+mn-ea"/>
              </a:rPr>
              <a:t>信道模型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25990" y="1308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389630" y="1781175"/>
            <a:ext cx="2306955" cy="8820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3600"/>
              <a:t>信道</a:t>
            </a:r>
            <a:endParaRPr lang="zh-CN" altLang="en-US" sz="3600"/>
          </a:p>
        </p:txBody>
      </p:sp>
      <p:cxnSp>
        <p:nvCxnSpPr>
          <p:cNvPr id="7" name="直接箭头连接符 6"/>
          <p:cNvCxnSpPr>
            <a:endCxn id="4" idx="1"/>
          </p:cNvCxnSpPr>
          <p:nvPr/>
        </p:nvCxnSpPr>
        <p:spPr>
          <a:xfrm flipV="1">
            <a:off x="1419225" y="2222500"/>
            <a:ext cx="197040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5696585" y="2224405"/>
            <a:ext cx="197040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90295" y="2397760"/>
            <a:ext cx="1212215" cy="48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/>
              <a:t>输入</a:t>
            </a:r>
            <a:endParaRPr lang="zh-CN" altLang="en-US" sz="3600"/>
          </a:p>
        </p:txBody>
      </p:sp>
      <p:sp>
        <p:nvSpPr>
          <p:cNvPr id="11" name="文本框 10"/>
          <p:cNvSpPr txBox="1"/>
          <p:nvPr/>
        </p:nvSpPr>
        <p:spPr>
          <a:xfrm>
            <a:off x="6075680" y="2397760"/>
            <a:ext cx="1212215" cy="48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/>
              <a:t>输</a:t>
            </a:r>
            <a:r>
              <a:rPr lang="zh-CN" altLang="en-US" sz="3600"/>
              <a:t>出</a:t>
            </a:r>
            <a:endParaRPr lang="zh-CN" altLang="en-US" sz="36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7305" y="3429000"/>
            <a:ext cx="5666740" cy="1282700"/>
          </a:xfrm>
          <a:prstGeom prst="rect">
            <a:avLst/>
          </a:prstGeom>
        </p:spPr>
      </p:pic>
      <p:sp>
        <p:nvSpPr>
          <p:cNvPr id="17" name="云形标注 16"/>
          <p:cNvSpPr/>
          <p:nvPr/>
        </p:nvSpPr>
        <p:spPr>
          <a:xfrm>
            <a:off x="4211320" y="954405"/>
            <a:ext cx="3259455" cy="2228215"/>
          </a:xfrm>
          <a:prstGeom prst="cloudCallout">
            <a:avLst>
              <a:gd name="adj1" fmla="val -51216"/>
              <a:gd name="adj2" fmla="val 70142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信道的转移概率或传递概率</a:t>
            </a:r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3151505" y="4413250"/>
            <a:ext cx="233743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transition probabilities</a:t>
            </a:r>
            <a:endParaRPr lang="zh-CN" altLang="en-US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890" y="89662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二、信道模型表述方式</a:t>
            </a:r>
            <a:endParaRPr lang="zh-CN" altLang="en-US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l"/>
            <a:r>
              <a:rPr lang="en-US" sz="3600" dirty="0">
                <a:sym typeface="+mn-ea"/>
              </a:rPr>
              <a:t>3.1  </a:t>
            </a:r>
            <a:r>
              <a:rPr lang="zh-CN" altLang="en-US" sz="3600">
                <a:sym typeface="+mn-ea"/>
              </a:rPr>
              <a:t>信道模型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25990" y="1308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13765" y="1703705"/>
            <a:ext cx="457200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/>
              <a:t>公式法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zh-CN" altLang="en-US" sz="2800" b="1"/>
              <a:t>图示法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zh-CN" altLang="en-US" sz="2800" b="1"/>
              <a:t>矩阵法</a:t>
            </a:r>
            <a:endParaRPr lang="zh-CN" altLang="en-US" sz="28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0690" y="1795145"/>
            <a:ext cx="4968240" cy="20624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450" y="4234180"/>
            <a:ext cx="5814695" cy="20364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890" y="89662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例</a:t>
            </a:r>
            <a:r>
              <a:rPr lang="en-US" altLang="zh-CN" sz="2800"/>
              <a:t>1</a:t>
            </a:r>
            <a:r>
              <a:rPr lang="zh-CN" altLang="en-US" sz="2800"/>
              <a:t>：</a:t>
            </a:r>
            <a:r>
              <a:rPr lang="en-US" altLang="zh-CN" sz="2800"/>
              <a:t>BSC</a:t>
            </a:r>
            <a:r>
              <a:rPr lang="zh-CN" altLang="en-US" sz="2800"/>
              <a:t>（</a:t>
            </a:r>
            <a:r>
              <a:rPr lang="zh-CN" altLang="en-US" sz="2800"/>
              <a:t>二元对称信道）</a:t>
            </a:r>
            <a:endParaRPr lang="zh-CN" altLang="en-US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l"/>
            <a:r>
              <a:rPr lang="en-US" sz="3600" dirty="0">
                <a:sym typeface="+mn-ea"/>
              </a:rPr>
              <a:t>3.1  </a:t>
            </a:r>
            <a:r>
              <a:rPr lang="zh-CN" altLang="en-US" sz="3600">
                <a:sym typeface="+mn-ea"/>
              </a:rPr>
              <a:t>信道模型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25990" y="1308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685" y="1572260"/>
            <a:ext cx="7282815" cy="2051050"/>
          </a:xfrm>
          <a:prstGeom prst="rect">
            <a:avLst/>
          </a:prstGeom>
        </p:spPr>
      </p:pic>
      <p:graphicFrame>
        <p:nvGraphicFramePr>
          <p:cNvPr id="16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62890" y="4184015"/>
          <a:ext cx="496697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2590800" imgH="254000" progId="Equation.DSMT4">
                  <p:embed/>
                </p:oleObj>
              </mc:Choice>
              <mc:Fallback>
                <p:oleObj name="" r:id="rId2" imgW="25908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2890" y="4184015"/>
                        <a:ext cx="4966970" cy="548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8895" y="4895215"/>
          <a:ext cx="5503545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4" imgW="2870200" imgH="254000" progId="Equation.DSMT4">
                  <p:embed/>
                </p:oleObj>
              </mc:Choice>
              <mc:Fallback>
                <p:oleObj name="" r:id="rId4" imgW="28702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895" y="4895215"/>
                        <a:ext cx="5503545" cy="548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rcRect t="-3245" b="3245"/>
          <a:stretch>
            <a:fillRect/>
          </a:stretch>
        </p:blipFill>
        <p:spPr>
          <a:xfrm>
            <a:off x="5552440" y="3980180"/>
            <a:ext cx="2879725" cy="1702435"/>
          </a:xfrm>
          <a:prstGeom prst="rect">
            <a:avLst/>
          </a:prstGeom>
        </p:spPr>
      </p:pic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27028" y="430530"/>
          <a:ext cx="2191385" cy="988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7" imgW="1143000" imgH="457200" progId="Equation.DSMT4">
                  <p:embed/>
                </p:oleObj>
              </mc:Choice>
              <mc:Fallback>
                <p:oleObj name="" r:id="rId7" imgW="1143000" imgH="457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27028" y="430530"/>
                        <a:ext cx="2191385" cy="988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890" y="89662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例</a:t>
            </a:r>
            <a:r>
              <a:rPr lang="en-US" altLang="zh-CN" sz="2800"/>
              <a:t>2</a:t>
            </a:r>
            <a:r>
              <a:rPr lang="zh-CN" altLang="en-US" sz="2800"/>
              <a:t>：</a:t>
            </a:r>
            <a:r>
              <a:rPr lang="en-US" altLang="zh-CN" sz="2800"/>
              <a:t>BEC</a:t>
            </a:r>
            <a:r>
              <a:rPr lang="zh-CN" altLang="en-US" sz="2800"/>
              <a:t>（二元</a:t>
            </a:r>
            <a:r>
              <a:rPr lang="zh-CN" altLang="en-US" sz="2800"/>
              <a:t>删除信道）</a:t>
            </a:r>
            <a:endParaRPr lang="zh-CN" altLang="en-US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l"/>
            <a:r>
              <a:rPr lang="en-US" sz="3600" dirty="0">
                <a:sym typeface="+mn-ea"/>
              </a:rPr>
              <a:t>3.1  </a:t>
            </a:r>
            <a:r>
              <a:rPr lang="zh-CN" altLang="en-US" sz="3600">
                <a:sym typeface="+mn-ea"/>
              </a:rPr>
              <a:t>信道模型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25990" y="1308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50" y="1572260"/>
            <a:ext cx="6002020" cy="45453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6090" y="207391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输入</a:t>
            </a:r>
            <a:r>
              <a:rPr lang="en-US" altLang="zh-CN" sz="2800"/>
              <a:t>X</a:t>
            </a:r>
            <a:endParaRPr lang="en-US" altLang="zh-CN" sz="2800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66090" y="3318510"/>
            <a:ext cx="74485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信道输出</a:t>
            </a:r>
            <a:r>
              <a:rPr lang="en-US" altLang="zh-CN" sz="2800"/>
              <a:t>1</a:t>
            </a:r>
            <a:endParaRPr lang="en-US" altLang="zh-CN" sz="2800"/>
          </a:p>
          <a:p>
            <a:r>
              <a:rPr lang="zh-CN" altLang="en-US" sz="2800"/>
              <a:t>（</a:t>
            </a:r>
            <a:r>
              <a:rPr lang="zh-CN" altLang="en-US" sz="2800"/>
              <a:t>有干扰）</a:t>
            </a:r>
            <a:endParaRPr lang="zh-CN" altLang="en-US" sz="2800"/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66090" y="4580255"/>
            <a:ext cx="74485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信道输出</a:t>
            </a:r>
            <a:r>
              <a:rPr lang="en-US" altLang="zh-CN" sz="2800"/>
              <a:t>2</a:t>
            </a:r>
            <a:endParaRPr lang="en-US" altLang="zh-CN" sz="2800"/>
          </a:p>
          <a:p>
            <a:r>
              <a:rPr lang="zh-CN" altLang="en-US" sz="2800"/>
              <a:t>（</a:t>
            </a:r>
            <a:r>
              <a:rPr lang="zh-CN" altLang="en-US" sz="2800"/>
              <a:t>积分）</a:t>
            </a:r>
            <a:endParaRPr lang="zh-CN" altLang="en-US" sz="2800"/>
          </a:p>
        </p:txBody>
      </p:sp>
      <p:sp>
        <p:nvSpPr>
          <p:cNvPr id="9" name="文本框 8"/>
          <p:cNvSpPr txBox="1"/>
          <p:nvPr/>
        </p:nvSpPr>
        <p:spPr>
          <a:xfrm>
            <a:off x="848360" y="559562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定时</a:t>
            </a:r>
            <a:endParaRPr lang="zh-CN" altLang="en-US" sz="2800"/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2406650" y="1472565"/>
            <a:ext cx="57315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0      1      0    1       1      0</a:t>
            </a:r>
            <a:r>
              <a:rPr lang="en-US" altLang="zh-CN" sz="2800"/>
              <a:t>       1</a:t>
            </a:r>
            <a:endParaRPr lang="en-US" altLang="zh-CN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890" y="89662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例</a:t>
            </a:r>
            <a:r>
              <a:rPr lang="en-US" altLang="zh-CN" sz="2800"/>
              <a:t>2</a:t>
            </a:r>
            <a:r>
              <a:rPr lang="zh-CN" altLang="en-US" sz="2800"/>
              <a:t>：</a:t>
            </a:r>
            <a:r>
              <a:rPr lang="en-US" altLang="zh-CN" sz="2800"/>
              <a:t>BEC</a:t>
            </a:r>
            <a:r>
              <a:rPr lang="zh-CN" altLang="en-US" sz="2800"/>
              <a:t>（二元</a:t>
            </a:r>
            <a:r>
              <a:rPr lang="zh-CN" altLang="en-US" sz="2800"/>
              <a:t>删除信道）</a:t>
            </a:r>
            <a:endParaRPr lang="zh-CN" altLang="en-US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l"/>
            <a:r>
              <a:rPr lang="en-US" sz="3600" dirty="0">
                <a:sym typeface="+mn-ea"/>
              </a:rPr>
              <a:t>3.1  </a:t>
            </a:r>
            <a:r>
              <a:rPr lang="zh-CN" altLang="en-US" sz="3600">
                <a:sym typeface="+mn-ea"/>
              </a:rPr>
              <a:t>信道模型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25990" y="1308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50" y="1572260"/>
            <a:ext cx="6002020" cy="45453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6090" y="207391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输入</a:t>
            </a:r>
            <a:r>
              <a:rPr lang="en-US" altLang="zh-CN" sz="2800"/>
              <a:t>X</a:t>
            </a:r>
            <a:endParaRPr lang="en-US" altLang="zh-CN" sz="2800"/>
          </a:p>
        </p:txBody>
      </p:sp>
      <p:sp>
        <p:nvSpPr>
          <p:cNvPr id="6" name="文本框 5"/>
          <p:cNvSpPr txBox="1"/>
          <p:nvPr/>
        </p:nvSpPr>
        <p:spPr>
          <a:xfrm>
            <a:off x="466090" y="3318510"/>
            <a:ext cx="74485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信道输出</a:t>
            </a:r>
            <a:r>
              <a:rPr lang="en-US" altLang="zh-CN" sz="2800"/>
              <a:t>1</a:t>
            </a:r>
            <a:endParaRPr lang="en-US" altLang="zh-CN" sz="2800"/>
          </a:p>
          <a:p>
            <a:r>
              <a:rPr lang="zh-CN" altLang="en-US" sz="2800"/>
              <a:t>（</a:t>
            </a:r>
            <a:r>
              <a:rPr lang="zh-CN" altLang="en-US" sz="2800"/>
              <a:t>有干扰）</a:t>
            </a:r>
            <a:endParaRPr lang="zh-CN" altLang="en-US" sz="2800"/>
          </a:p>
        </p:txBody>
      </p:sp>
      <p:sp>
        <p:nvSpPr>
          <p:cNvPr id="7" name="文本框 6"/>
          <p:cNvSpPr txBox="1"/>
          <p:nvPr/>
        </p:nvSpPr>
        <p:spPr>
          <a:xfrm>
            <a:off x="466090" y="4580255"/>
            <a:ext cx="74485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信道输出</a:t>
            </a:r>
            <a:r>
              <a:rPr lang="en-US" altLang="zh-CN" sz="2800"/>
              <a:t>2</a:t>
            </a:r>
            <a:endParaRPr lang="en-US" altLang="zh-CN" sz="2800"/>
          </a:p>
          <a:p>
            <a:r>
              <a:rPr lang="zh-CN" altLang="en-US" sz="2800"/>
              <a:t>（</a:t>
            </a:r>
            <a:r>
              <a:rPr lang="zh-CN" altLang="en-US" sz="2800"/>
              <a:t>积分）</a:t>
            </a:r>
            <a:endParaRPr lang="zh-CN" altLang="en-US" sz="2800"/>
          </a:p>
        </p:txBody>
      </p:sp>
      <p:sp>
        <p:nvSpPr>
          <p:cNvPr id="9" name="文本框 8"/>
          <p:cNvSpPr txBox="1"/>
          <p:nvPr/>
        </p:nvSpPr>
        <p:spPr>
          <a:xfrm>
            <a:off x="848360" y="559562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定时</a:t>
            </a:r>
            <a:endParaRPr lang="zh-CN" altLang="en-US" sz="2800"/>
          </a:p>
        </p:txBody>
      </p:sp>
      <p:sp>
        <p:nvSpPr>
          <p:cNvPr id="10" name="文本框 9"/>
          <p:cNvSpPr txBox="1"/>
          <p:nvPr/>
        </p:nvSpPr>
        <p:spPr>
          <a:xfrm>
            <a:off x="2565400" y="3926840"/>
            <a:ext cx="57315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0      1     ?     1      1      </a:t>
            </a:r>
            <a:r>
              <a:rPr lang="en-US" altLang="zh-CN" sz="2800"/>
              <a:t>  ?      ?  </a:t>
            </a:r>
            <a:endParaRPr lang="en-US" altLang="zh-CN" sz="2800"/>
          </a:p>
        </p:txBody>
      </p:sp>
      <p:sp>
        <p:nvSpPr>
          <p:cNvPr id="11" name="文本框 10"/>
          <p:cNvSpPr txBox="1"/>
          <p:nvPr/>
        </p:nvSpPr>
        <p:spPr>
          <a:xfrm>
            <a:off x="2565400" y="5073650"/>
            <a:ext cx="57315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0      1      0      ?     1       ?      1  </a:t>
            </a:r>
            <a:endParaRPr lang="en-US" altLang="zh-CN"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890" y="89662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例</a:t>
            </a:r>
            <a:r>
              <a:rPr lang="en-US" altLang="zh-CN" sz="2800"/>
              <a:t>2</a:t>
            </a:r>
            <a:r>
              <a:rPr lang="zh-CN" altLang="en-US" sz="2800"/>
              <a:t>：</a:t>
            </a:r>
            <a:r>
              <a:rPr lang="en-US" altLang="zh-CN" sz="2800"/>
              <a:t>BEC</a:t>
            </a:r>
            <a:r>
              <a:rPr lang="zh-CN" altLang="en-US" sz="2800"/>
              <a:t>（二元</a:t>
            </a:r>
            <a:r>
              <a:rPr lang="zh-CN" altLang="en-US" sz="2800"/>
              <a:t>删除信道）</a:t>
            </a:r>
            <a:endParaRPr lang="zh-CN" altLang="en-US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l"/>
            <a:r>
              <a:rPr lang="en-US" sz="3600" dirty="0">
                <a:sym typeface="+mn-ea"/>
              </a:rPr>
              <a:t>3.1  </a:t>
            </a:r>
            <a:r>
              <a:rPr lang="zh-CN" altLang="en-US" sz="3600">
                <a:sym typeface="+mn-ea"/>
              </a:rPr>
              <a:t>信道模型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25990" y="1308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16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4190" y="2270125"/>
          <a:ext cx="40894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828800" imgH="254000" progId="Equation.DSMT4">
                  <p:embed/>
                </p:oleObj>
              </mc:Choice>
              <mc:Fallback>
                <p:oleObj name="" r:id="rId1" imgW="18288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4190" y="2270125"/>
                        <a:ext cx="4089400" cy="56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4190" y="1616710"/>
          <a:ext cx="1535430" cy="455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3" imgW="685800" imgH="203200" progId="Equation.DSMT4">
                  <p:embed/>
                </p:oleObj>
              </mc:Choice>
              <mc:Fallback>
                <p:oleObj name="" r:id="rId3" imgW="685800" imgH="203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4190" y="1616710"/>
                        <a:ext cx="1535430" cy="455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75945" y="3144520"/>
          <a:ext cx="391922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5" imgW="1752600" imgH="254000" progId="Equation.DSMT4">
                  <p:embed/>
                </p:oleObj>
              </mc:Choice>
              <mc:Fallback>
                <p:oleObj name="" r:id="rId5" imgW="17526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5945" y="3144520"/>
                        <a:ext cx="3919220" cy="56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6020" y="1786255"/>
            <a:ext cx="3425825" cy="28365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890" y="89662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例</a:t>
            </a:r>
            <a:r>
              <a:rPr lang="en-US" altLang="zh-CN" sz="2800"/>
              <a:t>2</a:t>
            </a:r>
            <a:r>
              <a:rPr lang="zh-CN" altLang="en-US" sz="2800"/>
              <a:t>：</a:t>
            </a:r>
            <a:r>
              <a:rPr lang="en-US" altLang="zh-CN" sz="2800"/>
              <a:t>BEC</a:t>
            </a:r>
            <a:r>
              <a:rPr lang="zh-CN" altLang="en-US" sz="2800"/>
              <a:t>（二元</a:t>
            </a:r>
            <a:r>
              <a:rPr lang="zh-CN" altLang="en-US" sz="2800"/>
              <a:t>删除信道）</a:t>
            </a:r>
            <a:endParaRPr lang="zh-CN" altLang="en-US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l"/>
            <a:r>
              <a:rPr lang="en-US" sz="3600" dirty="0">
                <a:sym typeface="+mn-ea"/>
              </a:rPr>
              <a:t>3.1  </a:t>
            </a:r>
            <a:r>
              <a:rPr lang="zh-CN" altLang="en-US" sz="3600">
                <a:sym typeface="+mn-ea"/>
              </a:rPr>
              <a:t>信道模型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25990" y="1308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16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4190" y="2270125"/>
          <a:ext cx="40894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828800" imgH="254000" progId="Equation.DSMT4">
                  <p:embed/>
                </p:oleObj>
              </mc:Choice>
              <mc:Fallback>
                <p:oleObj name="" r:id="rId1" imgW="18288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4190" y="2270125"/>
                        <a:ext cx="4089400" cy="56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4190" y="1616710"/>
          <a:ext cx="1535430" cy="455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3" imgW="685800" imgH="203200" progId="Equation.DSMT4">
                  <p:embed/>
                </p:oleObj>
              </mc:Choice>
              <mc:Fallback>
                <p:oleObj name="" r:id="rId3" imgW="685800" imgH="203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4190" y="1616710"/>
                        <a:ext cx="1535430" cy="455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75945" y="3144520"/>
          <a:ext cx="391922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5" imgW="1752600" imgH="254000" progId="Equation.DSMT4">
                  <p:embed/>
                </p:oleObj>
              </mc:Choice>
              <mc:Fallback>
                <p:oleObj name="" r:id="rId5" imgW="17526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5945" y="3144520"/>
                        <a:ext cx="3919220" cy="56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6020" y="1786255"/>
            <a:ext cx="3425825" cy="283654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225" y="4018915"/>
            <a:ext cx="3046095" cy="12477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890" y="89662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对于单符号</a:t>
            </a:r>
            <a:r>
              <a:rPr lang="en-US" altLang="zh-CN" sz="2800">
                <a:sym typeface="+mn-ea"/>
              </a:rPr>
              <a:t>DMC</a:t>
            </a:r>
            <a:r>
              <a:rPr lang="zh-CN" altLang="en-US" sz="2800"/>
              <a:t>（</a:t>
            </a:r>
            <a:r>
              <a:rPr lang="zh-CN" altLang="en-US" sz="2800"/>
              <a:t>基本信道）：</a:t>
            </a:r>
            <a:endParaRPr lang="zh-CN" altLang="en-US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l"/>
            <a:r>
              <a:rPr lang="zh-CN" altLang="en-US" sz="3600" dirty="0">
                <a:sym typeface="+mn-ea"/>
              </a:rPr>
              <a:t>小结：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25990" y="1308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389630" y="1781175"/>
            <a:ext cx="2306955" cy="8820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3600"/>
          </a:p>
        </p:txBody>
      </p:sp>
      <p:cxnSp>
        <p:nvCxnSpPr>
          <p:cNvPr id="7" name="直接箭头连接符 6"/>
          <p:cNvCxnSpPr>
            <a:endCxn id="4" idx="1"/>
          </p:cNvCxnSpPr>
          <p:nvPr/>
        </p:nvCxnSpPr>
        <p:spPr>
          <a:xfrm flipV="1">
            <a:off x="1419225" y="2222500"/>
            <a:ext cx="197040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5696585" y="2224405"/>
            <a:ext cx="197040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67798" y="1941195"/>
          <a:ext cx="119316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533400" imgH="254000" progId="Equation.DSMT4">
                  <p:embed/>
                </p:oleObj>
              </mc:Choice>
              <mc:Fallback>
                <p:oleObj name="" r:id="rId1" imgW="5334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67798" y="1941195"/>
                        <a:ext cx="1193165" cy="56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57288" y="1723073"/>
          <a:ext cx="396875" cy="36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3" imgW="177165" imgH="165100" progId="Equation.DSMT4">
                  <p:embed/>
                </p:oleObj>
              </mc:Choice>
              <mc:Fallback>
                <p:oleObj name="" r:id="rId3" imgW="177165" imgH="1651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57288" y="1723073"/>
                        <a:ext cx="396875" cy="369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939598" y="1676083"/>
          <a:ext cx="313055" cy="36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5" imgW="139700" imgH="165100" progId="Equation.DSMT4">
                  <p:embed/>
                </p:oleObj>
              </mc:Choice>
              <mc:Fallback>
                <p:oleObj name="" r:id="rId5" imgW="139700" imgH="1651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39598" y="1676083"/>
                        <a:ext cx="313055" cy="369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6690" y="3161665"/>
          <a:ext cx="3508375" cy="753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" r:id="rId7" imgW="2247900" imgH="482600" progId="Equation.DSMT4">
                  <p:embed/>
                </p:oleObj>
              </mc:Choice>
              <mc:Fallback>
                <p:oleObj name="" r:id="rId7" imgW="2247900" imgH="4826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6690" y="3161665"/>
                        <a:ext cx="3508375" cy="753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19835" y="4144010"/>
          <a:ext cx="1351280" cy="458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" r:id="rId9" imgW="749300" imgH="254000" progId="Equation.DSMT4">
                  <p:embed/>
                </p:oleObj>
              </mc:Choice>
              <mc:Fallback>
                <p:oleObj name="" r:id="rId9" imgW="7493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19835" y="4144010"/>
                        <a:ext cx="1351280" cy="458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509895" y="3161665"/>
          <a:ext cx="3409950" cy="753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11" imgW="2184400" imgH="482600" progId="Equation.DSMT4">
                  <p:embed/>
                </p:oleObj>
              </mc:Choice>
              <mc:Fallback>
                <p:oleObj name="" r:id="rId11" imgW="2184400" imgH="4826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09895" y="3161665"/>
                        <a:ext cx="3409950" cy="753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474143" y="4144010"/>
          <a:ext cx="1374775" cy="458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13" imgW="762000" imgH="254000" progId="Equation.DSMT4">
                  <p:embed/>
                </p:oleObj>
              </mc:Choice>
              <mc:Fallback>
                <p:oleObj name="" r:id="rId13" imgW="7620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74143" y="4144010"/>
                        <a:ext cx="1374775" cy="458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30041" y="3285808"/>
          <a:ext cx="103124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" r:id="rId15" imgW="571500" imgH="279400" progId="Equation.DSMT4">
                  <p:embed/>
                </p:oleObj>
              </mc:Choice>
              <mc:Fallback>
                <p:oleObj name="" r:id="rId15" imgW="5715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30041" y="3285808"/>
                        <a:ext cx="1031240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76220" y="1575435"/>
            <a:ext cx="4771390" cy="2934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u"/>
            </a:pPr>
            <a:r>
              <a:rPr lang="zh-CN" altLang="en-US" sz="2800"/>
              <a:t>信道</a:t>
            </a:r>
            <a:r>
              <a:rPr lang="zh-CN" altLang="en-US" sz="2800"/>
              <a:t>模型</a:t>
            </a:r>
            <a:endParaRPr lang="zh-CN" altLang="en-US" sz="2800"/>
          </a:p>
          <a:p>
            <a:pPr marL="457200" indent="-457200">
              <a:buFont typeface="Wingdings" panose="05000000000000000000" charset="0"/>
              <a:buChar char="u"/>
            </a:pPr>
            <a:endParaRPr lang="zh-CN" altLang="en-US" sz="2800"/>
          </a:p>
          <a:p>
            <a:pPr marL="457200" indent="-457200">
              <a:buFont typeface="Wingdings" panose="05000000000000000000" charset="0"/>
              <a:buChar char="u"/>
            </a:pPr>
            <a:r>
              <a:rPr lang="zh-CN" altLang="en-US" sz="2800"/>
              <a:t>平均</a:t>
            </a:r>
            <a:r>
              <a:rPr lang="zh-CN" altLang="en-US" sz="2800"/>
              <a:t>互信息</a:t>
            </a:r>
            <a:endParaRPr lang="zh-CN" altLang="en-US" sz="2800"/>
          </a:p>
          <a:p>
            <a:pPr marL="457200" indent="-45720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/>
              <a:t>信道疑义度</a:t>
            </a:r>
            <a:endParaRPr lang="zh-CN" altLang="en-US" sz="2800"/>
          </a:p>
          <a:p>
            <a:pPr marL="457200" indent="-45720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/>
              <a:t>平均互信息</a:t>
            </a:r>
            <a:endParaRPr lang="zh-CN" altLang="en-US" sz="2800"/>
          </a:p>
          <a:p>
            <a:pPr marL="457200" indent="-45720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/>
              <a:t>平均互信息性质</a:t>
            </a:r>
            <a:endParaRPr lang="zh-CN" altLang="en-US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ctr"/>
            <a:r>
              <a:rPr lang="zh-CN" altLang="en-US" sz="3600" dirty="0">
                <a:sym typeface="+mn-ea"/>
              </a:rPr>
              <a:t>第三章</a:t>
            </a:r>
            <a:r>
              <a:rPr lang="en-US" sz="3600" dirty="0">
                <a:sym typeface="+mn-ea"/>
              </a:rPr>
              <a:t>.  </a:t>
            </a:r>
            <a:r>
              <a:rPr lang="zh-CN" altLang="en-US" sz="3600" dirty="0">
                <a:sym typeface="+mn-ea"/>
              </a:rPr>
              <a:t>信道与信道容量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25990" y="1308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890" y="89662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一、信道疑义度</a:t>
            </a:r>
            <a:endParaRPr lang="zh-CN" altLang="en-US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25990" y="1308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389630" y="1885950"/>
            <a:ext cx="2306955" cy="8820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3600"/>
          </a:p>
        </p:txBody>
      </p:sp>
      <p:cxnSp>
        <p:nvCxnSpPr>
          <p:cNvPr id="7" name="直接箭头连接符 6"/>
          <p:cNvCxnSpPr>
            <a:endCxn id="4" idx="1"/>
          </p:cNvCxnSpPr>
          <p:nvPr/>
        </p:nvCxnSpPr>
        <p:spPr>
          <a:xfrm flipV="1">
            <a:off x="1419225" y="2327275"/>
            <a:ext cx="197040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5696585" y="2329180"/>
            <a:ext cx="197040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67798" y="2045970"/>
          <a:ext cx="119316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533400" imgH="254000" progId="Equation.DSMT4">
                  <p:embed/>
                </p:oleObj>
              </mc:Choice>
              <mc:Fallback>
                <p:oleObj name="" r:id="rId1" imgW="5334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67798" y="2045970"/>
                        <a:ext cx="1193165" cy="56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57288" y="1827848"/>
          <a:ext cx="396875" cy="36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3" imgW="177165" imgH="165100" progId="Equation.DSMT4">
                  <p:embed/>
                </p:oleObj>
              </mc:Choice>
              <mc:Fallback>
                <p:oleObj name="" r:id="rId3" imgW="177165" imgH="1651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57288" y="1827848"/>
                        <a:ext cx="396875" cy="369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939598" y="1780858"/>
          <a:ext cx="313055" cy="36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5" imgW="139700" imgH="165100" progId="Equation.DSMT4">
                  <p:embed/>
                </p:oleObj>
              </mc:Choice>
              <mc:Fallback>
                <p:oleObj name="" r:id="rId5" imgW="139700" imgH="1651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39598" y="1780858"/>
                        <a:ext cx="313055" cy="369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979170" y="1382395"/>
            <a:ext cx="7448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ym typeface="+mn-ea"/>
              </a:rPr>
              <a:t>基本信道</a:t>
            </a:r>
            <a:endParaRPr lang="zh-CN" altLang="en-US" sz="2000" dirty="0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08635" y="2900680"/>
            <a:ext cx="744855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200000"/>
              </a:lnSpc>
            </a:pPr>
            <a:r>
              <a:rPr lang="zh-CN" altLang="en-US" sz="2800" dirty="0">
                <a:sym typeface="+mn-ea"/>
              </a:rPr>
              <a:t>信道输入:</a:t>
            </a:r>
            <a:endParaRPr lang="zh-CN" altLang="en-US" sz="2800" dirty="0">
              <a:sym typeface="+mn-ea"/>
            </a:endParaRPr>
          </a:p>
          <a:p>
            <a:pPr indent="0" fontAlgn="auto">
              <a:lnSpc>
                <a:spcPct val="200000"/>
              </a:lnSpc>
            </a:pPr>
            <a:endParaRPr lang="zh-CN" altLang="en-US" sz="28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890" y="89662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一、信道疑义度</a:t>
            </a:r>
            <a:endParaRPr lang="zh-CN" altLang="en-US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25990" y="1308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389630" y="1885950"/>
            <a:ext cx="2306955" cy="8820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3600"/>
          </a:p>
        </p:txBody>
      </p:sp>
      <p:cxnSp>
        <p:nvCxnSpPr>
          <p:cNvPr id="7" name="直接箭头连接符 6"/>
          <p:cNvCxnSpPr>
            <a:endCxn id="4" idx="1"/>
          </p:cNvCxnSpPr>
          <p:nvPr/>
        </p:nvCxnSpPr>
        <p:spPr>
          <a:xfrm flipV="1">
            <a:off x="1419225" y="2327275"/>
            <a:ext cx="197040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5696585" y="2329180"/>
            <a:ext cx="197040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67798" y="2045970"/>
          <a:ext cx="119316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533400" imgH="254000" progId="Equation.DSMT4">
                  <p:embed/>
                </p:oleObj>
              </mc:Choice>
              <mc:Fallback>
                <p:oleObj name="" r:id="rId1" imgW="5334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67798" y="2045970"/>
                        <a:ext cx="1193165" cy="56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57288" y="1827848"/>
          <a:ext cx="396875" cy="36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3" imgW="177165" imgH="165100" progId="Equation.DSMT4">
                  <p:embed/>
                </p:oleObj>
              </mc:Choice>
              <mc:Fallback>
                <p:oleObj name="" r:id="rId3" imgW="177165" imgH="1651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57288" y="1827848"/>
                        <a:ext cx="396875" cy="369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939598" y="1780858"/>
          <a:ext cx="313055" cy="36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5" imgW="139700" imgH="165100" progId="Equation.DSMT4">
                  <p:embed/>
                </p:oleObj>
              </mc:Choice>
              <mc:Fallback>
                <p:oleObj name="" r:id="rId5" imgW="139700" imgH="1651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39598" y="1780858"/>
                        <a:ext cx="313055" cy="369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979170" y="1382395"/>
            <a:ext cx="7448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ym typeface="+mn-ea"/>
              </a:rPr>
              <a:t>基本信道</a:t>
            </a:r>
            <a:endParaRPr lang="zh-CN" altLang="en-US" sz="2000" dirty="0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08635" y="2900680"/>
            <a:ext cx="744855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200000"/>
              </a:lnSpc>
            </a:pPr>
            <a:r>
              <a:rPr lang="zh-CN" altLang="en-US" sz="2800" dirty="0">
                <a:sym typeface="+mn-ea"/>
              </a:rPr>
              <a:t>信道输入:</a:t>
            </a:r>
            <a:endParaRPr lang="zh-CN" altLang="en-US" sz="2800" dirty="0">
              <a:sym typeface="+mn-ea"/>
            </a:endParaRPr>
          </a:p>
          <a:p>
            <a:pPr indent="0" fontAlgn="auto">
              <a:lnSpc>
                <a:spcPct val="200000"/>
              </a:lnSpc>
            </a:pPr>
            <a:endParaRPr lang="zh-CN" altLang="en-US" sz="2800" b="1" dirty="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60613" y="3025458"/>
          <a:ext cx="3863975" cy="966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7" imgW="1727200" imgH="431800" progId="Equation.DSMT4">
                  <p:embed/>
                </p:oleObj>
              </mc:Choice>
              <mc:Fallback>
                <p:oleObj name="" r:id="rId7" imgW="1727200" imgH="431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60613" y="3025458"/>
                        <a:ext cx="3863975" cy="966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890" y="89662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一、信道疑义度</a:t>
            </a:r>
            <a:endParaRPr lang="zh-CN" altLang="en-US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25990" y="1308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389630" y="1885950"/>
            <a:ext cx="2306955" cy="8820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3600"/>
          </a:p>
        </p:txBody>
      </p:sp>
      <p:cxnSp>
        <p:nvCxnSpPr>
          <p:cNvPr id="7" name="直接箭头连接符 6"/>
          <p:cNvCxnSpPr>
            <a:endCxn id="4" idx="1"/>
          </p:cNvCxnSpPr>
          <p:nvPr/>
        </p:nvCxnSpPr>
        <p:spPr>
          <a:xfrm flipV="1">
            <a:off x="1419225" y="2327275"/>
            <a:ext cx="197040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5696585" y="2329180"/>
            <a:ext cx="197040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67798" y="2045970"/>
          <a:ext cx="119316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533400" imgH="254000" progId="Equation.DSMT4">
                  <p:embed/>
                </p:oleObj>
              </mc:Choice>
              <mc:Fallback>
                <p:oleObj name="" r:id="rId1" imgW="5334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67798" y="2045970"/>
                        <a:ext cx="1193165" cy="56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57288" y="1827848"/>
          <a:ext cx="396875" cy="36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3" imgW="177165" imgH="165100" progId="Equation.DSMT4">
                  <p:embed/>
                </p:oleObj>
              </mc:Choice>
              <mc:Fallback>
                <p:oleObj name="" r:id="rId3" imgW="177165" imgH="1651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57288" y="1827848"/>
                        <a:ext cx="396875" cy="369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939598" y="1780858"/>
          <a:ext cx="313055" cy="36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5" imgW="139700" imgH="165100" progId="Equation.DSMT4">
                  <p:embed/>
                </p:oleObj>
              </mc:Choice>
              <mc:Fallback>
                <p:oleObj name="" r:id="rId5" imgW="139700" imgH="1651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39598" y="1780858"/>
                        <a:ext cx="313055" cy="369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979170" y="1382395"/>
            <a:ext cx="7448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ym typeface="+mn-ea"/>
              </a:rPr>
              <a:t>基本信道</a:t>
            </a:r>
            <a:endParaRPr lang="zh-CN" altLang="en-US" sz="2000" dirty="0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08635" y="2900680"/>
            <a:ext cx="744855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200000"/>
              </a:lnSpc>
            </a:pPr>
            <a:r>
              <a:rPr lang="zh-CN" altLang="en-US" sz="2800" dirty="0">
                <a:sym typeface="+mn-ea"/>
              </a:rPr>
              <a:t>信道输入:</a:t>
            </a:r>
            <a:endParaRPr lang="zh-CN" altLang="en-US" sz="2800" dirty="0"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2800" dirty="0">
                <a:sym typeface="+mn-ea"/>
              </a:rPr>
              <a:t>①</a:t>
            </a:r>
            <a:r>
              <a:rPr lang="en-US" altLang="zh-CN" sz="2800" dirty="0">
                <a:sym typeface="+mn-ea"/>
              </a:rPr>
              <a:t>  </a:t>
            </a:r>
            <a:r>
              <a:rPr lang="zh-CN" altLang="en-US" sz="2800" dirty="0">
                <a:sym typeface="+mn-ea"/>
              </a:rPr>
              <a:t>信道无干扰:</a:t>
            </a:r>
            <a:r>
              <a:rPr lang="en-US" altLang="zh-CN" sz="2800" dirty="0">
                <a:sym typeface="+mn-ea"/>
              </a:rPr>
              <a:t>                   </a:t>
            </a:r>
            <a:r>
              <a:rPr lang="zh-CN" altLang="en-US" sz="2800" dirty="0">
                <a:sym typeface="+mn-ea"/>
              </a:rPr>
              <a:t>，接收的平均信息为</a:t>
            </a:r>
            <a:endParaRPr lang="zh-CN" altLang="en-US" sz="2800" dirty="0"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2800" dirty="0">
                <a:sym typeface="+mn-ea"/>
              </a:rPr>
              <a:t>②</a:t>
            </a:r>
            <a:r>
              <a:rPr lang="en-US" altLang="zh-CN" sz="2800" dirty="0">
                <a:sym typeface="+mn-ea"/>
              </a:rPr>
              <a:t>  </a:t>
            </a:r>
            <a:r>
              <a:rPr lang="zh-CN" altLang="en-US" sz="2800" dirty="0">
                <a:sym typeface="+mn-ea"/>
              </a:rPr>
              <a:t>信道有干扰:</a:t>
            </a:r>
            <a:r>
              <a:rPr lang="en-US" altLang="zh-CN" sz="2800" dirty="0">
                <a:sym typeface="+mn-ea"/>
              </a:rPr>
              <a:t>      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？</a:t>
            </a:r>
            <a:endParaRPr lang="zh-CN" altLang="en-US" sz="2800" b="1" dirty="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60613" y="3025458"/>
          <a:ext cx="3863975" cy="966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7" imgW="1727200" imgH="431800" progId="Equation.DSMT4">
                  <p:embed/>
                </p:oleObj>
              </mc:Choice>
              <mc:Fallback>
                <p:oleObj name="" r:id="rId7" imgW="1727200" imgH="431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60613" y="3025458"/>
                        <a:ext cx="3863975" cy="966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73071" y="4100195"/>
          <a:ext cx="150622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9" imgW="673100" imgH="254000" progId="Equation.DSMT4">
                  <p:embed/>
                </p:oleObj>
              </mc:Choice>
              <mc:Fallback>
                <p:oleObj name="" r:id="rId9" imgW="6731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73071" y="4100195"/>
                        <a:ext cx="1506220" cy="56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715569" y="4100195"/>
          <a:ext cx="99504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11" imgW="444500" imgH="254000" progId="Equation.DSMT4">
                  <p:embed/>
                </p:oleObj>
              </mc:Choice>
              <mc:Fallback>
                <p:oleObj name="" r:id="rId11" imgW="4445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715569" y="4100195"/>
                        <a:ext cx="995045" cy="56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890" y="89662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一、信道疑义度</a:t>
            </a:r>
            <a:endParaRPr lang="zh-CN" altLang="en-US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25990" y="1308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61925" y="1308100"/>
            <a:ext cx="744855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200000"/>
              </a:lnSpc>
            </a:pPr>
            <a:r>
              <a:rPr lang="zh-CN" altLang="en-US" sz="2800" dirty="0">
                <a:sym typeface="+mn-ea"/>
              </a:rPr>
              <a:t>收到</a:t>
            </a:r>
            <a:r>
              <a:rPr lang="en-US" altLang="zh-CN" sz="2800" dirty="0">
                <a:sym typeface="+mn-ea"/>
              </a:rPr>
              <a:t> </a:t>
            </a:r>
            <a:r>
              <a:rPr lang="en-US" altLang="zh-CN"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</a:t>
            </a:r>
            <a:r>
              <a:rPr lang="en-US" altLang="zh-CN" sz="2800" i="1" baseline="-25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j</a:t>
            </a:r>
            <a:r>
              <a:rPr lang="zh-CN" altLang="en-US" sz="2800" dirty="0">
                <a:sym typeface="+mn-ea"/>
              </a:rPr>
              <a:t>后关于</a:t>
            </a:r>
            <a:r>
              <a:rPr lang="en-US" altLang="zh-CN"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lang="en-US" altLang="zh-CN" sz="2800" i="1" baseline="-25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lang="zh-CN" altLang="en-US" sz="2800" dirty="0">
                <a:sym typeface="+mn-ea"/>
              </a:rPr>
              <a:t>的不确定</a:t>
            </a:r>
            <a:r>
              <a:rPr lang="zh-CN" altLang="en-US" sz="2800" dirty="0">
                <a:sym typeface="+mn-ea"/>
              </a:rPr>
              <a:t>性：</a:t>
            </a:r>
            <a:endParaRPr lang="zh-CN" altLang="en-US" sz="2800" dirty="0"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sz="2800" dirty="0">
                <a:sym typeface="+mn-ea"/>
              </a:rPr>
              <a:t>考虑</a:t>
            </a:r>
            <a:r>
              <a:rPr lang="en-US" altLang="zh-CN" sz="2800" dirty="0">
                <a:sym typeface="+mn-ea"/>
              </a:rPr>
              <a:t>              </a:t>
            </a:r>
            <a:r>
              <a:rPr lang="zh-CN" altLang="en-US" sz="2800" dirty="0">
                <a:sym typeface="+mn-ea"/>
              </a:rPr>
              <a:t>，</a:t>
            </a:r>
            <a:r>
              <a:rPr lang="zh-CN" altLang="en-US" sz="2800" dirty="0">
                <a:sym typeface="+mn-ea"/>
              </a:rPr>
              <a:t>有</a:t>
            </a:r>
            <a:endParaRPr lang="zh-CN" altLang="en-US" sz="2800" dirty="0"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2800" dirty="0">
                <a:sym typeface="+mn-ea"/>
              </a:rPr>
              <a:t>考虑</a:t>
            </a:r>
            <a:r>
              <a:rPr lang="en-US" altLang="zh-CN" sz="2800" dirty="0">
                <a:sym typeface="+mn-ea"/>
              </a:rPr>
              <a:t>             </a:t>
            </a:r>
            <a:r>
              <a:rPr lang="zh-CN" altLang="en-US" sz="2800" dirty="0">
                <a:sym typeface="+mn-ea"/>
              </a:rPr>
              <a:t>，</a:t>
            </a:r>
            <a:r>
              <a:rPr lang="zh-CN" altLang="en-US" sz="2800" dirty="0">
                <a:sym typeface="+mn-ea"/>
              </a:rPr>
              <a:t>有</a:t>
            </a:r>
            <a:endParaRPr lang="zh-CN" altLang="en-US" sz="2800" dirty="0">
              <a:sym typeface="+mn-ea"/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810761" y="1418591"/>
          <a:ext cx="3266440" cy="995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1" imgW="1459865" imgH="444500" progId="Equation.DSMT4">
                  <p:embed/>
                </p:oleObj>
              </mc:Choice>
              <mc:Fallback>
                <p:oleObj name="" r:id="rId1" imgW="1459865" imgH="4445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10761" y="1418591"/>
                        <a:ext cx="3266440" cy="995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82358" y="2484121"/>
          <a:ext cx="995045" cy="512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" r:id="rId3" imgW="444500" imgH="228600" progId="Equation.DSMT4">
                  <p:embed/>
                </p:oleObj>
              </mc:Choice>
              <mc:Fallback>
                <p:oleObj name="" r:id="rId3" imgW="444500" imgH="2286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2358" y="2484121"/>
                        <a:ext cx="995045" cy="512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01938" y="3216276"/>
          <a:ext cx="6223635" cy="996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2781300" imgH="444500" progId="Equation.DSMT4">
                  <p:embed/>
                </p:oleObj>
              </mc:Choice>
              <mc:Fallback>
                <p:oleObj name="" r:id="rId5" imgW="2781300" imgH="4445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01938" y="3216276"/>
                        <a:ext cx="6223635" cy="996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34018" y="2305686"/>
          <a:ext cx="5142865" cy="996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7" imgW="2298700" imgH="444500" progId="Equation.DSMT4">
                  <p:embed/>
                </p:oleObj>
              </mc:Choice>
              <mc:Fallback>
                <p:oleObj name="" r:id="rId7" imgW="2298700" imgH="4445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34018" y="2305686"/>
                        <a:ext cx="5142865" cy="996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82358" y="3367088"/>
          <a:ext cx="937895" cy="541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419100" imgH="241300" progId="Equation.DSMT4">
                  <p:embed/>
                </p:oleObj>
              </mc:Choice>
              <mc:Fallback>
                <p:oleObj name="" r:id="rId9" imgW="419100" imgH="2413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82358" y="3367088"/>
                        <a:ext cx="937895" cy="5410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3766185" y="421259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 dirty="0">
                <a:sym typeface="+mn-ea"/>
              </a:rPr>
              <a:t>信道疑义度</a:t>
            </a:r>
            <a:endParaRPr lang="zh-CN" altLang="en-US" sz="3600" b="1" dirty="0"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890" y="89662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一、信道疑义度</a:t>
            </a:r>
            <a:endParaRPr lang="zh-CN" altLang="en-US" sz="28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11680" y="1707515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ym typeface="+mn-ea"/>
              </a:rPr>
              <a:t>损失熵</a:t>
            </a:r>
            <a:r>
              <a:rPr lang="en-US" altLang="zh-CN" sz="2800" b="1" dirty="0">
                <a:sym typeface="+mn-ea"/>
              </a:rPr>
              <a:t>   equivocation</a:t>
            </a:r>
            <a:endParaRPr lang="en-US" altLang="zh-CN" sz="2800" b="1" dirty="0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2125" y="2229485"/>
            <a:ext cx="744855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200000"/>
              </a:lnSpc>
            </a:pPr>
            <a:r>
              <a:rPr lang="zh-CN" altLang="en-US" sz="2800" dirty="0">
                <a:sym typeface="+mn-ea"/>
              </a:rPr>
              <a:t>信道疑义度：</a:t>
            </a:r>
            <a:endParaRPr lang="zh-CN" altLang="en-US" sz="2800" dirty="0"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sz="2800" dirty="0">
                <a:sym typeface="+mn-ea"/>
              </a:rPr>
              <a:t>含义：收到 Y后关于 X</a:t>
            </a:r>
            <a:r>
              <a:rPr lang="en-US" sz="2800" dirty="0">
                <a:sym typeface="+mn-ea"/>
              </a:rPr>
              <a:t> </a:t>
            </a:r>
            <a:r>
              <a:rPr sz="2800" dirty="0">
                <a:sym typeface="+mn-ea"/>
              </a:rPr>
              <a:t>的尚存的平均不确定性。  </a:t>
            </a:r>
            <a:r>
              <a:rPr lang="zh-CN" altLang="en-US" sz="2800" dirty="0">
                <a:sym typeface="+mn-ea"/>
              </a:rPr>
              <a:t>性质：</a:t>
            </a:r>
            <a:endParaRPr lang="zh-CN" altLang="en-US" sz="2800" dirty="0">
              <a:sym typeface="+mn-ea"/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672716" y="2433956"/>
          <a:ext cx="5426710" cy="995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1" imgW="2425700" imgH="444500" progId="Equation.DSMT4">
                  <p:embed/>
                </p:oleObj>
              </mc:Choice>
              <mc:Fallback>
                <p:oleObj name="" r:id="rId1" imgW="2425700" imgH="4445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72716" y="2433956"/>
                        <a:ext cx="5426710" cy="995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627823" y="4307841"/>
          <a:ext cx="3011805" cy="455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" r:id="rId3" imgW="1346200" imgH="203200" progId="Equation.DSMT4">
                  <p:embed/>
                </p:oleObj>
              </mc:Choice>
              <mc:Fallback>
                <p:oleObj name="" r:id="rId3" imgW="1346200" imgH="203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7823" y="4307841"/>
                        <a:ext cx="3011805" cy="455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二、</a:t>
            </a:r>
            <a:r>
              <a:rPr lang="zh-CN" altLang="en-US" sz="2800" dirty="0">
                <a:sym typeface="+mn-ea"/>
              </a:rPr>
              <a:t>平均互信息</a:t>
            </a:r>
            <a:endParaRPr lang="zh-CN" altLang="en-US" sz="2800" dirty="0">
              <a:sym typeface="+mn-ea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77570" y="1591310"/>
          <a:ext cx="8190230" cy="2972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1" imgW="3924300" imgH="1422400" progId="Equation.DSMT4">
                  <p:embed/>
                </p:oleObj>
              </mc:Choice>
              <mc:Fallback>
                <p:oleObj name="" r:id="rId1" imgW="3924300" imgH="1422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77570" y="1591310"/>
                        <a:ext cx="8190230" cy="2972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28345" y="4471670"/>
            <a:ext cx="74485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含义：平均从  Y</a:t>
            </a:r>
            <a:r>
              <a:rPr lang="en-US" altLang="zh-CN" sz="2800" dirty="0">
                <a:sym typeface="+mn-ea"/>
              </a:rPr>
              <a:t> </a:t>
            </a:r>
            <a:r>
              <a:rPr lang="zh-CN" altLang="en-US" sz="2800" dirty="0">
                <a:sym typeface="+mn-ea"/>
              </a:rPr>
              <a:t>获得的关于  X</a:t>
            </a:r>
            <a:r>
              <a:rPr lang="en-US" altLang="zh-CN" sz="2800" dirty="0">
                <a:sym typeface="+mn-ea"/>
              </a:rPr>
              <a:t> </a:t>
            </a:r>
            <a:r>
              <a:rPr lang="zh-CN" altLang="en-US" sz="2800" dirty="0">
                <a:sym typeface="+mn-ea"/>
              </a:rPr>
              <a:t>的信息量。 </a:t>
            </a:r>
            <a:endParaRPr lang="zh-CN" altLang="en-US" sz="2800" dirty="0">
              <a:sym typeface="+mn-ea"/>
            </a:endParaRPr>
          </a:p>
          <a:p>
            <a:r>
              <a:rPr lang="en-US" altLang="zh-CN" sz="2800" dirty="0">
                <a:sym typeface="+mn-ea"/>
              </a:rPr>
              <a:t>           </a:t>
            </a:r>
            <a:r>
              <a:rPr lang="zh-CN" altLang="en-US" sz="2800" dirty="0">
                <a:sym typeface="+mn-ea"/>
              </a:rPr>
              <a:t>（又称信道的信息传输率</a:t>
            </a:r>
            <a:r>
              <a:rPr lang="en-US" altLang="zh-CN" sz="2800" dirty="0">
                <a:sym typeface="+mn-ea"/>
              </a:rPr>
              <a:t> R</a:t>
            </a:r>
            <a:r>
              <a:rPr lang="zh-CN" altLang="en-US" sz="2800" dirty="0">
                <a:sym typeface="+mn-ea"/>
              </a:rPr>
              <a:t>）</a:t>
            </a:r>
            <a:endParaRPr lang="zh-CN" altLang="en-US" sz="2800" dirty="0"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二、</a:t>
            </a:r>
            <a:r>
              <a:rPr lang="zh-CN" altLang="en-US" sz="2800" dirty="0">
                <a:sym typeface="+mn-ea"/>
              </a:rPr>
              <a:t>平均互信息</a:t>
            </a:r>
            <a:endParaRPr lang="zh-CN" altLang="en-US" sz="2800" dirty="0">
              <a:sym typeface="+mn-ea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578225" y="780733"/>
          <a:ext cx="4532630" cy="902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1" imgW="2171700" imgH="431800" progId="Equation.DSMT4">
                  <p:embed/>
                </p:oleObj>
              </mc:Choice>
              <mc:Fallback>
                <p:oleObj name="" r:id="rId1" imgW="2171700" imgH="431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78225" y="780733"/>
                        <a:ext cx="4532630" cy="902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39090" y="1515110"/>
            <a:ext cx="8625205" cy="37534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800" dirty="0">
                <a:sym typeface="+mn-ea"/>
              </a:rPr>
              <a:t>注意：</a:t>
            </a:r>
            <a:endParaRPr lang="zh-CN" altLang="en-US" sz="2800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 dirty="0">
                <a:sym typeface="+mn-ea"/>
              </a:rPr>
              <a:t>                                          </a:t>
            </a:r>
            <a:r>
              <a:rPr lang="zh-CN" altLang="en-US" sz="2800" dirty="0">
                <a:sym typeface="+mn-ea"/>
              </a:rPr>
              <a:t>关系：</a:t>
            </a:r>
            <a:endParaRPr lang="zh-CN" altLang="en-US" sz="2800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 dirty="0">
                <a:sym typeface="+mn-ea"/>
              </a:rPr>
              <a:t>  </a:t>
            </a:r>
            <a:r>
              <a:rPr lang="zh-CN" altLang="en-US" sz="2800" dirty="0">
                <a:sym typeface="+mn-ea"/>
              </a:rPr>
              <a:t>互信息：</a:t>
            </a:r>
            <a:endParaRPr lang="zh-CN" altLang="en-US" sz="2800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 dirty="0">
                <a:sym typeface="+mn-ea"/>
              </a:rPr>
              <a:t>              </a:t>
            </a:r>
            <a:r>
              <a:rPr lang="zh-CN" altLang="en-US" sz="2800" dirty="0">
                <a:sym typeface="+mn-ea"/>
              </a:rPr>
              <a:t>表示由随机事件 y中获得的关于事件 x的信息。</a:t>
            </a:r>
            <a:endParaRPr lang="zh-CN" altLang="en-US" sz="2800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dirty="0">
              <a:sym typeface="+mn-ea"/>
            </a:endParaRPr>
          </a:p>
          <a:p>
            <a:endParaRPr lang="zh-CN" altLang="en-US" sz="2800" dirty="0">
              <a:sym typeface="+mn-ea"/>
            </a:endParaRPr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59815" y="2340611"/>
          <a:ext cx="2518410" cy="531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1206500" imgH="254000" progId="Equation.DSMT4">
                  <p:embed/>
                </p:oleObj>
              </mc:Choice>
              <mc:Fallback>
                <p:oleObj name="" r:id="rId3" imgW="12065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9815" y="2340611"/>
                        <a:ext cx="2518410" cy="531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38408" y="2287271"/>
          <a:ext cx="3367405" cy="584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5" imgW="1612900" imgH="279400" progId="Equation.DSMT4">
                  <p:embed/>
                </p:oleObj>
              </mc:Choice>
              <mc:Fallback>
                <p:oleObj name="" r:id="rId5" imgW="16129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38408" y="2287271"/>
                        <a:ext cx="3367405" cy="584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33015" y="2813051"/>
          <a:ext cx="2703830" cy="876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7" imgW="1295400" imgH="419100" progId="Equation.DSMT4">
                  <p:embed/>
                </p:oleObj>
              </mc:Choice>
              <mc:Fallback>
                <p:oleObj name="" r:id="rId7" imgW="1295400" imgH="4191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33015" y="2813051"/>
                        <a:ext cx="2703830" cy="8769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6250" y="3596641"/>
          <a:ext cx="1060450" cy="531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9" imgW="508000" imgH="254000" progId="Equation.DSMT4">
                  <p:embed/>
                </p:oleObj>
              </mc:Choice>
              <mc:Fallback>
                <p:oleObj name="" r:id="rId9" imgW="5080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6250" y="3596641"/>
                        <a:ext cx="1060450" cy="531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5933" y="4906011"/>
          <a:ext cx="1989455" cy="531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11" imgW="952500" imgH="254000" progId="Equation.DSMT4">
                  <p:embed/>
                </p:oleObj>
              </mc:Choice>
              <mc:Fallback>
                <p:oleObj name="" r:id="rId11" imgW="9525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5933" y="4906011"/>
                        <a:ext cx="1989455" cy="531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2823210" y="4073525"/>
            <a:ext cx="444436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200000"/>
              </a:lnSpc>
              <a:buClrTx/>
              <a:buSzTx/>
              <a:buFontTx/>
            </a:pPr>
            <a:r>
              <a:rPr lang="zh-CN" altLang="en-US" sz="2800" dirty="0">
                <a:sym typeface="+mn-ea"/>
              </a:rPr>
              <a:t>共同点：统计平均</a:t>
            </a:r>
            <a:endParaRPr lang="zh-CN" altLang="en-US" sz="2800" dirty="0">
              <a:sym typeface="+mn-ea"/>
            </a:endParaRPr>
          </a:p>
          <a:p>
            <a:pPr lvl="0" indent="0" algn="l" fontAlgn="auto">
              <a:lnSpc>
                <a:spcPct val="200000"/>
              </a:lnSpc>
              <a:buClrTx/>
              <a:buSzTx/>
              <a:buFontTx/>
            </a:pPr>
            <a:r>
              <a:rPr lang="zh-CN" altLang="en-US" sz="2800" dirty="0">
                <a:sym typeface="+mn-ea"/>
              </a:rPr>
              <a:t>不同点：提供与获得</a:t>
            </a:r>
            <a:endParaRPr lang="zh-CN" altLang="en-US" sz="2800" dirty="0">
              <a:sym typeface="+mn-ea"/>
            </a:endParaRPr>
          </a:p>
        </p:txBody>
      </p:sp>
      <p:sp>
        <p:nvSpPr>
          <p:cNvPr id="20" name="左大括号 19"/>
          <p:cNvSpPr/>
          <p:nvPr/>
        </p:nvSpPr>
        <p:spPr>
          <a:xfrm>
            <a:off x="2677795" y="4591685"/>
            <a:ext cx="92710" cy="115951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二、</a:t>
            </a:r>
            <a:r>
              <a:rPr lang="zh-CN" altLang="en-US" sz="2800" dirty="0">
                <a:sym typeface="+mn-ea"/>
              </a:rPr>
              <a:t>平均互信息</a:t>
            </a:r>
            <a:endParaRPr lang="zh-CN" altLang="en-US" sz="2800" dirty="0">
              <a:sym typeface="+mn-ea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39090" y="1515110"/>
            <a:ext cx="862520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800" dirty="0">
                <a:sym typeface="+mn-ea"/>
              </a:rPr>
              <a:t>条件互信息与平均条件互信息</a:t>
            </a:r>
            <a:r>
              <a:rPr lang="en-US" altLang="zh-CN" sz="2800" dirty="0">
                <a:sym typeface="+mn-ea"/>
              </a:rPr>
              <a:t>  </a:t>
            </a:r>
            <a:endParaRPr lang="en-US" altLang="zh-CN" sz="2800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 dirty="0">
                <a:sym typeface="+mn-ea"/>
              </a:rPr>
              <a:t>给定 X, Y, Z 三个离散随机变量，其连接关系为：</a:t>
            </a:r>
            <a:endParaRPr lang="zh-CN" altLang="en-US" sz="2800" dirty="0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220970" y="645160"/>
            <a:ext cx="444436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200000"/>
              </a:lnSpc>
              <a:buClrTx/>
              <a:buSzTx/>
              <a:buFontTx/>
            </a:pPr>
            <a:r>
              <a:rPr lang="zh-CN" altLang="en-US" sz="2800" b="1" dirty="0">
                <a:sym typeface="+mn-ea"/>
              </a:rPr>
              <a:t>思考：</a:t>
            </a:r>
            <a:endParaRPr lang="zh-CN" altLang="en-US" sz="2800" b="1" dirty="0"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470" y="3044825"/>
            <a:ext cx="6574790" cy="23006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060" y="1454785"/>
            <a:ext cx="7258050" cy="13925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1800" y="3104515"/>
            <a:ext cx="2198370" cy="2781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</a:pPr>
            <a:r>
              <a:rPr sz="2800" dirty="0">
                <a:sym typeface="+mn-ea"/>
              </a:rPr>
              <a:t>信源发送</a:t>
            </a:r>
            <a:endParaRPr sz="2800" dirty="0"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sz="2800" dirty="0">
                <a:sym typeface="+mn-ea"/>
              </a:rPr>
              <a:t>的信息量</a:t>
            </a:r>
            <a:endParaRPr sz="2800" dirty="0"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sz="2800" dirty="0">
                <a:sym typeface="+mn-ea"/>
              </a:rPr>
              <a:t>H(X)</a:t>
            </a:r>
            <a:endParaRPr sz="2800" dirty="0"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sz="2800" b="1" dirty="0">
                <a:sym typeface="+mn-ea"/>
              </a:rPr>
              <a:t>信源熵</a:t>
            </a:r>
            <a:endParaRPr sz="2800" b="1" dirty="0"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endParaRPr sz="2800" b="1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84290" y="3104515"/>
            <a:ext cx="2198370" cy="2781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</a:pPr>
            <a:r>
              <a:rPr sz="2800" dirty="0">
                <a:sym typeface="+mn-ea"/>
              </a:rPr>
              <a:t>输出端获得的信息量</a:t>
            </a:r>
            <a:endParaRPr sz="2800" dirty="0"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sz="2800" dirty="0">
                <a:sym typeface="+mn-ea"/>
              </a:rPr>
              <a:t>I(</a:t>
            </a:r>
            <a:r>
              <a:rPr lang="en-US" sz="2800" dirty="0">
                <a:sym typeface="+mn-ea"/>
              </a:rPr>
              <a:t>X</a:t>
            </a:r>
            <a:r>
              <a:rPr sz="2800" dirty="0">
                <a:sym typeface="+mn-ea"/>
              </a:rPr>
              <a:t>;Y</a:t>
            </a:r>
            <a:r>
              <a:rPr lang="en-US" sz="2800" dirty="0">
                <a:sym typeface="+mn-ea"/>
              </a:rPr>
              <a:t>)</a:t>
            </a:r>
            <a:endParaRPr sz="2800" dirty="0"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sz="2800" b="1" dirty="0">
                <a:sym typeface="+mn-ea"/>
              </a:rPr>
              <a:t>平均互信息</a:t>
            </a:r>
            <a:r>
              <a:rPr sz="2800" dirty="0">
                <a:sym typeface="+mn-ea"/>
              </a:rPr>
              <a:t>信息传输率</a:t>
            </a:r>
            <a:endParaRPr sz="2800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91890" y="3104515"/>
            <a:ext cx="2198370" cy="2781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</a:pPr>
            <a:r>
              <a:rPr sz="2800" dirty="0">
                <a:sym typeface="+mn-ea"/>
              </a:rPr>
              <a:t>信道中损失的信息量</a:t>
            </a:r>
            <a:endParaRPr sz="2800" dirty="0"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sz="2800" dirty="0">
                <a:sym typeface="+mn-ea"/>
              </a:rPr>
              <a:t>H(</a:t>
            </a:r>
            <a:r>
              <a:rPr lang="en-US" sz="2800" dirty="0">
                <a:sym typeface="+mn-ea"/>
              </a:rPr>
              <a:t>X|</a:t>
            </a:r>
            <a:r>
              <a:rPr sz="2800" dirty="0">
                <a:sym typeface="+mn-ea"/>
              </a:rPr>
              <a:t>Y</a:t>
            </a:r>
            <a:r>
              <a:rPr lang="en-US" sz="2800" dirty="0">
                <a:sym typeface="+mn-ea"/>
              </a:rPr>
              <a:t>)</a:t>
            </a:r>
            <a:endParaRPr sz="2800" dirty="0"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sz="2800" b="1" dirty="0">
                <a:sym typeface="+mn-ea"/>
              </a:rPr>
              <a:t>信道疑义度</a:t>
            </a:r>
            <a:r>
              <a:rPr sz="2800" dirty="0">
                <a:sym typeface="+mn-ea"/>
              </a:rPr>
              <a:t>损失熵</a:t>
            </a:r>
            <a:endParaRPr sz="2800" dirty="0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8600" y="586105"/>
            <a:ext cx="2198370" cy="868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3200" b="1" dirty="0">
                <a:sym typeface="+mn-ea"/>
              </a:rPr>
              <a:t>小结：</a:t>
            </a:r>
            <a:endParaRPr lang="zh-CN" altLang="en-US" sz="3200" b="1" dirty="0">
              <a:sym typeface="+mn-ea"/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157788" y="2801620"/>
          <a:ext cx="3604895" cy="424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2" imgW="1727200" imgH="203200" progId="Equation.DSMT4">
                  <p:embed/>
                </p:oleObj>
              </mc:Choice>
              <mc:Fallback>
                <p:oleObj name="" r:id="rId2" imgW="1727200" imgH="203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57788" y="2801620"/>
                        <a:ext cx="3604895" cy="424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8780" y="762000"/>
            <a:ext cx="862520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sz="2800" dirty="0">
                <a:sym typeface="+mn-ea"/>
              </a:rPr>
              <a:t>练习:</a:t>
            </a:r>
            <a:endParaRPr sz="2800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sz="2800" dirty="0">
                <a:sym typeface="+mn-ea"/>
              </a:rPr>
              <a:t>有两个硬币，一个是正常的硬币(一面是国徽，一面是面值)，另一个是不正常的硬币(两面都是面值)。现随机抽取一枚硬币，抛掷2次。问出现面值的次数对于硬币的识别提供多少信息量?</a:t>
            </a:r>
            <a:endParaRPr sz="2800" dirty="0"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255" y="143764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sym typeface="+mn-ea"/>
              </a:rPr>
              <a:t>1</a:t>
            </a:r>
            <a:r>
              <a:rPr lang="zh-CN" altLang="en-US" sz="2800" dirty="0">
                <a:sym typeface="+mn-ea"/>
              </a:rPr>
              <a:t>、</a:t>
            </a:r>
            <a:r>
              <a:rPr lang="zh-CN" altLang="en-US" sz="2800" dirty="0">
                <a:sym typeface="+mn-ea"/>
              </a:rPr>
              <a:t>非负性</a:t>
            </a:r>
            <a:endParaRPr lang="zh-CN" altLang="en-US" sz="2800" dirty="0">
              <a:sym typeface="+mn-ea"/>
            </a:endParaRPr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59155" y="2069783"/>
          <a:ext cx="153797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736600" imgH="203200" progId="Equation.DSMT4">
                  <p:embed/>
                </p:oleObj>
              </mc:Choice>
              <mc:Fallback>
                <p:oleObj name="" r:id="rId1" imgW="736600" imgH="203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59155" y="2069783"/>
                        <a:ext cx="1537970" cy="42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58838" y="2606041"/>
          <a:ext cx="3183255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" imgW="1524000" imgH="254000" progId="Equation.DSMT4">
                  <p:embed/>
                </p:oleObj>
              </mc:Choice>
              <mc:Fallback>
                <p:oleObj name="" r:id="rId3" imgW="15240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8838" y="2606041"/>
                        <a:ext cx="3183255" cy="532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373245" y="2438083"/>
          <a:ext cx="2705100" cy="877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5" imgW="1295400" imgH="419100" progId="Equation.DSMT4">
                  <p:embed/>
                </p:oleObj>
              </mc:Choice>
              <mc:Fallback>
                <p:oleObj name="" r:id="rId5" imgW="1295400" imgH="4191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73245" y="2438083"/>
                        <a:ext cx="2705100" cy="877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49008" y="3485198"/>
          <a:ext cx="6073775" cy="1915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7" imgW="2908300" imgH="914400" progId="Equation.DSMT4">
                  <p:embed/>
                </p:oleObj>
              </mc:Choice>
              <mc:Fallback>
                <p:oleObj name="" r:id="rId7" imgW="2908300" imgH="914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49008" y="3485198"/>
                        <a:ext cx="6073775" cy="1915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255" y="1437640"/>
            <a:ext cx="744855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sym typeface="+mn-ea"/>
              </a:rPr>
              <a:t>1</a:t>
            </a:r>
            <a:r>
              <a:rPr lang="zh-CN" altLang="en-US" sz="2800" dirty="0">
                <a:sym typeface="+mn-ea"/>
              </a:rPr>
              <a:t>、</a:t>
            </a:r>
            <a:r>
              <a:rPr lang="zh-CN" altLang="en-US" sz="2800" dirty="0">
                <a:sym typeface="+mn-ea"/>
              </a:rPr>
              <a:t>非负性</a:t>
            </a:r>
            <a:endParaRPr lang="zh-CN" altLang="en-US" sz="2800" dirty="0">
              <a:sym typeface="+mn-ea"/>
            </a:endParaRPr>
          </a:p>
          <a:p>
            <a:endParaRPr lang="zh-CN" altLang="en-US" sz="2800" dirty="0">
              <a:sym typeface="+mn-ea"/>
            </a:endParaRPr>
          </a:p>
          <a:p>
            <a:r>
              <a:rPr lang="zh-CN" altLang="en-US" sz="2800" dirty="0">
                <a:sym typeface="+mn-ea"/>
              </a:rPr>
              <a:t> </a:t>
            </a:r>
            <a:r>
              <a:rPr lang="en-US" altLang="zh-CN" sz="2800" dirty="0">
                <a:sym typeface="+mn-ea"/>
              </a:rPr>
              <a:t> </a:t>
            </a:r>
            <a:r>
              <a:rPr lang="zh-CN" altLang="en-US" sz="2800" dirty="0">
                <a:sym typeface="+mn-ea"/>
              </a:rPr>
              <a:t>说明：  </a:t>
            </a:r>
            <a:endParaRPr lang="zh-CN" altLang="en-US" sz="2800" dirty="0">
              <a:sym typeface="+mn-ea"/>
            </a:endParaRPr>
          </a:p>
          <a:p>
            <a:r>
              <a:rPr lang="en-US" altLang="zh-CN" sz="2800" dirty="0">
                <a:sym typeface="+mn-ea"/>
              </a:rPr>
              <a:t>  </a:t>
            </a:r>
            <a:r>
              <a:rPr lang="zh-CN" altLang="en-US" sz="2800" dirty="0">
                <a:sym typeface="+mn-ea"/>
              </a:rPr>
              <a:t>通信的意义——通过消息的传递获得信息 </a:t>
            </a:r>
            <a:endParaRPr lang="zh-CN" altLang="en-US" sz="2800" dirty="0">
              <a:sym typeface="+mn-ea"/>
            </a:endParaRPr>
          </a:p>
        </p:txBody>
      </p: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13205" y="3934143"/>
          <a:ext cx="2202180" cy="745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1" imgW="1054100" imgH="355600" progId="Equation.DSMT4">
                  <p:embed/>
                </p:oleObj>
              </mc:Choice>
              <mc:Fallback>
                <p:oleObj name="" r:id="rId1" imgW="1054100" imgH="3556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13205" y="3934143"/>
                        <a:ext cx="2202180" cy="745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255" y="1437640"/>
            <a:ext cx="744855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sym typeface="+mn-ea"/>
              </a:rPr>
              <a:t>1</a:t>
            </a:r>
            <a:r>
              <a:rPr lang="zh-CN" altLang="en-US" sz="2800" dirty="0">
                <a:sym typeface="+mn-ea"/>
              </a:rPr>
              <a:t>、</a:t>
            </a:r>
            <a:r>
              <a:rPr lang="zh-CN" altLang="en-US" sz="2800" dirty="0">
                <a:sym typeface="+mn-ea"/>
              </a:rPr>
              <a:t>非负性</a:t>
            </a:r>
            <a:endParaRPr lang="zh-CN" altLang="en-US" sz="2800" dirty="0">
              <a:sym typeface="+mn-ea"/>
            </a:endParaRPr>
          </a:p>
          <a:p>
            <a:endParaRPr lang="zh-CN" altLang="en-US" sz="2800" dirty="0">
              <a:sym typeface="+mn-ea"/>
            </a:endParaRPr>
          </a:p>
          <a:p>
            <a:r>
              <a:rPr lang="zh-CN" altLang="en-US" sz="2800" dirty="0">
                <a:sym typeface="+mn-ea"/>
              </a:rPr>
              <a:t> </a:t>
            </a:r>
            <a:r>
              <a:rPr lang="en-US" altLang="zh-CN" sz="2800" dirty="0">
                <a:sym typeface="+mn-ea"/>
              </a:rPr>
              <a:t> </a:t>
            </a:r>
            <a:r>
              <a:rPr lang="zh-CN" altLang="en-US" sz="2800" dirty="0">
                <a:sym typeface="+mn-ea"/>
              </a:rPr>
              <a:t>说明：  </a:t>
            </a:r>
            <a:endParaRPr lang="zh-CN" altLang="en-US" sz="2800" dirty="0">
              <a:sym typeface="+mn-ea"/>
            </a:endParaRPr>
          </a:p>
          <a:p>
            <a:r>
              <a:rPr lang="en-US" altLang="zh-CN" sz="2800" dirty="0">
                <a:sym typeface="+mn-ea"/>
              </a:rPr>
              <a:t>  </a:t>
            </a:r>
            <a:r>
              <a:rPr lang="zh-CN" altLang="en-US" sz="2800" dirty="0">
                <a:sym typeface="+mn-ea"/>
              </a:rPr>
              <a:t>通信的意义——通过消息的传递获得信息 </a:t>
            </a:r>
            <a:endParaRPr lang="zh-CN" altLang="en-US" sz="2800" dirty="0">
              <a:sym typeface="+mn-ea"/>
            </a:endParaRPr>
          </a:p>
        </p:txBody>
      </p: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8790" y="3694748"/>
          <a:ext cx="4271010" cy="1224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1" imgW="2044700" imgH="584200" progId="Equation.DSMT4">
                  <p:embed/>
                </p:oleObj>
              </mc:Choice>
              <mc:Fallback>
                <p:oleObj name="" r:id="rId1" imgW="2044700" imgH="584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8790" y="3694748"/>
                        <a:ext cx="4271010" cy="1224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4514850" y="3350895"/>
          <a:ext cx="114300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3" imgW="114300" imgH="177165" progId="Equation.DSMT4">
                  <p:embed/>
                </p:oleObj>
              </mc:Choice>
              <mc:Fallback>
                <p:oleObj name="" r:id="rId3" imgW="114300" imgH="177165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4850" y="3350895"/>
                        <a:ext cx="114300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108258" y="3834448"/>
          <a:ext cx="3343275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5" imgW="1600200" imgH="660400" progId="Equation.DSMT4">
                  <p:embed/>
                </p:oleObj>
              </mc:Choice>
              <mc:Fallback>
                <p:oleObj name="" r:id="rId5" imgW="1600200" imgH="660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08258" y="3834448"/>
                        <a:ext cx="3343275" cy="1384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左大括号 17"/>
          <p:cNvSpPr/>
          <p:nvPr/>
        </p:nvSpPr>
        <p:spPr>
          <a:xfrm>
            <a:off x="4827905" y="4093210"/>
            <a:ext cx="75565" cy="990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54575" y="5420360"/>
            <a:ext cx="1743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统计独立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255" y="1437640"/>
            <a:ext cx="744855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sym typeface="+mn-ea"/>
              </a:rPr>
              <a:t>1</a:t>
            </a:r>
            <a:r>
              <a:rPr lang="zh-CN" altLang="en-US" sz="2800" dirty="0">
                <a:sym typeface="+mn-ea"/>
              </a:rPr>
              <a:t>、</a:t>
            </a:r>
            <a:r>
              <a:rPr lang="zh-CN" altLang="en-US" sz="2800" dirty="0">
                <a:sym typeface="+mn-ea"/>
              </a:rPr>
              <a:t>非负性</a:t>
            </a:r>
            <a:endParaRPr lang="zh-CN" altLang="en-US" sz="2800" dirty="0">
              <a:sym typeface="+mn-ea"/>
            </a:endParaRPr>
          </a:p>
          <a:p>
            <a:endParaRPr lang="zh-CN" altLang="en-US" sz="2800" dirty="0">
              <a:sym typeface="+mn-ea"/>
            </a:endParaRPr>
          </a:p>
          <a:p>
            <a:r>
              <a:rPr lang="zh-CN" altLang="en-US" sz="2800" dirty="0">
                <a:sym typeface="+mn-ea"/>
              </a:rPr>
              <a:t> </a:t>
            </a:r>
            <a:r>
              <a:rPr lang="en-US" altLang="zh-CN" sz="2800" dirty="0">
                <a:sym typeface="+mn-ea"/>
              </a:rPr>
              <a:t> </a:t>
            </a:r>
            <a:r>
              <a:rPr lang="zh-CN" altLang="en-US" sz="2800" dirty="0">
                <a:sym typeface="+mn-ea"/>
              </a:rPr>
              <a:t>说明：  </a:t>
            </a:r>
            <a:endParaRPr lang="zh-CN" altLang="en-US" sz="2800" dirty="0">
              <a:sym typeface="+mn-ea"/>
            </a:endParaRPr>
          </a:p>
          <a:p>
            <a:r>
              <a:rPr lang="en-US" altLang="zh-CN" sz="2800" dirty="0">
                <a:sym typeface="+mn-ea"/>
              </a:rPr>
              <a:t>  </a:t>
            </a:r>
            <a:r>
              <a:rPr lang="zh-CN" altLang="en-US" sz="2800" dirty="0">
                <a:sym typeface="+mn-ea"/>
              </a:rPr>
              <a:t>通信的意义——通过消息的传递获得信息 </a:t>
            </a:r>
            <a:endParaRPr lang="zh-CN" altLang="en-US" sz="2800" dirty="0">
              <a:sym typeface="+mn-ea"/>
            </a:endParaRPr>
          </a:p>
        </p:txBody>
      </p: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8790" y="3694748"/>
          <a:ext cx="4271010" cy="1224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1" imgW="2044700" imgH="584200" progId="Equation.DSMT4">
                  <p:embed/>
                </p:oleObj>
              </mc:Choice>
              <mc:Fallback>
                <p:oleObj name="" r:id="rId1" imgW="2044700" imgH="584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8790" y="3694748"/>
                        <a:ext cx="4271010" cy="1224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4514850" y="3350895"/>
          <a:ext cx="114300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3" imgW="114300" imgH="177165" progId="Equation.DSMT4">
                  <p:embed/>
                </p:oleObj>
              </mc:Choice>
              <mc:Fallback>
                <p:oleObj name="" r:id="rId3" imgW="114300" imgH="177165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4850" y="3350895"/>
                        <a:ext cx="114300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94606" y="3834448"/>
          <a:ext cx="3370580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5" imgW="1612900" imgH="660400" progId="Equation.DSMT4">
                  <p:embed/>
                </p:oleObj>
              </mc:Choice>
              <mc:Fallback>
                <p:oleObj name="" r:id="rId5" imgW="1612900" imgH="660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94606" y="3834448"/>
                        <a:ext cx="3370580" cy="1384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左大括号 17"/>
          <p:cNvSpPr/>
          <p:nvPr/>
        </p:nvSpPr>
        <p:spPr>
          <a:xfrm>
            <a:off x="4827905" y="4093210"/>
            <a:ext cx="75565" cy="990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54575" y="5420360"/>
            <a:ext cx="1743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统计独立</a:t>
            </a:r>
            <a:endParaRPr lang="zh-CN" altLang="en-US" sz="2800" b="1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" y="1732280"/>
            <a:ext cx="7798435" cy="206629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255" y="1437640"/>
            <a:ext cx="83623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sym typeface="+mn-ea"/>
              </a:rPr>
              <a:t>2</a:t>
            </a:r>
            <a:r>
              <a:rPr lang="zh-CN" altLang="en-US" sz="2800" dirty="0">
                <a:sym typeface="+mn-ea"/>
              </a:rPr>
              <a:t>、</a:t>
            </a:r>
            <a:r>
              <a:rPr lang="zh-CN" altLang="en-US" sz="2800" dirty="0">
                <a:sym typeface="+mn-ea"/>
              </a:rPr>
              <a:t>极值性</a:t>
            </a:r>
            <a:endParaRPr lang="zh-CN" altLang="en-US" sz="2800" dirty="0">
              <a:sym typeface="+mn-ea"/>
            </a:endParaRPr>
          </a:p>
          <a:p>
            <a:endParaRPr lang="zh-CN" altLang="en-US" sz="2800" dirty="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277110" y="1494155"/>
          <a:ext cx="2626360" cy="426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1" imgW="1257300" imgH="203200" progId="Equation.DSMT4">
                  <p:embed/>
                </p:oleObj>
              </mc:Choice>
              <mc:Fallback>
                <p:oleObj name="" r:id="rId1" imgW="1257300" imgH="203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7110" y="1494155"/>
                        <a:ext cx="2626360" cy="4260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4514850" y="3350895"/>
          <a:ext cx="114300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3" imgW="114300" imgH="177165" progId="Equation.DSMT4">
                  <p:embed/>
                </p:oleObj>
              </mc:Choice>
              <mc:Fallback>
                <p:oleObj name="" r:id="rId3" imgW="114300" imgH="177165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4850" y="3350895"/>
                        <a:ext cx="114300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255" y="1437640"/>
            <a:ext cx="836231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sym typeface="+mn-ea"/>
              </a:rPr>
              <a:t>2</a:t>
            </a:r>
            <a:r>
              <a:rPr lang="zh-CN" altLang="en-US" sz="2800" dirty="0">
                <a:sym typeface="+mn-ea"/>
              </a:rPr>
              <a:t>、</a:t>
            </a:r>
            <a:r>
              <a:rPr lang="zh-CN" altLang="en-US" sz="2800" dirty="0">
                <a:sym typeface="+mn-ea"/>
              </a:rPr>
              <a:t>极值性</a:t>
            </a:r>
            <a:endParaRPr lang="zh-CN" altLang="en-US" sz="2800" dirty="0">
              <a:sym typeface="+mn-ea"/>
            </a:endParaRPr>
          </a:p>
          <a:p>
            <a:endParaRPr lang="zh-CN" altLang="en-US" sz="2800" dirty="0">
              <a:sym typeface="+mn-ea"/>
            </a:endParaRPr>
          </a:p>
          <a:p>
            <a:r>
              <a:rPr lang="zh-CN" altLang="en-US" sz="2800" dirty="0">
                <a:sym typeface="+mn-ea"/>
              </a:rPr>
              <a:t> </a:t>
            </a:r>
            <a:r>
              <a:rPr lang="en-US" altLang="zh-CN" sz="2800" dirty="0">
                <a:sym typeface="+mn-ea"/>
              </a:rPr>
              <a:t>       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信息处理的一般规律：通过传输获得的信息量不大于提供的信息量。</a:t>
            </a:r>
            <a:endParaRPr lang="zh-CN" altLang="en-US" sz="2800" dirty="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277110" y="1494155"/>
          <a:ext cx="2626360" cy="426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1" imgW="1257300" imgH="203200" progId="Equation.DSMT4">
                  <p:embed/>
                </p:oleObj>
              </mc:Choice>
              <mc:Fallback>
                <p:oleObj name="" r:id="rId1" imgW="1257300" imgH="203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7110" y="1494155"/>
                        <a:ext cx="2626360" cy="4260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4514850" y="3350895"/>
          <a:ext cx="114300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3" imgW="114300" imgH="177165" progId="Equation.DSMT4">
                  <p:embed/>
                </p:oleObj>
              </mc:Choice>
              <mc:Fallback>
                <p:oleObj name="" r:id="rId3" imgW="114300" imgH="177165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4850" y="3350895"/>
                        <a:ext cx="114300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3238" y="4293236"/>
          <a:ext cx="3291205" cy="452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5" imgW="1574800" imgH="215900" progId="Equation.DSMT4">
                  <p:embed/>
                </p:oleObj>
              </mc:Choice>
              <mc:Fallback>
                <p:oleObj name="" r:id="rId5" imgW="1574800" imgH="2159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3238" y="4293236"/>
                        <a:ext cx="3291205" cy="452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3556" y="3506471"/>
          <a:ext cx="2494280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7" imgW="1193800" imgH="254000" progId="Equation.DSMT4">
                  <p:embed/>
                </p:oleObj>
              </mc:Choice>
              <mc:Fallback>
                <p:oleObj name="" r:id="rId7" imgW="11938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3556" y="3506471"/>
                        <a:ext cx="2494280" cy="532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255" y="1437640"/>
            <a:ext cx="836231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sym typeface="+mn-ea"/>
              </a:rPr>
              <a:t>2</a:t>
            </a:r>
            <a:r>
              <a:rPr lang="zh-CN" altLang="en-US" sz="2800" dirty="0">
                <a:sym typeface="+mn-ea"/>
              </a:rPr>
              <a:t>、</a:t>
            </a:r>
            <a:r>
              <a:rPr lang="zh-CN" altLang="en-US" sz="2800" dirty="0">
                <a:sym typeface="+mn-ea"/>
              </a:rPr>
              <a:t>极值性</a:t>
            </a:r>
            <a:endParaRPr lang="zh-CN" altLang="en-US" sz="2800" dirty="0">
              <a:sym typeface="+mn-ea"/>
            </a:endParaRPr>
          </a:p>
          <a:p>
            <a:endParaRPr lang="zh-CN" altLang="en-US" sz="2800" dirty="0">
              <a:sym typeface="+mn-ea"/>
            </a:endParaRPr>
          </a:p>
          <a:p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       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信息处理的一般规律：通过传输获得的信息量不大于提供的信息量。</a:t>
            </a:r>
            <a:endParaRPr lang="zh-CN" altLang="en-US" sz="2800" dirty="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277110" y="1494155"/>
          <a:ext cx="2626360" cy="426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1" imgW="1257300" imgH="203200" progId="Equation.DSMT4">
                  <p:embed/>
                </p:oleObj>
              </mc:Choice>
              <mc:Fallback>
                <p:oleObj name="" r:id="rId1" imgW="1257300" imgH="203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7110" y="1494155"/>
                        <a:ext cx="2626360" cy="4260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4514850" y="3350895"/>
          <a:ext cx="114300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3" imgW="114300" imgH="177165" progId="Equation.DSMT4">
                  <p:embed/>
                </p:oleObj>
              </mc:Choice>
              <mc:Fallback>
                <p:oleObj name="" r:id="rId3" imgW="114300" imgH="177165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4850" y="3350895"/>
                        <a:ext cx="114300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3556" y="4370071"/>
          <a:ext cx="5652770" cy="452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5" imgW="2705100" imgH="215900" progId="Equation.DSMT4">
                  <p:embed/>
                </p:oleObj>
              </mc:Choice>
              <mc:Fallback>
                <p:oleObj name="" r:id="rId5" imgW="2705100" imgH="2159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3556" y="4370071"/>
                        <a:ext cx="5652770" cy="452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3556" y="3506471"/>
          <a:ext cx="2494280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7" imgW="1193800" imgH="254000" progId="Equation.DSMT4">
                  <p:embed/>
                </p:oleObj>
              </mc:Choice>
              <mc:Fallback>
                <p:oleObj name="" r:id="rId7" imgW="11938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3556" y="3506471"/>
                        <a:ext cx="2494280" cy="532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255" y="1437640"/>
            <a:ext cx="836231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sym typeface="+mn-ea"/>
              </a:rPr>
              <a:t>3</a:t>
            </a:r>
            <a:r>
              <a:rPr lang="zh-CN" altLang="en-US" sz="2800" dirty="0">
                <a:sym typeface="+mn-ea"/>
              </a:rPr>
              <a:t>、交互性（</a:t>
            </a:r>
            <a:r>
              <a:rPr lang="zh-CN" altLang="en-US" sz="2800" dirty="0">
                <a:sym typeface="+mn-ea"/>
              </a:rPr>
              <a:t>对称性）</a:t>
            </a:r>
            <a:endParaRPr lang="zh-CN" altLang="en-US" sz="2800" dirty="0">
              <a:sym typeface="+mn-ea"/>
            </a:endParaRPr>
          </a:p>
          <a:p>
            <a:endParaRPr lang="zh-CN" altLang="en-US" sz="2800" dirty="0">
              <a:sym typeface="+mn-ea"/>
            </a:endParaRPr>
          </a:p>
          <a:p>
            <a:endParaRPr lang="zh-CN" altLang="en-US" sz="2800" dirty="0">
              <a:sym typeface="+mn-ea"/>
            </a:endParaRPr>
          </a:p>
          <a:p>
            <a:r>
              <a:rPr lang="zh-CN" altLang="en-US" sz="2800" dirty="0">
                <a:sym typeface="+mn-ea"/>
              </a:rPr>
              <a:t>证明：</a:t>
            </a:r>
            <a:endParaRPr lang="zh-CN" altLang="en-US" sz="2800" dirty="0">
              <a:sym typeface="+mn-ea"/>
            </a:endParaRPr>
          </a:p>
        </p:txBody>
      </p: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05063" y="2007870"/>
          <a:ext cx="2839085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1" imgW="1358900" imgH="254000" progId="Equation.DSMT4">
                  <p:embed/>
                </p:oleObj>
              </mc:Choice>
              <mc:Fallback>
                <p:oleObj name="" r:id="rId1" imgW="13589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05063" y="2007870"/>
                        <a:ext cx="2839085" cy="532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4514850" y="3350895"/>
          <a:ext cx="114300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3" imgW="114300" imgH="177165" progId="Equation.DSMT4">
                  <p:embed/>
                </p:oleObj>
              </mc:Choice>
              <mc:Fallback>
                <p:oleObj name="" r:id="rId3" imgW="114300" imgH="177165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4850" y="3350895"/>
                        <a:ext cx="114300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59791" y="4131628"/>
          <a:ext cx="716788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5" imgW="3429000" imgH="457200" progId="Equation.DSMT4">
                  <p:embed/>
                </p:oleObj>
              </mc:Choice>
              <mc:Fallback>
                <p:oleObj name="" r:id="rId5" imgW="3429000" imgH="457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9791" y="4131628"/>
                        <a:ext cx="7167880" cy="958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423671" y="3252471"/>
          <a:ext cx="4803140" cy="906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7" imgW="2298700" imgH="431800" progId="Equation.DSMT4">
                  <p:embed/>
                </p:oleObj>
              </mc:Choice>
              <mc:Fallback>
                <p:oleObj name="" r:id="rId7" imgW="2298700" imgH="431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23671" y="3252471"/>
                        <a:ext cx="4803140" cy="906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59790" y="5250180"/>
          <a:ext cx="3990340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9" imgW="2234565" imgH="254000" progId="Equation.DSMT4">
                  <p:embed/>
                </p:oleObj>
              </mc:Choice>
              <mc:Fallback>
                <p:oleObj name="" r:id="rId9" imgW="2234565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59790" y="5250180"/>
                        <a:ext cx="3990340" cy="532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272665" y="6048375"/>
            <a:ext cx="1530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ym typeface="+mn-ea"/>
              </a:rPr>
              <a:t>噪声熵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95805" y="2713990"/>
            <a:ext cx="5099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信道是信息传输的通道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255" y="1437640"/>
            <a:ext cx="8362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特殊信道总结</a:t>
            </a:r>
            <a:endParaRPr lang="zh-CN" altLang="en-US" sz="2800" dirty="0"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2405" y="2212975"/>
            <a:ext cx="6569710" cy="32994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275" y="3136900"/>
            <a:ext cx="2045970" cy="3803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3973195"/>
            <a:ext cx="1887220" cy="4121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4435" y="4883785"/>
            <a:ext cx="1841500" cy="3581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905" y="2892425"/>
            <a:ext cx="2028825" cy="7816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905" y="3789045"/>
            <a:ext cx="1998980" cy="7613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4540" y="4606925"/>
            <a:ext cx="1997710" cy="79311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255" y="1437640"/>
            <a:ext cx="8362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sym typeface="+mn-ea"/>
              </a:rPr>
              <a:t>4</a:t>
            </a:r>
            <a:r>
              <a:rPr lang="zh-CN" altLang="en-US" sz="2800" dirty="0">
                <a:sym typeface="+mn-ea"/>
              </a:rPr>
              <a:t>、凸状</a:t>
            </a:r>
            <a:r>
              <a:rPr lang="zh-CN" altLang="en-US" sz="2800" dirty="0">
                <a:sym typeface="+mn-ea"/>
              </a:rPr>
              <a:t>性</a:t>
            </a:r>
            <a:endParaRPr lang="zh-CN" altLang="en-US" sz="2800" dirty="0">
              <a:sym typeface="+mn-ea"/>
            </a:endParaRPr>
          </a:p>
        </p:txBody>
      </p: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43050" y="2204720"/>
          <a:ext cx="5741670" cy="3027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1" imgW="2298700" imgH="1206500" progId="Equation.DSMT4">
                  <p:embed/>
                </p:oleObj>
              </mc:Choice>
              <mc:Fallback>
                <p:oleObj name="" r:id="rId1" imgW="2298700" imgH="12065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43050" y="2204720"/>
                        <a:ext cx="5741670" cy="3027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4788535" y="3959225"/>
          <a:ext cx="13589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3" imgW="114300" imgH="177165" progId="Equation.DSMT4">
                  <p:embed/>
                </p:oleObj>
              </mc:Choice>
              <mc:Fallback>
                <p:oleObj name="" r:id="rId3" imgW="114300" imgH="177165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8535" y="3959225"/>
                        <a:ext cx="13589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670050" y="5467985"/>
          <a:ext cx="5268595" cy="701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5" imgW="2108200" imgH="279400" progId="Equation.DSMT4">
                  <p:embed/>
                </p:oleObj>
              </mc:Choice>
              <mc:Fallback>
                <p:oleObj name="" r:id="rId5" imgW="21082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0050" y="5467985"/>
                        <a:ext cx="5268595" cy="701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左大括号 6"/>
          <p:cNvSpPr/>
          <p:nvPr/>
        </p:nvSpPr>
        <p:spPr>
          <a:xfrm>
            <a:off x="1392555" y="2629535"/>
            <a:ext cx="201295" cy="258572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116705" y="6187440"/>
            <a:ext cx="9105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信源</a:t>
            </a:r>
            <a:endParaRPr lang="zh-CN" altLang="en-US" sz="2400"/>
          </a:p>
        </p:txBody>
      </p:sp>
      <p:sp>
        <p:nvSpPr>
          <p:cNvPr id="10" name="文本框 9"/>
          <p:cNvSpPr txBox="1"/>
          <p:nvPr/>
        </p:nvSpPr>
        <p:spPr>
          <a:xfrm>
            <a:off x="5662930" y="6187440"/>
            <a:ext cx="9105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信道</a:t>
            </a:r>
            <a:endParaRPr lang="zh-CN" altLang="en-US"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255" y="1437640"/>
            <a:ext cx="836231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sym typeface="+mn-ea"/>
              </a:rPr>
              <a:t>4</a:t>
            </a:r>
            <a:r>
              <a:rPr lang="zh-CN" altLang="en-US" sz="2800" dirty="0">
                <a:sym typeface="+mn-ea"/>
              </a:rPr>
              <a:t>、凸状性</a:t>
            </a:r>
            <a:endParaRPr lang="zh-CN" altLang="en-US" sz="2800" dirty="0">
              <a:sym typeface="+mn-ea"/>
            </a:endParaRPr>
          </a:p>
          <a:p>
            <a:endParaRPr lang="zh-CN" altLang="en-US" sz="2800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定理3.1:</a:t>
            </a:r>
            <a:r>
              <a:rPr 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对于固定信道，平均互信息</a:t>
            </a:r>
            <a:r>
              <a:rPr lang="en-US"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(X;</a:t>
            </a:r>
            <a:r>
              <a:rPr lang="en-US"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Y</a:t>
            </a:r>
            <a:r>
              <a:rPr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是信源概率分布</a:t>
            </a:r>
            <a:r>
              <a:rPr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P(</a:t>
            </a:r>
            <a:r>
              <a:rPr lang="en-US"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x</a:t>
            </a:r>
            <a:r>
              <a:rPr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的∩型凸函数。</a:t>
            </a:r>
            <a:endParaRPr sz="28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sz="28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sz="28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定理3.2:对于固定信源分布，平均互信息</a:t>
            </a:r>
            <a:r>
              <a:rPr lang="en-US"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(X;Y)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是信道传递概率</a:t>
            </a:r>
            <a:r>
              <a:rPr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P(</a:t>
            </a:r>
            <a:r>
              <a:rPr lang="en-US"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y|x</a:t>
            </a:r>
            <a:r>
              <a:rPr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的U型凸函数。</a:t>
            </a:r>
            <a:endParaRPr sz="28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4514850" y="3350895"/>
          <a:ext cx="114300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1" imgW="114300" imgH="177165" progId="Equation.DSMT4">
                  <p:embed/>
                </p:oleObj>
              </mc:Choice>
              <mc:Fallback>
                <p:oleObj name="" r:id="rId1" imgW="114300" imgH="177165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3350895"/>
                        <a:ext cx="114300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050" y="3185160"/>
            <a:ext cx="2865755" cy="1117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050" y="5402580"/>
            <a:ext cx="3650615" cy="123253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255" y="1336040"/>
            <a:ext cx="836231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sz="2800" dirty="0">
                <a:sym typeface="+mn-ea"/>
              </a:rPr>
              <a:t>例1.</a:t>
            </a:r>
            <a:r>
              <a:rPr lang="en-US" sz="2800" dirty="0">
                <a:sym typeface="+mn-ea"/>
              </a:rPr>
              <a:t> </a:t>
            </a:r>
            <a:r>
              <a:rPr sz="2800" dirty="0">
                <a:sym typeface="+mn-ea"/>
              </a:rPr>
              <a:t>分析二元信源通过BSC信道的</a:t>
            </a:r>
            <a:r>
              <a:rPr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I(X;</a:t>
            </a:r>
            <a:r>
              <a:rPr lang="en-US"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Y</a:t>
            </a:r>
            <a:r>
              <a:rPr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r>
              <a:rPr sz="2800" dirty="0">
                <a:sym typeface="+mn-ea"/>
              </a:rPr>
              <a:t>特性</a:t>
            </a:r>
            <a:endParaRPr sz="2800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800" dirty="0">
                <a:sym typeface="+mn-ea"/>
              </a:rPr>
              <a:t>信源：</a:t>
            </a:r>
            <a:r>
              <a:rPr lang="en-US" altLang="zh-CN" sz="2800" dirty="0">
                <a:sym typeface="+mn-ea"/>
              </a:rPr>
              <a:t>                                      </a:t>
            </a:r>
            <a:r>
              <a:rPr lang="zh-CN" altLang="en-US" sz="2800" dirty="0">
                <a:sym typeface="+mn-ea"/>
              </a:rPr>
              <a:t>信道：</a:t>
            </a:r>
            <a:endParaRPr lang="zh-CN" altLang="en-US" sz="2800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 dirty="0">
                <a:sym typeface="+mn-ea"/>
              </a:rPr>
              <a:t>则</a:t>
            </a:r>
            <a:endParaRPr sz="2800" dirty="0">
              <a:sym typeface="+mn-ea"/>
            </a:endParaRPr>
          </a:p>
          <a:p>
            <a:endParaRPr sz="2800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sz="2800" dirty="0">
              <a:sym typeface="+mn-ea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4514850" y="3350895"/>
          <a:ext cx="114300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1" imgW="114300" imgH="177165" progId="Equation.DSMT4">
                  <p:embed/>
                </p:oleObj>
              </mc:Choice>
              <mc:Fallback>
                <p:oleObj name="" r:id="rId1" imgW="114300" imgH="177165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3350895"/>
                        <a:ext cx="114300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362711" y="2148841"/>
          <a:ext cx="2814320" cy="959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3" imgW="1346200" imgH="457200" progId="Equation.DSMT4">
                  <p:embed/>
                </p:oleObj>
              </mc:Choice>
              <mc:Fallback>
                <p:oleObj name="" r:id="rId3" imgW="1346200" imgH="457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62711" y="2148841"/>
                        <a:ext cx="2814320" cy="959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8145" y="2070100"/>
            <a:ext cx="1994535" cy="1358900"/>
          </a:xfrm>
          <a:prstGeom prst="rect">
            <a:avLst/>
          </a:prstGeom>
        </p:spPr>
      </p:pic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38250" y="3617595"/>
          <a:ext cx="5446395" cy="280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6" imgW="2324100" imgH="1193800" progId="Equation.DSMT4">
                  <p:embed/>
                </p:oleObj>
              </mc:Choice>
              <mc:Fallback>
                <p:oleObj name="" r:id="rId6" imgW="2324100" imgH="1193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38250" y="3617595"/>
                        <a:ext cx="5446395" cy="2809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255" y="1336040"/>
            <a:ext cx="836231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sz="2800" dirty="0">
                <a:sym typeface="+mn-ea"/>
              </a:rPr>
              <a:t>例1.分析二元信源通过BSC信道的</a:t>
            </a:r>
            <a:r>
              <a:rPr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I(X;</a:t>
            </a:r>
            <a:r>
              <a:rPr lang="en-US"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Y</a:t>
            </a:r>
            <a:r>
              <a:rPr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r>
              <a:rPr sz="2800" dirty="0">
                <a:sym typeface="+mn-ea"/>
              </a:rPr>
              <a:t>特性</a:t>
            </a:r>
            <a:endParaRPr sz="2800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800" dirty="0">
                <a:sym typeface="+mn-ea"/>
              </a:rPr>
              <a:t>信源：</a:t>
            </a:r>
            <a:r>
              <a:rPr lang="en-US" altLang="zh-CN" sz="2800" dirty="0">
                <a:sym typeface="+mn-ea"/>
              </a:rPr>
              <a:t>                                         </a:t>
            </a:r>
            <a:r>
              <a:rPr lang="zh-CN" altLang="en-US" sz="2800" dirty="0">
                <a:sym typeface="+mn-ea"/>
              </a:rPr>
              <a:t>信道：</a:t>
            </a:r>
            <a:endParaRPr lang="zh-CN" altLang="en-US" sz="2800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 dirty="0">
                <a:sym typeface="+mn-ea"/>
              </a:rPr>
              <a:t>则</a:t>
            </a:r>
            <a:endParaRPr sz="2800" dirty="0">
              <a:sym typeface="+mn-ea"/>
            </a:endParaRPr>
          </a:p>
          <a:p>
            <a:endParaRPr sz="2800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sz="2800" dirty="0">
              <a:sym typeface="+mn-ea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4514850" y="3350895"/>
          <a:ext cx="114300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1" imgW="114300" imgH="177165" progId="Equation.DSMT4">
                  <p:embed/>
                </p:oleObj>
              </mc:Choice>
              <mc:Fallback>
                <p:oleObj name="" r:id="rId1" imgW="114300" imgH="177165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3350895"/>
                        <a:ext cx="114300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358900" y="2148523"/>
          <a:ext cx="3197860" cy="1090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3" imgW="1346200" imgH="457200" progId="Equation.DSMT4">
                  <p:embed/>
                </p:oleObj>
              </mc:Choice>
              <mc:Fallback>
                <p:oleObj name="" r:id="rId3" imgW="1346200" imgH="457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58900" y="2148523"/>
                        <a:ext cx="3197860" cy="1090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6270" y="2070100"/>
            <a:ext cx="1994535" cy="1358900"/>
          </a:xfrm>
          <a:prstGeom prst="rect">
            <a:avLst/>
          </a:prstGeom>
        </p:spPr>
      </p:pic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397635" y="4283710"/>
          <a:ext cx="5564505" cy="1503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6" imgW="2171700" imgH="584200" progId="Equation.DSMT4">
                  <p:embed/>
                </p:oleObj>
              </mc:Choice>
              <mc:Fallback>
                <p:oleObj name="" r:id="rId6" imgW="2171700" imgH="584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97635" y="4283710"/>
                        <a:ext cx="5564505" cy="1503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255" y="1336040"/>
            <a:ext cx="836231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2800" dirty="0">
                <a:sym typeface="+mn-ea"/>
              </a:rPr>
              <a:t>其中，</a:t>
            </a:r>
            <a:endParaRPr sz="2800" dirty="0">
              <a:sym typeface="+mn-ea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4514850" y="3350895"/>
          <a:ext cx="114300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1" imgW="114300" imgH="177165" progId="Equation.DSMT4">
                  <p:embed/>
                </p:oleObj>
              </mc:Choice>
              <mc:Fallback>
                <p:oleObj name="" r:id="rId1" imgW="114300" imgH="177165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3350895"/>
                        <a:ext cx="114300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5570" y="2073910"/>
          <a:ext cx="8911590" cy="3833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3" imgW="3784600" imgH="1574800" progId="Equation.DSMT4">
                  <p:embed/>
                </p:oleObj>
              </mc:Choice>
              <mc:Fallback>
                <p:oleObj name="" r:id="rId3" imgW="3784600" imgH="1574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5570" y="2073910"/>
                        <a:ext cx="8911590" cy="3833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4514850" y="3350895"/>
          <a:ext cx="114300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1" imgW="114300" imgH="177165" progId="Equation.DSMT4">
                  <p:embed/>
                </p:oleObj>
              </mc:Choice>
              <mc:Fallback>
                <p:oleObj name="" r:id="rId1" imgW="114300" imgH="177165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3350895"/>
                        <a:ext cx="114300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18515" y="1730375"/>
          <a:ext cx="7681595" cy="4154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3" imgW="2806700" imgH="1511300" progId="Equation.DSMT4">
                  <p:embed/>
                </p:oleObj>
              </mc:Choice>
              <mc:Fallback>
                <p:oleObj name="" r:id="rId3" imgW="2806700" imgH="15113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8515" y="1730375"/>
                        <a:ext cx="7681595" cy="4154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4514850" y="3350895"/>
          <a:ext cx="114300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1" imgW="114300" imgH="177165" progId="Equation.DSMT4">
                  <p:embed/>
                </p:oleObj>
              </mc:Choice>
              <mc:Fallback>
                <p:oleObj name="" r:id="rId1" imgW="114300" imgH="177165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3350895"/>
                        <a:ext cx="114300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651318" y="1558608"/>
          <a:ext cx="5840730" cy="2166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3" imgW="2133600" imgH="787400" progId="Equation.DSMT4">
                  <p:embed/>
                </p:oleObj>
              </mc:Choice>
              <mc:Fallback>
                <p:oleObj name="" r:id="rId3" imgW="2133600" imgH="787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51318" y="1558608"/>
                        <a:ext cx="5840730" cy="2166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4514850" y="3350895"/>
          <a:ext cx="114300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1" imgW="114300" imgH="177165" progId="Equation.DSMT4">
                  <p:embed/>
                </p:oleObj>
              </mc:Choice>
              <mc:Fallback>
                <p:oleObj name="" r:id="rId1" imgW="114300" imgH="177165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3350895"/>
                        <a:ext cx="114300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21385" y="1488758"/>
          <a:ext cx="7300595" cy="230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3" imgW="2667000" imgH="838200" progId="Equation.DSMT4">
                  <p:embed/>
                </p:oleObj>
              </mc:Choice>
              <mc:Fallback>
                <p:oleObj name="" r:id="rId3" imgW="2667000" imgH="838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1385" y="1488758"/>
                        <a:ext cx="7300595" cy="2306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10" y="3950970"/>
            <a:ext cx="8068945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4514850" y="2965450"/>
          <a:ext cx="114300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1" imgW="114300" imgH="177165" progId="Equation.DSMT4">
                  <p:embed/>
                </p:oleObj>
              </mc:Choice>
              <mc:Fallback>
                <p:oleObj name="" r:id="rId1" imgW="114300" imgH="177165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2965450"/>
                        <a:ext cx="114300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59940" y="1437323"/>
          <a:ext cx="5387340" cy="2014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3" imgW="2133600" imgH="774065" progId="Equation.DSMT4">
                  <p:embed/>
                </p:oleObj>
              </mc:Choice>
              <mc:Fallback>
                <p:oleObj name="" r:id="rId3" imgW="2133600" imgH="774065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9940" y="1437323"/>
                        <a:ext cx="5387340" cy="2014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 rot="0">
            <a:off x="710565" y="1880235"/>
            <a:ext cx="7861935" cy="2461260"/>
            <a:chOff x="413" y="3260"/>
            <a:chExt cx="13169" cy="4023"/>
          </a:xfrm>
        </p:grpSpPr>
        <p:sp>
          <p:nvSpPr>
            <p:cNvPr id="5" name="文本框 4"/>
            <p:cNvSpPr txBox="1"/>
            <p:nvPr/>
          </p:nvSpPr>
          <p:spPr>
            <a:xfrm>
              <a:off x="413" y="3260"/>
              <a:ext cx="13169" cy="4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fontAlgn="auto">
                <a:lnSpc>
                  <a:spcPct val="150000"/>
                </a:lnSpc>
              </a:pPr>
              <a:r>
                <a:rPr lang="en-US" sz="2800" dirty="0">
                  <a:sym typeface="+mn-ea"/>
                </a:rPr>
                <a:t>2. </a:t>
              </a:r>
              <a:r>
                <a:rPr lang="zh-CN" altLang="en-US" sz="2800" dirty="0">
                  <a:sym typeface="+mn-ea"/>
                </a:rPr>
                <a:t>固定信源（</a:t>
              </a:r>
              <a:r>
                <a:rPr lang="en-US" altLang="zh-CN" sz="2800" dirty="0">
                  <a:sym typeface="+mn-ea"/>
                </a:rPr>
                <a:t>       </a:t>
              </a:r>
              <a:r>
                <a:rPr lang="zh-CN" altLang="en-US" sz="2800" dirty="0">
                  <a:sym typeface="+mn-ea"/>
                </a:rPr>
                <a:t>一定）</a:t>
              </a:r>
              <a:endParaRPr lang="zh-CN" altLang="en-US" sz="2800" dirty="0">
                <a:sym typeface="+mn-ea"/>
              </a:endParaRPr>
            </a:p>
            <a:p>
              <a:pPr indent="0" fontAlgn="auto">
                <a:lnSpc>
                  <a:spcPct val="150000"/>
                </a:lnSpc>
              </a:pPr>
              <a:r>
                <a:rPr lang="zh-CN" altLang="en-US" sz="2800" dirty="0">
                  <a:sym typeface="+mn-ea"/>
                </a:rPr>
                <a:t>则</a:t>
              </a:r>
              <a:endParaRPr sz="2800" dirty="0">
                <a:sym typeface="+mn-ea"/>
              </a:endParaRPr>
            </a:p>
            <a:p>
              <a:endParaRPr sz="2800" dirty="0">
                <a:sym typeface="+mn-ea"/>
              </a:endParaRPr>
            </a:p>
            <a:p>
              <a:pPr indent="0" fontAlgn="auto">
                <a:lnSpc>
                  <a:spcPct val="150000"/>
                </a:lnSpc>
              </a:pPr>
              <a:endParaRPr sz="2800" dirty="0">
                <a:sym typeface="+mn-ea"/>
              </a:endParaRPr>
            </a:p>
          </p:txBody>
        </p:sp>
        <p:graphicFrame>
          <p:nvGraphicFramePr>
            <p:cNvPr id="6" name="对象 5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4017" y="3670"/>
            <a:ext cx="657" cy="6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5" imgW="152400" imgH="139700" progId="Equation.DSMT4">
                    <p:embed/>
                  </p:oleObj>
                </mc:Choice>
                <mc:Fallback>
                  <p:oleObj name="" r:id="rId5" imgW="152400" imgH="139700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017" y="3670"/>
                          <a:ext cx="657" cy="6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4514850" y="3350895"/>
          <a:ext cx="114300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1" imgW="114300" imgH="177165" progId="Equation.DSMT4">
                  <p:embed/>
                </p:oleObj>
              </mc:Choice>
              <mc:Fallback>
                <p:oleObj name="" r:id="rId1" imgW="114300" imgH="177165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3350895"/>
                        <a:ext cx="114300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-635" y="1491615"/>
            <a:ext cx="8954770" cy="2804160"/>
            <a:chOff x="413" y="2700"/>
            <a:chExt cx="14999" cy="4583"/>
          </a:xfrm>
        </p:grpSpPr>
        <p:graphicFrame>
          <p:nvGraphicFramePr>
            <p:cNvPr id="9" name="对象 8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340" y="2700"/>
            <a:ext cx="14072" cy="4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3" imgW="3327400" imgH="1028700" progId="Equation.DSMT4">
                    <p:embed/>
                  </p:oleObj>
                </mc:Choice>
                <mc:Fallback>
                  <p:oleObj name="" r:id="rId3" imgW="3327400" imgH="1028700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40" y="2700"/>
                          <a:ext cx="14072" cy="43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" name="组合 10"/>
            <p:cNvGrpSpPr/>
            <p:nvPr/>
          </p:nvGrpSpPr>
          <p:grpSpPr>
            <a:xfrm>
              <a:off x="413" y="3260"/>
              <a:ext cx="13169" cy="4023"/>
              <a:chOff x="413" y="3260"/>
              <a:chExt cx="13169" cy="4023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413" y="3260"/>
                <a:ext cx="13169" cy="40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 fontAlgn="auto">
                  <a:lnSpc>
                    <a:spcPct val="150000"/>
                  </a:lnSpc>
                </a:pPr>
                <a:r>
                  <a:rPr lang="en-US" sz="2800" dirty="0">
                    <a:sym typeface="+mn-ea"/>
                  </a:rPr>
                  <a:t>2. </a:t>
                </a:r>
                <a:r>
                  <a:rPr lang="zh-CN" altLang="en-US" sz="2800" dirty="0">
                    <a:sym typeface="+mn-ea"/>
                  </a:rPr>
                  <a:t>固定信源（</a:t>
                </a:r>
                <a:r>
                  <a:rPr lang="en-US" altLang="zh-CN" sz="2800" dirty="0">
                    <a:sym typeface="+mn-ea"/>
                  </a:rPr>
                  <a:t>       </a:t>
                </a:r>
                <a:r>
                  <a:rPr lang="zh-CN" altLang="en-US" sz="2800" dirty="0">
                    <a:sym typeface="+mn-ea"/>
                  </a:rPr>
                  <a:t>一定）</a:t>
                </a:r>
                <a:endParaRPr lang="zh-CN" altLang="en-US" sz="2800" dirty="0">
                  <a:sym typeface="+mn-ea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2800" dirty="0">
                    <a:sym typeface="+mn-ea"/>
                  </a:rPr>
                  <a:t>则</a:t>
                </a:r>
                <a:endParaRPr sz="2800" dirty="0">
                  <a:sym typeface="+mn-ea"/>
                </a:endParaRPr>
              </a:p>
              <a:p>
                <a:endParaRPr sz="2800" dirty="0">
                  <a:sym typeface="+mn-ea"/>
                </a:endParaRPr>
              </a:p>
              <a:p>
                <a:pPr indent="0" fontAlgn="auto">
                  <a:lnSpc>
                    <a:spcPct val="150000"/>
                  </a:lnSpc>
                </a:pPr>
                <a:endParaRPr sz="2800" dirty="0">
                  <a:sym typeface="+mn-ea"/>
                </a:endParaRPr>
              </a:p>
            </p:txBody>
          </p:sp>
          <p:graphicFrame>
            <p:nvGraphicFramePr>
              <p:cNvPr id="6" name="对象 5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4017" y="3670"/>
              <a:ext cx="657" cy="6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" name="" r:id="rId5" imgW="152400" imgH="139700" progId="Equation.DSMT4">
                      <p:embed/>
                    </p:oleObj>
                  </mc:Choice>
                  <mc:Fallback>
                    <p:oleObj name="" r:id="rId5" imgW="152400" imgH="139700" progId="Equation.DSMT4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4017" y="3670"/>
                            <a:ext cx="657" cy="60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775" y="4385310"/>
            <a:ext cx="8912225" cy="226631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三、平均互信息的</a:t>
            </a:r>
            <a:r>
              <a:rPr lang="zh-CN" altLang="en-US" sz="2800" dirty="0">
                <a:sym typeface="+mn-ea"/>
              </a:rPr>
              <a:t>性质</a:t>
            </a:r>
            <a:endParaRPr lang="zh-CN" altLang="en-US" sz="2800" dirty="0">
              <a:sym typeface="+mn-ea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4514850" y="3350895"/>
          <a:ext cx="114300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1" imgW="114300" imgH="177165" progId="Equation.DSMT4">
                  <p:embed/>
                </p:oleObj>
              </mc:Choice>
              <mc:Fallback>
                <p:oleObj name="" r:id="rId1" imgW="114300" imgH="177165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3350895"/>
                        <a:ext cx="114300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49580" y="1505585"/>
            <a:ext cx="786193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总结：二元信源通过</a:t>
            </a: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BSC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信道的</a:t>
            </a:r>
            <a:r>
              <a:rPr lang="en-US" altLang="zh-CN" sz="2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I(X;Y)</a:t>
            </a:r>
            <a:r>
              <a:rPr lang="zh-CN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特性</a:t>
            </a:r>
            <a:endParaRPr lang="zh-CN" altLang="en-US" sz="28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16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686560" y="2374265"/>
          <a:ext cx="5387340" cy="528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3" imgW="2133600" imgH="203200" progId="Equation.DSMT4">
                  <p:embed/>
                </p:oleObj>
              </mc:Choice>
              <mc:Fallback>
                <p:oleObj name="" r:id="rId3" imgW="2133600" imgH="203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6560" y="2374265"/>
                        <a:ext cx="5387340" cy="5289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560" y="3206750"/>
            <a:ext cx="5161915" cy="307530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635" y="19050"/>
            <a:ext cx="9144635" cy="742950"/>
          </a:xfrm>
        </p:spPr>
        <p:txBody>
          <a:bodyPr>
            <a:normAutofit/>
          </a:bodyPr>
          <a:p>
            <a:pPr algn="l"/>
            <a:r>
              <a:rPr lang="en-US" altLang="zh-CN" sz="3600" dirty="0">
                <a:sym typeface="+mn-ea"/>
              </a:rPr>
              <a:t>3.2  </a:t>
            </a:r>
            <a:r>
              <a:rPr lang="zh-CN" altLang="en-US" sz="3600" dirty="0">
                <a:sym typeface="+mn-ea"/>
              </a:rPr>
              <a:t>平均互信息</a:t>
            </a:r>
            <a:endParaRPr lang="zh-CN" altLang="en-US" sz="3600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65335" y="20701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2255" y="915670"/>
            <a:ext cx="7448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思考：</a:t>
            </a:r>
            <a:endParaRPr lang="zh-CN" altLang="en-US" sz="2800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050" y="1658620"/>
            <a:ext cx="7326630" cy="124333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9.3,&quot;left&quot;:36.7,&quot;top&quot;:261.3,&quot;width&quot;:616.6}"/>
</p:tagLst>
</file>

<file path=ppt/tags/tag2.xml><?xml version="1.0" encoding="utf-8"?>
<p:tagLst xmlns:p="http://schemas.openxmlformats.org/presentationml/2006/main">
  <p:tag name="KSO_WM_DIAGRAM_VIRTUALLY_FRAME" val="{&quot;height&quot;:179.3,&quot;left&quot;:36.7,&quot;top&quot;:261.3,&quot;width&quot;:616.6}"/>
</p:tagLst>
</file>

<file path=ppt/tags/tag3.xml><?xml version="1.0" encoding="utf-8"?>
<p:tagLst xmlns:p="http://schemas.openxmlformats.org/presentationml/2006/main">
  <p:tag name="KSO_WM_DIAGRAM_VIRTUALLY_FRAME" val="{&quot;height&quot;:179.3,&quot;left&quot;:36.7,&quot;top&quot;:261.3,&quot;width&quot;:616.6}"/>
</p:tagLst>
</file>

<file path=ppt/tags/tag4.xml><?xml version="1.0" encoding="utf-8"?>
<p:tagLst xmlns:p="http://schemas.openxmlformats.org/presentationml/2006/main">
  <p:tag name="commondata" val="eyJoZGlkIjoiZGI3MTk2NWMwMmQzMDkyYjE4OTQ1YjUxMGMxZDBhNzA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2333</Words>
  <Application>WPS 演示</Application>
  <PresentationFormat>全屏显示(4:3)</PresentationFormat>
  <Paragraphs>391</Paragraphs>
  <Slides>45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97</vt:i4>
      </vt:variant>
      <vt:variant>
        <vt:lpstr>幻灯片标题</vt:lpstr>
      </vt:variant>
      <vt:variant>
        <vt:i4>45</vt:i4>
      </vt:variant>
    </vt:vector>
  </HeadingPairs>
  <TitlesOfParts>
    <vt:vector size="152" baseType="lpstr">
      <vt:lpstr>Arial</vt:lpstr>
      <vt:lpstr>宋体</vt:lpstr>
      <vt:lpstr>Wingdings</vt:lpstr>
      <vt:lpstr>Wingdings</vt:lpstr>
      <vt:lpstr>Calibri</vt:lpstr>
      <vt:lpstr>Calibri Light</vt:lpstr>
      <vt:lpstr>微软雅黑</vt:lpstr>
      <vt:lpstr>Arial Unicode MS</vt:lpstr>
      <vt:lpstr>Times New Roman</vt:lpstr>
      <vt:lpstr>Office 主题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第三章.  信道与信道容量</vt:lpstr>
      <vt:lpstr>3.1  信道模型</vt:lpstr>
      <vt:lpstr>3.1  信道模型</vt:lpstr>
      <vt:lpstr>3.1  信道模型</vt:lpstr>
      <vt:lpstr>3.1  信道模型</vt:lpstr>
      <vt:lpstr>3.1  信道模型</vt:lpstr>
      <vt:lpstr>3.1  信道模型</vt:lpstr>
      <vt:lpstr>3.1  信道模型</vt:lpstr>
      <vt:lpstr>3.1  信道模型</vt:lpstr>
      <vt:lpstr>3.1  信道模型</vt:lpstr>
      <vt:lpstr>3.1  信道模型</vt:lpstr>
      <vt:lpstr>3.1  信道模型</vt:lpstr>
      <vt:lpstr>小结：</vt:lpstr>
      <vt:lpstr>第三章.  信道与信道容量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  <vt:lpstr>3.2  平均互信息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chy</dc:creator>
  <cp:lastModifiedBy>行者无疆</cp:lastModifiedBy>
  <cp:revision>234</cp:revision>
  <dcterms:created xsi:type="dcterms:W3CDTF">2017-02-14T16:01:00Z</dcterms:created>
  <dcterms:modified xsi:type="dcterms:W3CDTF">2025-10-22T12:22:17Z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F1AD5EE2ACA14BA2BB7177742DA55764_12</vt:lpwstr>
  </property>
  <property fmtid="{D5CDD505-2E9C-101B-9397-08002B2CF9AE}" pid="3" name="KSOProductBuildVer">
    <vt:lpwstr>2052-12.1.0.22529</vt:lpwstr>
  </property>
</Properties>
</file>