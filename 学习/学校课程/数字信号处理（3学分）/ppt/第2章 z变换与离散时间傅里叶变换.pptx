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sldIdLst>
    <p:sldId id="459" r:id="rId4"/>
    <p:sldId id="460" r:id="rId5"/>
    <p:sldId id="461" r:id="rId6"/>
    <p:sldId id="462" r:id="rId7"/>
    <p:sldId id="463" r:id="rId8"/>
    <p:sldId id="464" r:id="rId9"/>
    <p:sldId id="465" r:id="rId10"/>
    <p:sldId id="466" r:id="rId11"/>
    <p:sldId id="467" r:id="rId12"/>
    <p:sldId id="468" r:id="rId13"/>
    <p:sldId id="469" r:id="rId14"/>
    <p:sldId id="470" r:id="rId15"/>
    <p:sldId id="471" r:id="rId16"/>
    <p:sldId id="472" r:id="rId17"/>
    <p:sldId id="473" r:id="rId18"/>
    <p:sldId id="474" r:id="rId19"/>
    <p:sldId id="475" r:id="rId20"/>
    <p:sldId id="476" r:id="rId21"/>
    <p:sldId id="477" r:id="rId22"/>
    <p:sldId id="478" r:id="rId23"/>
    <p:sldId id="479" r:id="rId24"/>
    <p:sldId id="480" r:id="rId25"/>
    <p:sldId id="481" r:id="rId26"/>
    <p:sldId id="482" r:id="rId27"/>
    <p:sldId id="483" r:id="rId28"/>
    <p:sldId id="484" r:id="rId29"/>
    <p:sldId id="485" r:id="rId30"/>
    <p:sldId id="486" r:id="rId31"/>
    <p:sldId id="487" r:id="rId32"/>
    <p:sldId id="488" r:id="rId33"/>
    <p:sldId id="489" r:id="rId34"/>
    <p:sldId id="490" r:id="rId35"/>
    <p:sldId id="491" r:id="rId36"/>
    <p:sldId id="492" r:id="rId37"/>
    <p:sldId id="493" r:id="rId38"/>
    <p:sldId id="494" r:id="rId39"/>
    <p:sldId id="495" r:id="rId40"/>
    <p:sldId id="496" r:id="rId41"/>
    <p:sldId id="497" r:id="rId42"/>
    <p:sldId id="365" r:id="rId43"/>
    <p:sldId id="366" r:id="rId44"/>
    <p:sldId id="367" r:id="rId45"/>
    <p:sldId id="498" r:id="rId46"/>
    <p:sldId id="499" r:id="rId47"/>
    <p:sldId id="500" r:id="rId48"/>
    <p:sldId id="501" r:id="rId49"/>
    <p:sldId id="502" r:id="rId50"/>
    <p:sldId id="503" r:id="rId51"/>
    <p:sldId id="504" r:id="rId52"/>
    <p:sldId id="505" r:id="rId53"/>
    <p:sldId id="506" r:id="rId54"/>
    <p:sldId id="507" r:id="rId55"/>
    <p:sldId id="508" r:id="rId56"/>
    <p:sldId id="509" r:id="rId57"/>
    <p:sldId id="510" r:id="rId58"/>
    <p:sldId id="541" r:id="rId59"/>
    <p:sldId id="542" r:id="rId60"/>
    <p:sldId id="543" r:id="rId61"/>
    <p:sldId id="544" r:id="rId62"/>
    <p:sldId id="545" r:id="rId63"/>
    <p:sldId id="546" r:id="rId64"/>
    <p:sldId id="547" r:id="rId65"/>
    <p:sldId id="548" r:id="rId66"/>
    <p:sldId id="511" r:id="rId67"/>
    <p:sldId id="512" r:id="rId68"/>
    <p:sldId id="513" r:id="rId69"/>
    <p:sldId id="514" r:id="rId70"/>
    <p:sldId id="515" r:id="rId71"/>
    <p:sldId id="516" r:id="rId72"/>
    <p:sldId id="517" r:id="rId73"/>
    <p:sldId id="518" r:id="rId74"/>
    <p:sldId id="519" r:id="rId75"/>
    <p:sldId id="520" r:id="rId76"/>
    <p:sldId id="521" r:id="rId77"/>
    <p:sldId id="522" r:id="rId78"/>
    <p:sldId id="523" r:id="rId79"/>
    <p:sldId id="524" r:id="rId80"/>
    <p:sldId id="525" r:id="rId81"/>
    <p:sldId id="526" r:id="rId82"/>
    <p:sldId id="527" r:id="rId83"/>
    <p:sldId id="528" r:id="rId84"/>
    <p:sldId id="529" r:id="rId85"/>
    <p:sldId id="530" r:id="rId86"/>
    <p:sldId id="531" r:id="rId87"/>
    <p:sldId id="532" r:id="rId88"/>
    <p:sldId id="533" r:id="rId89"/>
    <p:sldId id="534" r:id="rId90"/>
    <p:sldId id="535" r:id="rId91"/>
    <p:sldId id="536" r:id="rId92"/>
    <p:sldId id="537" r:id="rId93"/>
    <p:sldId id="304" r:id="rId94"/>
    <p:sldId id="305" r:id="rId95"/>
    <p:sldId id="306" r:id="rId96"/>
    <p:sldId id="558" r:id="rId97"/>
    <p:sldId id="559" r:id="rId98"/>
    <p:sldId id="560" r:id="rId99"/>
    <p:sldId id="297" r:id="rId100"/>
    <p:sldId id="298" r:id="rId101"/>
    <p:sldId id="299" r:id="rId102"/>
    <p:sldId id="300" r:id="rId103"/>
    <p:sldId id="294" r:id="rId104"/>
    <p:sldId id="295" r:id="rId105"/>
    <p:sldId id="296" r:id="rId106"/>
    <p:sldId id="549" r:id="rId107"/>
    <p:sldId id="550" r:id="rId108"/>
    <p:sldId id="551" r:id="rId109"/>
    <p:sldId id="552" r:id="rId110"/>
    <p:sldId id="301" r:id="rId111"/>
    <p:sldId id="302" r:id="rId112"/>
    <p:sldId id="303" r:id="rId113"/>
    <p:sldId id="553" r:id="rId114"/>
    <p:sldId id="554" r:id="rId115"/>
    <p:sldId id="555" r:id="rId116"/>
    <p:sldId id="556" r:id="rId117"/>
    <p:sldId id="557" r:id="rId118"/>
    <p:sldId id="561" r:id="rId119"/>
    <p:sldId id="562" r:id="rId120"/>
    <p:sldId id="563" r:id="rId12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4" Type="http://schemas.openxmlformats.org/officeDocument/2006/relationships/tableStyles" Target="tableStyles.xml"/><Relationship Id="rId123" Type="http://schemas.openxmlformats.org/officeDocument/2006/relationships/viewProps" Target="viewProps.xml"/><Relationship Id="rId122" Type="http://schemas.openxmlformats.org/officeDocument/2006/relationships/presProps" Target="presProps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5.wmf"/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4.png"/><Relationship Id="rId1" Type="http://schemas.openxmlformats.org/officeDocument/2006/relationships/image" Target="../media/image23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.png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png"/></Relationships>
</file>

<file path=ppt/drawings/_rels/vmlDrawing17.vml.rels><?xml version="1.0" encoding="UTF-8" standalone="yes"?>
<Relationships xmlns="http://schemas.openxmlformats.org/package/2006/relationships"><Relationship Id="rId5" Type="http://schemas.openxmlformats.org/officeDocument/2006/relationships/image" Target="../media/image38.png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7" Type="http://schemas.openxmlformats.org/officeDocument/2006/relationships/image" Target="../media/image44.wmf"/><Relationship Id="rId6" Type="http://schemas.openxmlformats.org/officeDocument/2006/relationships/image" Target="../media/image21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8.wmf"/><Relationship Id="rId4" Type="http://schemas.openxmlformats.org/officeDocument/2006/relationships/image" Target="../media/image57.png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png"/><Relationship Id="rId3" Type="http://schemas.openxmlformats.org/officeDocument/2006/relationships/image" Target="../media/image58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69.wmf"/><Relationship Id="rId3" Type="http://schemas.openxmlformats.org/officeDocument/2006/relationships/image" Target="../media/image68.png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3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3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wmf"/></Relationships>
</file>

<file path=ppt/drawings/_rels/vmlDrawing4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4.wmf"/></Relationships>
</file>

<file path=ppt/drawings/_rels/vmlDrawing5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52.png"/><Relationship Id="rId1" Type="http://schemas.openxmlformats.org/officeDocument/2006/relationships/image" Target="../media/image151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58.w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wmf"/><Relationship Id="rId1" Type="http://schemas.openxmlformats.org/officeDocument/2006/relationships/image" Target="../media/image159.w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1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4.wmf"/><Relationship Id="rId1" Type="http://schemas.openxmlformats.org/officeDocument/2006/relationships/image" Target="../media/image165.wmf"/></Relationships>
</file>

<file path=ppt/drawings/_rels/vmlDrawing5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/Relationships>
</file>

<file path=ppt/drawings/_rels/vmlDrawing5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5.wmf"/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6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1.wmf"/><Relationship Id="rId3" Type="http://schemas.openxmlformats.org/officeDocument/2006/relationships/image" Target="../media/image180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drawings/_rels/vmlDrawing6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wmf"/><Relationship Id="rId1" Type="http://schemas.openxmlformats.org/officeDocument/2006/relationships/image" Target="../media/image183.png"/></Relationships>
</file>

<file path=ppt/drawings/_rels/vmlDrawing6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wmf"/><Relationship Id="rId1" Type="http://schemas.openxmlformats.org/officeDocument/2006/relationships/image" Target="../media/image186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wmf"/><Relationship Id="rId1" Type="http://schemas.openxmlformats.org/officeDocument/2006/relationships/image" Target="../media/image190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w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wmf"/></Relationships>
</file>

<file path=ppt/drawings/_rels/vmlDrawing6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98.wmf"/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9.w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3.wmf"/></Relationships>
</file>

<file path=ppt/drawings/_rels/vmlDrawing7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wmf"/><Relationship Id="rId1" Type="http://schemas.openxmlformats.org/officeDocument/2006/relationships/image" Target="../media/image214.wmf"/></Relationships>
</file>

<file path=ppt/drawings/_rels/vmlDrawing7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wmf"/><Relationship Id="rId1" Type="http://schemas.openxmlformats.org/officeDocument/2006/relationships/image" Target="../media/image22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Arial Black" panose="020B0A04020102020204" pitchFamily="34" charset="0"/>
              </a:rPr>
            </a:fld>
            <a:endParaRPr lang="en-US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Arial Black" panose="020B0A04020102020204" pitchFamily="34" charset="0"/>
              </a:rPr>
            </a:fld>
            <a:endParaRPr lang="en-US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Arial Black" panose="020B0A04020102020204" pitchFamily="34" charset="0"/>
              </a:rPr>
            </a:fld>
            <a:endParaRPr lang="en-US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Arial Black" panose="020B0A04020102020204" pitchFamily="34" charset="0"/>
              </a:rPr>
            </a:fld>
            <a:endParaRPr lang="en-US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Arial Black" panose="020B0A04020102020204" pitchFamily="34" charset="0"/>
              </a:rPr>
            </a:fld>
            <a:endParaRPr lang="en-US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noProof="1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en-US" dirty="0">
                <a:latin typeface="Arial Black" panose="020B0A04020102020204" pitchFamily="34" charset="0"/>
              </a:rPr>
            </a:fld>
            <a:endParaRPr lang="en-US" altLang="en-US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zh-CN" dirty="0">
                <a:latin typeface="Arial" panose="020B0604020202020204" pitchFamily="34" charset="0"/>
              </a:rPr>
            </a:fld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7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6.wmf"/><Relationship Id="rId1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5.wmf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13.png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6.w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0.png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19.wmf"/><Relationship Id="rId1" Type="http://schemas.openxmlformats.org/officeDocument/2006/relationships/oleObject" Target="../embeddings/oleObject15.bin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21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6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4.png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3.w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5.wmf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0.png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8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4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3.png"/><Relationship Id="rId1" Type="http://schemas.openxmlformats.org/officeDocument/2006/relationships/oleObject" Target="../embeddings/oleObject3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4.wmf"/><Relationship Id="rId12" Type="http://schemas.openxmlformats.org/officeDocument/2006/relationships/vmlDrawing" Target="../drawings/vmlDrawing1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8.png"/><Relationship Id="rId1" Type="http://schemas.openxmlformats.org/officeDocument/2006/relationships/oleObject" Target="../embeddings/oleObject3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39.wmf"/><Relationship Id="rId18" Type="http://schemas.openxmlformats.org/officeDocument/2006/relationships/vmlDrawing" Target="../drawings/vmlDrawing18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15" Type="http://schemas.openxmlformats.org/officeDocument/2006/relationships/oleObject" Target="../embeddings/oleObject50.bin"/><Relationship Id="rId14" Type="http://schemas.openxmlformats.org/officeDocument/2006/relationships/image" Target="../media/image44.wmf"/><Relationship Id="rId13" Type="http://schemas.openxmlformats.org/officeDocument/2006/relationships/oleObject" Target="../embeddings/oleObject49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4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46.w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51.bin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0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7.bin"/><Relationship Id="rId3" Type="http://schemas.openxmlformats.org/officeDocument/2006/relationships/image" Target="../media/image52.wmf"/><Relationship Id="rId2" Type="http://schemas.openxmlformats.org/officeDocument/2006/relationships/oleObject" Target="../embeddings/oleObject56.bin"/><Relationship Id="rId1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57.png"/><Relationship Id="rId7" Type="http://schemas.openxmlformats.org/officeDocument/2006/relationships/oleObject" Target="../embeddings/oleObject61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54.wmf"/><Relationship Id="rId12" Type="http://schemas.openxmlformats.org/officeDocument/2006/relationships/vmlDrawing" Target="../drawings/vmlDrawing21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58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oleObject" Target="../embeddings/oleObject66.bin"/><Relationship Id="rId7" Type="http://schemas.openxmlformats.org/officeDocument/2006/relationships/image" Target="../media/image58.wmf"/><Relationship Id="rId6" Type="http://schemas.openxmlformats.org/officeDocument/2006/relationships/oleObject" Target="../embeddings/oleObject65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64.bin"/><Relationship Id="rId3" Type="http://schemas.openxmlformats.org/officeDocument/2006/relationships/image" Target="../media/image60.wmf"/><Relationship Id="rId2" Type="http://schemas.openxmlformats.org/officeDocument/2006/relationships/oleObject" Target="../embeddings/oleObject63.bin"/><Relationship Id="rId15" Type="http://schemas.openxmlformats.org/officeDocument/2006/relationships/vmlDrawing" Target="../drawings/vmlDrawing22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64.wmf"/><Relationship Id="rId12" Type="http://schemas.openxmlformats.org/officeDocument/2006/relationships/oleObject" Target="../embeddings/oleObject68.bin"/><Relationship Id="rId11" Type="http://schemas.openxmlformats.org/officeDocument/2006/relationships/image" Target="../media/image63.wmf"/><Relationship Id="rId10" Type="http://schemas.openxmlformats.org/officeDocument/2006/relationships/oleObject" Target="../embeddings/oleObject67.bin"/><Relationship Id="rId1" Type="http://schemas.openxmlformats.org/officeDocument/2006/relationships/image" Target="../media/image59.wmf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wmf"/><Relationship Id="rId1" Type="http://schemas.openxmlformats.org/officeDocument/2006/relationships/oleObject" Target="../embeddings/oleObject6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9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68.png"/><Relationship Id="rId5" Type="http://schemas.openxmlformats.org/officeDocument/2006/relationships/oleObject" Target="../embeddings/oleObject72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66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7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67.wmf"/><Relationship Id="rId1" Type="http://schemas.openxmlformats.org/officeDocument/2006/relationships/oleObject" Target="../embeddings/oleObject7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6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72.wmf"/><Relationship Id="rId1" Type="http://schemas.openxmlformats.org/officeDocument/2006/relationships/oleObject" Target="../embeddings/oleObject77.bin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6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75.wmf"/><Relationship Id="rId1" Type="http://schemas.openxmlformats.org/officeDocument/2006/relationships/oleObject" Target="../embeddings/oleObject80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0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77.wmf"/><Relationship Id="rId10" Type="http://schemas.openxmlformats.org/officeDocument/2006/relationships/vmlDrawing" Target="../drawings/vmlDrawing28.vml"/><Relationship Id="rId1" Type="http://schemas.openxmlformats.org/officeDocument/2006/relationships/oleObject" Target="../embeddings/oleObject8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1.wmf"/><Relationship Id="rId1" Type="http://schemas.openxmlformats.org/officeDocument/2006/relationships/oleObject" Target="../embeddings/oleObject86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4.wmf"/><Relationship Id="rId1" Type="http://schemas.openxmlformats.org/officeDocument/2006/relationships/oleObject" Target="../embeddings/oleObject89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5.wmf"/><Relationship Id="rId1" Type="http://schemas.openxmlformats.org/officeDocument/2006/relationships/oleObject" Target="../embeddings/oleObject90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86.wmf"/><Relationship Id="rId1" Type="http://schemas.openxmlformats.org/officeDocument/2006/relationships/oleObject" Target="../embeddings/oleObject9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89.wmf"/><Relationship Id="rId1" Type="http://schemas.openxmlformats.org/officeDocument/2006/relationships/oleObject" Target="../embeddings/oleObject9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7.wmf"/><Relationship Id="rId1" Type="http://schemas.openxmlformats.org/officeDocument/2006/relationships/oleObject" Target="../embeddings/oleObject98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6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99.wmf"/><Relationship Id="rId3" Type="http://schemas.openxmlformats.org/officeDocument/2006/relationships/oleObject" Target="../embeddings/oleObject100.bin"/><Relationship Id="rId2" Type="http://schemas.openxmlformats.org/officeDocument/2006/relationships/image" Target="../media/image98.wmf"/><Relationship Id="rId1" Type="http://schemas.openxmlformats.org/officeDocument/2006/relationships/oleObject" Target="../embeddings/oleObject99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100.wmf"/><Relationship Id="rId10" Type="http://schemas.openxmlformats.org/officeDocument/2006/relationships/vmlDrawing" Target="../drawings/vmlDrawing37.vml"/><Relationship Id="rId1" Type="http://schemas.openxmlformats.org/officeDocument/2006/relationships/oleObject" Target="../embeddings/oleObject101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7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5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4.wmf"/><Relationship Id="rId14" Type="http://schemas.openxmlformats.org/officeDocument/2006/relationships/vmlDrawing" Target="../drawings/vmlDrawing38.vml"/><Relationship Id="rId13" Type="http://schemas.openxmlformats.org/officeDocument/2006/relationships/slideLayout" Target="../slideLayouts/slideLayout4.xml"/><Relationship Id="rId12" Type="http://schemas.openxmlformats.org/officeDocument/2006/relationships/image" Target="../media/image109.w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105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0.wmf"/><Relationship Id="rId1" Type="http://schemas.openxmlformats.org/officeDocument/2006/relationships/oleObject" Target="../embeddings/oleObject111.bin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1.wmf"/><Relationship Id="rId1" Type="http://schemas.openxmlformats.org/officeDocument/2006/relationships/oleObject" Target="../embeddings/oleObject112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5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114.bin"/><Relationship Id="rId2" Type="http://schemas.openxmlformats.org/officeDocument/2006/relationships/image" Target="../media/image112.wmf"/><Relationship Id="rId10" Type="http://schemas.openxmlformats.org/officeDocument/2006/relationships/vmlDrawing" Target="../drawings/vmlDrawing41.vml"/><Relationship Id="rId1" Type="http://schemas.openxmlformats.org/officeDocument/2006/relationships/oleObject" Target="../embeddings/oleObject113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2.v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9.wmf"/><Relationship Id="rId6" Type="http://schemas.openxmlformats.org/officeDocument/2006/relationships/oleObject" Target="../embeddings/oleObject119.bin"/><Relationship Id="rId5" Type="http://schemas.openxmlformats.org/officeDocument/2006/relationships/image" Target="../media/image118.png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16.wmf"/><Relationship Id="rId1" Type="http://schemas.openxmlformats.org/officeDocument/2006/relationships/oleObject" Target="../embeddings/oleObject11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21.wmf"/><Relationship Id="rId3" Type="http://schemas.openxmlformats.org/officeDocument/2006/relationships/oleObject" Target="../embeddings/oleObject121.bin"/><Relationship Id="rId2" Type="http://schemas.openxmlformats.org/officeDocument/2006/relationships/image" Target="../media/image120.wmf"/><Relationship Id="rId1" Type="http://schemas.openxmlformats.org/officeDocument/2006/relationships/oleObject" Target="../embeddings/oleObject120.bin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3.png"/><Relationship Id="rId2" Type="http://schemas.openxmlformats.org/officeDocument/2006/relationships/image" Target="../media/image122.wmf"/><Relationship Id="rId1" Type="http://schemas.openxmlformats.org/officeDocument/2006/relationships/oleObject" Target="../embeddings/oleObject123.bin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5.bin"/><Relationship Id="rId2" Type="http://schemas.openxmlformats.org/officeDocument/2006/relationships/image" Target="../media/image124.wmf"/><Relationship Id="rId1" Type="http://schemas.openxmlformats.org/officeDocument/2006/relationships/oleObject" Target="../embeddings/oleObject124.bin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126.wmf"/><Relationship Id="rId1" Type="http://schemas.openxmlformats.org/officeDocument/2006/relationships/oleObject" Target="../embeddings/oleObject126.bin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9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28.wmf"/><Relationship Id="rId1" Type="http://schemas.openxmlformats.org/officeDocument/2006/relationships/oleObject" Target="../embeddings/oleObject128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31.bin"/><Relationship Id="rId2" Type="http://schemas.openxmlformats.org/officeDocument/2006/relationships/image" Target="../media/image130.wmf"/><Relationship Id="rId1" Type="http://schemas.openxmlformats.org/officeDocument/2006/relationships/oleObject" Target="../embeddings/oleObject130.bin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3.wmf"/><Relationship Id="rId1" Type="http://schemas.openxmlformats.org/officeDocument/2006/relationships/oleObject" Target="../embeddings/oleObject133.bin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0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4.wmf"/><Relationship Id="rId1" Type="http://schemas.openxmlformats.org/officeDocument/2006/relationships/oleObject" Target="../embeddings/oleObject134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1" Type="http://schemas.openxmlformats.org/officeDocument/2006/relationships/image" Target="../media/image1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1" Type="http://schemas.openxmlformats.org/officeDocument/2006/relationships/image" Target="../media/image135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1.png"/><Relationship Id="rId1" Type="http://schemas.openxmlformats.org/officeDocument/2006/relationships/image" Target="../media/image13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3.png"/><Relationship Id="rId1" Type="http://schemas.openxmlformats.org/officeDocument/2006/relationships/image" Target="../media/image14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4.png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8.tiff"/><Relationship Id="rId4" Type="http://schemas.openxmlformats.org/officeDocument/2006/relationships/image" Target="../media/image147.png"/><Relationship Id="rId3" Type="http://schemas.openxmlformats.org/officeDocument/2006/relationships/image" Target="../media/image146.png"/><Relationship Id="rId2" Type="http://schemas.openxmlformats.org/officeDocument/2006/relationships/image" Target="NULL" TargetMode="External"/><Relationship Id="rId1" Type="http://schemas.openxmlformats.org/officeDocument/2006/relationships/image" Target="../media/image14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0.png"/><Relationship Id="rId1" Type="http://schemas.openxmlformats.org/officeDocument/2006/relationships/image" Target="../media/image149.png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4.wmf"/><Relationship Id="rId7" Type="http://schemas.openxmlformats.org/officeDocument/2006/relationships/oleObject" Target="../embeddings/oleObject138.bin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52.png"/><Relationship Id="rId3" Type="http://schemas.openxmlformats.org/officeDocument/2006/relationships/oleObject" Target="../embeddings/oleObject136.bin"/><Relationship Id="rId2" Type="http://schemas.openxmlformats.org/officeDocument/2006/relationships/image" Target="../media/image151.wmf"/><Relationship Id="rId10" Type="http://schemas.openxmlformats.org/officeDocument/2006/relationships/vmlDrawing" Target="../drawings/vmlDrawing51.vml"/><Relationship Id="rId1" Type="http://schemas.openxmlformats.org/officeDocument/2006/relationships/oleObject" Target="../embeddings/oleObject135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2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56.w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55.wmf"/><Relationship Id="rId1" Type="http://schemas.openxmlformats.org/officeDocument/2006/relationships/oleObject" Target="../embeddings/oleObject139.bin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43.bin"/><Relationship Id="rId2" Type="http://schemas.openxmlformats.org/officeDocument/2006/relationships/image" Target="../media/image158.wmf"/><Relationship Id="rId1" Type="http://schemas.openxmlformats.org/officeDocument/2006/relationships/oleObject" Target="../embeddings/oleObject142.bin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0.w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159.wmf"/><Relationship Id="rId1" Type="http://schemas.openxmlformats.org/officeDocument/2006/relationships/oleObject" Target="../embeddings/oleObject144.bin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1.wmf"/><Relationship Id="rId1" Type="http://schemas.openxmlformats.org/officeDocument/2006/relationships/oleObject" Target="../embeddings/oleObject146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63.wmf"/><Relationship Id="rId3" Type="http://schemas.openxmlformats.org/officeDocument/2006/relationships/oleObject" Target="../embeddings/oleObject148.bin"/><Relationship Id="rId2" Type="http://schemas.openxmlformats.org/officeDocument/2006/relationships/image" Target="../media/image162.wmf"/><Relationship Id="rId1" Type="http://schemas.openxmlformats.org/officeDocument/2006/relationships/oleObject" Target="../embeddings/oleObject147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7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64.wmf"/><Relationship Id="rId3" Type="http://schemas.openxmlformats.org/officeDocument/2006/relationships/oleObject" Target="../embeddings/oleObject151.bin"/><Relationship Id="rId2" Type="http://schemas.openxmlformats.org/officeDocument/2006/relationships/image" Target="../media/image165.wmf"/><Relationship Id="rId1" Type="http://schemas.openxmlformats.org/officeDocument/2006/relationships/oleObject" Target="../embeddings/oleObject150.bin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7.bin"/><Relationship Id="rId8" Type="http://schemas.openxmlformats.org/officeDocument/2006/relationships/image" Target="../media/image170.w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154.bin"/><Relationship Id="rId2" Type="http://schemas.openxmlformats.org/officeDocument/2006/relationships/image" Target="../media/image167.wmf"/><Relationship Id="rId12" Type="http://schemas.openxmlformats.org/officeDocument/2006/relationships/vmlDrawing" Target="../drawings/vmlDrawing5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71.wmf"/><Relationship Id="rId1" Type="http://schemas.openxmlformats.org/officeDocument/2006/relationships/oleObject" Target="../embeddings/oleObject153.bin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5.wmf"/><Relationship Id="rId7" Type="http://schemas.openxmlformats.org/officeDocument/2006/relationships/oleObject" Target="../embeddings/oleObject161.bin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73.wmf"/><Relationship Id="rId3" Type="http://schemas.openxmlformats.org/officeDocument/2006/relationships/oleObject" Target="../embeddings/oleObject159.bin"/><Relationship Id="rId2" Type="http://schemas.openxmlformats.org/officeDocument/2006/relationships/image" Target="../media/image172.wmf"/><Relationship Id="rId10" Type="http://schemas.openxmlformats.org/officeDocument/2006/relationships/vmlDrawing" Target="../drawings/vmlDrawing59.vml"/><Relationship Id="rId1" Type="http://schemas.openxmlformats.org/officeDocument/2006/relationships/oleObject" Target="../embeddings/oleObject158.bin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7.wmf"/><Relationship Id="rId3" Type="http://schemas.openxmlformats.org/officeDocument/2006/relationships/oleObject" Target="../embeddings/oleObject163.bin"/><Relationship Id="rId2" Type="http://schemas.openxmlformats.org/officeDocument/2006/relationships/image" Target="../media/image176.wmf"/><Relationship Id="rId1" Type="http://schemas.openxmlformats.org/officeDocument/2006/relationships/oleObject" Target="../embeddings/oleObject162.bin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2.png"/><Relationship Id="rId8" Type="http://schemas.openxmlformats.org/officeDocument/2006/relationships/image" Target="../media/image181.wmf"/><Relationship Id="rId7" Type="http://schemas.openxmlformats.org/officeDocument/2006/relationships/oleObject" Target="../embeddings/oleObject167.bin"/><Relationship Id="rId6" Type="http://schemas.openxmlformats.org/officeDocument/2006/relationships/image" Target="../media/image180.w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79.wmf"/><Relationship Id="rId3" Type="http://schemas.openxmlformats.org/officeDocument/2006/relationships/oleObject" Target="../embeddings/oleObject165.bin"/><Relationship Id="rId2" Type="http://schemas.openxmlformats.org/officeDocument/2006/relationships/image" Target="../media/image178.wmf"/><Relationship Id="rId11" Type="http://schemas.openxmlformats.org/officeDocument/2006/relationships/vmlDrawing" Target="../drawings/vmlDrawing6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64.bin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5.png"/><Relationship Id="rId4" Type="http://schemas.openxmlformats.org/officeDocument/2006/relationships/image" Target="../media/image184.wmf"/><Relationship Id="rId3" Type="http://schemas.openxmlformats.org/officeDocument/2006/relationships/oleObject" Target="../embeddings/oleObject169.bin"/><Relationship Id="rId2" Type="http://schemas.openxmlformats.org/officeDocument/2006/relationships/image" Target="../media/image183.png"/><Relationship Id="rId1" Type="http://schemas.openxmlformats.org/officeDocument/2006/relationships/oleObject" Target="../embeddings/oleObject168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wmf"/><Relationship Id="rId3" Type="http://schemas.openxmlformats.org/officeDocument/2006/relationships/oleObject" Target="../embeddings/oleObject171.bin"/><Relationship Id="rId2" Type="http://schemas.openxmlformats.org/officeDocument/2006/relationships/image" Target="../media/image186.wmf"/><Relationship Id="rId1" Type="http://schemas.openxmlformats.org/officeDocument/2006/relationships/oleObject" Target="../embeddings/oleObject170.bin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1.wmf"/><Relationship Id="rId3" Type="http://schemas.openxmlformats.org/officeDocument/2006/relationships/oleObject" Target="../embeddings/oleObject173.bin"/><Relationship Id="rId2" Type="http://schemas.openxmlformats.org/officeDocument/2006/relationships/image" Target="../media/image190.wmf"/><Relationship Id="rId1" Type="http://schemas.openxmlformats.org/officeDocument/2006/relationships/oleObject" Target="../embeddings/oleObject172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3.png"/><Relationship Id="rId1" Type="http://schemas.openxmlformats.org/officeDocument/2006/relationships/image" Target="../media/image192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4.wmf"/><Relationship Id="rId1" Type="http://schemas.openxmlformats.org/officeDocument/2006/relationships/oleObject" Target="../embeddings/oleObject174.bin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4.wmf"/><Relationship Id="rId1" Type="http://schemas.openxmlformats.org/officeDocument/2006/relationships/oleObject" Target="../embeddings/oleObject175.bin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98.wmf"/><Relationship Id="rId7" Type="http://schemas.openxmlformats.org/officeDocument/2006/relationships/oleObject" Target="../embeddings/oleObject179.bin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96.wmf"/><Relationship Id="rId3" Type="http://schemas.openxmlformats.org/officeDocument/2006/relationships/oleObject" Target="../embeddings/oleObject177.bin"/><Relationship Id="rId2" Type="http://schemas.openxmlformats.org/officeDocument/2006/relationships/image" Target="../media/image195.wmf"/><Relationship Id="rId10" Type="http://schemas.openxmlformats.org/officeDocument/2006/relationships/vmlDrawing" Target="../drawings/vmlDrawing67.vml"/><Relationship Id="rId1" Type="http://schemas.openxmlformats.org/officeDocument/2006/relationships/oleObject" Target="../embeddings/oleObject176.bin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8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9.wmf"/><Relationship Id="rId1" Type="http://schemas.openxmlformats.org/officeDocument/2006/relationships/oleObject" Target="../embeddings/oleObject180.bin"/></Relationships>
</file>

<file path=ppt/slides/_rels/slide8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9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1.png"/><Relationship Id="rId2" Type="http://schemas.openxmlformats.org/officeDocument/2006/relationships/image" Target="../media/image200.wmf"/><Relationship Id="rId1" Type="http://schemas.openxmlformats.org/officeDocument/2006/relationships/oleObject" Target="../embeddings/oleObject181.bin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4.png"/><Relationship Id="rId1" Type="http://schemas.openxmlformats.org/officeDocument/2006/relationships/image" Target="../media/image203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3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5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6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20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209.png"/><Relationship Id="rId1" Type="http://schemas.openxmlformats.org/officeDocument/2006/relationships/image" Target="../media/image20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1.png"/><Relationship Id="rId1" Type="http://schemas.openxmlformats.org/officeDocument/2006/relationships/image" Target="../media/image210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2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3.wmf"/><Relationship Id="rId1" Type="http://schemas.openxmlformats.org/officeDocument/2006/relationships/oleObject" Target="../embeddings/oleObject182.bin"/></Relationships>
</file>

<file path=ppt/slides/_rels/slide10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5.wmf"/><Relationship Id="rId3" Type="http://schemas.openxmlformats.org/officeDocument/2006/relationships/oleObject" Target="../embeddings/oleObject184.bin"/><Relationship Id="rId2" Type="http://schemas.openxmlformats.org/officeDocument/2006/relationships/image" Target="../media/image214.wmf"/><Relationship Id="rId1" Type="http://schemas.openxmlformats.org/officeDocument/2006/relationships/oleObject" Target="../embeddings/oleObject183.bin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6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7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8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0.png"/><Relationship Id="rId1" Type="http://schemas.openxmlformats.org/officeDocument/2006/relationships/image" Target="../media/image219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1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3.png"/><Relationship Id="rId1" Type="http://schemas.openxmlformats.org/officeDocument/2006/relationships/image" Target="../media/image222.png"/></Relationships>
</file>

<file path=ppt/slides/_rels/slide1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2.vml"/><Relationship Id="rId6" Type="http://schemas.openxmlformats.org/officeDocument/2006/relationships/slideLayout" Target="../slideLayouts/slideLayout7.xml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225.wmf"/><Relationship Id="rId3" Type="http://schemas.openxmlformats.org/officeDocument/2006/relationships/oleObject" Target="../embeddings/oleObject186.bin"/><Relationship Id="rId2" Type="http://schemas.openxmlformats.org/officeDocument/2006/relationships/image" Target="../media/image224.wmf"/><Relationship Id="rId1" Type="http://schemas.openxmlformats.org/officeDocument/2006/relationships/oleObject" Target="../embeddings/oleObject185.bin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7.png"/><Relationship Id="rId1" Type="http://schemas.openxmlformats.org/officeDocument/2006/relationships/image" Target="../media/image22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8.png"/><Relationship Id="rId1" Type="http://schemas.openxmlformats.org/officeDocument/2006/relationships/image" Target="../media/image227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0.png"/><Relationship Id="rId1" Type="http://schemas.openxmlformats.org/officeDocument/2006/relationships/image" Target="../media/image229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2.tiff"/><Relationship Id="rId1" Type="http://schemas.openxmlformats.org/officeDocument/2006/relationships/image" Target="../media/image231.png"/></Relationships>
</file>

<file path=ppt/slides/_rels/slide1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5.tiff"/><Relationship Id="rId2" Type="http://schemas.openxmlformats.org/officeDocument/2006/relationships/image" Target="../media/image234.png"/><Relationship Id="rId1" Type="http://schemas.openxmlformats.org/officeDocument/2006/relationships/image" Target="../media/image2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6076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6600" b="1" dirty="0">
                <a:solidFill>
                  <a:schemeClr val="bg1"/>
                </a:solidFill>
              </a:rPr>
              <a:t>2.5</a:t>
            </a:r>
            <a:r>
              <a:rPr lang="zh-CN" altLang="en-US" sz="6600" b="1" dirty="0">
                <a:solidFill>
                  <a:schemeClr val="bg1"/>
                </a:solidFill>
              </a:rPr>
              <a:t>　序列的</a:t>
            </a:r>
            <a:r>
              <a:rPr lang="en-US" altLang="zh-CN" sz="6600" b="1" dirty="0">
                <a:solidFill>
                  <a:schemeClr val="bg1"/>
                </a:solidFill>
              </a:rPr>
              <a:t>Z</a:t>
            </a:r>
            <a:r>
              <a:rPr lang="zh-CN" altLang="en-US" sz="6600" b="1" dirty="0">
                <a:solidFill>
                  <a:schemeClr val="bg1"/>
                </a:solidFill>
              </a:rPr>
              <a:t>变换</a:t>
            </a:r>
            <a:endParaRPr lang="zh-CN" altLang="en-US" sz="6600" b="1" dirty="0">
              <a:solidFill>
                <a:schemeClr val="bg1"/>
              </a:solidFill>
            </a:endParaRPr>
          </a:p>
        </p:txBody>
      </p:sp>
      <p:sp>
        <p:nvSpPr>
          <p:cNvPr id="5123" name="文本占位符 16077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掌握</a:t>
            </a:r>
            <a:r>
              <a:rPr lang="en-US" altLang="zh-CN" b="1" dirty="0"/>
              <a:t>Z</a:t>
            </a:r>
            <a:r>
              <a:rPr lang="zh-CN" altLang="en-US" b="1" dirty="0"/>
              <a:t>变换的正变换和逆变换定义，以及收敛域与序列特性之间的关系。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</a:pPr>
            <a:r>
              <a:rPr lang="zh-CN" altLang="en-US" b="1" dirty="0"/>
              <a:t>理解主要的</a:t>
            </a:r>
            <a:r>
              <a:rPr lang="en-US" altLang="zh-CN" b="1" dirty="0"/>
              <a:t>Z</a:t>
            </a:r>
            <a:r>
              <a:rPr lang="zh-CN" altLang="en-US" b="1" dirty="0"/>
              <a:t>变换的定理和性质。</a:t>
            </a:r>
            <a:endParaRPr lang="zh-CN" altLang="en-US" b="1" dirty="0"/>
          </a:p>
        </p:txBody>
      </p:sp>
      <p:sp>
        <p:nvSpPr>
          <p:cNvPr id="5124" name="文本框 1"/>
          <p:cNvSpPr txBox="1"/>
          <p:nvPr/>
        </p:nvSpPr>
        <p:spPr>
          <a:xfrm>
            <a:off x="2051050" y="549275"/>
            <a:ext cx="410527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</a:t>
            </a:r>
            <a:r>
              <a:rPr lang="zh-CN" altLang="en-US" sz="36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序列的</a:t>
            </a:r>
            <a:r>
              <a:rPr lang="en-US" altLang="zh-CN" sz="3600" i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36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变换</a:t>
            </a:r>
            <a:endParaRPr lang="zh-CN" altLang="en-US" sz="36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6179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一、</a:t>
            </a:r>
            <a:r>
              <a:rPr lang="en-US" altLang="zh-CN" dirty="0"/>
              <a:t>Z</a:t>
            </a:r>
            <a:r>
              <a:rPr lang="zh-CN" altLang="en-US" dirty="0"/>
              <a:t>变换的定义</a:t>
            </a:r>
            <a:endParaRPr lang="zh-CN" altLang="en-US" dirty="0"/>
          </a:p>
        </p:txBody>
      </p:sp>
      <p:sp>
        <p:nvSpPr>
          <p:cNvPr id="6147" name="文本占位符 16179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、定义</a:t>
            </a:r>
            <a:endParaRPr lang="zh-CN" altLang="en-US" dirty="0"/>
          </a:p>
        </p:txBody>
      </p:sp>
      <p:sp>
        <p:nvSpPr>
          <p:cNvPr id="161796" name="文本框 161795"/>
          <p:cNvSpPr txBox="1"/>
          <p:nvPr/>
        </p:nvSpPr>
        <p:spPr>
          <a:xfrm>
            <a:off x="609600" y="2209800"/>
            <a:ext cx="7772400" cy="2725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/>
              <a:t>双边</a:t>
            </a:r>
            <a:r>
              <a:rPr lang="en-US" altLang="zh-CN" b="1" dirty="0"/>
              <a:t>Z</a:t>
            </a:r>
            <a:r>
              <a:rPr lang="zh-CN" altLang="en-US" b="1" dirty="0"/>
              <a:t>变换</a:t>
            </a:r>
            <a:r>
              <a:rPr lang="zh-CN" altLang="en-US" sz="4000" b="1" dirty="0">
                <a:latin typeface="Times New Roman" panose="02020603050405020304" pitchFamily="18" charset="0"/>
              </a:rPr>
              <a:t></a:t>
            </a:r>
            <a:endParaRPr lang="zh-CN" altLang="en-US" sz="40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latin typeface="Times New Roman" panose="02020603050405020304" pitchFamily="18" charset="0"/>
              </a:rPr>
              <a:t>　　　　　　　　　　　　　　</a:t>
            </a:r>
            <a:endParaRPr lang="zh-CN" altLang="en-US" sz="40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/>
              <a:t>单边</a:t>
            </a:r>
            <a:r>
              <a:rPr lang="en-US" altLang="zh-CN" b="1" dirty="0"/>
              <a:t>Z</a:t>
            </a:r>
            <a:r>
              <a:rPr lang="zh-CN" altLang="en-US" b="1" dirty="0"/>
              <a:t>变换</a:t>
            </a:r>
            <a:r>
              <a:rPr lang="zh-CN" altLang="en-US" sz="4000" b="1" dirty="0">
                <a:latin typeface="Times New Roman" panose="02020603050405020304" pitchFamily="18" charset="0"/>
              </a:rPr>
              <a:t></a:t>
            </a:r>
            <a:endParaRPr lang="zh-CN" altLang="en-US" sz="40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　　　　　　　　　　　　　　　　　　         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161797" name="组合 161796"/>
          <p:cNvGrpSpPr/>
          <p:nvPr/>
        </p:nvGrpSpPr>
        <p:grpSpPr>
          <a:xfrm>
            <a:off x="3276600" y="2743200"/>
            <a:ext cx="2971800" cy="1112838"/>
            <a:chOff x="0" y="0"/>
            <a:chExt cx="1584" cy="557"/>
          </a:xfrm>
        </p:grpSpPr>
        <p:graphicFrame>
          <p:nvGraphicFramePr>
            <p:cNvPr id="6153" name="对象 161797"/>
            <p:cNvGraphicFramePr>
              <a:graphicFrameLocks noChangeAspect="1"/>
            </p:cNvGraphicFramePr>
            <p:nvPr/>
          </p:nvGraphicFramePr>
          <p:xfrm>
            <a:off x="0" y="0"/>
            <a:ext cx="1584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1220470" imgH="432435" progId="Equation.DSMT4">
                    <p:embed/>
                  </p:oleObj>
                </mc:Choice>
                <mc:Fallback>
                  <p:oleObj name="" r:id="rId1" imgW="1220470" imgH="432435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584" cy="5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4" name="文本框 161798"/>
            <p:cNvSpPr txBox="1"/>
            <p:nvPr/>
          </p:nvSpPr>
          <p:spPr>
            <a:xfrm>
              <a:off x="384" y="51"/>
              <a:ext cx="336" cy="1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def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1800" name="组合 161799"/>
          <p:cNvGrpSpPr/>
          <p:nvPr/>
        </p:nvGrpSpPr>
        <p:grpSpPr>
          <a:xfrm>
            <a:off x="3352800" y="4724400"/>
            <a:ext cx="2819400" cy="1058863"/>
            <a:chOff x="0" y="0"/>
            <a:chExt cx="1536" cy="571"/>
          </a:xfrm>
        </p:grpSpPr>
        <p:graphicFrame>
          <p:nvGraphicFramePr>
            <p:cNvPr id="6151" name="对象 161800"/>
            <p:cNvGraphicFramePr>
              <a:graphicFrameLocks noChangeAspect="1"/>
            </p:cNvGraphicFramePr>
            <p:nvPr/>
          </p:nvGraphicFramePr>
          <p:xfrm>
            <a:off x="0" y="0"/>
            <a:ext cx="1536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3" imgW="1156970" imgH="432435" progId="Equation.DSMT4">
                    <p:embed/>
                  </p:oleObj>
                </mc:Choice>
                <mc:Fallback>
                  <p:oleObj name="" r:id="rId3" imgW="1156970" imgH="432435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536" cy="5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2" name="文本框 161801"/>
            <p:cNvSpPr txBox="1"/>
            <p:nvPr/>
          </p:nvSpPr>
          <p:spPr>
            <a:xfrm>
              <a:off x="384" y="48"/>
              <a:ext cx="336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def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79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1796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628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Z</a:t>
            </a:r>
            <a:r>
              <a:rPr lang="zh-CN" altLang="en-US" dirty="0"/>
              <a:t>变换的收敛域</a:t>
            </a:r>
            <a:endParaRPr lang="zh-CN" altLang="en-US" dirty="0"/>
          </a:p>
        </p:txBody>
      </p:sp>
      <p:sp>
        <p:nvSpPr>
          <p:cNvPr id="162819" name="文本占位符 162818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8001000" cy="4724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、收敛域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  对任意给定序列</a:t>
            </a:r>
            <a:r>
              <a:rPr lang="en-US" altLang="zh-CN" sz="2800" b="1" dirty="0"/>
              <a:t>x(n)</a:t>
            </a:r>
            <a:r>
              <a:rPr lang="zh-CN" altLang="en-US" sz="2800" b="1" dirty="0"/>
              <a:t>，使其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变换收敛的所有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值的集合称为收敛域。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   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变换存在的条件是</a:t>
            </a:r>
            <a:r>
              <a:rPr lang="zh-CN" altLang="en-US" sz="2800" b="1" dirty="0">
                <a:solidFill>
                  <a:srgbClr val="FF0000"/>
                </a:solidFill>
              </a:rPr>
              <a:t>级数绝对可和</a:t>
            </a:r>
            <a:r>
              <a:rPr lang="zh-CN" altLang="en-US" sz="2800" b="1" dirty="0"/>
              <a:t>，即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满足不等式的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变量的取值范围就是收敛域。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    </a:t>
            </a:r>
            <a:r>
              <a:rPr lang="zh-CN" altLang="en-US" sz="2800" b="1" dirty="0">
                <a:solidFill>
                  <a:srgbClr val="FF0000"/>
                </a:solidFill>
              </a:rPr>
              <a:t>对于双边</a:t>
            </a:r>
            <a:r>
              <a:rPr lang="en-US" altLang="zh-CN" sz="2800" b="1" dirty="0">
                <a:solidFill>
                  <a:srgbClr val="FF0000"/>
                </a:solidFill>
              </a:rPr>
              <a:t>z</a:t>
            </a:r>
            <a:r>
              <a:rPr lang="zh-CN" altLang="en-US" sz="2800" b="1" dirty="0">
                <a:solidFill>
                  <a:srgbClr val="FF0000"/>
                </a:solidFill>
              </a:rPr>
              <a:t>变换，其象函数与收敛域共同惟一确定序列。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62820" name="内容占位符 162819"/>
          <p:cNvGraphicFramePr>
            <a:graphicFrameLocks noGrp="1" noChangeAspect="1"/>
          </p:cNvGraphicFramePr>
          <p:nvPr>
            <p:ph sz="half" idx="2"/>
          </p:nvPr>
        </p:nvGraphicFramePr>
        <p:xfrm>
          <a:off x="3048000" y="3581400"/>
          <a:ext cx="25463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055370" imgH="432435" progId="Equation.DSMT4">
                  <p:embed/>
                </p:oleObj>
              </mc:Choice>
              <mc:Fallback>
                <p:oleObj name="" r:id="rId1" imgW="1055370" imgH="432435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3048000" y="3581400"/>
                        <a:ext cx="2546350" cy="10429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19">
                                            <p:txEl>
                                              <p:charRg st="6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46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819">
                                            <p:txEl>
                                              <p:charRg st="46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2819">
                                            <p:txEl>
                                              <p:charRg st="74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charRg st="99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2819">
                                            <p:txEl>
                                              <p:charRg st="99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6384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零点与极点</a:t>
            </a:r>
            <a:endParaRPr lang="zh-CN" altLang="en-US" dirty="0"/>
          </a:p>
        </p:txBody>
      </p:sp>
      <p:sp>
        <p:nvSpPr>
          <p:cNvPr id="163843" name="内容占位符 16384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、零点与极点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     常用的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变换是一个有理函数，用两个多项式之比表示：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 零点</a:t>
            </a:r>
            <a:r>
              <a:rPr lang="en-US" altLang="zh-CN" sz="2800" b="1" dirty="0"/>
              <a:t>:  </a:t>
            </a:r>
            <a:r>
              <a:rPr lang="zh-CN" altLang="en-US" sz="2800" b="1" dirty="0"/>
              <a:t>分子多项式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的根。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 极点</a:t>
            </a:r>
            <a:r>
              <a:rPr lang="en-US" altLang="zh-CN" sz="2800" b="1" dirty="0"/>
              <a:t>:  </a:t>
            </a:r>
            <a:r>
              <a:rPr lang="zh-CN" altLang="en-US" sz="2800" b="1" dirty="0"/>
              <a:t>分母多项式</a:t>
            </a:r>
            <a:r>
              <a:rPr lang="en-US" altLang="zh-CN" sz="2800" b="1" i="1" dirty="0"/>
              <a:t>Q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的根。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        </a:t>
            </a:r>
            <a:r>
              <a:rPr lang="zh-CN" altLang="en-US" sz="2800" b="1" dirty="0">
                <a:solidFill>
                  <a:srgbClr val="990000"/>
                </a:solidFill>
              </a:rPr>
              <a:t>在极点处</a:t>
            </a:r>
            <a:r>
              <a:rPr lang="en-US" altLang="zh-CN" sz="2800" b="1" dirty="0">
                <a:solidFill>
                  <a:srgbClr val="990000"/>
                </a:solidFill>
              </a:rPr>
              <a:t>Z</a:t>
            </a:r>
            <a:r>
              <a:rPr lang="zh-CN" altLang="en-US" sz="2800" b="1" dirty="0">
                <a:solidFill>
                  <a:srgbClr val="990000"/>
                </a:solidFill>
              </a:rPr>
              <a:t>变换不存在，因此收敛域中没有极点，收敛域总是用极点限定其边界。</a:t>
            </a:r>
            <a:r>
              <a:rPr lang="zh-CN" altLang="en-US" sz="2800" b="1" dirty="0"/>
              <a:t> 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1" dirty="0"/>
          </a:p>
        </p:txBody>
      </p:sp>
      <p:graphicFrame>
        <p:nvGraphicFramePr>
          <p:cNvPr id="163844" name="对象 163843"/>
          <p:cNvGraphicFramePr>
            <a:graphicFrameLocks noChangeAspect="1"/>
          </p:cNvGraphicFramePr>
          <p:nvPr/>
        </p:nvGraphicFramePr>
        <p:xfrm>
          <a:off x="3276600" y="2667000"/>
          <a:ext cx="21336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826770" imgH="419735" progId="Equation.DSMT4">
                  <p:embed/>
                </p:oleObj>
              </mc:Choice>
              <mc:Fallback>
                <p:oleObj name="" r:id="rId1" imgW="826770" imgH="419735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2667000"/>
                        <a:ext cx="2133600" cy="107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43">
                                            <p:txEl>
                                              <p:charRg st="8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44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43">
                                            <p:txEl>
                                              <p:charRg st="44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66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43">
                                            <p:txEl>
                                              <p:charRg st="66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charRg st="88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43">
                                            <p:txEl>
                                              <p:charRg st="88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16486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z</a:t>
            </a:r>
            <a:r>
              <a:rPr lang="zh-CN" altLang="en-US" b="1" dirty="0"/>
              <a:t>变换与傅里叶变换的关系</a:t>
            </a:r>
            <a:endParaRPr lang="zh-CN" altLang="en-US" b="1" dirty="0"/>
          </a:p>
        </p:txBody>
      </p:sp>
      <p:sp>
        <p:nvSpPr>
          <p:cNvPr id="164867" name="文本占位符 164866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6200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en-US" altLang="zh-CN" sz="2800" b="1" dirty="0"/>
              <a:t>4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变换与傅里叶变换的关系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dirty="0"/>
              <a:t>          </a:t>
            </a:r>
            <a:r>
              <a:rPr lang="zh-CN" altLang="en-US" sz="2800" b="1" dirty="0">
                <a:solidFill>
                  <a:srgbClr val="FF0000"/>
                </a:solidFill>
              </a:rPr>
              <a:t>单位圆上的</a:t>
            </a:r>
            <a:r>
              <a:rPr lang="en-US" altLang="zh-CN" sz="2800" b="1" dirty="0">
                <a:solidFill>
                  <a:srgbClr val="FF0000"/>
                </a:solidFill>
              </a:rPr>
              <a:t>Z</a:t>
            </a:r>
            <a:r>
              <a:rPr lang="zh-CN" altLang="en-US" sz="2800" b="1" dirty="0">
                <a:solidFill>
                  <a:srgbClr val="FF0000"/>
                </a:solidFill>
              </a:rPr>
              <a:t>变换就是序列的傅里叶变换。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   </a:t>
            </a:r>
            <a:r>
              <a:rPr lang="zh-CN" altLang="en-US" sz="2800" b="1" dirty="0"/>
              <a:t>思考：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1E1E5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</a:t>
            </a:r>
            <a:r>
              <a:rPr lang="zh-CN" altLang="en-US" sz="2800" b="1" dirty="0">
                <a:solidFill>
                  <a:srgbClr val="1E1E5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变换的收敛域不包含单位圆时序列的傅里叶变换存在吗？</a:t>
            </a:r>
            <a:endParaRPr lang="zh-CN" altLang="en-US" sz="2800" b="1" dirty="0">
              <a:solidFill>
                <a:srgbClr val="1E1E5C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64868" name="内容占位符 164867"/>
          <p:cNvGraphicFramePr>
            <a:graphicFrameLocks noGrp="1" noChangeAspect="1"/>
          </p:cNvGraphicFramePr>
          <p:nvPr>
            <p:ph sz="half" idx="2"/>
          </p:nvPr>
        </p:nvGraphicFramePr>
        <p:xfrm>
          <a:off x="2209800" y="2438400"/>
          <a:ext cx="3886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219835" imgH="254000" progId="Equation.DSMT4">
                  <p:embed/>
                </p:oleObj>
              </mc:Choice>
              <mc:Fallback>
                <p:oleObj name="" r:id="rId1" imgW="1219835" imgH="2540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209800" y="2438400"/>
                        <a:ext cx="3886200" cy="8096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charRg st="1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4867">
                                            <p:txEl>
                                              <p:charRg st="18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charRg st="4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867">
                                            <p:txEl>
                                              <p:charRg st="48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6588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Z</a:t>
            </a:r>
            <a:r>
              <a:rPr lang="zh-CN" altLang="en-US" b="1" dirty="0"/>
              <a:t>变换</a:t>
            </a:r>
            <a:endParaRPr lang="zh-CN" altLang="en-US" b="1" dirty="0"/>
          </a:p>
        </p:txBody>
      </p:sp>
      <p:sp>
        <p:nvSpPr>
          <p:cNvPr id="165891" name="文本占位符 165890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3914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zh-CN" altLang="en-US" sz="2800" b="1" dirty="0"/>
              <a:t>例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、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)=</a:t>
            </a:r>
            <a:r>
              <a:rPr lang="en-US" altLang="zh-CN" sz="2800" b="1" i="1" dirty="0"/>
              <a:t>u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), </a:t>
            </a:r>
            <a:r>
              <a:rPr lang="zh-CN" altLang="en-US" sz="2800" b="1" dirty="0"/>
              <a:t>求其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变换。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解：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i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i="1" dirty="0"/>
              <a:t>   当</a:t>
            </a:r>
            <a:r>
              <a:rPr lang="en-US" altLang="zh-CN" sz="2800" b="1" dirty="0"/>
              <a:t>|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|&gt;1</a:t>
            </a:r>
            <a:r>
              <a:rPr lang="zh-CN" altLang="en-US" sz="2800" b="1" dirty="0"/>
              <a:t>时</a:t>
            </a:r>
            <a:r>
              <a:rPr lang="zh-CN" altLang="en-US" sz="2800" b="1" i="1" dirty="0"/>
              <a:t> 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存在，因此收敛域为</a:t>
            </a:r>
            <a:r>
              <a:rPr lang="en-US" altLang="zh-CN" sz="2800" b="1" dirty="0"/>
              <a:t>|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|&gt;1</a:t>
            </a:r>
            <a:endParaRPr lang="en-US" altLang="zh-CN" sz="2800" b="1" dirty="0"/>
          </a:p>
        </p:txBody>
      </p:sp>
      <p:graphicFrame>
        <p:nvGraphicFramePr>
          <p:cNvPr id="165892" name="内容占位符 16589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81200" y="2438400"/>
          <a:ext cx="41148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739900" imgH="431800" progId="Equation.DSMT4">
                  <p:embed/>
                </p:oleObj>
              </mc:Choice>
              <mc:Fallback>
                <p:oleObj name="" r:id="rId1" imgW="1739900" imgH="4318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981200" y="2438400"/>
                        <a:ext cx="4114800" cy="10207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3" name="内容占位符 16589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81200" y="4724400"/>
          <a:ext cx="403860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688465" imgH="393700" progId="Equation.DSMT4">
                  <p:embed/>
                </p:oleObj>
              </mc:Choice>
              <mc:Fallback>
                <p:oleObj name="" r:id="rId3" imgW="1688465" imgH="3937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1981200" y="4724400"/>
                        <a:ext cx="4038600" cy="9413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charRg st="2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5891">
                                            <p:txEl>
                                              <p:charRg st="26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6691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二、序列特性对收敛域的影响</a:t>
            </a:r>
            <a:endParaRPr lang="zh-CN" altLang="en-US" dirty="0"/>
          </a:p>
        </p:txBody>
      </p:sp>
      <p:sp>
        <p:nvSpPr>
          <p:cNvPr id="166915" name="文本占位符 166914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5438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． 有限长序列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其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变换为：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lnSpc>
                <a:spcPct val="12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    有限长序列的收敛域一般是</a:t>
            </a:r>
            <a:r>
              <a:rPr lang="en-US" altLang="zh-CN" sz="2800" b="1" dirty="0"/>
              <a:t>0&lt;|z|&lt;∞</a:t>
            </a:r>
            <a:r>
              <a:rPr lang="zh-CN" altLang="en-US" sz="2800" b="1" dirty="0"/>
              <a:t>，有时也包括</a:t>
            </a:r>
            <a:r>
              <a:rPr lang="en-US" altLang="zh-CN" sz="2800" b="1" dirty="0"/>
              <a:t>z=0</a:t>
            </a:r>
            <a:r>
              <a:rPr lang="zh-CN" altLang="en-US" sz="2800" b="1" dirty="0"/>
              <a:t>或</a:t>
            </a:r>
            <a:r>
              <a:rPr lang="en-US" altLang="zh-CN" sz="2800" b="1" dirty="0"/>
              <a:t>z=∞</a:t>
            </a:r>
            <a:r>
              <a:rPr lang="zh-CN" altLang="en-US" sz="2800" b="1" dirty="0"/>
              <a:t>处。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lnSpc>
                <a:spcPct val="9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/>
          </a:p>
        </p:txBody>
      </p:sp>
      <p:grpSp>
        <p:nvGrpSpPr>
          <p:cNvPr id="166916" name="组合 166915"/>
          <p:cNvGrpSpPr/>
          <p:nvPr/>
        </p:nvGrpSpPr>
        <p:grpSpPr>
          <a:xfrm>
            <a:off x="2743200" y="1963738"/>
            <a:ext cx="2886075" cy="1143000"/>
            <a:chOff x="0" y="-11"/>
            <a:chExt cx="1818" cy="720"/>
          </a:xfrm>
        </p:grpSpPr>
        <p:graphicFrame>
          <p:nvGraphicFramePr>
            <p:cNvPr id="11270" name="对象 166916"/>
            <p:cNvGraphicFramePr>
              <a:graphicFrameLocks noChangeAspect="1"/>
            </p:cNvGraphicFramePr>
            <p:nvPr/>
          </p:nvGraphicFramePr>
          <p:xfrm>
            <a:off x="0" y="-11"/>
            <a:ext cx="1818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1586865" imgH="482600" progId="Equation.DSMT4">
                    <p:embed/>
                  </p:oleObj>
                </mc:Choice>
                <mc:Fallback>
                  <p:oleObj name="" r:id="rId1" imgW="1586865" imgH="4826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-11"/>
                          <a:ext cx="1818" cy="7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1" name="文本框 166917"/>
            <p:cNvSpPr txBox="1"/>
            <p:nvPr/>
          </p:nvSpPr>
          <p:spPr>
            <a:xfrm>
              <a:off x="977" y="349"/>
              <a:ext cx="751" cy="28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其它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66919" name="内容占位符 166918"/>
          <p:cNvGraphicFramePr>
            <a:graphicFrameLocks noGrp="1" noChangeAspect="1"/>
          </p:cNvGraphicFramePr>
          <p:nvPr>
            <p:ph sz="half" idx="2"/>
          </p:nvPr>
        </p:nvGraphicFramePr>
        <p:xfrm>
          <a:off x="2743200" y="3657600"/>
          <a:ext cx="27432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169670" imgH="470535" progId="Equation.DSMT4">
                  <p:embed/>
                </p:oleObj>
              </mc:Choice>
              <mc:Fallback>
                <p:oleObj name="" r:id="rId3" imgW="1169670" imgH="470535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2743200" y="3657600"/>
                        <a:ext cx="2743200" cy="11033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charRg st="11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charRg st="11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charRg st="23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6915">
                                            <p:txEl>
                                              <p:charRg st="23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6793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有限长序列</a:t>
            </a:r>
            <a:endParaRPr lang="zh-CN" altLang="en-US" b="1" dirty="0"/>
          </a:p>
        </p:txBody>
      </p:sp>
      <p:sp>
        <p:nvSpPr>
          <p:cNvPr id="167939" name="文本占位符 167938"/>
          <p:cNvSpPr>
            <a:spLocks noGrp="1"/>
          </p:cNvSpPr>
          <p:nvPr>
            <p:ph type="body" sz="half" idx="1"/>
          </p:nvPr>
        </p:nvSpPr>
        <p:spPr>
          <a:xfrm>
            <a:off x="609600" y="3352800"/>
            <a:ext cx="6248400" cy="26670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zh-CN" altLang="en-US" sz="2800" b="1" i="1" dirty="0"/>
              <a:t>       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1&lt;0, 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2≤0</a:t>
            </a:r>
            <a:r>
              <a:rPr lang="zh-CN" altLang="en-US" sz="2800" b="1" dirty="0"/>
              <a:t>时，</a:t>
            </a:r>
            <a:r>
              <a:rPr lang="en-US" altLang="zh-CN" sz="2800" b="1" dirty="0"/>
              <a:t>ROC</a:t>
            </a:r>
            <a:r>
              <a:rPr lang="zh-CN" altLang="en-US" sz="2800" b="1" dirty="0"/>
              <a:t>为：</a:t>
            </a:r>
            <a:endParaRPr lang="zh-CN" altLang="en-US" sz="2800" b="1" dirty="0"/>
          </a:p>
          <a:p>
            <a:pPr eaLnBrk="1" hangingPunct="1">
              <a:lnSpc>
                <a:spcPct val="14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zh-CN" altLang="en-US" sz="2800" b="1" dirty="0"/>
              <a:t>　　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1&lt;0, 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2&gt;0</a:t>
            </a:r>
            <a:r>
              <a:rPr lang="zh-CN" altLang="en-US" sz="2800" b="1" dirty="0"/>
              <a:t>时， </a:t>
            </a:r>
            <a:r>
              <a:rPr lang="en-US" altLang="zh-CN" sz="2800" b="1" dirty="0"/>
              <a:t>ROC</a:t>
            </a:r>
            <a:r>
              <a:rPr lang="zh-CN" altLang="en-US" sz="2800" b="1" dirty="0"/>
              <a:t>为：</a:t>
            </a:r>
            <a:endParaRPr lang="zh-CN" altLang="en-US" sz="2800" b="1" dirty="0"/>
          </a:p>
          <a:p>
            <a:pPr eaLnBrk="1" hangingPunct="1">
              <a:lnSpc>
                <a:spcPct val="140000"/>
              </a:lnSpc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zh-CN" altLang="en-US" sz="2800" b="1" dirty="0"/>
              <a:t>　　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1≥0, 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2&gt;0</a:t>
            </a:r>
            <a:r>
              <a:rPr lang="zh-CN" altLang="en-US" sz="2800" b="1" dirty="0"/>
              <a:t>时， </a:t>
            </a:r>
            <a:r>
              <a:rPr lang="en-US" altLang="zh-CN" sz="2800" b="1" dirty="0"/>
              <a:t>ROC</a:t>
            </a:r>
            <a:r>
              <a:rPr lang="zh-CN" altLang="en-US" sz="2800" b="1" dirty="0"/>
              <a:t>为：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dirty="0"/>
          </a:p>
        </p:txBody>
      </p:sp>
      <p:graphicFrame>
        <p:nvGraphicFramePr>
          <p:cNvPr id="167940" name="内容占位符 167939"/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0" y="1524000"/>
          <a:ext cx="7696200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213100" imgH="698500" progId="Equation.3">
                  <p:embed/>
                </p:oleObj>
              </mc:Choice>
              <mc:Fallback>
                <p:oleObj name="" r:id="rId1" imgW="3213100" imgH="6985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762000" y="1524000"/>
                        <a:ext cx="7696200" cy="16732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1" name="矩形 167940"/>
          <p:cNvSpPr/>
          <p:nvPr/>
        </p:nvSpPr>
        <p:spPr>
          <a:xfrm>
            <a:off x="5867400" y="3505200"/>
            <a:ext cx="20399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0≤|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|&lt;∞</a:t>
            </a:r>
            <a:endParaRPr lang="en-US" altLang="zh-CN" sz="2800" b="1" dirty="0"/>
          </a:p>
        </p:txBody>
      </p:sp>
      <p:sp>
        <p:nvSpPr>
          <p:cNvPr id="167942" name="矩形 167941"/>
          <p:cNvSpPr/>
          <p:nvPr/>
        </p:nvSpPr>
        <p:spPr>
          <a:xfrm>
            <a:off x="5867400" y="4191000"/>
            <a:ext cx="18907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0&lt;|z|&lt;∞</a:t>
            </a:r>
            <a:endParaRPr lang="en-US" altLang="zh-CN" sz="2800" b="1" dirty="0"/>
          </a:p>
        </p:txBody>
      </p:sp>
      <p:sp>
        <p:nvSpPr>
          <p:cNvPr id="167943" name="矩形 167942"/>
          <p:cNvSpPr/>
          <p:nvPr/>
        </p:nvSpPr>
        <p:spPr>
          <a:xfrm>
            <a:off x="5715000" y="4876800"/>
            <a:ext cx="2133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0&lt;|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|≤∞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793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charRg st="25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7939">
                                            <p:txEl>
                                              <p:charRg st="25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charRg st="46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7939">
                                            <p:txEl>
                                              <p:charRg st="46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/>
      <p:bldP spid="167941" grpId="0"/>
      <p:bldP spid="167942" grpId="0"/>
      <p:bldP spid="1679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6896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有限长序列</a:t>
            </a:r>
            <a:endParaRPr lang="zh-CN" altLang="en-US" b="1" dirty="0"/>
          </a:p>
        </p:txBody>
      </p:sp>
      <p:sp>
        <p:nvSpPr>
          <p:cNvPr id="168963" name="文本占位符 16896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6200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zh-CN" altLang="en-US" sz="2800" b="1" dirty="0"/>
              <a:t>例</a:t>
            </a:r>
            <a:r>
              <a:rPr lang="en-US" altLang="zh-CN" sz="2800" b="1" dirty="0"/>
              <a:t>6</a:t>
            </a:r>
            <a:r>
              <a:rPr lang="zh-CN" altLang="en-US" sz="2800" b="1" dirty="0"/>
              <a:t>、求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)=</a:t>
            </a:r>
            <a:r>
              <a:rPr lang="en-US" altLang="zh-CN" sz="2800" b="1" i="1" dirty="0"/>
              <a:t>R</a:t>
            </a:r>
            <a:r>
              <a:rPr lang="en-US" altLang="zh-CN" sz="2800" b="1" i="1" baseline="-25000" dirty="0"/>
              <a:t>N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变换及其收敛域。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解：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收敛域为： </a:t>
            </a:r>
            <a:r>
              <a:rPr lang="en-US" altLang="zh-CN" sz="2800" b="1" dirty="0"/>
              <a:t>0&lt;|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|≤∞</a:t>
            </a:r>
            <a:endParaRPr lang="en-US" altLang="zh-CN" sz="2800" b="1" dirty="0"/>
          </a:p>
        </p:txBody>
      </p:sp>
      <p:graphicFrame>
        <p:nvGraphicFramePr>
          <p:cNvPr id="168964" name="内容占位符 168963"/>
          <p:cNvGraphicFramePr>
            <a:graphicFrameLocks noGrp="1" noChangeAspect="1"/>
          </p:cNvGraphicFramePr>
          <p:nvPr>
            <p:ph sz="half" idx="2"/>
          </p:nvPr>
        </p:nvGraphicFramePr>
        <p:xfrm>
          <a:off x="1219200" y="2667000"/>
          <a:ext cx="632460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2425700" imgH="444500" progId="Equation.DSMT4">
                  <p:embed/>
                </p:oleObj>
              </mc:Choice>
              <mc:Fallback>
                <p:oleObj name="" r:id="rId1" imgW="2425700" imgH="4445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219200" y="2667000"/>
                        <a:ext cx="6324600" cy="11588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charRg st="31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8963">
                                            <p:txEl>
                                              <p:charRg st="31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6998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右边序列</a:t>
            </a:r>
            <a:endParaRPr lang="zh-CN" altLang="en-US" b="1" dirty="0"/>
          </a:p>
        </p:txBody>
      </p:sp>
      <p:sp>
        <p:nvSpPr>
          <p:cNvPr id="14339" name="文本占位符 169986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6962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、右边序列</a:t>
            </a:r>
            <a:endParaRPr lang="zh-CN" altLang="en-US" sz="2800" b="1" dirty="0"/>
          </a:p>
        </p:txBody>
      </p:sp>
      <p:graphicFrame>
        <p:nvGraphicFramePr>
          <p:cNvPr id="169988" name="内容占位符 16998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676400" y="2514600"/>
          <a:ext cx="3352800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309370" imgH="483235" progId="Equation.3">
                  <p:embed/>
                </p:oleObj>
              </mc:Choice>
              <mc:Fallback>
                <p:oleObj name="" r:id="rId1" imgW="1309370" imgH="48323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676400" y="2514600"/>
                        <a:ext cx="3352800" cy="12366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1" name="图片 1699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286000"/>
            <a:ext cx="3816350" cy="20653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69990" name="对象 169989"/>
          <p:cNvGraphicFramePr>
            <a:graphicFrameLocks noChangeAspect="1"/>
          </p:cNvGraphicFramePr>
          <p:nvPr/>
        </p:nvGraphicFramePr>
        <p:xfrm>
          <a:off x="779463" y="4398963"/>
          <a:ext cx="325120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1169670" imgH="457835" progId="Equation.3">
                  <p:embed/>
                </p:oleObj>
              </mc:Choice>
              <mc:Fallback>
                <p:oleObj name="" r:id="rId4" imgW="1169670" imgH="45783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779463" y="4398963"/>
                        <a:ext cx="3251200" cy="1343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1" name="文本框 169990"/>
          <p:cNvSpPr txBox="1"/>
          <p:nvPr/>
        </p:nvSpPr>
        <p:spPr>
          <a:xfrm>
            <a:off x="914400" y="5805488"/>
            <a:ext cx="73056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800" b="1" dirty="0">
                <a:latin typeface="Times New Roman" panose="02020603050405020304" pitchFamily="18" charset="0"/>
              </a:rPr>
              <a:t>第一项为有限长序列，第二项为</a:t>
            </a:r>
            <a:r>
              <a:rPr lang="en-US" altLang="zh-CN" sz="2800" b="1" dirty="0"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的负幂级数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9992" name="对象 169991"/>
          <p:cNvGraphicFramePr>
            <a:graphicFrameLocks noChangeAspect="1"/>
          </p:cNvGraphicFramePr>
          <p:nvPr/>
        </p:nvGraphicFramePr>
        <p:xfrm>
          <a:off x="3810000" y="4454525"/>
          <a:ext cx="41910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6" imgW="1423670" imgH="381635" progId="Equation.3">
                  <p:embed/>
                </p:oleObj>
              </mc:Choice>
              <mc:Fallback>
                <p:oleObj name="" r:id="rId6" imgW="1423670" imgH="38163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10000" y="4454525"/>
                        <a:ext cx="4191000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7100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右边序列</a:t>
            </a:r>
            <a:endParaRPr lang="zh-CN" altLang="en-US" b="1" dirty="0"/>
          </a:p>
        </p:txBody>
      </p:sp>
      <p:graphicFrame>
        <p:nvGraphicFramePr>
          <p:cNvPr id="15363" name="对象 171010"/>
          <p:cNvGraphicFramePr>
            <a:graphicFrameLocks noChangeAspect="1"/>
          </p:cNvGraphicFramePr>
          <p:nvPr/>
        </p:nvGraphicFramePr>
        <p:xfrm>
          <a:off x="990600" y="2036763"/>
          <a:ext cx="2827338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016635" imgH="381635" progId="Equation.3">
                  <p:embed/>
                </p:oleObj>
              </mc:Choice>
              <mc:Fallback>
                <p:oleObj name="" r:id="rId1" imgW="1016635" imgH="38163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2036763"/>
                        <a:ext cx="2827338" cy="1119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对象 171011"/>
          <p:cNvGraphicFramePr>
            <a:graphicFrameLocks noChangeAspect="1"/>
          </p:cNvGraphicFramePr>
          <p:nvPr/>
        </p:nvGraphicFramePr>
        <p:xfrm>
          <a:off x="3810000" y="1981200"/>
          <a:ext cx="41910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423670" imgH="381635" progId="Equation.3">
                  <p:embed/>
                </p:oleObj>
              </mc:Choice>
              <mc:Fallback>
                <p:oleObj name="" r:id="rId3" imgW="1423670" imgH="38163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0" y="1981200"/>
                        <a:ext cx="4191000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3" name="文本框 171012"/>
          <p:cNvSpPr txBox="1"/>
          <p:nvPr/>
        </p:nvSpPr>
        <p:spPr>
          <a:xfrm>
            <a:off x="1736725" y="3409950"/>
            <a:ext cx="13763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latin typeface="Tahoma" panose="020B0604030504040204" pitchFamily="34" charset="0"/>
              </a:rPr>
              <a:t>收敛域</a:t>
            </a:r>
            <a:r>
              <a:rPr lang="en-US" altLang="zh-CN" sz="2800" dirty="0">
                <a:latin typeface="Tahoma" panose="020B0604030504040204" pitchFamily="34" charset="0"/>
              </a:rPr>
              <a:t>:</a:t>
            </a:r>
            <a:endParaRPr lang="en-US" altLang="zh-CN" sz="2800" dirty="0">
              <a:latin typeface="Tahoma" panose="020B0604030504040204" pitchFamily="34" charset="0"/>
            </a:endParaRPr>
          </a:p>
        </p:txBody>
      </p:sp>
      <p:graphicFrame>
        <p:nvGraphicFramePr>
          <p:cNvPr id="171014" name="对象 171013"/>
          <p:cNvGraphicFramePr>
            <a:graphicFrameLocks noChangeAspect="1"/>
          </p:cNvGraphicFramePr>
          <p:nvPr/>
        </p:nvGraphicFramePr>
        <p:xfrm>
          <a:off x="3962400" y="3429000"/>
          <a:ext cx="18288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558800" imgH="215900" progId="Equation.3">
                  <p:embed/>
                </p:oleObj>
              </mc:Choice>
              <mc:Fallback>
                <p:oleObj name="" r:id="rId5" imgW="558800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2400" y="3429000"/>
                        <a:ext cx="1828800" cy="706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5" name="对象 171014"/>
          <p:cNvGraphicFramePr>
            <a:graphicFrameLocks noChangeAspect="1"/>
          </p:cNvGraphicFramePr>
          <p:nvPr/>
        </p:nvGraphicFramePr>
        <p:xfrm>
          <a:off x="6113463" y="3406775"/>
          <a:ext cx="2097087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736600" imgH="215900" progId="Equation.3">
                  <p:embed/>
                </p:oleObj>
              </mc:Choice>
              <mc:Fallback>
                <p:oleObj name="" r:id="rId7" imgW="736600" imgH="215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6113463" y="3406775"/>
                        <a:ext cx="2097087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6" name="直接连接符 171015"/>
          <p:cNvSpPr/>
          <p:nvPr/>
        </p:nvSpPr>
        <p:spPr>
          <a:xfrm>
            <a:off x="4953000" y="30480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1017" name="直接连接符 171016"/>
          <p:cNvSpPr/>
          <p:nvPr/>
        </p:nvSpPr>
        <p:spPr>
          <a:xfrm>
            <a:off x="7010400" y="30480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1018" name="文本框 171017"/>
          <p:cNvSpPr txBox="1"/>
          <p:nvPr/>
        </p:nvSpPr>
        <p:spPr>
          <a:xfrm>
            <a:off x="762000" y="4311650"/>
            <a:ext cx="4806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latin typeface="Tahoma" panose="020B0604030504040204" pitchFamily="34" charset="0"/>
              </a:rPr>
              <a:t>所以：右边序列的收敛域为：</a:t>
            </a:r>
            <a:endParaRPr lang="zh-CN" altLang="en-US" sz="2800" dirty="0">
              <a:latin typeface="Tahoma" panose="020B0604030504040204" pitchFamily="34" charset="0"/>
            </a:endParaRPr>
          </a:p>
        </p:txBody>
      </p:sp>
      <p:graphicFrame>
        <p:nvGraphicFramePr>
          <p:cNvPr id="171019" name="对象 171018"/>
          <p:cNvGraphicFramePr>
            <a:graphicFrameLocks noChangeAspect="1"/>
          </p:cNvGraphicFramePr>
          <p:nvPr/>
        </p:nvGraphicFramePr>
        <p:xfrm>
          <a:off x="2249488" y="4953000"/>
          <a:ext cx="20986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9" imgW="736600" imgH="215900" progId="Equation.3">
                  <p:embed/>
                </p:oleObj>
              </mc:Choice>
              <mc:Fallback>
                <p:oleObj name="" r:id="rId9" imgW="736600" imgH="2159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249488" y="4953000"/>
                        <a:ext cx="2098675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20" name="文本框 171019"/>
          <p:cNvSpPr txBox="1"/>
          <p:nvPr/>
        </p:nvSpPr>
        <p:spPr>
          <a:xfrm>
            <a:off x="838200" y="5653088"/>
            <a:ext cx="4806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latin typeface="Tahoma" panose="020B0604030504040204" pitchFamily="34" charset="0"/>
              </a:rPr>
              <a:t>（圆外，但不包括无穷远处）</a:t>
            </a:r>
            <a:endParaRPr lang="zh-CN" altLang="en-US" sz="2800" dirty="0">
              <a:latin typeface="Tahoma" panose="020B0604030504040204" pitchFamily="34" charset="0"/>
            </a:endParaRPr>
          </a:p>
        </p:txBody>
      </p:sp>
      <p:graphicFrame>
        <p:nvGraphicFramePr>
          <p:cNvPr id="171021" name="对象 171020"/>
          <p:cNvGraphicFramePr>
            <a:graphicFrameLocks noChangeAspect="1"/>
          </p:cNvGraphicFramePr>
          <p:nvPr/>
        </p:nvGraphicFramePr>
        <p:xfrm>
          <a:off x="5715000" y="4343400"/>
          <a:ext cx="26765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1" imgW="2676525" imgH="1828800" progId="Paint.Picture">
                  <p:embed/>
                </p:oleObj>
              </mc:Choice>
              <mc:Fallback>
                <p:oleObj name="" r:id="rId11" imgW="2676525" imgH="1828800" progId="Paint.Picture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15000" y="4343400"/>
                        <a:ext cx="2676525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3" grpId="0"/>
      <p:bldP spid="171018" grpId="0"/>
      <p:bldP spid="1710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7203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右边序列之因果序列</a:t>
            </a:r>
            <a:endParaRPr lang="zh-CN" altLang="en-US" b="1" dirty="0"/>
          </a:p>
        </p:txBody>
      </p:sp>
      <p:sp>
        <p:nvSpPr>
          <p:cNvPr id="172035" name="内容占位符 17203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    </a:t>
            </a:r>
            <a:r>
              <a:rPr lang="zh-CN" altLang="en-US" b="1" dirty="0"/>
              <a:t>特殊情况还可扩大：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    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 </a:t>
            </a:r>
            <a:r>
              <a:rPr lang="zh-CN" altLang="en-US" b="1" dirty="0">
                <a:solidFill>
                  <a:srgbClr val="990000"/>
                </a:solidFill>
              </a:rPr>
              <a:t>因果序列：</a:t>
            </a:r>
            <a:endParaRPr lang="zh-CN" altLang="en-US" b="1" dirty="0">
              <a:solidFill>
                <a:srgbClr val="990000"/>
              </a:solidFill>
            </a:endParaRPr>
          </a:p>
          <a:p>
            <a:pPr eaLnBrk="1" hangingPunct="1">
              <a:buNone/>
            </a:pPr>
            <a:r>
              <a:rPr lang="zh-CN" altLang="en-US" b="1" dirty="0"/>
              <a:t>       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 它是一种最重要的右边序列</a:t>
            </a:r>
            <a:r>
              <a:rPr lang="en-US" altLang="zh-CN" b="1" dirty="0"/>
              <a:t>, </a:t>
            </a:r>
            <a:r>
              <a:rPr lang="zh-CN" altLang="en-US" b="1" dirty="0"/>
              <a:t>收敛域为：</a:t>
            </a:r>
            <a:endParaRPr lang="zh-CN" altLang="en-US" b="1" dirty="0"/>
          </a:p>
        </p:txBody>
      </p:sp>
      <p:graphicFrame>
        <p:nvGraphicFramePr>
          <p:cNvPr id="172036" name="对象 172035"/>
          <p:cNvGraphicFramePr>
            <a:graphicFrameLocks noChangeAspect="1"/>
          </p:cNvGraphicFramePr>
          <p:nvPr/>
        </p:nvGraphicFramePr>
        <p:xfrm>
          <a:off x="2895600" y="4495800"/>
          <a:ext cx="228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788035" imgH="254000" progId="Equation.3">
                  <p:embed/>
                </p:oleObj>
              </mc:Choice>
              <mc:Fallback>
                <p:oleObj name="" r:id="rId1" imgW="788035" imgH="2540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895600" y="4495800"/>
                        <a:ext cx="22860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7" name="对象 172036"/>
          <p:cNvGraphicFramePr>
            <a:graphicFrameLocks noChangeAspect="1"/>
          </p:cNvGraphicFramePr>
          <p:nvPr/>
        </p:nvGraphicFramePr>
        <p:xfrm>
          <a:off x="3124200" y="2514600"/>
          <a:ext cx="31242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1259205" imgH="457835" progId="Equation.3">
                  <p:embed/>
                </p:oleObj>
              </mc:Choice>
              <mc:Fallback>
                <p:oleObj name="" r:id="rId3" imgW="1259205" imgH="45783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>
                        <a:lum bright="-95999"/>
                      </a:blip>
                      <a:stretch>
                        <a:fillRect/>
                      </a:stretch>
                    </p:blipFill>
                    <p:spPr>
                      <a:xfrm>
                        <a:off x="3124200" y="2514600"/>
                        <a:ext cx="3124200" cy="1135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38" name="文本框 172037"/>
          <p:cNvSpPr txBox="1"/>
          <p:nvPr/>
        </p:nvSpPr>
        <p:spPr>
          <a:xfrm>
            <a:off x="1905000" y="5257800"/>
            <a:ext cx="48863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（圆外，且包括无穷远处）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charRg st="2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2035">
                                            <p:txEl>
                                              <p:charRg st="2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charRg st="4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2035">
                                            <p:txEl>
                                              <p:charRg st="40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305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右边序列之因果序列</a:t>
            </a:r>
            <a:endParaRPr lang="zh-CN" altLang="en-US" b="1" dirty="0"/>
          </a:p>
        </p:txBody>
      </p:sp>
      <p:sp>
        <p:nvSpPr>
          <p:cNvPr id="173059" name="文本占位符 173058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0866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zh-CN" altLang="en-US" sz="2800" b="1" dirty="0">
                <a:solidFill>
                  <a:srgbClr val="990000"/>
                </a:solidFill>
                <a:latin typeface="宋体" panose="02010600030101010101" pitchFamily="2" charset="-122"/>
              </a:rPr>
              <a:t>因果序列</a:t>
            </a:r>
            <a:r>
              <a:rPr lang="zh-CN" altLang="en-US" sz="2800" b="1" dirty="0">
                <a:latin typeface="宋体" panose="02010600030101010101" pitchFamily="2" charset="-122"/>
              </a:rPr>
              <a:t>是一种最重要的右边序列，收敛域为：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en-US" altLang="zh-CN" sz="2800" b="1" dirty="0">
                <a:latin typeface="宋体" panose="02010600030101010101" pitchFamily="2" charset="-122"/>
              </a:rPr>
              <a:t>|Z|=</a:t>
            </a:r>
            <a:r>
              <a:rPr lang="en-US" altLang="zh-CN" sz="2800" b="1" dirty="0"/>
              <a:t>∞</a:t>
            </a:r>
            <a:r>
              <a:rPr lang="zh-CN" altLang="en-US" sz="2800" b="1" dirty="0"/>
              <a:t>处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变换收敛是因果序列的特征。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•"/>
            </a:pPr>
            <a:r>
              <a:rPr lang="zh-CN" altLang="en-US" sz="2800" b="1" dirty="0"/>
              <a:t>在∞处收敛的序列必为因果序列。</a:t>
            </a:r>
            <a:endParaRPr lang="zh-CN" altLang="en-US" sz="2800" b="1" dirty="0"/>
          </a:p>
        </p:txBody>
      </p:sp>
      <p:graphicFrame>
        <p:nvGraphicFramePr>
          <p:cNvPr id="173060" name="内容占位符 173059"/>
          <p:cNvGraphicFramePr>
            <a:graphicFrameLocks noGrp="1" noChangeAspect="1"/>
          </p:cNvGraphicFramePr>
          <p:nvPr>
            <p:ph sz="half" idx="2"/>
          </p:nvPr>
        </p:nvGraphicFramePr>
        <p:xfrm>
          <a:off x="2667000" y="2819400"/>
          <a:ext cx="24892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788035" imgH="254000" progId="Equation.3">
                  <p:embed/>
                </p:oleObj>
              </mc:Choice>
              <mc:Fallback>
                <p:oleObj name="" r:id="rId1" imgW="788035" imgH="2540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2667000" y="2819400"/>
                        <a:ext cx="2489200" cy="8032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5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charRg st="25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3059">
                                            <p:txEl>
                                              <p:charRg st="25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3059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7408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左边序列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8435" name="文本占位符 17408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</a:t>
            </a:r>
            <a:r>
              <a:rPr lang="zh-CN" altLang="en-US" b="1" dirty="0">
                <a:latin typeface="宋体" panose="02010600030101010101" pitchFamily="2" charset="-122"/>
              </a:rPr>
              <a:t>左边序列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/>
              <a:t>          </a:t>
            </a:r>
            <a:endParaRPr lang="zh-CN" altLang="en-US" b="1" dirty="0"/>
          </a:p>
        </p:txBody>
      </p:sp>
      <p:graphicFrame>
        <p:nvGraphicFramePr>
          <p:cNvPr id="174084" name="对象 174083"/>
          <p:cNvGraphicFramePr>
            <a:graphicFrameLocks noChangeAspect="1"/>
          </p:cNvGraphicFramePr>
          <p:nvPr/>
        </p:nvGraphicFramePr>
        <p:xfrm>
          <a:off x="1371600" y="2590800"/>
          <a:ext cx="350520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372870" imgH="483235" progId="Equation.3">
                  <p:embed/>
                </p:oleObj>
              </mc:Choice>
              <mc:Fallback>
                <p:oleObj name="" r:id="rId1" imgW="1372870" imgH="48323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2590800"/>
                        <a:ext cx="3505200" cy="1230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5" name="对象 174084"/>
          <p:cNvGraphicFramePr>
            <a:graphicFrameLocks noChangeAspect="1"/>
          </p:cNvGraphicFramePr>
          <p:nvPr/>
        </p:nvGraphicFramePr>
        <p:xfrm>
          <a:off x="4953000" y="2438400"/>
          <a:ext cx="3816350" cy="159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3" imgW="2076450" imgH="866775" progId="Paint.Picture">
                  <p:embed/>
                </p:oleObj>
              </mc:Choice>
              <mc:Fallback>
                <p:oleObj name="" r:id="rId3" imgW="2076450" imgH="866775" progId="Paint.Picture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0" y="2438400"/>
                        <a:ext cx="3816350" cy="1592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6" name="对象 174085"/>
          <p:cNvGraphicFramePr>
            <a:graphicFrameLocks noChangeAspect="1"/>
          </p:cNvGraphicFramePr>
          <p:nvPr/>
        </p:nvGraphicFramePr>
        <p:xfrm>
          <a:off x="3886200" y="4495800"/>
          <a:ext cx="33528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1398905" imgH="368935" progId="Equation.3">
                  <p:embed/>
                </p:oleObj>
              </mc:Choice>
              <mc:Fallback>
                <p:oleObj name="" r:id="rId5" imgW="1398905" imgH="36893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6200" y="4495800"/>
                        <a:ext cx="3352800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7" name="文本框 174086"/>
          <p:cNvSpPr txBox="1"/>
          <p:nvPr/>
        </p:nvSpPr>
        <p:spPr>
          <a:xfrm>
            <a:off x="1116013" y="5791200"/>
            <a:ext cx="73056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sz="2800" b="1" dirty="0">
                <a:latin typeface="Times New Roman" panose="02020603050405020304" pitchFamily="18" charset="0"/>
              </a:rPr>
              <a:t>第一项为</a:t>
            </a:r>
            <a:r>
              <a:rPr lang="en-US" altLang="zh-CN" sz="2800" b="1" dirty="0"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的正幂级数，第二项为有限长序列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4088" name="对象 174087"/>
          <p:cNvGraphicFramePr>
            <a:graphicFrameLocks noChangeAspect="1"/>
          </p:cNvGraphicFramePr>
          <p:nvPr/>
        </p:nvGraphicFramePr>
        <p:xfrm>
          <a:off x="1143000" y="4419600"/>
          <a:ext cx="28194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7" imgW="1029970" imgH="368935" progId="Equation.3">
                  <p:embed/>
                </p:oleObj>
              </mc:Choice>
              <mc:Fallback>
                <p:oleObj name="" r:id="rId7" imgW="1029970" imgH="36893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3000" y="4419600"/>
                        <a:ext cx="281940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7510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左边序列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aphicFrame>
        <p:nvGraphicFramePr>
          <p:cNvPr id="19459" name="对象 175106"/>
          <p:cNvGraphicFramePr>
            <a:graphicFrameLocks noChangeAspect="1"/>
          </p:cNvGraphicFramePr>
          <p:nvPr/>
        </p:nvGraphicFramePr>
        <p:xfrm>
          <a:off x="3886200" y="1936750"/>
          <a:ext cx="38100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398905" imgH="368935" progId="Equation.3">
                  <p:embed/>
                </p:oleObj>
              </mc:Choice>
              <mc:Fallback>
                <p:oleObj name="" r:id="rId1" imgW="1398905" imgH="36893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86200" y="1936750"/>
                        <a:ext cx="3810000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对象 175107"/>
          <p:cNvGraphicFramePr>
            <a:graphicFrameLocks noChangeAspect="1"/>
          </p:cNvGraphicFramePr>
          <p:nvPr/>
        </p:nvGraphicFramePr>
        <p:xfrm>
          <a:off x="1143000" y="1905000"/>
          <a:ext cx="28194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029970" imgH="368935" progId="Equation.3">
                  <p:embed/>
                </p:oleObj>
              </mc:Choice>
              <mc:Fallback>
                <p:oleObj name="" r:id="rId3" imgW="1029970" imgH="36893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1905000"/>
                        <a:ext cx="281940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文本框 175108"/>
          <p:cNvSpPr txBox="1"/>
          <p:nvPr/>
        </p:nvSpPr>
        <p:spPr>
          <a:xfrm>
            <a:off x="1900238" y="3367088"/>
            <a:ext cx="13843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收敛域</a:t>
            </a:r>
            <a:r>
              <a:rPr lang="en-US" altLang="zh-CN" sz="2800" b="1" dirty="0">
                <a:latin typeface="Tahoma" panose="020B0604030504040204" pitchFamily="34" charset="0"/>
              </a:rPr>
              <a:t>: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graphicFrame>
        <p:nvGraphicFramePr>
          <p:cNvPr id="175110" name="对象 175109"/>
          <p:cNvGraphicFramePr>
            <a:graphicFrameLocks noChangeAspect="1"/>
          </p:cNvGraphicFramePr>
          <p:nvPr/>
        </p:nvGraphicFramePr>
        <p:xfrm>
          <a:off x="3352800" y="3200400"/>
          <a:ext cx="23701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800735" imgH="254000" progId="Equation.3">
                  <p:embed/>
                </p:oleObj>
              </mc:Choice>
              <mc:Fallback>
                <p:oleObj name="" r:id="rId5" imgW="800735" imgH="2540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52800" y="3200400"/>
                        <a:ext cx="2370138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1" name="对象 175110"/>
          <p:cNvGraphicFramePr>
            <a:graphicFrameLocks noChangeAspect="1"/>
          </p:cNvGraphicFramePr>
          <p:nvPr/>
        </p:nvGraphicFramePr>
        <p:xfrm>
          <a:off x="6019800" y="3184525"/>
          <a:ext cx="19050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7" imgW="558800" imgH="215900" progId="Equation.3">
                  <p:embed/>
                </p:oleObj>
              </mc:Choice>
              <mc:Fallback>
                <p:oleObj name="" r:id="rId7" imgW="558800" imgH="2159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8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6019800" y="3184525"/>
                        <a:ext cx="1905000" cy="731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2" name="直接连接符 175111"/>
          <p:cNvSpPr/>
          <p:nvPr/>
        </p:nvSpPr>
        <p:spPr>
          <a:xfrm>
            <a:off x="4648200" y="28956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5113" name="直接连接符 175112"/>
          <p:cNvSpPr/>
          <p:nvPr/>
        </p:nvSpPr>
        <p:spPr>
          <a:xfrm>
            <a:off x="6705600" y="28956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5114" name="文本框 175113"/>
          <p:cNvSpPr txBox="1"/>
          <p:nvPr/>
        </p:nvSpPr>
        <p:spPr>
          <a:xfrm>
            <a:off x="1049338" y="4159250"/>
            <a:ext cx="48275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所以：左边序列的收敛域为：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175115" name="文本框 175114"/>
          <p:cNvSpPr txBox="1"/>
          <p:nvPr/>
        </p:nvSpPr>
        <p:spPr>
          <a:xfrm>
            <a:off x="1655763" y="5486400"/>
            <a:ext cx="36258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（圆内，但不包括</a:t>
            </a:r>
            <a:r>
              <a:rPr lang="en-US" altLang="zh-CN" sz="2800" b="1" dirty="0">
                <a:latin typeface="Tahoma" panose="020B0604030504040204" pitchFamily="34" charset="0"/>
              </a:rPr>
              <a:t>0</a:t>
            </a:r>
            <a:r>
              <a:rPr lang="zh-CN" altLang="en-US" sz="2800" b="1" dirty="0">
                <a:latin typeface="Tahoma" panose="020B0604030504040204" pitchFamily="34" charset="0"/>
              </a:rPr>
              <a:t>）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graphicFrame>
        <p:nvGraphicFramePr>
          <p:cNvPr id="175116" name="对象 175115"/>
          <p:cNvGraphicFramePr>
            <a:graphicFrameLocks noChangeAspect="1"/>
          </p:cNvGraphicFramePr>
          <p:nvPr/>
        </p:nvGraphicFramePr>
        <p:xfrm>
          <a:off x="2027238" y="4587875"/>
          <a:ext cx="25527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9" imgW="800735" imgH="254000" progId="Equation.3">
                  <p:embed/>
                </p:oleObj>
              </mc:Choice>
              <mc:Fallback>
                <p:oleObj name="" r:id="rId9" imgW="800735" imgH="2540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27238" y="4587875"/>
                        <a:ext cx="2552700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7" name="对象 175116"/>
          <p:cNvGraphicFramePr>
            <a:graphicFrameLocks noChangeAspect="1"/>
          </p:cNvGraphicFramePr>
          <p:nvPr/>
        </p:nvGraphicFramePr>
        <p:xfrm>
          <a:off x="5943600" y="3962400"/>
          <a:ext cx="2438400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1" imgW="2200275" imgH="1857375" progId="Paint.Picture">
                  <p:embed/>
                </p:oleObj>
              </mc:Choice>
              <mc:Fallback>
                <p:oleObj name="" r:id="rId11" imgW="2200275" imgH="1857375" progId="Paint.Picture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43600" y="3962400"/>
                        <a:ext cx="2438400" cy="2058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5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5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9" grpId="0"/>
      <p:bldP spid="175114" grpId="0"/>
      <p:bldP spid="1751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7612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左边序列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0483" name="文本占位符 176130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/>
              <a:t>       </a:t>
            </a:r>
            <a:endParaRPr lang="en-US" altLang="zh-CN" sz="2800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b="1" dirty="0"/>
              <a:t>     </a:t>
            </a:r>
            <a:r>
              <a:rPr lang="zh-CN" altLang="en-US" sz="2800" b="1" dirty="0"/>
              <a:t>反因果序列：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dirty="0"/>
              <a:t>       </a:t>
            </a:r>
            <a:endParaRPr lang="zh-CN" altLang="en-US" sz="2800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 收敛域为：</a:t>
            </a:r>
            <a:endParaRPr lang="zh-CN" altLang="en-US" sz="2800" b="1" dirty="0"/>
          </a:p>
        </p:txBody>
      </p:sp>
      <p:graphicFrame>
        <p:nvGraphicFramePr>
          <p:cNvPr id="20484" name="对象 176131"/>
          <p:cNvGraphicFramePr>
            <a:graphicFrameLocks noChangeAspect="1"/>
          </p:cNvGraphicFramePr>
          <p:nvPr/>
        </p:nvGraphicFramePr>
        <p:xfrm>
          <a:off x="3429000" y="2084388"/>
          <a:ext cx="33528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1080135" imgH="394335" progId="Equation.3">
                  <p:embed/>
                </p:oleObj>
              </mc:Choice>
              <mc:Fallback>
                <p:oleObj name="" r:id="rId1" imgW="1080135" imgH="394335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>
                        <a:lum bright="-95999"/>
                      </a:blip>
                      <a:stretch>
                        <a:fillRect/>
                      </a:stretch>
                    </p:blipFill>
                    <p:spPr>
                      <a:xfrm>
                        <a:off x="3429000" y="2084388"/>
                        <a:ext cx="3352800" cy="1222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33" name="文本框 176132"/>
          <p:cNvSpPr txBox="1"/>
          <p:nvPr/>
        </p:nvSpPr>
        <p:spPr>
          <a:xfrm>
            <a:off x="2133600" y="4876800"/>
            <a:ext cx="487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（圆内，且包括</a:t>
            </a:r>
            <a:r>
              <a:rPr lang="en-US" altLang="zh-CN" sz="2800" b="1" dirty="0">
                <a:latin typeface="Tahoma" panose="020B0604030504040204" pitchFamily="34" charset="0"/>
              </a:rPr>
              <a:t>0</a:t>
            </a:r>
            <a:r>
              <a:rPr lang="zh-CN" altLang="en-US" sz="2800" b="1" dirty="0">
                <a:latin typeface="Tahoma" panose="020B0604030504040204" pitchFamily="34" charset="0"/>
              </a:rPr>
              <a:t>）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graphicFrame>
        <p:nvGraphicFramePr>
          <p:cNvPr id="176134" name="内容占位符 176133"/>
          <p:cNvGraphicFramePr>
            <a:graphicFrameLocks noGrp="1" noChangeAspect="1"/>
          </p:cNvGraphicFramePr>
          <p:nvPr>
            <p:ph sz="half" idx="2"/>
          </p:nvPr>
        </p:nvGraphicFramePr>
        <p:xfrm>
          <a:off x="3048000" y="3733800"/>
          <a:ext cx="27432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800735" imgH="254000" progId="Equation.3">
                  <p:embed/>
                </p:oleObj>
              </mc:Choice>
              <mc:Fallback>
                <p:oleObj name="" r:id="rId3" imgW="800735" imgH="2540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3048000" y="3733800"/>
                        <a:ext cx="2743200" cy="8699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7154" name="对象 177153"/>
          <p:cNvGraphicFramePr>
            <a:graphicFrameLocks noChangeAspect="1"/>
          </p:cNvGraphicFramePr>
          <p:nvPr/>
        </p:nvGraphicFramePr>
        <p:xfrm>
          <a:off x="1600200" y="3048000"/>
          <a:ext cx="5545138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3629025" imgH="1285875" progId="Paint.Picture">
                  <p:embed/>
                </p:oleObj>
              </mc:Choice>
              <mc:Fallback>
                <p:oleObj name="" r:id="rId1" imgW="3629025" imgH="1285875" progId="Paint.Picture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3048000"/>
                        <a:ext cx="5545138" cy="196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标题 17715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双边序列</a:t>
            </a:r>
            <a:endParaRPr lang="zh-CN" altLang="en-US" b="1" dirty="0"/>
          </a:p>
        </p:txBody>
      </p:sp>
      <p:sp>
        <p:nvSpPr>
          <p:cNvPr id="177156" name="内容占位符 17715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4</a:t>
            </a:r>
            <a:r>
              <a:rPr lang="zh-CN" altLang="en-US" b="1" dirty="0"/>
              <a:t>）双边序列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       双边序列可看做</a:t>
            </a:r>
            <a:r>
              <a:rPr lang="zh-CN" altLang="en-US" b="1" dirty="0">
                <a:latin typeface="宋体" panose="02010600030101010101" pitchFamily="2" charset="-122"/>
              </a:rPr>
              <a:t>左边序列和右边序列之和。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b="1" dirty="0"/>
          </a:p>
        </p:txBody>
      </p:sp>
      <p:graphicFrame>
        <p:nvGraphicFramePr>
          <p:cNvPr id="177157" name="对象 177156"/>
          <p:cNvGraphicFramePr>
            <a:graphicFrameLocks noChangeAspect="1"/>
          </p:cNvGraphicFramePr>
          <p:nvPr/>
        </p:nvGraphicFramePr>
        <p:xfrm>
          <a:off x="1143000" y="5191125"/>
          <a:ext cx="65532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2413000" imgH="368300" progId="Equation.3">
                  <p:embed/>
                </p:oleObj>
              </mc:Choice>
              <mc:Fallback>
                <p:oleObj name="" r:id="rId3" imgW="2413000" imgH="3683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5191125"/>
                        <a:ext cx="6553200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charRg st="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56">
                                            <p:txEl>
                                              <p:charRg st="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7817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双边序列</a:t>
            </a:r>
            <a:endParaRPr lang="zh-CN" altLang="en-US" b="1" dirty="0"/>
          </a:p>
        </p:txBody>
      </p:sp>
      <p:graphicFrame>
        <p:nvGraphicFramePr>
          <p:cNvPr id="22531" name="对象 178178"/>
          <p:cNvGraphicFramePr>
            <a:graphicFrameLocks noChangeAspect="1"/>
          </p:cNvGraphicFramePr>
          <p:nvPr/>
        </p:nvGraphicFramePr>
        <p:xfrm>
          <a:off x="1066800" y="1981200"/>
          <a:ext cx="65532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2413000" imgH="368300" progId="Equation.3">
                  <p:embed/>
                </p:oleObj>
              </mc:Choice>
              <mc:Fallback>
                <p:oleObj name="" r:id="rId1" imgW="2413000" imgH="3683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>
                        <a:biLevel thresh="50000"/>
                        <a:grayscl/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066800" y="1981200"/>
                        <a:ext cx="6553200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0" name="文本框 178179"/>
          <p:cNvSpPr txBox="1"/>
          <p:nvPr/>
        </p:nvSpPr>
        <p:spPr>
          <a:xfrm>
            <a:off x="1431925" y="3409950"/>
            <a:ext cx="13843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收敛域</a:t>
            </a:r>
            <a:r>
              <a:rPr lang="en-US" altLang="zh-CN" sz="2800" b="1" dirty="0">
                <a:latin typeface="Tahoma" panose="020B0604030504040204" pitchFamily="34" charset="0"/>
              </a:rPr>
              <a:t>: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graphicFrame>
        <p:nvGraphicFramePr>
          <p:cNvPr id="178181" name="对象 178180"/>
          <p:cNvGraphicFramePr>
            <a:graphicFrameLocks noChangeAspect="1"/>
          </p:cNvGraphicFramePr>
          <p:nvPr/>
        </p:nvGraphicFramePr>
        <p:xfrm>
          <a:off x="3413125" y="3429000"/>
          <a:ext cx="2189163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711200" imgH="215900" progId="Equation.3">
                  <p:embed/>
                </p:oleObj>
              </mc:Choice>
              <mc:Fallback>
                <p:oleObj name="" r:id="rId3" imgW="711200" imgH="2159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3125" y="3429000"/>
                        <a:ext cx="2189163" cy="665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2" name="对象 178181"/>
          <p:cNvGraphicFramePr>
            <a:graphicFrameLocks noChangeAspect="1"/>
          </p:cNvGraphicFramePr>
          <p:nvPr/>
        </p:nvGraphicFramePr>
        <p:xfrm>
          <a:off x="5810250" y="3406775"/>
          <a:ext cx="20955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5" imgW="736600" imgH="215900" progId="Equation.3">
                  <p:embed/>
                </p:oleObj>
              </mc:Choice>
              <mc:Fallback>
                <p:oleObj name="" r:id="rId5" imgW="736600" imgH="2159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6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5810250" y="3406775"/>
                        <a:ext cx="2095500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3" name="直接连接符 178182"/>
          <p:cNvSpPr/>
          <p:nvPr/>
        </p:nvSpPr>
        <p:spPr>
          <a:xfrm>
            <a:off x="4648200" y="30480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8184" name="直接连接符 178183"/>
          <p:cNvSpPr/>
          <p:nvPr/>
        </p:nvSpPr>
        <p:spPr>
          <a:xfrm>
            <a:off x="6705600" y="30480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8185" name="文本框 178184"/>
          <p:cNvSpPr txBox="1"/>
          <p:nvPr/>
        </p:nvSpPr>
        <p:spPr>
          <a:xfrm>
            <a:off x="1049338" y="4311650"/>
            <a:ext cx="48275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所以：双边序列的收敛域为：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graphicFrame>
        <p:nvGraphicFramePr>
          <p:cNvPr id="178186" name="对象 178185"/>
          <p:cNvGraphicFramePr>
            <a:graphicFrameLocks noChangeAspect="1"/>
          </p:cNvGraphicFramePr>
          <p:nvPr/>
        </p:nvGraphicFramePr>
        <p:xfrm>
          <a:off x="2136775" y="4800600"/>
          <a:ext cx="25336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7" imgW="889000" imgH="215900" progId="Equation.3">
                  <p:embed/>
                </p:oleObj>
              </mc:Choice>
              <mc:Fallback>
                <p:oleObj name="" r:id="rId7" imgW="889000" imgH="2159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136775" y="4800600"/>
                        <a:ext cx="2533650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7" name="文本框 178186"/>
          <p:cNvSpPr txBox="1"/>
          <p:nvPr/>
        </p:nvSpPr>
        <p:spPr>
          <a:xfrm>
            <a:off x="2438400" y="5486400"/>
            <a:ext cx="17176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（环域 ）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graphicFrame>
        <p:nvGraphicFramePr>
          <p:cNvPr id="178188" name="对象 178187"/>
          <p:cNvGraphicFramePr>
            <a:graphicFrameLocks noChangeAspect="1"/>
          </p:cNvGraphicFramePr>
          <p:nvPr/>
        </p:nvGraphicFramePr>
        <p:xfrm>
          <a:off x="5867400" y="4191000"/>
          <a:ext cx="2590800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9" imgW="2628900" imgH="2095500" progId="Paint.Picture">
                  <p:embed/>
                </p:oleObj>
              </mc:Choice>
              <mc:Fallback>
                <p:oleObj name="" r:id="rId9" imgW="2628900" imgH="2095500" progId="Paint.Picture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7400" y="4191000"/>
                        <a:ext cx="2590800" cy="2065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0" grpId="0"/>
      <p:bldP spid="178185" grpId="0"/>
      <p:bldP spid="17818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7920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800" dirty="0"/>
              <a:t>序列特性对收敛域的影响</a:t>
            </a:r>
            <a:endParaRPr lang="zh-CN" altLang="en-US" sz="3800" dirty="0"/>
          </a:p>
        </p:txBody>
      </p:sp>
      <p:graphicFrame>
        <p:nvGraphicFramePr>
          <p:cNvPr id="179203" name="表格 179202"/>
          <p:cNvGraphicFramePr/>
          <p:nvPr/>
        </p:nvGraphicFramePr>
        <p:xfrm>
          <a:off x="457200" y="1828800"/>
          <a:ext cx="8382000" cy="3886200"/>
        </p:xfrm>
        <a:graphic>
          <a:graphicData uri="http://schemas.openxmlformats.org/drawingml/2006/table">
            <a:tbl>
              <a:tblPr/>
              <a:tblGrid>
                <a:gridCol w="1981200"/>
                <a:gridCol w="2286000"/>
                <a:gridCol w="4114800"/>
              </a:tblGrid>
              <a:tr h="5334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/>
                        <a:t>收敛域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/>
                        <a:t>特殊情况收敛域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</a:rPr>
                        <a:t>有限长序列</a:t>
                      </a:r>
                      <a:endParaRPr lang="zh-CN" altLang="en-US" b="1">
                        <a:latin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/>
                        <a:t>右边序列</a:t>
                      </a:r>
                      <a:endParaRPr lang="zh-CN" altLang="en-US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>
                          <a:latin typeface="宋体" panose="02010600030101010101" pitchFamily="2" charset="-122"/>
                        </a:rPr>
                        <a:t>左边序列</a:t>
                      </a:r>
                      <a:endParaRPr lang="zh-CN" altLang="en-US" b="1">
                        <a:latin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b="1"/>
                        <a:t>双边序列</a:t>
                      </a:r>
                      <a:endParaRPr lang="zh-CN" altLang="en-US" b="1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b="1"/>
                        <a:t> </a:t>
                      </a:r>
                      <a:endParaRPr lang="zh-CN" altLang="en-US" b="1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9229" name="对象 179228"/>
          <p:cNvGraphicFramePr>
            <a:graphicFrameLocks noChangeAspect="1"/>
          </p:cNvGraphicFramePr>
          <p:nvPr/>
        </p:nvGraphicFramePr>
        <p:xfrm>
          <a:off x="3048000" y="2514600"/>
          <a:ext cx="15240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558800" imgH="215900" progId="Equation.3">
                  <p:embed/>
                </p:oleObj>
              </mc:Choice>
              <mc:Fallback>
                <p:oleObj name="" r:id="rId1" imgW="558800" imgH="2159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0" y="2514600"/>
                        <a:ext cx="1524000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30" name="对象 179229"/>
          <p:cNvGraphicFramePr>
            <a:graphicFrameLocks noChangeAspect="1"/>
          </p:cNvGraphicFramePr>
          <p:nvPr/>
        </p:nvGraphicFramePr>
        <p:xfrm>
          <a:off x="5562600" y="2362200"/>
          <a:ext cx="2209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1029970" imgH="419735" progId="Equation.3">
                  <p:embed/>
                </p:oleObj>
              </mc:Choice>
              <mc:Fallback>
                <p:oleObj name="" r:id="rId3" imgW="1029970" imgH="41973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62600" y="2362200"/>
                        <a:ext cx="22098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31" name="对象 179230"/>
          <p:cNvGraphicFramePr>
            <a:graphicFrameLocks noChangeAspect="1"/>
          </p:cNvGraphicFramePr>
          <p:nvPr/>
        </p:nvGraphicFramePr>
        <p:xfrm>
          <a:off x="2895600" y="3352800"/>
          <a:ext cx="18161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5" imgW="736600" imgH="215900" progId="Equation.3">
                  <p:embed/>
                </p:oleObj>
              </mc:Choice>
              <mc:Fallback>
                <p:oleObj name="" r:id="rId5" imgW="736600" imgH="2159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6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895600" y="3352800"/>
                        <a:ext cx="1816100" cy="528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32" name="对象 179231"/>
          <p:cNvGraphicFramePr>
            <a:graphicFrameLocks noChangeAspect="1"/>
          </p:cNvGraphicFramePr>
          <p:nvPr/>
        </p:nvGraphicFramePr>
        <p:xfrm>
          <a:off x="2667000" y="4114800"/>
          <a:ext cx="2133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7" imgW="711200" imgH="215900" progId="Equation.3">
                  <p:embed/>
                </p:oleObj>
              </mc:Choice>
              <mc:Fallback>
                <p:oleObj name="" r:id="rId7" imgW="711200" imgH="2159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7000" y="4114800"/>
                        <a:ext cx="2133600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33" name="对象 179232"/>
          <p:cNvGraphicFramePr>
            <a:graphicFrameLocks noChangeAspect="1"/>
          </p:cNvGraphicFramePr>
          <p:nvPr/>
        </p:nvGraphicFramePr>
        <p:xfrm>
          <a:off x="2438400" y="4953000"/>
          <a:ext cx="23431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9" imgW="889000" imgH="215900" progId="Equation.3">
                  <p:embed/>
                </p:oleObj>
              </mc:Choice>
              <mc:Fallback>
                <p:oleObj name="" r:id="rId9" imgW="889000" imgH="2159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0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438400" y="4953000"/>
                        <a:ext cx="234315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9234" name="组合 179233"/>
          <p:cNvGrpSpPr/>
          <p:nvPr/>
        </p:nvGrpSpPr>
        <p:grpSpPr>
          <a:xfrm>
            <a:off x="5410200" y="3276600"/>
            <a:ext cx="3352800" cy="563563"/>
            <a:chOff x="0" y="0"/>
            <a:chExt cx="2112" cy="355"/>
          </a:xfrm>
        </p:grpSpPr>
        <p:graphicFrame>
          <p:nvGraphicFramePr>
            <p:cNvPr id="23593" name="对象 179234"/>
            <p:cNvGraphicFramePr>
              <a:graphicFrameLocks noChangeAspect="1"/>
            </p:cNvGraphicFramePr>
            <p:nvPr/>
          </p:nvGraphicFramePr>
          <p:xfrm>
            <a:off x="1008" y="0"/>
            <a:ext cx="1104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11" imgW="788035" imgH="254000" progId="Equation.3">
                    <p:embed/>
                  </p:oleObj>
                </mc:Choice>
                <mc:Fallback>
                  <p:oleObj name="" r:id="rId11" imgW="788035" imgH="2540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12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08" y="0"/>
                          <a:ext cx="1104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文本框 179235"/>
            <p:cNvSpPr txBox="1"/>
            <p:nvPr/>
          </p:nvSpPr>
          <p:spPr>
            <a:xfrm>
              <a:off x="0" y="0"/>
              <a:ext cx="11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因果序列</a:t>
              </a:r>
              <a:endParaRPr lang="zh-CN" altLang="en-US" sz="2800" b="1" dirty="0"/>
            </a:p>
          </p:txBody>
        </p:sp>
      </p:grpSp>
      <p:grpSp>
        <p:nvGrpSpPr>
          <p:cNvPr id="179237" name="组合 179236"/>
          <p:cNvGrpSpPr/>
          <p:nvPr/>
        </p:nvGrpSpPr>
        <p:grpSpPr>
          <a:xfrm>
            <a:off x="4749800" y="4114800"/>
            <a:ext cx="3905250" cy="615950"/>
            <a:chOff x="0" y="0"/>
            <a:chExt cx="2460" cy="388"/>
          </a:xfrm>
        </p:grpSpPr>
        <p:graphicFrame>
          <p:nvGraphicFramePr>
            <p:cNvPr id="23591" name="对象 179237"/>
            <p:cNvGraphicFramePr>
              <a:graphicFrameLocks noChangeAspect="1"/>
            </p:cNvGraphicFramePr>
            <p:nvPr/>
          </p:nvGraphicFramePr>
          <p:xfrm>
            <a:off x="752" y="0"/>
            <a:ext cx="1708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3" imgW="1118235" imgH="254000" progId="Equation.3">
                    <p:embed/>
                  </p:oleObj>
                </mc:Choice>
                <mc:Fallback>
                  <p:oleObj name="" r:id="rId13" imgW="1118235" imgH="2540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4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52" y="0"/>
                          <a:ext cx="1708" cy="3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2" name="文本框 179238"/>
            <p:cNvSpPr txBox="1"/>
            <p:nvPr/>
          </p:nvSpPr>
          <p:spPr>
            <a:xfrm>
              <a:off x="0" y="0"/>
              <a:ext cx="12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反因果序列</a:t>
              </a:r>
              <a:endParaRPr lang="zh-CN" altLang="en-US" sz="2800" b="1" dirty="0"/>
            </a:p>
          </p:txBody>
        </p:sp>
      </p:grpSp>
      <p:grpSp>
        <p:nvGrpSpPr>
          <p:cNvPr id="179240" name="组合 179239"/>
          <p:cNvGrpSpPr/>
          <p:nvPr/>
        </p:nvGrpSpPr>
        <p:grpSpPr>
          <a:xfrm>
            <a:off x="5410200" y="4800600"/>
            <a:ext cx="2655888" cy="946150"/>
            <a:chOff x="0" y="0"/>
            <a:chExt cx="1673" cy="596"/>
          </a:xfrm>
        </p:grpSpPr>
        <p:graphicFrame>
          <p:nvGraphicFramePr>
            <p:cNvPr id="23589" name="对象 179240"/>
            <p:cNvGraphicFramePr>
              <a:graphicFrameLocks noChangeAspect="1"/>
            </p:cNvGraphicFramePr>
            <p:nvPr/>
          </p:nvGraphicFramePr>
          <p:xfrm>
            <a:off x="576" y="48"/>
            <a:ext cx="1097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15" imgW="660400" imgH="215900" progId="Equation.3">
                    <p:embed/>
                  </p:oleObj>
                </mc:Choice>
                <mc:Fallback>
                  <p:oleObj name="" r:id="rId15" imgW="660400" imgH="2159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6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76" y="48"/>
                          <a:ext cx="1097" cy="3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0" name="文本框 179241"/>
            <p:cNvSpPr txBox="1"/>
            <p:nvPr/>
          </p:nvSpPr>
          <p:spPr>
            <a:xfrm>
              <a:off x="0" y="0"/>
              <a:ext cx="148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当                              </a:t>
              </a:r>
              <a:endParaRPr lang="zh-CN" altLang="en-US" sz="2800" b="1" dirty="0"/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/>
                <a:t>收敛域不存在</a:t>
              </a:r>
              <a:endParaRPr lang="zh-CN" altLang="en-US" sz="28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8022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序列特性对收敛域的影响</a:t>
            </a:r>
            <a:endParaRPr lang="zh-CN" altLang="en-US" dirty="0"/>
          </a:p>
        </p:txBody>
      </p:sp>
      <p:sp>
        <p:nvSpPr>
          <p:cNvPr id="24579" name="文本占位符 18022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</a:rPr>
              <a:t>7</a:t>
            </a:r>
            <a:r>
              <a:rPr lang="zh-CN" altLang="en-US" b="1" dirty="0">
                <a:latin typeface="宋体" panose="02010600030101010101" pitchFamily="2" charset="-122"/>
              </a:rPr>
              <a:t>、 求序列	</a:t>
            </a:r>
            <a:r>
              <a:rPr lang="zh-CN" altLang="en-US" b="1" i="1" dirty="0">
                <a:latin typeface="宋体" panose="02010600030101010101" pitchFamily="2" charset="-122"/>
              </a:rPr>
              <a:t>		    </a:t>
            </a:r>
            <a:r>
              <a:rPr lang="zh-CN" altLang="en-US" b="1" dirty="0">
                <a:latin typeface="宋体" panose="02010600030101010101" pitchFamily="2" charset="-122"/>
              </a:rPr>
              <a:t>的</a:t>
            </a:r>
            <a:r>
              <a:rPr lang="en-US" altLang="zh-CN" b="1" dirty="0">
                <a:latin typeface="宋体" panose="02010600030101010101" pitchFamily="2" charset="-122"/>
              </a:rPr>
              <a:t>Z</a:t>
            </a:r>
            <a:r>
              <a:rPr lang="zh-CN" altLang="en-US" b="1" dirty="0">
                <a:latin typeface="宋体" panose="02010600030101010101" pitchFamily="2" charset="-122"/>
              </a:rPr>
              <a:t>变换及收敛域。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解：</a:t>
            </a:r>
            <a:endParaRPr lang="zh-CN" altLang="en-US" b="1" dirty="0"/>
          </a:p>
          <a:p>
            <a:pPr eaLnBrk="1" hangingPunct="1">
              <a:buNone/>
            </a:pPr>
            <a:endParaRPr lang="zh-CN" altLang="en-US" b="1" dirty="0"/>
          </a:p>
        </p:txBody>
      </p:sp>
      <p:graphicFrame>
        <p:nvGraphicFramePr>
          <p:cNvPr id="24580" name="对象 180227"/>
          <p:cNvGraphicFramePr>
            <a:graphicFrameLocks noChangeAspect="1"/>
          </p:cNvGraphicFramePr>
          <p:nvPr/>
        </p:nvGraphicFramePr>
        <p:xfrm>
          <a:off x="3505200" y="1600200"/>
          <a:ext cx="2286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749935" imgH="190500" progId="Equation.3">
                  <p:embed/>
                </p:oleObj>
              </mc:Choice>
              <mc:Fallback>
                <p:oleObj name="" r:id="rId1" imgW="749935" imgH="1905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3505200" y="1600200"/>
                        <a:ext cx="22860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对象 180228"/>
          <p:cNvGraphicFramePr>
            <a:graphicFrameLocks noChangeAspect="1"/>
          </p:cNvGraphicFramePr>
          <p:nvPr/>
        </p:nvGraphicFramePr>
        <p:xfrm>
          <a:off x="1524000" y="2514600"/>
          <a:ext cx="56388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2132965" imgH="571500" progId="Equation.3">
                  <p:embed/>
                </p:oleObj>
              </mc:Choice>
              <mc:Fallback>
                <p:oleObj name="" r:id="rId3" imgW="2132965" imgH="5715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2514600"/>
                        <a:ext cx="5638800" cy="1506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0230" name="组合 180229"/>
          <p:cNvGrpSpPr/>
          <p:nvPr/>
        </p:nvGrpSpPr>
        <p:grpSpPr>
          <a:xfrm>
            <a:off x="1066800" y="4184650"/>
            <a:ext cx="7162800" cy="1622425"/>
            <a:chOff x="0" y="0"/>
            <a:chExt cx="4512" cy="1022"/>
          </a:xfrm>
        </p:grpSpPr>
        <p:sp>
          <p:nvSpPr>
            <p:cNvPr id="24586" name="文本框 180230"/>
            <p:cNvSpPr txBox="1"/>
            <p:nvPr/>
          </p:nvSpPr>
          <p:spPr>
            <a:xfrm>
              <a:off x="0" y="4"/>
              <a:ext cx="4512" cy="10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buClr>
                  <a:schemeClr val="folHlink"/>
                </a:buClr>
                <a:buSzPct val="60000"/>
                <a:buNone/>
              </a:pPr>
              <a:r>
                <a:rPr lang="zh-CN" altLang="en-US" sz="2800" b="1" dirty="0">
                  <a:latin typeface="Tahoma" panose="020B0604030504040204" pitchFamily="34" charset="0"/>
                </a:rPr>
                <a:t>这是无穷等比级数</a:t>
              </a:r>
              <a:r>
                <a:rPr lang="en-US" altLang="zh-CN" sz="2800" b="1" dirty="0">
                  <a:latin typeface="Tahoma" panose="020B0604030504040204" pitchFamily="34" charset="0"/>
                </a:rPr>
                <a:t>,</a:t>
              </a:r>
              <a:r>
                <a:rPr lang="zh-CN" altLang="en-US" sz="2800" b="1" dirty="0">
                  <a:latin typeface="Tahoma" panose="020B0604030504040204" pitchFamily="34" charset="0"/>
                </a:rPr>
                <a:t>公比是             ，</a:t>
              </a:r>
              <a:endParaRPr lang="zh-CN" altLang="en-US" sz="2800" b="1" dirty="0">
                <a:latin typeface="Tahoma" panose="020B0604030504040204" pitchFamily="34" charset="0"/>
              </a:endParaRPr>
            </a:p>
            <a:p>
              <a:pPr marL="0" lvl="0" indent="0" eaLnBrk="1" hangingPunct="1">
                <a:buClr>
                  <a:schemeClr val="folHlink"/>
                </a:buClr>
                <a:buSzPct val="60000"/>
                <a:buNone/>
              </a:pPr>
              <a:r>
                <a:rPr lang="zh-CN" altLang="en-US" sz="2800" b="1" dirty="0">
                  <a:latin typeface="Tahoma" panose="020B0604030504040204" pitchFamily="34" charset="0"/>
                </a:rPr>
                <a:t>在什么情况下收敛？</a:t>
              </a:r>
              <a:endParaRPr lang="zh-CN" altLang="en-US" sz="2800" b="1" dirty="0">
                <a:latin typeface="Tahoma" panose="020B0604030504040204" pitchFamily="34" charset="0"/>
              </a:endParaRPr>
            </a:p>
            <a:p>
              <a:pPr marL="0" lvl="0" indent="0" eaLnBrk="1" hangingPunct="1">
                <a:buClr>
                  <a:schemeClr val="folHlink"/>
                </a:buClr>
                <a:buSzPct val="60000"/>
                <a:buNone/>
              </a:pPr>
              <a:endParaRPr lang="zh-CN" altLang="en-US" b="1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4587" name="对象 180231"/>
            <p:cNvGraphicFramePr>
              <a:graphicFrameLocks noChangeAspect="1"/>
            </p:cNvGraphicFramePr>
            <p:nvPr/>
          </p:nvGraphicFramePr>
          <p:xfrm>
            <a:off x="2592" y="0"/>
            <a:ext cx="816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5" imgW="458470" imgH="191135" progId="Equation.3">
                    <p:embed/>
                  </p:oleObj>
                </mc:Choice>
                <mc:Fallback>
                  <p:oleObj name="" r:id="rId5" imgW="458470" imgH="191135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92" y="0"/>
                          <a:ext cx="816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0233" name="对象 180232"/>
          <p:cNvGraphicFramePr>
            <a:graphicFrameLocks noChangeAspect="1"/>
          </p:cNvGraphicFramePr>
          <p:nvPr/>
        </p:nvGraphicFramePr>
        <p:xfrm>
          <a:off x="4419600" y="4714875"/>
          <a:ext cx="3048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7" imgW="1067435" imgH="190500" progId="Equation.3">
                  <p:embed/>
                </p:oleObj>
              </mc:Choice>
              <mc:Fallback>
                <p:oleObj name="" r:id="rId7" imgW="1067435" imgH="1905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19600" y="4714875"/>
                        <a:ext cx="30480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4" name="对象 180233"/>
          <p:cNvGraphicFramePr>
            <a:graphicFrameLocks noChangeAspect="1"/>
          </p:cNvGraphicFramePr>
          <p:nvPr/>
        </p:nvGraphicFramePr>
        <p:xfrm>
          <a:off x="1616075" y="5313363"/>
          <a:ext cx="57753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9" imgW="2004695" imgH="355600" progId="Equation.3">
                  <p:embed/>
                </p:oleObj>
              </mc:Choice>
              <mc:Fallback>
                <p:oleObj name="" r:id="rId9" imgW="2004695" imgH="3556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0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616075" y="5313363"/>
                        <a:ext cx="577532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5" name="椭圆形标注 180234"/>
          <p:cNvSpPr/>
          <p:nvPr/>
        </p:nvSpPr>
        <p:spPr>
          <a:xfrm>
            <a:off x="7391400" y="4800600"/>
            <a:ext cx="1752600" cy="990600"/>
          </a:xfrm>
          <a:prstGeom prst="wedgeEllipseCallout">
            <a:avLst>
              <a:gd name="adj1" fmla="val -43750"/>
              <a:gd name="adj2" fmla="val 7612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/>
              <a:t>零点？</a:t>
            </a:r>
            <a:endParaRPr lang="zh-CN" altLang="en-US" sz="20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000" b="1" dirty="0"/>
              <a:t>极点？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5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1250" name="图片 1812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3188" y="2819400"/>
            <a:ext cx="2955925" cy="297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标题 18125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序列特性对收敛域的影响</a:t>
            </a:r>
            <a:endParaRPr lang="zh-CN" altLang="en-US" dirty="0"/>
          </a:p>
        </p:txBody>
      </p:sp>
      <p:graphicFrame>
        <p:nvGraphicFramePr>
          <p:cNvPr id="25604" name="对象 181251"/>
          <p:cNvGraphicFramePr>
            <a:graphicFrameLocks noChangeAspect="1"/>
          </p:cNvGraphicFramePr>
          <p:nvPr/>
        </p:nvGraphicFramePr>
        <p:xfrm>
          <a:off x="695325" y="1873250"/>
          <a:ext cx="47148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2" imgW="1637030" imgH="355600" progId="Equation.3">
                  <p:embed/>
                </p:oleObj>
              </mc:Choice>
              <mc:Fallback>
                <p:oleObj name="" r:id="rId2" imgW="1637030" imgH="3556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3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695325" y="1873250"/>
                        <a:ext cx="471487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1253" name="组合 181252"/>
          <p:cNvGrpSpPr/>
          <p:nvPr/>
        </p:nvGrpSpPr>
        <p:grpSpPr>
          <a:xfrm>
            <a:off x="914400" y="3352800"/>
            <a:ext cx="3751263" cy="519113"/>
            <a:chOff x="0" y="0"/>
            <a:chExt cx="2363" cy="327"/>
          </a:xfrm>
        </p:grpSpPr>
        <p:sp>
          <p:nvSpPr>
            <p:cNvPr id="25608" name="文本框 181253"/>
            <p:cNvSpPr txBox="1"/>
            <p:nvPr/>
          </p:nvSpPr>
          <p:spPr>
            <a:xfrm>
              <a:off x="0" y="0"/>
              <a:ext cx="2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buClr>
                  <a:schemeClr val="folHlink"/>
                </a:buClr>
                <a:buSzPct val="60000"/>
                <a:buNone/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本例，极点为            。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5609" name="对象 181254"/>
            <p:cNvGraphicFramePr>
              <a:graphicFrameLocks noChangeAspect="1"/>
            </p:cNvGraphicFramePr>
            <p:nvPr/>
          </p:nvGraphicFramePr>
          <p:xfrm>
            <a:off x="1447" y="0"/>
            <a:ext cx="5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4" imgW="304800" imgH="127000" progId="Equation.3">
                    <p:embed/>
                  </p:oleObj>
                </mc:Choice>
                <mc:Fallback>
                  <p:oleObj name="" r:id="rId4" imgW="304800" imgH="1270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47" y="0"/>
                          <a:ext cx="57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1256" name="文本框 181255"/>
          <p:cNvSpPr txBox="1"/>
          <p:nvPr/>
        </p:nvSpPr>
        <p:spPr>
          <a:xfrm>
            <a:off x="762000" y="4267200"/>
            <a:ext cx="4191000" cy="1031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  收敛域内不能有极点。</a:t>
            </a:r>
            <a:endParaRPr lang="zh-CN" altLang="en-US" sz="2800" b="1" dirty="0">
              <a:latin typeface="Tahoma" panose="020B0604030504040204" pitchFamily="34" charset="0"/>
            </a:endParaRPr>
          </a:p>
          <a:p>
            <a:pPr marL="0" lvl="0" indent="0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ahoma" panose="020B0604030504040204" pitchFamily="34" charset="0"/>
              </a:rPr>
              <a:t>或收敛域以极点为边界。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181257" name="文本框 181256"/>
          <p:cNvSpPr txBox="1"/>
          <p:nvPr/>
        </p:nvSpPr>
        <p:spPr>
          <a:xfrm>
            <a:off x="744538" y="5486400"/>
            <a:ext cx="83994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solidFill>
                  <a:srgbClr val="990000"/>
                </a:solidFill>
                <a:latin typeface="Tahoma" panose="020B0604030504040204" pitchFamily="34" charset="0"/>
              </a:rPr>
              <a:t>因果序列的收敛域一定在模最大的极点所在的圆外。</a:t>
            </a:r>
            <a:endParaRPr lang="zh-CN" altLang="en-US" sz="2800" b="1" dirty="0">
              <a:solidFill>
                <a:srgbClr val="99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6" grpId="0"/>
      <p:bldP spid="1812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8227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序列特性对收敛域的影响</a:t>
            </a:r>
            <a:endParaRPr lang="zh-CN" altLang="en-US" dirty="0"/>
          </a:p>
        </p:txBody>
      </p:sp>
      <p:sp>
        <p:nvSpPr>
          <p:cNvPr id="26627" name="文本占位符 18227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</a:rPr>
              <a:t>8</a:t>
            </a:r>
            <a:r>
              <a:rPr lang="zh-CN" altLang="en-US" b="1" dirty="0">
                <a:latin typeface="宋体" panose="02010600030101010101" pitchFamily="2" charset="-122"/>
              </a:rPr>
              <a:t>、求序列 			        </a:t>
            </a:r>
            <a:r>
              <a:rPr lang="en-US" altLang="zh-CN" b="1" dirty="0">
                <a:latin typeface="宋体" panose="02010600030101010101" pitchFamily="2" charset="-122"/>
              </a:rPr>
              <a:t>z</a:t>
            </a:r>
            <a:r>
              <a:rPr lang="zh-CN" altLang="en-US" b="1" dirty="0">
                <a:latin typeface="宋体" panose="02010600030101010101" pitchFamily="2" charset="-122"/>
              </a:rPr>
              <a:t>变换及收敛</a:t>
            </a:r>
            <a:r>
              <a:rPr lang="zh-CN" altLang="en-US" b="1" dirty="0"/>
              <a:t>域。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dirty="0"/>
              <a:t> </a:t>
            </a:r>
            <a:r>
              <a:rPr lang="zh-CN" altLang="en-US" b="1" dirty="0"/>
              <a:t>解：</a:t>
            </a:r>
            <a:endParaRPr lang="zh-CN" altLang="en-US" b="1" dirty="0"/>
          </a:p>
        </p:txBody>
      </p:sp>
      <p:graphicFrame>
        <p:nvGraphicFramePr>
          <p:cNvPr id="26628" name="对象 182275"/>
          <p:cNvGraphicFramePr>
            <a:graphicFrameLocks noChangeAspect="1"/>
          </p:cNvGraphicFramePr>
          <p:nvPr/>
        </p:nvGraphicFramePr>
        <p:xfrm>
          <a:off x="3124200" y="1600200"/>
          <a:ext cx="35814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1042035" imgH="190500" progId="Equation.3">
                  <p:embed/>
                </p:oleObj>
              </mc:Choice>
              <mc:Fallback>
                <p:oleObj name="" r:id="rId1" imgW="1042035" imgH="1905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3124200" y="1600200"/>
                        <a:ext cx="3581400" cy="655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7" name="对象 182276"/>
          <p:cNvGraphicFramePr>
            <a:graphicFrameLocks noChangeAspect="1"/>
          </p:cNvGraphicFramePr>
          <p:nvPr/>
        </p:nvGraphicFramePr>
        <p:xfrm>
          <a:off x="1447800" y="2590800"/>
          <a:ext cx="71628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3440430" imgH="431800" progId="Equation.3">
                  <p:embed/>
                </p:oleObj>
              </mc:Choice>
              <mc:Fallback>
                <p:oleObj name="" r:id="rId3" imgW="3440430" imgH="4318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2590800"/>
                        <a:ext cx="7162800" cy="1023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8" name="对象 182277"/>
          <p:cNvGraphicFramePr>
            <a:graphicFrameLocks noChangeAspect="1"/>
          </p:cNvGraphicFramePr>
          <p:nvPr/>
        </p:nvGraphicFramePr>
        <p:xfrm>
          <a:off x="1295400" y="3733800"/>
          <a:ext cx="44958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1713230" imgH="355600" progId="Equation.3">
                  <p:embed/>
                </p:oleObj>
              </mc:Choice>
              <mc:Fallback>
                <p:oleObj name="" r:id="rId5" imgW="1713230" imgH="3556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295400" y="3733800"/>
                        <a:ext cx="4495800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9" name="对象 182278"/>
          <p:cNvGraphicFramePr>
            <a:graphicFrameLocks noChangeAspect="1"/>
          </p:cNvGraphicFramePr>
          <p:nvPr/>
        </p:nvGraphicFramePr>
        <p:xfrm>
          <a:off x="6248400" y="3657600"/>
          <a:ext cx="2514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7" imgW="1952625" imgH="1657350" progId="Paint.Picture">
                  <p:embed/>
                </p:oleObj>
              </mc:Choice>
              <mc:Fallback>
                <p:oleObj name="" r:id="rId7" imgW="1952625" imgH="1657350" progId="Paint.Picture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48400" y="3657600"/>
                        <a:ext cx="2514600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0" name="文本框 182279"/>
          <p:cNvSpPr txBox="1"/>
          <p:nvPr/>
        </p:nvSpPr>
        <p:spPr>
          <a:xfrm>
            <a:off x="406400" y="5715000"/>
            <a:ext cx="87566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solidFill>
                  <a:srgbClr val="990000"/>
                </a:solidFill>
                <a:latin typeface="Tahoma" panose="020B0604030504040204" pitchFamily="34" charset="0"/>
              </a:rPr>
              <a:t>反因果序列的收敛域一定在模最小的极点所在的圆内。</a:t>
            </a:r>
            <a:endParaRPr lang="zh-CN" altLang="en-US" sz="2800" b="1" dirty="0">
              <a:solidFill>
                <a:srgbClr val="990000"/>
              </a:solidFill>
              <a:latin typeface="Tahoma" panose="020B0604030504040204" pitchFamily="34" charset="0"/>
            </a:endParaRPr>
          </a:p>
        </p:txBody>
      </p:sp>
      <p:sp>
        <p:nvSpPr>
          <p:cNvPr id="182281" name="文本框 182280"/>
          <p:cNvSpPr txBox="1"/>
          <p:nvPr/>
        </p:nvSpPr>
        <p:spPr>
          <a:xfrm>
            <a:off x="1182688" y="4953000"/>
            <a:ext cx="36623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本例，极点为：         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2282" name="对象 182281"/>
          <p:cNvGraphicFramePr>
            <a:graphicFrameLocks noChangeAspect="1"/>
          </p:cNvGraphicFramePr>
          <p:nvPr/>
        </p:nvGraphicFramePr>
        <p:xfrm>
          <a:off x="4257675" y="4976813"/>
          <a:ext cx="91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9" imgW="305435" imgH="165100" progId="Equation.3">
                  <p:embed/>
                </p:oleObj>
              </mc:Choice>
              <mc:Fallback>
                <p:oleObj name="" r:id="rId9" imgW="305435" imgH="1651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57675" y="4976813"/>
                        <a:ext cx="9144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0" grpId="0"/>
      <p:bldP spid="18228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8329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序列特性对收敛域的影响</a:t>
            </a:r>
            <a:endParaRPr lang="zh-CN" altLang="en-US" dirty="0"/>
          </a:p>
        </p:txBody>
      </p:sp>
      <p:sp>
        <p:nvSpPr>
          <p:cNvPr id="27651" name="文本占位符 18329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latin typeface="宋体" panose="02010600030101010101" pitchFamily="2" charset="-122"/>
              </a:rPr>
              <a:t>9</a:t>
            </a:r>
            <a:r>
              <a:rPr lang="zh-CN" altLang="en-US" b="1" dirty="0">
                <a:latin typeface="宋体" panose="02010600030101010101" pitchFamily="2" charset="-122"/>
              </a:rPr>
              <a:t>、求序列 			        </a:t>
            </a:r>
            <a:r>
              <a:rPr lang="en-US" altLang="zh-CN" b="1" dirty="0">
                <a:latin typeface="宋体" panose="02010600030101010101" pitchFamily="2" charset="-122"/>
              </a:rPr>
              <a:t>z</a:t>
            </a:r>
            <a:r>
              <a:rPr lang="zh-CN" altLang="en-US" b="1" dirty="0">
                <a:latin typeface="宋体" panose="02010600030101010101" pitchFamily="2" charset="-122"/>
              </a:rPr>
              <a:t>变换及收敛</a:t>
            </a:r>
            <a:r>
              <a:rPr lang="zh-CN" altLang="en-US" b="1" dirty="0"/>
              <a:t>域。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解：</a:t>
            </a:r>
            <a:endParaRPr lang="zh-CN" altLang="en-US" b="1" dirty="0"/>
          </a:p>
        </p:txBody>
      </p:sp>
      <p:pic>
        <p:nvPicPr>
          <p:cNvPr id="27652" name="对象 183299"/>
          <p:cNvPicPr>
            <a:picLocks noChangeAspect="1"/>
          </p:cNvPicPr>
          <p:nvPr/>
        </p:nvPicPr>
        <p:blipFill>
          <a:blip r:embed="rId1">
            <a:lum bright="-100000"/>
          </a:blip>
          <a:stretch>
            <a:fillRect/>
          </a:stretch>
        </p:blipFill>
        <p:spPr>
          <a:xfrm>
            <a:off x="3200400" y="1295400"/>
            <a:ext cx="3276600" cy="1287463"/>
          </a:xfrm>
          <a:prstGeom prst="rect">
            <a:avLst/>
          </a:prstGeom>
          <a:noFill/>
          <a:ln w="38100">
            <a:noFill/>
          </a:ln>
        </p:spPr>
      </p:pic>
      <p:graphicFrame>
        <p:nvGraphicFramePr>
          <p:cNvPr id="183301" name="对象 183300"/>
          <p:cNvGraphicFramePr>
            <a:graphicFrameLocks noChangeAspect="1"/>
          </p:cNvGraphicFramePr>
          <p:nvPr/>
        </p:nvGraphicFramePr>
        <p:xfrm>
          <a:off x="1295400" y="2743200"/>
          <a:ext cx="594360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2" imgW="2349500" imgH="749300" progId="Equation.3">
                  <p:embed/>
                </p:oleObj>
              </mc:Choice>
              <mc:Fallback>
                <p:oleObj name="" r:id="rId2" imgW="2349500" imgH="7493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3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295400" y="2743200"/>
                        <a:ext cx="5943600" cy="242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2" name="文本框 183301"/>
          <p:cNvSpPr txBox="1"/>
          <p:nvPr/>
        </p:nvSpPr>
        <p:spPr>
          <a:xfrm>
            <a:off x="1143000" y="5727700"/>
            <a:ext cx="4938713" cy="1031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solidFill>
                  <a:srgbClr val="990000"/>
                </a:solidFill>
                <a:latin typeface="Tahoma" panose="020B0604030504040204" pitchFamily="34" charset="0"/>
              </a:rPr>
              <a:t>双边序列的收敛域为环状区域</a:t>
            </a:r>
            <a:r>
              <a:rPr lang="en-US" altLang="zh-CN" sz="2800" b="1" dirty="0">
                <a:solidFill>
                  <a:srgbClr val="990000"/>
                </a:solidFill>
                <a:latin typeface="Tahoma" panose="020B0604030504040204" pitchFamily="34" charset="0"/>
              </a:rPr>
              <a:t>,</a:t>
            </a:r>
            <a:endParaRPr lang="en-US" altLang="zh-CN" sz="2800" b="1" dirty="0">
              <a:solidFill>
                <a:srgbClr val="990000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solidFill>
                  <a:srgbClr val="990000"/>
                </a:solidFill>
                <a:latin typeface="Tahoma" panose="020B0604030504040204" pitchFamily="34" charset="0"/>
              </a:rPr>
              <a:t>且以极点为边界。</a:t>
            </a:r>
            <a:endParaRPr lang="zh-CN" altLang="en-US" sz="2800" b="1" dirty="0">
              <a:solidFill>
                <a:srgbClr val="990000"/>
              </a:solidFill>
              <a:latin typeface="Tahoma" panose="020B0604030504040204" pitchFamily="34" charset="0"/>
            </a:endParaRPr>
          </a:p>
        </p:txBody>
      </p:sp>
      <p:sp>
        <p:nvSpPr>
          <p:cNvPr id="183303" name="文本框 183302"/>
          <p:cNvSpPr txBox="1"/>
          <p:nvPr/>
        </p:nvSpPr>
        <p:spPr>
          <a:xfrm>
            <a:off x="990600" y="5257800"/>
            <a:ext cx="51736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本例，极点为：</a:t>
            </a:r>
            <a:r>
              <a:rPr lang="zh-CN" altLang="en-US" sz="2800" dirty="0">
                <a:latin typeface="Times New Roman" panose="02020603050405020304" pitchFamily="18" charset="0"/>
              </a:rPr>
              <a:t>                           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3304" name="对象 183303"/>
          <p:cNvGraphicFramePr>
            <a:graphicFrameLocks noChangeAspect="1"/>
          </p:cNvGraphicFramePr>
          <p:nvPr/>
        </p:nvGraphicFramePr>
        <p:xfrm>
          <a:off x="4860925" y="5053013"/>
          <a:ext cx="1028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4" imgW="343535" imgH="139700" progId="Equation.3">
                  <p:embed/>
                </p:oleObj>
              </mc:Choice>
              <mc:Fallback>
                <p:oleObj name="" r:id="rId4" imgW="343535" imgH="1397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60925" y="5053013"/>
                        <a:ext cx="1028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5" name="对象 183304"/>
          <p:cNvGraphicFramePr>
            <a:graphicFrameLocks noChangeAspect="1"/>
          </p:cNvGraphicFramePr>
          <p:nvPr/>
        </p:nvGraphicFramePr>
        <p:xfrm>
          <a:off x="4860925" y="5281613"/>
          <a:ext cx="914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6" imgW="305435" imgH="165100" progId="Equation.3">
                  <p:embed/>
                </p:oleObj>
              </mc:Choice>
              <mc:Fallback>
                <p:oleObj name="" r:id="rId6" imgW="305435" imgH="1651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60925" y="5281613"/>
                        <a:ext cx="91440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6" name="对象 183305"/>
          <p:cNvGraphicFramePr>
            <a:graphicFrameLocks noChangeAspect="1"/>
          </p:cNvGraphicFramePr>
          <p:nvPr/>
        </p:nvGraphicFramePr>
        <p:xfrm>
          <a:off x="6248400" y="4191000"/>
          <a:ext cx="2562225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8" imgW="2562225" imgH="1962150" progId="Paint.Picture">
                  <p:embed/>
                </p:oleObj>
              </mc:Choice>
              <mc:Fallback>
                <p:oleObj name="" r:id="rId8" imgW="2562225" imgH="1962150" progId="Paint.Picture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48400" y="4191000"/>
                        <a:ext cx="2562225" cy="1962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7" name="对象 183306"/>
          <p:cNvGraphicFramePr>
            <a:graphicFrameLocks noChangeAspect="1"/>
          </p:cNvGraphicFramePr>
          <p:nvPr/>
        </p:nvGraphicFramePr>
        <p:xfrm>
          <a:off x="7437438" y="6019800"/>
          <a:ext cx="4873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0" imgW="203835" imgH="191135" progId="Equation.3">
                  <p:embed/>
                </p:oleObj>
              </mc:Choice>
              <mc:Fallback>
                <p:oleObj name="" r:id="rId10" imgW="203835" imgH="19113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37438" y="6019800"/>
                        <a:ext cx="48736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8" name="对象 183307"/>
          <p:cNvGraphicFramePr>
            <a:graphicFrameLocks noChangeAspect="1"/>
          </p:cNvGraphicFramePr>
          <p:nvPr/>
        </p:nvGraphicFramePr>
        <p:xfrm>
          <a:off x="7818438" y="5791200"/>
          <a:ext cx="4873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2" imgW="203835" imgH="191135" progId="Equation.3">
                  <p:embed/>
                </p:oleObj>
              </mc:Choice>
              <mc:Fallback>
                <p:oleObj name="" r:id="rId12" imgW="203835" imgH="191135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818438" y="5791200"/>
                        <a:ext cx="48736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3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3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3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3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3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3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2" grpId="0"/>
      <p:bldP spid="18330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8432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三、逆</a:t>
            </a:r>
            <a:r>
              <a:rPr lang="en-US" altLang="zh-CN" dirty="0"/>
              <a:t>z</a:t>
            </a:r>
            <a:r>
              <a:rPr lang="zh-CN" altLang="en-US" dirty="0"/>
              <a:t>变换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184323" name="内容占位符 184322"/>
          <p:cNvSpPr>
            <a:spLocks noGrp="1"/>
          </p:cNvSpPr>
          <p:nvPr>
            <p:ph idx="1"/>
          </p:nvPr>
        </p:nvSpPr>
        <p:spPr>
          <a:xfrm>
            <a:off x="609600" y="1447800"/>
            <a:ext cx="7924800" cy="1395413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一</a:t>
            </a:r>
            <a:r>
              <a:rPr lang="en-US" altLang="zh-CN" b="1" dirty="0"/>
              <a:t>. z</a:t>
            </a:r>
            <a:r>
              <a:rPr lang="zh-CN" altLang="en-US" b="1" dirty="0"/>
              <a:t>反变换的定义：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sz="2800" b="1" dirty="0"/>
              <a:t>        已知</a:t>
            </a:r>
            <a:r>
              <a:rPr lang="en-US" altLang="zh-CN" sz="2800" b="1" dirty="0"/>
              <a:t>X(z)</a:t>
            </a:r>
            <a:r>
              <a:rPr lang="zh-CN" altLang="en-US" sz="2800" b="1" dirty="0"/>
              <a:t>及其收敛域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反过来求序列</a:t>
            </a:r>
            <a:r>
              <a:rPr lang="en-US" altLang="zh-CN" sz="2800" b="1" dirty="0"/>
              <a:t>x(n)</a:t>
            </a:r>
            <a:r>
              <a:rPr lang="zh-CN" altLang="en-US" sz="2800" b="1" dirty="0"/>
              <a:t>的变换称作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反变换。</a:t>
            </a:r>
            <a:endParaRPr lang="zh-CN" altLang="en-US" sz="2800" b="1" dirty="0"/>
          </a:p>
          <a:p>
            <a:pPr eaLnBrk="1" hangingPunct="1">
              <a:buNone/>
            </a:pPr>
            <a:endParaRPr lang="zh-CN" altLang="en-US" b="1" dirty="0"/>
          </a:p>
          <a:p>
            <a:pPr eaLnBrk="1" hangingPunct="1">
              <a:buNone/>
            </a:pPr>
            <a:endParaRPr lang="zh-CN" altLang="en-US" b="1" dirty="0"/>
          </a:p>
          <a:p>
            <a:pPr eaLnBrk="1" hangingPunct="1">
              <a:buNone/>
            </a:pPr>
            <a:r>
              <a:rPr lang="zh-CN" altLang="en-US" sz="2800" b="1" dirty="0"/>
              <a:t>求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反变换的方法：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  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、围线积分法（留数法）；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  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、部分分式展开法；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  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、长除法。</a:t>
            </a:r>
            <a:endParaRPr lang="zh-CN" altLang="en-US" sz="2800" b="1" dirty="0"/>
          </a:p>
        </p:txBody>
      </p:sp>
      <p:graphicFrame>
        <p:nvGraphicFramePr>
          <p:cNvPr id="184324" name="对象 184323"/>
          <p:cNvGraphicFramePr>
            <a:graphicFrameLocks noChangeAspect="1"/>
          </p:cNvGraphicFramePr>
          <p:nvPr/>
        </p:nvGraphicFramePr>
        <p:xfrm>
          <a:off x="1905000" y="3200400"/>
          <a:ext cx="47529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1536700" imgH="228600" progId="Equation.3">
                  <p:embed/>
                </p:oleObj>
              </mc:Choice>
              <mc:Fallback>
                <p:oleObj name="" r:id="rId1" imgW="1536700" imgH="2286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905000" y="3200400"/>
                        <a:ext cx="4752975" cy="70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12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charRg st="12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5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4323">
                                            <p:txEl>
                                              <p:charRg st="55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4323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87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4323">
                                            <p:txEl>
                                              <p:charRg st="87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charRg st="106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4323">
                                            <p:txEl>
                                              <p:charRg st="106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18534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、留数法</a:t>
            </a:r>
            <a:endParaRPr lang="zh-CN" altLang="en-US" dirty="0"/>
          </a:p>
        </p:txBody>
      </p:sp>
      <p:sp>
        <p:nvSpPr>
          <p:cNvPr id="29699" name="文本占位符 18534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          根据复变函数理论，若函数</a:t>
            </a:r>
            <a:r>
              <a:rPr lang="en-US" altLang="zh-CN" sz="2800" b="1" dirty="0"/>
              <a:t>X(z)</a:t>
            </a:r>
            <a:r>
              <a:rPr lang="zh-CN" altLang="en-US" sz="2800" b="1" dirty="0"/>
              <a:t>在环状区域</a:t>
            </a:r>
            <a:endParaRPr lang="zh-CN" altLang="en-US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                                          内解析，则在此区域可展开成罗朗级数的形式：</a:t>
            </a:r>
            <a:endParaRPr lang="zh-CN" altLang="en-US" sz="2800" b="1" dirty="0"/>
          </a:p>
        </p:txBody>
      </p:sp>
      <p:graphicFrame>
        <p:nvGraphicFramePr>
          <p:cNvPr id="29700" name="对象 185347"/>
          <p:cNvGraphicFramePr>
            <a:graphicFrameLocks noChangeAspect="1"/>
          </p:cNvGraphicFramePr>
          <p:nvPr/>
        </p:nvGraphicFramePr>
        <p:xfrm>
          <a:off x="990600" y="2209800"/>
          <a:ext cx="37433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" imgW="1295400" imgH="215900" progId="Equation.3">
                  <p:embed/>
                </p:oleObj>
              </mc:Choice>
              <mc:Fallback>
                <p:oleObj name="" r:id="rId1" imgW="1295400" imgH="2159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2209800"/>
                        <a:ext cx="3743325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对象 185348"/>
          <p:cNvGraphicFramePr>
            <a:graphicFrameLocks noChangeAspect="1"/>
          </p:cNvGraphicFramePr>
          <p:nvPr/>
        </p:nvGraphicFramePr>
        <p:xfrm>
          <a:off x="533400" y="3429000"/>
          <a:ext cx="56388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1930400" imgH="368300" progId="Equation.3">
                  <p:embed/>
                </p:oleObj>
              </mc:Choice>
              <mc:Fallback>
                <p:oleObj name="" r:id="rId3" imgW="1930400" imgH="3683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533400" y="3429000"/>
                        <a:ext cx="5638800" cy="996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矩形 185349"/>
          <p:cNvSpPr/>
          <p:nvPr/>
        </p:nvSpPr>
        <p:spPr>
          <a:xfrm>
            <a:off x="3048000" y="20955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185351" name="对象 185350"/>
          <p:cNvGraphicFramePr>
            <a:graphicFrameLocks noChangeAspect="1"/>
          </p:cNvGraphicFramePr>
          <p:nvPr/>
        </p:nvGraphicFramePr>
        <p:xfrm>
          <a:off x="6096000" y="3581400"/>
          <a:ext cx="2828925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5" imgW="2828925" imgH="2162175" progId="Paint.Picture">
                  <p:embed/>
                </p:oleObj>
              </mc:Choice>
              <mc:Fallback>
                <p:oleObj name="" r:id="rId5" imgW="2828925" imgH="2162175" progId="Paint.Picture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0" y="3581400"/>
                        <a:ext cx="2828925" cy="216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对象 185351"/>
          <p:cNvGraphicFramePr>
            <a:graphicFrameLocks noChangeAspect="1"/>
          </p:cNvGraphicFramePr>
          <p:nvPr/>
        </p:nvGraphicFramePr>
        <p:xfrm>
          <a:off x="914400" y="4876800"/>
          <a:ext cx="51054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7" imgW="2031365" imgH="381000" progId="Equation.3">
                  <p:embed/>
                </p:oleObj>
              </mc:Choice>
              <mc:Fallback>
                <p:oleObj name="" r:id="rId7" imgW="2031365" imgH="3810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4876800"/>
                        <a:ext cx="5105400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3" name="文本框 185352"/>
          <p:cNvSpPr txBox="1"/>
          <p:nvPr/>
        </p:nvSpPr>
        <p:spPr>
          <a:xfrm>
            <a:off x="381000" y="4419600"/>
            <a:ext cx="12557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t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其中：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85354" name="矩形 185353"/>
          <p:cNvSpPr/>
          <p:nvPr/>
        </p:nvSpPr>
        <p:spPr>
          <a:xfrm>
            <a:off x="838200" y="5791200"/>
            <a:ext cx="72215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为</a:t>
            </a:r>
            <a:r>
              <a:rPr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环形解析域</a:t>
            </a:r>
            <a:r>
              <a:rPr lang="zh-CN" altLang="en-US" sz="2400" b="1" dirty="0">
                <a:latin typeface="Times New Roman" panose="02020603050405020304" pitchFamily="18" charset="0"/>
              </a:rPr>
              <a:t>内环绕原点的一条</a:t>
            </a:r>
            <a:r>
              <a:rPr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逆时针闭合</a:t>
            </a:r>
            <a:r>
              <a:rPr lang="zh-CN" altLang="en-US" sz="2400" b="1" dirty="0">
                <a:latin typeface="Times New Roman" panose="02020603050405020304" pitchFamily="18" charset="0"/>
              </a:rPr>
              <a:t>单围线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3" grpId="0"/>
      <p:bldP spid="18535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文本占位符 186369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endParaRPr lang="en-US" altLang="zh-CN" sz="2800" b="1" dirty="0"/>
          </a:p>
          <a:p>
            <a:pPr eaLnBrk="1" hangingPunct="1">
              <a:buNone/>
            </a:pPr>
            <a:endParaRPr lang="en-US" altLang="zh-CN" sz="2800" b="1" dirty="0"/>
          </a:p>
          <a:p>
            <a:pPr eaLnBrk="1" hangingPunct="1">
              <a:buNone/>
            </a:pPr>
            <a:endParaRPr lang="en-US" altLang="zh-CN" sz="2800" b="1" dirty="0"/>
          </a:p>
          <a:p>
            <a:pPr eaLnBrk="1" hangingPunct="1">
              <a:buNone/>
            </a:pPr>
            <a:endParaRPr lang="en-US" altLang="zh-CN" sz="2800" b="1" dirty="0"/>
          </a:p>
          <a:p>
            <a:pPr eaLnBrk="1" hangingPunct="1">
              <a:buNone/>
            </a:pPr>
            <a:endParaRPr lang="en-US" altLang="zh-CN" sz="2800" b="1" dirty="0"/>
          </a:p>
          <a:p>
            <a:pPr eaLnBrk="1" hangingPunct="1">
              <a:buNone/>
            </a:pPr>
            <a:endParaRPr lang="en-US" altLang="zh-CN" sz="2800" b="1" dirty="0"/>
          </a:p>
        </p:txBody>
      </p:sp>
      <p:sp>
        <p:nvSpPr>
          <p:cNvPr id="186371" name="文本框 186370"/>
          <p:cNvSpPr txBox="1"/>
          <p:nvPr/>
        </p:nvSpPr>
        <p:spPr>
          <a:xfrm>
            <a:off x="533400" y="5029200"/>
            <a:ext cx="76358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t" hangingPunct="1"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但直接计算围线积分比较麻烦，一般都用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留数定理</a:t>
            </a:r>
            <a:r>
              <a:rPr lang="zh-CN" altLang="en-US" sz="2800" b="1" dirty="0">
                <a:latin typeface="Times New Roman" panose="02020603050405020304" pitchFamily="18" charset="0"/>
              </a:rPr>
              <a:t>来求解。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186372" name="组合 186371"/>
          <p:cNvGrpSpPr/>
          <p:nvPr/>
        </p:nvGrpSpPr>
        <p:grpSpPr>
          <a:xfrm>
            <a:off x="914400" y="1600200"/>
            <a:ext cx="6629400" cy="996950"/>
            <a:chOff x="0" y="0"/>
            <a:chExt cx="4176" cy="628"/>
          </a:xfrm>
        </p:grpSpPr>
        <p:graphicFrame>
          <p:nvGraphicFramePr>
            <p:cNvPr id="30732" name="对象 186372"/>
            <p:cNvGraphicFramePr>
              <a:graphicFrameLocks noChangeAspect="1"/>
            </p:cNvGraphicFramePr>
            <p:nvPr/>
          </p:nvGraphicFramePr>
          <p:xfrm>
            <a:off x="624" y="0"/>
            <a:ext cx="3552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" imgW="1930400" imgH="368300" progId="Equation.3">
                    <p:embed/>
                  </p:oleObj>
                </mc:Choice>
                <mc:Fallback>
                  <p:oleObj name="" r:id="rId1" imgW="1930400" imgH="3683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2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24" y="0"/>
                          <a:ext cx="3552" cy="6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3" name="文本框 186373"/>
            <p:cNvSpPr txBox="1"/>
            <p:nvPr/>
          </p:nvSpPr>
          <p:spPr>
            <a:xfrm>
              <a:off x="0" y="144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对比</a:t>
              </a:r>
              <a:endParaRPr lang="zh-CN" altLang="en-US" sz="2800" b="1" dirty="0"/>
            </a:p>
          </p:txBody>
        </p:sp>
      </p:grpSp>
      <p:grpSp>
        <p:nvGrpSpPr>
          <p:cNvPr id="186375" name="组合 186374"/>
          <p:cNvGrpSpPr/>
          <p:nvPr/>
        </p:nvGrpSpPr>
        <p:grpSpPr>
          <a:xfrm>
            <a:off x="762000" y="2743200"/>
            <a:ext cx="6056313" cy="1123950"/>
            <a:chOff x="0" y="0"/>
            <a:chExt cx="3815" cy="708"/>
          </a:xfrm>
        </p:grpSpPr>
        <p:graphicFrame>
          <p:nvGraphicFramePr>
            <p:cNvPr id="30730" name="对象 186375"/>
            <p:cNvGraphicFramePr>
              <a:graphicFrameLocks noChangeAspect="1"/>
            </p:cNvGraphicFramePr>
            <p:nvPr/>
          </p:nvGraphicFramePr>
          <p:xfrm>
            <a:off x="1680" y="0"/>
            <a:ext cx="2135" cy="7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3" imgW="1029970" imgH="368935" progId="Equation.3">
                    <p:embed/>
                  </p:oleObj>
                </mc:Choice>
                <mc:Fallback>
                  <p:oleObj name="" r:id="rId3" imgW="1029970" imgH="368935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4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80" y="0"/>
                          <a:ext cx="2135" cy="7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1" name="文本框 186376"/>
            <p:cNvSpPr txBox="1"/>
            <p:nvPr/>
          </p:nvSpPr>
          <p:spPr>
            <a:xfrm>
              <a:off x="0" y="144"/>
              <a:ext cx="16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和</a:t>
              </a:r>
              <a:r>
                <a:rPr lang="en-US" altLang="zh-CN" sz="2800" b="1" dirty="0"/>
                <a:t>z</a:t>
              </a:r>
              <a:r>
                <a:rPr lang="zh-CN" altLang="en-US" sz="2800" b="1" dirty="0"/>
                <a:t>变换的定义</a:t>
              </a:r>
              <a:endParaRPr lang="zh-CN" altLang="en-US" sz="2800" b="1" dirty="0"/>
            </a:p>
          </p:txBody>
        </p:sp>
      </p:grpSp>
      <p:grpSp>
        <p:nvGrpSpPr>
          <p:cNvPr id="186378" name="组合 186377"/>
          <p:cNvGrpSpPr/>
          <p:nvPr/>
        </p:nvGrpSpPr>
        <p:grpSpPr>
          <a:xfrm>
            <a:off x="838200" y="3962400"/>
            <a:ext cx="6881813" cy="958850"/>
            <a:chOff x="0" y="0"/>
            <a:chExt cx="4335" cy="604"/>
          </a:xfrm>
        </p:grpSpPr>
        <p:graphicFrame>
          <p:nvGraphicFramePr>
            <p:cNvPr id="30728" name="对象 186378"/>
            <p:cNvGraphicFramePr>
              <a:graphicFrameLocks noChangeAspect="1"/>
            </p:cNvGraphicFramePr>
            <p:nvPr/>
          </p:nvGraphicFramePr>
          <p:xfrm>
            <a:off x="576" y="0"/>
            <a:ext cx="3759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5" imgW="2373630" imgH="381000" progId="Equation.3">
                    <p:embed/>
                  </p:oleObj>
                </mc:Choice>
                <mc:Fallback>
                  <p:oleObj name="" r:id="rId5" imgW="2373630" imgH="3810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76" y="0"/>
                          <a:ext cx="3759" cy="6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9" name="文本框 186379"/>
            <p:cNvSpPr txBox="1"/>
            <p:nvPr/>
          </p:nvSpPr>
          <p:spPr>
            <a:xfrm>
              <a:off x="0" y="192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800" b="1" dirty="0"/>
                <a:t>可知</a:t>
              </a:r>
              <a:r>
                <a:rPr lang="zh-CN" altLang="en-US" sz="1800" b="1" dirty="0"/>
                <a:t>：</a:t>
              </a:r>
              <a:endParaRPr lang="zh-CN" altLang="en-US" sz="1800" b="1" dirty="0"/>
            </a:p>
          </p:txBody>
        </p:sp>
      </p:grpSp>
      <p:sp>
        <p:nvSpPr>
          <p:cNvPr id="30727" name="标题 18638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、留数法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文本占位符 187393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38862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folHlink"/>
                </a:solidFill>
              </a:rPr>
              <a:t>    </a:t>
            </a:r>
            <a:endParaRPr lang="en-US" altLang="zh-CN" sz="2800" dirty="0">
              <a:solidFill>
                <a:schemeClr val="folHlink"/>
              </a:solidFill>
            </a:endParaRPr>
          </a:p>
        </p:txBody>
      </p:sp>
      <p:grpSp>
        <p:nvGrpSpPr>
          <p:cNvPr id="187395" name="组合 187394"/>
          <p:cNvGrpSpPr/>
          <p:nvPr/>
        </p:nvGrpSpPr>
        <p:grpSpPr>
          <a:xfrm>
            <a:off x="533400" y="1143000"/>
            <a:ext cx="7620000" cy="2486025"/>
            <a:chOff x="0" y="0"/>
            <a:chExt cx="4800" cy="1566"/>
          </a:xfrm>
        </p:grpSpPr>
        <p:sp>
          <p:nvSpPr>
            <p:cNvPr id="31753" name="文本框 187395"/>
            <p:cNvSpPr txBox="1"/>
            <p:nvPr/>
          </p:nvSpPr>
          <p:spPr>
            <a:xfrm>
              <a:off x="0" y="0"/>
              <a:ext cx="4800" cy="15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zh-CN" altLang="en-US" sz="2800" b="1" dirty="0"/>
                <a:t>留数定理：</a:t>
              </a:r>
              <a:endParaRPr lang="zh-CN" altLang="en-US" sz="2800" b="1" dirty="0"/>
            </a:p>
            <a:p>
              <a:pPr marL="0" lvl="0" indent="0" eaLnBrk="1" hangingPunct="1">
                <a:lnSpc>
                  <a:spcPct val="140000"/>
                </a:lnSpc>
                <a:spcBef>
                  <a:spcPct val="0"/>
                </a:spcBef>
                <a:buNone/>
              </a:pPr>
              <a:r>
                <a:rPr lang="zh-CN" altLang="en-US" sz="2800" b="1" dirty="0"/>
                <a:t>       若函数                              在围线</a:t>
              </a:r>
              <a:r>
                <a:rPr lang="en-US" altLang="zh-CN" sz="2800" b="1" dirty="0"/>
                <a:t>c</a:t>
              </a:r>
              <a:r>
                <a:rPr lang="zh-CN" altLang="en-US" sz="2800" b="1" dirty="0"/>
                <a:t>上连续，在</a:t>
              </a:r>
              <a:r>
                <a:rPr lang="en-US" altLang="zh-CN" sz="2800" b="1" dirty="0"/>
                <a:t>c</a:t>
              </a:r>
              <a:r>
                <a:rPr lang="zh-CN" altLang="en-US" sz="2800" b="1" dirty="0"/>
                <a:t>内有</a:t>
              </a:r>
              <a:r>
                <a:rPr lang="en-US" altLang="zh-CN" sz="2800" b="1" dirty="0"/>
                <a:t>K</a:t>
              </a:r>
              <a:r>
                <a:rPr lang="zh-CN" altLang="en-US" sz="2800" b="1" dirty="0"/>
                <a:t>个极点</a:t>
              </a:r>
              <a:r>
                <a:rPr lang="en-US" altLang="zh-CN" sz="2800" b="1" dirty="0"/>
                <a:t>Z</a:t>
              </a:r>
              <a:r>
                <a:rPr lang="en-US" altLang="zh-CN" sz="2800" b="1" baseline="-25000" dirty="0"/>
                <a:t>k</a:t>
              </a:r>
              <a:r>
                <a:rPr lang="zh-CN" altLang="en-US" sz="2800" b="1" dirty="0"/>
                <a:t>，在</a:t>
              </a:r>
              <a:r>
                <a:rPr lang="en-US" altLang="zh-CN" sz="2800" b="1" dirty="0"/>
                <a:t>c</a:t>
              </a:r>
              <a:r>
                <a:rPr lang="zh-CN" altLang="en-US" sz="2800" b="1" dirty="0"/>
                <a:t>外有</a:t>
              </a:r>
              <a:r>
                <a:rPr lang="en-US" altLang="zh-CN" sz="2800" b="1" dirty="0"/>
                <a:t>M</a:t>
              </a:r>
              <a:r>
                <a:rPr lang="zh-CN" altLang="en-US" sz="2800" b="1" dirty="0"/>
                <a:t>个极点</a:t>
              </a:r>
              <a:r>
                <a:rPr lang="en-US" altLang="zh-CN" sz="2800" b="1" dirty="0"/>
                <a:t>Z</a:t>
              </a:r>
              <a:r>
                <a:rPr lang="en-US" altLang="zh-CN" sz="2800" b="1" baseline="-25000" dirty="0"/>
                <a:t>M</a:t>
              </a:r>
              <a:r>
                <a:rPr lang="zh-CN" altLang="en-US" sz="2800" b="1" dirty="0"/>
                <a:t>（</a:t>
              </a:r>
              <a:r>
                <a:rPr lang="en-US" altLang="zh-CN" sz="2800" b="1" dirty="0"/>
                <a:t>K,M</a:t>
              </a:r>
              <a:r>
                <a:rPr lang="zh-CN" altLang="en-US" sz="2800" b="1" dirty="0"/>
                <a:t>为有限值），则有：</a:t>
              </a:r>
              <a:endParaRPr lang="zh-CN" altLang="en-US" sz="2800" b="1" dirty="0"/>
            </a:p>
          </p:txBody>
        </p:sp>
        <p:graphicFrame>
          <p:nvGraphicFramePr>
            <p:cNvPr id="31754" name="对象 187396"/>
            <p:cNvGraphicFramePr>
              <a:graphicFrameLocks noChangeAspect="1"/>
            </p:cNvGraphicFramePr>
            <p:nvPr/>
          </p:nvGraphicFramePr>
          <p:xfrm>
            <a:off x="1344" y="480"/>
            <a:ext cx="1632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" imgW="889635" imgH="190500" progId="Equation.3">
                    <p:embed/>
                  </p:oleObj>
                </mc:Choice>
                <mc:Fallback>
                  <p:oleObj name="" r:id="rId1" imgW="889635" imgH="1905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44" y="480"/>
                          <a:ext cx="1632" cy="3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7398" name="内容占位符 187397"/>
          <p:cNvGraphicFramePr>
            <a:graphicFrameLocks noGrp="1" noChangeAspect="1"/>
          </p:cNvGraphicFramePr>
          <p:nvPr>
            <p:ph sz="half" idx="2"/>
          </p:nvPr>
        </p:nvGraphicFramePr>
        <p:xfrm>
          <a:off x="1406525" y="3657600"/>
          <a:ext cx="6407150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3" imgW="2843530" imgH="711200" progId="Equation.3">
                  <p:embed/>
                </p:oleObj>
              </mc:Choice>
              <mc:Fallback>
                <p:oleObj name="" r:id="rId3" imgW="2843530" imgH="7112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406525" y="3657600"/>
                        <a:ext cx="6407150" cy="16017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7399" name="组合 187398"/>
          <p:cNvGrpSpPr/>
          <p:nvPr/>
        </p:nvGrpSpPr>
        <p:grpSpPr>
          <a:xfrm>
            <a:off x="250825" y="5483225"/>
            <a:ext cx="8893175" cy="1374775"/>
            <a:chOff x="0" y="0"/>
            <a:chExt cx="5602" cy="866"/>
          </a:xfrm>
        </p:grpSpPr>
        <p:sp>
          <p:nvSpPr>
            <p:cNvPr id="31751" name="文本框 187399"/>
            <p:cNvSpPr txBox="1"/>
            <p:nvPr/>
          </p:nvSpPr>
          <p:spPr>
            <a:xfrm>
              <a:off x="0" y="0"/>
              <a:ext cx="5602" cy="8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fontAlgn="t" hangingPunct="1">
                <a:lnSpc>
                  <a:spcPct val="150000"/>
                </a:lnSpc>
                <a:buClr>
                  <a:schemeClr val="folHlink"/>
                </a:buClr>
                <a:buSzPct val="60000"/>
                <a:buNone/>
              </a:pPr>
              <a:r>
                <a:rPr lang="zh-CN" altLang="en-US" sz="2800" b="1" dirty="0">
                  <a:solidFill>
                    <a:srgbClr val="990000"/>
                  </a:solidFill>
                  <a:latin typeface="Times New Roman" panose="02020603050405020304" pitchFamily="18" charset="0"/>
                </a:rPr>
                <a:t>        注意：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应用第二式计算时，要求                 的分母多项式中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z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的阶次比分子多项式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z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的阶数高二阶或以上。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752" name="对象 187400"/>
            <p:cNvGraphicFramePr>
              <a:graphicFrameLocks noChangeAspect="1"/>
            </p:cNvGraphicFramePr>
            <p:nvPr/>
          </p:nvGraphicFramePr>
          <p:xfrm>
            <a:off x="3800" y="112"/>
            <a:ext cx="584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5" imgW="343535" imgH="203835" progId="Equation.3">
                    <p:embed/>
                  </p:oleObj>
                </mc:Choice>
                <mc:Fallback>
                  <p:oleObj name="" r:id="rId5" imgW="343535" imgH="203835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00" y="112"/>
                          <a:ext cx="584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0" name="标题 18740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、留数法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内容占位符 188417"/>
          <p:cNvSpPr>
            <a:spLocks noGrp="1"/>
          </p:cNvSpPr>
          <p:nvPr>
            <p:ph idx="1"/>
          </p:nvPr>
        </p:nvSpPr>
        <p:spPr>
          <a:xfrm>
            <a:off x="609600" y="1524000"/>
            <a:ext cx="79248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求留数的方法：</a:t>
            </a:r>
            <a:endParaRPr lang="zh-CN" altLang="en-US" b="1" dirty="0"/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、当</a:t>
            </a:r>
            <a:r>
              <a:rPr lang="en-US" altLang="zh-CN" b="1" i="1" dirty="0"/>
              <a:t>Z</a:t>
            </a:r>
            <a:r>
              <a:rPr lang="en-US" altLang="zh-CN" b="1" baseline="-25000" dirty="0"/>
              <a:t>k</a:t>
            </a:r>
            <a:r>
              <a:rPr lang="zh-CN" altLang="en-US" b="1" dirty="0"/>
              <a:t>为</a:t>
            </a:r>
            <a:r>
              <a:rPr lang="zh-CN" altLang="en-US" b="1" i="1" dirty="0"/>
              <a:t>一</a:t>
            </a:r>
            <a:r>
              <a:rPr lang="zh-CN" altLang="en-US" b="1" dirty="0"/>
              <a:t>阶极点时的留数：</a:t>
            </a:r>
            <a:endParaRPr lang="zh-CN" altLang="en-US" b="1" dirty="0"/>
          </a:p>
          <a:p>
            <a:pPr eaLnBrk="1" hangingPunct="1">
              <a:spcBef>
                <a:spcPct val="0"/>
              </a:spcBef>
              <a:buNone/>
            </a:pPr>
            <a:endParaRPr lang="zh-CN" altLang="en-US" b="1" dirty="0"/>
          </a:p>
          <a:p>
            <a:pPr eaLnBrk="1" hangingPunct="1">
              <a:spcBef>
                <a:spcPct val="0"/>
              </a:spcBef>
              <a:buNone/>
            </a:pPr>
            <a:endParaRPr lang="zh-CN" altLang="en-US" b="1" dirty="0"/>
          </a:p>
          <a:p>
            <a:pPr eaLnBrk="1" hangingPunct="1">
              <a:spcBef>
                <a:spcPct val="0"/>
              </a:spcBef>
              <a:buNone/>
            </a:pPr>
            <a:endParaRPr lang="zh-CN" altLang="en-US" b="1" dirty="0"/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、当</a:t>
            </a:r>
            <a:r>
              <a:rPr lang="en-US" altLang="zh-CN" b="1" i="1" dirty="0"/>
              <a:t>Z</a:t>
            </a:r>
            <a:r>
              <a:rPr lang="en-US" altLang="zh-CN" b="1" baseline="-25000" dirty="0"/>
              <a:t>k</a:t>
            </a:r>
            <a:r>
              <a:rPr lang="zh-CN" altLang="en-US" b="1" dirty="0"/>
              <a:t>为</a:t>
            </a:r>
            <a:r>
              <a:rPr lang="en-US" altLang="zh-CN" b="1" i="1" dirty="0"/>
              <a:t>m </a:t>
            </a:r>
            <a:r>
              <a:rPr lang="zh-CN" altLang="en-US" b="1" dirty="0"/>
              <a:t>阶</a:t>
            </a:r>
            <a:r>
              <a:rPr lang="en-US" altLang="zh-CN" b="1" dirty="0"/>
              <a:t>(</a:t>
            </a:r>
            <a:r>
              <a:rPr lang="zh-CN" altLang="en-US" b="1" dirty="0"/>
              <a:t>多重</a:t>
            </a:r>
            <a:r>
              <a:rPr lang="en-US" altLang="zh-CN" b="1" dirty="0"/>
              <a:t>)</a:t>
            </a:r>
            <a:r>
              <a:rPr lang="zh-CN" altLang="en-US" b="1" dirty="0"/>
              <a:t>极点时的留数：</a:t>
            </a:r>
            <a:endParaRPr lang="zh-CN" altLang="en-US" b="1" dirty="0"/>
          </a:p>
          <a:p>
            <a:pPr eaLnBrk="1" hangingPunct="1">
              <a:buNone/>
            </a:pPr>
            <a:endParaRPr lang="zh-CN" altLang="en-US" b="1" dirty="0"/>
          </a:p>
        </p:txBody>
      </p:sp>
      <p:graphicFrame>
        <p:nvGraphicFramePr>
          <p:cNvPr id="188419" name="对象 188418"/>
          <p:cNvGraphicFramePr>
            <a:graphicFrameLocks noChangeAspect="1"/>
          </p:cNvGraphicFramePr>
          <p:nvPr/>
        </p:nvGraphicFramePr>
        <p:xfrm>
          <a:off x="1393825" y="2743200"/>
          <a:ext cx="610393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2018665" imgH="241300" progId="Equation.3">
                  <p:embed/>
                </p:oleObj>
              </mc:Choice>
              <mc:Fallback>
                <p:oleObj name="" r:id="rId1" imgW="2018665" imgH="2413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393825" y="2743200"/>
                        <a:ext cx="6103938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0" name="对象 188419"/>
          <p:cNvGraphicFramePr>
            <a:graphicFrameLocks noChangeAspect="1"/>
          </p:cNvGraphicFramePr>
          <p:nvPr/>
        </p:nvGraphicFramePr>
        <p:xfrm>
          <a:off x="604838" y="4572000"/>
          <a:ext cx="766762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3" imgW="3046730" imgH="444500" progId="Equation.3">
                  <p:embed/>
                </p:oleObj>
              </mc:Choice>
              <mc:Fallback>
                <p:oleObj name="" r:id="rId3" imgW="3046730" imgH="4445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604838" y="4572000"/>
                        <a:ext cx="7667625" cy="115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标题 18842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、留数法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18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8418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>
                                            <p:txEl>
                                              <p:charRg st="27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8418">
                                            <p:txEl>
                                              <p:charRg st="27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9442" name="文本框 189441"/>
          <p:cNvSpPr txBox="1"/>
          <p:nvPr/>
        </p:nvSpPr>
        <p:spPr>
          <a:xfrm>
            <a:off x="838200" y="1524000"/>
            <a:ext cx="7416800" cy="4364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　例</a:t>
            </a:r>
            <a:r>
              <a:rPr lang="en-US" altLang="zh-CN" sz="2400" b="1" dirty="0">
                <a:latin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</a:rPr>
              <a:t>、已知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)=(1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az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|&gt;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求其逆</a:t>
            </a:r>
            <a:r>
              <a:rPr lang="en-US" altLang="zh-CN" sz="2400" b="1" dirty="0">
                <a:latin typeface="Times New Roman" panose="02020603050405020304" pitchFamily="18" charset="0"/>
              </a:rPr>
              <a:t>Z</a:t>
            </a:r>
            <a:r>
              <a:rPr lang="zh-CN" altLang="en-US" sz="2400" b="1" dirty="0">
                <a:latin typeface="Times New Roman" panose="02020603050405020304" pitchFamily="18" charset="0"/>
              </a:rPr>
              <a:t>变换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。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　　解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i="1" dirty="0"/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i="1" dirty="0"/>
              <a:t>n</a:t>
            </a:r>
            <a:r>
              <a:rPr lang="en-US" altLang="zh-CN" sz="2400" b="1" dirty="0"/>
              <a:t>≥0</a:t>
            </a:r>
            <a:r>
              <a:rPr lang="zh-CN" altLang="en-US" sz="2400" b="1" dirty="0"/>
              <a:t>时，</a:t>
            </a:r>
            <a:r>
              <a:rPr lang="en-US" altLang="zh-CN" sz="2400" b="1" i="1" dirty="0"/>
              <a:t>F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在</a:t>
            </a:r>
            <a:r>
              <a:rPr lang="en-US" altLang="zh-CN" sz="2400" b="1" i="1" dirty="0"/>
              <a:t>c</a:t>
            </a:r>
            <a:r>
              <a:rPr lang="zh-CN" altLang="en-US" sz="2400" b="1" dirty="0"/>
              <a:t>内只有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个极点：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1=</a:t>
            </a:r>
            <a:r>
              <a:rPr lang="en-US" altLang="zh-CN" sz="2400" b="1" i="1" dirty="0"/>
              <a:t>a</a:t>
            </a:r>
            <a:r>
              <a:rPr lang="zh-CN" altLang="en-US" sz="2400" b="1" dirty="0"/>
              <a:t>；</a:t>
            </a:r>
            <a:endParaRPr lang="zh-CN" altLang="en-US" sz="2400" b="1" dirty="0"/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i="1" dirty="0"/>
              <a:t>n</a:t>
            </a:r>
            <a:r>
              <a:rPr lang="en-US" altLang="zh-CN" sz="2400" b="1" dirty="0"/>
              <a:t>&lt;0</a:t>
            </a:r>
            <a:r>
              <a:rPr lang="zh-CN" altLang="en-US" sz="2400" b="1" dirty="0"/>
              <a:t>时，</a:t>
            </a:r>
            <a:r>
              <a:rPr lang="en-US" altLang="zh-CN" sz="2400" b="1" i="1" dirty="0"/>
              <a:t>F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在</a:t>
            </a:r>
            <a:r>
              <a:rPr lang="en-US" altLang="zh-CN" sz="2400" b="1" i="1" dirty="0"/>
              <a:t>c</a:t>
            </a:r>
            <a:r>
              <a:rPr lang="zh-CN" altLang="en-US" sz="2400" b="1" dirty="0"/>
              <a:t>内有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个极点：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1=</a:t>
            </a:r>
            <a:r>
              <a:rPr lang="en-US" altLang="zh-CN" sz="2400" b="1" i="1" dirty="0"/>
              <a:t>a</a:t>
            </a:r>
            <a:r>
              <a:rPr lang="en-US" altLang="zh-CN" sz="2400" b="1" dirty="0"/>
              <a:t>, 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2=0</a:t>
            </a:r>
            <a:r>
              <a:rPr lang="zh-CN" altLang="en-US" sz="2400" b="1" dirty="0"/>
              <a:t>（高阶）；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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9443" name="对象 189442"/>
          <p:cNvGraphicFramePr>
            <a:graphicFrameLocks noChangeAspect="1"/>
          </p:cNvGraphicFramePr>
          <p:nvPr/>
        </p:nvGraphicFramePr>
        <p:xfrm>
          <a:off x="2438400" y="3505200"/>
          <a:ext cx="25908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" imgW="1182370" imgH="394335" progId="Equation.DSMT4">
                  <p:embed/>
                </p:oleObj>
              </mc:Choice>
              <mc:Fallback>
                <p:oleObj name="" r:id="rId1" imgW="1182370" imgH="394335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3505200"/>
                        <a:ext cx="2590800" cy="855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4" name="对象 189443"/>
          <p:cNvGraphicFramePr>
            <a:graphicFrameLocks noChangeAspect="1"/>
          </p:cNvGraphicFramePr>
          <p:nvPr/>
        </p:nvGraphicFramePr>
        <p:xfrm>
          <a:off x="5181600" y="3429000"/>
          <a:ext cx="11430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3" imgW="483870" imgH="419735" progId="Equation.DSMT4">
                  <p:embed/>
                </p:oleObj>
              </mc:Choice>
              <mc:Fallback>
                <p:oleObj name="" r:id="rId3" imgW="483870" imgH="419735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1600" y="3429000"/>
                        <a:ext cx="1143000" cy="985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9445" name="组合 189444"/>
          <p:cNvGrpSpPr>
            <a:grpSpLocks noChangeAspect="1"/>
          </p:cNvGrpSpPr>
          <p:nvPr/>
        </p:nvGrpSpPr>
        <p:grpSpPr>
          <a:xfrm>
            <a:off x="2819400" y="2590800"/>
            <a:ext cx="3886200" cy="838200"/>
            <a:chOff x="0" y="0"/>
            <a:chExt cx="2448" cy="528"/>
          </a:xfrm>
        </p:grpSpPr>
        <p:graphicFrame>
          <p:nvGraphicFramePr>
            <p:cNvPr id="33799" name="对象 189445"/>
            <p:cNvGraphicFramePr>
              <a:graphicFrameLocks noChangeAspect="1"/>
            </p:cNvGraphicFramePr>
            <p:nvPr/>
          </p:nvGraphicFramePr>
          <p:xfrm>
            <a:off x="0" y="0"/>
            <a:ext cx="244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" name="" r:id="rId5" imgW="1943100" imgH="419100" progId="Equation.DSMT4">
                    <p:embed/>
                  </p:oleObj>
                </mc:Choice>
                <mc:Fallback>
                  <p:oleObj name="" r:id="rId5" imgW="1943100" imgH="419100" progId="Equation.DSMT4">
                    <p:embed/>
                    <p:pic>
                      <p:nvPicPr>
                        <p:cNvPr id="0" name="图片 314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448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0" name="对象 189446"/>
            <p:cNvGraphicFramePr>
              <a:graphicFrameLocks noChangeAspect="1"/>
            </p:cNvGraphicFramePr>
            <p:nvPr/>
          </p:nvGraphicFramePr>
          <p:xfrm>
            <a:off x="901" y="22"/>
            <a:ext cx="295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7" imgW="203835" imgH="280035" progId="Equation.3">
                    <p:embed/>
                  </p:oleObj>
                </mc:Choice>
                <mc:Fallback>
                  <p:oleObj name="" r:id="rId7" imgW="203835" imgH="280035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01" y="22"/>
                          <a:ext cx="295" cy="4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798" name="矩形 189447"/>
          <p:cNvSpPr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200" dirty="0">
                <a:solidFill>
                  <a:schemeClr val="tx2"/>
                </a:solidFill>
              </a:rPr>
              <a:t>1</a:t>
            </a:r>
            <a:r>
              <a:rPr lang="zh-CN" altLang="en-US" sz="4200" dirty="0">
                <a:solidFill>
                  <a:schemeClr val="tx2"/>
                </a:solidFill>
              </a:rPr>
              <a:t>、留数法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2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>
                                            <p:txEl>
                                              <p:charRg st="43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9442">
                                            <p:txEl>
                                              <p:charRg st="43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>
                                            <p:txEl>
                                              <p:charRg st="50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9442">
                                            <p:txEl>
                                              <p:charRg st="50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2">
                                            <p:txEl>
                                              <p:charRg st="76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9442">
                                            <p:txEl>
                                              <p:charRg st="76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6" name="内容占位符 19046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/>
              <a:t>则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≥0</a:t>
            </a:r>
            <a:r>
              <a:rPr lang="zh-CN" altLang="en-US" sz="2800" b="1" dirty="0"/>
              <a:t>时，</a:t>
            </a:r>
            <a:endParaRPr lang="zh-CN" altLang="en-US" sz="2800" b="1" dirty="0"/>
          </a:p>
          <a:p>
            <a:pPr eaLnBrk="1" hangingPunct="1"/>
            <a:endParaRPr lang="zh-CN" altLang="en-US" sz="2800" b="1" dirty="0"/>
          </a:p>
          <a:p>
            <a:pPr eaLnBrk="1" hangingPunct="1"/>
            <a:endParaRPr lang="zh-CN" altLang="en-US" sz="2800" b="1" dirty="0"/>
          </a:p>
          <a:p>
            <a:pPr eaLnBrk="1" hangingPunct="1"/>
            <a:r>
              <a:rPr lang="en-US" altLang="zh-CN" sz="2800" b="1" i="1" dirty="0"/>
              <a:t>n</a:t>
            </a:r>
            <a:r>
              <a:rPr lang="en-US" altLang="zh-CN" sz="2800" b="1" dirty="0"/>
              <a:t>&lt;0</a:t>
            </a:r>
            <a:r>
              <a:rPr lang="zh-CN" altLang="en-US" sz="2800" b="1" dirty="0"/>
              <a:t>时，围线内有高阶极点，由于</a:t>
            </a:r>
            <a:r>
              <a:rPr lang="en-US" altLang="zh-CN" sz="2800" b="1" dirty="0"/>
              <a:t>F(z)</a:t>
            </a:r>
            <a:r>
              <a:rPr lang="zh-CN" altLang="en-US" sz="2800" b="1" dirty="0"/>
              <a:t>的分母阶次比分子阶次高二阶以上，因而求圆外极点留数。由于围线外无极点，故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&lt;0</a:t>
            </a:r>
            <a:r>
              <a:rPr lang="zh-CN" altLang="en-US" sz="2800" b="1" dirty="0"/>
              <a:t>时，</a:t>
            </a:r>
            <a:r>
              <a:rPr lang="en-US" altLang="zh-CN" sz="2800" b="1" dirty="0"/>
              <a:t>x(n)=0</a:t>
            </a:r>
            <a:endParaRPr lang="en-US" altLang="zh-CN" sz="2800" b="1" dirty="0"/>
          </a:p>
          <a:p>
            <a:pPr eaLnBrk="1" hangingPunct="1"/>
            <a:r>
              <a:rPr lang="en-US" altLang="zh-CN" sz="2800" b="1" dirty="0"/>
              <a:t> </a:t>
            </a:r>
            <a:r>
              <a:rPr lang="zh-CN" altLang="en-US" sz="2800" b="1" dirty="0"/>
              <a:t>所以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           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)=</a:t>
            </a:r>
            <a:r>
              <a:rPr lang="en-US" altLang="zh-CN" i="1" dirty="0"/>
              <a:t>a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u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)</a:t>
            </a:r>
            <a:endParaRPr lang="en-US" altLang="zh-CN" sz="2800" b="1" dirty="0"/>
          </a:p>
          <a:p>
            <a:pPr eaLnBrk="1" hangingPunct="1"/>
            <a:endParaRPr lang="en-US" altLang="zh-CN" sz="2800" b="1" dirty="0"/>
          </a:p>
          <a:p>
            <a:pPr eaLnBrk="1" hangingPunct="1"/>
            <a:endParaRPr lang="zh-CN" altLang="en-US" b="1" dirty="0"/>
          </a:p>
        </p:txBody>
      </p:sp>
      <p:grpSp>
        <p:nvGrpSpPr>
          <p:cNvPr id="190467" name="组合 190466"/>
          <p:cNvGrpSpPr>
            <a:grpSpLocks noChangeAspect="1"/>
          </p:cNvGrpSpPr>
          <p:nvPr/>
        </p:nvGrpSpPr>
        <p:grpSpPr>
          <a:xfrm>
            <a:off x="1371600" y="2209800"/>
            <a:ext cx="5410200" cy="1004888"/>
            <a:chOff x="0" y="0"/>
            <a:chExt cx="3408" cy="633"/>
          </a:xfrm>
        </p:grpSpPr>
        <p:graphicFrame>
          <p:nvGraphicFramePr>
            <p:cNvPr id="34821" name="对象 190467"/>
            <p:cNvGraphicFramePr>
              <a:graphicFrameLocks noChangeAspect="1"/>
            </p:cNvGraphicFramePr>
            <p:nvPr/>
          </p:nvGraphicFramePr>
          <p:xfrm>
            <a:off x="0" y="186"/>
            <a:ext cx="1577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" r:id="rId1" imgW="1232535" imgH="203200" progId="Equation.DSMT4">
                    <p:embed/>
                  </p:oleObj>
                </mc:Choice>
                <mc:Fallback>
                  <p:oleObj name="" r:id="rId1" imgW="1232535" imgH="203200" progId="Equation.DSMT4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186"/>
                          <a:ext cx="1577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2" name="对象 190468"/>
            <p:cNvGraphicFramePr>
              <a:graphicFrameLocks noChangeAspect="1"/>
            </p:cNvGraphicFramePr>
            <p:nvPr/>
          </p:nvGraphicFramePr>
          <p:xfrm>
            <a:off x="1614" y="0"/>
            <a:ext cx="1440" cy="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" name="" r:id="rId3" imgW="1106170" imgH="483235" progId="Equation.DSMT4">
                    <p:embed/>
                  </p:oleObj>
                </mc:Choice>
                <mc:Fallback>
                  <p:oleObj name="" r:id="rId3" imgW="1106170" imgH="483235" progId="Equation.DSMT4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14" y="0"/>
                          <a:ext cx="1440" cy="6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23" name="对象 190469"/>
            <p:cNvGraphicFramePr>
              <a:graphicFrameLocks noChangeAspect="1"/>
            </p:cNvGraphicFramePr>
            <p:nvPr/>
          </p:nvGraphicFramePr>
          <p:xfrm>
            <a:off x="3024" y="138"/>
            <a:ext cx="38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5" imgW="305435" imgH="203835" progId="Equation.DSMT4">
                    <p:embed/>
                  </p:oleObj>
                </mc:Choice>
                <mc:Fallback>
                  <p:oleObj name="" r:id="rId5" imgW="305435" imgH="203835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24" y="138"/>
                          <a:ext cx="384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20" name="标题 19047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、留数法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0466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9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0466">
                                            <p:txEl>
                                              <p:charRg st="9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77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0466">
                                            <p:txEl>
                                              <p:charRg st="77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>
                                            <p:txEl>
                                              <p:charRg st="81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0466">
                                            <p:txEl>
                                              <p:charRg st="81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1490" name="组合 191489"/>
          <p:cNvGrpSpPr/>
          <p:nvPr/>
        </p:nvGrpSpPr>
        <p:grpSpPr>
          <a:xfrm>
            <a:off x="838200" y="1447800"/>
            <a:ext cx="7345363" cy="1117600"/>
            <a:chOff x="0" y="0"/>
            <a:chExt cx="4627" cy="704"/>
          </a:xfrm>
        </p:grpSpPr>
        <p:sp>
          <p:nvSpPr>
            <p:cNvPr id="35845" name="文本框 191490"/>
            <p:cNvSpPr txBox="1"/>
            <p:nvPr/>
          </p:nvSpPr>
          <p:spPr>
            <a:xfrm>
              <a:off x="0" y="48"/>
              <a:ext cx="4627" cy="6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　例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、　已知　　　　　　　　　　　　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求其逆变换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)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。　　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5846" name="对象 191491"/>
            <p:cNvGraphicFramePr>
              <a:graphicFrameLocks noChangeAspect="1"/>
            </p:cNvGraphicFramePr>
            <p:nvPr/>
          </p:nvGraphicFramePr>
          <p:xfrm>
            <a:off x="1392" y="0"/>
            <a:ext cx="2304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1" imgW="2018665" imgH="444500" progId="Equation.3">
                    <p:embed/>
                  </p:oleObj>
                </mc:Choice>
                <mc:Fallback>
                  <p:oleObj name="" r:id="rId1" imgW="2018665" imgH="4445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92" y="0"/>
                          <a:ext cx="2304" cy="5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1493" name="矩形 191492"/>
          <p:cNvSpPr/>
          <p:nvPr/>
        </p:nvSpPr>
        <p:spPr>
          <a:xfrm>
            <a:off x="1066800" y="2667000"/>
            <a:ext cx="7162800" cy="3670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解：　</a:t>
            </a:r>
            <a:r>
              <a:rPr lang="zh-CN" altLang="en-US" sz="2400" b="1" dirty="0">
                <a:solidFill>
                  <a:srgbClr val="990000"/>
                </a:solidFill>
              </a:rPr>
              <a:t>先确定收敛域。</a:t>
            </a:r>
            <a:endParaRPr lang="zh-CN" altLang="en-US" sz="2400" b="1" dirty="0">
              <a:solidFill>
                <a:srgbClr val="990000"/>
              </a:solidFill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i="1" dirty="0"/>
              <a:t>     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) </a:t>
            </a:r>
            <a:r>
              <a:rPr lang="zh-CN" altLang="en-US" sz="2400" b="1" dirty="0"/>
              <a:t>有两个极点：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=</a:t>
            </a:r>
            <a:r>
              <a:rPr lang="en-US" altLang="zh-CN" sz="2400" b="1" i="1" dirty="0"/>
              <a:t>a</a:t>
            </a:r>
            <a:r>
              <a:rPr lang="zh-CN" altLang="en-US" sz="2400" b="1" dirty="0"/>
              <a:t>和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=</a:t>
            </a:r>
            <a:r>
              <a:rPr lang="en-US" altLang="zh-CN" sz="2400" b="1" i="1" dirty="0"/>
              <a:t>a</a:t>
            </a:r>
            <a:r>
              <a:rPr lang="zh-CN" altLang="en-US" sz="2400" b="1" i="1" baseline="30000" dirty="0"/>
              <a:t>－</a:t>
            </a:r>
            <a:r>
              <a:rPr lang="en-US" altLang="zh-CN" sz="2400" b="1" i="1" baseline="30000" dirty="0"/>
              <a:t>1</a:t>
            </a:r>
            <a:r>
              <a:rPr lang="zh-CN" altLang="en-US" sz="2400" b="1" dirty="0"/>
              <a:t>，这样收敛域有三种选法，它们是： </a:t>
            </a:r>
            <a:endParaRPr lang="zh-CN" altLang="en-US" sz="2400" b="1" dirty="0"/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　　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 </a:t>
            </a:r>
            <a:r>
              <a:rPr lang="en-US" altLang="zh-CN" sz="2400" b="1" dirty="0"/>
              <a:t>|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|&gt;|</a:t>
            </a:r>
            <a:r>
              <a:rPr lang="en-US" altLang="zh-CN" sz="2400" b="1" i="1" dirty="0"/>
              <a:t>a</a:t>
            </a:r>
            <a:r>
              <a:rPr lang="zh-CN" altLang="en-US" sz="2400" b="1" i="1" baseline="30000" dirty="0"/>
              <a:t>－</a:t>
            </a:r>
            <a:r>
              <a:rPr lang="en-US" altLang="zh-CN" sz="2400" b="1" baseline="30000" dirty="0"/>
              <a:t>1</a:t>
            </a:r>
            <a:r>
              <a:rPr lang="en-US" altLang="zh-CN" sz="2400" b="1" dirty="0"/>
              <a:t>|</a:t>
            </a:r>
            <a:r>
              <a:rPr lang="zh-CN" altLang="en-US" sz="2400" b="1" dirty="0"/>
              <a:t>，对应的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是因果序列；</a:t>
            </a:r>
            <a:endParaRPr lang="zh-CN" altLang="en-US" sz="2400" b="1" dirty="0"/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　　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 </a:t>
            </a:r>
            <a:r>
              <a:rPr lang="en-US" altLang="zh-CN" sz="2400" b="1" dirty="0"/>
              <a:t>|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|&lt;|</a:t>
            </a:r>
            <a:r>
              <a:rPr lang="en-US" altLang="zh-CN" sz="2400" b="1" i="1" dirty="0"/>
              <a:t>a</a:t>
            </a:r>
            <a:r>
              <a:rPr lang="en-US" altLang="zh-CN" sz="2400" b="1" dirty="0"/>
              <a:t>|</a:t>
            </a:r>
            <a:r>
              <a:rPr lang="zh-CN" altLang="en-US" sz="2400" b="1" dirty="0"/>
              <a:t>，对应的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是左序列；</a:t>
            </a:r>
            <a:endParaRPr lang="zh-CN" altLang="en-US" sz="2400" b="1" dirty="0"/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　　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 </a:t>
            </a:r>
            <a:r>
              <a:rPr lang="en-US" altLang="zh-CN" sz="2400" b="1" dirty="0"/>
              <a:t>|</a:t>
            </a:r>
            <a:r>
              <a:rPr lang="en-US" altLang="zh-CN" sz="2400" b="1" i="1" dirty="0"/>
              <a:t>a</a:t>
            </a:r>
            <a:r>
              <a:rPr lang="en-US" altLang="zh-CN" sz="2400" b="1" dirty="0"/>
              <a:t>|&lt;|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|&lt;|</a:t>
            </a:r>
            <a:r>
              <a:rPr lang="en-US" altLang="zh-CN" sz="2400" b="1" i="1" dirty="0"/>
              <a:t>a</a:t>
            </a:r>
            <a:r>
              <a:rPr lang="zh-CN" altLang="en-US" sz="2400" b="1" i="1" baseline="30000" dirty="0"/>
              <a:t>－</a:t>
            </a:r>
            <a:r>
              <a:rPr lang="en-US" altLang="zh-CN" sz="2400" b="1" i="1" baseline="30000" dirty="0"/>
              <a:t>1</a:t>
            </a:r>
            <a:r>
              <a:rPr lang="en-US" altLang="zh-CN" sz="2400" b="1" dirty="0"/>
              <a:t>|</a:t>
            </a:r>
            <a:r>
              <a:rPr lang="zh-CN" altLang="en-US" sz="2400" b="1" dirty="0"/>
              <a:t>，对应的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是双边序列。</a:t>
            </a:r>
            <a:r>
              <a:rPr lang="zh-CN" altLang="en-US" sz="2400" dirty="0"/>
              <a:t></a:t>
            </a:r>
            <a:r>
              <a:rPr lang="zh-CN" altLang="en-US" sz="2400" b="1" dirty="0"/>
              <a:t> </a:t>
            </a:r>
            <a:endParaRPr lang="zh-CN" altLang="en-US" sz="2400" b="1" dirty="0"/>
          </a:p>
        </p:txBody>
      </p:sp>
      <p:sp>
        <p:nvSpPr>
          <p:cNvPr id="35844" name="矩形 191493"/>
          <p:cNvSpPr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200" dirty="0">
                <a:solidFill>
                  <a:schemeClr val="tx2"/>
                </a:solidFill>
              </a:rPr>
              <a:t>1</a:t>
            </a:r>
            <a:r>
              <a:rPr lang="zh-CN" altLang="en-US" sz="4200" dirty="0">
                <a:solidFill>
                  <a:schemeClr val="tx2"/>
                </a:solidFill>
              </a:rPr>
              <a:t>、留数法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1493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>
                                            <p:txEl>
                                              <p:charRg st="11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1493">
                                            <p:txEl>
                                              <p:charRg st="11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>
                                            <p:txEl>
                                              <p:charRg st="55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1493">
                                            <p:txEl>
                                              <p:charRg st="55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>
                                            <p:txEl>
                                              <p:charRg st="8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1493">
                                            <p:txEl>
                                              <p:charRg st="86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>
                                            <p:txEl>
                                              <p:charRg st="114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1493">
                                            <p:txEl>
                                              <p:charRg st="114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4" name="文本框 192513"/>
          <p:cNvSpPr txBox="1"/>
          <p:nvPr/>
        </p:nvSpPr>
        <p:spPr>
          <a:xfrm>
            <a:off x="762000" y="1371600"/>
            <a:ext cx="7543800" cy="3889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　　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 收敛域为</a:t>
            </a:r>
            <a:r>
              <a:rPr lang="en-US" altLang="zh-CN" sz="2400" b="1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|&gt;|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|: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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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这种情况的原序列是因果序列，无须求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&lt;0</a:t>
            </a:r>
            <a:r>
              <a:rPr lang="zh-CN" altLang="en-US" sz="2400" b="1" dirty="0">
                <a:latin typeface="Times New Roman" panose="02020603050405020304" pitchFamily="18" charset="0"/>
              </a:rPr>
              <a:t>时的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。当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≥0</a:t>
            </a:r>
            <a:r>
              <a:rPr lang="zh-CN" altLang="en-US" sz="2400" b="1" dirty="0">
                <a:latin typeface="Times New Roman" panose="02020603050405020304" pitchFamily="18" charset="0"/>
              </a:rPr>
              <a:t>时，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内有两个极点：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，因此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2515" name="对象 192514"/>
          <p:cNvGraphicFramePr>
            <a:graphicFrameLocks noChangeAspect="1"/>
          </p:cNvGraphicFramePr>
          <p:nvPr/>
        </p:nvGraphicFramePr>
        <p:xfrm>
          <a:off x="838200" y="2667000"/>
          <a:ext cx="77724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" imgW="3326130" imgH="444500" progId="Equation.3">
                  <p:embed/>
                </p:oleObj>
              </mc:Choice>
              <mc:Fallback>
                <p:oleObj name="" r:id="rId1" imgW="3326130" imgH="4445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2667000"/>
                        <a:ext cx="7772400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矩形 192515"/>
          <p:cNvSpPr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200" dirty="0">
                <a:solidFill>
                  <a:schemeClr val="tx2"/>
                </a:solidFill>
              </a:rPr>
              <a:t>1</a:t>
            </a:r>
            <a:r>
              <a:rPr lang="zh-CN" altLang="en-US" sz="4200" dirty="0">
                <a:solidFill>
                  <a:schemeClr val="tx2"/>
                </a:solidFill>
              </a:rPr>
              <a:t>、留数法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>
                                            <p:txEl>
                                              <p:charRg st="3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2514">
                                            <p:txEl>
                                              <p:charRg st="30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8" name="矩形 193537"/>
          <p:cNvSpPr/>
          <p:nvPr/>
        </p:nvSpPr>
        <p:spPr>
          <a:xfrm>
            <a:off x="1066800" y="5029200"/>
            <a:ext cx="50879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最后表示成：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)=(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i="1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sz="2400" i="1" dirty="0">
                <a:latin typeface="Times New Roman" panose="02020603050405020304" pitchFamily="18" charset="0"/>
              </a:rPr>
              <a:t>－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en-US" altLang="zh-CN" sz="2400" i="1" dirty="0">
                <a:latin typeface="Times New Roman" panose="02020603050405020304" pitchFamily="18" charset="0"/>
              </a:rPr>
              <a:t>u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。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3539" name="对象 193538"/>
          <p:cNvGraphicFramePr>
            <a:graphicFrameLocks noChangeAspect="1"/>
          </p:cNvGraphicFramePr>
          <p:nvPr/>
        </p:nvGraphicFramePr>
        <p:xfrm>
          <a:off x="990600" y="1371600"/>
          <a:ext cx="47736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" imgW="2247900" imgH="228600" progId="Equation.DSMT4">
                  <p:embed/>
                </p:oleObj>
              </mc:Choice>
              <mc:Fallback>
                <p:oleObj name="" r:id="rId1" imgW="2247900" imgH="2286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1371600"/>
                        <a:ext cx="4773613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0" name="对象 193539"/>
          <p:cNvGraphicFramePr>
            <a:graphicFrameLocks noChangeAspect="1"/>
          </p:cNvGraphicFramePr>
          <p:nvPr/>
        </p:nvGraphicFramePr>
        <p:xfrm>
          <a:off x="1676400" y="2209800"/>
          <a:ext cx="7162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3" imgW="3606800" imgH="482600" progId="Equation.DSMT4">
                  <p:embed/>
                </p:oleObj>
              </mc:Choice>
              <mc:Fallback>
                <p:oleObj name="" r:id="rId3" imgW="3606800" imgH="4826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2209800"/>
                        <a:ext cx="71628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1" name="对象 193540"/>
          <p:cNvGraphicFramePr>
            <a:graphicFrameLocks noChangeAspect="1"/>
          </p:cNvGraphicFramePr>
          <p:nvPr/>
        </p:nvGraphicFramePr>
        <p:xfrm>
          <a:off x="1676400" y="3733800"/>
          <a:ext cx="16764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5" imgW="635635" imgH="203200" progId="Equation.DSMT4">
                  <p:embed/>
                </p:oleObj>
              </mc:Choice>
              <mc:Fallback>
                <p:oleObj name="" r:id="rId5" imgW="635635" imgH="203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6400" y="3733800"/>
                        <a:ext cx="1676400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矩形 193541"/>
          <p:cNvSpPr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200" dirty="0">
                <a:solidFill>
                  <a:schemeClr val="tx2"/>
                </a:solidFill>
              </a:rPr>
              <a:t>1</a:t>
            </a:r>
            <a:r>
              <a:rPr lang="zh-CN" altLang="en-US" sz="4200" dirty="0">
                <a:solidFill>
                  <a:schemeClr val="tx2"/>
                </a:solidFill>
              </a:rPr>
              <a:t>、留数法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62" name="文本框 194561"/>
          <p:cNvSpPr txBox="1"/>
          <p:nvPr/>
        </p:nvSpPr>
        <p:spPr>
          <a:xfrm>
            <a:off x="728663" y="1301750"/>
            <a:ext cx="763270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　　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 收敛域为</a:t>
            </a:r>
            <a:r>
              <a:rPr lang="en-US" altLang="zh-CN" sz="2400" b="1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|&lt;|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|: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　　原序列是左序列，无须计算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≥0</a:t>
            </a:r>
            <a:r>
              <a:rPr lang="zh-CN" altLang="en-US" sz="2400" b="1" dirty="0">
                <a:latin typeface="Times New Roman" panose="02020603050405020304" pitchFamily="18" charset="0"/>
              </a:rPr>
              <a:t>情况。实际上，当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≥0</a:t>
            </a:r>
            <a:r>
              <a:rPr lang="zh-CN" altLang="en-US" sz="2400" b="1" dirty="0">
                <a:latin typeface="Times New Roman" panose="02020603050405020304" pitchFamily="18" charset="0"/>
              </a:rPr>
              <a:t>时，围线积分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内没有极点，因此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)=0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&lt;0</a:t>
            </a:r>
            <a:r>
              <a:rPr lang="zh-CN" altLang="en-US" sz="2400" b="1" dirty="0">
                <a:latin typeface="Times New Roman" panose="02020603050405020304" pitchFamily="18" charset="0"/>
              </a:rPr>
              <a:t>时，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内只有一个极点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，且是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阶极点，改求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外极点留数之和。即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　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4563" name="对象 194562"/>
          <p:cNvGraphicFramePr>
            <a:graphicFrameLocks noChangeAspect="1"/>
          </p:cNvGraphicFramePr>
          <p:nvPr/>
        </p:nvGraphicFramePr>
        <p:xfrm>
          <a:off x="1219200" y="4114800"/>
          <a:ext cx="47085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" imgW="2387600" imgH="228600" progId="Equation.DSMT4">
                  <p:embed/>
                </p:oleObj>
              </mc:Choice>
              <mc:Fallback>
                <p:oleObj name="" r:id="rId1" imgW="2387600" imgH="2286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9200" y="4114800"/>
                        <a:ext cx="4708525" cy="450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4" name="对象 194563"/>
          <p:cNvGraphicFramePr>
            <a:graphicFrameLocks noChangeAspect="1"/>
          </p:cNvGraphicFramePr>
          <p:nvPr/>
        </p:nvGraphicFramePr>
        <p:xfrm>
          <a:off x="1143000" y="4572000"/>
          <a:ext cx="73914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3" imgW="3949700" imgH="482600" progId="Equation.DSMT4">
                  <p:embed/>
                </p:oleObj>
              </mc:Choice>
              <mc:Fallback>
                <p:oleObj name="" r:id="rId3" imgW="3949700" imgH="4826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4572000"/>
                        <a:ext cx="7391400" cy="90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5" name="对象 194564"/>
          <p:cNvGraphicFramePr>
            <a:graphicFrameLocks noChangeAspect="1"/>
          </p:cNvGraphicFramePr>
          <p:nvPr/>
        </p:nvGraphicFramePr>
        <p:xfrm>
          <a:off x="1295400" y="5638800"/>
          <a:ext cx="30480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5" imgW="1549400" imgH="228600" progId="Equation.DSMT4">
                  <p:embed/>
                </p:oleObj>
              </mc:Choice>
              <mc:Fallback>
                <p:oleObj name="" r:id="rId5" imgW="1549400" imgH="2286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5400" y="5638800"/>
                        <a:ext cx="3048000" cy="449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6" name="矩形 194565"/>
          <p:cNvSpPr/>
          <p:nvPr/>
        </p:nvSpPr>
        <p:spPr>
          <a:xfrm>
            <a:off x="457200" y="6248400"/>
            <a:ext cx="792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最后将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表示成封闭式：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)=(</a:t>
            </a:r>
            <a:r>
              <a:rPr lang="en-US" altLang="zh-CN" sz="2400" b="1" i="1" dirty="0"/>
              <a:t>a</a:t>
            </a:r>
            <a:r>
              <a:rPr lang="zh-CN" altLang="en-US" sz="2400" b="1" i="1" baseline="30000" dirty="0"/>
              <a:t>－</a:t>
            </a:r>
            <a:r>
              <a:rPr lang="en-US" altLang="zh-CN" sz="2400" b="1" i="1" baseline="30000" dirty="0"/>
              <a:t>n</a:t>
            </a:r>
            <a:r>
              <a:rPr lang="zh-CN" altLang="en-US" sz="2400" b="1" i="1" dirty="0"/>
              <a:t>－</a:t>
            </a:r>
            <a:r>
              <a:rPr lang="en-US" altLang="zh-CN" sz="2400" b="1" i="1" dirty="0"/>
              <a:t>a</a:t>
            </a:r>
            <a:r>
              <a:rPr lang="en-US" altLang="zh-CN" sz="2400" b="1" i="1" baseline="30000" dirty="0"/>
              <a:t>n</a:t>
            </a:r>
            <a:r>
              <a:rPr lang="en-US" altLang="zh-CN" sz="2400" b="1" dirty="0"/>
              <a:t>)</a:t>
            </a:r>
            <a:r>
              <a:rPr lang="en-US" altLang="zh-CN" sz="2400" b="1" i="1" dirty="0"/>
              <a:t>u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－</a:t>
            </a:r>
            <a:r>
              <a:rPr lang="en-US" altLang="zh-CN" sz="2400" b="1" i="1" dirty="0"/>
              <a:t>n</a:t>
            </a:r>
            <a:r>
              <a:rPr lang="zh-CN" altLang="en-US" sz="2400" b="1" i="1" dirty="0"/>
              <a:t>－</a:t>
            </a:r>
            <a:r>
              <a:rPr lang="en-US" altLang="zh-CN" sz="2400" b="1" dirty="0"/>
              <a:t>1)</a:t>
            </a:r>
            <a:endParaRPr lang="en-US" altLang="zh-CN" sz="2400" b="1" dirty="0"/>
          </a:p>
        </p:txBody>
      </p:sp>
      <p:sp>
        <p:nvSpPr>
          <p:cNvPr id="38919" name="矩形 194566"/>
          <p:cNvSpPr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200" dirty="0">
                <a:solidFill>
                  <a:schemeClr val="tx2"/>
                </a:solidFill>
              </a:rPr>
              <a:t>1</a:t>
            </a:r>
            <a:r>
              <a:rPr lang="zh-CN" altLang="en-US" sz="4200" dirty="0">
                <a:solidFill>
                  <a:schemeClr val="tx2"/>
                </a:solidFill>
              </a:rPr>
              <a:t>、留数法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4566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6" name="文本框 195585"/>
          <p:cNvSpPr txBox="1"/>
          <p:nvPr/>
        </p:nvSpPr>
        <p:spPr>
          <a:xfrm>
            <a:off x="762000" y="1447800"/>
            <a:ext cx="7488238" cy="4364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 收敛域为</a:t>
            </a:r>
            <a:r>
              <a:rPr lang="en-US" altLang="zh-CN" sz="2400" b="1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|&lt;|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|&lt;|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|: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　　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i="1" dirty="0">
                <a:latin typeface="Times New Roman" panose="02020603050405020304" pitchFamily="18" charset="0"/>
              </a:rPr>
              <a:t>      </a:t>
            </a:r>
            <a:endParaRPr lang="zh-CN" altLang="en-US" sz="2400" b="1" i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是双边序列。根据被积函数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按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≥0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&lt;0</a:t>
            </a:r>
            <a:r>
              <a:rPr lang="zh-CN" altLang="en-US" sz="2400" b="1" dirty="0">
                <a:latin typeface="Times New Roman" panose="02020603050405020304" pitchFamily="18" charset="0"/>
              </a:rPr>
              <a:t>两种情况分别求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。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i="1" dirty="0">
                <a:latin typeface="Times New Roman" panose="02020603050405020304" pitchFamily="18" charset="0"/>
              </a:rPr>
              <a:t>   </a:t>
            </a:r>
            <a:endParaRPr lang="zh-CN" altLang="en-US" sz="2400" b="1" i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≥0</a:t>
            </a:r>
            <a:r>
              <a:rPr lang="zh-CN" altLang="en-US" sz="2400" b="1" dirty="0">
                <a:latin typeface="Times New Roman" panose="02020603050405020304" pitchFamily="18" charset="0"/>
              </a:rPr>
              <a:t>时，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内只有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个极点：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则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)=Res</a:t>
            </a:r>
            <a:r>
              <a:rPr lang="zh-CN" altLang="en-US" sz="2400" b="1" dirty="0">
                <a:latin typeface="Times New Roman" panose="02020603050405020304" pitchFamily="18" charset="0"/>
              </a:rPr>
              <a:t>［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］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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95587" name="组合 195586"/>
          <p:cNvGrpSpPr/>
          <p:nvPr/>
        </p:nvGrpSpPr>
        <p:grpSpPr>
          <a:xfrm>
            <a:off x="6172200" y="2057400"/>
            <a:ext cx="2546350" cy="2430463"/>
            <a:chOff x="0" y="0"/>
            <a:chExt cx="1604" cy="1531"/>
          </a:xfrm>
        </p:grpSpPr>
        <p:grpSp>
          <p:nvGrpSpPr>
            <p:cNvPr id="39942" name="组合 195587"/>
            <p:cNvGrpSpPr/>
            <p:nvPr/>
          </p:nvGrpSpPr>
          <p:grpSpPr>
            <a:xfrm>
              <a:off x="0" y="0"/>
              <a:ext cx="1604" cy="1531"/>
              <a:chOff x="0" y="0"/>
              <a:chExt cx="1604" cy="1531"/>
            </a:xfrm>
          </p:grpSpPr>
          <p:sp>
            <p:nvSpPr>
              <p:cNvPr id="39945" name="椭圆 195588"/>
              <p:cNvSpPr/>
              <p:nvPr/>
            </p:nvSpPr>
            <p:spPr>
              <a:xfrm>
                <a:off x="153" y="304"/>
                <a:ext cx="1056" cy="1056"/>
              </a:xfrm>
              <a:prstGeom prst="ellipse">
                <a:avLst/>
              </a:prstGeom>
              <a:blipFill rotWithShape="0">
                <a:blip r:embed="rId1"/>
              </a:blipFill>
              <a:ln w="12700" cap="flat" cmpd="sng">
                <a:solidFill>
                  <a:schemeClr val="accent1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 useBgFill="1">
            <p:nvSpPr>
              <p:cNvPr id="39946" name="椭圆 195589"/>
              <p:cNvSpPr/>
              <p:nvPr/>
            </p:nvSpPr>
            <p:spPr>
              <a:xfrm>
                <a:off x="431" y="568"/>
                <a:ext cx="511" cy="511"/>
              </a:xfrm>
              <a:prstGeom prst="ellipse">
                <a:avLst/>
              </a:prstGeom>
              <a:ln w="12700" cap="flat" cmpd="sng">
                <a:solidFill>
                  <a:schemeClr val="accent1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39947" name="直接连接符 195590"/>
              <p:cNvSpPr/>
              <p:nvPr/>
            </p:nvSpPr>
            <p:spPr>
              <a:xfrm flipV="1">
                <a:off x="691" y="76"/>
                <a:ext cx="0" cy="1455"/>
              </a:xfrm>
              <a:prstGeom prst="line">
                <a:avLst/>
              </a:prstGeom>
              <a:ln w="635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med"/>
              </a:ln>
            </p:spPr>
          </p:sp>
          <p:pic>
            <p:nvPicPr>
              <p:cNvPr id="39948" name="对象 19559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60" y="835"/>
                <a:ext cx="344" cy="179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pic>
            <p:nvPicPr>
              <p:cNvPr id="39949" name="对象 19559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" y="823"/>
                <a:ext cx="110" cy="156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39950" name="直接连接符 195593"/>
              <p:cNvSpPr/>
              <p:nvPr/>
            </p:nvSpPr>
            <p:spPr>
              <a:xfrm>
                <a:off x="0" y="823"/>
                <a:ext cx="1410" cy="0"/>
              </a:xfrm>
              <a:prstGeom prst="line">
                <a:avLst/>
              </a:prstGeom>
              <a:ln w="635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med"/>
              </a:ln>
            </p:spPr>
          </p:sp>
          <p:pic>
            <p:nvPicPr>
              <p:cNvPr id="39951" name="对象 19559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3" y="0"/>
                <a:ext cx="421" cy="179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grpSp>
            <p:nvGrpSpPr>
              <p:cNvPr id="39952" name="组合 195595"/>
              <p:cNvGrpSpPr/>
              <p:nvPr/>
            </p:nvGrpSpPr>
            <p:grpSpPr>
              <a:xfrm>
                <a:off x="1172" y="786"/>
                <a:ext cx="64" cy="73"/>
                <a:chOff x="0" y="0"/>
                <a:chExt cx="64" cy="73"/>
              </a:xfrm>
            </p:grpSpPr>
            <p:sp>
              <p:nvSpPr>
                <p:cNvPr id="39958" name="直接连接符 195596"/>
                <p:cNvSpPr/>
                <p:nvPr/>
              </p:nvSpPr>
              <p:spPr>
                <a:xfrm rot="2383899">
                  <a:off x="0" y="34"/>
                  <a:ext cx="64" cy="0"/>
                </a:xfrm>
                <a:prstGeom prst="line">
                  <a:avLst/>
                </a:prstGeom>
                <a:ln w="28575" cap="sq" cmpd="sng">
                  <a:solidFill>
                    <a:schemeClr val="accent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9959" name="直接连接符 195597"/>
                <p:cNvSpPr/>
                <p:nvPr/>
              </p:nvSpPr>
              <p:spPr>
                <a:xfrm rot="2383899">
                  <a:off x="35" y="0"/>
                  <a:ext cx="0" cy="73"/>
                </a:xfrm>
                <a:prstGeom prst="line">
                  <a:avLst/>
                </a:prstGeom>
                <a:ln w="28575" cap="sq" cmpd="sng">
                  <a:solidFill>
                    <a:schemeClr val="accent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9953" name="组合 195598"/>
              <p:cNvGrpSpPr/>
              <p:nvPr/>
            </p:nvGrpSpPr>
            <p:grpSpPr>
              <a:xfrm>
                <a:off x="903" y="787"/>
                <a:ext cx="64" cy="73"/>
                <a:chOff x="0" y="0"/>
                <a:chExt cx="64" cy="73"/>
              </a:xfrm>
            </p:grpSpPr>
            <p:sp>
              <p:nvSpPr>
                <p:cNvPr id="39956" name="直接连接符 195599"/>
                <p:cNvSpPr/>
                <p:nvPr/>
              </p:nvSpPr>
              <p:spPr>
                <a:xfrm rot="2383899">
                  <a:off x="0" y="34"/>
                  <a:ext cx="64" cy="0"/>
                </a:xfrm>
                <a:prstGeom prst="line">
                  <a:avLst/>
                </a:prstGeom>
                <a:ln w="28575" cap="sq" cmpd="sng">
                  <a:solidFill>
                    <a:schemeClr val="accent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9957" name="直接连接符 195600"/>
                <p:cNvSpPr/>
                <p:nvPr/>
              </p:nvSpPr>
              <p:spPr>
                <a:xfrm rot="2383899">
                  <a:off x="35" y="0"/>
                  <a:ext cx="0" cy="73"/>
                </a:xfrm>
                <a:prstGeom prst="line">
                  <a:avLst/>
                </a:prstGeom>
                <a:ln w="28575" cap="sq" cmpd="sng">
                  <a:solidFill>
                    <a:schemeClr val="accent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9954" name="文本框 195601"/>
              <p:cNvSpPr txBox="1"/>
              <p:nvPr/>
            </p:nvSpPr>
            <p:spPr>
              <a:xfrm>
                <a:off x="773" y="609"/>
                <a:ext cx="18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55" name="文本框 195602"/>
              <p:cNvSpPr txBox="1"/>
              <p:nvPr/>
            </p:nvSpPr>
            <p:spPr>
              <a:xfrm>
                <a:off x="1148" y="554"/>
                <a:ext cx="35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50000"/>
                  </a:spcBef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1/a</a:t>
                </a:r>
                <a:endPara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943" name="椭圆 195603"/>
            <p:cNvSpPr/>
            <p:nvPr/>
          </p:nvSpPr>
          <p:spPr>
            <a:xfrm>
              <a:off x="326" y="458"/>
              <a:ext cx="723" cy="740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9944" name="文本框 195604"/>
            <p:cNvSpPr txBox="1"/>
            <p:nvPr/>
          </p:nvSpPr>
          <p:spPr>
            <a:xfrm>
              <a:off x="199" y="1024"/>
              <a:ext cx="55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zh-CN" altLang="en-US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收敛域</a:t>
              </a:r>
              <a:endParaRPr lang="zh-CN" altLang="en-US" sz="18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95606" name="对象 195605"/>
          <p:cNvGraphicFramePr>
            <a:graphicFrameLocks noChangeAspect="1"/>
          </p:cNvGraphicFramePr>
          <p:nvPr/>
        </p:nvGraphicFramePr>
        <p:xfrm>
          <a:off x="2133600" y="2209800"/>
          <a:ext cx="3124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5" imgW="1497965" imgH="444500" progId="Equation.3">
                  <p:embed/>
                </p:oleObj>
              </mc:Choice>
              <mc:Fallback>
                <p:oleObj name="" r:id="rId5" imgW="1497965" imgH="4445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3600" y="2209800"/>
                        <a:ext cx="3124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矩形 195606"/>
          <p:cNvSpPr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200" dirty="0">
                <a:solidFill>
                  <a:schemeClr val="tx2"/>
                </a:solidFill>
              </a:rPr>
              <a:t>1</a:t>
            </a:r>
            <a:r>
              <a:rPr lang="zh-CN" altLang="en-US" sz="4200" dirty="0">
                <a:solidFill>
                  <a:schemeClr val="tx2"/>
                </a:solidFill>
              </a:rPr>
              <a:t>、留数法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5586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charRg st="3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5586">
                                            <p:txEl>
                                              <p:charRg st="36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charRg st="58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5586">
                                            <p:txEl>
                                              <p:charRg st="58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charRg st="84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5586">
                                            <p:txEl>
                                              <p:charRg st="84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6">
                                            <p:txEl>
                                              <p:charRg st="105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5586">
                                            <p:txEl>
                                              <p:charRg st="105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0" name="文本框 196609"/>
          <p:cNvSpPr txBox="1"/>
          <p:nvPr/>
        </p:nvSpPr>
        <p:spPr>
          <a:xfrm>
            <a:off x="685800" y="1752600"/>
            <a:ext cx="7777163" cy="4364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　　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&lt;0</a:t>
            </a:r>
            <a:r>
              <a:rPr lang="zh-CN" altLang="en-US" sz="2400" b="1" dirty="0">
                <a:latin typeface="Times New Roman" panose="02020603050405020304" pitchFamily="18" charset="0"/>
              </a:rPr>
              <a:t>时，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内极点有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个，其中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=0</a:t>
            </a:r>
            <a:r>
              <a:rPr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阶极点，且由于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(z)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的分母多项式比分子多项式的最高次数高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阶以上，故改求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外极点留数，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</a:rPr>
              <a:t>外极点只有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， 因此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)=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latin typeface="Times New Roman" panose="02020603050405020304" pitchFamily="18" charset="0"/>
              </a:rPr>
              <a:t>Res</a:t>
            </a:r>
            <a:r>
              <a:rPr lang="zh-CN" altLang="en-US" sz="2400" b="1" dirty="0">
                <a:latin typeface="Times New Roman" panose="02020603050405020304" pitchFamily="18" charset="0"/>
              </a:rPr>
              <a:t>［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］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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　　最后将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表示为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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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即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)=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dirty="0">
                <a:latin typeface="Times New Roman" panose="02020603050405020304" pitchFamily="18" charset="0"/>
              </a:rPr>
              <a:t>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6611" name="对象 196610"/>
          <p:cNvGraphicFramePr>
            <a:graphicFrameLocks noChangeAspect="1"/>
          </p:cNvGraphicFramePr>
          <p:nvPr/>
        </p:nvGraphicFramePr>
        <p:xfrm>
          <a:off x="2895600" y="4267200"/>
          <a:ext cx="26670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" imgW="1348105" imgH="508635" progId="Equation.DSMT4">
                  <p:embed/>
                </p:oleObj>
              </mc:Choice>
              <mc:Fallback>
                <p:oleObj name="" r:id="rId1" imgW="1348105" imgH="508635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600" y="4267200"/>
                        <a:ext cx="26670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矩形 196611"/>
          <p:cNvSpPr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200" dirty="0">
                <a:solidFill>
                  <a:schemeClr val="tx2"/>
                </a:solidFill>
              </a:rPr>
              <a:t>1</a:t>
            </a:r>
            <a:r>
              <a:rPr lang="zh-CN" altLang="en-US" sz="4200" dirty="0">
                <a:solidFill>
                  <a:schemeClr val="tx2"/>
                </a:solidFill>
              </a:rPr>
              <a:t>、留数法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6610">
                                            <p:txEl>
                                              <p:charRg st="0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charRg st="83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6610">
                                            <p:txEl>
                                              <p:charRg st="83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charRg st="111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6610">
                                            <p:txEl>
                                              <p:charRg st="111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charRg st="130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6610">
                                            <p:txEl>
                                              <p:charRg st="130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charRg st="133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6610">
                                            <p:txEl>
                                              <p:charRg st="133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标题 19763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600" dirty="0">
                <a:solidFill>
                  <a:schemeClr val="tx1"/>
                </a:solidFill>
              </a:rPr>
              <a:t>2</a:t>
            </a:r>
            <a:r>
              <a:rPr lang="zh-CN" altLang="en-US" sz="4600" dirty="0">
                <a:solidFill>
                  <a:schemeClr val="tx1"/>
                </a:solidFill>
              </a:rPr>
              <a:t>、部分分式展开法</a:t>
            </a:r>
            <a:endParaRPr lang="zh-CN" altLang="en-US" sz="4600" dirty="0">
              <a:solidFill>
                <a:schemeClr val="tx1"/>
              </a:solidFill>
            </a:endParaRPr>
          </a:p>
        </p:txBody>
      </p:sp>
      <p:sp>
        <p:nvSpPr>
          <p:cNvPr id="41987" name="文本占位符 197634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4676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通常，</a:t>
            </a:r>
            <a:r>
              <a:rPr lang="en-US" altLang="zh-CN" sz="2800" b="1" dirty="0"/>
              <a:t>X(z)</a:t>
            </a:r>
            <a:r>
              <a:rPr lang="zh-CN" altLang="en-US" sz="2800" b="1" dirty="0"/>
              <a:t>可表示成有理分式形式：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       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graphicFrame>
        <p:nvGraphicFramePr>
          <p:cNvPr id="197636" name="内容占位符 19763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24000" y="2362200"/>
          <a:ext cx="5410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" imgW="2272030" imgH="393700" progId="Equation.3">
                  <p:embed/>
                </p:oleObj>
              </mc:Choice>
              <mc:Fallback>
                <p:oleObj name="" r:id="rId1" imgW="2272030" imgH="3937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524000" y="2362200"/>
                        <a:ext cx="5410200" cy="9366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37" name="文本框 197636"/>
          <p:cNvSpPr txBox="1"/>
          <p:nvPr/>
        </p:nvSpPr>
        <p:spPr>
          <a:xfrm>
            <a:off x="838200" y="3429000"/>
            <a:ext cx="784860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t" hangingPunct="1"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如果能将</a:t>
            </a:r>
            <a:r>
              <a:rPr lang="en-US" altLang="zh-CN" sz="2800" b="1" dirty="0">
                <a:latin typeface="Times New Roman" panose="02020603050405020304" pitchFamily="18" charset="0"/>
              </a:rPr>
              <a:t>X(z) </a:t>
            </a:r>
            <a:r>
              <a:rPr lang="zh-CN" altLang="en-US" sz="2800" b="1" dirty="0">
                <a:latin typeface="Times New Roman" panose="02020603050405020304" pitchFamily="18" charset="0"/>
              </a:rPr>
              <a:t>展开成几个简单的分式的和的形式，而简单形式的</a:t>
            </a:r>
            <a:r>
              <a:rPr lang="en-US" altLang="zh-CN" sz="2800" b="1" dirty="0"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</a:rPr>
              <a:t>反变换可通过查表</a:t>
            </a:r>
            <a:r>
              <a:rPr lang="en-US" altLang="zh-CN" sz="2800" b="1" dirty="0">
                <a:latin typeface="Times New Roman" panose="02020603050405020304" pitchFamily="18" charset="0"/>
              </a:rPr>
              <a:t>2.1</a:t>
            </a:r>
            <a:r>
              <a:rPr lang="zh-CN" altLang="en-US" sz="2800" b="1" dirty="0">
                <a:latin typeface="Times New Roman" panose="02020603050405020304" pitchFamily="18" charset="0"/>
              </a:rPr>
              <a:t>直接求得。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7638" name="内容占位符 19763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3400" y="5029200"/>
          <a:ext cx="82296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3" imgW="3148330" imgH="381000" progId="Equation.3">
                  <p:embed/>
                </p:oleObj>
              </mc:Choice>
              <mc:Fallback>
                <p:oleObj name="" r:id="rId3" imgW="3148330" imgH="3810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533400" y="5029200"/>
                        <a:ext cx="8229600" cy="9953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8" name="矩形 198657"/>
          <p:cNvSpPr/>
          <p:nvPr/>
        </p:nvSpPr>
        <p:spPr>
          <a:xfrm>
            <a:off x="609600" y="2971800"/>
            <a:ext cx="7620000" cy="3182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          观察上式，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)/</a:t>
            </a:r>
            <a:r>
              <a:rPr lang="en-US" altLang="zh-CN" sz="2800" b="1" i="1" dirty="0"/>
              <a:t>z</a:t>
            </a:r>
            <a:r>
              <a:rPr lang="zh-CN" altLang="en-US" sz="2800" b="1" dirty="0"/>
              <a:t>在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=0</a:t>
            </a:r>
            <a:r>
              <a:rPr lang="zh-CN" altLang="en-US" sz="2800" b="1" dirty="0"/>
              <a:t>的极点留数就是系数</a:t>
            </a:r>
            <a:r>
              <a:rPr lang="en-US" altLang="zh-CN" sz="2800" b="1" i="1" dirty="0"/>
              <a:t>A</a:t>
            </a:r>
            <a:r>
              <a:rPr lang="en-US" altLang="zh-CN" sz="2800" b="1" baseline="-25000" dirty="0"/>
              <a:t>0</a:t>
            </a:r>
            <a:r>
              <a:rPr lang="zh-CN" altLang="en-US" sz="2800" b="1" dirty="0"/>
              <a:t>，在极点</a:t>
            </a:r>
            <a:r>
              <a:rPr lang="en-US" altLang="zh-CN" sz="2800" b="1" i="1" dirty="0"/>
              <a:t>z</a:t>
            </a:r>
            <a:r>
              <a:rPr lang="en-US" altLang="zh-CN" sz="2800" b="1" dirty="0"/>
              <a:t>=</a:t>
            </a:r>
            <a:r>
              <a:rPr lang="en-US" altLang="zh-CN" sz="2800" b="1" i="1" dirty="0"/>
              <a:t>z</a:t>
            </a:r>
            <a:r>
              <a:rPr lang="en-US" altLang="zh-CN" sz="2800" b="1" baseline="-25000" dirty="0"/>
              <a:t>m</a:t>
            </a:r>
            <a:r>
              <a:rPr lang="zh-CN" altLang="en-US" sz="2800" b="1" dirty="0"/>
              <a:t>的留数就是系数</a:t>
            </a:r>
            <a:r>
              <a:rPr lang="en-US" altLang="zh-CN" sz="2800" b="1" i="1" dirty="0"/>
              <a:t>A</a:t>
            </a:r>
            <a:r>
              <a:rPr lang="en-US" altLang="zh-CN" sz="2800" b="1" baseline="-25000" dirty="0"/>
              <a:t>m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dirty="0"/>
          </a:p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dirty="0"/>
          </a:p>
          <a:p>
            <a:pPr marL="0" lvl="0" indent="0" algn="ctr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dirty="0"/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    求出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m</a:t>
            </a:r>
            <a:r>
              <a:rPr lang="zh-CN" altLang="en-US" sz="2800" b="1" dirty="0"/>
              <a:t>系数后，查表可得</a:t>
            </a:r>
            <a:r>
              <a:rPr lang="en-US" altLang="zh-CN" sz="2800" b="1" dirty="0"/>
              <a:t>x(n)</a:t>
            </a:r>
            <a:r>
              <a:rPr lang="zh-CN" altLang="en-US" sz="2800" b="1" dirty="0"/>
              <a:t>序列。</a:t>
            </a:r>
            <a:endParaRPr lang="zh-CN" altLang="en-US" sz="2800" b="1" dirty="0"/>
          </a:p>
        </p:txBody>
      </p:sp>
      <p:graphicFrame>
        <p:nvGraphicFramePr>
          <p:cNvPr id="198659" name="内容占位符 198658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762000" y="1600200"/>
          <a:ext cx="31242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" imgW="1360170" imgH="445135" progId="Equation.DSMT4">
                  <p:embed/>
                </p:oleObj>
              </mc:Choice>
              <mc:Fallback>
                <p:oleObj name="" r:id="rId1" imgW="1360170" imgH="445135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762000" y="1600200"/>
                        <a:ext cx="3124200" cy="1022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0" name="内容占位符 19865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48200" y="1600200"/>
          <a:ext cx="31242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3" imgW="1410970" imgH="445135" progId="Equation.DSMT4">
                  <p:embed/>
                </p:oleObj>
              </mc:Choice>
              <mc:Fallback>
                <p:oleObj name="" r:id="rId3" imgW="1410970" imgH="445135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4648200" y="1600200"/>
                        <a:ext cx="3124200" cy="9858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1" name="内容占位符 19866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219200" y="4419600"/>
          <a:ext cx="27432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5" imgW="1233170" imgH="432435" progId="Equation.DSMT4">
                  <p:embed/>
                </p:oleObj>
              </mc:Choice>
              <mc:Fallback>
                <p:oleObj name="" r:id="rId5" imgW="1233170" imgH="432435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1219200" y="4419600"/>
                        <a:ext cx="2743200" cy="9604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2" name="内容占位符 198661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648200" y="4419600"/>
          <a:ext cx="29718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7" imgW="1334770" imgH="432435" progId="Equation.DSMT4">
                  <p:embed/>
                </p:oleObj>
              </mc:Choice>
              <mc:Fallback>
                <p:oleObj name="" r:id="rId7" imgW="1334770" imgH="432435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4648200" y="4419600"/>
                        <a:ext cx="2971800" cy="9620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标题 198662"/>
          <p:cNvSpPr>
            <a:spLocks noGrp="1"/>
          </p:cNvSpPr>
          <p:nvPr>
            <p:ph type="title" sz="quarter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、部分分式展开法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8658">
                                            <p:txEl>
                                              <p:charRg st="0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8658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9682" name="对象 199681"/>
          <p:cNvGraphicFramePr>
            <a:graphicFrameLocks noChangeAspect="1"/>
          </p:cNvGraphicFramePr>
          <p:nvPr/>
        </p:nvGraphicFramePr>
        <p:xfrm>
          <a:off x="903288" y="1295400"/>
          <a:ext cx="681196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" imgW="3757295" imgH="444500" progId="Equation.3">
                  <p:embed/>
                </p:oleObj>
              </mc:Choice>
              <mc:Fallback>
                <p:oleObj name="" r:id="rId1" imgW="3757295" imgH="4445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3288" y="1295400"/>
                        <a:ext cx="6811962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" name="矩形 199682"/>
          <p:cNvSpPr/>
          <p:nvPr/>
        </p:nvSpPr>
        <p:spPr>
          <a:xfrm>
            <a:off x="979488" y="2135188"/>
            <a:ext cx="8556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解：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199684" name="组合 199683"/>
          <p:cNvGrpSpPr/>
          <p:nvPr/>
        </p:nvGrpSpPr>
        <p:grpSpPr>
          <a:xfrm>
            <a:off x="1143000" y="3886200"/>
            <a:ext cx="6048375" cy="565150"/>
            <a:chOff x="0" y="0"/>
            <a:chExt cx="3810" cy="356"/>
          </a:xfrm>
        </p:grpSpPr>
        <p:graphicFrame>
          <p:nvGraphicFramePr>
            <p:cNvPr id="44045" name="对象 199684"/>
            <p:cNvGraphicFramePr>
              <a:graphicFrameLocks noChangeAspect="1"/>
            </p:cNvGraphicFramePr>
            <p:nvPr/>
          </p:nvGraphicFramePr>
          <p:xfrm>
            <a:off x="1776" y="48"/>
            <a:ext cx="203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3" imgW="1534795" imgH="215900" progId="Equation.3">
                    <p:embed/>
                  </p:oleObj>
                </mc:Choice>
                <mc:Fallback>
                  <p:oleObj name="" r:id="rId3" imgW="1534795" imgH="2159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76" y="48"/>
                          <a:ext cx="2034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6" name="矩形 199685"/>
            <p:cNvSpPr/>
            <p:nvPr/>
          </p:nvSpPr>
          <p:spPr>
            <a:xfrm>
              <a:off x="0" y="0"/>
              <a:ext cx="29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由留数法求系数得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9687" name="组合 199686"/>
          <p:cNvGrpSpPr/>
          <p:nvPr/>
        </p:nvGrpSpPr>
        <p:grpSpPr>
          <a:xfrm>
            <a:off x="990600" y="5410200"/>
            <a:ext cx="7848600" cy="592138"/>
            <a:chOff x="0" y="0"/>
            <a:chExt cx="4944" cy="373"/>
          </a:xfrm>
        </p:grpSpPr>
        <p:sp>
          <p:nvSpPr>
            <p:cNvPr id="44043" name="矩形 199687"/>
            <p:cNvSpPr/>
            <p:nvPr/>
          </p:nvSpPr>
          <p:spPr>
            <a:xfrm>
              <a:off x="0" y="18"/>
              <a:ext cx="49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因为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X(z)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的收敛域为         ，为因果序列，从而求得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4044" name="对象 199688"/>
            <p:cNvGraphicFramePr>
              <a:graphicFrameLocks noChangeAspect="1"/>
            </p:cNvGraphicFramePr>
            <p:nvPr/>
          </p:nvGraphicFramePr>
          <p:xfrm>
            <a:off x="1872" y="0"/>
            <a:ext cx="672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5" imgW="394335" imgH="254635" progId="Equation.3">
                    <p:embed/>
                  </p:oleObj>
                </mc:Choice>
                <mc:Fallback>
                  <p:oleObj name="" r:id="rId5" imgW="394335" imgH="254635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72" y="0"/>
                          <a:ext cx="672" cy="3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9690" name="对象 199689"/>
          <p:cNvGraphicFramePr>
            <a:graphicFrameLocks noChangeAspect="1"/>
          </p:cNvGraphicFramePr>
          <p:nvPr/>
        </p:nvGraphicFramePr>
        <p:xfrm>
          <a:off x="1447800" y="2895600"/>
          <a:ext cx="571976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7" imgW="2463800" imgH="419100" progId="Equation.3">
                  <p:embed/>
                </p:oleObj>
              </mc:Choice>
              <mc:Fallback>
                <p:oleObj name="" r:id="rId7" imgW="2463800" imgH="4191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7800" y="2895600"/>
                        <a:ext cx="5719763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91" name="文本框 199690"/>
          <p:cNvSpPr txBox="1"/>
          <p:nvPr/>
        </p:nvSpPr>
        <p:spPr>
          <a:xfrm>
            <a:off x="838200" y="2362200"/>
            <a:ext cx="723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解：将</a:t>
            </a:r>
            <a:r>
              <a:rPr lang="en-US" altLang="zh-CN" sz="2400" b="1" dirty="0">
                <a:latin typeface="Times New Roman" panose="02020603050405020304" pitchFamily="18" charset="0"/>
              </a:rPr>
              <a:t>X(z)</a:t>
            </a:r>
            <a:r>
              <a:rPr lang="zh-CN" altLang="en-US" sz="2400" b="1" dirty="0">
                <a:latin typeface="Times New Roman" panose="02020603050405020304" pitchFamily="18" charset="0"/>
              </a:rPr>
              <a:t>变为</a:t>
            </a:r>
            <a:r>
              <a:rPr lang="en-US" altLang="zh-CN" sz="2400" b="1" dirty="0">
                <a:latin typeface="Times New Roman" panose="02020603050405020304" pitchFamily="18" charset="0"/>
              </a:rPr>
              <a:t>X(z)/z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的形式并化为部分分式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9692" name="内容占位符 199691"/>
          <p:cNvGraphicFramePr>
            <a:graphicFrameLocks noGrp="1" noChangeAspect="1"/>
          </p:cNvGraphicFramePr>
          <p:nvPr>
            <p:ph sz="half" idx="1"/>
          </p:nvPr>
        </p:nvGraphicFramePr>
        <p:xfrm>
          <a:off x="2438400" y="6188075"/>
          <a:ext cx="33528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9" imgW="1967865" imgH="393700" progId="Equation.3">
                  <p:embed/>
                </p:oleObj>
              </mc:Choice>
              <mc:Fallback>
                <p:oleObj name="" r:id="rId9" imgW="1967865" imgH="3937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>
                      <a:xfrm>
                        <a:off x="2438400" y="6188075"/>
                        <a:ext cx="3352800" cy="6699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3" name="内容占位符 199692"/>
          <p:cNvGraphicFramePr>
            <a:graphicFrameLocks noGrp="1" noChangeAspect="1"/>
          </p:cNvGraphicFramePr>
          <p:nvPr>
            <p:ph sz="half" idx="2"/>
          </p:nvPr>
        </p:nvGraphicFramePr>
        <p:xfrm>
          <a:off x="2209800" y="4468813"/>
          <a:ext cx="35814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11" imgW="1675765" imgH="393700" progId="Equation.3">
                  <p:embed/>
                </p:oleObj>
              </mc:Choice>
              <mc:Fallback>
                <p:oleObj name="" r:id="rId11" imgW="1675765" imgH="3937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>
                      <a:xfrm>
                        <a:off x="2209800" y="4468813"/>
                        <a:ext cx="3581400" cy="8413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2" name="标题 19969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、部分分式展开法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9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Box 1"/>
          <p:cNvSpPr txBox="1"/>
          <p:nvPr/>
        </p:nvSpPr>
        <p:spPr>
          <a:xfrm>
            <a:off x="1212850" y="233363"/>
            <a:ext cx="7270750" cy="9763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4400" dirty="0"/>
              <a:t>3</a:t>
            </a:r>
            <a:r>
              <a:rPr lang="zh-CN" altLang="en-US" sz="4400" dirty="0"/>
              <a:t>、幂级数展开法（长除法）</a:t>
            </a:r>
            <a:endParaRPr lang="zh-CN" altLang="en-US" sz="4400" dirty="0"/>
          </a:p>
        </p:txBody>
      </p:sp>
      <p:sp>
        <p:nvSpPr>
          <p:cNvPr id="45059" name="TextBox 3"/>
          <p:cNvSpPr txBox="1"/>
          <p:nvPr/>
        </p:nvSpPr>
        <p:spPr>
          <a:xfrm>
            <a:off x="539750" y="1700213"/>
            <a:ext cx="8208963" cy="3887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 对于</a:t>
            </a:r>
            <a:r>
              <a:rPr lang="zh-CN" altLang="en-US" sz="2800" b="1" dirty="0">
                <a:solidFill>
                  <a:srgbClr val="006600"/>
                </a:solidFill>
              </a:rPr>
              <a:t>单边序列</a:t>
            </a:r>
            <a:r>
              <a:rPr lang="zh-CN" altLang="en-US" sz="2800" b="1" dirty="0"/>
              <a:t>，可用长除法</a:t>
            </a:r>
            <a:r>
              <a:rPr lang="zh-CN" altLang="en-US" sz="2800" b="1" dirty="0">
                <a:solidFill>
                  <a:srgbClr val="006600"/>
                </a:solidFill>
              </a:rPr>
              <a:t>直接展成幂级数</a:t>
            </a:r>
            <a:r>
              <a:rPr lang="zh-CN" altLang="en-US" sz="2800" b="1" dirty="0"/>
              <a:t>的形式。</a:t>
            </a:r>
            <a:endParaRPr lang="en-US" altLang="zh-CN" sz="28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          若</a:t>
            </a:r>
            <a:r>
              <a:rPr lang="zh-CN" altLang="en-US" sz="2800" b="1" dirty="0">
                <a:solidFill>
                  <a:srgbClr val="C00000"/>
                </a:solidFill>
              </a:rPr>
              <a:t>收敛域为圆外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，则为右边序列，应将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展成</a:t>
            </a:r>
            <a:r>
              <a:rPr lang="en-US" altLang="zh-CN" sz="2800" b="1" i="1" dirty="0"/>
              <a:t>z</a:t>
            </a:r>
            <a:r>
              <a:rPr lang="zh-CN" altLang="en-US" sz="2800" b="1" dirty="0"/>
              <a:t>的负幂级数，分子分母应按</a:t>
            </a:r>
            <a:r>
              <a:rPr lang="en-US" altLang="zh-CN" sz="2800" b="1" i="1" dirty="0">
                <a:solidFill>
                  <a:srgbClr val="C00000"/>
                </a:solidFill>
              </a:rPr>
              <a:t>z</a:t>
            </a:r>
            <a:r>
              <a:rPr lang="zh-CN" altLang="en-US" sz="2800" b="1" dirty="0">
                <a:solidFill>
                  <a:srgbClr val="C00000"/>
                </a:solidFill>
              </a:rPr>
              <a:t>的降幂排列</a:t>
            </a:r>
            <a:r>
              <a:rPr lang="zh-CN" altLang="en-US" sz="2800" b="1" dirty="0"/>
              <a:t>；</a:t>
            </a:r>
            <a:endParaRPr lang="en-US" altLang="zh-CN" sz="28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1" dirty="0"/>
              <a:t>        </a:t>
            </a:r>
            <a:r>
              <a:rPr lang="zh-CN" altLang="en-US" sz="2800" b="1" dirty="0"/>
              <a:t> 若</a:t>
            </a:r>
            <a:r>
              <a:rPr lang="zh-CN" altLang="en-US" sz="2800" b="1" dirty="0">
                <a:solidFill>
                  <a:srgbClr val="9900FF"/>
                </a:solidFill>
              </a:rPr>
              <a:t>收敛域为圆内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则必然是左边序列，此时应展成正幂级数，分子分母应按</a:t>
            </a:r>
            <a:r>
              <a:rPr lang="en-US" altLang="zh-CN" sz="2800" b="1" i="1" dirty="0">
                <a:solidFill>
                  <a:srgbClr val="9900FF"/>
                </a:solidFill>
              </a:rPr>
              <a:t>z</a:t>
            </a:r>
            <a:r>
              <a:rPr lang="zh-CN" altLang="en-US" sz="2800" b="1" dirty="0">
                <a:solidFill>
                  <a:srgbClr val="9900FF"/>
                </a:solidFill>
              </a:rPr>
              <a:t>的升幂排列</a:t>
            </a:r>
            <a:r>
              <a:rPr lang="zh-CN" altLang="en-US" sz="2800" b="1" dirty="0"/>
              <a:t>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TextBox 1"/>
          <p:cNvSpPr txBox="1"/>
          <p:nvPr/>
        </p:nvSpPr>
        <p:spPr>
          <a:xfrm>
            <a:off x="627063" y="2708275"/>
            <a:ext cx="7889875" cy="259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 幂级数一般不适于求解双边序列。</a:t>
            </a:r>
            <a:endParaRPr lang="en-US" altLang="zh-CN" sz="28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800" b="1" dirty="0"/>
              <a:t>           </a:t>
            </a:r>
            <a:r>
              <a:rPr lang="zh-CN" altLang="en-US" sz="2800" b="1" dirty="0"/>
              <a:t>对于双边序列，应按收敛域的不同，分为两个单边序列进行求解。其</a:t>
            </a:r>
            <a:r>
              <a:rPr lang="en-US" altLang="zh-CN" sz="2800" b="1" i="1" dirty="0"/>
              <a:t>z</a:t>
            </a:r>
            <a:r>
              <a:rPr lang="zh-CN" altLang="en-US" sz="2800" b="1" dirty="0"/>
              <a:t>的排列按（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）中的讨论。</a:t>
            </a:r>
            <a:endParaRPr lang="zh-CN" altLang="en-US" sz="2800" b="1" dirty="0"/>
          </a:p>
        </p:txBody>
      </p:sp>
      <p:sp>
        <p:nvSpPr>
          <p:cNvPr id="46083" name="TextBox 2"/>
          <p:cNvSpPr txBox="1"/>
          <p:nvPr/>
        </p:nvSpPr>
        <p:spPr>
          <a:xfrm>
            <a:off x="642938" y="785813"/>
            <a:ext cx="7889875" cy="1301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 幂级数法除非求出的序列很明显外，一般不一定能给出显式表达。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TextBox 1"/>
          <p:cNvSpPr txBox="1"/>
          <p:nvPr/>
        </p:nvSpPr>
        <p:spPr>
          <a:xfrm>
            <a:off x="571500" y="642938"/>
            <a:ext cx="8266113" cy="2492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接下来讨论</a:t>
            </a:r>
            <a:r>
              <a:rPr lang="en-US" altLang="zh-CN" sz="2400" b="1" i="1" dirty="0">
                <a:solidFill>
                  <a:srgbClr val="006600"/>
                </a:solidFill>
              </a:rPr>
              <a:t>x</a:t>
            </a:r>
            <a:r>
              <a:rPr lang="en-US" altLang="zh-CN" sz="2400" b="1" dirty="0">
                <a:solidFill>
                  <a:srgbClr val="006600"/>
                </a:solidFill>
              </a:rPr>
              <a:t>(</a:t>
            </a:r>
            <a:r>
              <a:rPr lang="en-US" altLang="zh-CN" sz="2400" b="1" i="1" dirty="0">
                <a:solidFill>
                  <a:srgbClr val="006600"/>
                </a:solidFill>
              </a:rPr>
              <a:t>n</a:t>
            </a:r>
            <a:r>
              <a:rPr lang="en-US" altLang="zh-CN" sz="2400" b="1" dirty="0">
                <a:solidFill>
                  <a:srgbClr val="006600"/>
                </a:solidFill>
              </a:rPr>
              <a:t>)</a:t>
            </a:r>
            <a:r>
              <a:rPr lang="zh-CN" altLang="en-US" sz="2400" b="1" dirty="0">
                <a:solidFill>
                  <a:srgbClr val="006600"/>
                </a:solidFill>
              </a:rPr>
              <a:t>是有限长序列</a:t>
            </a:r>
            <a:r>
              <a:rPr lang="zh-CN" altLang="en-US" sz="2400" b="1" dirty="0"/>
              <a:t>的情况。</a:t>
            </a:r>
            <a:endParaRPr lang="en-US" altLang="zh-CN" sz="24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sz="8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即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＜</a:t>
            </a:r>
            <a:r>
              <a:rPr lang="en-US" altLang="zh-CN" sz="2400" b="1" dirty="0"/>
              <a:t>|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|</a:t>
            </a:r>
            <a:r>
              <a:rPr lang="zh-CN" altLang="en-US" sz="2400" b="1" dirty="0"/>
              <a:t>＜</a:t>
            </a:r>
            <a:r>
              <a:rPr lang="en-US" altLang="zh-CN" sz="2400" b="1" dirty="0"/>
              <a:t>∞</a:t>
            </a:r>
            <a:r>
              <a:rPr lang="zh-CN" altLang="en-US" sz="2400" b="1" dirty="0"/>
              <a:t>的有限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平面只有零点，全部极点都在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=0</a:t>
            </a:r>
            <a:r>
              <a:rPr lang="zh-CN" altLang="en-US" sz="2400" b="1" dirty="0"/>
              <a:t>处，</a:t>
            </a:r>
            <a:endParaRPr lang="en-US" altLang="zh-CN" sz="24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则可以用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（或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z </a:t>
            </a:r>
            <a:r>
              <a:rPr lang="en-US" altLang="zh-CN" sz="2400" b="1" baseline="30000" dirty="0"/>
              <a:t>-1</a:t>
            </a:r>
            <a:r>
              <a:rPr lang="zh-CN" altLang="en-US" sz="2400" b="1" dirty="0"/>
              <a:t>）的多项式来表示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，</a:t>
            </a:r>
            <a:endParaRPr lang="en-US" altLang="zh-CN" sz="2400" b="1" dirty="0"/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此时直接观察即可确定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47107" name="TextBox 2"/>
          <p:cNvSpPr txBox="1"/>
          <p:nvPr/>
        </p:nvSpPr>
        <p:spPr>
          <a:xfrm>
            <a:off x="1301750" y="3571875"/>
            <a:ext cx="1014413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2.11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20070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  <p:sp>
        <p:nvSpPr>
          <p:cNvPr id="48131" name="文本占位符 20070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20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                           的</a:t>
            </a:r>
            <a:r>
              <a:rPr lang="en-US" altLang="zh-CN" dirty="0"/>
              <a:t>Z</a:t>
            </a:r>
            <a:r>
              <a:rPr lang="zh-CN" altLang="en-US" dirty="0"/>
              <a:t>变换为 </a:t>
            </a:r>
            <a:r>
              <a:rPr lang="en-US" altLang="zh-CN" dirty="0"/>
              <a:t>____ </a:t>
            </a:r>
            <a:r>
              <a:rPr lang="zh-CN" altLang="en-US" dirty="0"/>
              <a:t>，收敛域为</a:t>
            </a:r>
            <a:r>
              <a:rPr lang="en-US" altLang="zh-CN" dirty="0"/>
              <a:t>______</a:t>
            </a:r>
            <a:r>
              <a:rPr lang="zh-CN" altLang="en-US" dirty="0"/>
              <a:t>。 </a:t>
            </a:r>
            <a:endParaRPr lang="zh-CN" altLang="en-US" dirty="0"/>
          </a:p>
        </p:txBody>
      </p:sp>
      <p:sp>
        <p:nvSpPr>
          <p:cNvPr id="48132" name="矩形 200707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48133" name="对象 200708"/>
          <p:cNvGraphicFramePr>
            <a:graphicFrameLocks noChangeAspect="1"/>
          </p:cNvGraphicFramePr>
          <p:nvPr/>
        </p:nvGraphicFramePr>
        <p:xfrm>
          <a:off x="1752600" y="1905000"/>
          <a:ext cx="27432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" imgW="902335" imgH="228600" progId="Equation.3">
                  <p:embed/>
                </p:oleObj>
              </mc:Choice>
              <mc:Fallback>
                <p:oleObj name="" r:id="rId1" imgW="902335" imgH="2286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1905000"/>
                        <a:ext cx="2743200" cy="693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0" name="矩形 200709"/>
          <p:cNvSpPr/>
          <p:nvPr/>
        </p:nvSpPr>
        <p:spPr>
          <a:xfrm>
            <a:off x="2514600" y="4587875"/>
            <a:ext cx="471328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990000"/>
                </a:solidFill>
              </a:rPr>
              <a:t>1/(1-az</a:t>
            </a:r>
            <a:r>
              <a:rPr lang="en-US" altLang="zh-CN" baseline="30000" dirty="0">
                <a:solidFill>
                  <a:srgbClr val="990000"/>
                </a:solidFill>
              </a:rPr>
              <a:t>-1</a:t>
            </a:r>
            <a:r>
              <a:rPr lang="en-US" altLang="zh-CN" dirty="0">
                <a:solidFill>
                  <a:srgbClr val="990000"/>
                </a:solidFill>
              </a:rPr>
              <a:t>) </a:t>
            </a:r>
            <a:r>
              <a:rPr lang="zh-CN" altLang="en-US" dirty="0">
                <a:solidFill>
                  <a:srgbClr val="990000"/>
                </a:solidFill>
              </a:rPr>
              <a:t>，∣</a:t>
            </a:r>
            <a:r>
              <a:rPr lang="en-US" altLang="zh-CN" dirty="0">
                <a:solidFill>
                  <a:srgbClr val="990000"/>
                </a:solidFill>
              </a:rPr>
              <a:t>z∣&gt;∣a∣</a:t>
            </a:r>
            <a:r>
              <a:rPr lang="en-US" altLang="zh-CN" sz="2400" b="1" dirty="0"/>
              <a:t> 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20172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  <p:sp>
        <p:nvSpPr>
          <p:cNvPr id="49155" name="文本占位符 20173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20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                                             的</a:t>
            </a:r>
            <a:r>
              <a:rPr lang="en-US" altLang="zh-CN" dirty="0"/>
              <a:t>Z</a:t>
            </a:r>
            <a:r>
              <a:rPr lang="zh-CN" altLang="en-US" dirty="0"/>
              <a:t>变换为 </a:t>
            </a:r>
            <a:r>
              <a:rPr lang="en-US" altLang="zh-CN" dirty="0"/>
              <a:t>____ </a:t>
            </a:r>
            <a:r>
              <a:rPr lang="zh-CN" altLang="en-US" dirty="0"/>
              <a:t>，收敛域为</a:t>
            </a:r>
            <a:r>
              <a:rPr lang="en-US" altLang="zh-CN" dirty="0"/>
              <a:t>______</a:t>
            </a:r>
            <a:r>
              <a:rPr lang="zh-CN" altLang="en-US" dirty="0"/>
              <a:t>。 </a:t>
            </a:r>
            <a:endParaRPr lang="zh-CN" altLang="en-US" dirty="0"/>
          </a:p>
        </p:txBody>
      </p:sp>
      <p:sp>
        <p:nvSpPr>
          <p:cNvPr id="49156" name="矩形 201731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01733" name="矩形 201732"/>
          <p:cNvSpPr/>
          <p:nvPr/>
        </p:nvSpPr>
        <p:spPr>
          <a:xfrm>
            <a:off x="2514600" y="4587875"/>
            <a:ext cx="4713288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990000"/>
                </a:solidFill>
              </a:rPr>
              <a:t>1/(1-az</a:t>
            </a:r>
            <a:r>
              <a:rPr lang="en-US" altLang="zh-CN" baseline="30000" dirty="0">
                <a:solidFill>
                  <a:srgbClr val="990000"/>
                </a:solidFill>
              </a:rPr>
              <a:t>-1</a:t>
            </a:r>
            <a:r>
              <a:rPr lang="en-US" altLang="zh-CN" dirty="0">
                <a:solidFill>
                  <a:srgbClr val="990000"/>
                </a:solidFill>
              </a:rPr>
              <a:t>) </a:t>
            </a:r>
            <a:r>
              <a:rPr lang="zh-CN" altLang="en-US" dirty="0">
                <a:solidFill>
                  <a:srgbClr val="990000"/>
                </a:solidFill>
              </a:rPr>
              <a:t>，∣</a:t>
            </a:r>
            <a:r>
              <a:rPr lang="en-US" altLang="zh-CN" dirty="0">
                <a:solidFill>
                  <a:srgbClr val="990000"/>
                </a:solidFill>
              </a:rPr>
              <a:t>z∣&lt;∣a∣</a:t>
            </a:r>
            <a:r>
              <a:rPr lang="en-US" altLang="zh-CN" sz="2400" b="1" dirty="0"/>
              <a:t> </a:t>
            </a:r>
            <a:endParaRPr lang="en-US" altLang="zh-CN" sz="2400" b="1" dirty="0"/>
          </a:p>
        </p:txBody>
      </p:sp>
      <p:sp>
        <p:nvSpPr>
          <p:cNvPr id="49158" name="矩形 201733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49159" name="对象 201734"/>
          <p:cNvGraphicFramePr>
            <a:graphicFrameLocks noChangeAspect="1"/>
          </p:cNvGraphicFramePr>
          <p:nvPr/>
        </p:nvGraphicFramePr>
        <p:xfrm>
          <a:off x="1752600" y="1905000"/>
          <a:ext cx="4343400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1271905" imgH="228600" progId="Equation.3">
                  <p:embed/>
                </p:oleObj>
              </mc:Choice>
              <mc:Fallback>
                <p:oleObj name="" r:id="rId1" imgW="1271905" imgH="2286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1905000"/>
                        <a:ext cx="4343400" cy="782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4" name="内容占位符 20275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/>
              <a:t>3</a:t>
            </a:r>
            <a:r>
              <a:rPr lang="zh-CN" altLang="en-US" b="1" dirty="0"/>
              <a:t>、判断题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序列</a:t>
            </a:r>
            <a:r>
              <a:rPr lang="en-US" altLang="zh-CN" b="1" i="1" dirty="0"/>
              <a:t>z</a:t>
            </a:r>
            <a:r>
              <a:rPr lang="zh-CN" altLang="en-US" b="1" dirty="0"/>
              <a:t>变换的收敛域内可以含有极点。</a:t>
            </a:r>
            <a:r>
              <a:rPr lang="en-US" altLang="zh-CN" b="1" dirty="0"/>
              <a:t>(      ) </a:t>
            </a:r>
            <a:endParaRPr lang="en-US" altLang="zh-CN" b="1" dirty="0"/>
          </a:p>
          <a:p>
            <a:pPr eaLnBrk="1" hangingPunct="1">
              <a:buNone/>
            </a:pPr>
            <a:endParaRPr lang="en-US" altLang="zh-CN" b="1" dirty="0"/>
          </a:p>
          <a:p>
            <a:pPr eaLnBrk="1" hangingPunct="1">
              <a:buNone/>
            </a:pPr>
            <a:r>
              <a:rPr lang="en-US" altLang="zh-CN" b="1" dirty="0">
                <a:solidFill>
                  <a:srgbClr val="990000"/>
                </a:solidFill>
              </a:rPr>
              <a:t> </a:t>
            </a:r>
            <a:r>
              <a:rPr lang="zh-CN" altLang="en-US" b="1" dirty="0">
                <a:solidFill>
                  <a:srgbClr val="990000"/>
                </a:solidFill>
              </a:rPr>
              <a:t>错</a:t>
            </a:r>
            <a:endParaRPr lang="zh-CN" altLang="en-US" b="1" dirty="0">
              <a:solidFill>
                <a:srgbClr val="990000"/>
              </a:solidFill>
            </a:endParaRPr>
          </a:p>
        </p:txBody>
      </p:sp>
      <p:sp>
        <p:nvSpPr>
          <p:cNvPr id="50179" name="标题 20275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>
                                            <p:txEl>
                                              <p:charRg st="34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754">
                                            <p:txEl>
                                              <p:charRg st="34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778" name="文本占位符 203777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9248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b="1" dirty="0"/>
              <a:t>4</a:t>
            </a:r>
            <a:r>
              <a:rPr lang="zh-CN" altLang="en-US" sz="2800" b="1" dirty="0"/>
              <a:t>、已知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           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  求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反变换。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解</a:t>
            </a:r>
            <a:r>
              <a:rPr lang="en-US" altLang="zh-CN" sz="2800" b="1" dirty="0"/>
              <a:t>:</a:t>
            </a:r>
            <a:endParaRPr lang="en-US" altLang="zh-CN" sz="2800" b="1" dirty="0"/>
          </a:p>
        </p:txBody>
      </p:sp>
      <p:graphicFrame>
        <p:nvGraphicFramePr>
          <p:cNvPr id="51203" name="对象 203778"/>
          <p:cNvGraphicFramePr>
            <a:graphicFrameLocks noChangeAspect="1"/>
          </p:cNvGraphicFramePr>
          <p:nvPr/>
        </p:nvGraphicFramePr>
        <p:xfrm>
          <a:off x="2895600" y="1752600"/>
          <a:ext cx="4170363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" imgW="1549400" imgH="508000" progId="Equation.3">
                  <p:embed/>
                </p:oleObj>
              </mc:Choice>
              <mc:Fallback>
                <p:oleObj name="" r:id="rId1" imgW="1549400" imgH="5080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895600" y="1752600"/>
                        <a:ext cx="4170363" cy="1365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0" name="对象 203779"/>
          <p:cNvGraphicFramePr>
            <a:graphicFrameLocks noChangeAspect="1"/>
          </p:cNvGraphicFramePr>
          <p:nvPr/>
        </p:nvGraphicFramePr>
        <p:xfrm>
          <a:off x="990600" y="5181600"/>
          <a:ext cx="342265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3" imgW="1233170" imgH="228600" progId="Equation.3">
                  <p:embed/>
                </p:oleObj>
              </mc:Choice>
              <mc:Fallback>
                <p:oleObj name="" r:id="rId3" imgW="1233170" imgH="2286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990600" y="5181600"/>
                        <a:ext cx="3422650" cy="636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1" name="对象 203780"/>
          <p:cNvGraphicFramePr>
            <a:graphicFrameLocks noChangeAspect="1"/>
          </p:cNvGraphicFramePr>
          <p:nvPr/>
        </p:nvGraphicFramePr>
        <p:xfrm>
          <a:off x="4495800" y="4953000"/>
          <a:ext cx="2133600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5" imgW="750570" imgH="508635" progId="Equation.3">
                  <p:embed/>
                </p:oleObj>
              </mc:Choice>
              <mc:Fallback>
                <p:oleObj name="" r:id="rId5" imgW="750570" imgH="508635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6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4495800" y="4953000"/>
                        <a:ext cx="2133600" cy="1446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2" name="文本框 203781"/>
          <p:cNvSpPr txBox="1"/>
          <p:nvPr/>
        </p:nvSpPr>
        <p:spPr>
          <a:xfrm>
            <a:off x="685800" y="4419600"/>
            <a:ext cx="8001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所以当</a:t>
            </a:r>
            <a:r>
              <a:rPr lang="en-US" altLang="zh-CN" sz="2800" b="1" dirty="0">
                <a:latin typeface="Times New Roman" panose="02020603050405020304" pitchFamily="18" charset="0"/>
              </a:rPr>
              <a:t>n&lt;0</a:t>
            </a:r>
            <a:r>
              <a:rPr lang="zh-CN" altLang="en-US" sz="2800" b="1" dirty="0">
                <a:latin typeface="Times New Roman" panose="02020603050405020304" pitchFamily="18" charset="0"/>
              </a:rPr>
              <a:t>时，</a:t>
            </a:r>
            <a:r>
              <a:rPr lang="en-US" altLang="zh-CN" sz="2800" b="1" dirty="0">
                <a:latin typeface="Times New Roman" panose="02020603050405020304" pitchFamily="18" charset="0"/>
              </a:rPr>
              <a:t>x(n)=0</a:t>
            </a:r>
            <a:r>
              <a:rPr lang="zh-CN" altLang="en-US" sz="2800" b="1" dirty="0">
                <a:latin typeface="Times New Roman" panose="02020603050405020304" pitchFamily="18" charset="0"/>
              </a:rPr>
              <a:t>。只需考虑</a:t>
            </a:r>
            <a:r>
              <a:rPr lang="en-US" altLang="zh-CN" sz="2800" b="1" dirty="0">
                <a:latin typeface="Times New Roman" panose="02020603050405020304" pitchFamily="18" charset="0"/>
              </a:rPr>
              <a:t>n≥0</a:t>
            </a:r>
            <a:r>
              <a:rPr lang="zh-CN" altLang="en-US" sz="2800" b="1" dirty="0">
                <a:latin typeface="Times New Roman" panose="02020603050405020304" pitchFamily="18" charset="0"/>
              </a:rPr>
              <a:t>时的情况。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3783" name="内容占位符 203782"/>
          <p:cNvGraphicFramePr>
            <a:graphicFrameLocks noGrp="1" noChangeAspect="1"/>
          </p:cNvGraphicFramePr>
          <p:nvPr>
            <p:ph sz="half" idx="2"/>
          </p:nvPr>
        </p:nvGraphicFramePr>
        <p:xfrm>
          <a:off x="1600200" y="3200400"/>
          <a:ext cx="60960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7" imgW="2679700" imgH="508000" progId="Equation.3">
                  <p:embed/>
                </p:oleObj>
              </mc:Choice>
              <mc:Fallback>
                <p:oleObj name="" r:id="rId7" imgW="2679700" imgH="5080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8">
                        <a:lum bright="-100000"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600200" y="3200400"/>
                        <a:ext cx="6096000" cy="11557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矩形 203783"/>
          <p:cNvSpPr/>
          <p:nvPr/>
        </p:nvSpPr>
        <p:spPr>
          <a:xfrm>
            <a:off x="347663" y="3810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200" dirty="0">
                <a:solidFill>
                  <a:schemeClr val="tx2"/>
                </a:solidFill>
              </a:rPr>
              <a:t>课堂练习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charRg st="28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3778">
                                            <p:txEl>
                                              <p:charRg st="28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3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文本占位符 204801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85344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如图所示，取收敛域的一个围线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，可知</a:t>
            </a: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当</a:t>
            </a:r>
            <a:r>
              <a:rPr lang="en-US" altLang="zh-CN" sz="2800" b="1" dirty="0"/>
              <a:t>n≥0</a:t>
            </a:r>
            <a:r>
              <a:rPr lang="zh-CN" altLang="en-US" sz="2800" b="1" dirty="0"/>
              <a:t>时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latin typeface="宋体" panose="02010600030101010101" pitchFamily="2" charset="-122"/>
              </a:rPr>
              <a:t>C</a:t>
            </a:r>
            <a:r>
              <a:rPr lang="zh-CN" altLang="en-US" sz="2800" b="1" dirty="0">
                <a:latin typeface="宋体" panose="02010600030101010101" pitchFamily="2" charset="-122"/>
              </a:rPr>
              <a:t>内有两个一阶极点</a:t>
            </a:r>
            <a:r>
              <a:rPr lang="zh-CN" altLang="en-US" dirty="0">
                <a:latin typeface="宋体" panose="02010600030101010101" pitchFamily="2" charset="-122"/>
              </a:rPr>
              <a:t>       	    ，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fontAlgn="t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所以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fontAlgn="t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sp>
        <p:nvSpPr>
          <p:cNvPr id="52227" name="矩形 204802"/>
          <p:cNvSpPr/>
          <p:nvPr/>
        </p:nvSpPr>
        <p:spPr>
          <a:xfrm>
            <a:off x="838200" y="3733800"/>
            <a:ext cx="4156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t" hangingPunct="1"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   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graphicFrame>
        <p:nvGraphicFramePr>
          <p:cNvPr id="204804" name="对象 204803"/>
          <p:cNvGraphicFramePr>
            <a:graphicFrameLocks noChangeAspect="1"/>
          </p:cNvGraphicFramePr>
          <p:nvPr/>
        </p:nvGraphicFramePr>
        <p:xfrm>
          <a:off x="5562600" y="2209800"/>
          <a:ext cx="20589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1" imgW="723900" imgH="177800" progId="Equation.3">
                  <p:embed/>
                </p:oleObj>
              </mc:Choice>
              <mc:Fallback>
                <p:oleObj name="" r:id="rId1" imgW="723900" imgH="1778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5562600" y="2209800"/>
                        <a:ext cx="2058988" cy="50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5" name="对象 204804"/>
          <p:cNvGraphicFramePr>
            <a:graphicFrameLocks noChangeAspect="1"/>
          </p:cNvGraphicFramePr>
          <p:nvPr/>
        </p:nvGraphicFramePr>
        <p:xfrm>
          <a:off x="457200" y="2971800"/>
          <a:ext cx="5867400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1841500" imgH="1066800" progId="Equation.3">
                  <p:embed/>
                </p:oleObj>
              </mc:Choice>
              <mc:Fallback>
                <p:oleObj name="" r:id="rId3" imgW="1841500" imgH="10668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457200" y="2971800"/>
                        <a:ext cx="5867400" cy="2689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06" name="图片 2048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352800"/>
            <a:ext cx="2895600" cy="26114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04807" name="内容占位符 204806"/>
          <p:cNvGraphicFramePr>
            <a:graphicFrameLocks noGrp="1" noChangeAspect="1"/>
          </p:cNvGraphicFramePr>
          <p:nvPr>
            <p:ph sz="half" idx="2"/>
          </p:nvPr>
        </p:nvGraphicFramePr>
        <p:xfrm>
          <a:off x="1295400" y="5638800"/>
          <a:ext cx="41910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6" imgW="2311400" imgH="609600" progId="Equation.3">
                  <p:embed/>
                </p:oleObj>
              </mc:Choice>
              <mc:Fallback>
                <p:oleObj name="" r:id="rId6" imgW="2311400" imgH="6096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7">
                        <a:lum bright="-100000"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295400" y="5638800"/>
                        <a:ext cx="4191000" cy="11064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标题 20480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文本占位符 205825"/>
          <p:cNvSpPr>
            <a:spLocks noGrp="1"/>
          </p:cNvSpPr>
          <p:nvPr>
            <p:ph idx="1"/>
          </p:nvPr>
        </p:nvSpPr>
        <p:spPr>
          <a:xfrm>
            <a:off x="304800" y="1752600"/>
            <a:ext cx="8839200" cy="43434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1" dirty="0"/>
              <a:t>5</a:t>
            </a:r>
            <a:r>
              <a:rPr lang="zh-CN" altLang="en-US" sz="2800" b="1" dirty="0"/>
              <a:t>、 已知                                                          ，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       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              求</a:t>
            </a:r>
            <a:r>
              <a:rPr lang="en-US" altLang="zh-CN" sz="2800" b="1" dirty="0"/>
              <a:t>z</a:t>
            </a:r>
            <a:r>
              <a:rPr lang="zh-CN" altLang="en-US" sz="2800" b="1" dirty="0"/>
              <a:t>反变换。</a:t>
            </a:r>
            <a:endParaRPr lang="zh-CN" altLang="en-US" sz="2800" b="1" dirty="0"/>
          </a:p>
          <a:p>
            <a:pPr eaLnBrk="1" hangingPunct="1">
              <a:buNone/>
            </a:pPr>
            <a:endParaRPr lang="zh-CN" altLang="en-US" dirty="0"/>
          </a:p>
        </p:txBody>
      </p:sp>
      <p:graphicFrame>
        <p:nvGraphicFramePr>
          <p:cNvPr id="53251" name="对象 205826"/>
          <p:cNvGraphicFramePr>
            <a:graphicFrameLocks noChangeAspect="1"/>
          </p:cNvGraphicFramePr>
          <p:nvPr/>
        </p:nvGraphicFramePr>
        <p:xfrm>
          <a:off x="2286000" y="1524000"/>
          <a:ext cx="4732338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" imgW="2120900" imgH="609600" progId="Equation.3">
                  <p:embed/>
                </p:oleObj>
              </mc:Choice>
              <mc:Fallback>
                <p:oleObj name="" r:id="rId1" imgW="2120900" imgH="6096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286000" y="1524000"/>
                        <a:ext cx="4732338" cy="1358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828" name="组合 205827"/>
          <p:cNvGrpSpPr>
            <a:grpSpLocks noChangeAspect="1"/>
          </p:cNvGrpSpPr>
          <p:nvPr/>
        </p:nvGrpSpPr>
        <p:grpSpPr>
          <a:xfrm>
            <a:off x="1046163" y="3733800"/>
            <a:ext cx="6421437" cy="1446213"/>
            <a:chOff x="0" y="0"/>
            <a:chExt cx="4045" cy="911"/>
          </a:xfrm>
        </p:grpSpPr>
        <p:graphicFrame>
          <p:nvGraphicFramePr>
            <p:cNvPr id="53254" name="对象 205828"/>
            <p:cNvGraphicFramePr>
              <a:graphicFrameLocks noChangeAspect="1"/>
            </p:cNvGraphicFramePr>
            <p:nvPr/>
          </p:nvGraphicFramePr>
          <p:xfrm>
            <a:off x="0" y="159"/>
            <a:ext cx="2668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3" imgW="1524000" imgH="228600" progId="Equation.3">
                    <p:embed/>
                  </p:oleObj>
                </mc:Choice>
                <mc:Fallback>
                  <p:oleObj name="" r:id="rId3" imgW="1524000" imgH="22860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4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0" y="159"/>
                          <a:ext cx="2668" cy="4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5" name="对象 205829"/>
            <p:cNvGraphicFramePr>
              <a:graphicFrameLocks noChangeAspect="1"/>
            </p:cNvGraphicFramePr>
            <p:nvPr/>
          </p:nvGraphicFramePr>
          <p:xfrm>
            <a:off x="2701" y="0"/>
            <a:ext cx="1344" cy="9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5" imgW="750570" imgH="508635" progId="Equation.3">
                    <p:embed/>
                  </p:oleObj>
                </mc:Choice>
                <mc:Fallback>
                  <p:oleObj name="" r:id="rId5" imgW="750570" imgH="508635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6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01" y="0"/>
                          <a:ext cx="1344" cy="9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53" name="标题 20583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文本占位符 206849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b="1" dirty="0"/>
              <a:t>如图所示，取收敛域的一个围线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，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分两种情况讨论：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</a:t>
            </a:r>
            <a:r>
              <a:rPr lang="en-US" altLang="zh-CN" sz="2800" b="1" dirty="0"/>
              <a:t>n≥</a:t>
            </a:r>
            <a:r>
              <a:rPr lang="zh-CN" altLang="en-US" sz="2800" b="1" dirty="0"/>
              <a:t>－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时，</a:t>
            </a:r>
            <a:endParaRPr lang="zh-CN" altLang="en-US" sz="2800" b="1" dirty="0"/>
          </a:p>
        </p:txBody>
      </p:sp>
      <p:sp>
        <p:nvSpPr>
          <p:cNvPr id="54275" name="矩形 206850"/>
          <p:cNvSpPr/>
          <p:nvPr/>
        </p:nvSpPr>
        <p:spPr>
          <a:xfrm>
            <a:off x="838200" y="3733800"/>
            <a:ext cx="415607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t" hangingPunct="1">
              <a:buClr>
                <a:schemeClr val="folHlink"/>
              </a:buClr>
              <a:buSzPct val="60000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C</a:t>
            </a:r>
            <a:r>
              <a:rPr lang="zh-CN" altLang="en-US" sz="2800" b="1" dirty="0">
                <a:latin typeface="宋体" panose="02010600030101010101" pitchFamily="2" charset="-122"/>
              </a:rPr>
              <a:t>内只有一个一阶极点</a:t>
            </a:r>
            <a:r>
              <a:rPr lang="zh-CN" altLang="en-US" sz="2800" dirty="0">
                <a:latin typeface="宋体" panose="02010600030101010101" pitchFamily="2" charset="-122"/>
              </a:rPr>
              <a:t>       	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graphicFrame>
        <p:nvGraphicFramePr>
          <p:cNvPr id="54276" name="对象 206851"/>
          <p:cNvGraphicFramePr>
            <a:graphicFrameLocks noChangeAspect="1"/>
          </p:cNvGraphicFramePr>
          <p:nvPr/>
        </p:nvGraphicFramePr>
        <p:xfrm>
          <a:off x="1828800" y="4495800"/>
          <a:ext cx="11922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1" imgW="419735" imgH="165100" progId="Equation.3">
                  <p:embed/>
                </p:oleObj>
              </mc:Choice>
              <mc:Fallback>
                <p:oleObj name="" r:id="rId1" imgW="419735" imgH="1651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828800" y="4495800"/>
                        <a:ext cx="1192213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4277" name="图片 2068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667000"/>
            <a:ext cx="2847975" cy="2343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8" name="标题 20685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5298" name="对象 207873"/>
          <p:cNvGraphicFramePr>
            <a:graphicFrameLocks noChangeAspect="1"/>
          </p:cNvGraphicFramePr>
          <p:nvPr/>
        </p:nvGraphicFramePr>
        <p:xfrm>
          <a:off x="1222375" y="1706563"/>
          <a:ext cx="6229350" cy="366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1" imgW="2246630" imgH="1320165" progId="Equation.3">
                  <p:embed/>
                </p:oleObj>
              </mc:Choice>
              <mc:Fallback>
                <p:oleObj name="" r:id="rId1" imgW="2246630" imgH="1320165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222375" y="1706563"/>
                        <a:ext cx="6229350" cy="366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9" name="文本占位符 207874"/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anchor="t" anchorCtr="0"/>
          <a:p>
            <a:pPr eaLnBrk="1" fontAlgn="t" hangingPunct="1">
              <a:buNone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fontAlgn="t" hangingPunct="1">
              <a:buNone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fontAlgn="t" hangingPunct="1">
              <a:buNone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fontAlgn="t" hangingPunct="1">
              <a:buNone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fontAlgn="t" hangingPunct="1">
              <a:buNone/>
            </a:pPr>
            <a:endParaRPr lang="en-US" altLang="zh-CN" dirty="0">
              <a:latin typeface="宋体" panose="02010600030101010101" pitchFamily="2" charset="-122"/>
            </a:endParaRPr>
          </a:p>
        </p:txBody>
      </p:sp>
      <p:graphicFrame>
        <p:nvGraphicFramePr>
          <p:cNvPr id="55300" name="对象 207875"/>
          <p:cNvGraphicFramePr>
            <a:graphicFrameLocks noChangeAspect="1"/>
          </p:cNvGraphicFramePr>
          <p:nvPr/>
        </p:nvGraphicFramePr>
        <p:xfrm>
          <a:off x="1447800" y="5251450"/>
          <a:ext cx="4611688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3" imgW="1662430" imgH="355600" progId="Equation.3">
                  <p:embed/>
                </p:oleObj>
              </mc:Choice>
              <mc:Fallback>
                <p:oleObj name="" r:id="rId3" imgW="1662430" imgH="3556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5251450"/>
                        <a:ext cx="4611688" cy="985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标题 20787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文本占位符 208897"/>
          <p:cNvSpPr>
            <a:spLocks noGrp="1"/>
          </p:cNvSpPr>
          <p:nvPr>
            <p:ph idx="1"/>
          </p:nvPr>
        </p:nvSpPr>
        <p:spPr>
          <a:xfrm>
            <a:off x="533400" y="1752600"/>
            <a:ext cx="7924800" cy="4343400"/>
          </a:xfrm>
        </p:spPr>
        <p:txBody>
          <a:bodyPr vert="horz" wrap="square" lIns="0" tIns="0" rIns="0" bIns="0" anchor="t" anchorCtr="0"/>
          <a:p>
            <a:pPr eaLnBrk="1" fontAlgn="t" hangingPunct="1"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</a:rPr>
              <a:t>）当</a:t>
            </a:r>
            <a:r>
              <a:rPr lang="en-US" altLang="zh-CN" sz="2800" b="1" dirty="0"/>
              <a:t>n&lt;-1</a:t>
            </a:r>
            <a:r>
              <a:rPr lang="zh-CN" altLang="en-US" sz="2800" b="1" dirty="0">
                <a:latin typeface="宋体" panose="02010600030101010101" pitchFamily="2" charset="-122"/>
              </a:rPr>
              <a:t>时，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fontAlgn="t" hangingPunct="1"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</a:t>
            </a:r>
            <a:r>
              <a:rPr lang="en-US" altLang="zh-CN" sz="2800" b="1" dirty="0">
                <a:latin typeface="宋体" panose="02010600030101010101" pitchFamily="2" charset="-122"/>
              </a:rPr>
              <a:t>C</a:t>
            </a:r>
            <a:r>
              <a:rPr lang="zh-CN" altLang="en-US" sz="2800" b="1" dirty="0">
                <a:latin typeface="宋体" panose="02010600030101010101" pitchFamily="2" charset="-122"/>
              </a:rPr>
              <a:t>内有极点：</a:t>
            </a:r>
            <a:r>
              <a:rPr lang="en-US" altLang="zh-CN" sz="2800" b="1" dirty="0">
                <a:latin typeface="宋体" panose="02010600030101010101" pitchFamily="2" charset="-122"/>
              </a:rPr>
              <a:t>z=1/4(</a:t>
            </a:r>
            <a:r>
              <a:rPr lang="zh-CN" altLang="en-US" sz="2800" b="1" dirty="0">
                <a:latin typeface="宋体" panose="02010600030101010101" pitchFamily="2" charset="-122"/>
              </a:rPr>
              <a:t>一阶</a:t>
            </a:r>
            <a:r>
              <a:rPr lang="en-US" altLang="zh-CN" sz="2800" b="1" dirty="0">
                <a:latin typeface="宋体" panose="02010600030101010101" pitchFamily="2" charset="-122"/>
              </a:rPr>
              <a:t>), z=0</a:t>
            </a:r>
            <a:r>
              <a:rPr lang="zh-CN" altLang="en-US" sz="2800" b="1" dirty="0">
                <a:latin typeface="宋体" panose="02010600030101010101" pitchFamily="2" charset="-122"/>
              </a:rPr>
              <a:t>（高阶）；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fontAlgn="t" hangingPunct="1"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而在</a:t>
            </a:r>
            <a:r>
              <a:rPr lang="en-US" altLang="zh-CN" sz="2800" b="1" dirty="0">
                <a:latin typeface="宋体" panose="02010600030101010101" pitchFamily="2" charset="-122"/>
              </a:rPr>
              <a:t>C</a:t>
            </a:r>
            <a:r>
              <a:rPr lang="zh-CN" altLang="en-US" sz="2800" b="1" dirty="0">
                <a:latin typeface="宋体" panose="02010600030101010101" pitchFamily="2" charset="-122"/>
              </a:rPr>
              <a:t>外仅有 </a:t>
            </a:r>
            <a:r>
              <a:rPr lang="en-US" altLang="zh-CN" sz="2800" b="1" dirty="0">
                <a:latin typeface="宋体" panose="02010600030101010101" pitchFamily="2" charset="-122"/>
              </a:rPr>
              <a:t>z=4(</a:t>
            </a:r>
            <a:r>
              <a:rPr lang="zh-CN" altLang="en-US" sz="2800" b="1" dirty="0">
                <a:latin typeface="宋体" panose="02010600030101010101" pitchFamily="2" charset="-122"/>
              </a:rPr>
              <a:t>一阶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这个极点，且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(z)</a:t>
            </a:r>
            <a:r>
              <a:rPr lang="zh-CN" altLang="en-US" sz="2800" b="1" dirty="0"/>
              <a:t>的分母多项式比分子多项式的最高次数高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阶以上，</a:t>
            </a:r>
            <a:r>
              <a:rPr lang="zh-CN" altLang="en-US" dirty="0"/>
              <a:t>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6323" name="对象 208898"/>
          <p:cNvGraphicFramePr>
            <a:graphicFrameLocks noChangeAspect="1"/>
          </p:cNvGraphicFramePr>
          <p:nvPr/>
        </p:nvGraphicFramePr>
        <p:xfrm>
          <a:off x="1447800" y="3581400"/>
          <a:ext cx="5867400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" imgW="1841500" imgH="698500" progId="Equation.3">
                  <p:embed/>
                </p:oleObj>
              </mc:Choice>
              <mc:Fallback>
                <p:oleObj name="" r:id="rId1" imgW="1841500" imgH="6985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3581400"/>
                        <a:ext cx="5867400" cy="176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对象 208899"/>
          <p:cNvGraphicFramePr>
            <a:graphicFrameLocks noChangeAspect="1"/>
          </p:cNvGraphicFramePr>
          <p:nvPr/>
        </p:nvGraphicFramePr>
        <p:xfrm>
          <a:off x="1524000" y="5410200"/>
          <a:ext cx="6019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3" imgW="1802130" imgH="355600" progId="Equation.3">
                  <p:embed/>
                </p:oleObj>
              </mc:Choice>
              <mc:Fallback>
                <p:oleObj name="" r:id="rId3" imgW="1802130" imgH="3556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5410200"/>
                        <a:ext cx="60198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标题 20890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7346" name="文本占位符 209921"/>
          <p:cNvGraphicFramePr>
            <a:graphicFrameLocks noGrp="1" noChangeAspect="1"/>
          </p:cNvGraphicFramePr>
          <p:nvPr>
            <p:ph idx="1"/>
          </p:nvPr>
        </p:nvGraphicFramePr>
        <p:xfrm>
          <a:off x="1474788" y="1681163"/>
          <a:ext cx="4999037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" imgW="1917700" imgH="838200" progId="Equation.3">
                  <p:embed/>
                </p:oleObj>
              </mc:Choice>
              <mc:Fallback>
                <p:oleObj name="" r:id="rId1" imgW="1917700" imgH="8382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">
                        <a:biLevel thresh="50000"/>
                        <a:grayscl/>
                        <a:lum bright="-54001"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474788" y="1681163"/>
                        <a:ext cx="4999037" cy="23510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" name="对象 209922"/>
          <p:cNvGraphicFramePr>
            <a:graphicFrameLocks noChangeAspect="1"/>
          </p:cNvGraphicFramePr>
          <p:nvPr/>
        </p:nvGraphicFramePr>
        <p:xfrm>
          <a:off x="660400" y="4581525"/>
          <a:ext cx="675798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3" imgW="2743200" imgH="419100" progId="Equation.3">
                  <p:embed/>
                </p:oleObj>
              </mc:Choice>
              <mc:Fallback>
                <p:oleObj name="" r:id="rId3" imgW="2743200" imgH="4191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  <a:lum bright="-54001"/>
                      </a:blip>
                      <a:stretch>
                        <a:fillRect/>
                      </a:stretch>
                    </p:blipFill>
                    <p:spPr>
                      <a:xfrm>
                        <a:off x="660400" y="4581525"/>
                        <a:ext cx="6757988" cy="1033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8" name="标题 20992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21094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四、 </a:t>
            </a:r>
            <a:r>
              <a:rPr lang="en-US" altLang="zh-CN" dirty="0"/>
              <a:t>Z</a:t>
            </a:r>
            <a:r>
              <a:rPr lang="zh-CN" altLang="en-US" dirty="0"/>
              <a:t>变换的性质和定理</a:t>
            </a:r>
            <a:endParaRPr lang="zh-CN" altLang="en-US" dirty="0"/>
          </a:p>
        </p:txBody>
      </p:sp>
      <p:sp>
        <p:nvSpPr>
          <p:cNvPr id="210947" name="矩形 210946"/>
          <p:cNvSpPr/>
          <p:nvPr/>
        </p:nvSpPr>
        <p:spPr>
          <a:xfrm>
            <a:off x="609600" y="1905000"/>
            <a:ext cx="7966075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如果						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en-US" sz="2800" b="1" dirty="0">
              <a:latin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则有：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8372" name="对象 210947"/>
          <p:cNvGraphicFramePr>
            <a:graphicFrameLocks noChangeAspect="1"/>
          </p:cNvGraphicFramePr>
          <p:nvPr/>
        </p:nvGraphicFramePr>
        <p:xfrm>
          <a:off x="4730750" y="2047875"/>
          <a:ext cx="2619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" imgW="114300" imgH="216535" progId="Equation.3">
                  <p:embed/>
                </p:oleObj>
              </mc:Choice>
              <mc:Fallback>
                <p:oleObj name="" r:id="rId1" imgW="114300" imgH="216535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30750" y="2047875"/>
                        <a:ext cx="261938" cy="550863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bg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9" name="文本框 210948"/>
          <p:cNvSpPr txBox="1"/>
          <p:nvPr/>
        </p:nvSpPr>
        <p:spPr>
          <a:xfrm>
            <a:off x="1828800" y="5105400"/>
            <a:ext cx="49530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*即满足均匀性与叠加性；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*收敛域为两者重叠部分。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10950" name="矩形 210949"/>
          <p:cNvSpPr/>
          <p:nvPr/>
        </p:nvSpPr>
        <p:spPr>
          <a:xfrm>
            <a:off x="381000" y="1371600"/>
            <a:ext cx="16748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宋体" panose="02010600030101010101" pitchFamily="2" charset="-122"/>
              </a:rPr>
              <a:t>线性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8375" name="对象 210950"/>
          <p:cNvGraphicFramePr>
            <a:graphicFrameLocks noChangeAspect="1"/>
          </p:cNvGraphicFramePr>
          <p:nvPr/>
        </p:nvGraphicFramePr>
        <p:xfrm>
          <a:off x="1981200" y="2008188"/>
          <a:ext cx="487680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3" imgW="2171700" imgH="508000" progId="Equation.3">
                  <p:embed/>
                </p:oleObj>
              </mc:Choice>
              <mc:Fallback>
                <p:oleObj name="" r:id="rId3" imgW="2171700" imgH="5080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1200" y="2008188"/>
                        <a:ext cx="4876800" cy="1141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对象 210951"/>
          <p:cNvGraphicFramePr>
            <a:graphicFrameLocks noChangeAspect="1"/>
          </p:cNvGraphicFramePr>
          <p:nvPr/>
        </p:nvGraphicFramePr>
        <p:xfrm>
          <a:off x="1676400" y="3733800"/>
          <a:ext cx="54102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5" imgW="2146300" imgH="457200" progId="Equation.3">
                  <p:embed/>
                </p:oleObj>
              </mc:Choice>
              <mc:Fallback>
                <p:oleObj name="" r:id="rId5" imgW="2146300" imgH="4572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6400" y="3733800"/>
                        <a:ext cx="541020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矩形 210952"/>
          <p:cNvSpPr/>
          <p:nvPr/>
        </p:nvSpPr>
        <p:spPr>
          <a:xfrm>
            <a:off x="3603625" y="590550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95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094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0949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/>
      <p:bldP spid="210949" grpId="0" build="p"/>
      <p:bldP spid="210950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矩形 211969"/>
          <p:cNvSpPr/>
          <p:nvPr/>
        </p:nvSpPr>
        <p:spPr>
          <a:xfrm>
            <a:off x="533400" y="1600200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>
              <a:spcBef>
                <a:spcPct val="50000"/>
              </a:spcBef>
              <a:buNone/>
            </a:pPr>
            <a:r>
              <a:rPr lang="zh-CN" altLang="en-US" b="1" dirty="0"/>
              <a:t>2. 序列的移位</a:t>
            </a:r>
            <a:endParaRPr lang="zh-CN" altLang="en-US" b="1" dirty="0"/>
          </a:p>
        </p:txBody>
      </p:sp>
      <p:graphicFrame>
        <p:nvGraphicFramePr>
          <p:cNvPr id="59395" name="对象 211970"/>
          <p:cNvGraphicFramePr>
            <a:graphicFrameLocks noChangeAspect="1"/>
          </p:cNvGraphicFramePr>
          <p:nvPr/>
        </p:nvGraphicFramePr>
        <p:xfrm>
          <a:off x="609600" y="2514600"/>
          <a:ext cx="8001000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" imgW="3009900" imgH="508000" progId="Equation.3">
                  <p:embed/>
                </p:oleObj>
              </mc:Choice>
              <mc:Fallback>
                <p:oleObj name="" r:id="rId1" imgW="3009900" imgH="5080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514600"/>
                        <a:ext cx="8001000" cy="1350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矩形 211971"/>
          <p:cNvSpPr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4200" dirty="0">
                <a:solidFill>
                  <a:schemeClr val="tx2"/>
                </a:solidFill>
              </a:rPr>
              <a:t>四、 </a:t>
            </a:r>
            <a:r>
              <a:rPr lang="en-US" altLang="zh-CN" sz="4200" dirty="0">
                <a:solidFill>
                  <a:schemeClr val="tx2"/>
                </a:solidFill>
              </a:rPr>
              <a:t>Z</a:t>
            </a:r>
            <a:r>
              <a:rPr lang="zh-CN" altLang="en-US" sz="4200" dirty="0">
                <a:solidFill>
                  <a:schemeClr val="tx2"/>
                </a:solidFill>
              </a:rPr>
              <a:t>变换的性质和定理</a:t>
            </a:r>
            <a:endParaRPr lang="zh-CN" altLang="en-US" sz="4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文本占位符 212993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620000" cy="45720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en-US" altLang="zh-CN" sz="2800" b="1" dirty="0">
                <a:latin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</a:rPr>
              <a:t>、时域卷积定理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0419" name="内容占位符 212994"/>
          <p:cNvGraphicFramePr>
            <a:graphicFrameLocks noGrp="1" noChangeAspect="1"/>
          </p:cNvGraphicFramePr>
          <p:nvPr>
            <p:ph sz="half" idx="2"/>
          </p:nvPr>
        </p:nvGraphicFramePr>
        <p:xfrm>
          <a:off x="1143000" y="2549525"/>
          <a:ext cx="7010400" cy="304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1" imgW="2870200" imgH="1244600" progId="Equation.3">
                  <p:embed/>
                </p:oleObj>
              </mc:Choice>
              <mc:Fallback>
                <p:oleObj name="" r:id="rId1" imgW="2870200" imgH="12446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143000" y="2549525"/>
                        <a:ext cx="7010400" cy="30400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0" name="标题 21299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四、 </a:t>
            </a:r>
            <a:r>
              <a:rPr lang="en-US" altLang="zh-CN" dirty="0"/>
              <a:t>Z</a:t>
            </a:r>
            <a:r>
              <a:rPr lang="zh-CN" altLang="en-US" dirty="0"/>
              <a:t>变换的性质和定理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extBox 3"/>
          <p:cNvSpPr txBox="1"/>
          <p:nvPr/>
        </p:nvSpPr>
        <p:spPr>
          <a:xfrm>
            <a:off x="571500" y="357188"/>
            <a:ext cx="4737100" cy="644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4.  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域尺度变换（乘以指数序列）</a:t>
            </a:r>
            <a:endParaRPr lang="zh-CN" altLang="en-US" sz="2400" b="1" dirty="0"/>
          </a:p>
        </p:txBody>
      </p:sp>
      <p:pic>
        <p:nvPicPr>
          <p:cNvPr id="61443" name="Picture 1" descr="image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438" y="1666875"/>
            <a:ext cx="4500562" cy="476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44" name="Picture 2" descr="image1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2857500"/>
            <a:ext cx="5303837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5" name="TextBox 6"/>
          <p:cNvSpPr txBox="1"/>
          <p:nvPr/>
        </p:nvSpPr>
        <p:spPr>
          <a:xfrm>
            <a:off x="928688" y="1000125"/>
            <a:ext cx="493712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若</a:t>
            </a:r>
            <a:endParaRPr lang="zh-CN" altLang="en-US" sz="2400" b="1" dirty="0"/>
          </a:p>
        </p:txBody>
      </p:sp>
      <p:sp>
        <p:nvSpPr>
          <p:cNvPr id="61446" name="TextBox 7"/>
          <p:cNvSpPr txBox="1"/>
          <p:nvPr/>
        </p:nvSpPr>
        <p:spPr>
          <a:xfrm>
            <a:off x="928688" y="2286000"/>
            <a:ext cx="493712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则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TextBox 1"/>
          <p:cNvSpPr txBox="1"/>
          <p:nvPr/>
        </p:nvSpPr>
        <p:spPr>
          <a:xfrm>
            <a:off x="857250" y="714375"/>
            <a:ext cx="4821238" cy="644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5.   </a:t>
            </a:r>
            <a:r>
              <a:rPr lang="zh-CN" altLang="en-US" sz="2400" b="1" dirty="0"/>
              <a:t>序列的线性加权（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域求导数）</a:t>
            </a:r>
            <a:endParaRPr lang="zh-CN" altLang="en-US" sz="2400" b="1" dirty="0"/>
          </a:p>
        </p:txBody>
      </p:sp>
      <p:sp>
        <p:nvSpPr>
          <p:cNvPr id="62467" name="TextBox 2"/>
          <p:cNvSpPr txBox="1"/>
          <p:nvPr/>
        </p:nvSpPr>
        <p:spPr>
          <a:xfrm>
            <a:off x="1214438" y="1428750"/>
            <a:ext cx="493712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若</a:t>
            </a:r>
            <a:endParaRPr lang="zh-CN" altLang="en-US" sz="2400" b="1" dirty="0"/>
          </a:p>
        </p:txBody>
      </p:sp>
      <p:pic>
        <p:nvPicPr>
          <p:cNvPr id="62468" name="Picture 2" descr="image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625" y="2117725"/>
            <a:ext cx="4286250" cy="45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9" name="TextBox 4"/>
          <p:cNvSpPr txBox="1"/>
          <p:nvPr/>
        </p:nvSpPr>
        <p:spPr>
          <a:xfrm>
            <a:off x="1285875" y="2714625"/>
            <a:ext cx="493713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则</a:t>
            </a:r>
            <a:endParaRPr lang="zh-CN" altLang="en-US" sz="2400" b="1" dirty="0"/>
          </a:p>
        </p:txBody>
      </p:sp>
      <p:pic>
        <p:nvPicPr>
          <p:cNvPr id="62470" name="Picture 3" descr="image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429000"/>
            <a:ext cx="5638800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TextBox 1"/>
          <p:cNvSpPr txBox="1"/>
          <p:nvPr/>
        </p:nvSpPr>
        <p:spPr>
          <a:xfrm>
            <a:off x="534988" y="357188"/>
            <a:ext cx="2136775" cy="644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序列共轭性</a:t>
            </a:r>
            <a:endParaRPr lang="zh-CN" altLang="en-US" sz="2400" b="1" dirty="0"/>
          </a:p>
        </p:txBody>
      </p:sp>
      <p:sp>
        <p:nvSpPr>
          <p:cNvPr id="63491" name="TextBox 2"/>
          <p:cNvSpPr txBox="1"/>
          <p:nvPr/>
        </p:nvSpPr>
        <p:spPr>
          <a:xfrm>
            <a:off x="914400" y="1000125"/>
            <a:ext cx="493713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若</a:t>
            </a:r>
            <a:endParaRPr lang="zh-CN" altLang="en-US" sz="2400" b="1" dirty="0"/>
          </a:p>
        </p:txBody>
      </p:sp>
      <p:pic>
        <p:nvPicPr>
          <p:cNvPr id="63492" name="Picture 2" descr="image1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13" y="1643063"/>
            <a:ext cx="4660900" cy="500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3" name="TextBox 4"/>
          <p:cNvSpPr txBox="1"/>
          <p:nvPr/>
        </p:nvSpPr>
        <p:spPr>
          <a:xfrm>
            <a:off x="928688" y="2428875"/>
            <a:ext cx="493712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则</a:t>
            </a:r>
            <a:endParaRPr lang="zh-CN" altLang="en-US" sz="2400" b="1" dirty="0"/>
          </a:p>
        </p:txBody>
      </p:sp>
      <p:pic>
        <p:nvPicPr>
          <p:cNvPr id="63494" name="Picture 3" descr="image1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3143250"/>
            <a:ext cx="2878138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5" name="Picture 4" descr="image1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238" y="3071813"/>
            <a:ext cx="1800225" cy="500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6" name="TextBox 7"/>
          <p:cNvSpPr txBox="1"/>
          <p:nvPr/>
        </p:nvSpPr>
        <p:spPr>
          <a:xfrm>
            <a:off x="1133475" y="3765550"/>
            <a:ext cx="5643563" cy="1133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若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为实序列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 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)=</a:t>
            </a:r>
            <a:r>
              <a:rPr lang="en-US" altLang="zh-CN" sz="2400" b="1" i="1" dirty="0"/>
              <a:t>x</a:t>
            </a:r>
            <a:r>
              <a:rPr lang="en-US" altLang="zh-CN" sz="2400" b="1" i="1" baseline="30000" dirty="0"/>
              <a:t>*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 ，则有</a:t>
            </a:r>
            <a:endParaRPr lang="en-US" altLang="zh-CN" sz="2400" b="1" dirty="0"/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)=</a:t>
            </a:r>
            <a:r>
              <a:rPr lang="en-US" altLang="zh-CN" sz="2400" b="1" i="1" dirty="0"/>
              <a:t>X</a:t>
            </a:r>
            <a:r>
              <a:rPr lang="en-US" altLang="zh-CN" sz="2400" b="1" i="1" baseline="30000" dirty="0"/>
              <a:t>*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z</a:t>
            </a:r>
            <a:r>
              <a:rPr lang="en-US" altLang="zh-CN" sz="2400" b="1" i="1" baseline="30000" dirty="0"/>
              <a:t>*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TextBox 1"/>
          <p:cNvSpPr txBox="1"/>
          <p:nvPr/>
        </p:nvSpPr>
        <p:spPr>
          <a:xfrm>
            <a:off x="500063" y="285750"/>
            <a:ext cx="2136775" cy="644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序列翻褶性</a:t>
            </a:r>
            <a:endParaRPr lang="zh-CN" altLang="en-US" sz="2400" b="1" dirty="0"/>
          </a:p>
        </p:txBody>
      </p:sp>
      <p:sp>
        <p:nvSpPr>
          <p:cNvPr id="64515" name="TextBox 2"/>
          <p:cNvSpPr txBox="1"/>
          <p:nvPr/>
        </p:nvSpPr>
        <p:spPr>
          <a:xfrm>
            <a:off x="857250" y="1071563"/>
            <a:ext cx="493713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若</a:t>
            </a:r>
            <a:endParaRPr lang="zh-CN" altLang="en-US" sz="2400" b="1" dirty="0"/>
          </a:p>
        </p:txBody>
      </p:sp>
      <p:pic>
        <p:nvPicPr>
          <p:cNvPr id="64516" name="Picture 2" descr="image1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288" y="1214438"/>
            <a:ext cx="4660900" cy="500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7" name="TextBox 4"/>
          <p:cNvSpPr txBox="1"/>
          <p:nvPr/>
        </p:nvSpPr>
        <p:spPr>
          <a:xfrm>
            <a:off x="857250" y="2000250"/>
            <a:ext cx="493713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则</a:t>
            </a:r>
            <a:endParaRPr lang="zh-CN" altLang="en-US" sz="2400" b="1" dirty="0"/>
          </a:p>
        </p:txBody>
      </p:sp>
      <p:pic>
        <p:nvPicPr>
          <p:cNvPr id="64518" name="Picture 3" descr="image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88" y="2000250"/>
            <a:ext cx="4800600" cy="857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TextBox 1"/>
          <p:cNvSpPr txBox="1"/>
          <p:nvPr/>
        </p:nvSpPr>
        <p:spPr>
          <a:xfrm>
            <a:off x="714375" y="642938"/>
            <a:ext cx="1830388" cy="644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初值定理</a:t>
            </a:r>
            <a:endParaRPr lang="zh-CN" altLang="en-US" sz="2400" b="1" dirty="0"/>
          </a:p>
        </p:txBody>
      </p:sp>
      <p:sp>
        <p:nvSpPr>
          <p:cNvPr id="65539" name="TextBox 2"/>
          <p:cNvSpPr txBox="1"/>
          <p:nvPr/>
        </p:nvSpPr>
        <p:spPr>
          <a:xfrm>
            <a:off x="1143000" y="1428750"/>
            <a:ext cx="5611813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对于因果序列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，即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)=0</a:t>
            </a:r>
            <a:r>
              <a:rPr lang="zh-CN" altLang="en-US" sz="2400" b="1" dirty="0"/>
              <a:t>，</a:t>
            </a:r>
            <a:r>
              <a:rPr lang="en-US" altLang="zh-CN" sz="2400" b="1" i="1" dirty="0"/>
              <a:t>n</a:t>
            </a:r>
            <a:r>
              <a:rPr lang="zh-CN" altLang="en-US" sz="2400" b="1" dirty="0"/>
              <a:t>＜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，有</a:t>
            </a:r>
            <a:endParaRPr lang="zh-CN" altLang="en-US" sz="2400" b="1" dirty="0"/>
          </a:p>
        </p:txBody>
      </p:sp>
      <p:pic>
        <p:nvPicPr>
          <p:cNvPr id="65540" name="Picture 2" descr="image1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2357438"/>
            <a:ext cx="2068513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1" name="TextBox 4"/>
          <p:cNvSpPr txBox="1"/>
          <p:nvPr/>
        </p:nvSpPr>
        <p:spPr>
          <a:xfrm>
            <a:off x="857250" y="3214688"/>
            <a:ext cx="1830388" cy="644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终值定理</a:t>
            </a:r>
            <a:endParaRPr lang="zh-CN" altLang="en-US" sz="2400" b="1" dirty="0"/>
          </a:p>
        </p:txBody>
      </p:sp>
      <p:sp>
        <p:nvSpPr>
          <p:cNvPr id="65542" name="TextBox 5"/>
          <p:cNvSpPr txBox="1"/>
          <p:nvPr/>
        </p:nvSpPr>
        <p:spPr>
          <a:xfrm>
            <a:off x="1143000" y="3929063"/>
            <a:ext cx="7551738" cy="1200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设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为因果序列，且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)</a:t>
            </a:r>
            <a:r>
              <a:rPr lang="en-US" altLang="zh-CN" sz="2400" b="1" i="1" dirty="0"/>
              <a:t> </a:t>
            </a:r>
            <a:r>
              <a:rPr lang="zh-CN" altLang="en-US" sz="2400" b="1" dirty="0"/>
              <a:t>的极点处于单位圆</a:t>
            </a:r>
            <a:r>
              <a:rPr lang="en-US" altLang="zh-CN" sz="2400" b="1" dirty="0"/>
              <a:t>|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|=1</a:t>
            </a:r>
            <a:r>
              <a:rPr lang="zh-CN" altLang="en-US" sz="2400" b="1" dirty="0"/>
              <a:t>以内</a:t>
            </a:r>
            <a:endParaRPr lang="en-US" altLang="zh-CN" sz="2400" b="1" dirty="0"/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（单位圆上最多在</a:t>
            </a:r>
            <a:r>
              <a:rPr lang="en-US" altLang="zh-CN" sz="2400" b="1" i="1" dirty="0"/>
              <a:t>z=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处可有一阶极点），则</a:t>
            </a:r>
            <a:endParaRPr lang="zh-CN" altLang="en-US" sz="2400" b="1" dirty="0"/>
          </a:p>
        </p:txBody>
      </p:sp>
      <p:pic>
        <p:nvPicPr>
          <p:cNvPr id="65543" name="Picture 3" descr="image1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5" y="5357813"/>
            <a:ext cx="3409950" cy="57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TextBox 1"/>
          <p:cNvSpPr txBox="1"/>
          <p:nvPr/>
        </p:nvSpPr>
        <p:spPr>
          <a:xfrm>
            <a:off x="642938" y="357188"/>
            <a:ext cx="3224212" cy="644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10.  </a:t>
            </a:r>
            <a:r>
              <a:rPr lang="zh-CN" altLang="en-US" sz="2400" b="1" dirty="0"/>
              <a:t>因果序列的累加性</a:t>
            </a:r>
            <a:endParaRPr lang="zh-CN" altLang="en-US" sz="2400" b="1" dirty="0"/>
          </a:p>
        </p:txBody>
      </p:sp>
      <p:sp>
        <p:nvSpPr>
          <p:cNvPr id="66563" name="TextBox 2"/>
          <p:cNvSpPr txBox="1"/>
          <p:nvPr/>
        </p:nvSpPr>
        <p:spPr>
          <a:xfrm>
            <a:off x="1000125" y="1190625"/>
            <a:ext cx="62357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设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为因果序列，即</a:t>
            </a:r>
            <a:endParaRPr lang="en-US" altLang="zh-CN" sz="2400" b="1" dirty="0"/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i="1" dirty="0"/>
              <a:t>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)=0, 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&lt;0</a:t>
            </a:r>
            <a:endParaRPr lang="zh-CN" altLang="en-US" sz="2400" b="1" dirty="0"/>
          </a:p>
        </p:txBody>
      </p:sp>
      <p:pic>
        <p:nvPicPr>
          <p:cNvPr id="66564" name="Picture 3" descr="image1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038" y="3286125"/>
            <a:ext cx="5343525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5" name="TextBox 5"/>
          <p:cNvSpPr txBox="1"/>
          <p:nvPr/>
        </p:nvSpPr>
        <p:spPr>
          <a:xfrm>
            <a:off x="1000125" y="2643188"/>
            <a:ext cx="493713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则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TextBox 1"/>
          <p:cNvSpPr txBox="1"/>
          <p:nvPr/>
        </p:nvSpPr>
        <p:spPr>
          <a:xfrm>
            <a:off x="642938" y="714375"/>
            <a:ext cx="4525962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11.  </a:t>
            </a:r>
            <a:r>
              <a:rPr lang="zh-CN" altLang="en-US" sz="2400" b="1" dirty="0"/>
              <a:t>序列相乘（</a:t>
            </a:r>
            <a:r>
              <a:rPr lang="en-US" altLang="zh-CN" sz="2400" b="1" i="1" dirty="0"/>
              <a:t>z</a:t>
            </a:r>
            <a:r>
              <a:rPr lang="zh-CN" altLang="en-US" sz="2400" b="1" dirty="0"/>
              <a:t>域复卷积定理）</a:t>
            </a:r>
            <a:endParaRPr lang="zh-CN" altLang="en-US" sz="2400" b="1" dirty="0"/>
          </a:p>
        </p:txBody>
      </p:sp>
      <p:sp>
        <p:nvSpPr>
          <p:cNvPr id="67587" name="TextBox 2"/>
          <p:cNvSpPr txBox="1"/>
          <p:nvPr/>
        </p:nvSpPr>
        <p:spPr>
          <a:xfrm>
            <a:off x="1143000" y="1495425"/>
            <a:ext cx="3109913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若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)=</a:t>
            </a:r>
            <a:r>
              <a:rPr lang="en-US" altLang="zh-CN" sz="2400" b="1" i="1" dirty="0"/>
              <a:t> x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en-US" altLang="zh-CN" sz="2400" b="1" i="1" dirty="0"/>
              <a:t> h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 ，且</a:t>
            </a:r>
            <a:endParaRPr lang="zh-CN" altLang="en-US" sz="2400" b="1" dirty="0"/>
          </a:p>
        </p:txBody>
      </p:sp>
      <p:pic>
        <p:nvPicPr>
          <p:cNvPr id="67588" name="Picture 4" descr="D:\CAI包含Matlab\CAI\DspMCAI\hbook\2.1.files\image180.png"/>
          <p:cNvPicPr>
            <a:picLocks noChangeAspect="1"/>
          </p:cNvPicPr>
          <p:nvPr/>
        </p:nvPicPr>
        <p:blipFill>
          <a:blip r:embed="rId1" r:link="rId2"/>
          <a:stretch>
            <a:fillRect/>
          </a:stretch>
        </p:blipFill>
        <p:spPr>
          <a:xfrm>
            <a:off x="1143000" y="2286000"/>
            <a:ext cx="4500563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89" name="Picture 3" descr="D:\CAI包含Matlab\CAI\DspMCAI\hbook\2.1.files\image181.png"/>
          <p:cNvPicPr>
            <a:picLocks noChangeAspect="1"/>
          </p:cNvPicPr>
          <p:nvPr/>
        </p:nvPicPr>
        <p:blipFill>
          <a:blip r:embed="rId3" r:link="rId2"/>
          <a:stretch>
            <a:fillRect/>
          </a:stretch>
        </p:blipFill>
        <p:spPr>
          <a:xfrm>
            <a:off x="1143000" y="2928938"/>
            <a:ext cx="4429125" cy="450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90" name="Rectangle 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7591" name="Rectangle 6"/>
          <p:cNvSpPr/>
          <p:nvPr/>
        </p:nvSpPr>
        <p:spPr>
          <a:xfrm>
            <a:off x="0" y="685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7592" name="TextBox 9"/>
          <p:cNvSpPr txBox="1"/>
          <p:nvPr/>
        </p:nvSpPr>
        <p:spPr>
          <a:xfrm>
            <a:off x="1143000" y="3998913"/>
            <a:ext cx="493713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则</a:t>
            </a:r>
            <a:endParaRPr lang="zh-CN" altLang="en-US" sz="2400" b="1" dirty="0"/>
          </a:p>
        </p:txBody>
      </p:sp>
      <p:pic>
        <p:nvPicPr>
          <p:cNvPr id="67593" name="Picture 7" descr="image1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13" y="4786313"/>
            <a:ext cx="8799512" cy="714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94" name="Picture 2" descr="E:\DSP程佩青课件\064937-01 数字信号处理教程（第四版）(经典版) 40571-9\CTP\TU\2t16.T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438" y="1743075"/>
            <a:ext cx="2916237" cy="2614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610" name="Picture 2" descr="image1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88" y="600075"/>
            <a:ext cx="2786062" cy="471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1" name="Picture 3" descr="image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428750"/>
            <a:ext cx="6715125" cy="8302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2" name="TextBox 4"/>
          <p:cNvSpPr txBox="1"/>
          <p:nvPr/>
        </p:nvSpPr>
        <p:spPr>
          <a:xfrm>
            <a:off x="1000125" y="2714625"/>
            <a:ext cx="5443538" cy="1130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复卷积可用留数定理求解</a:t>
            </a:r>
            <a:endParaRPr lang="en-US" altLang="zh-CN" sz="2400" b="1" dirty="0"/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但关键在于正确决定围线所在收敛域。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标题 22220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800" b="1" dirty="0">
                <a:solidFill>
                  <a:schemeClr val="tx1"/>
                </a:solidFill>
              </a:rPr>
              <a:t>2.4</a:t>
            </a:r>
            <a:r>
              <a:rPr lang="zh-CN" altLang="en-US" sz="3800" b="1" dirty="0">
                <a:solidFill>
                  <a:schemeClr val="tx1"/>
                </a:solidFill>
              </a:rPr>
              <a:t>　利用</a:t>
            </a:r>
            <a:r>
              <a:rPr lang="en-US" altLang="zh-CN" sz="3800" b="1" dirty="0">
                <a:solidFill>
                  <a:schemeClr val="tx1"/>
                </a:solidFill>
              </a:rPr>
              <a:t>Z</a:t>
            </a:r>
            <a:r>
              <a:rPr lang="zh-CN" altLang="en-US" sz="3800" b="1" dirty="0">
                <a:solidFill>
                  <a:schemeClr val="tx1"/>
                </a:solidFill>
              </a:rPr>
              <a:t>变换分析信号和系统的频响特性</a:t>
            </a:r>
            <a:endParaRPr lang="zh-CN" altLang="en-US" sz="3800" b="1" dirty="0">
              <a:solidFill>
                <a:schemeClr val="tx1"/>
              </a:solidFill>
            </a:endParaRPr>
          </a:p>
        </p:txBody>
      </p:sp>
      <p:sp>
        <p:nvSpPr>
          <p:cNvPr id="222211" name="内容占位符 22221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一、系统函数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         在线性时不变系统中，</a:t>
            </a:r>
            <a:r>
              <a:rPr lang="en-US" altLang="zh-CN" sz="2800" b="1" dirty="0"/>
              <a:t>h(n)</a:t>
            </a:r>
            <a:r>
              <a:rPr lang="zh-CN" altLang="en-US" sz="2800" b="1" dirty="0"/>
              <a:t>表示系统的</a:t>
            </a:r>
            <a:r>
              <a:rPr lang="zh-CN" altLang="en-US" sz="2800" b="1" dirty="0">
                <a:solidFill>
                  <a:srgbClr val="CC0000"/>
                </a:solidFill>
              </a:rPr>
              <a:t>单位冲激响应</a:t>
            </a:r>
            <a:r>
              <a:rPr lang="zh-CN" altLang="en-US" sz="2800" b="1" dirty="0"/>
              <a:t>，它反映了系统的特性。 </a:t>
            </a:r>
            <a:r>
              <a:rPr lang="en-US" altLang="zh-CN" sz="2800" b="1" dirty="0"/>
              <a:t>H(z)</a:t>
            </a:r>
            <a:r>
              <a:rPr lang="zh-CN" altLang="en-US" sz="2800" b="1" dirty="0"/>
              <a:t>称作线性时不变系统的</a:t>
            </a:r>
            <a:r>
              <a:rPr lang="zh-CN" altLang="en-US" sz="2800" b="1" dirty="0">
                <a:solidFill>
                  <a:srgbClr val="CC0000"/>
                </a:solidFill>
              </a:rPr>
              <a:t>系统函数</a:t>
            </a:r>
            <a:r>
              <a:rPr lang="zh-CN" altLang="en-US" sz="2800" b="1" dirty="0"/>
              <a:t>。</a:t>
            </a:r>
            <a:endParaRPr lang="zh-CN" altLang="en-US" sz="2800" b="1" dirty="0"/>
          </a:p>
        </p:txBody>
      </p:sp>
      <p:graphicFrame>
        <p:nvGraphicFramePr>
          <p:cNvPr id="69636" name="对象 222211"/>
          <p:cNvGraphicFramePr>
            <a:graphicFrameLocks noChangeAspect="1"/>
          </p:cNvGraphicFramePr>
          <p:nvPr/>
        </p:nvGraphicFramePr>
        <p:xfrm>
          <a:off x="431800" y="4824413"/>
          <a:ext cx="32004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" imgW="1118235" imgH="203200" progId="Equation.3">
                  <p:embed/>
                </p:oleObj>
              </mc:Choice>
              <mc:Fallback>
                <p:oleObj name="" r:id="rId1" imgW="1118235" imgH="2032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431800" y="4824413"/>
                        <a:ext cx="320040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3" name="矩形 222212"/>
          <p:cNvSpPr/>
          <p:nvPr/>
        </p:nvSpPr>
        <p:spPr>
          <a:xfrm>
            <a:off x="4038600" y="4724400"/>
            <a:ext cx="4673600" cy="427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 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9638" name="对象 222213"/>
          <p:cNvGraphicFramePr>
            <a:graphicFrameLocks noChangeAspect="1"/>
          </p:cNvGraphicFramePr>
          <p:nvPr/>
        </p:nvGraphicFramePr>
        <p:xfrm>
          <a:off x="1905000" y="3505200"/>
          <a:ext cx="4953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3" imgW="4476750" imgH="847725" progId="Paint.Picture">
                  <p:embed/>
                </p:oleObj>
              </mc:Choice>
              <mc:Fallback>
                <p:oleObj name="" r:id="rId3" imgW="4476750" imgH="847725" progId="Paint.Picture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000" y="3505200"/>
                        <a:ext cx="49530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对象 222214"/>
          <p:cNvGraphicFramePr>
            <a:graphicFrameLocks noChangeAspect="1"/>
          </p:cNvGraphicFramePr>
          <p:nvPr/>
        </p:nvGraphicFramePr>
        <p:xfrm>
          <a:off x="3924300" y="5546725"/>
          <a:ext cx="30559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5" imgW="1054735" imgH="190500" progId="Equation.3">
                  <p:embed/>
                </p:oleObj>
              </mc:Choice>
              <mc:Fallback>
                <p:oleObj name="" r:id="rId5" imgW="1054735" imgH="1905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24300" y="5546725"/>
                        <a:ext cx="3055938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对象 222215"/>
          <p:cNvGraphicFramePr>
            <a:graphicFrameLocks noChangeAspect="1"/>
          </p:cNvGraphicFramePr>
          <p:nvPr/>
        </p:nvGraphicFramePr>
        <p:xfrm>
          <a:off x="3995738" y="4852988"/>
          <a:ext cx="30480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7" imgW="1029335" imgH="190500" progId="Equation.3">
                  <p:embed/>
                </p:oleObj>
              </mc:Choice>
              <mc:Fallback>
                <p:oleObj name="" r:id="rId7" imgW="1029335" imgH="1905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95738" y="4852988"/>
                        <a:ext cx="30480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221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221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/>
      <p:bldP spid="22221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标题 22323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800" b="1" dirty="0"/>
              <a:t>系统函数</a:t>
            </a:r>
            <a:endParaRPr lang="zh-CN" altLang="en-US" sz="3800" b="1" dirty="0"/>
          </a:p>
        </p:txBody>
      </p:sp>
      <p:sp>
        <p:nvSpPr>
          <p:cNvPr id="223235" name="文本占位符 223234"/>
          <p:cNvSpPr>
            <a:spLocks noGrp="1"/>
          </p:cNvSpPr>
          <p:nvPr>
            <p:ph type="body" sz="half" idx="1"/>
          </p:nvPr>
        </p:nvSpPr>
        <p:spPr>
          <a:xfrm>
            <a:off x="838200" y="4419600"/>
            <a:ext cx="8077200" cy="106680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在单位圆上的系统函数就是系统的频率响应。</a:t>
            </a:r>
            <a:endParaRPr lang="zh-CN" altLang="en-US" sz="2800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0660" name="内容占位符 22323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057400" y="1752600"/>
          <a:ext cx="42672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1" imgW="1524000" imgH="368300" progId="Equation.3">
                  <p:embed/>
                </p:oleObj>
              </mc:Choice>
              <mc:Fallback>
                <p:oleObj name="" r:id="rId1" imgW="1524000" imgH="3683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057400" y="1752600"/>
                        <a:ext cx="4267200" cy="10302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3237" name="组合 223236"/>
          <p:cNvGrpSpPr/>
          <p:nvPr/>
        </p:nvGrpSpPr>
        <p:grpSpPr>
          <a:xfrm>
            <a:off x="914400" y="3276600"/>
            <a:ext cx="7696200" cy="1022350"/>
            <a:chOff x="0" y="0"/>
            <a:chExt cx="4848" cy="644"/>
          </a:xfrm>
        </p:grpSpPr>
        <p:sp>
          <p:nvSpPr>
            <p:cNvPr id="70663" name="文本框 223237"/>
            <p:cNvSpPr txBox="1"/>
            <p:nvPr/>
          </p:nvSpPr>
          <p:spPr>
            <a:xfrm>
              <a:off x="0" y="48"/>
              <a:ext cx="484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800" b="1" dirty="0"/>
                <a:t>令                ，得</a:t>
              </a:r>
              <a:r>
                <a:rPr lang="en-US" altLang="zh-CN" sz="2800" b="1" dirty="0"/>
                <a:t>h(n)</a:t>
              </a:r>
              <a:r>
                <a:rPr lang="zh-CN" altLang="en-US" sz="2800" b="1" dirty="0"/>
                <a:t>的傅立叶变换（系统的频率响应）。</a:t>
              </a:r>
              <a:endParaRPr lang="zh-CN" altLang="en-US" sz="2800" b="1" dirty="0"/>
            </a:p>
          </p:txBody>
        </p:sp>
        <p:graphicFrame>
          <p:nvGraphicFramePr>
            <p:cNvPr id="70664" name="对象 223238"/>
            <p:cNvGraphicFramePr>
              <a:graphicFrameLocks noChangeAspect="1"/>
            </p:cNvGraphicFramePr>
            <p:nvPr/>
          </p:nvGraphicFramePr>
          <p:xfrm>
            <a:off x="432" y="0"/>
            <a:ext cx="862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6" name="" r:id="rId3" imgW="457835" imgH="203835" progId="Equation.3">
                    <p:embed/>
                  </p:oleObj>
                </mc:Choice>
                <mc:Fallback>
                  <p:oleObj name="" r:id="rId3" imgW="457835" imgH="203835" progId="Equation.3">
                    <p:embed/>
                    <p:pic>
                      <p:nvPicPr>
                        <p:cNvPr id="0" name="图片 3205"/>
                        <p:cNvPicPr/>
                        <p:nvPr/>
                      </p:nvPicPr>
                      <p:blipFill>
                        <a:blip r:embed="rId4"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2" y="0"/>
                          <a:ext cx="862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0662" name="对象 223239"/>
          <p:cNvGraphicFramePr>
            <a:graphicFrameLocks noChangeAspect="1"/>
          </p:cNvGraphicFramePr>
          <p:nvPr/>
        </p:nvGraphicFramePr>
        <p:xfrm>
          <a:off x="2286000" y="5013325"/>
          <a:ext cx="373380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5" imgW="1233170" imgH="368935" progId="Equation.3">
                  <p:embed/>
                </p:oleObj>
              </mc:Choice>
              <mc:Fallback>
                <p:oleObj name="" r:id="rId5" imgW="1233170" imgH="368935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6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286000" y="5013325"/>
                        <a:ext cx="3733800" cy="1116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323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标题 224257"/>
          <p:cNvSpPr>
            <a:spLocks noGrp="1"/>
          </p:cNvSpPr>
          <p:nvPr>
            <p:ph type="title"/>
          </p:nvPr>
        </p:nvSpPr>
        <p:spPr>
          <a:xfrm>
            <a:off x="287338" y="0"/>
            <a:ext cx="8721725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800" dirty="0">
                <a:solidFill>
                  <a:schemeClr val="tx1"/>
                </a:solidFill>
                <a:latin typeface="宋体" panose="02010600030101010101" pitchFamily="2" charset="-122"/>
              </a:rPr>
              <a:t>二、因果稳定系统（从</a:t>
            </a:r>
            <a:r>
              <a:rPr lang="en-US" altLang="zh-CN" sz="3800" dirty="0">
                <a:solidFill>
                  <a:schemeClr val="tx1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3800" dirty="0">
                <a:solidFill>
                  <a:schemeClr val="tx1"/>
                </a:solidFill>
                <a:latin typeface="宋体" panose="02010600030101010101" pitchFamily="2" charset="-122"/>
              </a:rPr>
              <a:t>变换收敛域判断）</a:t>
            </a:r>
            <a:endParaRPr lang="zh-CN" altLang="en-US" sz="3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24259" name="内容占位符 224258"/>
          <p:cNvSpPr>
            <a:spLocks noGrp="1"/>
          </p:cNvSpPr>
          <p:nvPr>
            <p:ph idx="1"/>
          </p:nvPr>
        </p:nvSpPr>
        <p:spPr>
          <a:xfrm>
            <a:off x="228600" y="908050"/>
            <a:ext cx="84582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</a:t>
            </a:r>
            <a:r>
              <a:rPr lang="zh-CN" altLang="en-US" sz="2400" b="1" dirty="0">
                <a:solidFill>
                  <a:srgbClr val="003399"/>
                </a:solidFill>
              </a:rPr>
              <a:t>回顾因果稳定的线性时不变系统的充要条件是？</a:t>
            </a:r>
            <a:endParaRPr lang="zh-CN" altLang="en-US" sz="2400" b="1" dirty="0">
              <a:solidFill>
                <a:srgbClr val="003399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         因果： </a:t>
            </a:r>
            <a:r>
              <a:rPr lang="en-US" altLang="zh-CN" sz="2800" b="1" dirty="0"/>
              <a:t>h(n)</a:t>
            </a:r>
            <a:r>
              <a:rPr lang="zh-CN" altLang="en-US" sz="2800" b="1" dirty="0"/>
              <a:t>是因果序列。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         稳定： </a:t>
            </a:r>
            <a:r>
              <a:rPr lang="en-US" altLang="zh-CN" sz="2800" b="1" dirty="0"/>
              <a:t>h(n)</a:t>
            </a:r>
            <a:r>
              <a:rPr lang="zh-CN" altLang="en-US" sz="2800" b="1" dirty="0"/>
              <a:t>绝对可和。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dirty="0"/>
          </a:p>
        </p:txBody>
      </p:sp>
      <p:sp>
        <p:nvSpPr>
          <p:cNvPr id="224260" name="文本框 224259"/>
          <p:cNvSpPr txBox="1"/>
          <p:nvPr/>
        </p:nvSpPr>
        <p:spPr>
          <a:xfrm>
            <a:off x="838200" y="2660650"/>
            <a:ext cx="7239000" cy="8540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故，线性时不变系统因果稳定的充要条件是：</a:t>
            </a:r>
            <a:r>
              <a:rPr lang="en-US" altLang="zh-CN" sz="2800" b="1" dirty="0">
                <a:latin typeface="Times New Roman" panose="02020603050405020304" pitchFamily="18" charset="0"/>
              </a:rPr>
              <a:t>h(n)</a:t>
            </a:r>
            <a:r>
              <a:rPr lang="zh-CN" altLang="en-US" sz="2800" b="1" dirty="0">
                <a:latin typeface="Times New Roman" panose="02020603050405020304" pitchFamily="18" charset="0"/>
              </a:rPr>
              <a:t>是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因果序列</a:t>
            </a:r>
            <a:r>
              <a:rPr lang="zh-CN" altLang="en-US" sz="2800" b="1" dirty="0">
                <a:latin typeface="Times New Roman" panose="02020603050405020304" pitchFamily="18" charset="0"/>
              </a:rPr>
              <a:t>且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绝对可和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，即：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685" name="对象 224260"/>
          <p:cNvGraphicFramePr>
            <a:graphicFrameLocks noChangeAspect="1"/>
          </p:cNvGraphicFramePr>
          <p:nvPr/>
        </p:nvGraphicFramePr>
        <p:xfrm>
          <a:off x="1066800" y="3651250"/>
          <a:ext cx="35052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1" imgW="1182370" imgH="190500" progId="Equation.3">
                  <p:embed/>
                </p:oleObj>
              </mc:Choice>
              <mc:Fallback>
                <p:oleObj name="" r:id="rId1" imgW="1182370" imgH="1905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3651250"/>
                        <a:ext cx="3505200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对象 224261"/>
          <p:cNvGraphicFramePr>
            <a:graphicFrameLocks noChangeAspect="1"/>
          </p:cNvGraphicFramePr>
          <p:nvPr/>
        </p:nvGraphicFramePr>
        <p:xfrm>
          <a:off x="4648200" y="3651250"/>
          <a:ext cx="1981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3" imgW="736600" imgH="215900" progId="Equation.3">
                  <p:embed/>
                </p:oleObj>
              </mc:Choice>
              <mc:Fallback>
                <p:oleObj name="" r:id="rId3" imgW="736600" imgH="2159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4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4648200" y="3651250"/>
                        <a:ext cx="19812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3" name="文本框 224262"/>
          <p:cNvSpPr txBox="1"/>
          <p:nvPr/>
        </p:nvSpPr>
        <p:spPr>
          <a:xfrm>
            <a:off x="609600" y="4489450"/>
            <a:ext cx="7404100" cy="939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h(n)</a:t>
            </a:r>
            <a:r>
              <a:rPr lang="zh-CN" altLang="en-US" sz="2800" b="1" dirty="0">
                <a:latin typeface="Times New Roman" panose="02020603050405020304" pitchFamily="18" charset="0"/>
              </a:rPr>
              <a:t>序列绝对可和，即</a:t>
            </a:r>
            <a:r>
              <a:rPr lang="en-US" altLang="zh-CN" sz="2800" b="1" dirty="0">
                <a:latin typeface="Times New Roman" panose="02020603050405020304" pitchFamily="18" charset="0"/>
              </a:rPr>
              <a:t>h(n)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的傅里叶变换存在，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则其</a:t>
            </a:r>
            <a:r>
              <a:rPr lang="en-US" altLang="zh-CN" sz="2800" b="1" dirty="0">
                <a:latin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</a:rPr>
              <a:t>变换收敛域必须包括</a:t>
            </a:r>
            <a:r>
              <a:rPr lang="zh-CN" altLang="en-US" sz="2800" dirty="0">
                <a:latin typeface="Times New Roman" panose="02020603050405020304" pitchFamily="18" charset="0"/>
              </a:rPr>
              <a:t>              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24264" name="文本框 224263"/>
          <p:cNvSpPr txBox="1"/>
          <p:nvPr/>
        </p:nvSpPr>
        <p:spPr>
          <a:xfrm>
            <a:off x="4800600" y="4946650"/>
            <a:ext cx="106680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单位圆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426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426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426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4263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>
                                            <p:txEl>
                                              <p:charRg st="2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4263">
                                            <p:txEl>
                                              <p:charRg st="2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4263">
                                            <p:txEl>
                                              <p:charRg st="2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426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426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/>
      <p:bldP spid="224260" grpId="0" build="p"/>
      <p:bldP spid="224263" grpId="0" build="p"/>
      <p:bldP spid="224264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标题 22528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339137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800" dirty="0">
                <a:solidFill>
                  <a:schemeClr val="tx1"/>
                </a:solidFill>
                <a:latin typeface="宋体" panose="02010600030101010101" pitchFamily="2" charset="-122"/>
              </a:rPr>
              <a:t>因果稳定系统（从</a:t>
            </a:r>
            <a:r>
              <a:rPr lang="en-US" altLang="zh-CN" sz="3800" dirty="0">
                <a:solidFill>
                  <a:schemeClr val="tx1"/>
                </a:solidFill>
                <a:latin typeface="宋体" panose="02010600030101010101" pitchFamily="2" charset="-122"/>
              </a:rPr>
              <a:t>z</a:t>
            </a:r>
            <a:r>
              <a:rPr lang="zh-CN" altLang="en-US" sz="3800" dirty="0">
                <a:solidFill>
                  <a:schemeClr val="tx1"/>
                </a:solidFill>
                <a:latin typeface="宋体" panose="02010600030101010101" pitchFamily="2" charset="-122"/>
              </a:rPr>
              <a:t>变换收敛域判断）</a:t>
            </a:r>
            <a:endParaRPr lang="zh-CN" altLang="en-US" sz="3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72707" name="文本占位符 225282"/>
          <p:cNvSpPr>
            <a:spLocks noGrp="1"/>
          </p:cNvSpPr>
          <p:nvPr>
            <p:ph idx="1"/>
          </p:nvPr>
        </p:nvSpPr>
        <p:spPr>
          <a:xfrm>
            <a:off x="457200" y="1173163"/>
            <a:ext cx="8229600" cy="4525962"/>
          </a:xfrm>
        </p:spPr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800" b="1" dirty="0">
                <a:latin typeface="宋体" panose="02010600030101010101" pitchFamily="2" charset="-122"/>
              </a:rPr>
              <a:t>所以：一个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因果稳定系</a:t>
            </a:r>
            <a:r>
              <a:rPr lang="zh-CN" altLang="en-US" sz="2800" b="1" dirty="0">
                <a:solidFill>
                  <a:srgbClr val="CC0000"/>
                </a:solidFill>
              </a:rPr>
              <a:t>统</a:t>
            </a:r>
            <a:r>
              <a:rPr lang="zh-CN" altLang="en-US" sz="2800" b="1" dirty="0"/>
              <a:t>的系统函数</a:t>
            </a:r>
            <a:r>
              <a:rPr lang="en-US" altLang="zh-CN" sz="2800" b="1" dirty="0"/>
              <a:t>H(z)</a:t>
            </a:r>
            <a:r>
              <a:rPr lang="zh-CN" altLang="en-US" sz="2800" b="1" dirty="0"/>
              <a:t>的收敛域必须在从</a:t>
            </a:r>
            <a:r>
              <a:rPr lang="zh-CN" altLang="en-US" sz="2800" b="1" dirty="0">
                <a:solidFill>
                  <a:srgbClr val="CC0000"/>
                </a:solidFill>
              </a:rPr>
              <a:t>单位圆到∞的整个</a:t>
            </a:r>
            <a:r>
              <a:rPr lang="en-US" altLang="zh-CN" sz="2800" b="1" dirty="0">
                <a:solidFill>
                  <a:srgbClr val="CC0000"/>
                </a:solidFill>
              </a:rPr>
              <a:t>z</a:t>
            </a:r>
            <a:r>
              <a:rPr lang="zh-CN" altLang="en-US" sz="2800" b="1" dirty="0">
                <a:solidFill>
                  <a:srgbClr val="CC0000"/>
                </a:solidFill>
              </a:rPr>
              <a:t>域内</a:t>
            </a:r>
            <a:r>
              <a:rPr lang="zh-CN" altLang="en-US" sz="2800" b="1" dirty="0"/>
              <a:t>收敛。</a:t>
            </a:r>
            <a:endParaRPr lang="zh-CN" altLang="en-US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       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graphicFrame>
        <p:nvGraphicFramePr>
          <p:cNvPr id="72708" name="对象 225283"/>
          <p:cNvGraphicFramePr>
            <a:graphicFrameLocks noChangeAspect="1"/>
          </p:cNvGraphicFramePr>
          <p:nvPr/>
        </p:nvGraphicFramePr>
        <p:xfrm>
          <a:off x="2667000" y="2392363"/>
          <a:ext cx="36576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1" imgW="1359535" imgH="254000" progId="Equation.3">
                  <p:embed/>
                </p:oleObj>
              </mc:Choice>
              <mc:Fallback>
                <p:oleObj name="" r:id="rId1" imgW="1359535" imgH="2540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667000" y="2392363"/>
                        <a:ext cx="3657600" cy="679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5" name="文本框 225284"/>
          <p:cNvSpPr txBox="1"/>
          <p:nvPr/>
        </p:nvSpPr>
        <p:spPr>
          <a:xfrm>
            <a:off x="1187450" y="3217863"/>
            <a:ext cx="7112000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或：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系统函数的全部极点都必须在单位圆内。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286" name="文本框 225285"/>
          <p:cNvSpPr txBox="1"/>
          <p:nvPr/>
        </p:nvSpPr>
        <p:spPr>
          <a:xfrm>
            <a:off x="990600" y="3916363"/>
            <a:ext cx="6400800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思考：判断系统因果稳定的方法有几种？</a:t>
            </a:r>
            <a:endParaRPr lang="zh-CN" altLang="en-US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2711" name="对象 225286"/>
          <p:cNvGraphicFramePr>
            <a:graphicFrameLocks noChangeAspect="1"/>
          </p:cNvGraphicFramePr>
          <p:nvPr/>
        </p:nvGraphicFramePr>
        <p:xfrm>
          <a:off x="1905000" y="4525963"/>
          <a:ext cx="41148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3" imgW="1359535" imgH="203200" progId="Equation.3">
                  <p:embed/>
                </p:oleObj>
              </mc:Choice>
              <mc:Fallback>
                <p:oleObj name="" r:id="rId3" imgW="1359535" imgH="2032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000" y="4525963"/>
                        <a:ext cx="4114800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5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6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5" grpId="0" build="p"/>
      <p:bldP spid="225286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文本框 226305"/>
          <p:cNvSpPr txBox="1"/>
          <p:nvPr/>
        </p:nvSpPr>
        <p:spPr>
          <a:xfrm>
            <a:off x="457200" y="2171700"/>
            <a:ext cx="8382000" cy="32686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　</a:t>
            </a:r>
            <a:r>
              <a:rPr lang="zh-CN" altLang="en-US" sz="2400" b="1" dirty="0">
                <a:latin typeface="Times New Roman" panose="02020603050405020304" pitchFamily="18" charset="0"/>
              </a:rPr>
              <a:t>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　　解　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的极点为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。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 收敛域为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|≤∞: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对应的系统是因果系统，但由于收敛域不包含单位圆，因此是不稳定系统。　　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） 收敛域为</a:t>
            </a:r>
            <a:r>
              <a:rPr lang="en-US" altLang="zh-CN" sz="2400" b="1" dirty="0">
                <a:latin typeface="Times New Roman" panose="02020603050405020304" pitchFamily="18" charset="0"/>
              </a:rPr>
              <a:t>0≤|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|&lt;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对应的系统是非因果且不稳定系统。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 收敛域为</a:t>
            </a:r>
            <a:r>
              <a:rPr lang="en-US" altLang="zh-CN" sz="2400" b="1" dirty="0">
                <a:latin typeface="Times New Roman" panose="02020603050405020304" pitchFamily="18" charset="0"/>
              </a:rPr>
              <a:t>a&lt;|z|&lt;a</a:t>
            </a:r>
            <a:r>
              <a:rPr lang="zh-CN" altLang="en-US" sz="2400" b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对应一个非因果系统，但由于收敛域包含单位圆，因此是稳定系统。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26307" name="组合 226306"/>
          <p:cNvGrpSpPr/>
          <p:nvPr/>
        </p:nvGrpSpPr>
        <p:grpSpPr>
          <a:xfrm>
            <a:off x="762000" y="1143000"/>
            <a:ext cx="7620000" cy="1195388"/>
            <a:chOff x="0" y="0"/>
            <a:chExt cx="4800" cy="753"/>
          </a:xfrm>
        </p:grpSpPr>
        <p:sp>
          <p:nvSpPr>
            <p:cNvPr id="73733" name="文本框 226307"/>
            <p:cNvSpPr txBox="1"/>
            <p:nvPr/>
          </p:nvSpPr>
          <p:spPr>
            <a:xfrm>
              <a:off x="0" y="96"/>
              <a:ext cx="4800" cy="6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2800" b="1" dirty="0"/>
                <a:t>　</a:t>
              </a:r>
              <a:r>
                <a:rPr lang="zh-CN" altLang="en-US" sz="2400" b="1" dirty="0"/>
                <a:t>例</a:t>
              </a:r>
              <a:r>
                <a:rPr lang="en-US" altLang="zh-CN" sz="2400" b="1" dirty="0"/>
                <a:t>14</a:t>
              </a:r>
              <a:r>
                <a:rPr lang="zh-CN" altLang="en-US" sz="2400" b="1" dirty="0"/>
                <a:t>、　已知　　　　　　　　　　　　</a:t>
              </a:r>
              <a:endParaRPr lang="zh-CN" altLang="en-US" sz="2400" b="1" dirty="0"/>
            </a:p>
            <a:p>
              <a:pPr marL="0" lvl="0" indent="0">
                <a:lnSpc>
                  <a:spcPct val="120000"/>
                </a:lnSpc>
                <a:spcBef>
                  <a:spcPct val="0"/>
                </a:spcBef>
                <a:buNone/>
              </a:pPr>
              <a:r>
                <a:rPr lang="zh-CN" altLang="en-US" sz="2400" b="1" dirty="0"/>
                <a:t>分析其因果性和稳定性。</a:t>
              </a:r>
              <a:endParaRPr lang="zh-CN" altLang="en-US" sz="2400" b="1" dirty="0"/>
            </a:p>
          </p:txBody>
        </p:sp>
        <p:graphicFrame>
          <p:nvGraphicFramePr>
            <p:cNvPr id="73734" name="对象 226308"/>
            <p:cNvGraphicFramePr>
              <a:graphicFrameLocks noChangeAspect="1"/>
            </p:cNvGraphicFramePr>
            <p:nvPr/>
          </p:nvGraphicFramePr>
          <p:xfrm>
            <a:off x="1776" y="0"/>
            <a:ext cx="2472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" name="" r:id="rId1" imgW="2120900" imgH="457200" progId="Equation.DSMT4">
                    <p:embed/>
                  </p:oleObj>
                </mc:Choice>
                <mc:Fallback>
                  <p:oleObj name="" r:id="rId1" imgW="2120900" imgH="457200" progId="Equation.DSMT4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76" y="0"/>
                          <a:ext cx="2472" cy="5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3732" name="矩形 226309"/>
          <p:cNvSpPr/>
          <p:nvPr/>
        </p:nvSpPr>
        <p:spPr>
          <a:xfrm>
            <a:off x="195263" y="228600"/>
            <a:ext cx="8339137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3800" dirty="0">
                <a:latin typeface="宋体" panose="02010600030101010101" pitchFamily="2" charset="-122"/>
              </a:rPr>
              <a:t>因果稳定系统（从</a:t>
            </a:r>
            <a:r>
              <a:rPr lang="en-US" altLang="zh-CN" sz="3800" dirty="0">
                <a:latin typeface="宋体" panose="02010600030101010101" pitchFamily="2" charset="-122"/>
              </a:rPr>
              <a:t>z</a:t>
            </a:r>
            <a:r>
              <a:rPr lang="zh-CN" altLang="en-US" sz="3800" dirty="0">
                <a:latin typeface="宋体" panose="02010600030101010101" pitchFamily="2" charset="-122"/>
              </a:rPr>
              <a:t>变换收敛域判断）</a:t>
            </a:r>
            <a:endParaRPr lang="zh-CN" altLang="en-US" sz="3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6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charRg st="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6306">
                                            <p:txEl>
                                              <p:charRg st="3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charRg st="2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6306">
                                            <p:txEl>
                                              <p:charRg st="28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charRg st="83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6306">
                                            <p:txEl>
                                              <p:charRg st="83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6">
                                            <p:txEl>
                                              <p:charRg st="117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6306">
                                            <p:txEl>
                                              <p:charRg st="117" end="1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标题 22732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三、系统函数和差分方程的关系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7331" name="内容占位符 22733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线性移不变系统常用差分方程表示：</a:t>
            </a:r>
            <a:endParaRPr lang="zh-CN" altLang="en-US" sz="2800" b="1" dirty="0"/>
          </a:p>
        </p:txBody>
      </p:sp>
      <p:graphicFrame>
        <p:nvGraphicFramePr>
          <p:cNvPr id="74756" name="对象 227331"/>
          <p:cNvGraphicFramePr>
            <a:graphicFrameLocks noChangeAspect="1"/>
          </p:cNvGraphicFramePr>
          <p:nvPr/>
        </p:nvGraphicFramePr>
        <p:xfrm>
          <a:off x="1447800" y="2362200"/>
          <a:ext cx="55626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" imgW="1574800" imgH="368300" progId="Equation.3">
                  <p:embed/>
                </p:oleObj>
              </mc:Choice>
              <mc:Fallback>
                <p:oleObj name="" r:id="rId1" imgW="1574800" imgH="3683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447800" y="2362200"/>
                        <a:ext cx="5562600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" name="对象 227332"/>
          <p:cNvGraphicFramePr>
            <a:graphicFrameLocks noChangeAspect="1"/>
          </p:cNvGraphicFramePr>
          <p:nvPr/>
        </p:nvGraphicFramePr>
        <p:xfrm>
          <a:off x="3124200" y="3505200"/>
          <a:ext cx="40386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3" imgW="1574800" imgH="368300" progId="Equation.3">
                  <p:embed/>
                </p:oleObj>
              </mc:Choice>
              <mc:Fallback>
                <p:oleObj name="" r:id="rId3" imgW="1574800" imgH="3683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3505200"/>
                        <a:ext cx="4038600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对象 227333"/>
          <p:cNvGraphicFramePr>
            <a:graphicFrameLocks noChangeAspect="1"/>
          </p:cNvGraphicFramePr>
          <p:nvPr/>
        </p:nvGraphicFramePr>
        <p:xfrm>
          <a:off x="2438400" y="4419600"/>
          <a:ext cx="34290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5" imgW="1372870" imgH="724535" progId="Equation.3">
                  <p:embed/>
                </p:oleObj>
              </mc:Choice>
              <mc:Fallback>
                <p:oleObj name="" r:id="rId5" imgW="1372870" imgH="724535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8400" y="4419600"/>
                        <a:ext cx="3429000" cy="180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5" name="文本框 227334"/>
          <p:cNvSpPr txBox="1"/>
          <p:nvPr/>
        </p:nvSpPr>
        <p:spPr>
          <a:xfrm>
            <a:off x="762000" y="3810000"/>
            <a:ext cx="2133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取z变换得：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733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1" grpId="0"/>
      <p:bldP spid="227335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标题 22835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系统函数和差分方程的关系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5779" name="文本占位符 228354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676400" cy="447675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800" b="1" dirty="0"/>
              <a:t>分析：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graphicFrame>
        <p:nvGraphicFramePr>
          <p:cNvPr id="75780" name="对象 228355"/>
          <p:cNvGraphicFramePr>
            <a:graphicFrameLocks noChangeAspect="1"/>
          </p:cNvGraphicFramePr>
          <p:nvPr/>
        </p:nvGraphicFramePr>
        <p:xfrm>
          <a:off x="904875" y="4130675"/>
          <a:ext cx="3678238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1" imgW="1955800" imgH="838200" progId="Equation.3">
                  <p:embed/>
                </p:oleObj>
              </mc:Choice>
              <mc:Fallback>
                <p:oleObj name="" r:id="rId1" imgW="1955800" imgH="8382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2"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904875" y="4130675"/>
                        <a:ext cx="3678238" cy="199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1" name="对象 228356"/>
          <p:cNvGraphicFramePr>
            <a:graphicFrameLocks noChangeAspect="1"/>
          </p:cNvGraphicFramePr>
          <p:nvPr/>
        </p:nvGraphicFramePr>
        <p:xfrm>
          <a:off x="1447800" y="1676400"/>
          <a:ext cx="342900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3" imgW="1372870" imgH="724535" progId="Equation.3">
                  <p:embed/>
                </p:oleObj>
              </mc:Choice>
              <mc:Fallback>
                <p:oleObj name="" r:id="rId3" imgW="1372870" imgH="724535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1676400"/>
                        <a:ext cx="3429000" cy="180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8" name="文本框 228357"/>
          <p:cNvSpPr txBox="1"/>
          <p:nvPr/>
        </p:nvSpPr>
        <p:spPr>
          <a:xfrm>
            <a:off x="5076825" y="2636838"/>
            <a:ext cx="3887788" cy="803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在已知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收敛域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的条件下系统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的特性由系数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</a:rPr>
              <a:t>决定。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28359" name="文本框 228358"/>
          <p:cNvSpPr txBox="1"/>
          <p:nvPr/>
        </p:nvSpPr>
        <p:spPr>
          <a:xfrm>
            <a:off x="5076825" y="4724400"/>
            <a:ext cx="3733800" cy="7302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在已知收敛域的条件下系统的特性由系数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</a:rPr>
              <a:t>决定。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28360" name="文本框 228359"/>
          <p:cNvSpPr txBox="1"/>
          <p:nvPr/>
        </p:nvSpPr>
        <p:spPr>
          <a:xfrm>
            <a:off x="1524000" y="6248400"/>
            <a:ext cx="604520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chemeClr val="folHlink"/>
              </a:buClr>
              <a:buSzPct val="60000"/>
              <a:buNone/>
            </a:pPr>
            <a:r>
              <a:rPr lang="zh-CN" altLang="en-US" sz="28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注：仅有差分方程，不能唯一确定系统</a:t>
            </a:r>
            <a:endParaRPr lang="zh-CN" altLang="en-US" sz="2800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5785" name="内容占位符 228360"/>
          <p:cNvGraphicFramePr>
            <a:graphicFrameLocks noGrp="1" noChangeAspect="1"/>
          </p:cNvGraphicFramePr>
          <p:nvPr>
            <p:ph sz="half" idx="2"/>
          </p:nvPr>
        </p:nvGraphicFramePr>
        <p:xfrm>
          <a:off x="1090613" y="3705225"/>
          <a:ext cx="45815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5" imgW="2489200" imgH="228600" progId="Equation.3">
                  <p:embed/>
                </p:oleObj>
              </mc:Choice>
              <mc:Fallback>
                <p:oleObj name="" r:id="rId5" imgW="2489200" imgH="2286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1090613" y="3705225"/>
                        <a:ext cx="4581525" cy="4206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35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358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>
                                            <p:txEl>
                                              <p:charRg st="1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8358">
                                            <p:txEl>
                                              <p:charRg st="1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8358">
                                            <p:txEl>
                                              <p:charRg st="1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835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835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8360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8360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8" grpId="0" build="p"/>
      <p:bldP spid="228359" grpId="0" build="p"/>
      <p:bldP spid="228360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标题 22937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四、系统的频率响应的意义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6803" name="对象 229378"/>
          <p:cNvGraphicFramePr>
            <a:graphicFrameLocks noChangeAspect="1"/>
          </p:cNvGraphicFramePr>
          <p:nvPr/>
        </p:nvGraphicFramePr>
        <p:xfrm>
          <a:off x="2374900" y="2652713"/>
          <a:ext cx="3938588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1" imgW="1385570" imgH="432435" progId="Equation.3">
                  <p:embed/>
                </p:oleObj>
              </mc:Choice>
              <mc:Fallback>
                <p:oleObj name="" r:id="rId1" imgW="1385570" imgH="432435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74900" y="2652713"/>
                        <a:ext cx="3938588" cy="1228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9380" name="组合 229379"/>
          <p:cNvGrpSpPr/>
          <p:nvPr/>
        </p:nvGrpSpPr>
        <p:grpSpPr>
          <a:xfrm>
            <a:off x="685800" y="1600200"/>
            <a:ext cx="7543800" cy="1117600"/>
            <a:chOff x="0" y="0"/>
            <a:chExt cx="4752" cy="704"/>
          </a:xfrm>
        </p:grpSpPr>
        <p:sp>
          <p:nvSpPr>
            <p:cNvPr id="76809" name="矩形 229380"/>
            <p:cNvSpPr/>
            <p:nvPr/>
          </p:nvSpPr>
          <p:spPr>
            <a:xfrm>
              <a:off x="0" y="0"/>
              <a:ext cx="4752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20000"/>
                </a:lnSpc>
                <a:buClr>
                  <a:schemeClr val="hlink"/>
                </a:buClr>
                <a:buSzPct val="80000"/>
                <a:buNone/>
              </a:pPr>
              <a:r>
                <a:rPr lang="zh-CN" altLang="en-US" sz="1800" dirty="0"/>
                <a:t> </a:t>
              </a:r>
              <a:r>
                <a:rPr lang="zh-CN" altLang="en-US" sz="2800" b="1" dirty="0"/>
                <a:t>系统单位抽样响应</a:t>
              </a:r>
              <a:r>
                <a:rPr lang="en-US" altLang="zh-CN" sz="2800" b="1" dirty="0"/>
                <a:t>h(n)</a:t>
              </a:r>
              <a:r>
                <a:rPr lang="zh-CN" altLang="en-US" sz="2800" b="1" dirty="0"/>
                <a:t>的傅立叶变换            称作系统</a:t>
              </a:r>
              <a:r>
                <a:rPr lang="zh-CN" altLang="en-US" sz="2800" b="1" dirty="0">
                  <a:solidFill>
                    <a:srgbClr val="CC0000"/>
                  </a:solidFill>
                </a:rPr>
                <a:t>频率响应</a:t>
              </a:r>
              <a:r>
                <a:rPr lang="zh-CN" altLang="en-US" sz="2800" b="1" dirty="0"/>
                <a:t>。</a:t>
              </a:r>
              <a:endParaRPr lang="zh-CN" altLang="en-US" sz="2800" b="1" dirty="0"/>
            </a:p>
          </p:txBody>
        </p:sp>
        <p:graphicFrame>
          <p:nvGraphicFramePr>
            <p:cNvPr id="76810" name="对象 229381"/>
            <p:cNvGraphicFramePr>
              <a:graphicFrameLocks noChangeAspect="1"/>
            </p:cNvGraphicFramePr>
            <p:nvPr/>
          </p:nvGraphicFramePr>
          <p:xfrm>
            <a:off x="3656" y="18"/>
            <a:ext cx="762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" name="" r:id="rId3" imgW="483870" imgH="229235" progId="Equation.3">
                    <p:embed/>
                  </p:oleObj>
                </mc:Choice>
                <mc:Fallback>
                  <p:oleObj name="" r:id="rId3" imgW="483870" imgH="229235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56" y="18"/>
                          <a:ext cx="762" cy="3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6805" name="对象 229382"/>
          <p:cNvGraphicFramePr>
            <a:graphicFrameLocks noChangeAspect="1"/>
          </p:cNvGraphicFramePr>
          <p:nvPr/>
        </p:nvGraphicFramePr>
        <p:xfrm>
          <a:off x="2819400" y="4495800"/>
          <a:ext cx="27924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5" imgW="940435" imgH="190500" progId="Equation.3">
                  <p:embed/>
                </p:oleObj>
              </mc:Choice>
              <mc:Fallback>
                <p:oleObj name="" r:id="rId5" imgW="940435" imgH="1905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9400" y="4495800"/>
                        <a:ext cx="2792413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4" name="矩形 229383"/>
          <p:cNvSpPr/>
          <p:nvPr/>
        </p:nvSpPr>
        <p:spPr>
          <a:xfrm>
            <a:off x="838200" y="4038600"/>
            <a:ext cx="401320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57200" lvl="1" indent="0">
              <a:buClr>
                <a:schemeClr val="hlink"/>
              </a:buClr>
              <a:buSzPct val="55000"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对于线性时不变系统：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aphicFrame>
        <p:nvGraphicFramePr>
          <p:cNvPr id="76807" name="对象 229384"/>
          <p:cNvGraphicFramePr>
            <a:graphicFrameLocks noChangeAspect="1"/>
          </p:cNvGraphicFramePr>
          <p:nvPr/>
        </p:nvGraphicFramePr>
        <p:xfrm>
          <a:off x="2895600" y="5105400"/>
          <a:ext cx="27924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7" imgW="940435" imgH="190500" progId="Equation.3">
                  <p:embed/>
                </p:oleObj>
              </mc:Choice>
              <mc:Fallback>
                <p:oleObj name="" r:id="rId7" imgW="940435" imgH="19050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5600" y="5105400"/>
                        <a:ext cx="2792413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对象 229385"/>
          <p:cNvGraphicFramePr>
            <a:graphicFrameLocks noChangeAspect="1"/>
          </p:cNvGraphicFramePr>
          <p:nvPr/>
        </p:nvGraphicFramePr>
        <p:xfrm>
          <a:off x="2117725" y="5588000"/>
          <a:ext cx="43767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9" imgW="1473200" imgH="228600" progId="Equation.3">
                  <p:embed/>
                </p:oleObj>
              </mc:Choice>
              <mc:Fallback>
                <p:oleObj name="" r:id="rId9" imgW="1473200" imgH="2286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7725" y="5588000"/>
                        <a:ext cx="4376738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9384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4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标题 23040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系统的频率响应的意义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77827" name="对象 230402"/>
          <p:cNvGraphicFramePr>
            <a:graphicFrameLocks noChangeAspect="1"/>
          </p:cNvGraphicFramePr>
          <p:nvPr/>
        </p:nvGraphicFramePr>
        <p:xfrm>
          <a:off x="798513" y="3149600"/>
          <a:ext cx="74723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1" imgW="2476500" imgH="228600" progId="Equation.3">
                  <p:embed/>
                </p:oleObj>
              </mc:Choice>
              <mc:Fallback>
                <p:oleObj name="" r:id="rId1" imgW="2476500" imgH="2286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8513" y="3149600"/>
                        <a:ext cx="7472362" cy="61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对象 230403"/>
          <p:cNvGraphicFramePr>
            <a:graphicFrameLocks noChangeAspect="1"/>
          </p:cNvGraphicFramePr>
          <p:nvPr/>
        </p:nvGraphicFramePr>
        <p:xfrm>
          <a:off x="1335088" y="2152650"/>
          <a:ext cx="60626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3" imgW="1803400" imgH="228600" progId="Equation.3">
                  <p:embed/>
                </p:oleObj>
              </mc:Choice>
              <mc:Fallback>
                <p:oleObj name="" r:id="rId3" imgW="1803400" imgH="22860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5088" y="2152650"/>
                        <a:ext cx="6062662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文本占位符 230404"/>
          <p:cNvGraphicFramePr>
            <a:graphicFrameLocks noGrp="1" noChangeAspect="1"/>
          </p:cNvGraphicFramePr>
          <p:nvPr>
            <p:ph type="body"/>
          </p:nvPr>
        </p:nvGraphicFramePr>
        <p:xfrm>
          <a:off x="990600" y="3962400"/>
          <a:ext cx="74199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5" imgW="3427730" imgH="482600" progId="Equation.3">
                  <p:embed/>
                </p:oleObj>
              </mc:Choice>
              <mc:Fallback>
                <p:oleObj name="" r:id="rId5" imgW="3427730" imgH="48260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990600" y="3962400"/>
                        <a:ext cx="7419975" cy="10445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内容占位符 230406"/>
          <p:cNvGraphicFramePr>
            <a:graphicFrameLocks noGrp="1" noChangeAspect="1"/>
          </p:cNvGraphicFramePr>
          <p:nvPr>
            <p:ph idx="1"/>
          </p:nvPr>
        </p:nvGraphicFramePr>
        <p:xfrm>
          <a:off x="2246313" y="1447800"/>
          <a:ext cx="3508375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7" imgW="1473200" imgH="228600" progId="Equation.3">
                  <p:embed/>
                </p:oleObj>
              </mc:Choice>
              <mc:Fallback>
                <p:oleObj name="" r:id="rId7" imgW="1473200" imgH="2286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2246313" y="1447800"/>
                        <a:ext cx="3508375" cy="5445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标题 23142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五、频率响应的几何确定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78851" name="文本占位符 23142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、频率响应的零极点表达式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8852" name="对象 231427"/>
          <p:cNvGraphicFramePr>
            <a:graphicFrameLocks noChangeAspect="1"/>
          </p:cNvGraphicFramePr>
          <p:nvPr/>
        </p:nvGraphicFramePr>
        <p:xfrm>
          <a:off x="1047750" y="2300288"/>
          <a:ext cx="63754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1" imgW="2832100" imgH="838200" progId="Equation.3">
                  <p:embed/>
                </p:oleObj>
              </mc:Choice>
              <mc:Fallback>
                <p:oleObj name="" r:id="rId1" imgW="2832100" imgH="83820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7750" y="2300288"/>
                        <a:ext cx="6375400" cy="203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3" name="对象 231428"/>
          <p:cNvGraphicFramePr>
            <a:graphicFrameLocks noChangeAspect="1"/>
          </p:cNvGraphicFramePr>
          <p:nvPr/>
        </p:nvGraphicFramePr>
        <p:xfrm>
          <a:off x="479425" y="4198938"/>
          <a:ext cx="7980363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3" imgW="3390900" imgH="838200" progId="Equation.3">
                  <p:embed/>
                </p:oleObj>
              </mc:Choice>
              <mc:Fallback>
                <p:oleObj name="" r:id="rId3" imgW="3390900" imgH="8382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425" y="4198938"/>
                        <a:ext cx="7980363" cy="212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标题 23244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频率响应的几何确定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9875" name="对象 232450"/>
          <p:cNvGraphicFramePr>
            <a:graphicFrameLocks noChangeAspect="1"/>
          </p:cNvGraphicFramePr>
          <p:nvPr/>
        </p:nvGraphicFramePr>
        <p:xfrm>
          <a:off x="608013" y="1671638"/>
          <a:ext cx="343217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1" imgW="1411605" imgH="508635" progId="Equation.3">
                  <p:embed/>
                </p:oleObj>
              </mc:Choice>
              <mc:Fallback>
                <p:oleObj name="" r:id="rId1" imgW="1411605" imgH="508635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8013" y="1671638"/>
                        <a:ext cx="3432175" cy="1403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" name="对象 232451"/>
          <p:cNvGraphicFramePr>
            <a:graphicFrameLocks noChangeAspect="1"/>
          </p:cNvGraphicFramePr>
          <p:nvPr/>
        </p:nvGraphicFramePr>
        <p:xfrm>
          <a:off x="4191000" y="1828800"/>
          <a:ext cx="44958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3" imgW="2107565" imgH="482600" progId="Equation.3">
                  <p:embed/>
                </p:oleObj>
              </mc:Choice>
              <mc:Fallback>
                <p:oleObj name="" r:id="rId3" imgW="2107565" imgH="4826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1000" y="1828800"/>
                        <a:ext cx="4495800" cy="1046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7" name="对象 232452"/>
          <p:cNvGraphicFramePr>
            <a:graphicFrameLocks noChangeAspect="1"/>
          </p:cNvGraphicFramePr>
          <p:nvPr/>
        </p:nvGraphicFramePr>
        <p:xfrm>
          <a:off x="609600" y="3048000"/>
          <a:ext cx="4189413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5" imgW="1905000" imgH="838200" progId="Equation.3">
                  <p:embed/>
                </p:oleObj>
              </mc:Choice>
              <mc:Fallback>
                <p:oleObj name="" r:id="rId5" imgW="1905000" imgH="83820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3048000"/>
                        <a:ext cx="4189413" cy="183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8" name="内容占位符 232453"/>
          <p:cNvGraphicFramePr>
            <a:graphicFrameLocks noGrp="1" noChangeAspect="1"/>
          </p:cNvGraphicFramePr>
          <p:nvPr>
            <p:ph idx="1"/>
          </p:nvPr>
        </p:nvGraphicFramePr>
        <p:xfrm>
          <a:off x="914400" y="4800600"/>
          <a:ext cx="3810000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7" imgW="1917700" imgH="685800" progId="Equation.3">
                  <p:embed/>
                </p:oleObj>
              </mc:Choice>
              <mc:Fallback>
                <p:oleObj name="" r:id="rId7" imgW="1917700" imgH="6858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914400" y="4800600"/>
                        <a:ext cx="3810000" cy="13620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2455" name="图片 2324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0" y="2819400"/>
            <a:ext cx="4038600" cy="3690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标题 23347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频率响应的几何确定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33475" name="内容占位符 23347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、几点说明</a:t>
            </a:r>
            <a:endParaRPr lang="zh-CN" altLang="en-US" sz="2800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    </a:t>
            </a:r>
            <a:r>
              <a:rPr lang="en-US" altLang="zh-CN" sz="2800" b="1" dirty="0"/>
              <a:t>(1)  </a:t>
            </a:r>
            <a:r>
              <a:rPr lang="zh-CN" altLang="en-US" sz="2800" b="1" dirty="0"/>
              <a:t>单位圆附近的</a:t>
            </a:r>
            <a:r>
              <a:rPr lang="zh-CN" altLang="en-US" sz="2800" b="1" dirty="0">
                <a:solidFill>
                  <a:srgbClr val="CC0000"/>
                </a:solidFill>
              </a:rPr>
              <a:t>零点</a:t>
            </a:r>
            <a:r>
              <a:rPr lang="zh-CN" altLang="en-US" sz="2800" b="1" dirty="0"/>
              <a:t>对幅度响应的</a:t>
            </a:r>
            <a:r>
              <a:rPr lang="zh-CN" altLang="en-US" sz="2800" b="1" dirty="0">
                <a:solidFill>
                  <a:srgbClr val="CC0000"/>
                </a:solidFill>
              </a:rPr>
              <a:t>谷点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CC0000"/>
                </a:solidFill>
              </a:rPr>
              <a:t>位置与深度</a:t>
            </a:r>
            <a:r>
              <a:rPr lang="zh-CN" altLang="en-US" sz="2800" b="1" dirty="0"/>
              <a:t>有明显影响，当零点位于单位圆上时，谷点为零。零点可在单位圆外。</a:t>
            </a:r>
            <a:endParaRPr lang="zh-CN" altLang="en-US" sz="2800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dirty="0"/>
              <a:t>    </a:t>
            </a:r>
            <a:r>
              <a:rPr lang="en-US" altLang="zh-CN" sz="2800" b="1" dirty="0"/>
              <a:t>(2)  </a:t>
            </a:r>
            <a:r>
              <a:rPr lang="zh-CN" altLang="en-US" sz="2800" b="1" dirty="0"/>
              <a:t>单位圆附近的</a:t>
            </a:r>
            <a:r>
              <a:rPr lang="zh-CN" altLang="en-US" sz="2800" b="1" dirty="0">
                <a:solidFill>
                  <a:srgbClr val="CC0000"/>
                </a:solidFill>
              </a:rPr>
              <a:t>极点</a:t>
            </a:r>
            <a:r>
              <a:rPr lang="zh-CN" altLang="en-US" sz="2800" b="1" dirty="0"/>
              <a:t>对幅度响应的</a:t>
            </a:r>
            <a:r>
              <a:rPr lang="zh-CN" altLang="en-US" sz="2800" b="1" dirty="0">
                <a:solidFill>
                  <a:srgbClr val="CC0000"/>
                </a:solidFill>
              </a:rPr>
              <a:t>峰点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CC0000"/>
                </a:solidFill>
              </a:rPr>
              <a:t>位置</a:t>
            </a:r>
            <a:r>
              <a:rPr lang="zh-CN" altLang="en-US" sz="2800" b="1" dirty="0"/>
              <a:t>和</a:t>
            </a:r>
            <a:r>
              <a:rPr lang="zh-CN" altLang="en-US" sz="2800" b="1" dirty="0">
                <a:solidFill>
                  <a:srgbClr val="CC0000"/>
                </a:solidFill>
              </a:rPr>
              <a:t>高度</a:t>
            </a:r>
            <a:r>
              <a:rPr lang="zh-CN" altLang="en-US" sz="2800" b="1" dirty="0"/>
              <a:t>有明显影响，极点越接近单位圆，峰值就越尖锐。极点在单位圆上，系统不稳定。</a:t>
            </a:r>
            <a:endParaRPr lang="zh-CN" altLang="en-US" sz="2800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CC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3475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charRg st="7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3475">
                                            <p:txEl>
                                              <p:charRg st="7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charRg st="7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3475">
                                            <p:txEl>
                                              <p:charRg st="70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标题 23449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频率响应的几何确定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81923" name="对象 234498"/>
          <p:cNvGraphicFramePr>
            <a:graphicFrameLocks noChangeAspect="1"/>
          </p:cNvGraphicFramePr>
          <p:nvPr/>
        </p:nvGraphicFramePr>
        <p:xfrm>
          <a:off x="4724400" y="1905000"/>
          <a:ext cx="3581400" cy="308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" imgW="2724150" imgH="2667000" progId="Paint.Picture">
                  <p:embed/>
                </p:oleObj>
              </mc:Choice>
              <mc:Fallback>
                <p:oleObj name="" r:id="rId1" imgW="2724150" imgH="2667000" progId="Paint.Picture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24400" y="1905000"/>
                        <a:ext cx="3581400" cy="308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4500" name="组合 234499"/>
          <p:cNvGrpSpPr/>
          <p:nvPr/>
        </p:nvGrpSpPr>
        <p:grpSpPr>
          <a:xfrm>
            <a:off x="990600" y="5334000"/>
            <a:ext cx="7620000" cy="793750"/>
            <a:chOff x="0" y="0"/>
            <a:chExt cx="4800" cy="500"/>
          </a:xfrm>
        </p:grpSpPr>
        <p:graphicFrame>
          <p:nvGraphicFramePr>
            <p:cNvPr id="81926" name="对象 234500"/>
            <p:cNvGraphicFramePr>
              <a:graphicFrameLocks noChangeAspect="1"/>
            </p:cNvGraphicFramePr>
            <p:nvPr/>
          </p:nvGraphicFramePr>
          <p:xfrm>
            <a:off x="3408" y="0"/>
            <a:ext cx="624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" name="" r:id="rId3" imgW="318135" imgH="254635" progId="Equation.3">
                    <p:embed/>
                  </p:oleObj>
                </mc:Choice>
                <mc:Fallback>
                  <p:oleObj name="" r:id="rId3" imgW="318135" imgH="254635" progId="Equation.3">
                    <p:embed/>
                    <p:pic>
                      <p:nvPicPr>
                        <p:cNvPr id="0" name="图片 323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08" y="0"/>
                          <a:ext cx="624" cy="5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27" name="文本框 234501"/>
            <p:cNvSpPr txBox="1"/>
            <p:nvPr/>
          </p:nvSpPr>
          <p:spPr>
            <a:xfrm>
              <a:off x="0" y="144"/>
              <a:ext cx="480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800" b="1" dirty="0"/>
                <a:t>零点在单位圆上</a:t>
              </a:r>
              <a:r>
                <a:rPr lang="en-US" altLang="zh-CN" sz="2800" b="1" dirty="0"/>
                <a:t>0</a:t>
              </a:r>
              <a:r>
                <a:rPr lang="zh-CN" altLang="en-US" sz="2800" b="1" dirty="0"/>
                <a:t>和</a:t>
              </a:r>
              <a:r>
                <a:rPr lang="en-US" altLang="zh-CN" sz="2800" b="1" dirty="0"/>
                <a:t>pi</a:t>
              </a:r>
              <a:r>
                <a:rPr lang="zh-CN" altLang="en-US" sz="2800" b="1" dirty="0"/>
                <a:t>处；极点在             处 。</a:t>
              </a:r>
              <a:endParaRPr lang="zh-CN" altLang="en-US" sz="2800" b="1" dirty="0"/>
            </a:p>
          </p:txBody>
        </p:sp>
      </p:grpSp>
      <p:pic>
        <p:nvPicPr>
          <p:cNvPr id="234503" name="图片 2345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981200"/>
            <a:ext cx="3962400" cy="2947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标题 235521"/>
          <p:cNvSpPr>
            <a:spLocks noGrp="1"/>
          </p:cNvSpPr>
          <p:nvPr>
            <p:ph type="title"/>
          </p:nvPr>
        </p:nvSpPr>
        <p:spPr>
          <a:xfrm>
            <a:off x="195263" y="228600"/>
            <a:ext cx="6815137" cy="9144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频率响应的几何确定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2947" name="矩形 235522"/>
          <p:cNvSpPr/>
          <p:nvPr/>
        </p:nvSpPr>
        <p:spPr>
          <a:xfrm>
            <a:off x="838200" y="3057525"/>
            <a:ext cx="4114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解：系统的传输函数为：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2948" name="对象 235523"/>
          <p:cNvGraphicFramePr>
            <a:graphicFrameLocks noChangeAspect="1"/>
          </p:cNvGraphicFramePr>
          <p:nvPr/>
        </p:nvGraphicFramePr>
        <p:xfrm>
          <a:off x="4800600" y="2819400"/>
          <a:ext cx="33972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" imgW="2018665" imgH="393700" progId="Equation.3">
                  <p:embed/>
                </p:oleObj>
              </mc:Choice>
              <mc:Fallback>
                <p:oleObj name="" r:id="rId1" imgW="2018665" imgH="39370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00600" y="2819400"/>
                        <a:ext cx="33972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49" name="组合 235524"/>
          <p:cNvGrpSpPr/>
          <p:nvPr/>
        </p:nvGrpSpPr>
        <p:grpSpPr>
          <a:xfrm>
            <a:off x="533400" y="1600200"/>
            <a:ext cx="8077200" cy="877888"/>
            <a:chOff x="0" y="0"/>
            <a:chExt cx="5088" cy="553"/>
          </a:xfrm>
        </p:grpSpPr>
        <p:sp>
          <p:nvSpPr>
            <p:cNvPr id="82954" name="矩形 235525"/>
            <p:cNvSpPr/>
            <p:nvPr/>
          </p:nvSpPr>
          <p:spPr>
            <a:xfrm>
              <a:off x="0" y="1"/>
              <a:ext cx="28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例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15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、已知系统的差分方程为：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955" name="对象 235526"/>
            <p:cNvGraphicFramePr>
              <a:graphicFrameLocks noChangeAspect="1"/>
            </p:cNvGraphicFramePr>
            <p:nvPr/>
          </p:nvGraphicFramePr>
          <p:xfrm>
            <a:off x="2688" y="0"/>
            <a:ext cx="2400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0" name="" r:id="rId3" imgW="2067560" imgH="215900" progId="Equation.3">
                    <p:embed/>
                  </p:oleObj>
                </mc:Choice>
                <mc:Fallback>
                  <p:oleObj name="" r:id="rId3" imgW="2067560" imgH="215900" progId="Equation.3">
                    <p:embed/>
                    <p:pic>
                      <p:nvPicPr>
                        <p:cNvPr id="0" name="图片 322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88" y="0"/>
                          <a:ext cx="2400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956" name="文本框 235527"/>
            <p:cNvSpPr txBox="1"/>
            <p:nvPr/>
          </p:nvSpPr>
          <p:spPr>
            <a:xfrm>
              <a:off x="18" y="265"/>
              <a:ext cx="46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指出系统函数的零极点并分析系统的频响特性。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5529" name="文本框 235528"/>
          <p:cNvSpPr txBox="1"/>
          <p:nvPr/>
        </p:nvSpPr>
        <p:spPr>
          <a:xfrm>
            <a:off x="755650" y="2252663"/>
            <a:ext cx="898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解：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30" name="文本框 235529"/>
          <p:cNvSpPr txBox="1"/>
          <p:nvPr/>
        </p:nvSpPr>
        <p:spPr>
          <a:xfrm>
            <a:off x="1676400" y="3810000"/>
            <a:ext cx="37623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∴</a:t>
            </a:r>
            <a:r>
              <a:rPr lang="zh-CN" altLang="en-US" sz="2400" b="1" dirty="0">
                <a:latin typeface="Times New Roman" panose="02020603050405020304" pitchFamily="18" charset="0"/>
              </a:rPr>
              <a:t>极点为</a:t>
            </a:r>
            <a:r>
              <a:rPr lang="en-US" altLang="zh-CN" sz="2400" b="1" dirty="0">
                <a:latin typeface="Times New Roman" panose="02020603050405020304" pitchFamily="18" charset="0"/>
              </a:rPr>
              <a:t>z=b </a:t>
            </a:r>
            <a:r>
              <a:rPr lang="zh-CN" altLang="en-US" sz="2400" b="1" dirty="0">
                <a:latin typeface="Times New Roman" panose="02020603050405020304" pitchFamily="18" charset="0"/>
              </a:rPr>
              <a:t>，零点为</a:t>
            </a:r>
            <a:r>
              <a:rPr lang="en-US" altLang="zh-CN" sz="2400" b="1" dirty="0">
                <a:latin typeface="Times New Roman" panose="02020603050405020304" pitchFamily="18" charset="0"/>
              </a:rPr>
              <a:t>z=0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pic>
        <p:nvPicPr>
          <p:cNvPr id="235531" name="图片 2355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533900"/>
            <a:ext cx="2295525" cy="2324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32" name="图片 2355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419600"/>
            <a:ext cx="2895600" cy="2171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2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30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9" grpId="0" build="p"/>
      <p:bldP spid="235530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46" name="文本框 236545"/>
          <p:cNvSpPr txBox="1"/>
          <p:nvPr/>
        </p:nvSpPr>
        <p:spPr>
          <a:xfrm>
            <a:off x="762000" y="1600200"/>
            <a:ext cx="7467600" cy="4364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　　</a:t>
            </a:r>
            <a:r>
              <a:rPr lang="zh-CN" altLang="en-US" sz="2400" b="1" dirty="0"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</a:rPr>
              <a:t>16</a:t>
            </a:r>
            <a:r>
              <a:rPr lang="zh-CN" altLang="en-US" sz="2400" b="1" dirty="0">
                <a:latin typeface="Times New Roman" panose="02020603050405020304" pitchFamily="18" charset="0"/>
              </a:rPr>
              <a:t>、已知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)=1</a:t>
            </a:r>
            <a:r>
              <a:rPr lang="zh-CN" altLang="en-US" sz="2400" b="1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zh-CN" altLang="en-US" sz="2400" b="1" i="1" baseline="30000" dirty="0">
                <a:latin typeface="Times New Roman" panose="02020603050405020304" pitchFamily="18" charset="0"/>
              </a:rPr>
              <a:t>－</a:t>
            </a:r>
            <a:r>
              <a:rPr lang="en-US" altLang="zh-CN" sz="2400" b="1" i="1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，试定性画出系统的幅频特性。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　　解　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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i="1" dirty="0">
                <a:latin typeface="Times New Roman" panose="02020603050405020304" pitchFamily="18" charset="0"/>
              </a:rPr>
              <a:t>极点：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的极点为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=0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，这是一个</a:t>
            </a:r>
            <a:r>
              <a:rPr lang="en-US" altLang="zh-CN" sz="2400" b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阶极点，它不影响系统的幅频响应。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i="1" dirty="0">
                <a:latin typeface="Times New Roman" panose="02020603050405020304" pitchFamily="18" charset="0"/>
              </a:rPr>
              <a:t>零点：</a:t>
            </a:r>
            <a:r>
              <a:rPr lang="zh-CN" altLang="en-US" sz="2400" b="1" dirty="0">
                <a:latin typeface="Times New Roman" panose="02020603050405020304" pitchFamily="18" charset="0"/>
              </a:rPr>
              <a:t>零点有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个，由分子多项式的根决定。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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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3971" name="对象 236546"/>
          <p:cNvGraphicFramePr>
            <a:graphicFrameLocks noChangeAspect="1"/>
          </p:cNvGraphicFramePr>
          <p:nvPr/>
        </p:nvGraphicFramePr>
        <p:xfrm>
          <a:off x="2819400" y="2438400"/>
          <a:ext cx="31242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" imgW="1511300" imgH="419100" progId="Equation.DSMT4">
                  <p:embed/>
                </p:oleObj>
              </mc:Choice>
              <mc:Fallback>
                <p:oleObj name="" r:id="rId1" imgW="1511300" imgH="419100" progId="Equation.DSMT4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19400" y="2438400"/>
                        <a:ext cx="3124200" cy="865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6548" name="组合 236547"/>
          <p:cNvGrpSpPr/>
          <p:nvPr/>
        </p:nvGrpSpPr>
        <p:grpSpPr>
          <a:xfrm>
            <a:off x="1752600" y="5029200"/>
            <a:ext cx="5067300" cy="1317625"/>
            <a:chOff x="0" y="0"/>
            <a:chExt cx="3192" cy="830"/>
          </a:xfrm>
        </p:grpSpPr>
        <p:graphicFrame>
          <p:nvGraphicFramePr>
            <p:cNvPr id="83974" name="对象 236548"/>
            <p:cNvGraphicFramePr>
              <a:graphicFrameLocks noChangeAspect="1"/>
            </p:cNvGraphicFramePr>
            <p:nvPr/>
          </p:nvGraphicFramePr>
          <p:xfrm>
            <a:off x="0" y="0"/>
            <a:ext cx="3192" cy="8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5" name="" r:id="rId3" imgW="2233930" imgH="584200" progId="Equation.DSMT4">
                    <p:embed/>
                  </p:oleObj>
                </mc:Choice>
                <mc:Fallback>
                  <p:oleObj name="" r:id="rId3" imgW="2233930" imgH="584200" progId="Equation.DSMT4">
                    <p:embed/>
                    <p:pic>
                      <p:nvPicPr>
                        <p:cNvPr id="0" name="图片 323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3192" cy="8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5" name="文本框 236549"/>
            <p:cNvSpPr txBox="1"/>
            <p:nvPr/>
          </p:nvSpPr>
          <p:spPr>
            <a:xfrm>
              <a:off x="1536" y="48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即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3973" name="标题 236550"/>
          <p:cNvSpPr>
            <a:spLocks noGrp="1"/>
          </p:cNvSpPr>
          <p:nvPr>
            <p:ph type="title"/>
          </p:nvPr>
        </p:nvSpPr>
        <p:spPr>
          <a:xfrm>
            <a:off x="195263" y="228600"/>
            <a:ext cx="6815137" cy="914400"/>
          </a:xfrm>
        </p:spPr>
        <p:txBody>
          <a:bodyPr vert="horz" wrap="square" lIns="92075" tIns="46038" rIns="92075" bIns="46038" anchor="b" anchorCtr="0"/>
          <a:p>
            <a:pPr eaLnBrk="1" hangingPunct="1"/>
            <a:r>
              <a:rPr lang="zh-CN" altLang="en-US" dirty="0"/>
              <a:t>频率响应的几何确定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7570" name="内容占位符 237569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</a:rPr>
              <a:t>个零点等间隔分布在单位圆上，设</a:t>
            </a:r>
            <a:r>
              <a:rPr lang="en-US" altLang="zh-CN" sz="2400" b="1" dirty="0">
                <a:latin typeface="Times New Roman" panose="02020603050405020304" pitchFamily="18" charset="0"/>
              </a:rPr>
              <a:t>N=8</a:t>
            </a:r>
            <a:r>
              <a:rPr lang="zh-CN" altLang="en-US" sz="2400" b="1" dirty="0">
                <a:latin typeface="Times New Roman" panose="02020603050405020304" pitchFamily="18" charset="0"/>
              </a:rPr>
              <a:t>，极零点分布如图所示：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pic>
        <p:nvPicPr>
          <p:cNvPr id="237571" name="图片 2375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667000"/>
            <a:ext cx="5210175" cy="2276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996" name="标题 23757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频率响应的几何确定</a:t>
            </a:r>
            <a:endParaRPr lang="zh-CN" altLang="en-US" dirty="0"/>
          </a:p>
        </p:txBody>
      </p:sp>
      <p:pic>
        <p:nvPicPr>
          <p:cNvPr id="237573" name="图片 2375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14600"/>
            <a:ext cx="2333625" cy="2257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570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标题 24268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课堂练习</a:t>
            </a:r>
            <a:endParaRPr lang="zh-CN" altLang="en-US" dirty="0"/>
          </a:p>
        </p:txBody>
      </p:sp>
      <p:sp>
        <p:nvSpPr>
          <p:cNvPr id="242691" name="内容占位符 24269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609600" indent="-609600" eaLnBrk="1" hangingPunct="1"/>
            <a:r>
              <a:rPr lang="en-US" altLang="zh-CN" b="1" dirty="0"/>
              <a:t>1</a:t>
            </a:r>
            <a:r>
              <a:rPr lang="zh-CN" altLang="en-US" b="1" dirty="0"/>
              <a:t>、若</a:t>
            </a:r>
            <a:r>
              <a:rPr lang="en-US" altLang="zh-CN" b="1" dirty="0"/>
              <a:t>H</a:t>
            </a:r>
            <a:r>
              <a:rPr lang="zh-CN" altLang="en-US" b="1" dirty="0"/>
              <a:t>（</a:t>
            </a:r>
            <a:r>
              <a:rPr lang="en-US" altLang="zh-CN" b="1" dirty="0"/>
              <a:t>Z</a:t>
            </a:r>
            <a:r>
              <a:rPr lang="zh-CN" altLang="en-US" b="1" dirty="0"/>
              <a:t>）的收敛域包括∞点，则</a:t>
            </a:r>
            <a:endParaRPr lang="zh-CN" altLang="en-US" b="1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h</a:t>
            </a:r>
            <a:r>
              <a:rPr lang="zh-CN" altLang="en-US" b="1" dirty="0"/>
              <a:t>（</a:t>
            </a:r>
            <a:r>
              <a:rPr lang="en-US" altLang="zh-CN" b="1" dirty="0"/>
              <a:t>n</a:t>
            </a:r>
            <a:r>
              <a:rPr lang="zh-CN" altLang="en-US" b="1" dirty="0"/>
              <a:t>）一定是</a:t>
            </a:r>
            <a:r>
              <a:rPr lang="en-US" altLang="zh-CN" b="1" dirty="0"/>
              <a:t>__________</a:t>
            </a:r>
            <a:r>
              <a:rPr lang="zh-CN" altLang="en-US" b="1" dirty="0"/>
              <a:t>序列。</a:t>
            </a:r>
            <a:endParaRPr lang="zh-CN" altLang="en-US" b="1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zh-CN" altLang="en-US" b="1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zh-CN" altLang="en-US" b="1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zh-CN" altLang="en-US" b="1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C0000"/>
                </a:solidFill>
              </a:rPr>
              <a:t>     因果 </a:t>
            </a:r>
            <a:endParaRPr lang="zh-CN" altLang="en-US" b="1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2691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标题 24371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43715" name="内容占位符 24371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609600" indent="-609600" eaLnBrk="1" hangingPunct="1"/>
            <a:r>
              <a:rPr lang="en-US" altLang="zh-CN" b="1" dirty="0"/>
              <a:t>2</a:t>
            </a:r>
            <a:r>
              <a:rPr lang="zh-CN" altLang="en-US" b="1" dirty="0"/>
              <a:t>、线性时不变系统</a:t>
            </a:r>
            <a:r>
              <a:rPr lang="en-US" altLang="zh-CN" b="1" dirty="0"/>
              <a:t>h(n)</a:t>
            </a:r>
            <a:r>
              <a:rPr lang="zh-CN" altLang="en-US" b="1" dirty="0"/>
              <a:t>是因果系统的充要条件是</a:t>
            </a:r>
            <a:r>
              <a:rPr lang="en-US" altLang="zh-CN" b="1" dirty="0"/>
              <a:t>____________________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609600" indent="-609600" eaLnBrk="1" hangingPunct="1"/>
            <a:endParaRPr lang="zh-CN" altLang="en-US" b="1" dirty="0"/>
          </a:p>
          <a:p>
            <a:pPr marL="609600" indent="-609600" eaLnBrk="1" hangingPunct="1"/>
            <a:endParaRPr lang="zh-CN" altLang="en-US" b="1" dirty="0"/>
          </a:p>
          <a:p>
            <a:pPr marL="609600" indent="-609600" eaLnBrk="1" hangingPunct="1"/>
            <a:endParaRPr lang="zh-CN" altLang="en-US" b="1" dirty="0"/>
          </a:p>
          <a:p>
            <a:pPr marL="609600" indent="-609600" eaLnBrk="1" hangingPunct="1"/>
            <a:r>
              <a:rPr lang="en-US" altLang="zh-CN" b="1" dirty="0">
                <a:solidFill>
                  <a:srgbClr val="CC0000"/>
                </a:solidFill>
              </a:rPr>
              <a:t>h(n)=0,n&lt;0 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rgbClr val="CC0000"/>
                </a:solidFill>
              </a:rPr>
              <a:t>收敛域在某圆的外面</a:t>
            </a:r>
            <a:endParaRPr lang="zh-CN" altLang="en-US" b="1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>
                                            <p:txEl>
                                              <p:charRg st="4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5">
                                            <p:txEl>
                                              <p:charRg st="49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标题 24473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44739" name="内容占位符 24473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en-US" b="1" dirty="0"/>
              <a:t>线性时不变系统</a:t>
            </a:r>
            <a:r>
              <a:rPr lang="en-US" altLang="zh-CN" b="1" dirty="0"/>
              <a:t>h(n)</a:t>
            </a:r>
            <a:r>
              <a:rPr lang="zh-CN" altLang="en-US" b="1" dirty="0"/>
              <a:t>是稳定系统的充要条件是</a:t>
            </a:r>
            <a:r>
              <a:rPr lang="en-US" altLang="zh-CN" b="1" dirty="0"/>
              <a:t>____________________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/>
            <a:r>
              <a:rPr lang="en-US" altLang="zh-CN" b="1" dirty="0">
                <a:solidFill>
                  <a:srgbClr val="CC0000"/>
                </a:solidFill>
              </a:rPr>
              <a:t>h(n)</a:t>
            </a:r>
            <a:r>
              <a:rPr lang="zh-CN" altLang="en-US" b="1" dirty="0">
                <a:solidFill>
                  <a:srgbClr val="CC0000"/>
                </a:solidFill>
              </a:rPr>
              <a:t>绝对可和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rgbClr val="CC0000"/>
                </a:solidFill>
              </a:rPr>
              <a:t>收敛域包括单位圆</a:t>
            </a:r>
            <a:r>
              <a:rPr lang="zh-CN" altLang="en-US" b="1" dirty="0"/>
              <a:t> 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charRg st="48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charRg st="48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标题 24576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45763" name="内容占位符 245762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4953000"/>
          </a:xfrm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30000"/>
              </a:lnSpc>
            </a:pPr>
            <a:r>
              <a:rPr lang="en-US" altLang="zh-CN" b="1" dirty="0"/>
              <a:t>4</a:t>
            </a:r>
            <a:r>
              <a:rPr lang="zh-CN" altLang="en-US" b="1" dirty="0"/>
              <a:t>、时域离散线性时不变系统的系统函数为                       </a:t>
            </a:r>
            <a:endParaRPr lang="zh-CN" altLang="en-US" b="1" dirty="0"/>
          </a:p>
          <a:p>
            <a:pPr marL="609600" indent="-6096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   若要求系统稳定，则</a:t>
            </a:r>
            <a:r>
              <a:rPr lang="en-US" altLang="zh-CN" b="1" dirty="0"/>
              <a:t>a</a:t>
            </a:r>
            <a:r>
              <a:rPr lang="zh-CN" altLang="en-US" b="1" dirty="0"/>
              <a:t>的取值域为</a:t>
            </a:r>
            <a:r>
              <a:rPr lang="en-US" altLang="zh-CN" b="1" dirty="0"/>
              <a:t>____</a:t>
            </a:r>
            <a:endParaRPr lang="en-US" altLang="zh-CN" b="1" dirty="0"/>
          </a:p>
          <a:p>
            <a:pPr marL="609600" indent="-6096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  </a:t>
            </a:r>
            <a:r>
              <a:rPr lang="zh-CN" altLang="en-US" b="1" dirty="0"/>
              <a:t>和 </a:t>
            </a:r>
            <a:r>
              <a:rPr lang="en-US" altLang="zh-CN" b="1" dirty="0"/>
              <a:t>b</a:t>
            </a:r>
            <a:r>
              <a:rPr lang="zh-CN" altLang="en-US" b="1" dirty="0"/>
              <a:t>的取值域为</a:t>
            </a:r>
            <a:r>
              <a:rPr lang="en-US" altLang="zh-CN" b="1" dirty="0"/>
              <a:t>______________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609600" indent="-609600" eaLnBrk="1" hangingPunct="1"/>
            <a:endParaRPr lang="zh-CN" altLang="en-US" b="1" dirty="0"/>
          </a:p>
          <a:p>
            <a:pPr marL="609600" indent="-609600" eaLnBrk="1" hangingPunct="1"/>
            <a:r>
              <a:rPr lang="en-US" altLang="zh-CN" b="1" dirty="0">
                <a:solidFill>
                  <a:srgbClr val="CC0000"/>
                </a:solidFill>
              </a:rPr>
              <a:t>|</a:t>
            </a:r>
            <a:r>
              <a:rPr lang="en-US" altLang="zh-CN" b="1" i="1" dirty="0">
                <a:solidFill>
                  <a:srgbClr val="CC0000"/>
                </a:solidFill>
              </a:rPr>
              <a:t>a</a:t>
            </a:r>
            <a:r>
              <a:rPr lang="en-US" altLang="zh-CN" b="1" dirty="0">
                <a:solidFill>
                  <a:srgbClr val="CC0000"/>
                </a:solidFill>
              </a:rPr>
              <a:t>|≠1, |</a:t>
            </a:r>
            <a:r>
              <a:rPr lang="en-US" altLang="zh-CN" b="1" i="1" dirty="0">
                <a:solidFill>
                  <a:srgbClr val="CC0000"/>
                </a:solidFill>
              </a:rPr>
              <a:t>b</a:t>
            </a:r>
            <a:r>
              <a:rPr lang="en-US" altLang="zh-CN" b="1" dirty="0">
                <a:solidFill>
                  <a:srgbClr val="CC0000"/>
                </a:solidFill>
              </a:rPr>
              <a:t>|≠1</a:t>
            </a:r>
            <a:endParaRPr lang="en-US" altLang="zh-CN" b="1" dirty="0">
              <a:solidFill>
                <a:srgbClr val="CC0000"/>
              </a:solidFill>
            </a:endParaRPr>
          </a:p>
        </p:txBody>
      </p:sp>
      <p:sp>
        <p:nvSpPr>
          <p:cNvPr id="89092" name="矩形 245763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89093" name="对象 245764"/>
          <p:cNvGraphicFramePr>
            <a:graphicFrameLocks noChangeAspect="1"/>
          </p:cNvGraphicFramePr>
          <p:nvPr/>
        </p:nvGraphicFramePr>
        <p:xfrm>
          <a:off x="2362200" y="2286000"/>
          <a:ext cx="43434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1" imgW="2082800" imgH="419100" progId="Equation.3">
                  <p:embed/>
                </p:oleObj>
              </mc:Choice>
              <mc:Fallback>
                <p:oleObj name="" r:id="rId1" imgW="2082800" imgH="419100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2286000"/>
                        <a:ext cx="4343400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63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标题 24678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246787" name="内容占位符 246786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4953000"/>
          </a:xfrm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30000"/>
              </a:lnSpc>
            </a:pPr>
            <a:r>
              <a:rPr lang="en-US" altLang="zh-CN" b="1" dirty="0"/>
              <a:t>5</a:t>
            </a:r>
            <a:r>
              <a:rPr lang="zh-CN" altLang="en-US" b="1" dirty="0"/>
              <a:t>、时域离散线性时不变系统的系统函数为                       </a:t>
            </a:r>
            <a:endParaRPr lang="zh-CN" altLang="en-US" b="1" dirty="0"/>
          </a:p>
          <a:p>
            <a:pPr marL="609600" indent="-609600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   若要求系统因果稳定，则</a:t>
            </a:r>
            <a:r>
              <a:rPr lang="en-US" altLang="zh-CN" b="1" dirty="0"/>
              <a:t>a</a:t>
            </a:r>
            <a:r>
              <a:rPr lang="zh-CN" altLang="en-US" b="1" dirty="0"/>
              <a:t>的取值域为</a:t>
            </a:r>
            <a:r>
              <a:rPr lang="en-US" altLang="zh-CN" b="1" dirty="0"/>
              <a:t>____</a:t>
            </a:r>
            <a:r>
              <a:rPr lang="zh-CN" altLang="en-US" b="1" dirty="0"/>
              <a:t>和 </a:t>
            </a:r>
            <a:r>
              <a:rPr lang="en-US" altLang="zh-CN" b="1" dirty="0"/>
              <a:t>b</a:t>
            </a:r>
            <a:r>
              <a:rPr lang="zh-CN" altLang="en-US" b="1" dirty="0"/>
              <a:t>的取值域为</a:t>
            </a:r>
            <a:r>
              <a:rPr lang="en-US" altLang="zh-CN" b="1" dirty="0"/>
              <a:t>_____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marL="609600" indent="-609600" eaLnBrk="1" hangingPunct="1"/>
            <a:endParaRPr lang="zh-CN" altLang="en-US" b="1" dirty="0"/>
          </a:p>
          <a:p>
            <a:pPr marL="609600" indent="-609600" eaLnBrk="1" hangingPunct="1"/>
            <a:r>
              <a:rPr lang="en-US" altLang="zh-CN" b="1" dirty="0">
                <a:solidFill>
                  <a:srgbClr val="CC0000"/>
                </a:solidFill>
              </a:rPr>
              <a:t>0≤|</a:t>
            </a:r>
            <a:r>
              <a:rPr lang="en-US" altLang="zh-CN" b="1" i="1" dirty="0">
                <a:solidFill>
                  <a:srgbClr val="CC0000"/>
                </a:solidFill>
              </a:rPr>
              <a:t>a</a:t>
            </a:r>
            <a:r>
              <a:rPr lang="en-US" altLang="zh-CN" b="1" dirty="0">
                <a:solidFill>
                  <a:srgbClr val="CC0000"/>
                </a:solidFill>
              </a:rPr>
              <a:t>|&lt;1, 0≤|</a:t>
            </a:r>
            <a:r>
              <a:rPr lang="en-US" altLang="zh-CN" b="1" i="1" dirty="0">
                <a:solidFill>
                  <a:srgbClr val="CC0000"/>
                </a:solidFill>
              </a:rPr>
              <a:t>b</a:t>
            </a:r>
            <a:r>
              <a:rPr lang="en-US" altLang="zh-CN" b="1" dirty="0">
                <a:solidFill>
                  <a:srgbClr val="CC0000"/>
                </a:solidFill>
              </a:rPr>
              <a:t>|&lt;1</a:t>
            </a:r>
            <a:r>
              <a:rPr lang="en-US" altLang="zh-CN" dirty="0">
                <a:solidFill>
                  <a:srgbClr val="CC0000"/>
                </a:solidFill>
              </a:rPr>
              <a:t> </a:t>
            </a:r>
            <a:endParaRPr lang="en-US" altLang="zh-CN" dirty="0">
              <a:solidFill>
                <a:srgbClr val="CC0000"/>
              </a:solidFill>
            </a:endParaRPr>
          </a:p>
        </p:txBody>
      </p:sp>
      <p:sp>
        <p:nvSpPr>
          <p:cNvPr id="90116" name="矩形 246787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0117" name="对象 246788"/>
          <p:cNvGraphicFramePr>
            <a:graphicFrameLocks noChangeAspect="1"/>
          </p:cNvGraphicFramePr>
          <p:nvPr/>
        </p:nvGraphicFramePr>
        <p:xfrm>
          <a:off x="2362200" y="2286000"/>
          <a:ext cx="43434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1" imgW="2082800" imgH="419100" progId="Equation.3">
                  <p:embed/>
                </p:oleObj>
              </mc:Choice>
              <mc:Fallback>
                <p:oleObj name="" r:id="rId1" imgW="2082800" imgH="41910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2286000"/>
                        <a:ext cx="4343400" cy="871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787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标题 24780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91139" name="文本占位符 24781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zh-CN" altLang="en-US" b="1" dirty="0"/>
              <a:t>序列的傅里叶变换等于序列在</a:t>
            </a:r>
            <a:r>
              <a:rPr lang="en-US" altLang="zh-CN" b="1" dirty="0"/>
              <a:t>(        )</a:t>
            </a:r>
            <a:r>
              <a:rPr lang="zh-CN" altLang="en-US" b="1" dirty="0"/>
              <a:t>上的</a:t>
            </a:r>
            <a:r>
              <a:rPr lang="en-US" altLang="zh-CN" b="1" dirty="0"/>
              <a:t>Z</a:t>
            </a:r>
            <a:r>
              <a:rPr lang="zh-CN" altLang="en-US" b="1" dirty="0"/>
              <a:t>变换。</a:t>
            </a:r>
            <a:endParaRPr lang="zh-CN" altLang="en-US" b="1" dirty="0"/>
          </a:p>
          <a:p>
            <a:pPr eaLnBrk="1" hangingPunct="1"/>
            <a:r>
              <a:rPr lang="en-US" altLang="zh-CN" b="1" dirty="0"/>
              <a:t>A.</a:t>
            </a:r>
            <a:r>
              <a:rPr lang="zh-CN" altLang="en-US" b="1" dirty="0"/>
              <a:t>单位圆        </a:t>
            </a:r>
            <a:endParaRPr lang="zh-CN" altLang="en-US" b="1" dirty="0"/>
          </a:p>
          <a:p>
            <a:pPr eaLnBrk="1" hangingPunct="1"/>
            <a:r>
              <a:rPr lang="en-US" altLang="zh-CN" b="1" dirty="0"/>
              <a:t>B.</a:t>
            </a:r>
            <a:r>
              <a:rPr lang="zh-CN" altLang="en-US" b="1" dirty="0"/>
              <a:t>实轴      </a:t>
            </a:r>
            <a:endParaRPr lang="zh-CN" altLang="en-US" b="1" dirty="0"/>
          </a:p>
          <a:p>
            <a:pPr eaLnBrk="1" hangingPunct="1"/>
            <a:r>
              <a:rPr lang="en-US" altLang="zh-CN" b="1" dirty="0"/>
              <a:t>C.</a:t>
            </a:r>
            <a:r>
              <a:rPr lang="zh-CN" altLang="en-US" b="1" dirty="0"/>
              <a:t>正虚轴        </a:t>
            </a:r>
            <a:endParaRPr lang="zh-CN" altLang="en-US" b="1" dirty="0"/>
          </a:p>
          <a:p>
            <a:pPr eaLnBrk="1" hangingPunct="1"/>
            <a:r>
              <a:rPr lang="en-US" altLang="zh-CN" b="1" dirty="0"/>
              <a:t>D.</a:t>
            </a:r>
            <a:r>
              <a:rPr lang="zh-CN" altLang="en-US" b="1" dirty="0"/>
              <a:t>负虚轴</a:t>
            </a:r>
            <a:endParaRPr lang="zh-CN" altLang="en-US" b="1" dirty="0"/>
          </a:p>
        </p:txBody>
      </p:sp>
      <p:sp>
        <p:nvSpPr>
          <p:cNvPr id="247812" name="矩形 247811"/>
          <p:cNvSpPr/>
          <p:nvPr/>
        </p:nvSpPr>
        <p:spPr>
          <a:xfrm>
            <a:off x="2514600" y="5638800"/>
            <a:ext cx="914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CC0000"/>
                </a:solidFill>
              </a:rPr>
              <a:t>A</a:t>
            </a:r>
            <a:endParaRPr lang="en-US" altLang="zh-CN" b="1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781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标题 24883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92163" name="文本占位符 24883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zh-CN" altLang="en-US" b="1" dirty="0"/>
              <a:t>下列哪一个单位抽样响应所表示的系统不是因果系统</a:t>
            </a:r>
            <a:r>
              <a:rPr lang="en-US" altLang="zh-CN" b="1" dirty="0"/>
              <a:t>?(    )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A. δ(n)               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B.  h(n)=u(n)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C.  h(n)=u(n)-u(n-1)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D.  h(n)=u(n)-u(n+1) </a:t>
            </a:r>
            <a:endParaRPr lang="en-US" altLang="zh-CN" b="1" dirty="0"/>
          </a:p>
        </p:txBody>
      </p:sp>
      <p:sp>
        <p:nvSpPr>
          <p:cNvPr id="248836" name="矩形 248835"/>
          <p:cNvSpPr/>
          <p:nvPr/>
        </p:nvSpPr>
        <p:spPr>
          <a:xfrm>
            <a:off x="2819400" y="5340350"/>
            <a:ext cx="5143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CC0000"/>
                </a:solidFill>
              </a:rPr>
              <a:t>D</a:t>
            </a:r>
            <a:endParaRPr lang="en-US" altLang="zh-CN" sz="3600" b="1" dirty="0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883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标题 24985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93187" name="文本占位符 249858"/>
          <p:cNvSpPr>
            <a:spLocks noGrp="1"/>
          </p:cNvSpPr>
          <p:nvPr>
            <p:ph idx="1"/>
          </p:nvPr>
        </p:nvSpPr>
        <p:spPr>
          <a:xfrm>
            <a:off x="609600" y="1295400"/>
            <a:ext cx="7924800" cy="47244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zh-CN" altLang="en-US" sz="2800" b="1" dirty="0"/>
              <a:t>如果系统函数用下式表示</a:t>
            </a:r>
            <a:r>
              <a:rPr lang="en-US" altLang="zh-CN" sz="2800" b="1" dirty="0"/>
              <a:t>: </a:t>
            </a:r>
            <a:endParaRPr lang="en-US" altLang="zh-CN" sz="28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则下列关于收敛域的说法正确的是（     ）</a:t>
            </a:r>
            <a:endParaRPr lang="zh-CN" altLang="en-US" sz="2800" b="1" dirty="0"/>
          </a:p>
          <a:p>
            <a:pPr eaLnBrk="1" hangingPunct="1"/>
            <a:r>
              <a:rPr lang="en-US" altLang="zh-CN" sz="2800" b="1" dirty="0"/>
              <a:t>A</a:t>
            </a:r>
            <a:r>
              <a:rPr lang="zh-CN" altLang="en-US" sz="2800" b="1" dirty="0"/>
              <a:t>．该系统无法通过选择适当的收敛域使该系统因果稳定</a:t>
            </a:r>
            <a:endParaRPr lang="zh-CN" altLang="en-US" sz="2800" b="1" dirty="0"/>
          </a:p>
          <a:p>
            <a:pPr eaLnBrk="1" hangingPunct="1"/>
            <a:r>
              <a:rPr lang="en-US" altLang="zh-CN" sz="2800" b="1" dirty="0"/>
              <a:t>B</a:t>
            </a:r>
            <a:r>
              <a:rPr lang="zh-CN" altLang="en-US" sz="2800" b="1" dirty="0"/>
              <a:t>．收敛域为                   时，系统因果稳定</a:t>
            </a:r>
            <a:endParaRPr lang="zh-CN" altLang="en-US" sz="2800" b="1" dirty="0"/>
          </a:p>
          <a:p>
            <a:pPr eaLnBrk="1" hangingPunct="1"/>
            <a:r>
              <a:rPr lang="en-US" altLang="zh-CN" sz="2800" b="1" dirty="0"/>
              <a:t>C</a:t>
            </a:r>
            <a:r>
              <a:rPr lang="zh-CN" altLang="en-US" sz="2800" b="1" dirty="0"/>
              <a:t>．收敛域为                   时，系统因果稳定</a:t>
            </a:r>
            <a:endParaRPr lang="zh-CN" altLang="en-US" sz="2800" b="1" dirty="0"/>
          </a:p>
          <a:p>
            <a:pPr eaLnBrk="1" hangingPunct="1"/>
            <a:r>
              <a:rPr lang="en-US" altLang="zh-CN" sz="2800" b="1" dirty="0"/>
              <a:t>D</a:t>
            </a:r>
            <a:r>
              <a:rPr lang="zh-CN" altLang="en-US" sz="2800" b="1" dirty="0"/>
              <a:t>．收敛域为                   时，系统因果稳定</a:t>
            </a:r>
            <a:r>
              <a:rPr lang="zh-CN" altLang="en-US" b="1" dirty="0"/>
              <a:t>　</a:t>
            </a:r>
            <a:endParaRPr lang="zh-CN" altLang="en-US" b="1" dirty="0"/>
          </a:p>
        </p:txBody>
      </p:sp>
      <p:sp>
        <p:nvSpPr>
          <p:cNvPr id="249860" name="矩形 249859"/>
          <p:cNvSpPr/>
          <p:nvPr/>
        </p:nvSpPr>
        <p:spPr>
          <a:xfrm>
            <a:off x="2895600" y="5715000"/>
            <a:ext cx="5143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CC0000"/>
                </a:solidFill>
              </a:rPr>
              <a:t>D</a:t>
            </a:r>
            <a:endParaRPr lang="en-US" altLang="zh-CN" sz="3600" b="1" dirty="0">
              <a:solidFill>
                <a:srgbClr val="CC0000"/>
              </a:solidFill>
            </a:endParaRPr>
          </a:p>
        </p:txBody>
      </p:sp>
      <p:sp>
        <p:nvSpPr>
          <p:cNvPr id="93189" name="矩形 249860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3190" name="对象 249861"/>
          <p:cNvGraphicFramePr>
            <a:graphicFrameLocks noChangeAspect="1"/>
          </p:cNvGraphicFramePr>
          <p:nvPr/>
        </p:nvGraphicFramePr>
        <p:xfrm>
          <a:off x="2362200" y="1828800"/>
          <a:ext cx="39624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1" imgW="1892300" imgH="431800" progId="Equation.3">
                  <p:embed/>
                </p:oleObj>
              </mc:Choice>
              <mc:Fallback>
                <p:oleObj name="" r:id="rId1" imgW="1892300" imgH="431800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1828800"/>
                        <a:ext cx="3962400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1" name="矩形 249862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3192" name="对象 249863"/>
          <p:cNvGraphicFramePr>
            <a:graphicFrameLocks noChangeAspect="1"/>
          </p:cNvGraphicFramePr>
          <p:nvPr/>
        </p:nvGraphicFramePr>
        <p:xfrm>
          <a:off x="3276600" y="4419600"/>
          <a:ext cx="9906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3" imgW="546100" imgH="203200" progId="Equation.3">
                  <p:embed/>
                </p:oleObj>
              </mc:Choice>
              <mc:Fallback>
                <p:oleObj name="" r:id="rId3" imgW="546100" imgH="203200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4419600"/>
                        <a:ext cx="990600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3" name="矩形 249864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3194" name="对象 249865"/>
          <p:cNvGraphicFramePr>
            <a:graphicFrameLocks noChangeAspect="1"/>
          </p:cNvGraphicFramePr>
          <p:nvPr/>
        </p:nvGraphicFramePr>
        <p:xfrm>
          <a:off x="3276600" y="5029200"/>
          <a:ext cx="15240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5" imgW="851535" imgH="203200" progId="Equation.3">
                  <p:embed/>
                </p:oleObj>
              </mc:Choice>
              <mc:Fallback>
                <p:oleObj name="" r:id="rId5" imgW="851535" imgH="2032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6600" y="5029200"/>
                        <a:ext cx="1524000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5" name="矩形 249866"/>
          <p:cNvSpPr/>
          <p:nvPr/>
        </p:nvSpPr>
        <p:spPr>
          <a:xfrm>
            <a:off x="0" y="33289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graphicFrame>
        <p:nvGraphicFramePr>
          <p:cNvPr id="93196" name="对象 249867"/>
          <p:cNvGraphicFramePr>
            <a:graphicFrameLocks noChangeAspect="1"/>
          </p:cNvGraphicFramePr>
          <p:nvPr/>
        </p:nvGraphicFramePr>
        <p:xfrm>
          <a:off x="3276600" y="5562600"/>
          <a:ext cx="1066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7" imgW="546100" imgH="203200" progId="Equation.3">
                  <p:embed/>
                </p:oleObj>
              </mc:Choice>
              <mc:Fallback>
                <p:oleObj name="" r:id="rId7" imgW="546100" imgH="2032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6600" y="5562600"/>
                        <a:ext cx="1066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9860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标题 25088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94211" name="文本占位符 25088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7724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en-US" altLang="zh-CN" sz="2400" b="1" dirty="0"/>
              <a:t>9</a:t>
            </a:r>
            <a:r>
              <a:rPr lang="zh-CN" altLang="en-US" sz="2400" b="1" dirty="0"/>
              <a:t>、已知某数字滤波器的系统函数为：</a:t>
            </a:r>
            <a:endParaRPr lang="zh-CN" altLang="en-US" sz="2400" b="1" dirty="0"/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endParaRPr lang="zh-CN" altLang="en-US" sz="2400" b="1" dirty="0"/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endParaRPr lang="zh-CN" altLang="en-US" sz="2400" b="1" dirty="0"/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）画出零极点分布图</a:t>
            </a:r>
            <a:endParaRPr lang="zh-CN" altLang="en-US" sz="2400" b="1" dirty="0"/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）利用几何确定法分析幅度特性，画出幅度特性图；</a:t>
            </a:r>
            <a:endParaRPr lang="zh-CN" altLang="en-US" sz="2400" b="1" dirty="0"/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）试判断滤波器的类型（低通、 高通、 带通、 带阻）。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graphicFrame>
        <p:nvGraphicFramePr>
          <p:cNvPr id="94212" name="内容占位符 250883"/>
          <p:cNvGraphicFramePr>
            <a:graphicFrameLocks noGrp="1" noChangeAspect="1"/>
          </p:cNvGraphicFramePr>
          <p:nvPr>
            <p:ph sz="half" idx="2"/>
          </p:nvPr>
        </p:nvGraphicFramePr>
        <p:xfrm>
          <a:off x="2895600" y="2057400"/>
          <a:ext cx="23368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1" imgW="1092835" imgH="394335" progId="Equation.3">
                  <p:embed/>
                </p:oleObj>
              </mc:Choice>
              <mc:Fallback>
                <p:oleObj name="" r:id="rId1" imgW="1092835" imgH="394335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895600" y="2057400"/>
                        <a:ext cx="2336800" cy="8429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标题 25190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95235" name="文本占位符 251906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84860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zh-CN" altLang="en-US" sz="2400" b="1" dirty="0"/>
              <a:t>解： 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）将系统函数写成下式</a:t>
            </a:r>
            <a:r>
              <a:rPr lang="en-US" altLang="zh-CN" sz="2400" b="1" dirty="0"/>
              <a:t>:</a:t>
            </a:r>
            <a:endParaRPr lang="en-US" altLang="zh-CN" sz="2400" b="1" dirty="0"/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br>
              <a:rPr lang="en-US" altLang="zh-CN" sz="2400" b="1" dirty="0"/>
            </a:br>
            <a:endParaRPr lang="en-US" altLang="zh-CN" sz="2400" b="1" dirty="0"/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系统的零点为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=0</a:t>
            </a:r>
            <a:r>
              <a:rPr lang="zh-CN" altLang="en-US" sz="2400" b="1" dirty="0"/>
              <a:t>，  极点为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=0.9</a:t>
            </a:r>
            <a:r>
              <a:rPr lang="zh-CN" altLang="en-US" sz="2400" b="1" dirty="0"/>
              <a:t>，零点在</a:t>
            </a:r>
            <a:r>
              <a:rPr lang="en-US" altLang="zh-CN" sz="2400" b="1" dirty="0"/>
              <a:t>z</a:t>
            </a:r>
            <a:r>
              <a:rPr lang="zh-CN" altLang="en-US" sz="2400" b="1" dirty="0"/>
              <a:t>平面的原点，零极点分布图为：</a:t>
            </a:r>
            <a:endParaRPr lang="zh-CN" altLang="en-US" sz="2400" b="1" dirty="0"/>
          </a:p>
        </p:txBody>
      </p:sp>
      <p:graphicFrame>
        <p:nvGraphicFramePr>
          <p:cNvPr id="95236" name="内容占位符 251907"/>
          <p:cNvGraphicFramePr>
            <a:graphicFrameLocks noGrp="1" noChangeAspect="1"/>
          </p:cNvGraphicFramePr>
          <p:nvPr>
            <p:ph sz="half" idx="2"/>
          </p:nvPr>
        </p:nvGraphicFramePr>
        <p:xfrm>
          <a:off x="2590800" y="2057400"/>
          <a:ext cx="29273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1" imgW="1663065" imgH="393700" progId="Equation.3">
                  <p:embed/>
                </p:oleObj>
              </mc:Choice>
              <mc:Fallback>
                <p:oleObj name="" r:id="rId1" imgW="1663065" imgH="39370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590800" y="2057400"/>
                        <a:ext cx="2927350" cy="6921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5237" name="图片 2519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657600"/>
            <a:ext cx="2667000" cy="26527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标题 25292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96259" name="文本占位符 25293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）不影响频率特性，而惟一的极点在实轴的</a:t>
            </a:r>
            <a:r>
              <a:rPr lang="en-US" altLang="zh-CN" sz="2400" b="1" dirty="0"/>
              <a:t>0.9</a:t>
            </a:r>
            <a:r>
              <a:rPr lang="zh-CN" altLang="en-US" sz="2400" b="1" dirty="0"/>
              <a:t>处， 幅度特性图为：</a:t>
            </a:r>
            <a:endParaRPr lang="zh-CN" altLang="en-US" sz="2400" b="1" dirty="0"/>
          </a:p>
          <a:p>
            <a:pPr eaLnBrk="1" hangingPunct="1"/>
            <a:endParaRPr lang="zh-CN" altLang="en-US" sz="2400" b="1" dirty="0"/>
          </a:p>
          <a:p>
            <a:pPr eaLnBrk="1" hangingPunct="1"/>
            <a:endParaRPr lang="zh-CN" altLang="en-US" sz="2400" b="1" dirty="0"/>
          </a:p>
          <a:p>
            <a:pPr eaLnBrk="1" hangingPunct="1"/>
            <a:endParaRPr lang="zh-CN" altLang="en-US" sz="2400" b="1" dirty="0"/>
          </a:p>
          <a:p>
            <a:pPr eaLnBrk="1" hangingPunct="1"/>
            <a:endParaRPr lang="zh-CN" altLang="en-US" sz="2400" b="1" dirty="0"/>
          </a:p>
          <a:p>
            <a:pPr eaLnBrk="1" hangingPunct="1"/>
            <a:endParaRPr lang="zh-CN" altLang="en-US" sz="2400" b="1" dirty="0"/>
          </a:p>
          <a:p>
            <a:pPr eaLnBrk="1" hangingPunct="1"/>
            <a:endParaRPr lang="zh-CN" altLang="en-US" sz="2400" b="1" dirty="0"/>
          </a:p>
          <a:p>
            <a:pPr eaLnBrk="1" hangingPunct="1"/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）滤波器的通带中心在</a:t>
            </a:r>
            <a:r>
              <a:rPr lang="en-US" altLang="zh-CN" sz="2400" b="1" i="1" dirty="0"/>
              <a:t>ω</a:t>
            </a:r>
            <a:r>
              <a:rPr lang="en-US" altLang="zh-CN" sz="2400" b="1" dirty="0"/>
              <a:t>=0</a:t>
            </a:r>
            <a:r>
              <a:rPr lang="zh-CN" altLang="en-US" sz="2400" b="1" dirty="0"/>
              <a:t>处，这是一个低通滤波器。 </a:t>
            </a:r>
            <a:endParaRPr lang="zh-CN" altLang="en-US" sz="2400" b="1" dirty="0"/>
          </a:p>
          <a:p>
            <a:pPr eaLnBrk="1" hangingPunct="1"/>
            <a:endParaRPr lang="zh-CN" altLang="en-US" sz="2800" dirty="0"/>
          </a:p>
        </p:txBody>
      </p:sp>
      <p:pic>
        <p:nvPicPr>
          <p:cNvPr id="96260" name="图片 2529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209800"/>
            <a:ext cx="3048000" cy="2679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extBox 1"/>
          <p:cNvSpPr txBox="1"/>
          <p:nvPr/>
        </p:nvSpPr>
        <p:spPr>
          <a:xfrm>
            <a:off x="428625" y="214313"/>
            <a:ext cx="3389313" cy="574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2.4.5 IIR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系统与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FIR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系统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Box 2"/>
          <p:cNvSpPr txBox="1"/>
          <p:nvPr/>
        </p:nvSpPr>
        <p:spPr>
          <a:xfrm>
            <a:off x="1071563" y="1000125"/>
            <a:ext cx="3808412" cy="1130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IIR</a:t>
            </a:r>
            <a:r>
              <a:rPr lang="zh-CN" altLang="en-US" sz="2400" b="1" dirty="0">
                <a:latin typeface="Arial" panose="020B0604020202020204" pitchFamily="34" charset="0"/>
              </a:rPr>
              <a:t>：无限长单位冲激响应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FIR</a:t>
            </a:r>
            <a:r>
              <a:rPr lang="zh-CN" altLang="en-US" sz="2400" b="1" dirty="0">
                <a:latin typeface="Arial" panose="020B0604020202020204" pitchFamily="34" charset="0"/>
              </a:rPr>
              <a:t>：有限长单位冲激响应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97284" name="Picture 2" descr="image0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938" y="2339975"/>
            <a:ext cx="2500312" cy="1660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7285" name="TextBox 4"/>
          <p:cNvSpPr txBox="1"/>
          <p:nvPr/>
        </p:nvSpPr>
        <p:spPr>
          <a:xfrm>
            <a:off x="1071563" y="4214813"/>
            <a:ext cx="6929437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FIR</a:t>
            </a:r>
            <a:r>
              <a:rPr lang="zh-CN" altLang="en-US" sz="2400" b="1" dirty="0">
                <a:latin typeface="Arial" panose="020B0604020202020204" pitchFamily="34" charset="0"/>
              </a:rPr>
              <a:t>系统：全零点系统（滑动平均系统），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          </a:t>
            </a:r>
            <a:r>
              <a:rPr lang="zh-CN" altLang="en-US" sz="2400" b="1" dirty="0">
                <a:latin typeface="Arial" panose="020B0604020202020204" pitchFamily="34" charset="0"/>
              </a:rPr>
              <a:t>全部 </a:t>
            </a:r>
            <a:r>
              <a:rPr lang="en-US" altLang="zh-CN" sz="2400" b="1" i="1" dirty="0">
                <a:latin typeface="Arial" panose="020B0604020202020204" pitchFamily="34" charset="0"/>
              </a:rPr>
              <a:t>a</a:t>
            </a:r>
            <a:r>
              <a:rPr lang="en-US" altLang="zh-CN" sz="2400" b="1" i="1" baseline="-25000" dirty="0">
                <a:latin typeface="Arial" panose="020B0604020202020204" pitchFamily="34" charset="0"/>
              </a:rPr>
              <a:t>k</a:t>
            </a:r>
            <a:r>
              <a:rPr lang="en-US" altLang="zh-CN" sz="2400" b="1" dirty="0">
                <a:latin typeface="Arial" panose="020B0604020202020204" pitchFamily="34" charset="0"/>
              </a:rPr>
              <a:t>=0</a:t>
            </a:r>
            <a:r>
              <a:rPr lang="zh-CN" altLang="en-US" sz="24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k=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</a:rPr>
              <a:t>…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97286" name="Picture 4" descr="image0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5643563"/>
            <a:ext cx="3848100" cy="857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7287" name="TextBox 7"/>
          <p:cNvSpPr txBox="1"/>
          <p:nvPr/>
        </p:nvSpPr>
        <p:spPr>
          <a:xfrm>
            <a:off x="642938" y="2500313"/>
            <a:ext cx="1806575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1.  </a:t>
            </a:r>
            <a:r>
              <a:rPr lang="zh-CN" altLang="en-US" sz="2400" b="1" dirty="0">
                <a:latin typeface="Arial" panose="020B0604020202020204" pitchFamily="34" charset="0"/>
              </a:rPr>
              <a:t>零极点：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8306" name="Picture 2" descr="image0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7375" y="357188"/>
            <a:ext cx="2500313" cy="1660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8307" name="TextBox 2"/>
          <p:cNvSpPr txBox="1"/>
          <p:nvPr/>
        </p:nvSpPr>
        <p:spPr>
          <a:xfrm>
            <a:off x="468313" y="2232025"/>
            <a:ext cx="8318500" cy="1128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IIR</a:t>
            </a:r>
            <a:r>
              <a:rPr lang="zh-CN" altLang="en-US" sz="2400" b="1" dirty="0">
                <a:latin typeface="Arial" panose="020B0604020202020204" pitchFamily="34" charset="0"/>
              </a:rPr>
              <a:t>系统：全极点（</a:t>
            </a:r>
            <a:r>
              <a:rPr lang="en-US" altLang="zh-CN" sz="2400" b="1" dirty="0">
                <a:latin typeface="Arial" panose="020B0604020202020204" pitchFamily="34" charset="0"/>
              </a:rPr>
              <a:t>AR</a:t>
            </a:r>
            <a:r>
              <a:rPr lang="zh-CN" altLang="en-US" sz="2400" b="1" dirty="0">
                <a:latin typeface="Arial" panose="020B0604020202020204" pitchFamily="34" charset="0"/>
              </a:rPr>
              <a:t>）系统与零、极点（</a:t>
            </a:r>
            <a:r>
              <a:rPr lang="en-US" altLang="zh-CN" sz="2400" b="1" dirty="0">
                <a:latin typeface="Arial" panose="020B0604020202020204" pitchFamily="34" charset="0"/>
              </a:rPr>
              <a:t>ARMA</a:t>
            </a:r>
            <a:r>
              <a:rPr lang="zh-CN" altLang="en-US" sz="2400" b="1" dirty="0">
                <a:latin typeface="Arial" panose="020B0604020202020204" pitchFamily="34" charset="0"/>
              </a:rPr>
              <a:t>）系统，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         </a:t>
            </a:r>
            <a:r>
              <a:rPr lang="zh-CN" altLang="en-US" sz="2400" b="1" dirty="0">
                <a:latin typeface="Arial" panose="020B0604020202020204" pitchFamily="34" charset="0"/>
              </a:rPr>
              <a:t>至少一个</a:t>
            </a:r>
            <a:r>
              <a:rPr lang="en-US" altLang="zh-CN" sz="2400" b="1" i="1" dirty="0">
                <a:latin typeface="Arial" panose="020B0604020202020204" pitchFamily="34" charset="0"/>
              </a:rPr>
              <a:t>a</a:t>
            </a:r>
            <a:r>
              <a:rPr lang="en-US" altLang="zh-CN" sz="2400" b="1" i="1" baseline="-25000" dirty="0">
                <a:latin typeface="Arial" panose="020B0604020202020204" pitchFamily="34" charset="0"/>
              </a:rPr>
              <a:t>k</a:t>
            </a:r>
            <a:r>
              <a:rPr lang="en-US" altLang="zh-CN" sz="2400" b="1" dirty="0">
                <a:latin typeface="Arial" panose="020B0604020202020204" pitchFamily="34" charset="0"/>
              </a:rPr>
              <a:t>≠0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TextBox 1"/>
          <p:cNvSpPr txBox="1"/>
          <p:nvPr/>
        </p:nvSpPr>
        <p:spPr>
          <a:xfrm>
            <a:off x="642938" y="642938"/>
            <a:ext cx="2108200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2.  </a:t>
            </a:r>
            <a:r>
              <a:rPr lang="zh-CN" altLang="en-US" sz="2400" b="1" dirty="0">
                <a:latin typeface="Arial" panose="020B0604020202020204" pitchFamily="34" charset="0"/>
              </a:rPr>
              <a:t>系统结构：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99331" name="Picture 2" descr="image0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88" y="1384300"/>
            <a:ext cx="4786312" cy="901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9332" name="TextBox 3"/>
          <p:cNvSpPr txBox="1"/>
          <p:nvPr/>
        </p:nvSpPr>
        <p:spPr>
          <a:xfrm>
            <a:off x="857250" y="2571750"/>
            <a:ext cx="3122613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IIR</a:t>
            </a:r>
            <a:r>
              <a:rPr lang="zh-CN" altLang="en-US" sz="2400" b="1" dirty="0">
                <a:latin typeface="Arial" panose="020B0604020202020204" pitchFamily="34" charset="0"/>
              </a:rPr>
              <a:t>系统：递归型结构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99333" name="TextBox 4"/>
          <p:cNvSpPr txBox="1"/>
          <p:nvPr/>
        </p:nvSpPr>
        <p:spPr>
          <a:xfrm>
            <a:off x="857250" y="3282950"/>
            <a:ext cx="3500438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FIR</a:t>
            </a:r>
            <a:r>
              <a:rPr lang="zh-CN" altLang="en-US" sz="2400" b="1" dirty="0">
                <a:latin typeface="Arial" panose="020B0604020202020204" pitchFamily="34" charset="0"/>
              </a:rPr>
              <a:t>系统：非递归型结构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标题 233473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利用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Z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变换求解差分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方程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844675"/>
            <a:ext cx="8072755" cy="2835275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标题 233473"/>
          <p:cNvSpPr>
            <a:spLocks noGrp="1"/>
          </p:cNvSpPr>
          <p:nvPr/>
        </p:nvSpPr>
        <p:spPr>
          <a:xfrm>
            <a:off x="467360" y="4413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利用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Z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变换求解差分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方程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87450"/>
            <a:ext cx="8067675" cy="545782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标题 233473"/>
          <p:cNvSpPr>
            <a:spLocks noGrp="1"/>
          </p:cNvSpPr>
          <p:nvPr/>
        </p:nvSpPr>
        <p:spPr>
          <a:xfrm>
            <a:off x="467360" y="4413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利用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Z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变换求解差分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方程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980440"/>
            <a:ext cx="6772275" cy="4505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5661025"/>
            <a:ext cx="5153025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TextBox 1"/>
          <p:cNvSpPr txBox="1"/>
          <p:nvPr/>
        </p:nvSpPr>
        <p:spPr>
          <a:xfrm>
            <a:off x="571500" y="428625"/>
            <a:ext cx="4411663" cy="574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Arial" panose="020B0604020202020204" pitchFamily="34" charset="0"/>
              </a:rPr>
              <a:t>补充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400" b="1" dirty="0">
                <a:solidFill>
                  <a:srgbClr val="7030A0"/>
                </a:solidFill>
                <a:latin typeface="Arial" panose="020B0604020202020204" pitchFamily="34" charset="0"/>
              </a:rPr>
              <a:t>第五章</a:t>
            </a:r>
            <a:r>
              <a:rPr lang="en-US" altLang="zh-CN" sz="2400" b="1" dirty="0">
                <a:solidFill>
                  <a:srgbClr val="7030A0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solidFill>
                  <a:srgbClr val="7030A0"/>
                </a:solidFill>
                <a:latin typeface="Arial" panose="020B0604020202020204" pitchFamily="34" charset="0"/>
              </a:rPr>
              <a:t>：系统的信号流图</a:t>
            </a:r>
            <a:endParaRPr lang="zh-CN" altLang="en-US" sz="2400" b="1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  <p:sp>
        <p:nvSpPr>
          <p:cNvPr id="100355" name="TextBox 2"/>
          <p:cNvSpPr txBox="1"/>
          <p:nvPr/>
        </p:nvSpPr>
        <p:spPr>
          <a:xfrm>
            <a:off x="928688" y="1214438"/>
            <a:ext cx="7246937" cy="1131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1.</a:t>
            </a:r>
            <a:r>
              <a:rPr lang="zh-CN" altLang="en-US" sz="2400" b="1" dirty="0">
                <a:latin typeface="Arial" panose="020B0604020202020204" pitchFamily="34" charset="0"/>
              </a:rPr>
              <a:t>一个数字滤波器在时域用常系数线性差分方程表示</a:t>
            </a:r>
            <a:endParaRPr lang="zh-CN" altLang="en-US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00356" name="Picture 2" descr="image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2070100"/>
            <a:ext cx="4143375" cy="858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357" name="TextBox 4"/>
          <p:cNvSpPr txBox="1"/>
          <p:nvPr/>
        </p:nvSpPr>
        <p:spPr>
          <a:xfrm>
            <a:off x="1095375" y="3143250"/>
            <a:ext cx="3690938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在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zh-CN" altLang="en-US" sz="2400" b="1" dirty="0">
                <a:latin typeface="Arial" panose="020B0604020202020204" pitchFamily="34" charset="0"/>
              </a:rPr>
              <a:t>域则是用系统函数表示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00358" name="Picture 3" descr="image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4000500"/>
            <a:ext cx="2571750" cy="1725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8625" y="500063"/>
            <a:ext cx="7993063" cy="1754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indent="-457200" defTabSz="914400">
              <a:lnSpc>
                <a:spcPct val="150000"/>
              </a:lnSpc>
              <a:buClrTx/>
              <a:buSzTx/>
              <a:buFontTx/>
              <a:buAutoNum type="arabicPeriod" startAt="2"/>
              <a:defRPr/>
            </a:pP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数字滤波器的功能就是通过一定的运算，把输入变换</a:t>
            </a:r>
            <a:endParaRPr kumimoji="0" lang="en-US" altLang="zh-CN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成输出，这一运算就是</a:t>
            </a:r>
            <a:r>
              <a:rPr kumimoji="0" 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滤波</a:t>
            </a:r>
            <a:r>
              <a:rPr kumimoji="0" 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zh-CN" altLang="en-US" sz="24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作用。也是信号处理。</a:t>
            </a:r>
            <a:endParaRPr kumimoji="0" lang="zh-CN" altLang="en-US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zh-CN" altLang="en-US" sz="24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379" name="TextBox 2"/>
          <p:cNvSpPr txBox="1"/>
          <p:nvPr/>
        </p:nvSpPr>
        <p:spPr>
          <a:xfrm>
            <a:off x="857250" y="1785938"/>
            <a:ext cx="3897313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两种办法来实现数字滤波：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1380" name="TextBox 3"/>
          <p:cNvSpPr txBox="1"/>
          <p:nvPr/>
        </p:nvSpPr>
        <p:spPr>
          <a:xfrm>
            <a:off x="1000125" y="2571750"/>
            <a:ext cx="7570788" cy="1130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一种是用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软件编程</a:t>
            </a:r>
            <a:r>
              <a:rPr lang="zh-CN" altLang="en-US" sz="2400" b="1" dirty="0">
                <a:latin typeface="Arial" panose="020B0604020202020204" pitchFamily="34" charset="0"/>
              </a:rPr>
              <a:t>来实现，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另一种是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用专用硬件或通用的数字信号处理器</a:t>
            </a:r>
            <a:r>
              <a:rPr lang="zh-CN" altLang="en-US" sz="2400" b="1" dirty="0">
                <a:latin typeface="Arial" panose="020B0604020202020204" pitchFamily="34" charset="0"/>
              </a:rPr>
              <a:t>来实现。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TextBox 1"/>
          <p:cNvSpPr txBox="1"/>
          <p:nvPr/>
        </p:nvSpPr>
        <p:spPr>
          <a:xfrm>
            <a:off x="642938" y="500063"/>
            <a:ext cx="7588250" cy="3416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一个数字滤波器实现时的基本运算单元：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                            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加法器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                            乘法器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                             延时器</a:t>
            </a:r>
            <a:endParaRPr lang="en-US" altLang="zh-CN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这些基本运算单元可以有两种表示方法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                                  ——</a:t>
            </a:r>
            <a:r>
              <a:rPr lang="zh-CN" altLang="en-US" sz="2400" b="1" dirty="0">
                <a:latin typeface="Arial" panose="020B0604020202020204" pitchFamily="34" charset="0"/>
              </a:rPr>
              <a:t>方框图法及信号流图法。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3426" name="Picture 2" descr="E:\DSP程佩青课件\064937-01 数字信号处理教程（第四版）(经典版) 40571-9\CTP\TU\5t1a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625" y="857250"/>
            <a:ext cx="4786313" cy="270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TextBox 1"/>
          <p:cNvSpPr txBox="1"/>
          <p:nvPr/>
        </p:nvSpPr>
        <p:spPr>
          <a:xfrm>
            <a:off x="642938" y="357188"/>
            <a:ext cx="4124325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无限长单位冲激响应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—— IIR</a:t>
            </a:r>
            <a:endParaRPr lang="zh-CN" altLang="en-US" sz="2400" b="1" dirty="0">
              <a:solidFill>
                <a:srgbClr val="C00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04451" name="TextBox 2"/>
          <p:cNvSpPr txBox="1"/>
          <p:nvPr/>
        </p:nvSpPr>
        <p:spPr>
          <a:xfrm>
            <a:off x="714375" y="1211263"/>
            <a:ext cx="3200400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一、</a:t>
            </a:r>
            <a:r>
              <a:rPr lang="en-US" altLang="zh-CN" sz="2400" b="1" dirty="0">
                <a:latin typeface="Arial" panose="020B0604020202020204" pitchFamily="34" charset="0"/>
              </a:rPr>
              <a:t> IIR</a:t>
            </a:r>
            <a:r>
              <a:rPr lang="zh-CN" altLang="en-US" sz="2400" b="1" dirty="0">
                <a:latin typeface="Arial" panose="020B0604020202020204" pitchFamily="34" charset="0"/>
              </a:rPr>
              <a:t>滤波器的特点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4452" name="TextBox 3"/>
          <p:cNvSpPr txBox="1"/>
          <p:nvPr/>
        </p:nvSpPr>
        <p:spPr>
          <a:xfrm>
            <a:off x="1071563" y="1925638"/>
            <a:ext cx="5448300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1.  </a:t>
            </a:r>
            <a:r>
              <a:rPr lang="zh-CN" altLang="en-US" sz="2400" b="1" dirty="0">
                <a:latin typeface="Arial" panose="020B0604020202020204" pitchFamily="34" charset="0"/>
              </a:rPr>
              <a:t>系统的单位抽样响应</a:t>
            </a:r>
            <a:r>
              <a:rPr lang="en-US" altLang="zh-CN" sz="2400" b="1" i="1" dirty="0">
                <a:solidFill>
                  <a:srgbClr val="0033CC"/>
                </a:solidFill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solidFill>
                  <a:srgbClr val="0033CC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0033CC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solidFill>
                  <a:srgbClr val="0033CC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是无限长</a:t>
            </a:r>
            <a:r>
              <a:rPr lang="zh-CN" altLang="en-US" sz="2400" b="1" dirty="0">
                <a:latin typeface="Arial" panose="020B0604020202020204" pitchFamily="34" charset="0"/>
              </a:rPr>
              <a:t>的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4453" name="TextBox 4"/>
          <p:cNvSpPr txBox="1"/>
          <p:nvPr/>
        </p:nvSpPr>
        <p:spPr>
          <a:xfrm>
            <a:off x="1071563" y="2640013"/>
            <a:ext cx="7065962" cy="1754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2.  </a:t>
            </a:r>
            <a:r>
              <a:rPr lang="zh-CN" altLang="en-US" sz="2400" b="1" dirty="0">
                <a:latin typeface="Arial" panose="020B0604020202020204" pitchFamily="34" charset="0"/>
              </a:rPr>
              <a:t>系统函数中必须至少有某一个</a:t>
            </a:r>
            <a:r>
              <a:rPr lang="en-US" altLang="zh-CN" sz="2400" b="1" dirty="0">
                <a:latin typeface="Arial" panose="020B0604020202020204" pitchFamily="34" charset="0"/>
              </a:rPr>
              <a:t>                 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     也就是说结构上一定存在着输出到输入的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反馈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     或者说一定是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递归型结构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4454" name="TextBox 6"/>
          <p:cNvSpPr txBox="1"/>
          <p:nvPr/>
        </p:nvSpPr>
        <p:spPr>
          <a:xfrm>
            <a:off x="1071563" y="4425950"/>
            <a:ext cx="6899275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3.  </a:t>
            </a:r>
            <a:r>
              <a:rPr lang="zh-CN" altLang="en-US" sz="2400" b="1" dirty="0">
                <a:latin typeface="Arial" panose="020B0604020202020204" pitchFamily="34" charset="0"/>
              </a:rPr>
              <a:t>系统函数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在有限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zh-CN" altLang="en-US" sz="2400" b="1" dirty="0">
                <a:latin typeface="Arial" panose="020B0604020202020204" pitchFamily="34" charset="0"/>
              </a:rPr>
              <a:t>平面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</a:rPr>
              <a:t>上一定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有极点存在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104455" name="对象 7"/>
          <p:cNvGraphicFramePr>
            <a:graphicFrameLocks noChangeAspect="1"/>
          </p:cNvGraphicFramePr>
          <p:nvPr/>
        </p:nvGraphicFramePr>
        <p:xfrm>
          <a:off x="5715000" y="2714625"/>
          <a:ext cx="9239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1" imgW="419100" imgH="228600" progId="Equation.DSMT4">
                  <p:embed/>
                </p:oleObj>
              </mc:Choice>
              <mc:Fallback>
                <p:oleObj name="" r:id="rId1" imgW="419100" imgH="228600" progId="Equation.DSMT4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15000" y="2714625"/>
                        <a:ext cx="9239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TextBox 1"/>
          <p:cNvSpPr txBox="1"/>
          <p:nvPr/>
        </p:nvSpPr>
        <p:spPr>
          <a:xfrm>
            <a:off x="428625" y="571500"/>
            <a:ext cx="7691438" cy="2308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zh-CN" altLang="en-US" sz="2400" b="1" dirty="0">
                <a:latin typeface="Arial" panose="020B0604020202020204" pitchFamily="34" charset="0"/>
              </a:rPr>
              <a:t>若只有</a:t>
            </a:r>
            <a:r>
              <a:rPr lang="en-US" altLang="zh-CN" sz="2400" b="1" i="1" dirty="0">
                <a:latin typeface="Arial" panose="020B0604020202020204" pitchFamily="34" charset="0"/>
              </a:rPr>
              <a:t>b</a:t>
            </a:r>
            <a:r>
              <a:rPr lang="en-US" altLang="zh-CN" sz="2400" b="1" baseline="-25000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不为零，其他                                              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</a:t>
            </a:r>
            <a:r>
              <a:rPr lang="zh-CN" altLang="en-US" sz="2400" b="1" dirty="0">
                <a:latin typeface="Arial" panose="020B0604020202020204" pitchFamily="34" charset="0"/>
              </a:rPr>
              <a:t>则称为全极点型的</a:t>
            </a:r>
            <a:r>
              <a:rPr lang="en-US" altLang="zh-CN" sz="2400" b="1" dirty="0">
                <a:latin typeface="Arial" panose="020B0604020202020204" pitchFamily="34" charset="0"/>
              </a:rPr>
              <a:t> IIR</a:t>
            </a:r>
            <a:r>
              <a:rPr lang="zh-CN" altLang="en-US" sz="2400" b="1" dirty="0">
                <a:latin typeface="Arial" panose="020B0604020202020204" pitchFamily="34" charset="0"/>
              </a:rPr>
              <a:t>滤波器或称自回归</a:t>
            </a:r>
            <a:r>
              <a:rPr lang="en-US" altLang="zh-CN" sz="2400" b="1" dirty="0">
                <a:latin typeface="Arial" panose="020B0604020202020204" pitchFamily="34" charset="0"/>
              </a:rPr>
              <a:t>(AR)</a:t>
            </a:r>
            <a:r>
              <a:rPr lang="zh-CN" altLang="en-US" sz="2400" b="1" dirty="0">
                <a:latin typeface="Arial" panose="020B0604020202020204" pitchFamily="34" charset="0"/>
              </a:rPr>
              <a:t>系统；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</a:t>
            </a:r>
            <a:r>
              <a:rPr lang="zh-CN" altLang="en-US" sz="2400" b="1" dirty="0">
                <a:latin typeface="Arial" panose="020B0604020202020204" pitchFamily="34" charset="0"/>
              </a:rPr>
              <a:t>只要有两个或多个</a:t>
            </a:r>
            <a:r>
              <a:rPr lang="en-US" altLang="zh-CN" sz="2400" b="1" i="1" dirty="0">
                <a:latin typeface="Arial" panose="020B0604020202020204" pitchFamily="34" charset="0"/>
              </a:rPr>
              <a:t>b</a:t>
            </a:r>
            <a:r>
              <a:rPr lang="en-US" altLang="zh-CN" sz="2400" b="1" i="1" baseline="-25000" dirty="0">
                <a:latin typeface="Arial" panose="020B0604020202020204" pitchFamily="34" charset="0"/>
              </a:rPr>
              <a:t>k</a:t>
            </a:r>
            <a:r>
              <a:rPr lang="en-US" altLang="zh-CN" sz="2400" b="1" dirty="0">
                <a:latin typeface="Arial" panose="020B0604020202020204" pitchFamily="34" charset="0"/>
              </a:rPr>
              <a:t>≠0,</a:t>
            </a:r>
            <a:r>
              <a:rPr lang="zh-CN" altLang="en-US" sz="2400" b="1" dirty="0">
                <a:latin typeface="Arial" panose="020B0604020202020204" pitchFamily="34" charset="0"/>
              </a:rPr>
              <a:t>则称为零</a:t>
            </a:r>
            <a:r>
              <a:rPr lang="en-US" altLang="zh-CN" sz="2400" b="1" dirty="0">
                <a:latin typeface="Arial" panose="020B0604020202020204" pitchFamily="34" charset="0"/>
              </a:rPr>
              <a:t>-</a:t>
            </a:r>
            <a:r>
              <a:rPr lang="zh-CN" altLang="en-US" sz="2400" b="1" dirty="0">
                <a:latin typeface="Arial" panose="020B0604020202020204" pitchFamily="34" charset="0"/>
              </a:rPr>
              <a:t>极点型的</a:t>
            </a:r>
            <a:r>
              <a:rPr lang="en-US" altLang="zh-CN" sz="2400" b="1" dirty="0">
                <a:latin typeface="Arial" panose="020B0604020202020204" pitchFamily="34" charset="0"/>
              </a:rPr>
              <a:t>IIR</a:t>
            </a:r>
            <a:r>
              <a:rPr lang="zh-CN" altLang="en-US" sz="2400" b="1" dirty="0">
                <a:latin typeface="Arial" panose="020B0604020202020204" pitchFamily="34" charset="0"/>
              </a:rPr>
              <a:t>滤波器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</a:t>
            </a:r>
            <a:r>
              <a:rPr lang="zh-CN" altLang="en-US" sz="2400" b="1" dirty="0">
                <a:latin typeface="Arial" panose="020B0604020202020204" pitchFamily="34" charset="0"/>
              </a:rPr>
              <a:t>或称自回归滑动平均</a:t>
            </a:r>
            <a:r>
              <a:rPr lang="en-US" altLang="zh-CN" sz="2400" b="1" dirty="0">
                <a:latin typeface="Arial" panose="020B0604020202020204" pitchFamily="34" charset="0"/>
              </a:rPr>
              <a:t>(ARMA)</a:t>
            </a:r>
            <a:r>
              <a:rPr lang="zh-CN" altLang="en-US" sz="2400" b="1" dirty="0">
                <a:latin typeface="Arial" panose="020B0604020202020204" pitchFamily="34" charset="0"/>
              </a:rPr>
              <a:t>系统。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5475" name="TextBox 3"/>
          <p:cNvSpPr txBox="1"/>
          <p:nvPr/>
        </p:nvSpPr>
        <p:spPr>
          <a:xfrm>
            <a:off x="500063" y="3214688"/>
            <a:ext cx="7551737" cy="1130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>
              <a:lnSpc>
                <a:spcPct val="150000"/>
              </a:lnSpc>
              <a:buAutoNum type="arabicPeriod" startAt="5"/>
            </a:pPr>
            <a:r>
              <a:rPr lang="en-US" altLang="zh-CN" sz="2400" b="1" dirty="0">
                <a:latin typeface="Arial" panose="020B0604020202020204" pitchFamily="34" charset="0"/>
              </a:rPr>
              <a:t>IIR</a:t>
            </a:r>
            <a:r>
              <a:rPr lang="zh-CN" altLang="en-US" sz="2400" b="1" dirty="0">
                <a:latin typeface="Arial" panose="020B0604020202020204" pitchFamily="34" charset="0"/>
              </a:rPr>
              <a:t>滤波器同一个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可以有直接</a:t>
            </a:r>
            <a:r>
              <a:rPr lang="en-US" altLang="zh-CN" sz="2400" b="1" dirty="0">
                <a:latin typeface="Arial" panose="020B0604020202020204" pitchFamily="34" charset="0"/>
              </a:rPr>
              <a:t>Ⅰ</a:t>
            </a:r>
            <a:r>
              <a:rPr lang="zh-CN" altLang="en-US" sz="2400" b="1" dirty="0">
                <a:latin typeface="Arial" panose="020B0604020202020204" pitchFamily="34" charset="0"/>
              </a:rPr>
              <a:t>型、直接</a:t>
            </a:r>
            <a:r>
              <a:rPr lang="en-US" altLang="zh-CN" sz="2400" b="1" dirty="0">
                <a:latin typeface="Arial" panose="020B0604020202020204" pitchFamily="34" charset="0"/>
              </a:rPr>
              <a:t>Ⅱ</a:t>
            </a:r>
            <a:r>
              <a:rPr lang="zh-CN" altLang="en-US" sz="2400" b="1" dirty="0">
                <a:latin typeface="Arial" panose="020B0604020202020204" pitchFamily="34" charset="0"/>
              </a:rPr>
              <a:t>型、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</a:t>
            </a:r>
            <a:r>
              <a:rPr lang="zh-CN" altLang="en-US" sz="2400" b="1" dirty="0">
                <a:latin typeface="Arial" panose="020B0604020202020204" pitchFamily="34" charset="0"/>
              </a:rPr>
              <a:t>级联型、并联型结构和格型结构。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5476" name="TextBox 4"/>
          <p:cNvSpPr txBox="1"/>
          <p:nvPr/>
        </p:nvSpPr>
        <p:spPr>
          <a:xfrm>
            <a:off x="571500" y="4786313"/>
            <a:ext cx="8572500" cy="576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6.  </a:t>
            </a:r>
            <a:r>
              <a:rPr lang="zh-CN" altLang="en-US" sz="2400" b="1" dirty="0">
                <a:latin typeface="Arial" panose="020B0604020202020204" pitchFamily="34" charset="0"/>
              </a:rPr>
              <a:t>单位冲激响应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为实数，系统函数中所有系数都应为实数。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105477" name="Object 2"/>
          <p:cNvGraphicFramePr>
            <a:graphicFrameLocks noChangeAspect="1"/>
          </p:cNvGraphicFramePr>
          <p:nvPr/>
        </p:nvGraphicFramePr>
        <p:xfrm>
          <a:off x="4105275" y="711200"/>
          <a:ext cx="8953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" imgW="406400" imgH="228600" progId="Equation.DSMT4">
                  <p:embed/>
                </p:oleObj>
              </mc:Choice>
              <mc:Fallback>
                <p:oleObj name="" r:id="rId1" imgW="406400" imgH="228600" progId="Equation.DSMT4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05275" y="711200"/>
                        <a:ext cx="89535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8" name="Object 3"/>
          <p:cNvGraphicFramePr>
            <a:graphicFrameLocks noChangeAspect="1"/>
          </p:cNvGraphicFramePr>
          <p:nvPr/>
        </p:nvGraphicFramePr>
        <p:xfrm>
          <a:off x="5072063" y="642938"/>
          <a:ext cx="20431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3" imgW="926465" imgH="254000" progId="Equation.DSMT4">
                  <p:embed/>
                </p:oleObj>
              </mc:Choice>
              <mc:Fallback>
                <p:oleObj name="" r:id="rId3" imgW="926465" imgH="254000" progId="Equation.DSMT4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2063" y="642938"/>
                        <a:ext cx="2043112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TextBox 1"/>
          <p:cNvSpPr txBox="1"/>
          <p:nvPr/>
        </p:nvSpPr>
        <p:spPr>
          <a:xfrm>
            <a:off x="428625" y="285750"/>
            <a:ext cx="235108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二、直接型结构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06499" name="TextBox 2"/>
          <p:cNvSpPr txBox="1"/>
          <p:nvPr/>
        </p:nvSpPr>
        <p:spPr>
          <a:xfrm>
            <a:off x="1147763" y="1643063"/>
            <a:ext cx="6996112" cy="1200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根据系统函数表达式，先实现各</a:t>
            </a:r>
            <a:r>
              <a:rPr lang="en-US" altLang="zh-CN" sz="2400" b="1" i="1" dirty="0">
                <a:latin typeface="Arial" panose="020B0604020202020204" pitchFamily="34" charset="0"/>
              </a:rPr>
              <a:t>x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n-k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的加权和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k</a:t>
            </a:r>
            <a:r>
              <a:rPr lang="en-US" altLang="zh-CN" sz="2400" b="1" dirty="0">
                <a:latin typeface="Arial" panose="020B0604020202020204" pitchFamily="34" charset="0"/>
              </a:rPr>
              <a:t>=0,1,…,</a:t>
            </a:r>
            <a:r>
              <a:rPr lang="en-US" altLang="zh-CN" sz="2400" b="1" i="1" dirty="0">
                <a:latin typeface="Arial" panose="020B0604020202020204" pitchFamily="34" charset="0"/>
              </a:rPr>
              <a:t>M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，再实现各</a:t>
            </a:r>
            <a:r>
              <a:rPr lang="en-US" altLang="zh-CN" sz="2400" b="1" i="1" dirty="0">
                <a:latin typeface="Arial" panose="020B0604020202020204" pitchFamily="34" charset="0"/>
              </a:rPr>
              <a:t>y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n-k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的加权和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k</a:t>
            </a:r>
            <a:r>
              <a:rPr lang="en-US" altLang="zh-CN" sz="2400" b="1" dirty="0">
                <a:latin typeface="Arial" panose="020B0604020202020204" pitchFamily="34" charset="0"/>
              </a:rPr>
              <a:t>=1,2,…,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6500" name="TextBox 3"/>
          <p:cNvSpPr txBox="1"/>
          <p:nvPr/>
        </p:nvSpPr>
        <p:spPr>
          <a:xfrm>
            <a:off x="714375" y="928688"/>
            <a:ext cx="1806575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1.  </a:t>
            </a:r>
            <a:r>
              <a:rPr lang="zh-CN" altLang="en-US" sz="2400" b="1" dirty="0">
                <a:latin typeface="Arial" panose="020B0604020202020204" pitchFamily="34" charset="0"/>
              </a:rPr>
              <a:t>直接</a:t>
            </a:r>
            <a:r>
              <a:rPr lang="en-US" altLang="zh-CN" sz="2400" b="1" dirty="0">
                <a:latin typeface="Arial" panose="020B0604020202020204" pitchFamily="34" charset="0"/>
              </a:rPr>
              <a:t>Ⅰ</a:t>
            </a:r>
            <a:r>
              <a:rPr lang="zh-CN" altLang="en-US" sz="2400" b="1" dirty="0">
                <a:latin typeface="Arial" panose="020B0604020202020204" pitchFamily="34" charset="0"/>
              </a:rPr>
              <a:t>型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6501" name="TextBox 6"/>
          <p:cNvSpPr txBox="1"/>
          <p:nvPr/>
        </p:nvSpPr>
        <p:spPr>
          <a:xfrm>
            <a:off x="1071563" y="3941763"/>
            <a:ext cx="6062662" cy="1130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将两个延时链子系统的次序加以交换，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并将有相同输出的中间两延时链加以合并。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6502" name="TextBox 7"/>
          <p:cNvSpPr txBox="1"/>
          <p:nvPr/>
        </p:nvSpPr>
        <p:spPr>
          <a:xfrm>
            <a:off x="714375" y="3286125"/>
            <a:ext cx="3970338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33CC"/>
                </a:solidFill>
                <a:latin typeface="Arial" panose="020B0604020202020204" pitchFamily="34" charset="0"/>
              </a:rPr>
              <a:t>2.  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直接</a:t>
            </a:r>
            <a:r>
              <a:rPr lang="en-US" altLang="zh-CN" sz="2400" dirty="0">
                <a:solidFill>
                  <a:srgbClr val="0033CC"/>
                </a:solidFill>
                <a:latin typeface="Arial" panose="020B0604020202020204" pitchFamily="34" charset="0"/>
              </a:rPr>
              <a:t>Ⅱ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型（典范型结构）</a:t>
            </a:r>
            <a:endParaRPr lang="zh-CN" altLang="en-US" sz="2400" b="1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522" name="Picture 2" descr="E:\DSP程佩青课件\064937-01 数字信号处理教程（第四版）(经典版) 40571-9\CTP\TU\5t2a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25" y="571500"/>
            <a:ext cx="8245475" cy="3786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TextBox 1"/>
          <p:cNvSpPr txBox="1"/>
          <p:nvPr/>
        </p:nvSpPr>
        <p:spPr>
          <a:xfrm>
            <a:off x="428625" y="357188"/>
            <a:ext cx="2338388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三、级联型结构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108547" name="Picture 2" descr="image0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25" y="3000375"/>
            <a:ext cx="5768975" cy="50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8548" name="TextBox 4"/>
          <p:cNvSpPr txBox="1"/>
          <p:nvPr/>
        </p:nvSpPr>
        <p:spPr>
          <a:xfrm>
            <a:off x="1000125" y="1071563"/>
            <a:ext cx="7570788" cy="16843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对系统函数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的分子多项式、分母多项式分别进行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因式分解，将实零点、实极点分别构成一阶因式，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而将共轭对极点或共轭对零点组成实系数的二阶因式：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9570" name="Picture 2" descr="E:\DSP程佩青课件\064937-01 数字信号处理教程（第四版）(经典版) 40571-9\CTP\TU\5t3a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1135063"/>
            <a:ext cx="8143875" cy="3151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TextBox 1"/>
          <p:cNvSpPr txBox="1"/>
          <p:nvPr/>
        </p:nvSpPr>
        <p:spPr>
          <a:xfrm>
            <a:off x="571500" y="357188"/>
            <a:ext cx="2338388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Arial" panose="020B0604020202020204" pitchFamily="34" charset="0"/>
              </a:rPr>
              <a:t>四、并联型结构</a:t>
            </a:r>
            <a:endParaRPr lang="zh-CN" altLang="en-US" sz="2400" b="1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  <p:pic>
        <p:nvPicPr>
          <p:cNvPr id="110595" name="Picture 2" descr="image0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1214438"/>
            <a:ext cx="8672512" cy="1000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596" name="TextBox 3"/>
          <p:cNvSpPr txBox="1"/>
          <p:nvPr/>
        </p:nvSpPr>
        <p:spPr>
          <a:xfrm>
            <a:off x="1157288" y="2500313"/>
            <a:ext cx="7131050" cy="1200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当</a:t>
            </a:r>
            <a:r>
              <a:rPr lang="en-US" altLang="zh-CN" sz="2400" b="1" i="1" dirty="0">
                <a:latin typeface="Arial" panose="020B0604020202020204" pitchFamily="34" charset="0"/>
              </a:rPr>
              <a:t>M</a:t>
            </a:r>
            <a:r>
              <a:rPr lang="en-US" altLang="zh-CN" sz="2400" b="1" dirty="0">
                <a:latin typeface="Arial" panose="020B0604020202020204" pitchFamily="34" charset="0"/>
              </a:rPr>
              <a:t>&lt;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时，则只存在第一个求和式，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                            </a:t>
            </a:r>
            <a:r>
              <a:rPr lang="zh-CN" altLang="en-US" sz="2400" b="1" dirty="0">
                <a:latin typeface="Arial" panose="020B0604020202020204" pitchFamily="34" charset="0"/>
              </a:rPr>
              <a:t>第二个求和式的多项式为零。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10597" name="TextBox 4"/>
          <p:cNvSpPr txBox="1"/>
          <p:nvPr/>
        </p:nvSpPr>
        <p:spPr>
          <a:xfrm>
            <a:off x="1219200" y="3929063"/>
            <a:ext cx="3330575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当</a:t>
            </a:r>
            <a:r>
              <a:rPr lang="en-US" altLang="zh-CN" sz="2400" b="1" i="1" dirty="0">
                <a:latin typeface="Arial" panose="020B0604020202020204" pitchFamily="34" charset="0"/>
              </a:rPr>
              <a:t>M</a:t>
            </a:r>
            <a:r>
              <a:rPr lang="en-US" altLang="zh-CN" sz="2400" b="1" dirty="0">
                <a:latin typeface="Arial" panose="020B0604020202020204" pitchFamily="34" charset="0"/>
              </a:rPr>
              <a:t>=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时，并联结构：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10598" name="Picture 2" descr="E:\DSP程佩青课件\064937-01 数字信号处理教程（第四版）(经典版) 40571-9\CTP\TU\5t4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29063"/>
            <a:ext cx="3817938" cy="260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TextBox 1"/>
          <p:cNvSpPr txBox="1"/>
          <p:nvPr/>
        </p:nvSpPr>
        <p:spPr>
          <a:xfrm>
            <a:off x="642938" y="500063"/>
            <a:ext cx="6648450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并联型结构的一阶基本节、二阶基本节的结构图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11619" name="Picture 2" descr="E:\DSP程佩青课件\064937-01 数字信号处理教程（第四版）(经典版) 40571-9\CTP\TU\5t5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938" y="1785938"/>
            <a:ext cx="4357687" cy="4237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2938" y="428625"/>
            <a:ext cx="2351088" cy="646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五、转置型结构</a:t>
            </a:r>
            <a:endParaRPr kumimoji="0" lang="zh-CN" altLang="en-US" sz="2400" b="1" kern="1200" cap="none" spc="0" normalizeH="0" baseline="0" noProof="0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3" name="TextBox 2"/>
          <p:cNvSpPr txBox="1"/>
          <p:nvPr/>
        </p:nvSpPr>
        <p:spPr>
          <a:xfrm>
            <a:off x="1204913" y="1143000"/>
            <a:ext cx="1724025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转置定理：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12644" name="TextBox 3"/>
          <p:cNvSpPr txBox="1"/>
          <p:nvPr/>
        </p:nvSpPr>
        <p:spPr>
          <a:xfrm>
            <a:off x="1214438" y="1857375"/>
            <a:ext cx="7570787" cy="23082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对于线性时不变系统，将其流图的所有支路方向翻转，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但支路的增益不变，将输入与输出交换位置，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则所形成的新网络即为原网络的转置结构，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新结构的系统函数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与原系统的是一样的。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TextBox 2"/>
          <p:cNvSpPr txBox="1"/>
          <p:nvPr/>
        </p:nvSpPr>
        <p:spPr>
          <a:xfrm>
            <a:off x="642938" y="428625"/>
            <a:ext cx="2646362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典范型结构的转置</a:t>
            </a:r>
            <a:endParaRPr lang="zh-CN" altLang="en-US" sz="2400" b="1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pic>
        <p:nvPicPr>
          <p:cNvPr id="113667" name="Picture 2" descr="E:\DSP程佩青课件\064937-01 数字信号处理教程（第四版）(经典版) 40571-9\CTP\TU\5t6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63" y="1285875"/>
            <a:ext cx="4364037" cy="3929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68" name="Picture 3" descr="E:\DSP程佩青课件\064937-01 数字信号处理教程（第四版）(经典版) 40571-9\CTP\TU\5t7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350" y="2254250"/>
            <a:ext cx="4446588" cy="4032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TextBox 1"/>
          <p:cNvSpPr txBox="1"/>
          <p:nvPr/>
        </p:nvSpPr>
        <p:spPr>
          <a:xfrm>
            <a:off x="428625" y="357188"/>
            <a:ext cx="3190875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一、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FIR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滤波器的特点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14691" name="TextBox 2"/>
          <p:cNvSpPr txBox="1"/>
          <p:nvPr/>
        </p:nvSpPr>
        <p:spPr>
          <a:xfrm>
            <a:off x="571500" y="1143000"/>
            <a:ext cx="6842125" cy="1200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） 系统的单位抽样响应</a:t>
            </a:r>
            <a:r>
              <a:rPr lang="en-US" altLang="zh-CN" sz="2400" b="1" i="1" dirty="0">
                <a:solidFill>
                  <a:srgbClr val="0033CC"/>
                </a:solidFill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solidFill>
                  <a:srgbClr val="0033CC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solidFill>
                  <a:srgbClr val="0033CC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solidFill>
                  <a:srgbClr val="0033CC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是有限长的</a:t>
            </a:r>
            <a:r>
              <a:rPr lang="zh-CN" altLang="en-US" sz="2400" b="1" dirty="0">
                <a:latin typeface="Arial" panose="020B0604020202020204" pitchFamily="34" charset="0"/>
              </a:rPr>
              <a:t>，即、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</a:rPr>
              <a:t>           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在有限个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值处不为零。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14692" name="TextBox 3"/>
          <p:cNvSpPr txBox="1"/>
          <p:nvPr/>
        </p:nvSpPr>
        <p:spPr>
          <a:xfrm>
            <a:off x="500063" y="2500313"/>
            <a:ext cx="8447087" cy="1754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 全部                             </a:t>
            </a:r>
            <a:r>
              <a:rPr lang="en-US" altLang="zh-CN" sz="2400" b="1" dirty="0">
                <a:latin typeface="Arial" panose="020B0604020202020204" pitchFamily="34" charset="0"/>
              </a:rPr>
              <a:t>          </a:t>
            </a:r>
            <a:r>
              <a:rPr lang="zh-CN" altLang="en-US" sz="2400" b="1" dirty="0">
                <a:latin typeface="Arial" panose="020B0604020202020204" pitchFamily="34" charset="0"/>
              </a:rPr>
              <a:t>，即结构上没有输出到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           输入的反馈，即没有递归结构，只有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非递归结构</a:t>
            </a:r>
            <a:r>
              <a:rPr lang="zh-CN" altLang="en-US" sz="2400" b="1" dirty="0">
                <a:latin typeface="Arial" panose="020B0604020202020204" pitchFamily="34" charset="0"/>
              </a:rPr>
              <a:t>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</a:t>
            </a:r>
            <a:r>
              <a:rPr lang="zh-CN" altLang="en-US" sz="2400" b="1" dirty="0">
                <a:latin typeface="Arial" panose="020B0604020202020204" pitchFamily="34" charset="0"/>
              </a:rPr>
              <a:t>但在</a:t>
            </a:r>
            <a:r>
              <a:rPr lang="en-US" altLang="zh-CN" sz="2400" b="1" dirty="0">
                <a:latin typeface="Arial" panose="020B0604020202020204" pitchFamily="34" charset="0"/>
              </a:rPr>
              <a:t>FIR</a:t>
            </a:r>
            <a:r>
              <a:rPr lang="zh-CN" altLang="en-US" sz="2400" b="1" dirty="0">
                <a:latin typeface="Arial" panose="020B0604020202020204" pitchFamily="34" charset="0"/>
              </a:rPr>
              <a:t>滤波器的频率抽样结构中，也包含有递归结构。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14693" name="TextBox 5"/>
          <p:cNvSpPr txBox="1"/>
          <p:nvPr/>
        </p:nvSpPr>
        <p:spPr>
          <a:xfrm>
            <a:off x="571500" y="4429125"/>
            <a:ext cx="7958138" cy="1754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</a:rPr>
              <a:t>） 由于全部</a:t>
            </a:r>
            <a:r>
              <a:rPr lang="en-US" altLang="zh-CN" sz="2400" b="1" dirty="0">
                <a:latin typeface="Arial" panose="020B0604020202020204" pitchFamily="34" charset="0"/>
              </a:rPr>
              <a:t>              </a:t>
            </a:r>
            <a:r>
              <a:rPr lang="zh-CN" altLang="en-US" sz="2400" b="1" dirty="0">
                <a:latin typeface="Arial" panose="020B0604020202020204" pitchFamily="34" charset="0"/>
              </a:rPr>
              <a:t>，故系统函数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在</a:t>
            </a:r>
            <a:r>
              <a:rPr lang="en-US" altLang="zh-CN" sz="2400" b="1" dirty="0">
                <a:latin typeface="Arial" panose="020B0604020202020204" pitchFamily="34" charset="0"/>
              </a:rPr>
              <a:t>0&lt;</a:t>
            </a:r>
            <a:r>
              <a:rPr lang="zh-CN" altLang="en-US" sz="2400" b="1" dirty="0">
                <a:latin typeface="Arial" panose="020B0604020202020204" pitchFamily="34" charset="0"/>
              </a:rPr>
              <a:t>｜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zh-CN" altLang="en-US" sz="2400" b="1" dirty="0">
                <a:latin typeface="Arial" panose="020B0604020202020204" pitchFamily="34" charset="0"/>
              </a:rPr>
              <a:t>｜</a:t>
            </a:r>
            <a:r>
              <a:rPr lang="en-US" altLang="zh-CN" sz="2400" b="1" dirty="0">
                <a:latin typeface="Arial" panose="020B0604020202020204" pitchFamily="34" charset="0"/>
              </a:rPr>
              <a:t>&lt;∞</a:t>
            </a:r>
            <a:r>
              <a:rPr lang="zh-CN" altLang="en-US" sz="2400" b="1" dirty="0">
                <a:latin typeface="Arial" panose="020B0604020202020204" pitchFamily="34" charset="0"/>
              </a:rPr>
              <a:t>的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 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有限</a:t>
            </a:r>
            <a:r>
              <a:rPr lang="en-US" altLang="zh-CN" sz="2400" b="1" i="1" dirty="0">
                <a:solidFill>
                  <a:srgbClr val="0033CC"/>
                </a:solidFill>
                <a:latin typeface="Arial" panose="020B0604020202020204" pitchFamily="34" charset="0"/>
              </a:rPr>
              <a:t>z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平面中只有零点</a:t>
            </a:r>
            <a:r>
              <a:rPr lang="zh-CN" altLang="en-US" sz="2400" b="1" dirty="0">
                <a:latin typeface="Arial" panose="020B0604020202020204" pitchFamily="34" charset="0"/>
              </a:rPr>
              <a:t>，故又称为全零点系统，或称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            </a:t>
            </a:r>
            <a:r>
              <a:rPr lang="zh-CN" altLang="en-US" sz="2400" b="1" dirty="0">
                <a:latin typeface="Arial" panose="020B0604020202020204" pitchFamily="34" charset="0"/>
              </a:rPr>
              <a:t>滑动平均系统，系统的全部极点都在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latin typeface="Arial" panose="020B0604020202020204" pitchFamily="34" charset="0"/>
              </a:rPr>
              <a:t>=0</a:t>
            </a:r>
            <a:r>
              <a:rPr lang="zh-CN" altLang="en-US" sz="2400" b="1" dirty="0">
                <a:latin typeface="Arial" panose="020B0604020202020204" pitchFamily="34" charset="0"/>
              </a:rPr>
              <a:t>处。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graphicFrame>
        <p:nvGraphicFramePr>
          <p:cNvPr id="114694" name="Object 2"/>
          <p:cNvGraphicFramePr>
            <a:graphicFrameLocks noChangeAspect="1"/>
          </p:cNvGraphicFramePr>
          <p:nvPr/>
        </p:nvGraphicFramePr>
        <p:xfrm>
          <a:off x="2071688" y="2571750"/>
          <a:ext cx="9239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1" imgW="419100" imgH="228600" progId="Equation.DSMT4">
                  <p:embed/>
                </p:oleObj>
              </mc:Choice>
              <mc:Fallback>
                <p:oleObj name="" r:id="rId1" imgW="419100" imgH="228600" progId="Equation.DSMT4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71688" y="2571750"/>
                        <a:ext cx="9239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3"/>
          <p:cNvGraphicFramePr>
            <a:graphicFrameLocks noChangeAspect="1"/>
          </p:cNvGraphicFramePr>
          <p:nvPr/>
        </p:nvGraphicFramePr>
        <p:xfrm>
          <a:off x="3013075" y="2584450"/>
          <a:ext cx="19875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3" imgW="901065" imgH="254000" progId="Equation.DSMT4">
                  <p:embed/>
                </p:oleObj>
              </mc:Choice>
              <mc:Fallback>
                <p:oleObj name="" r:id="rId3" imgW="901065" imgH="254000" progId="Equation.DSMT4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3075" y="2584450"/>
                        <a:ext cx="198755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6" name="Object 4"/>
          <p:cNvGraphicFramePr>
            <a:graphicFrameLocks noChangeAspect="1"/>
          </p:cNvGraphicFramePr>
          <p:nvPr/>
        </p:nvGraphicFramePr>
        <p:xfrm>
          <a:off x="2786063" y="4500563"/>
          <a:ext cx="9239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5" imgW="419100" imgH="228600" progId="Equation.DSMT4">
                  <p:embed/>
                </p:oleObj>
              </mc:Choice>
              <mc:Fallback>
                <p:oleObj name="" r:id="rId5" imgW="419100" imgH="228600" progId="Equation.DSMT4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6063" y="4500563"/>
                        <a:ext cx="923925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TextBox 1"/>
          <p:cNvSpPr txBox="1"/>
          <p:nvPr/>
        </p:nvSpPr>
        <p:spPr>
          <a:xfrm>
            <a:off x="214313" y="500063"/>
            <a:ext cx="8448675" cy="22367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） 同一个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，可以有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直接型</a:t>
            </a:r>
            <a:r>
              <a:rPr lang="zh-CN" altLang="en-US" sz="2400" b="1" dirty="0">
                <a:latin typeface="Arial" panose="020B0604020202020204" pitchFamily="34" charset="0"/>
              </a:rPr>
              <a:t>（横截型、卷积型）结构、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级联型</a:t>
            </a:r>
            <a:r>
              <a:rPr lang="zh-CN" altLang="en-US" sz="2400" b="1" dirty="0">
                <a:latin typeface="Arial" panose="020B0604020202020204" pitchFamily="34" charset="0"/>
              </a:rPr>
              <a:t>结构、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频率抽样型</a:t>
            </a:r>
            <a:r>
              <a:rPr lang="zh-CN" altLang="en-US" sz="2400" b="1" dirty="0">
                <a:latin typeface="Arial" panose="020B0604020202020204" pitchFamily="34" charset="0"/>
              </a:rPr>
              <a:t>结构、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线性相位型</a:t>
            </a:r>
            <a:r>
              <a:rPr lang="zh-CN" altLang="en-US" sz="2400" b="1" dirty="0">
                <a:latin typeface="Arial" panose="020B0604020202020204" pitchFamily="34" charset="0"/>
              </a:rPr>
              <a:t>结构、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快速卷积型</a:t>
            </a:r>
            <a:r>
              <a:rPr lang="en-US" altLang="zh-CN" sz="2400" b="1" dirty="0">
                <a:latin typeface="Arial" panose="020B0604020202020204" pitchFamily="34" charset="0"/>
              </a:rPr>
              <a:t>(DFT</a:t>
            </a:r>
            <a:r>
              <a:rPr lang="zh-CN" altLang="en-US" sz="2400" b="1" dirty="0">
                <a:latin typeface="Arial" panose="020B0604020202020204" pitchFamily="34" charset="0"/>
              </a:rPr>
              <a:t>型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结构，还有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格型</a:t>
            </a:r>
            <a:r>
              <a:rPr lang="zh-CN" altLang="en-US" sz="2400" b="1" dirty="0">
                <a:latin typeface="Arial" panose="020B0604020202020204" pitchFamily="34" charset="0"/>
              </a:rPr>
              <a:t>结构，因为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</a:t>
            </a:r>
            <a:r>
              <a:rPr lang="zh-CN" altLang="en-US" sz="2400" b="1" dirty="0">
                <a:latin typeface="Arial" panose="020B0604020202020204" pitchFamily="34" charset="0"/>
              </a:rPr>
              <a:t>有限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zh-CN" altLang="en-US" sz="2400" b="1" dirty="0">
                <a:latin typeface="Arial" panose="020B0604020202020204" pitchFamily="34" charset="0"/>
              </a:rPr>
              <a:t>平面没有极点，故没有并联型结构。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15715" name="TextBox 2"/>
          <p:cNvSpPr txBox="1"/>
          <p:nvPr/>
        </p:nvSpPr>
        <p:spPr>
          <a:xfrm>
            <a:off x="214313" y="3071813"/>
            <a:ext cx="9107487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</a:rPr>
              <a:t>） 同</a:t>
            </a:r>
            <a:r>
              <a:rPr lang="en-US" altLang="zh-CN" sz="2400" b="1" dirty="0">
                <a:latin typeface="Arial" panose="020B0604020202020204" pitchFamily="34" charset="0"/>
              </a:rPr>
              <a:t>IIR</a:t>
            </a:r>
            <a:r>
              <a:rPr lang="zh-CN" altLang="en-US" sz="2400" b="1" dirty="0">
                <a:latin typeface="Arial" panose="020B0604020202020204" pitchFamily="34" charset="0"/>
              </a:rPr>
              <a:t>滤波器一样，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是实数时，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z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中的系数亦为实数。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15716" name="TextBox 3"/>
          <p:cNvSpPr txBox="1"/>
          <p:nvPr/>
        </p:nvSpPr>
        <p:spPr>
          <a:xfrm>
            <a:off x="239713" y="4071938"/>
            <a:ext cx="7751762" cy="1200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r>
              <a:rPr lang="zh-CN" altLang="en-US" sz="2400" b="1" dirty="0">
                <a:latin typeface="Arial" panose="020B0604020202020204" pitchFamily="34" charset="0"/>
              </a:rPr>
              <a:t>）</a:t>
            </a:r>
            <a:r>
              <a:rPr lang="en-US" altLang="zh-CN" sz="2400" b="1" dirty="0">
                <a:latin typeface="Arial" panose="020B0604020202020204" pitchFamily="34" charset="0"/>
              </a:rPr>
              <a:t> FIR</a:t>
            </a:r>
            <a:r>
              <a:rPr lang="zh-CN" altLang="en-US" sz="2400" b="1" dirty="0">
                <a:latin typeface="Arial" panose="020B0604020202020204" pitchFamily="34" charset="0"/>
              </a:rPr>
              <a:t>滤波器的最大特点是可以有严格的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线性相位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         </a:t>
            </a:r>
            <a:r>
              <a:rPr lang="zh-CN" altLang="en-US" sz="2400" b="1" dirty="0">
                <a:latin typeface="Arial" panose="020B0604020202020204" pitchFamily="34" charset="0"/>
              </a:rPr>
              <a:t>这对某些信号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zh-CN" altLang="en-US" sz="2400" b="1" dirty="0">
                <a:latin typeface="Arial" panose="020B0604020202020204" pitchFamily="34" charset="0"/>
              </a:rPr>
              <a:t>例如图像信号</a:t>
            </a:r>
            <a:r>
              <a:rPr lang="en-US" altLang="zh-CN" sz="2400" b="1" dirty="0"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</a:rPr>
              <a:t>的传输是很重要的。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TextBox 1"/>
          <p:cNvSpPr txBox="1"/>
          <p:nvPr/>
        </p:nvSpPr>
        <p:spPr>
          <a:xfrm>
            <a:off x="357188" y="285750"/>
            <a:ext cx="3267075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二、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 FIR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滤波器的结构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116739" name="TextBox 2"/>
          <p:cNvSpPr txBox="1"/>
          <p:nvPr/>
        </p:nvSpPr>
        <p:spPr>
          <a:xfrm>
            <a:off x="714375" y="1000125"/>
            <a:ext cx="4800600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33CC"/>
                </a:solidFill>
                <a:latin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直接型（横截型、卷积型）结构</a:t>
            </a:r>
            <a:endParaRPr lang="zh-CN" altLang="en-US" sz="2400" b="1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sp>
        <p:nvSpPr>
          <p:cNvPr id="116740" name="TextBox 3"/>
          <p:cNvSpPr txBox="1"/>
          <p:nvPr/>
        </p:nvSpPr>
        <p:spPr>
          <a:xfrm>
            <a:off x="1071563" y="1643063"/>
            <a:ext cx="4776787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zh-CN" altLang="en-US" sz="2400" b="1" dirty="0">
                <a:latin typeface="Arial" panose="020B0604020202020204" pitchFamily="34" charset="0"/>
              </a:rPr>
              <a:t>点长单位冲激响应</a:t>
            </a:r>
            <a:r>
              <a:rPr lang="en-US" altLang="zh-CN" sz="2400" b="1" i="1" dirty="0">
                <a:latin typeface="Arial" panose="020B0604020202020204" pitchFamily="34" charset="0"/>
              </a:rPr>
              <a:t>h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</a:rPr>
              <a:t>)(0≤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</a:rPr>
              <a:t>≤</a:t>
            </a:r>
            <a:r>
              <a:rPr lang="en-US" altLang="zh-CN" sz="2400" b="1" i="1" dirty="0">
                <a:latin typeface="Arial" panose="020B0604020202020204" pitchFamily="34" charset="0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</a:rPr>
              <a:t>-1)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16741" name="Picture 2" descr="image0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71750"/>
            <a:ext cx="6324600" cy="857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6742" name="TextBox 5"/>
          <p:cNvSpPr txBox="1"/>
          <p:nvPr/>
        </p:nvSpPr>
        <p:spPr>
          <a:xfrm>
            <a:off x="1071563" y="3571875"/>
            <a:ext cx="2041525" cy="5762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横向型结构：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16743" name="Picture 2" descr="E:\DSP程佩青课件\064937-01 数字信号处理教程（第四版）(经典版) 40571-9\CTP\TU\5t12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4500563"/>
            <a:ext cx="7359650" cy="1143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TextBox 1"/>
          <p:cNvSpPr txBox="1"/>
          <p:nvPr/>
        </p:nvSpPr>
        <p:spPr>
          <a:xfrm>
            <a:off x="704850" y="2281238"/>
            <a:ext cx="1724025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转置结构：</a:t>
            </a:r>
            <a:endParaRPr lang="zh-CN" altLang="en-US" sz="2400" b="1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pic>
        <p:nvPicPr>
          <p:cNvPr id="117763" name="Picture 2" descr="E:\DSP程佩青课件\064937-01 数字信号处理教程（第四版）(经典版) 40571-9\CTP\TU\5t12.T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571500"/>
            <a:ext cx="7359650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764" name="Picture 2" descr="E:\DSP程佩青课件\064937-01 数字信号处理教程（第四版）(经典版) 40571-9\CTP\TU\5t13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3571875"/>
            <a:ext cx="8024812" cy="928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TextBox 2"/>
          <p:cNvSpPr txBox="1"/>
          <p:nvPr/>
        </p:nvSpPr>
        <p:spPr>
          <a:xfrm>
            <a:off x="428625" y="357188"/>
            <a:ext cx="2032000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33CC"/>
                </a:solidFill>
                <a:latin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rgbClr val="0033CC"/>
                </a:solidFill>
                <a:latin typeface="Arial" panose="020B0604020202020204" pitchFamily="34" charset="0"/>
              </a:rPr>
              <a:t>级联型结构</a:t>
            </a:r>
            <a:endParaRPr lang="zh-CN" altLang="en-US" sz="2400" b="1" dirty="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sp>
        <p:nvSpPr>
          <p:cNvPr id="118787" name="TextBox 3"/>
          <p:cNvSpPr txBox="1"/>
          <p:nvPr/>
        </p:nvSpPr>
        <p:spPr>
          <a:xfrm>
            <a:off x="714375" y="1071563"/>
            <a:ext cx="7878763" cy="1130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将系统函数分解为由一阶实零点子系统与一对共轭复零点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Arial" panose="020B0604020202020204" pitchFamily="34" charset="0"/>
              </a:rPr>
              <a:t>组成的实系数二阶子系统的系统函数的乘积：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18788" name="Picture 2" descr="image0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688" y="2357438"/>
            <a:ext cx="4433887" cy="928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8789" name="TextBox 5"/>
          <p:cNvSpPr txBox="1"/>
          <p:nvPr/>
        </p:nvSpPr>
        <p:spPr>
          <a:xfrm>
            <a:off x="785813" y="3500438"/>
            <a:ext cx="4789487" cy="576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FIR</a:t>
            </a:r>
            <a:r>
              <a:rPr lang="zh-CN" altLang="en-US" sz="2400" b="1" dirty="0">
                <a:latin typeface="Arial" panose="020B0604020202020204" pitchFamily="34" charset="0"/>
              </a:rPr>
              <a:t>系统的级联结构</a:t>
            </a:r>
            <a:r>
              <a:rPr lang="en-US" altLang="zh-CN" sz="2400" b="1" dirty="0">
                <a:latin typeface="Arial" panose="020B0604020202020204" pitchFamily="34" charset="0"/>
              </a:rPr>
              <a:t>(</a:t>
            </a:r>
            <a:r>
              <a:rPr lang="en-US" altLang="zh-CN" sz="2400" b="1" i="1" dirty="0">
                <a:latin typeface="Arial" panose="020B0604020202020204" pitchFamily="34" charset="0"/>
              </a:rPr>
              <a:t>N=</a:t>
            </a:r>
            <a:r>
              <a:rPr lang="en-US" altLang="zh-CN" sz="2400" b="1" dirty="0">
                <a:latin typeface="Arial" panose="020B0604020202020204" pitchFamily="34" charset="0"/>
              </a:rPr>
              <a:t>6</a:t>
            </a:r>
            <a:r>
              <a:rPr lang="zh-CN" altLang="en-US" sz="2400" b="1" dirty="0">
                <a:latin typeface="Arial" panose="020B0604020202020204" pitchFamily="34" charset="0"/>
              </a:rPr>
              <a:t>，</a:t>
            </a:r>
            <a:r>
              <a:rPr lang="en-US" altLang="zh-CN" sz="2400" b="1" i="1" dirty="0">
                <a:latin typeface="Arial" panose="020B0604020202020204" pitchFamily="34" charset="0"/>
              </a:rPr>
              <a:t>K=</a:t>
            </a:r>
            <a:r>
              <a:rPr lang="en-US" altLang="zh-CN" sz="2400" b="1" dirty="0">
                <a:latin typeface="Arial" panose="020B0604020202020204" pitchFamily="34" charset="0"/>
              </a:rPr>
              <a:t>3)</a:t>
            </a:r>
            <a:r>
              <a:rPr lang="zh-CN" altLang="en-US" sz="2400" b="1" dirty="0">
                <a:latin typeface="Arial" panose="020B0604020202020204" pitchFamily="34" charset="0"/>
              </a:rPr>
              <a:t>：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18790" name="Picture 2" descr="E:\DSP程佩青课件\064937-01 数字信号处理教程（第四版）(经典版) 40571-9\CTP\TU\5t14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5" y="4349750"/>
            <a:ext cx="6357938" cy="1865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34" y="285728"/>
            <a:ext cx="415734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6600"/>
                </a:solidFill>
              </a:rPr>
              <a:t>3.  </a:t>
            </a:r>
            <a:r>
              <a:rPr lang="zh-CN" altLang="en-US" sz="2400" b="1" dirty="0" smtClean="0">
                <a:solidFill>
                  <a:srgbClr val="006600"/>
                </a:solidFill>
              </a:rPr>
              <a:t>线性相位</a:t>
            </a:r>
            <a:r>
              <a:rPr lang="en-US" sz="2400" b="1" dirty="0" smtClean="0">
                <a:solidFill>
                  <a:srgbClr val="006600"/>
                </a:solidFill>
              </a:rPr>
              <a:t>FIR</a:t>
            </a:r>
            <a:r>
              <a:rPr lang="zh-CN" altLang="en-US" sz="2400" b="1" dirty="0" smtClean="0">
                <a:solidFill>
                  <a:srgbClr val="006600"/>
                </a:solidFill>
              </a:rPr>
              <a:t>滤波器的结构</a:t>
            </a:r>
            <a:endParaRPr lang="zh-CN" altLang="en-US" sz="2400" b="1" dirty="0" smtClean="0">
              <a:solidFill>
                <a:srgbClr val="0066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5786" y="1071546"/>
            <a:ext cx="7830990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FIR</a:t>
            </a:r>
            <a:r>
              <a:rPr lang="zh-CN" altLang="en-US" sz="2400" b="1" dirty="0" smtClean="0"/>
              <a:t>滤波器的一大特点，是可以实现严格线性相位特性。</a:t>
            </a:r>
            <a:endParaRPr lang="zh-CN" altLang="en-US" sz="2400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85786" y="1714488"/>
            <a:ext cx="7964040" cy="1687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FIR</a:t>
            </a:r>
            <a:r>
              <a:rPr lang="zh-CN" altLang="en-US" sz="2400" b="1" dirty="0" smtClean="0"/>
              <a:t>滤波器的单位抽样响应</a:t>
            </a:r>
            <a:r>
              <a:rPr lang="en-US" sz="2400" b="1" i="1" dirty="0" smtClean="0"/>
              <a:t>h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</a:t>
            </a:r>
            <a:r>
              <a:rPr lang="zh-CN" altLang="en-US" sz="2400" b="1" dirty="0" smtClean="0"/>
              <a:t>为实数</a:t>
            </a:r>
            <a:r>
              <a:rPr lang="en-US" sz="2400" b="1" dirty="0" smtClean="0"/>
              <a:t>(0≤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≤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-1)</a:t>
            </a:r>
            <a:r>
              <a:rPr lang="zh-CN" altLang="en-US" sz="2400" b="1" dirty="0" smtClean="0"/>
              <a:t>，且满足</a:t>
            </a:r>
            <a:endParaRPr lang="en-US" altLang="zh-CN" sz="2400" b="1" dirty="0" smtClean="0"/>
          </a:p>
          <a:p>
            <a:pPr>
              <a:lnSpc>
                <a:spcPct val="150000"/>
              </a:lnSpc>
            </a:pPr>
            <a:r>
              <a:rPr lang="zh-CN" altLang="en-US" sz="2400" b="1" dirty="0" smtClean="0"/>
              <a:t>以下任一条件时，系统的频率响应的相位就是严格线性的</a:t>
            </a:r>
            <a:r>
              <a:rPr lang="en-US" sz="2400" b="1" dirty="0" smtClean="0"/>
              <a:t>:</a:t>
            </a:r>
            <a:endParaRPr lang="zh-CN" altLang="en-US" sz="2400" b="1" dirty="0" smtClean="0"/>
          </a:p>
          <a:p>
            <a:pPr>
              <a:lnSpc>
                <a:spcPct val="150000"/>
              </a:lnSpc>
            </a:pPr>
            <a:endParaRPr lang="zh-CN" altLang="en-US" sz="24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785786" y="3071810"/>
            <a:ext cx="1415772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</a:rPr>
              <a:t>偶对称：</a:t>
            </a:r>
            <a:endParaRPr lang="zh-CN" altLang="en-US" sz="2400" b="1" dirty="0" smtClean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68340" y="3714752"/>
            <a:ext cx="3563796" cy="5799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/>
              <a:t>h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 </a:t>
            </a:r>
            <a:r>
              <a:rPr lang="en-US" altLang="zh-CN" sz="2400" b="1" dirty="0" smtClean="0"/>
              <a:t>=</a:t>
            </a:r>
            <a:r>
              <a:rPr lang="en-US" altLang="zh-CN" sz="2400" b="1" i="1" dirty="0"/>
              <a:t> </a:t>
            </a:r>
            <a:r>
              <a:rPr lang="en-US" altLang="zh-CN" sz="2400" b="1" i="1" dirty="0" smtClean="0"/>
              <a:t>h</a:t>
            </a:r>
            <a:r>
              <a:rPr lang="en-US" altLang="zh-CN" sz="2400" b="1" dirty="0" smtClean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-1 </a:t>
            </a:r>
            <a:r>
              <a:rPr lang="en-US" altLang="zh-CN" sz="2400" b="1" dirty="0" smtClean="0"/>
              <a:t>-</a:t>
            </a:r>
            <a:r>
              <a:rPr lang="en-US" altLang="zh-CN" sz="2400" b="1" i="1" dirty="0" smtClean="0"/>
              <a:t>n</a:t>
            </a:r>
            <a:r>
              <a:rPr lang="en-US" altLang="zh-CN" sz="2400" b="1" dirty="0" smtClean="0"/>
              <a:t>), </a:t>
            </a:r>
            <a:r>
              <a:rPr lang="en-US" sz="2400" b="1" dirty="0" smtClean="0"/>
              <a:t>0≤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≤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-1</a:t>
            </a:r>
            <a:endParaRPr lang="zh-CN" altLang="en-US" sz="2400" b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820798" y="4500570"/>
            <a:ext cx="1422184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33CC"/>
                </a:solidFill>
              </a:rPr>
              <a:t>奇对称：</a:t>
            </a:r>
            <a:endParaRPr lang="zh-CN" altLang="en-US" sz="2400" b="1" dirty="0" smtClean="0">
              <a:solidFill>
                <a:srgbClr val="0033C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9449" y="5068685"/>
            <a:ext cx="3666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/>
              <a:t>h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 =</a:t>
            </a:r>
            <a:r>
              <a:rPr lang="en-US" altLang="zh-CN" sz="2400" b="1" i="1" dirty="0"/>
              <a:t> </a:t>
            </a:r>
            <a:r>
              <a:rPr lang="en-US" altLang="zh-CN" sz="2400" b="1" i="1" dirty="0" smtClean="0"/>
              <a:t>-h</a:t>
            </a:r>
            <a:r>
              <a:rPr lang="en-US" altLang="zh-CN" sz="2400" b="1" dirty="0" smtClean="0"/>
              <a:t>(</a:t>
            </a:r>
            <a:r>
              <a:rPr lang="en-US" altLang="zh-CN" sz="2400" b="1" i="1" dirty="0" smtClean="0"/>
              <a:t>N</a:t>
            </a:r>
            <a:r>
              <a:rPr lang="en-US" altLang="zh-CN" sz="2400" b="1" dirty="0" smtClean="0"/>
              <a:t>-1 </a:t>
            </a:r>
            <a:r>
              <a:rPr lang="en-US" altLang="zh-CN" sz="2400" b="1" dirty="0"/>
              <a:t>-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), </a:t>
            </a:r>
            <a:r>
              <a:rPr lang="en-US" sz="2400" b="1" dirty="0" smtClean="0"/>
              <a:t>0≤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≤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-1</a:t>
            </a:r>
            <a:endParaRPr lang="zh-CN" altLang="en-US" sz="2400" b="1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4857752" y="5715016"/>
            <a:ext cx="3310522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其对称中心为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=(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-1)/2</a:t>
            </a:r>
            <a:endParaRPr lang="zh-CN" altLang="en-US" sz="2400" b="1" dirty="0" smtClean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34" y="428604"/>
            <a:ext cx="1954381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</a:rPr>
              <a:t>当</a:t>
            </a:r>
            <a:r>
              <a:rPr lang="en-US" sz="2400" b="1" i="1" dirty="0" smtClean="0">
                <a:solidFill>
                  <a:srgbClr val="C00000"/>
                </a:solidFill>
              </a:rPr>
              <a:t>N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为奇数时</a:t>
            </a:r>
            <a:endParaRPr lang="zh-CN" altLang="en-US" sz="2400" b="1" dirty="0" smtClean="0">
              <a:solidFill>
                <a:srgbClr val="C00000"/>
              </a:solidFill>
            </a:endParaRPr>
          </a:p>
        </p:txBody>
      </p:sp>
      <p:pic>
        <p:nvPicPr>
          <p:cNvPr id="23554" name="Picture 2" descr="image08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42910" y="1285860"/>
            <a:ext cx="7851483" cy="928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42910" y="2424124"/>
            <a:ext cx="6506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1" dirty="0" smtClean="0"/>
              <a:t>N</a:t>
            </a:r>
            <a:r>
              <a:rPr lang="zh-CN" altLang="en-US" sz="2400" b="1" dirty="0" smtClean="0"/>
              <a:t>为奇数时线性相位</a:t>
            </a:r>
            <a:r>
              <a:rPr lang="en-US" sz="2400" b="1" dirty="0" smtClean="0"/>
              <a:t>FIR</a:t>
            </a:r>
            <a:r>
              <a:rPr lang="zh-CN" altLang="en-US" sz="2400" b="1" dirty="0" smtClean="0"/>
              <a:t>滤波器的直接型结构：</a:t>
            </a:r>
            <a:endParaRPr lang="zh-CN" altLang="en-US" sz="2400" b="1" dirty="0" smtClean="0"/>
          </a:p>
        </p:txBody>
      </p:sp>
      <p:pic>
        <p:nvPicPr>
          <p:cNvPr id="10242" name="Picture 2" descr="E:\DSP程佩青课件\064937-01 数字信号处理教程（第四版）(经典版) 40571-9\CTP\TU\5t21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6837" y="3357562"/>
            <a:ext cx="7514542" cy="25003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2910" y="428604"/>
            <a:ext cx="1954381" cy="576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0033CC"/>
                </a:solidFill>
              </a:rPr>
              <a:t>当</a:t>
            </a:r>
            <a:r>
              <a:rPr lang="en-US" sz="2400" b="1" i="1" dirty="0" smtClean="0">
                <a:solidFill>
                  <a:srgbClr val="0033CC"/>
                </a:solidFill>
              </a:rPr>
              <a:t>N</a:t>
            </a:r>
            <a:r>
              <a:rPr lang="zh-CN" altLang="en-US" sz="2400" b="1" dirty="0" smtClean="0">
                <a:solidFill>
                  <a:srgbClr val="0033CC"/>
                </a:solidFill>
              </a:rPr>
              <a:t>为偶数时</a:t>
            </a:r>
            <a:endParaRPr lang="zh-CN" altLang="en-US" sz="2400" b="1" dirty="0" smtClean="0">
              <a:solidFill>
                <a:srgbClr val="0033CC"/>
              </a:solidFill>
            </a:endParaRPr>
          </a:p>
        </p:txBody>
      </p:sp>
      <p:pic>
        <p:nvPicPr>
          <p:cNvPr id="3" name="Picture 3" descr="image08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14480" y="1214422"/>
            <a:ext cx="3873419" cy="857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8" name="Picture 2" descr="image08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68499" y="5214950"/>
            <a:ext cx="7504095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 descr="E:\DSP程佩青课件\064937-01 数字信号处理教程（第四版）(经典版) 40571-9\CTP\TU\5t22.T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2438371"/>
            <a:ext cx="6429420" cy="22381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9067</Words>
  <Application>WPS 演示</Application>
  <PresentationFormat>全屏显示(4:3)</PresentationFormat>
  <Paragraphs>922</Paragraphs>
  <Slides>118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187</vt:i4>
      </vt:variant>
      <vt:variant>
        <vt:lpstr>幻灯片标题</vt:lpstr>
      </vt:variant>
      <vt:variant>
        <vt:i4>118</vt:i4>
      </vt:variant>
    </vt:vector>
  </HeadingPairs>
  <TitlesOfParts>
    <vt:vector size="321" baseType="lpstr">
      <vt:lpstr>Arial</vt:lpstr>
      <vt:lpstr>宋体</vt:lpstr>
      <vt:lpstr>Wingdings</vt:lpstr>
      <vt:lpstr>Arial Black</vt:lpstr>
      <vt:lpstr>黑体</vt:lpstr>
      <vt:lpstr>Times New Roman</vt:lpstr>
      <vt:lpstr>华文楷体</vt:lpstr>
      <vt:lpstr>微软雅黑</vt:lpstr>
      <vt:lpstr>Arial Unicode MS</vt:lpstr>
      <vt:lpstr>Calibri</vt:lpstr>
      <vt:lpstr>Tahoma</vt:lpstr>
      <vt:lpstr>楷体_GB2312</vt:lpstr>
      <vt:lpstr>新宋体</vt:lpstr>
      <vt:lpstr>MS PGothic</vt:lpstr>
      <vt:lpstr>默认设计模板</vt:lpstr>
      <vt:lpstr>1_默认设计模板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Paint.Picture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Paint.Picture</vt:lpstr>
      <vt:lpstr>Equation.3</vt:lpstr>
      <vt:lpstr>Equation.3</vt:lpstr>
      <vt:lpstr>Paint.Picture</vt:lpstr>
      <vt:lpstr>Equation.3</vt:lpstr>
      <vt:lpstr>Equation.3</vt:lpstr>
      <vt:lpstr>Equation.3</vt:lpstr>
      <vt:lpstr>Equation.DSMT4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Paint.Picture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Equation.DSMT4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2.5　序列的Z变换</vt:lpstr>
      <vt:lpstr>一、Z变换的定义</vt:lpstr>
      <vt:lpstr>Z变换的收敛域</vt:lpstr>
      <vt:lpstr>零点与极点</vt:lpstr>
      <vt:lpstr>z变换与傅里叶变换的关系</vt:lpstr>
      <vt:lpstr>Z变换</vt:lpstr>
      <vt:lpstr>二、序列特性对收敛域的影响</vt:lpstr>
      <vt:lpstr>有限长序列</vt:lpstr>
      <vt:lpstr>有限长序列</vt:lpstr>
      <vt:lpstr>右边序列</vt:lpstr>
      <vt:lpstr>右边序列</vt:lpstr>
      <vt:lpstr>右边序列之因果序列</vt:lpstr>
      <vt:lpstr>右边序列之因果序列</vt:lpstr>
      <vt:lpstr>左边序列</vt:lpstr>
      <vt:lpstr>左边序列</vt:lpstr>
      <vt:lpstr>左边序列</vt:lpstr>
      <vt:lpstr>双边序列</vt:lpstr>
      <vt:lpstr>双边序列</vt:lpstr>
      <vt:lpstr>序列特性对收敛域的影响</vt:lpstr>
      <vt:lpstr>序列特性对收敛域的影响</vt:lpstr>
      <vt:lpstr>序列特性对收敛域的影响</vt:lpstr>
      <vt:lpstr>序列特性对收敛域的影响</vt:lpstr>
      <vt:lpstr>序列特性对收敛域的影响</vt:lpstr>
      <vt:lpstr>三、逆z变换</vt:lpstr>
      <vt:lpstr>1、留数法</vt:lpstr>
      <vt:lpstr>1、留数法</vt:lpstr>
      <vt:lpstr>1、留数法</vt:lpstr>
      <vt:lpstr>1、留数法</vt:lpstr>
      <vt:lpstr>PowerPoint 演示文稿</vt:lpstr>
      <vt:lpstr>1、留数法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2、部分分式展开法</vt:lpstr>
      <vt:lpstr>2、部分分式展开法</vt:lpstr>
      <vt:lpstr>2、部分分式展开法</vt:lpstr>
      <vt:lpstr>PowerPoint 演示文稿</vt:lpstr>
      <vt:lpstr>PowerPoint 演示文稿</vt:lpstr>
      <vt:lpstr>PowerPoint 演示文稿</vt:lpstr>
      <vt:lpstr>课堂练习</vt:lpstr>
      <vt:lpstr>课堂练习</vt:lpstr>
      <vt:lpstr>课堂练习</vt:lpstr>
      <vt:lpstr>PowerPoint 演示文稿</vt:lpstr>
      <vt:lpstr>课堂练习</vt:lpstr>
      <vt:lpstr>课堂练习</vt:lpstr>
      <vt:lpstr>课堂练习</vt:lpstr>
      <vt:lpstr>课堂练习</vt:lpstr>
      <vt:lpstr>课堂练习</vt:lpstr>
      <vt:lpstr>课堂练习</vt:lpstr>
      <vt:lpstr>四、 Z变换的性质和定理</vt:lpstr>
      <vt:lpstr>PowerPoint 演示文稿</vt:lpstr>
      <vt:lpstr>四、 Z变换的性质和定理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　利用Z变换分析信号和系统的频响特性</vt:lpstr>
      <vt:lpstr>系统函数</vt:lpstr>
      <vt:lpstr>二、因果稳定系统（从z变换收敛域判断）</vt:lpstr>
      <vt:lpstr>因果稳定系统（从z变换收敛域判断）</vt:lpstr>
      <vt:lpstr>PowerPoint 演示文稿</vt:lpstr>
      <vt:lpstr>三、系统函数和差分方程的关系</vt:lpstr>
      <vt:lpstr>系统函数和差分方程的关系</vt:lpstr>
      <vt:lpstr>四、系统的频率响应的意义</vt:lpstr>
      <vt:lpstr>系统的频率响应的意义</vt:lpstr>
      <vt:lpstr>五、频率响应的几何确定</vt:lpstr>
      <vt:lpstr>频率响应的几何确定</vt:lpstr>
      <vt:lpstr>频率响应的几何确定</vt:lpstr>
      <vt:lpstr>频率响应的几何确定</vt:lpstr>
      <vt:lpstr>频率响应的几何确定</vt:lpstr>
      <vt:lpstr>频率响应的几何确定</vt:lpstr>
      <vt:lpstr>频率响应的几何确定</vt:lpstr>
      <vt:lpstr>课堂练习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2.5　序列的Z变换</dc:title>
  <dc:creator>JUN</dc:creator>
  <cp:lastModifiedBy>Jun Chen</cp:lastModifiedBy>
  <cp:revision>22</cp:revision>
  <dcterms:created xsi:type="dcterms:W3CDTF">2020-09-15T20:06:00Z</dcterms:created>
  <dcterms:modified xsi:type="dcterms:W3CDTF">2026-10-16T04:03:44Z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0434CD008A1A4E4B9CE5562E32750717_12</vt:lpwstr>
  </property>
</Properties>
</file>