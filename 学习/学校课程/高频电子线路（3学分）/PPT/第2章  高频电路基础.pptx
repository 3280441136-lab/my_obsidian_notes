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gif" ContentType="image/gif"/>
  <Default Extension="wmf" ContentType="image/x-wmf"/>
  <Default Extension="emf" ContentType="image/x-emf"/>
  <Default Extension="png" ContentType="image/png"/>
  <Default Extension="tiff" ContentType="image/tif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456" r:id="rId3"/>
    <p:sldId id="256" r:id="rId4"/>
    <p:sldId id="257" r:id="rId5"/>
    <p:sldId id="338" r:id="rId6"/>
    <p:sldId id="259" r:id="rId7"/>
    <p:sldId id="260" r:id="rId8"/>
    <p:sldId id="339" r:id="rId9"/>
    <p:sldId id="340" r:id="rId10"/>
    <p:sldId id="341" r:id="rId11"/>
    <p:sldId id="263" r:id="rId12"/>
    <p:sldId id="450" r:id="rId13"/>
    <p:sldId id="451" r:id="rId14"/>
    <p:sldId id="342" r:id="rId16"/>
    <p:sldId id="390" r:id="rId17"/>
    <p:sldId id="343" r:id="rId18"/>
    <p:sldId id="391" r:id="rId19"/>
    <p:sldId id="392" r:id="rId20"/>
    <p:sldId id="448" r:id="rId21"/>
    <p:sldId id="393" r:id="rId22"/>
    <p:sldId id="394" r:id="rId23"/>
    <p:sldId id="346" r:id="rId24"/>
    <p:sldId id="452" r:id="rId25"/>
    <p:sldId id="453" r:id="rId26"/>
    <p:sldId id="454" r:id="rId27"/>
    <p:sldId id="455" r:id="rId28"/>
    <p:sldId id="397" r:id="rId29"/>
    <p:sldId id="398" r:id="rId30"/>
    <p:sldId id="399" r:id="rId31"/>
    <p:sldId id="400" r:id="rId32"/>
    <p:sldId id="266" r:id="rId33"/>
    <p:sldId id="402" r:id="rId34"/>
    <p:sldId id="401" r:id="rId35"/>
    <p:sldId id="403" r:id="rId36"/>
    <p:sldId id="404" r:id="rId37"/>
    <p:sldId id="405" r:id="rId38"/>
    <p:sldId id="406" r:id="rId39"/>
    <p:sldId id="407" r:id="rId40"/>
    <p:sldId id="409" r:id="rId41"/>
    <p:sldId id="408" r:id="rId42"/>
    <p:sldId id="410" r:id="rId43"/>
    <p:sldId id="466" r:id="rId44"/>
    <p:sldId id="411" r:id="rId45"/>
    <p:sldId id="412" r:id="rId46"/>
    <p:sldId id="413" r:id="rId47"/>
    <p:sldId id="355" r:id="rId48"/>
    <p:sldId id="414" r:id="rId49"/>
    <p:sldId id="415" r:id="rId50"/>
    <p:sldId id="416" r:id="rId51"/>
    <p:sldId id="417" r:id="rId52"/>
    <p:sldId id="418" r:id="rId53"/>
    <p:sldId id="463" r:id="rId54"/>
    <p:sldId id="462" r:id="rId55"/>
    <p:sldId id="464" r:id="rId56"/>
    <p:sldId id="465" r:id="rId57"/>
    <p:sldId id="292" r:id="rId58"/>
    <p:sldId id="419" r:id="rId59"/>
    <p:sldId id="298" r:id="rId60"/>
    <p:sldId id="420" r:id="rId61"/>
    <p:sldId id="421" r:id="rId62"/>
    <p:sldId id="422" r:id="rId63"/>
    <p:sldId id="363" r:id="rId64"/>
    <p:sldId id="305" r:id="rId65"/>
    <p:sldId id="457" r:id="rId66"/>
    <p:sldId id="458" r:id="rId67"/>
    <p:sldId id="459" r:id="rId68"/>
    <p:sldId id="460" r:id="rId69"/>
    <p:sldId id="461" r:id="rId70"/>
    <p:sldId id="306" r:id="rId71"/>
    <p:sldId id="364" r:id="rId72"/>
    <p:sldId id="365" r:id="rId73"/>
    <p:sldId id="335" r:id="rId74"/>
    <p:sldId id="423" r:id="rId75"/>
    <p:sldId id="424" r:id="rId76"/>
    <p:sldId id="425" r:id="rId77"/>
    <p:sldId id="426" r:id="rId78"/>
    <p:sldId id="427" r:id="rId79"/>
    <p:sldId id="428" r:id="rId80"/>
    <p:sldId id="429" r:id="rId81"/>
    <p:sldId id="430" r:id="rId82"/>
    <p:sldId id="431" r:id="rId83"/>
    <p:sldId id="432" r:id="rId84"/>
    <p:sldId id="433" r:id="rId85"/>
    <p:sldId id="434" r:id="rId86"/>
    <p:sldId id="375" r:id="rId87"/>
    <p:sldId id="376" r:id="rId88"/>
    <p:sldId id="435" r:id="rId89"/>
    <p:sldId id="437" r:id="rId90"/>
    <p:sldId id="381" r:id="rId91"/>
    <p:sldId id="382" r:id="rId92"/>
    <p:sldId id="440" r:id="rId93"/>
    <p:sldId id="441" r:id="rId94"/>
    <p:sldId id="373" r:id="rId95"/>
    <p:sldId id="442" r:id="rId96"/>
    <p:sldId id="443" r:id="rId97"/>
    <p:sldId id="444" r:id="rId98"/>
    <p:sldId id="445" r:id="rId99"/>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69" userDrawn="1">
          <p15:clr>
            <a:srgbClr val="A4A3A4"/>
          </p15:clr>
        </p15:guide>
        <p15:guide id="2" pos="2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FF00FF"/>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364"/>
  </p:normalViewPr>
  <p:slideViewPr>
    <p:cSldViewPr showGuides="1">
      <p:cViewPr varScale="1">
        <p:scale>
          <a:sx n="101" d="100"/>
          <a:sy n="101" d="100"/>
        </p:scale>
        <p:origin x="1725" y="57"/>
      </p:cViewPr>
      <p:guideLst>
        <p:guide orient="horz" pos="2069"/>
        <p:guide pos="2864"/>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12562"/>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2" Type="http://schemas.openxmlformats.org/officeDocument/2006/relationships/tableStyles" Target="tableStyles.xml"/><Relationship Id="rId101" Type="http://schemas.openxmlformats.org/officeDocument/2006/relationships/viewProps" Target="viewProps.xml"/><Relationship Id="rId100"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4" Type="http://schemas.openxmlformats.org/officeDocument/2006/relationships/image" Target="../media/image37.wmf"/><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emf"/></Relationships>
</file>

<file path=ppt/drawings/_rels/vmlDrawing5.vml.rels><?xml version="1.0" encoding="UTF-8" standalone="yes"?>
<Relationships xmlns="http://schemas.openxmlformats.org/package/2006/relationships"><Relationship Id="rId4" Type="http://schemas.openxmlformats.org/officeDocument/2006/relationships/image" Target="../media/image36.wmf"/><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48.wmf"/><Relationship Id="rId7" Type="http://schemas.openxmlformats.org/officeDocument/2006/relationships/image" Target="../media/image47.wmf"/><Relationship Id="rId6" Type="http://schemas.openxmlformats.org/officeDocument/2006/relationships/image" Target="../media/image46.wmf"/><Relationship Id="rId5" Type="http://schemas.openxmlformats.org/officeDocument/2006/relationships/image" Target="../media/image45.wmf"/><Relationship Id="rId4" Type="http://schemas.openxmlformats.org/officeDocument/2006/relationships/image" Target="../media/image44.wmf"/><Relationship Id="rId3" Type="http://schemas.openxmlformats.org/officeDocument/2006/relationships/image" Target="../media/image43.emf"/><Relationship Id="rId2" Type="http://schemas.openxmlformats.org/officeDocument/2006/relationships/image" Target="../media/image42.wmf"/><Relationship Id="rId1" Type="http://schemas.openxmlformats.org/officeDocument/2006/relationships/image" Target="../media/image41.wmf"/></Relationships>
</file>

<file path=ppt/drawings/_rels/vmlDrawing7.vml.rels><?xml version="1.0" encoding="UTF-8" standalone="yes"?>
<Relationships xmlns="http://schemas.openxmlformats.org/package/2006/relationships"><Relationship Id="rId5" Type="http://schemas.openxmlformats.org/officeDocument/2006/relationships/image" Target="../media/image53.wmf"/><Relationship Id="rId4" Type="http://schemas.openxmlformats.org/officeDocument/2006/relationships/image" Target="../media/image52.wmf"/><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s>
</file>

<file path=ppt/drawings/_rels/vmlDrawing8.vml.rels><?xml version="1.0" encoding="UTF-8" standalone="yes"?>
<Relationships xmlns="http://schemas.openxmlformats.org/package/2006/relationships"><Relationship Id="rId9" Type="http://schemas.openxmlformats.org/officeDocument/2006/relationships/image" Target="../media/image61.wmf"/><Relationship Id="rId8" Type="http://schemas.openxmlformats.org/officeDocument/2006/relationships/image" Target="../media/image36.wmf"/><Relationship Id="rId7" Type="http://schemas.openxmlformats.org/officeDocument/2006/relationships/image" Target="../media/image60.wmf"/><Relationship Id="rId6" Type="http://schemas.openxmlformats.org/officeDocument/2006/relationships/image" Target="../media/image59.wmf"/><Relationship Id="rId5" Type="http://schemas.openxmlformats.org/officeDocument/2006/relationships/image" Target="../media/image58.wmf"/><Relationship Id="rId4" Type="http://schemas.openxmlformats.org/officeDocument/2006/relationships/image" Target="../media/image57.wmf"/><Relationship Id="rId3" Type="http://schemas.openxmlformats.org/officeDocument/2006/relationships/image" Target="../media/image56.wmf"/><Relationship Id="rId2" Type="http://schemas.openxmlformats.org/officeDocument/2006/relationships/image" Target="../media/image55.wmf"/><Relationship Id="rId10" Type="http://schemas.openxmlformats.org/officeDocument/2006/relationships/image" Target="../media/image62.wmf"/><Relationship Id="rId1" Type="http://schemas.openxmlformats.org/officeDocument/2006/relationships/image" Target="../media/image54.wmf"/></Relationships>
</file>

<file path=ppt/drawings/_rels/vmlDrawing9.vml.rels><?xml version="1.0" encoding="UTF-8" standalone="yes"?>
<Relationships xmlns="http://schemas.openxmlformats.org/package/2006/relationships"><Relationship Id="rId6" Type="http://schemas.openxmlformats.org/officeDocument/2006/relationships/image" Target="../media/image68.emf"/><Relationship Id="rId5" Type="http://schemas.openxmlformats.org/officeDocument/2006/relationships/image" Target="../media/image67.emf"/><Relationship Id="rId4" Type="http://schemas.openxmlformats.org/officeDocument/2006/relationships/image" Target="../media/image66.wmf"/><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70.wmf"/><Relationship Id="rId1" Type="http://schemas.openxmlformats.org/officeDocument/2006/relationships/image" Target="../media/image69.wmf"/></Relationships>
</file>

<file path=ppt/drawings/_rels/vmlDrawing11.vml.rels><?xml version="1.0" encoding="UTF-8" standalone="yes"?>
<Relationships xmlns="http://schemas.openxmlformats.org/package/2006/relationships"><Relationship Id="rId9" Type="http://schemas.openxmlformats.org/officeDocument/2006/relationships/image" Target="../media/image78.wmf"/><Relationship Id="rId8" Type="http://schemas.openxmlformats.org/officeDocument/2006/relationships/image" Target="../media/image77.wmf"/><Relationship Id="rId7" Type="http://schemas.openxmlformats.org/officeDocument/2006/relationships/image" Target="../media/image76.wmf"/><Relationship Id="rId6" Type="http://schemas.openxmlformats.org/officeDocument/2006/relationships/image" Target="../media/image69.wmf"/><Relationship Id="rId5" Type="http://schemas.openxmlformats.org/officeDocument/2006/relationships/image" Target="../media/image75.wmf"/><Relationship Id="rId4" Type="http://schemas.openxmlformats.org/officeDocument/2006/relationships/image" Target="../media/image74.wmf"/><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image" Target="../media/image71.wmf"/></Relationships>
</file>

<file path=ppt/drawings/_rels/vmlDrawing12.vml.rels><?xml version="1.0" encoding="UTF-8" standalone="yes"?>
<Relationships xmlns="http://schemas.openxmlformats.org/package/2006/relationships"><Relationship Id="rId5" Type="http://schemas.openxmlformats.org/officeDocument/2006/relationships/image" Target="../media/image83.wmf"/><Relationship Id="rId4" Type="http://schemas.openxmlformats.org/officeDocument/2006/relationships/image" Target="../media/image82.emf"/><Relationship Id="rId3" Type="http://schemas.openxmlformats.org/officeDocument/2006/relationships/image" Target="../media/image81.emf"/><Relationship Id="rId2" Type="http://schemas.openxmlformats.org/officeDocument/2006/relationships/image" Target="../media/image80.wmf"/><Relationship Id="rId1" Type="http://schemas.openxmlformats.org/officeDocument/2006/relationships/image" Target="../media/image79.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85.wmf"/><Relationship Id="rId1" Type="http://schemas.openxmlformats.org/officeDocument/2006/relationships/image" Target="../media/image84.wmf"/></Relationships>
</file>

<file path=ppt/drawings/_rels/vmlDrawing14.vml.rels><?xml version="1.0" encoding="UTF-8" standalone="yes"?>
<Relationships xmlns="http://schemas.openxmlformats.org/package/2006/relationships"><Relationship Id="rId7" Type="http://schemas.openxmlformats.org/officeDocument/2006/relationships/image" Target="../media/image93.wmf"/><Relationship Id="rId6" Type="http://schemas.openxmlformats.org/officeDocument/2006/relationships/image" Target="../media/image92.wmf"/><Relationship Id="rId5" Type="http://schemas.openxmlformats.org/officeDocument/2006/relationships/image" Target="../media/image91.wmf"/><Relationship Id="rId4" Type="http://schemas.openxmlformats.org/officeDocument/2006/relationships/image" Target="../media/image90.wmf"/><Relationship Id="rId3" Type="http://schemas.openxmlformats.org/officeDocument/2006/relationships/image" Target="../media/image89.wmf"/><Relationship Id="rId2" Type="http://schemas.openxmlformats.org/officeDocument/2006/relationships/image" Target="../media/image88.wmf"/><Relationship Id="rId1" Type="http://schemas.openxmlformats.org/officeDocument/2006/relationships/image" Target="../media/image87.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98.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02.wmf"/></Relationships>
</file>

<file path=ppt/drawings/_rels/vmlDrawing17.vml.rels><?xml version="1.0" encoding="UTF-8" standalone="yes"?>
<Relationships xmlns="http://schemas.openxmlformats.org/package/2006/relationships"><Relationship Id="rId6" Type="http://schemas.openxmlformats.org/officeDocument/2006/relationships/image" Target="../media/image82.emf"/><Relationship Id="rId5" Type="http://schemas.openxmlformats.org/officeDocument/2006/relationships/image" Target="../media/image111.wmf"/><Relationship Id="rId4" Type="http://schemas.openxmlformats.org/officeDocument/2006/relationships/image" Target="../media/image110.wmf"/><Relationship Id="rId3" Type="http://schemas.openxmlformats.org/officeDocument/2006/relationships/image" Target="../media/image109.wmf"/><Relationship Id="rId2" Type="http://schemas.openxmlformats.org/officeDocument/2006/relationships/image" Target="../media/image108.wmf"/><Relationship Id="rId1" Type="http://schemas.openxmlformats.org/officeDocument/2006/relationships/image" Target="../media/image107.wmf"/></Relationships>
</file>

<file path=ppt/drawings/_rels/vmlDrawing18.vml.rels><?xml version="1.0" encoding="UTF-8" standalone="yes"?>
<Relationships xmlns="http://schemas.openxmlformats.org/package/2006/relationships"><Relationship Id="rId6" Type="http://schemas.openxmlformats.org/officeDocument/2006/relationships/image" Target="../media/image116.wmf"/><Relationship Id="rId5" Type="http://schemas.openxmlformats.org/officeDocument/2006/relationships/image" Target="../media/image115.wmf"/><Relationship Id="rId4" Type="http://schemas.openxmlformats.org/officeDocument/2006/relationships/image" Target="../media/image114.wmf"/><Relationship Id="rId3" Type="http://schemas.openxmlformats.org/officeDocument/2006/relationships/image" Target="../media/image113.wmf"/><Relationship Id="rId2" Type="http://schemas.openxmlformats.org/officeDocument/2006/relationships/image" Target="../media/image112.wmf"/><Relationship Id="rId1" Type="http://schemas.openxmlformats.org/officeDocument/2006/relationships/image" Target="../media/image68.emf"/></Relationships>
</file>

<file path=ppt/drawings/_rels/vmlDrawing19.vml.rels><?xml version="1.0" encoding="UTF-8" standalone="yes"?>
<Relationships xmlns="http://schemas.openxmlformats.org/package/2006/relationships"><Relationship Id="rId9" Type="http://schemas.openxmlformats.org/officeDocument/2006/relationships/image" Target="../media/image125.wmf"/><Relationship Id="rId8" Type="http://schemas.openxmlformats.org/officeDocument/2006/relationships/image" Target="../media/image124.wmf"/><Relationship Id="rId7" Type="http://schemas.openxmlformats.org/officeDocument/2006/relationships/image" Target="../media/image123.wmf"/><Relationship Id="rId6" Type="http://schemas.openxmlformats.org/officeDocument/2006/relationships/image" Target="../media/image122.wmf"/><Relationship Id="rId5" Type="http://schemas.openxmlformats.org/officeDocument/2006/relationships/image" Target="../media/image121.wmf"/><Relationship Id="rId4" Type="http://schemas.openxmlformats.org/officeDocument/2006/relationships/image" Target="../media/image120.wmf"/><Relationship Id="rId3" Type="http://schemas.openxmlformats.org/officeDocument/2006/relationships/image" Target="../media/image119.wmf"/><Relationship Id="rId2" Type="http://schemas.openxmlformats.org/officeDocument/2006/relationships/image" Target="../media/image118.wmf"/><Relationship Id="rId10" Type="http://schemas.openxmlformats.org/officeDocument/2006/relationships/image" Target="../media/image126.wmf"/><Relationship Id="rId1" Type="http://schemas.openxmlformats.org/officeDocument/2006/relationships/image" Target="../media/image117.emf"/></Relationships>
</file>

<file path=ppt/drawings/_rels/vmlDrawing20.vml.rels><?xml version="1.0" encoding="UTF-8" standalone="yes"?>
<Relationships xmlns="http://schemas.openxmlformats.org/package/2006/relationships"><Relationship Id="rId6" Type="http://schemas.openxmlformats.org/officeDocument/2006/relationships/image" Target="../media/image130.wmf"/><Relationship Id="rId5" Type="http://schemas.openxmlformats.org/officeDocument/2006/relationships/image" Target="../media/image129.emf"/><Relationship Id="rId4" Type="http://schemas.openxmlformats.org/officeDocument/2006/relationships/image" Target="../media/image128.emf"/><Relationship Id="rId3" Type="http://schemas.openxmlformats.org/officeDocument/2006/relationships/image" Target="../media/image127.emf"/><Relationship Id="rId2" Type="http://schemas.openxmlformats.org/officeDocument/2006/relationships/image" Target="../media/image126.wmf"/><Relationship Id="rId1" Type="http://schemas.openxmlformats.org/officeDocument/2006/relationships/image" Target="../media/image123.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132.wmf"/><Relationship Id="rId1" Type="http://schemas.openxmlformats.org/officeDocument/2006/relationships/image" Target="../media/image131.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35.wmf"/><Relationship Id="rId2" Type="http://schemas.openxmlformats.org/officeDocument/2006/relationships/image" Target="../media/image134.wmf"/><Relationship Id="rId1" Type="http://schemas.openxmlformats.org/officeDocument/2006/relationships/image" Target="../media/image133.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43.wmf"/><Relationship Id="rId7" Type="http://schemas.openxmlformats.org/officeDocument/2006/relationships/image" Target="../media/image142.wmf"/><Relationship Id="rId6" Type="http://schemas.openxmlformats.org/officeDocument/2006/relationships/image" Target="../media/image141.wmf"/><Relationship Id="rId5" Type="http://schemas.openxmlformats.org/officeDocument/2006/relationships/image" Target="../media/image140.wmf"/><Relationship Id="rId4" Type="http://schemas.openxmlformats.org/officeDocument/2006/relationships/image" Target="../media/image139.wmf"/><Relationship Id="rId3" Type="http://schemas.openxmlformats.org/officeDocument/2006/relationships/image" Target="../media/image138.wmf"/><Relationship Id="rId2" Type="http://schemas.openxmlformats.org/officeDocument/2006/relationships/image" Target="../media/image137.wmf"/><Relationship Id="rId1" Type="http://schemas.openxmlformats.org/officeDocument/2006/relationships/image" Target="../media/image136.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145.wmf"/><Relationship Id="rId1" Type="http://schemas.openxmlformats.org/officeDocument/2006/relationships/image" Target="../media/image144.wmf"/></Relationships>
</file>

<file path=ppt/drawings/_rels/vmlDrawing25.vml.rels><?xml version="1.0" encoding="UTF-8" standalone="yes"?>
<Relationships xmlns="http://schemas.openxmlformats.org/package/2006/relationships"><Relationship Id="rId4" Type="http://schemas.openxmlformats.org/officeDocument/2006/relationships/image" Target="../media/image149.wmf"/><Relationship Id="rId3" Type="http://schemas.openxmlformats.org/officeDocument/2006/relationships/image" Target="../media/image148.wmf"/><Relationship Id="rId2" Type="http://schemas.openxmlformats.org/officeDocument/2006/relationships/image" Target="../media/image147.wmf"/><Relationship Id="rId1" Type="http://schemas.openxmlformats.org/officeDocument/2006/relationships/image" Target="../media/image146.wmf"/></Relationships>
</file>

<file path=ppt/drawings/_rels/vmlDrawing26.vml.rels><?xml version="1.0" encoding="UTF-8" standalone="yes"?>
<Relationships xmlns="http://schemas.openxmlformats.org/package/2006/relationships"><Relationship Id="rId7" Type="http://schemas.openxmlformats.org/officeDocument/2006/relationships/image" Target="../media/image161.wmf"/><Relationship Id="rId6" Type="http://schemas.openxmlformats.org/officeDocument/2006/relationships/image" Target="../media/image160.wmf"/><Relationship Id="rId5" Type="http://schemas.openxmlformats.org/officeDocument/2006/relationships/image" Target="../media/image159.wmf"/><Relationship Id="rId4" Type="http://schemas.openxmlformats.org/officeDocument/2006/relationships/image" Target="../media/image158.wmf"/><Relationship Id="rId3" Type="http://schemas.openxmlformats.org/officeDocument/2006/relationships/image" Target="../media/image157.emf"/><Relationship Id="rId2" Type="http://schemas.openxmlformats.org/officeDocument/2006/relationships/image" Target="../media/image156.wmf"/><Relationship Id="rId1" Type="http://schemas.openxmlformats.org/officeDocument/2006/relationships/image" Target="../media/image155.w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170.wmf"/><Relationship Id="rId7" Type="http://schemas.openxmlformats.org/officeDocument/2006/relationships/image" Target="../media/image169.wmf"/><Relationship Id="rId6" Type="http://schemas.openxmlformats.org/officeDocument/2006/relationships/image" Target="../media/image168.wmf"/><Relationship Id="rId5" Type="http://schemas.openxmlformats.org/officeDocument/2006/relationships/image" Target="../media/image167.wmf"/><Relationship Id="rId4" Type="http://schemas.openxmlformats.org/officeDocument/2006/relationships/image" Target="../media/image166.wmf"/><Relationship Id="rId3" Type="http://schemas.openxmlformats.org/officeDocument/2006/relationships/image" Target="../media/image165.wmf"/><Relationship Id="rId2" Type="http://schemas.openxmlformats.org/officeDocument/2006/relationships/image" Target="../media/image164.wmf"/><Relationship Id="rId1" Type="http://schemas.openxmlformats.org/officeDocument/2006/relationships/image" Target="../media/image163.wmf"/></Relationships>
</file>

<file path=ppt/drawings/_rels/vmlDrawing28.vml.rels><?xml version="1.0" encoding="UTF-8" standalone="yes"?>
<Relationships xmlns="http://schemas.openxmlformats.org/package/2006/relationships"><Relationship Id="rId5" Type="http://schemas.openxmlformats.org/officeDocument/2006/relationships/image" Target="../media/image175.wmf"/><Relationship Id="rId4" Type="http://schemas.openxmlformats.org/officeDocument/2006/relationships/image" Target="../media/image174.wmf"/><Relationship Id="rId3" Type="http://schemas.openxmlformats.org/officeDocument/2006/relationships/image" Target="../media/image173.wmf"/><Relationship Id="rId2" Type="http://schemas.openxmlformats.org/officeDocument/2006/relationships/image" Target="../media/image172.wmf"/><Relationship Id="rId1" Type="http://schemas.openxmlformats.org/officeDocument/2006/relationships/image" Target="../media/image171.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78.wmf"/><Relationship Id="rId2" Type="http://schemas.openxmlformats.org/officeDocument/2006/relationships/image" Target="../media/image177.emf"/><Relationship Id="rId1" Type="http://schemas.openxmlformats.org/officeDocument/2006/relationships/image" Target="../media/image176.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71.wmf"/></Relationships>
</file>

<file path=ppt/drawings/_rels/vmlDrawing31.vml.rels><?xml version="1.0" encoding="UTF-8" standalone="yes"?>
<Relationships xmlns="http://schemas.openxmlformats.org/package/2006/relationships"><Relationship Id="rId5" Type="http://schemas.openxmlformats.org/officeDocument/2006/relationships/image" Target="../media/image171.wmf"/><Relationship Id="rId4" Type="http://schemas.openxmlformats.org/officeDocument/2006/relationships/image" Target="../media/image182.wmf"/><Relationship Id="rId3" Type="http://schemas.openxmlformats.org/officeDocument/2006/relationships/image" Target="../media/image181.wmf"/><Relationship Id="rId2" Type="http://schemas.openxmlformats.org/officeDocument/2006/relationships/image" Target="../media/image180.wmf"/><Relationship Id="rId1" Type="http://schemas.openxmlformats.org/officeDocument/2006/relationships/image" Target="../media/image179.wmf"/></Relationships>
</file>

<file path=ppt/drawings/_rels/vmlDrawing32.vml.rels><?xml version="1.0" encoding="UTF-8" standalone="yes"?>
<Relationships xmlns="http://schemas.openxmlformats.org/package/2006/relationships"><Relationship Id="rId6" Type="http://schemas.openxmlformats.org/officeDocument/2006/relationships/image" Target="../media/image188.wmf"/><Relationship Id="rId5" Type="http://schemas.openxmlformats.org/officeDocument/2006/relationships/image" Target="../media/image187.wmf"/><Relationship Id="rId4" Type="http://schemas.openxmlformats.org/officeDocument/2006/relationships/image" Target="../media/image186.wmf"/><Relationship Id="rId3" Type="http://schemas.openxmlformats.org/officeDocument/2006/relationships/image" Target="../media/image185.emf"/><Relationship Id="rId2" Type="http://schemas.openxmlformats.org/officeDocument/2006/relationships/image" Target="../media/image184.emf"/><Relationship Id="rId1" Type="http://schemas.openxmlformats.org/officeDocument/2006/relationships/image" Target="../media/image183.emf"/></Relationships>
</file>

<file path=ppt/drawings/_rels/vmlDrawing33.vml.rels><?xml version="1.0" encoding="UTF-8" standalone="yes"?>
<Relationships xmlns="http://schemas.openxmlformats.org/package/2006/relationships"><Relationship Id="rId9" Type="http://schemas.openxmlformats.org/officeDocument/2006/relationships/image" Target="../media/image196.wmf"/><Relationship Id="rId8" Type="http://schemas.openxmlformats.org/officeDocument/2006/relationships/image" Target="../media/image195.emf"/><Relationship Id="rId7" Type="http://schemas.openxmlformats.org/officeDocument/2006/relationships/image" Target="../media/image183.emf"/><Relationship Id="rId6" Type="http://schemas.openxmlformats.org/officeDocument/2006/relationships/image" Target="../media/image194.wmf"/><Relationship Id="rId5" Type="http://schemas.openxmlformats.org/officeDocument/2006/relationships/image" Target="../media/image193.wmf"/><Relationship Id="rId4" Type="http://schemas.openxmlformats.org/officeDocument/2006/relationships/image" Target="../media/image192.wmf"/><Relationship Id="rId3" Type="http://schemas.openxmlformats.org/officeDocument/2006/relationships/image" Target="../media/image191.wmf"/><Relationship Id="rId2" Type="http://schemas.openxmlformats.org/officeDocument/2006/relationships/image" Target="../media/image190.wmf"/><Relationship Id="rId1" Type="http://schemas.openxmlformats.org/officeDocument/2006/relationships/image" Target="../media/image189.wmf"/></Relationships>
</file>

<file path=ppt/drawings/_rels/vmlDrawing34.vml.rels><?xml version="1.0" encoding="UTF-8" standalone="yes"?>
<Relationships xmlns="http://schemas.openxmlformats.org/package/2006/relationships"><Relationship Id="rId7" Type="http://schemas.openxmlformats.org/officeDocument/2006/relationships/image" Target="../media/image203.wmf"/><Relationship Id="rId6" Type="http://schemas.openxmlformats.org/officeDocument/2006/relationships/image" Target="../media/image202.wmf"/><Relationship Id="rId5" Type="http://schemas.openxmlformats.org/officeDocument/2006/relationships/image" Target="../media/image201.wmf"/><Relationship Id="rId4" Type="http://schemas.openxmlformats.org/officeDocument/2006/relationships/image" Target="../media/image200.emf"/><Relationship Id="rId3" Type="http://schemas.openxmlformats.org/officeDocument/2006/relationships/image" Target="../media/image199.wmf"/><Relationship Id="rId2" Type="http://schemas.openxmlformats.org/officeDocument/2006/relationships/image" Target="../media/image198.wmf"/><Relationship Id="rId1" Type="http://schemas.openxmlformats.org/officeDocument/2006/relationships/image" Target="../media/image197.wmf"/></Relationships>
</file>

<file path=ppt/drawings/_rels/vmlDrawing35.vml.rels><?xml version="1.0" encoding="UTF-8" standalone="yes"?>
<Relationships xmlns="http://schemas.openxmlformats.org/package/2006/relationships"><Relationship Id="rId6" Type="http://schemas.openxmlformats.org/officeDocument/2006/relationships/image" Target="../media/image208.wmf"/><Relationship Id="rId5" Type="http://schemas.openxmlformats.org/officeDocument/2006/relationships/image" Target="../media/image207.wmf"/><Relationship Id="rId4" Type="http://schemas.openxmlformats.org/officeDocument/2006/relationships/image" Target="../media/image206.wmf"/><Relationship Id="rId3" Type="http://schemas.openxmlformats.org/officeDocument/2006/relationships/image" Target="../media/image205.wmf"/><Relationship Id="rId2" Type="http://schemas.openxmlformats.org/officeDocument/2006/relationships/image" Target="../media/image204.wmf"/><Relationship Id="rId1" Type="http://schemas.openxmlformats.org/officeDocument/2006/relationships/image" Target="../media/image200.emf"/></Relationships>
</file>

<file path=ppt/drawings/_rels/vmlDrawing36.vml.rels><?xml version="1.0" encoding="UTF-8" standalone="yes"?>
<Relationships xmlns="http://schemas.openxmlformats.org/package/2006/relationships"><Relationship Id="rId9" Type="http://schemas.openxmlformats.org/officeDocument/2006/relationships/image" Target="../media/image216.wmf"/><Relationship Id="rId8" Type="http://schemas.openxmlformats.org/officeDocument/2006/relationships/image" Target="../media/image215.wmf"/><Relationship Id="rId7" Type="http://schemas.openxmlformats.org/officeDocument/2006/relationships/image" Target="../media/image214.wmf"/><Relationship Id="rId6" Type="http://schemas.openxmlformats.org/officeDocument/2006/relationships/image" Target="../media/image213.wmf"/><Relationship Id="rId5" Type="http://schemas.openxmlformats.org/officeDocument/2006/relationships/image" Target="../media/image212.wmf"/><Relationship Id="rId4" Type="http://schemas.openxmlformats.org/officeDocument/2006/relationships/image" Target="../media/image211.wmf"/><Relationship Id="rId3" Type="http://schemas.openxmlformats.org/officeDocument/2006/relationships/image" Target="../media/image210.wmf"/><Relationship Id="rId2" Type="http://schemas.openxmlformats.org/officeDocument/2006/relationships/image" Target="../media/image209.wmf"/><Relationship Id="rId13" Type="http://schemas.openxmlformats.org/officeDocument/2006/relationships/image" Target="../media/image220.wmf"/><Relationship Id="rId12" Type="http://schemas.openxmlformats.org/officeDocument/2006/relationships/image" Target="../media/image219.wmf"/><Relationship Id="rId11" Type="http://schemas.openxmlformats.org/officeDocument/2006/relationships/image" Target="../media/image218.wmf"/><Relationship Id="rId10" Type="http://schemas.openxmlformats.org/officeDocument/2006/relationships/image" Target="../media/image217.wmf"/><Relationship Id="rId1" Type="http://schemas.openxmlformats.org/officeDocument/2006/relationships/image" Target="../media/image208.wmf"/></Relationships>
</file>

<file path=ppt/drawings/_rels/vmlDrawing37.vml.rels><?xml version="1.0" encoding="UTF-8" standalone="yes"?>
<Relationships xmlns="http://schemas.openxmlformats.org/package/2006/relationships"><Relationship Id="rId4" Type="http://schemas.openxmlformats.org/officeDocument/2006/relationships/image" Target="../media/image224.wmf"/><Relationship Id="rId3" Type="http://schemas.openxmlformats.org/officeDocument/2006/relationships/image" Target="../media/image223.wmf"/><Relationship Id="rId2" Type="http://schemas.openxmlformats.org/officeDocument/2006/relationships/image" Target="../media/image222.wmf"/><Relationship Id="rId1" Type="http://schemas.openxmlformats.org/officeDocument/2006/relationships/image" Target="../media/image221.wmf"/></Relationships>
</file>

<file path=ppt/drawings/_rels/vmlDrawing38.vml.rels><?xml version="1.0" encoding="UTF-8" standalone="yes"?>
<Relationships xmlns="http://schemas.openxmlformats.org/package/2006/relationships"><Relationship Id="rId7" Type="http://schemas.openxmlformats.org/officeDocument/2006/relationships/image" Target="../media/image230.wmf"/><Relationship Id="rId6" Type="http://schemas.openxmlformats.org/officeDocument/2006/relationships/image" Target="../media/image229.wmf"/><Relationship Id="rId5" Type="http://schemas.openxmlformats.org/officeDocument/2006/relationships/image" Target="../media/image228.wmf"/><Relationship Id="rId4" Type="http://schemas.openxmlformats.org/officeDocument/2006/relationships/image" Target="../media/image218.wmf"/><Relationship Id="rId3" Type="http://schemas.openxmlformats.org/officeDocument/2006/relationships/image" Target="../media/image227.wmf"/><Relationship Id="rId2" Type="http://schemas.openxmlformats.org/officeDocument/2006/relationships/image" Target="../media/image226.wmf"/><Relationship Id="rId1" Type="http://schemas.openxmlformats.org/officeDocument/2006/relationships/image" Target="../media/image225.wmf"/></Relationships>
</file>

<file path=ppt/drawings/_rels/vmlDrawing39.vml.rels><?xml version="1.0" encoding="UTF-8" standalone="yes"?>
<Relationships xmlns="http://schemas.openxmlformats.org/package/2006/relationships"><Relationship Id="rId6" Type="http://schemas.openxmlformats.org/officeDocument/2006/relationships/image" Target="../media/image236.wmf"/><Relationship Id="rId5" Type="http://schemas.openxmlformats.org/officeDocument/2006/relationships/image" Target="../media/image235.wmf"/><Relationship Id="rId4" Type="http://schemas.openxmlformats.org/officeDocument/2006/relationships/image" Target="../media/image234.wmf"/><Relationship Id="rId3" Type="http://schemas.openxmlformats.org/officeDocument/2006/relationships/image" Target="../media/image233.wmf"/><Relationship Id="rId2" Type="http://schemas.openxmlformats.org/officeDocument/2006/relationships/image" Target="../media/image232.wmf"/><Relationship Id="rId1" Type="http://schemas.openxmlformats.org/officeDocument/2006/relationships/image" Target="../media/image231.wmf"/></Relationships>
</file>

<file path=ppt/drawings/_rels/vmlDrawing40.vml.rels><?xml version="1.0" encoding="UTF-8" standalone="yes"?>
<Relationships xmlns="http://schemas.openxmlformats.org/package/2006/relationships"><Relationship Id="rId5" Type="http://schemas.openxmlformats.org/officeDocument/2006/relationships/image" Target="../media/image241.wmf"/><Relationship Id="rId4" Type="http://schemas.openxmlformats.org/officeDocument/2006/relationships/image" Target="../media/image240.wmf"/><Relationship Id="rId3" Type="http://schemas.openxmlformats.org/officeDocument/2006/relationships/image" Target="../media/image239.wmf"/><Relationship Id="rId2" Type="http://schemas.openxmlformats.org/officeDocument/2006/relationships/image" Target="../media/image238.emf"/><Relationship Id="rId1" Type="http://schemas.openxmlformats.org/officeDocument/2006/relationships/image" Target="../media/image237.emf"/></Relationships>
</file>

<file path=ppt/drawings/_rels/vmlDrawing41.vml.rels><?xml version="1.0" encoding="UTF-8" standalone="yes"?>
<Relationships xmlns="http://schemas.openxmlformats.org/package/2006/relationships"><Relationship Id="rId5" Type="http://schemas.openxmlformats.org/officeDocument/2006/relationships/image" Target="../media/image247.wmf"/><Relationship Id="rId4" Type="http://schemas.openxmlformats.org/officeDocument/2006/relationships/image" Target="../media/image246.wmf"/><Relationship Id="rId3" Type="http://schemas.openxmlformats.org/officeDocument/2006/relationships/image" Target="../media/image245.wmf"/><Relationship Id="rId2" Type="http://schemas.openxmlformats.org/officeDocument/2006/relationships/image" Target="../media/image244.wmf"/><Relationship Id="rId1" Type="http://schemas.openxmlformats.org/officeDocument/2006/relationships/image" Target="../media/image243.wmf"/></Relationships>
</file>

<file path=ppt/drawings/_rels/vmlDrawing42.vml.rels><?xml version="1.0" encoding="UTF-8" standalone="yes"?>
<Relationships xmlns="http://schemas.openxmlformats.org/package/2006/relationships"><Relationship Id="rId5" Type="http://schemas.openxmlformats.org/officeDocument/2006/relationships/image" Target="../media/image264.wmf"/><Relationship Id="rId4" Type="http://schemas.openxmlformats.org/officeDocument/2006/relationships/image" Target="../media/image263.wmf"/><Relationship Id="rId3" Type="http://schemas.openxmlformats.org/officeDocument/2006/relationships/image" Target="../media/image262.wmf"/><Relationship Id="rId2" Type="http://schemas.openxmlformats.org/officeDocument/2006/relationships/image" Target="../media/image258.wmf"/><Relationship Id="rId1" Type="http://schemas.openxmlformats.org/officeDocument/2006/relationships/image" Target="../media/image257.wmf"/></Relationships>
</file>

<file path=ppt/drawings/_rels/vmlDrawing43.vml.rels><?xml version="1.0" encoding="UTF-8" standalone="yes"?>
<Relationships xmlns="http://schemas.openxmlformats.org/package/2006/relationships"><Relationship Id="rId4" Type="http://schemas.openxmlformats.org/officeDocument/2006/relationships/image" Target="../media/image270.wmf"/><Relationship Id="rId3" Type="http://schemas.openxmlformats.org/officeDocument/2006/relationships/image" Target="../media/image269.wmf"/><Relationship Id="rId2" Type="http://schemas.openxmlformats.org/officeDocument/2006/relationships/image" Target="../media/image268.wmf"/><Relationship Id="rId1" Type="http://schemas.openxmlformats.org/officeDocument/2006/relationships/image" Target="../media/image267.wmf"/></Relationships>
</file>

<file path=ppt/drawings/_rels/vmlDrawing44.vml.rels><?xml version="1.0" encoding="UTF-8" standalone="yes"?>
<Relationships xmlns="http://schemas.openxmlformats.org/package/2006/relationships"><Relationship Id="rId5" Type="http://schemas.openxmlformats.org/officeDocument/2006/relationships/image" Target="../media/image275.wmf"/><Relationship Id="rId4" Type="http://schemas.openxmlformats.org/officeDocument/2006/relationships/image" Target="../media/image274.wmf"/><Relationship Id="rId3" Type="http://schemas.openxmlformats.org/officeDocument/2006/relationships/image" Target="../media/image273.wmf"/><Relationship Id="rId2" Type="http://schemas.openxmlformats.org/officeDocument/2006/relationships/image" Target="../media/image272.wmf"/><Relationship Id="rId1" Type="http://schemas.openxmlformats.org/officeDocument/2006/relationships/image" Target="../media/image271.wmf"/></Relationships>
</file>

<file path=ppt/drawings/_rels/vmlDrawing45.vml.rels><?xml version="1.0" encoding="UTF-8" standalone="yes"?>
<Relationships xmlns="http://schemas.openxmlformats.org/package/2006/relationships"><Relationship Id="rId9" Type="http://schemas.openxmlformats.org/officeDocument/2006/relationships/image" Target="../media/image284.wmf"/><Relationship Id="rId8" Type="http://schemas.openxmlformats.org/officeDocument/2006/relationships/image" Target="../media/image283.wmf"/><Relationship Id="rId7" Type="http://schemas.openxmlformats.org/officeDocument/2006/relationships/image" Target="../media/image282.wmf"/><Relationship Id="rId6" Type="http://schemas.openxmlformats.org/officeDocument/2006/relationships/image" Target="../media/image281.wmf"/><Relationship Id="rId5" Type="http://schemas.openxmlformats.org/officeDocument/2006/relationships/image" Target="../media/image280.wmf"/><Relationship Id="rId4" Type="http://schemas.openxmlformats.org/officeDocument/2006/relationships/image" Target="../media/image279.wmf"/><Relationship Id="rId3" Type="http://schemas.openxmlformats.org/officeDocument/2006/relationships/image" Target="../media/image278.wmf"/><Relationship Id="rId2" Type="http://schemas.openxmlformats.org/officeDocument/2006/relationships/image" Target="../media/image277.emf"/><Relationship Id="rId1" Type="http://schemas.openxmlformats.org/officeDocument/2006/relationships/image" Target="../media/image276.emf"/></Relationships>
</file>

<file path=ppt/drawings/_rels/vmlDrawing46.vml.rels><?xml version="1.0" encoding="UTF-8" standalone="yes"?>
<Relationships xmlns="http://schemas.openxmlformats.org/package/2006/relationships"><Relationship Id="rId9" Type="http://schemas.openxmlformats.org/officeDocument/2006/relationships/image" Target="../media/image294.wmf"/><Relationship Id="rId8" Type="http://schemas.openxmlformats.org/officeDocument/2006/relationships/image" Target="../media/image293.wmf"/><Relationship Id="rId7" Type="http://schemas.openxmlformats.org/officeDocument/2006/relationships/image" Target="../media/image292.wmf"/><Relationship Id="rId6" Type="http://schemas.openxmlformats.org/officeDocument/2006/relationships/image" Target="../media/image291.wmf"/><Relationship Id="rId5" Type="http://schemas.openxmlformats.org/officeDocument/2006/relationships/image" Target="../media/image290.wmf"/><Relationship Id="rId4" Type="http://schemas.openxmlformats.org/officeDocument/2006/relationships/image" Target="../media/image289.wmf"/><Relationship Id="rId3" Type="http://schemas.openxmlformats.org/officeDocument/2006/relationships/image" Target="../media/image288.wmf"/><Relationship Id="rId2" Type="http://schemas.openxmlformats.org/officeDocument/2006/relationships/image" Target="../media/image287.wmf"/><Relationship Id="rId12" Type="http://schemas.openxmlformats.org/officeDocument/2006/relationships/image" Target="../media/image297.wmf"/><Relationship Id="rId11" Type="http://schemas.openxmlformats.org/officeDocument/2006/relationships/image" Target="../media/image296.wmf"/><Relationship Id="rId10" Type="http://schemas.openxmlformats.org/officeDocument/2006/relationships/image" Target="../media/image295.wmf"/><Relationship Id="rId1" Type="http://schemas.openxmlformats.org/officeDocument/2006/relationships/image" Target="../media/image285.wmf"/></Relationships>
</file>

<file path=ppt/drawings/_rels/vmlDrawing47.vml.rels><?xml version="1.0" encoding="UTF-8" standalone="yes"?>
<Relationships xmlns="http://schemas.openxmlformats.org/package/2006/relationships"><Relationship Id="rId2" Type="http://schemas.openxmlformats.org/officeDocument/2006/relationships/image" Target="../media/image299.wmf"/><Relationship Id="rId1" Type="http://schemas.openxmlformats.org/officeDocument/2006/relationships/image" Target="../media/image298.wmf"/></Relationships>
</file>

<file path=ppt/drawings/_rels/vmlDrawing48.vml.rels><?xml version="1.0" encoding="UTF-8" standalone="yes"?>
<Relationships xmlns="http://schemas.openxmlformats.org/package/2006/relationships"><Relationship Id="rId6" Type="http://schemas.openxmlformats.org/officeDocument/2006/relationships/image" Target="../media/image306.wmf"/><Relationship Id="rId5" Type="http://schemas.openxmlformats.org/officeDocument/2006/relationships/image" Target="../media/image305.wmf"/><Relationship Id="rId4" Type="http://schemas.openxmlformats.org/officeDocument/2006/relationships/image" Target="../media/image304.wmf"/><Relationship Id="rId3" Type="http://schemas.openxmlformats.org/officeDocument/2006/relationships/image" Target="../media/image303.wmf"/><Relationship Id="rId2" Type="http://schemas.openxmlformats.org/officeDocument/2006/relationships/image" Target="../media/image302.wmf"/><Relationship Id="rId1" Type="http://schemas.openxmlformats.org/officeDocument/2006/relationships/image" Target="../media/image301.w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307.w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327.w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329.w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339.wmf"/></Relationships>
</file>

<file path=ppt/drawings/_rels/vmlDrawing53.vml.rels><?xml version="1.0" encoding="UTF-8" standalone="yes"?>
<Relationships xmlns="http://schemas.openxmlformats.org/package/2006/relationships"><Relationship Id="rId7" Type="http://schemas.openxmlformats.org/officeDocument/2006/relationships/image" Target="../media/image348.wmf"/><Relationship Id="rId6" Type="http://schemas.openxmlformats.org/officeDocument/2006/relationships/image" Target="../media/image347.wmf"/><Relationship Id="rId5" Type="http://schemas.openxmlformats.org/officeDocument/2006/relationships/image" Target="../media/image346.wmf"/><Relationship Id="rId4" Type="http://schemas.openxmlformats.org/officeDocument/2006/relationships/image" Target="../media/image345.wmf"/><Relationship Id="rId3" Type="http://schemas.openxmlformats.org/officeDocument/2006/relationships/image" Target="../media/image344.wmf"/><Relationship Id="rId2" Type="http://schemas.openxmlformats.org/officeDocument/2006/relationships/image" Target="../media/image343.wmf"/><Relationship Id="rId1" Type="http://schemas.openxmlformats.org/officeDocument/2006/relationships/image" Target="../media/image342.wmf"/></Relationships>
</file>

<file path=ppt/drawings/_rels/vmlDrawing54.vml.rels><?xml version="1.0" encoding="UTF-8" standalone="yes"?>
<Relationships xmlns="http://schemas.openxmlformats.org/package/2006/relationships"><Relationship Id="rId2" Type="http://schemas.openxmlformats.org/officeDocument/2006/relationships/image" Target="../media/image350.png"/><Relationship Id="rId1" Type="http://schemas.openxmlformats.org/officeDocument/2006/relationships/image" Target="../media/image349.png"/></Relationships>
</file>

<file path=ppt/drawings/_rels/vmlDrawing55.vml.rels><?xml version="1.0" encoding="UTF-8" standalone="yes"?>
<Relationships xmlns="http://schemas.openxmlformats.org/package/2006/relationships"><Relationship Id="rId4" Type="http://schemas.openxmlformats.org/officeDocument/2006/relationships/image" Target="../media/image354.wmf"/><Relationship Id="rId3" Type="http://schemas.openxmlformats.org/officeDocument/2006/relationships/image" Target="../media/image353.emf"/><Relationship Id="rId2" Type="http://schemas.openxmlformats.org/officeDocument/2006/relationships/image" Target="../media/image352.emf"/><Relationship Id="rId1" Type="http://schemas.openxmlformats.org/officeDocument/2006/relationships/image" Target="../media/image351.emf"/></Relationships>
</file>

<file path=ppt/drawings/_rels/vmlDrawing56.vml.rels><?xml version="1.0" encoding="UTF-8" standalone="yes"?>
<Relationships xmlns="http://schemas.openxmlformats.org/package/2006/relationships"><Relationship Id="rId4" Type="http://schemas.openxmlformats.org/officeDocument/2006/relationships/image" Target="../media/image357.wmf"/><Relationship Id="rId3" Type="http://schemas.openxmlformats.org/officeDocument/2006/relationships/image" Target="../media/image356.wmf"/><Relationship Id="rId2" Type="http://schemas.openxmlformats.org/officeDocument/2006/relationships/image" Target="../media/image354.wmf"/><Relationship Id="rId1" Type="http://schemas.openxmlformats.org/officeDocument/2006/relationships/image" Target="../media/image355.wmf"/></Relationships>
</file>

<file path=ppt/drawings/_rels/vmlDrawing57.vml.rels><?xml version="1.0" encoding="UTF-8" standalone="yes"?>
<Relationships xmlns="http://schemas.openxmlformats.org/package/2006/relationships"><Relationship Id="rId4" Type="http://schemas.openxmlformats.org/officeDocument/2006/relationships/image" Target="../media/image361.wmf"/><Relationship Id="rId3" Type="http://schemas.openxmlformats.org/officeDocument/2006/relationships/image" Target="../media/image360.emf"/><Relationship Id="rId2" Type="http://schemas.openxmlformats.org/officeDocument/2006/relationships/image" Target="../media/image359.emf"/><Relationship Id="rId1" Type="http://schemas.openxmlformats.org/officeDocument/2006/relationships/image" Target="../media/image358.emf"/></Relationships>
</file>

<file path=ppt/drawings/_rels/vmlDrawing58.vml.rels><?xml version="1.0" encoding="UTF-8" standalone="yes"?>
<Relationships xmlns="http://schemas.openxmlformats.org/package/2006/relationships"><Relationship Id="rId5" Type="http://schemas.openxmlformats.org/officeDocument/2006/relationships/image" Target="../media/image365.wmf"/><Relationship Id="rId4" Type="http://schemas.openxmlformats.org/officeDocument/2006/relationships/image" Target="../media/image364.wmf"/><Relationship Id="rId3" Type="http://schemas.openxmlformats.org/officeDocument/2006/relationships/image" Target="../media/image363.wmf"/><Relationship Id="rId2" Type="http://schemas.openxmlformats.org/officeDocument/2006/relationships/image" Target="../media/image362.wmf"/><Relationship Id="rId1" Type="http://schemas.openxmlformats.org/officeDocument/2006/relationships/image" Target="../media/image361.wmf"/></Relationships>
</file>

<file path=ppt/drawings/_rels/vmlDrawing59.vml.rels><?xml version="1.0" encoding="UTF-8" standalone="yes"?>
<Relationships xmlns="http://schemas.openxmlformats.org/package/2006/relationships"><Relationship Id="rId8" Type="http://schemas.openxmlformats.org/officeDocument/2006/relationships/image" Target="../media/image372.wmf"/><Relationship Id="rId7" Type="http://schemas.openxmlformats.org/officeDocument/2006/relationships/image" Target="../media/image371.wmf"/><Relationship Id="rId6" Type="http://schemas.openxmlformats.org/officeDocument/2006/relationships/image" Target="../media/image370.wmf"/><Relationship Id="rId5" Type="http://schemas.openxmlformats.org/officeDocument/2006/relationships/image" Target="../media/image369.wmf"/><Relationship Id="rId4" Type="http://schemas.openxmlformats.org/officeDocument/2006/relationships/image" Target="../media/image368.emf"/><Relationship Id="rId3" Type="http://schemas.openxmlformats.org/officeDocument/2006/relationships/image" Target="../media/image367.emf"/><Relationship Id="rId2" Type="http://schemas.openxmlformats.org/officeDocument/2006/relationships/image" Target="../media/image358.emf"/><Relationship Id="rId1" Type="http://schemas.openxmlformats.org/officeDocument/2006/relationships/image" Target="../media/image366.emf"/></Relationships>
</file>

<file path=ppt/drawings/_rels/vmlDrawing60.vml.rels><?xml version="1.0" encoding="UTF-8" standalone="yes"?>
<Relationships xmlns="http://schemas.openxmlformats.org/package/2006/relationships"><Relationship Id="rId7" Type="http://schemas.openxmlformats.org/officeDocument/2006/relationships/image" Target="../media/image379.wmf"/><Relationship Id="rId6" Type="http://schemas.openxmlformats.org/officeDocument/2006/relationships/image" Target="../media/image378.wmf"/><Relationship Id="rId5" Type="http://schemas.openxmlformats.org/officeDocument/2006/relationships/image" Target="../media/image377.wmf"/><Relationship Id="rId4" Type="http://schemas.openxmlformats.org/officeDocument/2006/relationships/image" Target="../media/image376.wmf"/><Relationship Id="rId3" Type="http://schemas.openxmlformats.org/officeDocument/2006/relationships/image" Target="../media/image375.wmf"/><Relationship Id="rId2" Type="http://schemas.openxmlformats.org/officeDocument/2006/relationships/image" Target="../media/image374.wmf"/><Relationship Id="rId1" Type="http://schemas.openxmlformats.org/officeDocument/2006/relationships/image" Target="../media/image373.wmf"/></Relationships>
</file>

<file path=ppt/drawings/_rels/vmlDrawing61.vml.rels><?xml version="1.0" encoding="UTF-8" standalone="yes"?>
<Relationships xmlns="http://schemas.openxmlformats.org/package/2006/relationships"><Relationship Id="rId4" Type="http://schemas.openxmlformats.org/officeDocument/2006/relationships/image" Target="../media/image383.wmf"/><Relationship Id="rId3" Type="http://schemas.openxmlformats.org/officeDocument/2006/relationships/image" Target="../media/image382.emf"/><Relationship Id="rId2" Type="http://schemas.openxmlformats.org/officeDocument/2006/relationships/image" Target="../media/image381.emf"/><Relationship Id="rId1" Type="http://schemas.openxmlformats.org/officeDocument/2006/relationships/image" Target="../media/image380.wmf"/></Relationships>
</file>

<file path=ppt/drawings/_rels/vmlDrawing62.vml.rels><?xml version="1.0" encoding="UTF-8" standalone="yes"?>
<Relationships xmlns="http://schemas.openxmlformats.org/package/2006/relationships"><Relationship Id="rId5" Type="http://schemas.openxmlformats.org/officeDocument/2006/relationships/image" Target="../media/image382.emf"/><Relationship Id="rId4" Type="http://schemas.openxmlformats.org/officeDocument/2006/relationships/image" Target="../media/image387.emf"/><Relationship Id="rId3" Type="http://schemas.openxmlformats.org/officeDocument/2006/relationships/image" Target="../media/image386.wmf"/><Relationship Id="rId2" Type="http://schemas.openxmlformats.org/officeDocument/2006/relationships/image" Target="../media/image385.wmf"/><Relationship Id="rId1" Type="http://schemas.openxmlformats.org/officeDocument/2006/relationships/image" Target="../media/image384.wmf"/></Relationships>
</file>

<file path=ppt/drawings/_rels/vmlDrawing63.vml.rels><?xml version="1.0" encoding="UTF-8" standalone="yes"?>
<Relationships xmlns="http://schemas.openxmlformats.org/package/2006/relationships"><Relationship Id="rId9" Type="http://schemas.openxmlformats.org/officeDocument/2006/relationships/image" Target="../media/image394.wmf"/><Relationship Id="rId8" Type="http://schemas.openxmlformats.org/officeDocument/2006/relationships/image" Target="../media/image393.wmf"/><Relationship Id="rId7" Type="http://schemas.openxmlformats.org/officeDocument/2006/relationships/image" Target="../media/image392.wmf"/><Relationship Id="rId6" Type="http://schemas.openxmlformats.org/officeDocument/2006/relationships/image" Target="../media/image391.wmf"/><Relationship Id="rId5" Type="http://schemas.openxmlformats.org/officeDocument/2006/relationships/image" Target="../media/image390.wmf"/><Relationship Id="rId4" Type="http://schemas.openxmlformats.org/officeDocument/2006/relationships/image" Target="../media/image389.wmf"/><Relationship Id="rId3" Type="http://schemas.openxmlformats.org/officeDocument/2006/relationships/image" Target="../media/image386.wmf"/><Relationship Id="rId2" Type="http://schemas.openxmlformats.org/officeDocument/2006/relationships/image" Target="../media/image383.wmf"/><Relationship Id="rId10" Type="http://schemas.openxmlformats.org/officeDocument/2006/relationships/image" Target="../media/image395.wmf"/><Relationship Id="rId1" Type="http://schemas.openxmlformats.org/officeDocument/2006/relationships/image" Target="../media/image388.wmf"/></Relationships>
</file>

<file path=ppt/drawings/_rels/vmlDrawing64.vml.rels><?xml version="1.0" encoding="UTF-8" standalone="yes"?>
<Relationships xmlns="http://schemas.openxmlformats.org/package/2006/relationships"><Relationship Id="rId1" Type="http://schemas.openxmlformats.org/officeDocument/2006/relationships/image" Target="../media/image396.wmf"/></Relationships>
</file>

<file path=ppt/drawings/_rels/vmlDrawing65.vml.rels><?xml version="1.0" encoding="UTF-8" standalone="yes"?>
<Relationships xmlns="http://schemas.openxmlformats.org/package/2006/relationships"><Relationship Id="rId3" Type="http://schemas.openxmlformats.org/officeDocument/2006/relationships/image" Target="../media/image399.png"/><Relationship Id="rId2" Type="http://schemas.openxmlformats.org/officeDocument/2006/relationships/image" Target="../media/image398.wmf"/><Relationship Id="rId1" Type="http://schemas.openxmlformats.org/officeDocument/2006/relationships/image" Target="../media/image397.wmf"/></Relationships>
</file>

<file path=ppt/drawings/_rels/vmlDrawing66.vml.rels><?xml version="1.0" encoding="UTF-8" standalone="yes"?>
<Relationships xmlns="http://schemas.openxmlformats.org/package/2006/relationships"><Relationship Id="rId7" Type="http://schemas.openxmlformats.org/officeDocument/2006/relationships/image" Target="../media/image405.wmf"/><Relationship Id="rId6" Type="http://schemas.openxmlformats.org/officeDocument/2006/relationships/image" Target="../media/image404.wmf"/><Relationship Id="rId5" Type="http://schemas.openxmlformats.org/officeDocument/2006/relationships/image" Target="../media/image403.wmf"/><Relationship Id="rId4" Type="http://schemas.openxmlformats.org/officeDocument/2006/relationships/image" Target="../media/image402.wmf"/><Relationship Id="rId3" Type="http://schemas.openxmlformats.org/officeDocument/2006/relationships/image" Target="../media/image401.wmf"/><Relationship Id="rId2" Type="http://schemas.openxmlformats.org/officeDocument/2006/relationships/image" Target="../media/image400.wmf"/><Relationship Id="rId1" Type="http://schemas.openxmlformats.org/officeDocument/2006/relationships/image" Target="../media/image381.emf"/></Relationships>
</file>

<file path=ppt/drawings/_rels/vmlDrawing67.vml.rels><?xml version="1.0" encoding="UTF-8" standalone="yes"?>
<Relationships xmlns="http://schemas.openxmlformats.org/package/2006/relationships"><Relationship Id="rId3" Type="http://schemas.openxmlformats.org/officeDocument/2006/relationships/image" Target="../media/image408.wmf"/><Relationship Id="rId2" Type="http://schemas.openxmlformats.org/officeDocument/2006/relationships/image" Target="../media/image407.wmf"/><Relationship Id="rId1" Type="http://schemas.openxmlformats.org/officeDocument/2006/relationships/image" Target="../media/image406.wmf"/></Relationships>
</file>

<file path=ppt/drawings/_rels/vmlDrawing68.vml.rels><?xml version="1.0" encoding="UTF-8" standalone="yes"?>
<Relationships xmlns="http://schemas.openxmlformats.org/package/2006/relationships"><Relationship Id="rId9" Type="http://schemas.openxmlformats.org/officeDocument/2006/relationships/image" Target="../media/image417.wmf"/><Relationship Id="rId8" Type="http://schemas.openxmlformats.org/officeDocument/2006/relationships/image" Target="../media/image416.wmf"/><Relationship Id="rId7" Type="http://schemas.openxmlformats.org/officeDocument/2006/relationships/image" Target="../media/image415.wmf"/><Relationship Id="rId6" Type="http://schemas.openxmlformats.org/officeDocument/2006/relationships/image" Target="../media/image414.wmf"/><Relationship Id="rId5" Type="http://schemas.openxmlformats.org/officeDocument/2006/relationships/image" Target="../media/image413.wmf"/><Relationship Id="rId4" Type="http://schemas.openxmlformats.org/officeDocument/2006/relationships/image" Target="../media/image412.wmf"/><Relationship Id="rId3" Type="http://schemas.openxmlformats.org/officeDocument/2006/relationships/image" Target="../media/image411.wmf"/><Relationship Id="rId2" Type="http://schemas.openxmlformats.org/officeDocument/2006/relationships/image" Target="../media/image410.wmf"/><Relationship Id="rId10" Type="http://schemas.openxmlformats.org/officeDocument/2006/relationships/image" Target="../media/image418.wmf"/><Relationship Id="rId1" Type="http://schemas.openxmlformats.org/officeDocument/2006/relationships/image" Target="../media/image409.wmf"/></Relationships>
</file>

<file path=ppt/drawings/_rels/vmlDrawing69.vml.rels><?xml version="1.0" encoding="UTF-8" standalone="yes"?>
<Relationships xmlns="http://schemas.openxmlformats.org/package/2006/relationships"><Relationship Id="rId5" Type="http://schemas.openxmlformats.org/officeDocument/2006/relationships/image" Target="../media/image423.wmf"/><Relationship Id="rId4" Type="http://schemas.openxmlformats.org/officeDocument/2006/relationships/image" Target="../media/image422.wmf"/><Relationship Id="rId3" Type="http://schemas.openxmlformats.org/officeDocument/2006/relationships/image" Target="../media/image421.wmf"/><Relationship Id="rId2" Type="http://schemas.openxmlformats.org/officeDocument/2006/relationships/image" Target="../media/image420.wmf"/><Relationship Id="rId1" Type="http://schemas.openxmlformats.org/officeDocument/2006/relationships/image" Target="../media/image419.wmf"/></Relationships>
</file>

<file path=ppt/drawings/_rels/vmlDrawing70.vml.rels><?xml version="1.0" encoding="UTF-8" standalone="yes"?>
<Relationships xmlns="http://schemas.openxmlformats.org/package/2006/relationships"><Relationship Id="rId3" Type="http://schemas.openxmlformats.org/officeDocument/2006/relationships/image" Target="../media/image426.emf"/><Relationship Id="rId2" Type="http://schemas.openxmlformats.org/officeDocument/2006/relationships/image" Target="../media/image425.wmf"/><Relationship Id="rId1" Type="http://schemas.openxmlformats.org/officeDocument/2006/relationships/image" Target="../media/image424.wmf"/></Relationships>
</file>

<file path=ppt/drawings/_rels/vmlDrawing71.vml.rels><?xml version="1.0" encoding="UTF-8" standalone="yes"?>
<Relationships xmlns="http://schemas.openxmlformats.org/package/2006/relationships"><Relationship Id="rId2" Type="http://schemas.openxmlformats.org/officeDocument/2006/relationships/image" Target="../media/image428.wmf"/><Relationship Id="rId1" Type="http://schemas.openxmlformats.org/officeDocument/2006/relationships/image" Target="../media/image427.wmf"/></Relationships>
</file>

<file path=ppt/drawings/_rels/vmlDrawing72.vml.rels><?xml version="1.0" encoding="UTF-8" standalone="yes"?>
<Relationships xmlns="http://schemas.openxmlformats.org/package/2006/relationships"><Relationship Id="rId4" Type="http://schemas.openxmlformats.org/officeDocument/2006/relationships/image" Target="../media/image432.wmf"/><Relationship Id="rId3" Type="http://schemas.openxmlformats.org/officeDocument/2006/relationships/image" Target="../media/image431.wmf"/><Relationship Id="rId2" Type="http://schemas.openxmlformats.org/officeDocument/2006/relationships/image" Target="../media/image430.wmf"/><Relationship Id="rId1" Type="http://schemas.openxmlformats.org/officeDocument/2006/relationships/image" Target="../media/image429.wmf"/></Relationships>
</file>

<file path=ppt/drawings/_rels/vmlDrawing73.vml.rels><?xml version="1.0" encoding="UTF-8" standalone="yes"?>
<Relationships xmlns="http://schemas.openxmlformats.org/package/2006/relationships"><Relationship Id="rId5" Type="http://schemas.openxmlformats.org/officeDocument/2006/relationships/image" Target="../media/image436.wmf"/><Relationship Id="rId4" Type="http://schemas.openxmlformats.org/officeDocument/2006/relationships/image" Target="../media/image430.wmf"/><Relationship Id="rId3" Type="http://schemas.openxmlformats.org/officeDocument/2006/relationships/image" Target="../media/image435.wmf"/><Relationship Id="rId2" Type="http://schemas.openxmlformats.org/officeDocument/2006/relationships/image" Target="../media/image434.wmf"/><Relationship Id="rId1" Type="http://schemas.openxmlformats.org/officeDocument/2006/relationships/image" Target="../media/image433.wmf"/></Relationships>
</file>

<file path=ppt/drawings/_rels/vmlDrawing74.vml.rels><?xml version="1.0" encoding="UTF-8" standalone="yes"?>
<Relationships xmlns="http://schemas.openxmlformats.org/package/2006/relationships"><Relationship Id="rId1" Type="http://schemas.openxmlformats.org/officeDocument/2006/relationships/image" Target="../media/image437.wmf"/></Relationships>
</file>

<file path=ppt/drawings/_rels/vmlDrawing75.vml.rels><?xml version="1.0" encoding="UTF-8" standalone="yes"?>
<Relationships xmlns="http://schemas.openxmlformats.org/package/2006/relationships"><Relationship Id="rId3" Type="http://schemas.openxmlformats.org/officeDocument/2006/relationships/image" Target="../media/image440.wmf"/><Relationship Id="rId2" Type="http://schemas.openxmlformats.org/officeDocument/2006/relationships/image" Target="../media/image439.wmf"/><Relationship Id="rId1" Type="http://schemas.openxmlformats.org/officeDocument/2006/relationships/image" Target="../media/image438.wmf"/></Relationships>
</file>

<file path=ppt/drawings/_rels/vmlDrawing76.vml.rels><?xml version="1.0" encoding="UTF-8" standalone="yes"?>
<Relationships xmlns="http://schemas.openxmlformats.org/package/2006/relationships"><Relationship Id="rId4" Type="http://schemas.openxmlformats.org/officeDocument/2006/relationships/image" Target="../media/image444.wmf"/><Relationship Id="rId3" Type="http://schemas.openxmlformats.org/officeDocument/2006/relationships/image" Target="../media/image443.wmf"/><Relationship Id="rId2" Type="http://schemas.openxmlformats.org/officeDocument/2006/relationships/image" Target="../media/image442.wmf"/><Relationship Id="rId1" Type="http://schemas.openxmlformats.org/officeDocument/2006/relationships/image" Target="../media/image44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672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9092"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8672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1" fontAlgn="base" latinLnBrk="0" hangingPunct="1">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1" fontAlgn="base" latinLnBrk="0" hangingPunct="1">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1" fontAlgn="base" latinLnBrk="0" hangingPunct="1">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1" fontAlgn="base" latinLnBrk="0" hangingPunct="1">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672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672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fld id="{9A0DB2DC-4C9A-4742-B13C-FB6460FD3503}" type="slidenum">
              <a:rPr lang="en-US" altLang="zh-CN" sz="1200" dirty="0"/>
            </a:fld>
            <a:endParaRPr lang="en-US" altLang="zh-CN" sz="1200" dirty="0"/>
          </a:p>
        </p:txBody>
      </p:sp>
    </p:spTree>
  </p:cSld>
  <p:clrMap bg1="lt1" tx1="dk1" bg2="lt2" tx2="dk2" accent1="accent1" accent2="accent2" accent3="accent3" accent4="accent4" accent5="accent5" accent6="accent6" hlink="hlink" folHlink="folHlink"/>
  <p:hf sldNum="0" hdr="0" ftr="0" dt="0"/>
  <p:notesStyle>
    <a:lvl1pPr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transition spd="med">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med">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transition spd="med">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med">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med">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transition spd="med">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med">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spd="med">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30000"/>
              </a:lnSpc>
              <a:spcBef>
                <a:spcPct val="20000"/>
              </a:spcBef>
              <a:spcAft>
                <a:spcPct val="0"/>
              </a:spcAft>
              <a:buClrTx/>
              <a:buSzTx/>
              <a:buFontTx/>
              <a:buNone/>
              <a:defRPr/>
            </a:pPr>
            <a:endParaRPr kumimoji="1"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spd="med">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med">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med">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med">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457200" y="1600200"/>
            <a:ext cx="4038600" cy="2185988"/>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600200"/>
            <a:ext cx="4038600" cy="2185988"/>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57200" y="3938588"/>
            <a:ext cx="4038600" cy="2187575"/>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3938588"/>
            <a:ext cx="4038600" cy="2187575"/>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med">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600200"/>
            <a:ext cx="4038600" cy="2185988"/>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938588"/>
            <a:ext cx="4038600" cy="2187575"/>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med">
    <p:zo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600200"/>
            <a:ext cx="4038600" cy="2185988"/>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938588"/>
            <a:ext cx="4038600" cy="2187575"/>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med">
    <p:zo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1.GIF"/><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1682" name="Picture 7" descr="0028"/>
          <p:cNvPicPr>
            <a:picLocks noChangeAspect="1"/>
          </p:cNvPicPr>
          <p:nvPr userDrawn="1"/>
        </p:nvPicPr>
        <p:blipFill>
          <a:blip r:embed="rId16"/>
          <a:stretch>
            <a:fillRect/>
          </a:stretch>
        </p:blipFill>
        <p:spPr>
          <a:xfrm>
            <a:off x="228600" y="127000"/>
            <a:ext cx="6096000" cy="296863"/>
          </a:xfrm>
          <a:prstGeom prst="rect">
            <a:avLst/>
          </a:prstGeom>
          <a:noFill/>
          <a:ln w="9525">
            <a:noFill/>
          </a:ln>
        </p:spPr>
      </p:pic>
      <p:sp>
        <p:nvSpPr>
          <p:cNvPr id="1032" name="Text Box 8"/>
          <p:cNvSpPr txBox="1">
            <a:spLocks noChangeArrowheads="1"/>
          </p:cNvSpPr>
          <p:nvPr/>
        </p:nvSpPr>
        <p:spPr bwMode="auto">
          <a:xfrm>
            <a:off x="1066800" y="0"/>
            <a:ext cx="3886200" cy="396875"/>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1200" cap="none" spc="0" normalizeH="0" baseline="0" noProof="0">
                <a:ln>
                  <a:noFill/>
                </a:ln>
                <a:solidFill>
                  <a:srgbClr val="CC9900"/>
                </a:solidFill>
                <a:effectLst/>
                <a:uLnTx/>
                <a:uFillTx/>
                <a:latin typeface="华文新魏" panose="02010800040101010101" pitchFamily="2" charset="-122"/>
                <a:ea typeface="华文新魏" panose="02010800040101010101" pitchFamily="2" charset="-122"/>
                <a:cs typeface="+mn-cs"/>
              </a:rPr>
              <a:t>第</a:t>
            </a:r>
            <a:r>
              <a:rPr kumimoji="1" lang="en-US" altLang="zh-CN" sz="2000" b="0" i="0" u="none" strike="noStrike" kern="1200" cap="none" spc="0" normalizeH="0" baseline="0" noProof="0">
                <a:ln>
                  <a:noFill/>
                </a:ln>
                <a:solidFill>
                  <a:srgbClr val="CC9900"/>
                </a:solidFill>
                <a:effectLst/>
                <a:uLnTx/>
                <a:uFillTx/>
                <a:latin typeface="华文新魏" panose="02010800040101010101" pitchFamily="2" charset="-122"/>
                <a:ea typeface="华文新魏" panose="02010800040101010101" pitchFamily="2" charset="-122"/>
                <a:cs typeface="+mn-cs"/>
              </a:rPr>
              <a:t>2</a:t>
            </a:r>
            <a:r>
              <a:rPr kumimoji="1" lang="zh-CN" altLang="en-US" sz="2000" b="0" i="0" u="none" strike="noStrike" kern="1200" cap="none" spc="0" normalizeH="0" baseline="0" noProof="0">
                <a:ln>
                  <a:noFill/>
                </a:ln>
                <a:solidFill>
                  <a:srgbClr val="CC9900"/>
                </a:solidFill>
                <a:effectLst/>
                <a:uLnTx/>
                <a:uFillTx/>
                <a:latin typeface="华文新魏" panose="02010800040101010101" pitchFamily="2" charset="-122"/>
                <a:ea typeface="华文新魏" panose="02010800040101010101" pitchFamily="2" charset="-122"/>
                <a:cs typeface="+mn-cs"/>
              </a:rPr>
              <a:t>章  高频电路基础</a:t>
            </a:r>
            <a:endParaRPr kumimoji="1" lang="zh-CN" altLang="en-US" sz="2000" b="0" i="0" u="none" strike="noStrike" kern="1200" cap="none" spc="0" normalizeH="0" baseline="0" noProof="0">
              <a:ln>
                <a:noFill/>
              </a:ln>
              <a:solidFill>
                <a:srgbClr val="CC9900"/>
              </a:solidFill>
              <a:effectLst/>
              <a:uLnTx/>
              <a:uFillTx/>
              <a:latin typeface="华文新魏" panose="02010800040101010101" pitchFamily="2" charset="-122"/>
              <a:ea typeface="华文新魏" panose="02010800040101010101" pitchFamily="2" charset="-122"/>
              <a:cs typeface="+mn-cs"/>
            </a:endParaRPr>
          </a:p>
        </p:txBody>
      </p:sp>
      <p:sp>
        <p:nvSpPr>
          <p:cNvPr id="1033" name="Rectangle 9"/>
          <p:cNvSpPr>
            <a:spLocks noChangeArrowheads="1"/>
          </p:cNvSpPr>
          <p:nvPr/>
        </p:nvSpPr>
        <p:spPr bwMode="auto">
          <a:xfrm>
            <a:off x="0" y="6400800"/>
            <a:ext cx="9144000" cy="457200"/>
          </a:xfrm>
          <a:prstGeom prst="rect">
            <a:avLst/>
          </a:prstGeom>
          <a:gradFill rotWithShape="0">
            <a:gsLst>
              <a:gs pos="0">
                <a:schemeClr val="accent1"/>
              </a:gs>
              <a:gs pos="100000">
                <a:schemeClr val="bg1"/>
              </a:gs>
            </a:gsLst>
            <a:path path="rect">
              <a:fillToRect t="100000" r="100000"/>
            </a:path>
          </a:gra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spd="med">
    <p:zoom/>
  </p:transition>
  <p:hf sldNum="0" hdr="0" ftr="0" dt="0"/>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fontAlgn="base">
        <a:lnSpc>
          <a:spcPct val="130000"/>
        </a:lnSpc>
        <a:spcBef>
          <a:spcPct val="20000"/>
        </a:spcBef>
        <a:spcAft>
          <a:spcPct val="0"/>
        </a:spcAft>
        <a:buChar char="•"/>
        <a:defRPr kumimoji="1" sz="3200">
          <a:solidFill>
            <a:schemeClr val="tx1"/>
          </a:solidFill>
          <a:latin typeface="+mn-lt"/>
          <a:ea typeface="+mn-ea"/>
          <a:cs typeface="+mn-cs"/>
        </a:defRPr>
      </a:lvl1pPr>
      <a:lvl2pPr marL="742950" indent="-285750" algn="l" rtl="0" fontAlgn="base">
        <a:lnSpc>
          <a:spcPct val="130000"/>
        </a:lnSpc>
        <a:spcBef>
          <a:spcPct val="20000"/>
        </a:spcBef>
        <a:spcAft>
          <a:spcPct val="0"/>
        </a:spcAft>
        <a:buChar char="–"/>
        <a:defRPr kumimoji="1" sz="2800">
          <a:solidFill>
            <a:schemeClr val="tx1"/>
          </a:solidFill>
          <a:latin typeface="+mn-lt"/>
          <a:ea typeface="+mn-ea"/>
        </a:defRPr>
      </a:lvl2pPr>
      <a:lvl3pPr marL="1143000" indent="-228600" algn="l" rtl="0" fontAlgn="base">
        <a:lnSpc>
          <a:spcPct val="130000"/>
        </a:lnSpc>
        <a:spcBef>
          <a:spcPct val="20000"/>
        </a:spcBef>
        <a:spcAft>
          <a:spcPct val="0"/>
        </a:spcAft>
        <a:buChar char="•"/>
        <a:defRPr kumimoji="1" sz="2400">
          <a:solidFill>
            <a:schemeClr val="tx1"/>
          </a:solidFill>
          <a:latin typeface="+mn-lt"/>
          <a:ea typeface="+mn-ea"/>
        </a:defRPr>
      </a:lvl3pPr>
      <a:lvl4pPr marL="1600200" indent="-228600" algn="l" rtl="0" fontAlgn="base">
        <a:lnSpc>
          <a:spcPct val="130000"/>
        </a:lnSpc>
        <a:spcBef>
          <a:spcPct val="20000"/>
        </a:spcBef>
        <a:spcAft>
          <a:spcPct val="0"/>
        </a:spcAft>
        <a:buChar char="–"/>
        <a:defRPr kumimoji="1" sz="2000">
          <a:solidFill>
            <a:schemeClr val="tx1"/>
          </a:solidFill>
          <a:latin typeface="+mn-lt"/>
          <a:ea typeface="+mn-ea"/>
        </a:defRPr>
      </a:lvl4pPr>
      <a:lvl5pPr marL="2057400" indent="-228600" algn="l" rtl="0" fontAlgn="base">
        <a:lnSpc>
          <a:spcPct val="130000"/>
        </a:lnSpc>
        <a:spcBef>
          <a:spcPct val="20000"/>
        </a:spcBef>
        <a:spcAft>
          <a:spcPct val="0"/>
        </a:spcAft>
        <a:buChar char="»"/>
        <a:defRPr kumimoji="1" sz="2000">
          <a:solidFill>
            <a:schemeClr val="tx1"/>
          </a:solidFill>
          <a:latin typeface="+mn-lt"/>
          <a:ea typeface="+mn-ea"/>
        </a:defRPr>
      </a:lvl5pPr>
      <a:lvl6pPr marL="2514600" indent="-228600" algn="l" rtl="0" fontAlgn="base">
        <a:lnSpc>
          <a:spcPct val="130000"/>
        </a:lnSpc>
        <a:spcBef>
          <a:spcPct val="20000"/>
        </a:spcBef>
        <a:spcAft>
          <a:spcPct val="0"/>
        </a:spcAft>
        <a:buChar char="»"/>
        <a:defRPr kumimoji="1" sz="2000">
          <a:solidFill>
            <a:schemeClr val="tx1"/>
          </a:solidFill>
          <a:latin typeface="+mn-lt"/>
          <a:ea typeface="+mn-ea"/>
        </a:defRPr>
      </a:lvl6pPr>
      <a:lvl7pPr marL="2971800" indent="-228600" algn="l" rtl="0" fontAlgn="base">
        <a:lnSpc>
          <a:spcPct val="130000"/>
        </a:lnSpc>
        <a:spcBef>
          <a:spcPct val="20000"/>
        </a:spcBef>
        <a:spcAft>
          <a:spcPct val="0"/>
        </a:spcAft>
        <a:buChar char="»"/>
        <a:defRPr kumimoji="1" sz="2000">
          <a:solidFill>
            <a:schemeClr val="tx1"/>
          </a:solidFill>
          <a:latin typeface="+mn-lt"/>
          <a:ea typeface="+mn-ea"/>
        </a:defRPr>
      </a:lvl7pPr>
      <a:lvl8pPr marL="3429000" indent="-228600" algn="l" rtl="0" fontAlgn="base">
        <a:lnSpc>
          <a:spcPct val="130000"/>
        </a:lnSpc>
        <a:spcBef>
          <a:spcPct val="20000"/>
        </a:spcBef>
        <a:spcAft>
          <a:spcPct val="0"/>
        </a:spcAft>
        <a:buChar char="»"/>
        <a:defRPr kumimoji="1" sz="2000">
          <a:solidFill>
            <a:schemeClr val="tx1"/>
          </a:solidFill>
          <a:latin typeface="+mn-lt"/>
          <a:ea typeface="+mn-ea"/>
        </a:defRPr>
      </a:lvl8pPr>
      <a:lvl9pPr marL="3886200" indent="-228600" algn="l" rtl="0" fontAlgn="base">
        <a:lnSpc>
          <a:spcPct val="130000"/>
        </a:lnSpc>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2.xml"/><Relationship Id="rId2" Type="http://schemas.openxmlformats.org/officeDocument/2006/relationships/image" Target="../media/image3.e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13.xml"/><Relationship Id="rId6" Type="http://schemas.openxmlformats.org/officeDocument/2006/relationships/image" Target="../media/image6.emf"/><Relationship Id="rId5" Type="http://schemas.openxmlformats.org/officeDocument/2006/relationships/oleObject" Target="../embeddings/oleObject4.bin"/><Relationship Id="rId4" Type="http://schemas.openxmlformats.org/officeDocument/2006/relationships/image" Target="../media/image5.wmf"/><Relationship Id="rId3" Type="http://schemas.openxmlformats.org/officeDocument/2006/relationships/oleObject" Target="../embeddings/oleObject3.bin"/><Relationship Id="rId2" Type="http://schemas.openxmlformats.org/officeDocument/2006/relationships/image" Target="../media/image4.wmf"/><Relationship Id="rId1"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13.xml"/><Relationship Id="rId2" Type="http://schemas.openxmlformats.org/officeDocument/2006/relationships/image" Target="../media/image7.emf"/><Relationship Id="rId1" Type="http://schemas.openxmlformats.org/officeDocument/2006/relationships/oleObject" Target="../embeddings/oleObject5.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9" Type="http://schemas.openxmlformats.org/officeDocument/2006/relationships/image" Target="../media/image17.wmf"/><Relationship Id="rId8" Type="http://schemas.openxmlformats.org/officeDocument/2006/relationships/image" Target="../media/image16.wmf"/><Relationship Id="rId7" Type="http://schemas.openxmlformats.org/officeDocument/2006/relationships/image" Target="../media/image15.wmf"/><Relationship Id="rId6" Type="http://schemas.openxmlformats.org/officeDocument/2006/relationships/image" Target="../media/image14.wmf"/><Relationship Id="rId5" Type="http://schemas.openxmlformats.org/officeDocument/2006/relationships/image" Target="../media/image13.wmf"/><Relationship Id="rId4" Type="http://schemas.openxmlformats.org/officeDocument/2006/relationships/image" Target="../media/image12.wmf"/><Relationship Id="rId3" Type="http://schemas.openxmlformats.org/officeDocument/2006/relationships/image" Target="../media/image11.wmf"/><Relationship Id="rId2" Type="http://schemas.openxmlformats.org/officeDocument/2006/relationships/image" Target="../media/image10.wmf"/><Relationship Id="rId18" Type="http://schemas.openxmlformats.org/officeDocument/2006/relationships/slideLayout" Target="../slideLayouts/slideLayout2.xml"/><Relationship Id="rId17" Type="http://schemas.openxmlformats.org/officeDocument/2006/relationships/image" Target="../media/image25.wmf"/><Relationship Id="rId16" Type="http://schemas.openxmlformats.org/officeDocument/2006/relationships/image" Target="../media/image24.wmf"/><Relationship Id="rId15" Type="http://schemas.openxmlformats.org/officeDocument/2006/relationships/image" Target="../media/image23.wmf"/><Relationship Id="rId14" Type="http://schemas.openxmlformats.org/officeDocument/2006/relationships/image" Target="../media/image22.wmf"/><Relationship Id="rId13" Type="http://schemas.openxmlformats.org/officeDocument/2006/relationships/image" Target="../media/image21.wmf"/><Relationship Id="rId12" Type="http://schemas.openxmlformats.org/officeDocument/2006/relationships/image" Target="../media/image20.wmf"/><Relationship Id="rId11" Type="http://schemas.openxmlformats.org/officeDocument/2006/relationships/image" Target="../media/image19.wmf"/><Relationship Id="rId10" Type="http://schemas.openxmlformats.org/officeDocument/2006/relationships/image" Target="../media/image18.wmf"/><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9" Type="http://schemas.openxmlformats.org/officeDocument/2006/relationships/image" Target="../media/image33.wmf"/><Relationship Id="rId8" Type="http://schemas.openxmlformats.org/officeDocument/2006/relationships/image" Target="../media/image32.wmf"/><Relationship Id="rId7" Type="http://schemas.openxmlformats.org/officeDocument/2006/relationships/image" Target="../media/image31.wmf"/><Relationship Id="rId6" Type="http://schemas.openxmlformats.org/officeDocument/2006/relationships/image" Target="../media/image30.wmf"/><Relationship Id="rId5" Type="http://schemas.openxmlformats.org/officeDocument/2006/relationships/image" Target="../media/image29.wmf"/><Relationship Id="rId4" Type="http://schemas.openxmlformats.org/officeDocument/2006/relationships/image" Target="../media/image28.wmf"/><Relationship Id="rId3" Type="http://schemas.openxmlformats.org/officeDocument/2006/relationships/image" Target="../media/image27.wmf"/><Relationship Id="rId2" Type="http://schemas.openxmlformats.org/officeDocument/2006/relationships/image" Target="../media/image26.wmf"/><Relationship Id="rId11" Type="http://schemas.openxmlformats.org/officeDocument/2006/relationships/notesSlide" Target="../notesSlides/notesSlide1.xml"/><Relationship Id="rId10" Type="http://schemas.openxmlformats.org/officeDocument/2006/relationships/slideLayout" Target="../slideLayouts/slideLayout2.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37.wmf"/><Relationship Id="rId7" Type="http://schemas.openxmlformats.org/officeDocument/2006/relationships/oleObject" Target="../embeddings/oleObject9.bin"/><Relationship Id="rId6" Type="http://schemas.openxmlformats.org/officeDocument/2006/relationships/image" Target="../media/image36.wmf"/><Relationship Id="rId5" Type="http://schemas.openxmlformats.org/officeDocument/2006/relationships/oleObject" Target="../embeddings/oleObject8.bin"/><Relationship Id="rId4" Type="http://schemas.openxmlformats.org/officeDocument/2006/relationships/image" Target="../media/image35.wmf"/><Relationship Id="rId3" Type="http://schemas.openxmlformats.org/officeDocument/2006/relationships/oleObject" Target="../embeddings/oleObject7.bin"/><Relationship Id="rId2" Type="http://schemas.openxmlformats.org/officeDocument/2006/relationships/image" Target="../media/image34.emf"/><Relationship Id="rId10" Type="http://schemas.openxmlformats.org/officeDocument/2006/relationships/vmlDrawing" Target="../drawings/vmlDrawing4.vml"/><Relationship Id="rId1" Type="http://schemas.openxmlformats.org/officeDocument/2006/relationships/oleObject" Target="../embeddings/oleObject6.bin"/></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6.wmf"/><Relationship Id="rId7" Type="http://schemas.openxmlformats.org/officeDocument/2006/relationships/oleObject" Target="../embeddings/oleObject13.bin"/><Relationship Id="rId6" Type="http://schemas.openxmlformats.org/officeDocument/2006/relationships/image" Target="../media/image40.wmf"/><Relationship Id="rId5" Type="http://schemas.openxmlformats.org/officeDocument/2006/relationships/oleObject" Target="../embeddings/oleObject12.bin"/><Relationship Id="rId4" Type="http://schemas.openxmlformats.org/officeDocument/2006/relationships/image" Target="../media/image39.wmf"/><Relationship Id="rId3" Type="http://schemas.openxmlformats.org/officeDocument/2006/relationships/oleObject" Target="../embeddings/oleObject11.bin"/><Relationship Id="rId2" Type="http://schemas.openxmlformats.org/officeDocument/2006/relationships/image" Target="../media/image38.wmf"/><Relationship Id="rId10" Type="http://schemas.openxmlformats.org/officeDocument/2006/relationships/vmlDrawing" Target="../drawings/vmlDrawing5.vml"/><Relationship Id="rId1" Type="http://schemas.openxmlformats.org/officeDocument/2006/relationships/oleObject" Target="../embeddings/oleObject10.bin"/></Relationships>
</file>

<file path=ppt/slides/_rels/slide15.xml.rels><?xml version="1.0" encoding="UTF-8" standalone="yes"?>
<Relationships xmlns="http://schemas.openxmlformats.org/package/2006/relationships"><Relationship Id="rId9" Type="http://schemas.openxmlformats.org/officeDocument/2006/relationships/oleObject" Target="../embeddings/oleObject18.bin"/><Relationship Id="rId8" Type="http://schemas.openxmlformats.org/officeDocument/2006/relationships/image" Target="../media/image44.wmf"/><Relationship Id="rId7" Type="http://schemas.openxmlformats.org/officeDocument/2006/relationships/oleObject" Target="../embeddings/oleObject17.bin"/><Relationship Id="rId6" Type="http://schemas.openxmlformats.org/officeDocument/2006/relationships/image" Target="../media/image43.emf"/><Relationship Id="rId5" Type="http://schemas.openxmlformats.org/officeDocument/2006/relationships/oleObject" Target="../embeddings/oleObject16.bin"/><Relationship Id="rId4" Type="http://schemas.openxmlformats.org/officeDocument/2006/relationships/image" Target="../media/image42.wmf"/><Relationship Id="rId3" Type="http://schemas.openxmlformats.org/officeDocument/2006/relationships/oleObject" Target="../embeddings/oleObject15.bin"/><Relationship Id="rId2" Type="http://schemas.openxmlformats.org/officeDocument/2006/relationships/image" Target="../media/image41.wmf"/><Relationship Id="rId18" Type="http://schemas.openxmlformats.org/officeDocument/2006/relationships/vmlDrawing" Target="../drawings/vmlDrawing6.vml"/><Relationship Id="rId17" Type="http://schemas.openxmlformats.org/officeDocument/2006/relationships/slideLayout" Target="../slideLayouts/slideLayout13.xml"/><Relationship Id="rId16" Type="http://schemas.openxmlformats.org/officeDocument/2006/relationships/image" Target="../media/image48.wmf"/><Relationship Id="rId15" Type="http://schemas.openxmlformats.org/officeDocument/2006/relationships/oleObject" Target="../embeddings/oleObject21.bin"/><Relationship Id="rId14" Type="http://schemas.openxmlformats.org/officeDocument/2006/relationships/image" Target="../media/image47.wmf"/><Relationship Id="rId13" Type="http://schemas.openxmlformats.org/officeDocument/2006/relationships/oleObject" Target="../embeddings/oleObject20.bin"/><Relationship Id="rId12" Type="http://schemas.openxmlformats.org/officeDocument/2006/relationships/image" Target="../media/image46.wmf"/><Relationship Id="rId11" Type="http://schemas.openxmlformats.org/officeDocument/2006/relationships/oleObject" Target="../embeddings/oleObject19.bin"/><Relationship Id="rId10" Type="http://schemas.openxmlformats.org/officeDocument/2006/relationships/image" Target="../media/image45.wmf"/><Relationship Id="rId1" Type="http://schemas.openxmlformats.org/officeDocument/2006/relationships/oleObject" Target="../embeddings/oleObject14.bin"/></Relationships>
</file>

<file path=ppt/slides/_rels/slide16.xml.rels><?xml version="1.0" encoding="UTF-8" standalone="yes"?>
<Relationships xmlns="http://schemas.openxmlformats.org/package/2006/relationships"><Relationship Id="rId9" Type="http://schemas.openxmlformats.org/officeDocument/2006/relationships/oleObject" Target="../embeddings/oleObject26.bin"/><Relationship Id="rId8" Type="http://schemas.openxmlformats.org/officeDocument/2006/relationships/image" Target="../media/image52.wmf"/><Relationship Id="rId7" Type="http://schemas.openxmlformats.org/officeDocument/2006/relationships/oleObject" Target="../embeddings/oleObject25.bin"/><Relationship Id="rId6" Type="http://schemas.openxmlformats.org/officeDocument/2006/relationships/image" Target="../media/image51.wmf"/><Relationship Id="rId5" Type="http://schemas.openxmlformats.org/officeDocument/2006/relationships/oleObject" Target="../embeddings/oleObject24.bin"/><Relationship Id="rId4" Type="http://schemas.openxmlformats.org/officeDocument/2006/relationships/image" Target="../media/image50.wmf"/><Relationship Id="rId3" Type="http://schemas.openxmlformats.org/officeDocument/2006/relationships/oleObject" Target="../embeddings/oleObject23.bin"/><Relationship Id="rId2" Type="http://schemas.openxmlformats.org/officeDocument/2006/relationships/image" Target="../media/image49.wmf"/><Relationship Id="rId12" Type="http://schemas.openxmlformats.org/officeDocument/2006/relationships/vmlDrawing" Target="../drawings/vmlDrawing7.vml"/><Relationship Id="rId11" Type="http://schemas.openxmlformats.org/officeDocument/2006/relationships/slideLayout" Target="../slideLayouts/slideLayout7.xml"/><Relationship Id="rId10" Type="http://schemas.openxmlformats.org/officeDocument/2006/relationships/image" Target="../media/image53.wmf"/><Relationship Id="rId1" Type="http://schemas.openxmlformats.org/officeDocument/2006/relationships/oleObject" Target="../embeddings/oleObject22.bin"/></Relationships>
</file>

<file path=ppt/slides/_rels/slide17.xml.rels><?xml version="1.0" encoding="UTF-8" standalone="yes"?>
<Relationships xmlns="http://schemas.openxmlformats.org/package/2006/relationships"><Relationship Id="rId9" Type="http://schemas.openxmlformats.org/officeDocument/2006/relationships/oleObject" Target="../embeddings/oleObject31.bin"/><Relationship Id="rId8" Type="http://schemas.openxmlformats.org/officeDocument/2006/relationships/image" Target="../media/image57.wmf"/><Relationship Id="rId7" Type="http://schemas.openxmlformats.org/officeDocument/2006/relationships/oleObject" Target="../embeddings/oleObject30.bin"/><Relationship Id="rId6" Type="http://schemas.openxmlformats.org/officeDocument/2006/relationships/image" Target="../media/image56.wmf"/><Relationship Id="rId5" Type="http://schemas.openxmlformats.org/officeDocument/2006/relationships/oleObject" Target="../embeddings/oleObject29.bin"/><Relationship Id="rId4" Type="http://schemas.openxmlformats.org/officeDocument/2006/relationships/image" Target="../media/image55.wmf"/><Relationship Id="rId3" Type="http://schemas.openxmlformats.org/officeDocument/2006/relationships/oleObject" Target="../embeddings/oleObject28.bin"/><Relationship Id="rId22" Type="http://schemas.openxmlformats.org/officeDocument/2006/relationships/vmlDrawing" Target="../drawings/vmlDrawing8.vml"/><Relationship Id="rId21" Type="http://schemas.openxmlformats.org/officeDocument/2006/relationships/slideLayout" Target="../slideLayouts/slideLayout7.xml"/><Relationship Id="rId20" Type="http://schemas.openxmlformats.org/officeDocument/2006/relationships/image" Target="../media/image62.wmf"/><Relationship Id="rId2" Type="http://schemas.openxmlformats.org/officeDocument/2006/relationships/image" Target="../media/image54.wmf"/><Relationship Id="rId19" Type="http://schemas.openxmlformats.org/officeDocument/2006/relationships/oleObject" Target="../embeddings/oleObject36.bin"/><Relationship Id="rId18" Type="http://schemas.openxmlformats.org/officeDocument/2006/relationships/image" Target="../media/image61.wmf"/><Relationship Id="rId17" Type="http://schemas.openxmlformats.org/officeDocument/2006/relationships/oleObject" Target="../embeddings/oleObject35.bin"/><Relationship Id="rId16" Type="http://schemas.openxmlformats.org/officeDocument/2006/relationships/image" Target="../media/image36.wmf"/><Relationship Id="rId15" Type="http://schemas.openxmlformats.org/officeDocument/2006/relationships/oleObject" Target="../embeddings/oleObject34.bin"/><Relationship Id="rId14" Type="http://schemas.openxmlformats.org/officeDocument/2006/relationships/image" Target="../media/image60.wmf"/><Relationship Id="rId13" Type="http://schemas.openxmlformats.org/officeDocument/2006/relationships/oleObject" Target="../embeddings/oleObject33.bin"/><Relationship Id="rId12" Type="http://schemas.openxmlformats.org/officeDocument/2006/relationships/image" Target="../media/image59.wmf"/><Relationship Id="rId11" Type="http://schemas.openxmlformats.org/officeDocument/2006/relationships/oleObject" Target="../embeddings/oleObject32.bin"/><Relationship Id="rId10" Type="http://schemas.openxmlformats.org/officeDocument/2006/relationships/image" Target="../media/image58.wmf"/><Relationship Id="rId1" Type="http://schemas.openxmlformats.org/officeDocument/2006/relationships/oleObject" Target="../embeddings/oleObject27.bin"/></Relationships>
</file>

<file path=ppt/slides/_rels/slide18.xml.rels><?xml version="1.0" encoding="UTF-8" standalone="yes"?>
<Relationships xmlns="http://schemas.openxmlformats.org/package/2006/relationships"><Relationship Id="rId9" Type="http://schemas.openxmlformats.org/officeDocument/2006/relationships/oleObject" Target="../embeddings/oleObject41.bin"/><Relationship Id="rId8" Type="http://schemas.openxmlformats.org/officeDocument/2006/relationships/image" Target="../media/image66.wmf"/><Relationship Id="rId7" Type="http://schemas.openxmlformats.org/officeDocument/2006/relationships/oleObject" Target="../embeddings/oleObject40.bin"/><Relationship Id="rId6" Type="http://schemas.openxmlformats.org/officeDocument/2006/relationships/image" Target="../media/image65.wmf"/><Relationship Id="rId5" Type="http://schemas.openxmlformats.org/officeDocument/2006/relationships/oleObject" Target="../embeddings/oleObject39.bin"/><Relationship Id="rId4" Type="http://schemas.openxmlformats.org/officeDocument/2006/relationships/image" Target="../media/image64.wmf"/><Relationship Id="rId3" Type="http://schemas.openxmlformats.org/officeDocument/2006/relationships/oleObject" Target="../embeddings/oleObject38.bin"/><Relationship Id="rId2" Type="http://schemas.openxmlformats.org/officeDocument/2006/relationships/image" Target="../media/image63.wmf"/><Relationship Id="rId14" Type="http://schemas.openxmlformats.org/officeDocument/2006/relationships/vmlDrawing" Target="../drawings/vmlDrawing9.vml"/><Relationship Id="rId13" Type="http://schemas.openxmlformats.org/officeDocument/2006/relationships/slideLayout" Target="../slideLayouts/slideLayout7.xml"/><Relationship Id="rId12" Type="http://schemas.openxmlformats.org/officeDocument/2006/relationships/image" Target="../media/image68.emf"/><Relationship Id="rId11" Type="http://schemas.openxmlformats.org/officeDocument/2006/relationships/oleObject" Target="../embeddings/oleObject42.bin"/><Relationship Id="rId10" Type="http://schemas.openxmlformats.org/officeDocument/2006/relationships/image" Target="../media/image67.emf"/><Relationship Id="rId1" Type="http://schemas.openxmlformats.org/officeDocument/2006/relationships/oleObject" Target="../embeddings/oleObject37.bin"/></Relationships>
</file>

<file path=ppt/slides/_rels/slide19.xml.rels><?xml version="1.0" encoding="UTF-8" standalone="yes"?>
<Relationships xmlns="http://schemas.openxmlformats.org/package/2006/relationships"><Relationship Id="rId6" Type="http://schemas.openxmlformats.org/officeDocument/2006/relationships/vmlDrawing" Target="../drawings/vmlDrawing10.vml"/><Relationship Id="rId5" Type="http://schemas.openxmlformats.org/officeDocument/2006/relationships/slideLayout" Target="../slideLayouts/slideLayout7.xml"/><Relationship Id="rId4" Type="http://schemas.openxmlformats.org/officeDocument/2006/relationships/image" Target="../media/image70.wmf"/><Relationship Id="rId3" Type="http://schemas.openxmlformats.org/officeDocument/2006/relationships/oleObject" Target="../embeddings/oleObject44.bin"/><Relationship Id="rId2" Type="http://schemas.openxmlformats.org/officeDocument/2006/relationships/image" Target="../media/image69.wmf"/><Relationship Id="rId1" Type="http://schemas.openxmlformats.org/officeDocument/2006/relationships/oleObject" Target="../embeddings/oleObject43.bin"/></Relationships>
</file>

<file path=ppt/slides/_rels/slide20.xml.rels><?xml version="1.0" encoding="UTF-8" standalone="yes"?>
<Relationships xmlns="http://schemas.openxmlformats.org/package/2006/relationships"><Relationship Id="rId9" Type="http://schemas.openxmlformats.org/officeDocument/2006/relationships/oleObject" Target="../embeddings/oleObject49.bin"/><Relationship Id="rId8" Type="http://schemas.openxmlformats.org/officeDocument/2006/relationships/image" Target="../media/image74.wmf"/><Relationship Id="rId7" Type="http://schemas.openxmlformats.org/officeDocument/2006/relationships/oleObject" Target="../embeddings/oleObject48.bin"/><Relationship Id="rId6" Type="http://schemas.openxmlformats.org/officeDocument/2006/relationships/image" Target="../media/image73.wmf"/><Relationship Id="rId5" Type="http://schemas.openxmlformats.org/officeDocument/2006/relationships/oleObject" Target="../embeddings/oleObject47.bin"/><Relationship Id="rId4" Type="http://schemas.openxmlformats.org/officeDocument/2006/relationships/image" Target="../media/image72.wmf"/><Relationship Id="rId3" Type="http://schemas.openxmlformats.org/officeDocument/2006/relationships/oleObject" Target="../embeddings/oleObject46.bin"/><Relationship Id="rId20" Type="http://schemas.openxmlformats.org/officeDocument/2006/relationships/vmlDrawing" Target="../drawings/vmlDrawing11.vml"/><Relationship Id="rId2" Type="http://schemas.openxmlformats.org/officeDocument/2006/relationships/image" Target="../media/image71.wmf"/><Relationship Id="rId19" Type="http://schemas.openxmlformats.org/officeDocument/2006/relationships/slideLayout" Target="../slideLayouts/slideLayout7.xml"/><Relationship Id="rId18" Type="http://schemas.openxmlformats.org/officeDocument/2006/relationships/image" Target="../media/image78.wmf"/><Relationship Id="rId17" Type="http://schemas.openxmlformats.org/officeDocument/2006/relationships/oleObject" Target="../embeddings/oleObject53.bin"/><Relationship Id="rId16" Type="http://schemas.openxmlformats.org/officeDocument/2006/relationships/image" Target="../media/image77.wmf"/><Relationship Id="rId15" Type="http://schemas.openxmlformats.org/officeDocument/2006/relationships/oleObject" Target="../embeddings/oleObject52.bin"/><Relationship Id="rId14" Type="http://schemas.openxmlformats.org/officeDocument/2006/relationships/image" Target="../media/image76.wmf"/><Relationship Id="rId13" Type="http://schemas.openxmlformats.org/officeDocument/2006/relationships/oleObject" Target="../embeddings/oleObject51.bin"/><Relationship Id="rId12" Type="http://schemas.openxmlformats.org/officeDocument/2006/relationships/image" Target="../media/image69.wmf"/><Relationship Id="rId11" Type="http://schemas.openxmlformats.org/officeDocument/2006/relationships/oleObject" Target="../embeddings/oleObject50.bin"/><Relationship Id="rId10" Type="http://schemas.openxmlformats.org/officeDocument/2006/relationships/image" Target="../media/image75.wmf"/><Relationship Id="rId1" Type="http://schemas.openxmlformats.org/officeDocument/2006/relationships/oleObject" Target="../embeddings/oleObject45.bin"/></Relationships>
</file>

<file path=ppt/slides/_rels/slide21.xml.rels><?xml version="1.0" encoding="UTF-8" standalone="yes"?>
<Relationships xmlns="http://schemas.openxmlformats.org/package/2006/relationships"><Relationship Id="rId9" Type="http://schemas.openxmlformats.org/officeDocument/2006/relationships/oleObject" Target="../embeddings/oleObject58.bin"/><Relationship Id="rId8" Type="http://schemas.openxmlformats.org/officeDocument/2006/relationships/image" Target="../media/image82.emf"/><Relationship Id="rId7" Type="http://schemas.openxmlformats.org/officeDocument/2006/relationships/oleObject" Target="../embeddings/oleObject57.bin"/><Relationship Id="rId6" Type="http://schemas.openxmlformats.org/officeDocument/2006/relationships/image" Target="../media/image81.emf"/><Relationship Id="rId5" Type="http://schemas.openxmlformats.org/officeDocument/2006/relationships/oleObject" Target="../embeddings/oleObject56.bin"/><Relationship Id="rId4" Type="http://schemas.openxmlformats.org/officeDocument/2006/relationships/image" Target="../media/image80.wmf"/><Relationship Id="rId3" Type="http://schemas.openxmlformats.org/officeDocument/2006/relationships/oleObject" Target="../embeddings/oleObject55.bin"/><Relationship Id="rId2" Type="http://schemas.openxmlformats.org/officeDocument/2006/relationships/image" Target="../media/image79.wmf"/><Relationship Id="rId12" Type="http://schemas.openxmlformats.org/officeDocument/2006/relationships/vmlDrawing" Target="../drawings/vmlDrawing12.vml"/><Relationship Id="rId11" Type="http://schemas.openxmlformats.org/officeDocument/2006/relationships/slideLayout" Target="../slideLayouts/slideLayout14.xml"/><Relationship Id="rId10" Type="http://schemas.openxmlformats.org/officeDocument/2006/relationships/image" Target="../media/image83.wmf"/><Relationship Id="rId1" Type="http://schemas.openxmlformats.org/officeDocument/2006/relationships/oleObject" Target="../embeddings/oleObject54.bin"/></Relationships>
</file>

<file path=ppt/slides/_rels/slide2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vmlDrawing" Target="../drawings/vmlDrawing13.vml"/><Relationship Id="rId6" Type="http://schemas.openxmlformats.org/officeDocument/2006/relationships/slideLayout" Target="../slideLayouts/slideLayout14.xml"/><Relationship Id="rId5" Type="http://schemas.openxmlformats.org/officeDocument/2006/relationships/image" Target="../media/image86.png"/><Relationship Id="rId4" Type="http://schemas.openxmlformats.org/officeDocument/2006/relationships/image" Target="../media/image85.wmf"/><Relationship Id="rId3" Type="http://schemas.openxmlformats.org/officeDocument/2006/relationships/oleObject" Target="../embeddings/oleObject60.bin"/><Relationship Id="rId2" Type="http://schemas.openxmlformats.org/officeDocument/2006/relationships/image" Target="../media/image84.wmf"/><Relationship Id="rId1" Type="http://schemas.openxmlformats.org/officeDocument/2006/relationships/oleObject" Target="../embeddings/oleObject59.bin"/></Relationships>
</file>

<file path=ppt/slides/_rels/slide23.xml.rels><?xml version="1.0" encoding="UTF-8" standalone="yes"?>
<Relationships xmlns="http://schemas.openxmlformats.org/package/2006/relationships"><Relationship Id="rId9" Type="http://schemas.openxmlformats.org/officeDocument/2006/relationships/image" Target="../media/image86.png"/><Relationship Id="rId8" Type="http://schemas.openxmlformats.org/officeDocument/2006/relationships/image" Target="../media/image90.wmf"/><Relationship Id="rId7" Type="http://schemas.openxmlformats.org/officeDocument/2006/relationships/oleObject" Target="../embeddings/oleObject64.bin"/><Relationship Id="rId6" Type="http://schemas.openxmlformats.org/officeDocument/2006/relationships/image" Target="../media/image89.wmf"/><Relationship Id="rId5" Type="http://schemas.openxmlformats.org/officeDocument/2006/relationships/oleObject" Target="../embeddings/oleObject63.bin"/><Relationship Id="rId4" Type="http://schemas.openxmlformats.org/officeDocument/2006/relationships/image" Target="../media/image88.wmf"/><Relationship Id="rId3" Type="http://schemas.openxmlformats.org/officeDocument/2006/relationships/oleObject" Target="../embeddings/oleObject62.bin"/><Relationship Id="rId21" Type="http://schemas.openxmlformats.org/officeDocument/2006/relationships/vmlDrawing" Target="../drawings/vmlDrawing14.vml"/><Relationship Id="rId20" Type="http://schemas.openxmlformats.org/officeDocument/2006/relationships/slideLayout" Target="../slideLayouts/slideLayout14.xml"/><Relationship Id="rId2" Type="http://schemas.openxmlformats.org/officeDocument/2006/relationships/image" Target="../media/image87.wmf"/><Relationship Id="rId19" Type="http://schemas.openxmlformats.org/officeDocument/2006/relationships/image" Target="../media/image97.wmf"/><Relationship Id="rId18" Type="http://schemas.openxmlformats.org/officeDocument/2006/relationships/image" Target="../media/image96.wmf"/><Relationship Id="rId17" Type="http://schemas.openxmlformats.org/officeDocument/2006/relationships/image" Target="../media/image95.wmf"/><Relationship Id="rId16" Type="http://schemas.openxmlformats.org/officeDocument/2006/relationships/image" Target="../media/image94.wmf"/><Relationship Id="rId15" Type="http://schemas.openxmlformats.org/officeDocument/2006/relationships/image" Target="../media/image93.wmf"/><Relationship Id="rId14" Type="http://schemas.openxmlformats.org/officeDocument/2006/relationships/oleObject" Target="../embeddings/oleObject67.bin"/><Relationship Id="rId13" Type="http://schemas.openxmlformats.org/officeDocument/2006/relationships/image" Target="../media/image92.wmf"/><Relationship Id="rId12" Type="http://schemas.openxmlformats.org/officeDocument/2006/relationships/oleObject" Target="../embeddings/oleObject66.bin"/><Relationship Id="rId11" Type="http://schemas.openxmlformats.org/officeDocument/2006/relationships/image" Target="../media/image91.wmf"/><Relationship Id="rId10" Type="http://schemas.openxmlformats.org/officeDocument/2006/relationships/oleObject" Target="../embeddings/oleObject65.bin"/><Relationship Id="rId1" Type="http://schemas.openxmlformats.org/officeDocument/2006/relationships/oleObject" Target="../embeddings/oleObject61.bin"/></Relationships>
</file>

<file path=ppt/slides/_rels/slide24.xml.rels><?xml version="1.0" encoding="UTF-8" standalone="yes"?>
<Relationships xmlns="http://schemas.openxmlformats.org/package/2006/relationships"><Relationship Id="rId5" Type="http://schemas.openxmlformats.org/officeDocument/2006/relationships/vmlDrawing" Target="../drawings/vmlDrawing15.vml"/><Relationship Id="rId4" Type="http://schemas.openxmlformats.org/officeDocument/2006/relationships/slideLayout" Target="../slideLayouts/slideLayout14.xml"/><Relationship Id="rId3" Type="http://schemas.openxmlformats.org/officeDocument/2006/relationships/image" Target="../media/image86.png"/><Relationship Id="rId2" Type="http://schemas.openxmlformats.org/officeDocument/2006/relationships/image" Target="../media/image98.wmf"/><Relationship Id="rId1" Type="http://schemas.openxmlformats.org/officeDocument/2006/relationships/oleObject" Target="../embeddings/oleObject68.bin"/></Relationships>
</file>

<file path=ppt/slides/_rels/slide25.xml.rels><?xml version="1.0" encoding="UTF-8" standalone="yes"?>
<Relationships xmlns="http://schemas.openxmlformats.org/package/2006/relationships"><Relationship Id="rId9" Type="http://schemas.openxmlformats.org/officeDocument/2006/relationships/image" Target="../media/image106.wmf"/><Relationship Id="rId8" Type="http://schemas.openxmlformats.org/officeDocument/2006/relationships/image" Target="../media/image105.wmf"/><Relationship Id="rId7" Type="http://schemas.openxmlformats.org/officeDocument/2006/relationships/image" Target="../media/image104.wmf"/><Relationship Id="rId6" Type="http://schemas.openxmlformats.org/officeDocument/2006/relationships/image" Target="../media/image103.wmf"/><Relationship Id="rId5" Type="http://schemas.openxmlformats.org/officeDocument/2006/relationships/image" Target="../media/image102.wmf"/><Relationship Id="rId4" Type="http://schemas.openxmlformats.org/officeDocument/2006/relationships/oleObject" Target="../embeddings/oleObject69.bin"/><Relationship Id="rId3" Type="http://schemas.openxmlformats.org/officeDocument/2006/relationships/image" Target="../media/image101.wmf"/><Relationship Id="rId2" Type="http://schemas.openxmlformats.org/officeDocument/2006/relationships/image" Target="../media/image100.wmf"/><Relationship Id="rId11" Type="http://schemas.openxmlformats.org/officeDocument/2006/relationships/vmlDrawing" Target="../drawings/vmlDrawing16.vml"/><Relationship Id="rId10" Type="http://schemas.openxmlformats.org/officeDocument/2006/relationships/slideLayout" Target="../slideLayouts/slideLayout14.xml"/><Relationship Id="rId1" Type="http://schemas.openxmlformats.org/officeDocument/2006/relationships/image" Target="../media/image99.wmf"/></Relationships>
</file>

<file path=ppt/slides/_rels/slide26.xml.rels><?xml version="1.0" encoding="UTF-8" standalone="yes"?>
<Relationships xmlns="http://schemas.openxmlformats.org/package/2006/relationships"><Relationship Id="rId9" Type="http://schemas.openxmlformats.org/officeDocument/2006/relationships/oleObject" Target="../embeddings/oleObject74.bin"/><Relationship Id="rId8" Type="http://schemas.openxmlformats.org/officeDocument/2006/relationships/image" Target="../media/image110.wmf"/><Relationship Id="rId7" Type="http://schemas.openxmlformats.org/officeDocument/2006/relationships/oleObject" Target="../embeddings/oleObject73.bin"/><Relationship Id="rId6" Type="http://schemas.openxmlformats.org/officeDocument/2006/relationships/image" Target="../media/image109.wmf"/><Relationship Id="rId5" Type="http://schemas.openxmlformats.org/officeDocument/2006/relationships/oleObject" Target="../embeddings/oleObject72.bin"/><Relationship Id="rId4" Type="http://schemas.openxmlformats.org/officeDocument/2006/relationships/image" Target="../media/image108.wmf"/><Relationship Id="rId3" Type="http://schemas.openxmlformats.org/officeDocument/2006/relationships/oleObject" Target="../embeddings/oleObject71.bin"/><Relationship Id="rId2" Type="http://schemas.openxmlformats.org/officeDocument/2006/relationships/image" Target="../media/image107.wmf"/><Relationship Id="rId15" Type="http://schemas.openxmlformats.org/officeDocument/2006/relationships/notesSlide" Target="../notesSlides/notesSlide3.xml"/><Relationship Id="rId14" Type="http://schemas.openxmlformats.org/officeDocument/2006/relationships/vmlDrawing" Target="../drawings/vmlDrawing17.vml"/><Relationship Id="rId13" Type="http://schemas.openxmlformats.org/officeDocument/2006/relationships/slideLayout" Target="../slideLayouts/slideLayout7.xml"/><Relationship Id="rId12" Type="http://schemas.openxmlformats.org/officeDocument/2006/relationships/image" Target="../media/image82.emf"/><Relationship Id="rId11" Type="http://schemas.openxmlformats.org/officeDocument/2006/relationships/oleObject" Target="../embeddings/oleObject75.bin"/><Relationship Id="rId10" Type="http://schemas.openxmlformats.org/officeDocument/2006/relationships/image" Target="../media/image111.wmf"/><Relationship Id="rId1" Type="http://schemas.openxmlformats.org/officeDocument/2006/relationships/oleObject" Target="../embeddings/oleObject70.bin"/></Relationships>
</file>

<file path=ppt/slides/_rels/slide27.xml.rels><?xml version="1.0" encoding="UTF-8" standalone="yes"?>
<Relationships xmlns="http://schemas.openxmlformats.org/package/2006/relationships"><Relationship Id="rId9" Type="http://schemas.openxmlformats.org/officeDocument/2006/relationships/oleObject" Target="../embeddings/oleObject80.bin"/><Relationship Id="rId8" Type="http://schemas.openxmlformats.org/officeDocument/2006/relationships/image" Target="../media/image114.wmf"/><Relationship Id="rId7" Type="http://schemas.openxmlformats.org/officeDocument/2006/relationships/oleObject" Target="../embeddings/oleObject79.bin"/><Relationship Id="rId6" Type="http://schemas.openxmlformats.org/officeDocument/2006/relationships/image" Target="../media/image113.wmf"/><Relationship Id="rId5" Type="http://schemas.openxmlformats.org/officeDocument/2006/relationships/oleObject" Target="../embeddings/oleObject78.bin"/><Relationship Id="rId4" Type="http://schemas.openxmlformats.org/officeDocument/2006/relationships/image" Target="../media/image112.wmf"/><Relationship Id="rId3" Type="http://schemas.openxmlformats.org/officeDocument/2006/relationships/oleObject" Target="../embeddings/oleObject77.bin"/><Relationship Id="rId2" Type="http://schemas.openxmlformats.org/officeDocument/2006/relationships/image" Target="../media/image68.emf"/><Relationship Id="rId16" Type="http://schemas.openxmlformats.org/officeDocument/2006/relationships/vmlDrawing" Target="../drawings/vmlDrawing18.vml"/><Relationship Id="rId15" Type="http://schemas.openxmlformats.org/officeDocument/2006/relationships/slideLayout" Target="../slideLayouts/slideLayout7.xml"/><Relationship Id="rId14" Type="http://schemas.openxmlformats.org/officeDocument/2006/relationships/image" Target="../media/image116.wmf"/><Relationship Id="rId13" Type="http://schemas.openxmlformats.org/officeDocument/2006/relationships/oleObject" Target="../embeddings/oleObject83.bin"/><Relationship Id="rId12" Type="http://schemas.openxmlformats.org/officeDocument/2006/relationships/oleObject" Target="../embeddings/oleObject82.bin"/><Relationship Id="rId11" Type="http://schemas.openxmlformats.org/officeDocument/2006/relationships/oleObject" Target="../embeddings/oleObject81.bin"/><Relationship Id="rId10" Type="http://schemas.openxmlformats.org/officeDocument/2006/relationships/image" Target="../media/image115.wmf"/><Relationship Id="rId1" Type="http://schemas.openxmlformats.org/officeDocument/2006/relationships/oleObject" Target="../embeddings/oleObject76.bin"/></Relationships>
</file>

<file path=ppt/slides/_rels/slide28.xml.rels><?xml version="1.0" encoding="UTF-8" standalone="yes"?>
<Relationships xmlns="http://schemas.openxmlformats.org/package/2006/relationships"><Relationship Id="rId9" Type="http://schemas.openxmlformats.org/officeDocument/2006/relationships/oleObject" Target="../embeddings/oleObject88.bin"/><Relationship Id="rId8" Type="http://schemas.openxmlformats.org/officeDocument/2006/relationships/image" Target="../media/image120.wmf"/><Relationship Id="rId7" Type="http://schemas.openxmlformats.org/officeDocument/2006/relationships/oleObject" Target="../embeddings/oleObject87.bin"/><Relationship Id="rId6" Type="http://schemas.openxmlformats.org/officeDocument/2006/relationships/image" Target="../media/image119.wmf"/><Relationship Id="rId5" Type="http://schemas.openxmlformats.org/officeDocument/2006/relationships/oleObject" Target="../embeddings/oleObject86.bin"/><Relationship Id="rId4" Type="http://schemas.openxmlformats.org/officeDocument/2006/relationships/image" Target="../media/image118.wmf"/><Relationship Id="rId3" Type="http://schemas.openxmlformats.org/officeDocument/2006/relationships/oleObject" Target="../embeddings/oleObject85.bin"/><Relationship Id="rId22" Type="http://schemas.openxmlformats.org/officeDocument/2006/relationships/vmlDrawing" Target="../drawings/vmlDrawing19.vml"/><Relationship Id="rId21" Type="http://schemas.openxmlformats.org/officeDocument/2006/relationships/slideLayout" Target="../slideLayouts/slideLayout7.xml"/><Relationship Id="rId20" Type="http://schemas.openxmlformats.org/officeDocument/2006/relationships/image" Target="../media/image126.wmf"/><Relationship Id="rId2" Type="http://schemas.openxmlformats.org/officeDocument/2006/relationships/image" Target="../media/image117.emf"/><Relationship Id="rId19" Type="http://schemas.openxmlformats.org/officeDocument/2006/relationships/oleObject" Target="../embeddings/oleObject93.bin"/><Relationship Id="rId18" Type="http://schemas.openxmlformats.org/officeDocument/2006/relationships/image" Target="../media/image125.wmf"/><Relationship Id="rId17" Type="http://schemas.openxmlformats.org/officeDocument/2006/relationships/oleObject" Target="../embeddings/oleObject92.bin"/><Relationship Id="rId16" Type="http://schemas.openxmlformats.org/officeDocument/2006/relationships/image" Target="../media/image124.wmf"/><Relationship Id="rId15" Type="http://schemas.openxmlformats.org/officeDocument/2006/relationships/oleObject" Target="../embeddings/oleObject91.bin"/><Relationship Id="rId14" Type="http://schemas.openxmlformats.org/officeDocument/2006/relationships/image" Target="../media/image123.wmf"/><Relationship Id="rId13" Type="http://schemas.openxmlformats.org/officeDocument/2006/relationships/oleObject" Target="../embeddings/oleObject90.bin"/><Relationship Id="rId12" Type="http://schemas.openxmlformats.org/officeDocument/2006/relationships/image" Target="../media/image122.wmf"/><Relationship Id="rId11" Type="http://schemas.openxmlformats.org/officeDocument/2006/relationships/oleObject" Target="../embeddings/oleObject89.bin"/><Relationship Id="rId10" Type="http://schemas.openxmlformats.org/officeDocument/2006/relationships/image" Target="../media/image121.wmf"/><Relationship Id="rId1" Type="http://schemas.openxmlformats.org/officeDocument/2006/relationships/oleObject" Target="../embeddings/oleObject84.bin"/></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98.bin"/><Relationship Id="rId8" Type="http://schemas.openxmlformats.org/officeDocument/2006/relationships/image" Target="../media/image128.emf"/><Relationship Id="rId7" Type="http://schemas.openxmlformats.org/officeDocument/2006/relationships/oleObject" Target="../embeddings/oleObject97.bin"/><Relationship Id="rId6" Type="http://schemas.openxmlformats.org/officeDocument/2006/relationships/image" Target="../media/image127.emf"/><Relationship Id="rId5" Type="http://schemas.openxmlformats.org/officeDocument/2006/relationships/oleObject" Target="../embeddings/oleObject96.bin"/><Relationship Id="rId4" Type="http://schemas.openxmlformats.org/officeDocument/2006/relationships/image" Target="../media/image126.wmf"/><Relationship Id="rId3" Type="http://schemas.openxmlformats.org/officeDocument/2006/relationships/oleObject" Target="../embeddings/oleObject95.bin"/><Relationship Id="rId2" Type="http://schemas.openxmlformats.org/officeDocument/2006/relationships/image" Target="../media/image123.wmf"/><Relationship Id="rId14" Type="http://schemas.openxmlformats.org/officeDocument/2006/relationships/vmlDrawing" Target="../drawings/vmlDrawing20.vml"/><Relationship Id="rId13" Type="http://schemas.openxmlformats.org/officeDocument/2006/relationships/slideLayout" Target="../slideLayouts/slideLayout7.xml"/><Relationship Id="rId12" Type="http://schemas.openxmlformats.org/officeDocument/2006/relationships/image" Target="../media/image130.wmf"/><Relationship Id="rId11" Type="http://schemas.openxmlformats.org/officeDocument/2006/relationships/oleObject" Target="../embeddings/oleObject99.bin"/><Relationship Id="rId10" Type="http://schemas.openxmlformats.org/officeDocument/2006/relationships/image" Target="../media/image129.emf"/><Relationship Id="rId1" Type="http://schemas.openxmlformats.org/officeDocument/2006/relationships/oleObject" Target="../embeddings/oleObject94.bin"/></Relationships>
</file>

<file path=ppt/slides/_rels/slide30.xml.rels><?xml version="1.0" encoding="UTF-8" standalone="yes"?>
<Relationships xmlns="http://schemas.openxmlformats.org/package/2006/relationships"><Relationship Id="rId6" Type="http://schemas.openxmlformats.org/officeDocument/2006/relationships/vmlDrawing" Target="../drawings/vmlDrawing21.vml"/><Relationship Id="rId5" Type="http://schemas.openxmlformats.org/officeDocument/2006/relationships/slideLayout" Target="../slideLayouts/slideLayout7.xml"/><Relationship Id="rId4" Type="http://schemas.openxmlformats.org/officeDocument/2006/relationships/image" Target="../media/image132.wmf"/><Relationship Id="rId3" Type="http://schemas.openxmlformats.org/officeDocument/2006/relationships/oleObject" Target="../embeddings/oleObject101.bin"/><Relationship Id="rId2" Type="http://schemas.openxmlformats.org/officeDocument/2006/relationships/image" Target="../media/image131.wmf"/><Relationship Id="rId1" Type="http://schemas.openxmlformats.org/officeDocument/2006/relationships/oleObject" Target="../embeddings/oleObject100.bin"/></Relationships>
</file>

<file path=ppt/slides/_rels/slide31.xml.rels><?xml version="1.0" encoding="UTF-8" standalone="yes"?>
<Relationships xmlns="http://schemas.openxmlformats.org/package/2006/relationships"><Relationship Id="rId8" Type="http://schemas.openxmlformats.org/officeDocument/2006/relationships/vmlDrawing" Target="../drawings/vmlDrawing22.vml"/><Relationship Id="rId7" Type="http://schemas.openxmlformats.org/officeDocument/2006/relationships/slideLayout" Target="../slideLayouts/slideLayout7.xml"/><Relationship Id="rId6" Type="http://schemas.openxmlformats.org/officeDocument/2006/relationships/image" Target="../media/image135.wmf"/><Relationship Id="rId5" Type="http://schemas.openxmlformats.org/officeDocument/2006/relationships/oleObject" Target="../embeddings/oleObject104.bin"/><Relationship Id="rId4" Type="http://schemas.openxmlformats.org/officeDocument/2006/relationships/image" Target="../media/image134.wmf"/><Relationship Id="rId3" Type="http://schemas.openxmlformats.org/officeDocument/2006/relationships/oleObject" Target="../embeddings/oleObject103.bin"/><Relationship Id="rId2" Type="http://schemas.openxmlformats.org/officeDocument/2006/relationships/image" Target="../media/image133.wmf"/><Relationship Id="rId1" Type="http://schemas.openxmlformats.org/officeDocument/2006/relationships/oleObject" Target="../embeddings/oleObject102.bin"/></Relationships>
</file>

<file path=ppt/slides/_rels/slide32.xml.rels><?xml version="1.0" encoding="UTF-8" standalone="yes"?>
<Relationships xmlns="http://schemas.openxmlformats.org/package/2006/relationships"><Relationship Id="rId9" Type="http://schemas.openxmlformats.org/officeDocument/2006/relationships/oleObject" Target="../embeddings/oleObject109.bin"/><Relationship Id="rId8" Type="http://schemas.openxmlformats.org/officeDocument/2006/relationships/image" Target="../media/image139.wmf"/><Relationship Id="rId7" Type="http://schemas.openxmlformats.org/officeDocument/2006/relationships/oleObject" Target="../embeddings/oleObject108.bin"/><Relationship Id="rId6" Type="http://schemas.openxmlformats.org/officeDocument/2006/relationships/image" Target="../media/image138.wmf"/><Relationship Id="rId5" Type="http://schemas.openxmlformats.org/officeDocument/2006/relationships/oleObject" Target="../embeddings/oleObject107.bin"/><Relationship Id="rId4" Type="http://schemas.openxmlformats.org/officeDocument/2006/relationships/image" Target="../media/image137.wmf"/><Relationship Id="rId3" Type="http://schemas.openxmlformats.org/officeDocument/2006/relationships/oleObject" Target="../embeddings/oleObject106.bin"/><Relationship Id="rId2" Type="http://schemas.openxmlformats.org/officeDocument/2006/relationships/image" Target="../media/image136.wmf"/><Relationship Id="rId19" Type="http://schemas.openxmlformats.org/officeDocument/2006/relationships/notesSlide" Target="../notesSlides/notesSlide4.xml"/><Relationship Id="rId18" Type="http://schemas.openxmlformats.org/officeDocument/2006/relationships/vmlDrawing" Target="../drawings/vmlDrawing23.vml"/><Relationship Id="rId17" Type="http://schemas.openxmlformats.org/officeDocument/2006/relationships/slideLayout" Target="../slideLayouts/slideLayout7.xml"/><Relationship Id="rId16" Type="http://schemas.openxmlformats.org/officeDocument/2006/relationships/image" Target="../media/image143.wmf"/><Relationship Id="rId15" Type="http://schemas.openxmlformats.org/officeDocument/2006/relationships/oleObject" Target="../embeddings/oleObject112.bin"/><Relationship Id="rId14" Type="http://schemas.openxmlformats.org/officeDocument/2006/relationships/image" Target="../media/image142.wmf"/><Relationship Id="rId13" Type="http://schemas.openxmlformats.org/officeDocument/2006/relationships/oleObject" Target="../embeddings/oleObject111.bin"/><Relationship Id="rId12" Type="http://schemas.openxmlformats.org/officeDocument/2006/relationships/image" Target="../media/image141.wmf"/><Relationship Id="rId11" Type="http://schemas.openxmlformats.org/officeDocument/2006/relationships/oleObject" Target="../embeddings/oleObject110.bin"/><Relationship Id="rId10" Type="http://schemas.openxmlformats.org/officeDocument/2006/relationships/image" Target="../media/image140.wmf"/><Relationship Id="rId1" Type="http://schemas.openxmlformats.org/officeDocument/2006/relationships/oleObject" Target="../embeddings/oleObject105.bin"/></Relationships>
</file>

<file path=ppt/slides/_rels/slide33.xml.rels><?xml version="1.0" encoding="UTF-8" standalone="yes"?>
<Relationships xmlns="http://schemas.openxmlformats.org/package/2006/relationships"><Relationship Id="rId6" Type="http://schemas.openxmlformats.org/officeDocument/2006/relationships/vmlDrawing" Target="../drawings/vmlDrawing24.vml"/><Relationship Id="rId5" Type="http://schemas.openxmlformats.org/officeDocument/2006/relationships/slideLayout" Target="../slideLayouts/slideLayout7.xml"/><Relationship Id="rId4" Type="http://schemas.openxmlformats.org/officeDocument/2006/relationships/image" Target="../media/image145.wmf"/><Relationship Id="rId3" Type="http://schemas.openxmlformats.org/officeDocument/2006/relationships/oleObject" Target="../embeddings/oleObject114.bin"/><Relationship Id="rId2" Type="http://schemas.openxmlformats.org/officeDocument/2006/relationships/image" Target="../media/image144.wmf"/><Relationship Id="rId1" Type="http://schemas.openxmlformats.org/officeDocument/2006/relationships/oleObject" Target="../embeddings/oleObject113.bin"/></Relationships>
</file>

<file path=ppt/slides/_rels/slide3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49.wmf"/><Relationship Id="rId7" Type="http://schemas.openxmlformats.org/officeDocument/2006/relationships/oleObject" Target="../embeddings/oleObject118.bin"/><Relationship Id="rId6" Type="http://schemas.openxmlformats.org/officeDocument/2006/relationships/image" Target="../media/image148.wmf"/><Relationship Id="rId5" Type="http://schemas.openxmlformats.org/officeDocument/2006/relationships/oleObject" Target="../embeddings/oleObject117.bin"/><Relationship Id="rId4" Type="http://schemas.openxmlformats.org/officeDocument/2006/relationships/image" Target="../media/image147.wmf"/><Relationship Id="rId3" Type="http://schemas.openxmlformats.org/officeDocument/2006/relationships/oleObject" Target="../embeddings/oleObject116.bin"/><Relationship Id="rId2" Type="http://schemas.openxmlformats.org/officeDocument/2006/relationships/image" Target="../media/image146.wmf"/><Relationship Id="rId10" Type="http://schemas.openxmlformats.org/officeDocument/2006/relationships/vmlDrawing" Target="../drawings/vmlDrawing25.vml"/><Relationship Id="rId1" Type="http://schemas.openxmlformats.org/officeDocument/2006/relationships/oleObject" Target="../embeddings/oleObject115.bin"/></Relationships>
</file>

<file path=ppt/slides/_rels/slide3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54.png"/><Relationship Id="rId4" Type="http://schemas.openxmlformats.org/officeDocument/2006/relationships/image" Target="../media/image153.png"/><Relationship Id="rId3" Type="http://schemas.openxmlformats.org/officeDocument/2006/relationships/image" Target="../media/image152.png"/><Relationship Id="rId2" Type="http://schemas.openxmlformats.org/officeDocument/2006/relationships/image" Target="../media/image151.png"/><Relationship Id="rId1" Type="http://schemas.openxmlformats.org/officeDocument/2006/relationships/image" Target="../media/image150.png"/></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123.bin"/><Relationship Id="rId8" Type="http://schemas.openxmlformats.org/officeDocument/2006/relationships/image" Target="../media/image158.wmf"/><Relationship Id="rId7" Type="http://schemas.openxmlformats.org/officeDocument/2006/relationships/oleObject" Target="../embeddings/oleObject122.bin"/><Relationship Id="rId6" Type="http://schemas.openxmlformats.org/officeDocument/2006/relationships/image" Target="../media/image157.emf"/><Relationship Id="rId5" Type="http://schemas.openxmlformats.org/officeDocument/2006/relationships/oleObject" Target="../embeddings/oleObject121.bin"/><Relationship Id="rId4" Type="http://schemas.openxmlformats.org/officeDocument/2006/relationships/image" Target="../media/image156.wmf"/><Relationship Id="rId3" Type="http://schemas.openxmlformats.org/officeDocument/2006/relationships/oleObject" Target="../embeddings/oleObject120.bin"/><Relationship Id="rId2" Type="http://schemas.openxmlformats.org/officeDocument/2006/relationships/image" Target="../media/image155.wmf"/><Relationship Id="rId17" Type="http://schemas.openxmlformats.org/officeDocument/2006/relationships/vmlDrawing" Target="../drawings/vmlDrawing26.vml"/><Relationship Id="rId16" Type="http://schemas.openxmlformats.org/officeDocument/2006/relationships/slideLayout" Target="../slideLayouts/slideLayout7.xml"/><Relationship Id="rId15" Type="http://schemas.openxmlformats.org/officeDocument/2006/relationships/image" Target="../media/image162.png"/><Relationship Id="rId14" Type="http://schemas.openxmlformats.org/officeDocument/2006/relationships/image" Target="../media/image161.wmf"/><Relationship Id="rId13" Type="http://schemas.openxmlformats.org/officeDocument/2006/relationships/oleObject" Target="../embeddings/oleObject125.bin"/><Relationship Id="rId12" Type="http://schemas.openxmlformats.org/officeDocument/2006/relationships/image" Target="../media/image160.wmf"/><Relationship Id="rId11" Type="http://schemas.openxmlformats.org/officeDocument/2006/relationships/oleObject" Target="../embeddings/oleObject124.bin"/><Relationship Id="rId10" Type="http://schemas.openxmlformats.org/officeDocument/2006/relationships/image" Target="../media/image159.wmf"/><Relationship Id="rId1" Type="http://schemas.openxmlformats.org/officeDocument/2006/relationships/oleObject" Target="../embeddings/oleObject119.bin"/></Relationships>
</file>

<file path=ppt/slides/_rels/slide37.xml.rels><?xml version="1.0" encoding="UTF-8" standalone="yes"?>
<Relationships xmlns="http://schemas.openxmlformats.org/package/2006/relationships"><Relationship Id="rId9" Type="http://schemas.openxmlformats.org/officeDocument/2006/relationships/oleObject" Target="../embeddings/oleObject130.bin"/><Relationship Id="rId8" Type="http://schemas.openxmlformats.org/officeDocument/2006/relationships/image" Target="../media/image166.wmf"/><Relationship Id="rId7" Type="http://schemas.openxmlformats.org/officeDocument/2006/relationships/oleObject" Target="../embeddings/oleObject129.bin"/><Relationship Id="rId6" Type="http://schemas.openxmlformats.org/officeDocument/2006/relationships/image" Target="../media/image165.wmf"/><Relationship Id="rId5" Type="http://schemas.openxmlformats.org/officeDocument/2006/relationships/oleObject" Target="../embeddings/oleObject128.bin"/><Relationship Id="rId4" Type="http://schemas.openxmlformats.org/officeDocument/2006/relationships/image" Target="../media/image164.wmf"/><Relationship Id="rId3" Type="http://schemas.openxmlformats.org/officeDocument/2006/relationships/oleObject" Target="../embeddings/oleObject127.bin"/><Relationship Id="rId2" Type="http://schemas.openxmlformats.org/officeDocument/2006/relationships/image" Target="../media/image163.wmf"/><Relationship Id="rId18" Type="http://schemas.openxmlformats.org/officeDocument/2006/relationships/vmlDrawing" Target="../drawings/vmlDrawing27.vml"/><Relationship Id="rId17" Type="http://schemas.openxmlformats.org/officeDocument/2006/relationships/slideLayout" Target="../slideLayouts/slideLayout7.xml"/><Relationship Id="rId16" Type="http://schemas.openxmlformats.org/officeDocument/2006/relationships/image" Target="../media/image170.wmf"/><Relationship Id="rId15" Type="http://schemas.openxmlformats.org/officeDocument/2006/relationships/oleObject" Target="../embeddings/oleObject133.bin"/><Relationship Id="rId14" Type="http://schemas.openxmlformats.org/officeDocument/2006/relationships/image" Target="../media/image169.wmf"/><Relationship Id="rId13" Type="http://schemas.openxmlformats.org/officeDocument/2006/relationships/oleObject" Target="../embeddings/oleObject132.bin"/><Relationship Id="rId12" Type="http://schemas.openxmlformats.org/officeDocument/2006/relationships/image" Target="../media/image168.wmf"/><Relationship Id="rId11" Type="http://schemas.openxmlformats.org/officeDocument/2006/relationships/oleObject" Target="../embeddings/oleObject131.bin"/><Relationship Id="rId10" Type="http://schemas.openxmlformats.org/officeDocument/2006/relationships/image" Target="../media/image167.wmf"/><Relationship Id="rId1" Type="http://schemas.openxmlformats.org/officeDocument/2006/relationships/oleObject" Target="../embeddings/oleObject126.bin"/></Relationships>
</file>

<file path=ppt/slides/_rels/slide38.xml.rels><?xml version="1.0" encoding="UTF-8" standalone="yes"?>
<Relationships xmlns="http://schemas.openxmlformats.org/package/2006/relationships"><Relationship Id="rId9" Type="http://schemas.openxmlformats.org/officeDocument/2006/relationships/oleObject" Target="../embeddings/oleObject138.bin"/><Relationship Id="rId8" Type="http://schemas.openxmlformats.org/officeDocument/2006/relationships/image" Target="../media/image174.wmf"/><Relationship Id="rId7" Type="http://schemas.openxmlformats.org/officeDocument/2006/relationships/oleObject" Target="../embeddings/oleObject137.bin"/><Relationship Id="rId6" Type="http://schemas.openxmlformats.org/officeDocument/2006/relationships/image" Target="../media/image173.wmf"/><Relationship Id="rId5" Type="http://schemas.openxmlformats.org/officeDocument/2006/relationships/oleObject" Target="../embeddings/oleObject136.bin"/><Relationship Id="rId4" Type="http://schemas.openxmlformats.org/officeDocument/2006/relationships/image" Target="../media/image172.wmf"/><Relationship Id="rId3" Type="http://schemas.openxmlformats.org/officeDocument/2006/relationships/oleObject" Target="../embeddings/oleObject135.bin"/><Relationship Id="rId2" Type="http://schemas.openxmlformats.org/officeDocument/2006/relationships/image" Target="../media/image171.wmf"/><Relationship Id="rId12" Type="http://schemas.openxmlformats.org/officeDocument/2006/relationships/vmlDrawing" Target="../drawings/vmlDrawing28.vml"/><Relationship Id="rId11" Type="http://schemas.openxmlformats.org/officeDocument/2006/relationships/slideLayout" Target="../slideLayouts/slideLayout7.xml"/><Relationship Id="rId10" Type="http://schemas.openxmlformats.org/officeDocument/2006/relationships/image" Target="../media/image175.wmf"/><Relationship Id="rId1" Type="http://schemas.openxmlformats.org/officeDocument/2006/relationships/oleObject" Target="../embeddings/oleObject134.bin"/></Relationships>
</file>

<file path=ppt/slides/_rels/slide39.xml.rels><?xml version="1.0" encoding="UTF-8" standalone="yes"?>
<Relationships xmlns="http://schemas.openxmlformats.org/package/2006/relationships"><Relationship Id="rId8" Type="http://schemas.openxmlformats.org/officeDocument/2006/relationships/vmlDrawing" Target="../drawings/vmlDrawing29.vml"/><Relationship Id="rId7" Type="http://schemas.openxmlformats.org/officeDocument/2006/relationships/slideLayout" Target="../slideLayouts/slideLayout7.xml"/><Relationship Id="rId6" Type="http://schemas.openxmlformats.org/officeDocument/2006/relationships/image" Target="../media/image178.wmf"/><Relationship Id="rId5" Type="http://schemas.openxmlformats.org/officeDocument/2006/relationships/oleObject" Target="../embeddings/oleObject141.bin"/><Relationship Id="rId4" Type="http://schemas.openxmlformats.org/officeDocument/2006/relationships/image" Target="../media/image177.emf"/><Relationship Id="rId3" Type="http://schemas.openxmlformats.org/officeDocument/2006/relationships/oleObject" Target="../embeddings/oleObject140.bin"/><Relationship Id="rId2" Type="http://schemas.openxmlformats.org/officeDocument/2006/relationships/image" Target="../media/image176.wmf"/><Relationship Id="rId1" Type="http://schemas.openxmlformats.org/officeDocument/2006/relationships/oleObject" Target="../embeddings/oleObject139.bin"/></Relationships>
</file>

<file path=ppt/slides/_rels/slide40.xml.rels><?xml version="1.0" encoding="UTF-8" standalone="yes"?>
<Relationships xmlns="http://schemas.openxmlformats.org/package/2006/relationships"><Relationship Id="rId4" Type="http://schemas.openxmlformats.org/officeDocument/2006/relationships/vmlDrawing" Target="../drawings/vmlDrawing30.vml"/><Relationship Id="rId3" Type="http://schemas.openxmlformats.org/officeDocument/2006/relationships/slideLayout" Target="../slideLayouts/slideLayout7.xml"/><Relationship Id="rId2" Type="http://schemas.openxmlformats.org/officeDocument/2006/relationships/image" Target="../media/image171.wmf"/><Relationship Id="rId1" Type="http://schemas.openxmlformats.org/officeDocument/2006/relationships/oleObject" Target="../embeddings/oleObject142.bin"/></Relationships>
</file>

<file path=ppt/slides/_rels/slide41.xml.rels><?xml version="1.0" encoding="UTF-8" standalone="yes"?>
<Relationships xmlns="http://schemas.openxmlformats.org/package/2006/relationships"><Relationship Id="rId9" Type="http://schemas.openxmlformats.org/officeDocument/2006/relationships/oleObject" Target="../embeddings/oleObject147.bin"/><Relationship Id="rId8" Type="http://schemas.openxmlformats.org/officeDocument/2006/relationships/image" Target="../media/image182.wmf"/><Relationship Id="rId7" Type="http://schemas.openxmlformats.org/officeDocument/2006/relationships/oleObject" Target="../embeddings/oleObject146.bin"/><Relationship Id="rId6" Type="http://schemas.openxmlformats.org/officeDocument/2006/relationships/image" Target="../media/image181.wmf"/><Relationship Id="rId5" Type="http://schemas.openxmlformats.org/officeDocument/2006/relationships/oleObject" Target="../embeddings/oleObject145.bin"/><Relationship Id="rId4" Type="http://schemas.openxmlformats.org/officeDocument/2006/relationships/image" Target="../media/image180.wmf"/><Relationship Id="rId3" Type="http://schemas.openxmlformats.org/officeDocument/2006/relationships/oleObject" Target="../embeddings/oleObject144.bin"/><Relationship Id="rId2" Type="http://schemas.openxmlformats.org/officeDocument/2006/relationships/image" Target="../media/image179.wmf"/><Relationship Id="rId12" Type="http://schemas.openxmlformats.org/officeDocument/2006/relationships/vmlDrawing" Target="../drawings/vmlDrawing31.vml"/><Relationship Id="rId11" Type="http://schemas.openxmlformats.org/officeDocument/2006/relationships/slideLayout" Target="../slideLayouts/slideLayout7.xml"/><Relationship Id="rId10" Type="http://schemas.openxmlformats.org/officeDocument/2006/relationships/image" Target="../media/image171.wmf"/><Relationship Id="rId1" Type="http://schemas.openxmlformats.org/officeDocument/2006/relationships/oleObject" Target="../embeddings/oleObject143.bin"/></Relationships>
</file>

<file path=ppt/slides/_rels/slide42.xml.rels><?xml version="1.0" encoding="UTF-8" standalone="yes"?>
<Relationships xmlns="http://schemas.openxmlformats.org/package/2006/relationships"><Relationship Id="rId9" Type="http://schemas.openxmlformats.org/officeDocument/2006/relationships/oleObject" Target="../embeddings/oleObject152.bin"/><Relationship Id="rId8" Type="http://schemas.openxmlformats.org/officeDocument/2006/relationships/image" Target="../media/image186.wmf"/><Relationship Id="rId7" Type="http://schemas.openxmlformats.org/officeDocument/2006/relationships/oleObject" Target="../embeddings/oleObject151.bin"/><Relationship Id="rId6" Type="http://schemas.openxmlformats.org/officeDocument/2006/relationships/image" Target="../media/image185.emf"/><Relationship Id="rId5" Type="http://schemas.openxmlformats.org/officeDocument/2006/relationships/oleObject" Target="../embeddings/oleObject150.bin"/><Relationship Id="rId4" Type="http://schemas.openxmlformats.org/officeDocument/2006/relationships/image" Target="../media/image184.emf"/><Relationship Id="rId3" Type="http://schemas.openxmlformats.org/officeDocument/2006/relationships/oleObject" Target="../embeddings/oleObject149.bin"/><Relationship Id="rId2" Type="http://schemas.openxmlformats.org/officeDocument/2006/relationships/image" Target="../media/image183.emf"/><Relationship Id="rId15" Type="http://schemas.openxmlformats.org/officeDocument/2006/relationships/vmlDrawing" Target="../drawings/vmlDrawing32.vml"/><Relationship Id="rId14" Type="http://schemas.openxmlformats.org/officeDocument/2006/relationships/slideLayout" Target="../slideLayouts/slideLayout7.xml"/><Relationship Id="rId13" Type="http://schemas.openxmlformats.org/officeDocument/2006/relationships/image" Target="../media/image188.wmf"/><Relationship Id="rId12" Type="http://schemas.openxmlformats.org/officeDocument/2006/relationships/oleObject" Target="../embeddings/oleObject154.bin"/><Relationship Id="rId11" Type="http://schemas.openxmlformats.org/officeDocument/2006/relationships/oleObject" Target="../embeddings/oleObject153.bin"/><Relationship Id="rId10" Type="http://schemas.openxmlformats.org/officeDocument/2006/relationships/image" Target="../media/image187.wmf"/><Relationship Id="rId1" Type="http://schemas.openxmlformats.org/officeDocument/2006/relationships/oleObject" Target="../embeddings/oleObject148.bin"/></Relationships>
</file>

<file path=ppt/slides/_rels/slide43.xml.rels><?xml version="1.0" encoding="UTF-8" standalone="yes"?>
<Relationships xmlns="http://schemas.openxmlformats.org/package/2006/relationships"><Relationship Id="rId9" Type="http://schemas.openxmlformats.org/officeDocument/2006/relationships/oleObject" Target="../embeddings/oleObject159.bin"/><Relationship Id="rId8" Type="http://schemas.openxmlformats.org/officeDocument/2006/relationships/image" Target="../media/image192.wmf"/><Relationship Id="rId7" Type="http://schemas.openxmlformats.org/officeDocument/2006/relationships/oleObject" Target="../embeddings/oleObject158.bin"/><Relationship Id="rId6" Type="http://schemas.openxmlformats.org/officeDocument/2006/relationships/image" Target="../media/image191.wmf"/><Relationship Id="rId5" Type="http://schemas.openxmlformats.org/officeDocument/2006/relationships/oleObject" Target="../embeddings/oleObject157.bin"/><Relationship Id="rId4" Type="http://schemas.openxmlformats.org/officeDocument/2006/relationships/image" Target="../media/image190.wmf"/><Relationship Id="rId3" Type="http://schemas.openxmlformats.org/officeDocument/2006/relationships/oleObject" Target="../embeddings/oleObject156.bin"/><Relationship Id="rId20" Type="http://schemas.openxmlformats.org/officeDocument/2006/relationships/vmlDrawing" Target="../drawings/vmlDrawing33.vml"/><Relationship Id="rId2" Type="http://schemas.openxmlformats.org/officeDocument/2006/relationships/image" Target="../media/image189.wmf"/><Relationship Id="rId19" Type="http://schemas.openxmlformats.org/officeDocument/2006/relationships/slideLayout" Target="../slideLayouts/slideLayout7.xml"/><Relationship Id="rId18" Type="http://schemas.openxmlformats.org/officeDocument/2006/relationships/image" Target="../media/image196.wmf"/><Relationship Id="rId17" Type="http://schemas.openxmlformats.org/officeDocument/2006/relationships/oleObject" Target="../embeddings/oleObject163.bin"/><Relationship Id="rId16" Type="http://schemas.openxmlformats.org/officeDocument/2006/relationships/image" Target="../media/image195.emf"/><Relationship Id="rId15" Type="http://schemas.openxmlformats.org/officeDocument/2006/relationships/oleObject" Target="../embeddings/oleObject162.bin"/><Relationship Id="rId14" Type="http://schemas.openxmlformats.org/officeDocument/2006/relationships/image" Target="../media/image183.emf"/><Relationship Id="rId13" Type="http://schemas.openxmlformats.org/officeDocument/2006/relationships/oleObject" Target="../embeddings/oleObject161.bin"/><Relationship Id="rId12" Type="http://schemas.openxmlformats.org/officeDocument/2006/relationships/image" Target="../media/image194.wmf"/><Relationship Id="rId11" Type="http://schemas.openxmlformats.org/officeDocument/2006/relationships/oleObject" Target="../embeddings/oleObject160.bin"/><Relationship Id="rId10" Type="http://schemas.openxmlformats.org/officeDocument/2006/relationships/image" Target="../media/image193.wmf"/><Relationship Id="rId1" Type="http://schemas.openxmlformats.org/officeDocument/2006/relationships/oleObject" Target="../embeddings/oleObject155.bin"/></Relationships>
</file>

<file path=ppt/slides/_rels/slide44.xml.rels><?xml version="1.0" encoding="UTF-8" standalone="yes"?>
<Relationships xmlns="http://schemas.openxmlformats.org/package/2006/relationships"><Relationship Id="rId9" Type="http://schemas.openxmlformats.org/officeDocument/2006/relationships/oleObject" Target="../embeddings/oleObject168.bin"/><Relationship Id="rId8" Type="http://schemas.openxmlformats.org/officeDocument/2006/relationships/image" Target="../media/image200.emf"/><Relationship Id="rId7" Type="http://schemas.openxmlformats.org/officeDocument/2006/relationships/oleObject" Target="../embeddings/oleObject167.bin"/><Relationship Id="rId6" Type="http://schemas.openxmlformats.org/officeDocument/2006/relationships/image" Target="../media/image199.wmf"/><Relationship Id="rId5" Type="http://schemas.openxmlformats.org/officeDocument/2006/relationships/oleObject" Target="../embeddings/oleObject166.bin"/><Relationship Id="rId4" Type="http://schemas.openxmlformats.org/officeDocument/2006/relationships/image" Target="../media/image198.wmf"/><Relationship Id="rId3" Type="http://schemas.openxmlformats.org/officeDocument/2006/relationships/oleObject" Target="../embeddings/oleObject165.bin"/><Relationship Id="rId2" Type="http://schemas.openxmlformats.org/officeDocument/2006/relationships/image" Target="../media/image197.wmf"/><Relationship Id="rId16" Type="http://schemas.openxmlformats.org/officeDocument/2006/relationships/vmlDrawing" Target="../drawings/vmlDrawing34.vml"/><Relationship Id="rId15" Type="http://schemas.openxmlformats.org/officeDocument/2006/relationships/slideLayout" Target="../slideLayouts/slideLayout7.xml"/><Relationship Id="rId14" Type="http://schemas.openxmlformats.org/officeDocument/2006/relationships/image" Target="../media/image203.wmf"/><Relationship Id="rId13" Type="http://schemas.openxmlformats.org/officeDocument/2006/relationships/oleObject" Target="../embeddings/oleObject170.bin"/><Relationship Id="rId12" Type="http://schemas.openxmlformats.org/officeDocument/2006/relationships/image" Target="../media/image202.wmf"/><Relationship Id="rId11" Type="http://schemas.openxmlformats.org/officeDocument/2006/relationships/oleObject" Target="../embeddings/oleObject169.bin"/><Relationship Id="rId10" Type="http://schemas.openxmlformats.org/officeDocument/2006/relationships/image" Target="../media/image201.wmf"/><Relationship Id="rId1" Type="http://schemas.openxmlformats.org/officeDocument/2006/relationships/oleObject" Target="../embeddings/oleObject164.bin"/></Relationships>
</file>

<file path=ppt/slides/_rels/slide45.xml.rels><?xml version="1.0" encoding="UTF-8" standalone="yes"?>
<Relationships xmlns="http://schemas.openxmlformats.org/package/2006/relationships"><Relationship Id="rId9" Type="http://schemas.openxmlformats.org/officeDocument/2006/relationships/oleObject" Target="../embeddings/oleObject175.bin"/><Relationship Id="rId8" Type="http://schemas.openxmlformats.org/officeDocument/2006/relationships/image" Target="../media/image206.wmf"/><Relationship Id="rId7" Type="http://schemas.openxmlformats.org/officeDocument/2006/relationships/oleObject" Target="../embeddings/oleObject174.bin"/><Relationship Id="rId6" Type="http://schemas.openxmlformats.org/officeDocument/2006/relationships/image" Target="../media/image205.wmf"/><Relationship Id="rId5" Type="http://schemas.openxmlformats.org/officeDocument/2006/relationships/oleObject" Target="../embeddings/oleObject173.bin"/><Relationship Id="rId4" Type="http://schemas.openxmlformats.org/officeDocument/2006/relationships/image" Target="../media/image204.wmf"/><Relationship Id="rId3" Type="http://schemas.openxmlformats.org/officeDocument/2006/relationships/oleObject" Target="../embeddings/oleObject172.bin"/><Relationship Id="rId2" Type="http://schemas.openxmlformats.org/officeDocument/2006/relationships/image" Target="../media/image200.emf"/><Relationship Id="rId14" Type="http://schemas.openxmlformats.org/officeDocument/2006/relationships/vmlDrawing" Target="../drawings/vmlDrawing35.vml"/><Relationship Id="rId13" Type="http://schemas.openxmlformats.org/officeDocument/2006/relationships/slideLayout" Target="../slideLayouts/slideLayout13.xml"/><Relationship Id="rId12" Type="http://schemas.openxmlformats.org/officeDocument/2006/relationships/image" Target="../media/image208.wmf"/><Relationship Id="rId11" Type="http://schemas.openxmlformats.org/officeDocument/2006/relationships/oleObject" Target="../embeddings/oleObject176.bin"/><Relationship Id="rId10" Type="http://schemas.openxmlformats.org/officeDocument/2006/relationships/image" Target="../media/image207.wmf"/><Relationship Id="rId1" Type="http://schemas.openxmlformats.org/officeDocument/2006/relationships/oleObject" Target="../embeddings/oleObject171.bin"/></Relationships>
</file>

<file path=ppt/slides/_rels/slide46.xml.rels><?xml version="1.0" encoding="UTF-8" standalone="yes"?>
<Relationships xmlns="http://schemas.openxmlformats.org/package/2006/relationships"><Relationship Id="rId9" Type="http://schemas.openxmlformats.org/officeDocument/2006/relationships/oleObject" Target="../embeddings/oleObject181.bin"/><Relationship Id="rId8" Type="http://schemas.openxmlformats.org/officeDocument/2006/relationships/image" Target="../media/image211.wmf"/><Relationship Id="rId7" Type="http://schemas.openxmlformats.org/officeDocument/2006/relationships/oleObject" Target="../embeddings/oleObject180.bin"/><Relationship Id="rId6" Type="http://schemas.openxmlformats.org/officeDocument/2006/relationships/image" Target="../media/image210.wmf"/><Relationship Id="rId5" Type="http://schemas.openxmlformats.org/officeDocument/2006/relationships/oleObject" Target="../embeddings/oleObject179.bin"/><Relationship Id="rId4" Type="http://schemas.openxmlformats.org/officeDocument/2006/relationships/image" Target="../media/image209.wmf"/><Relationship Id="rId3" Type="http://schemas.openxmlformats.org/officeDocument/2006/relationships/oleObject" Target="../embeddings/oleObject178.bin"/><Relationship Id="rId28" Type="http://schemas.openxmlformats.org/officeDocument/2006/relationships/vmlDrawing" Target="../drawings/vmlDrawing36.vml"/><Relationship Id="rId27" Type="http://schemas.openxmlformats.org/officeDocument/2006/relationships/slideLayout" Target="../slideLayouts/slideLayout7.xml"/><Relationship Id="rId26" Type="http://schemas.openxmlformats.org/officeDocument/2006/relationships/image" Target="../media/image220.wmf"/><Relationship Id="rId25" Type="http://schemas.openxmlformats.org/officeDocument/2006/relationships/oleObject" Target="../embeddings/oleObject189.bin"/><Relationship Id="rId24" Type="http://schemas.openxmlformats.org/officeDocument/2006/relationships/image" Target="../media/image219.wmf"/><Relationship Id="rId23" Type="http://schemas.openxmlformats.org/officeDocument/2006/relationships/oleObject" Target="../embeddings/oleObject188.bin"/><Relationship Id="rId22" Type="http://schemas.openxmlformats.org/officeDocument/2006/relationships/image" Target="../media/image218.wmf"/><Relationship Id="rId21" Type="http://schemas.openxmlformats.org/officeDocument/2006/relationships/oleObject" Target="../embeddings/oleObject187.bin"/><Relationship Id="rId20" Type="http://schemas.openxmlformats.org/officeDocument/2006/relationships/image" Target="../media/image217.wmf"/><Relationship Id="rId2" Type="http://schemas.openxmlformats.org/officeDocument/2006/relationships/image" Target="../media/image208.wmf"/><Relationship Id="rId19" Type="http://schemas.openxmlformats.org/officeDocument/2006/relationships/oleObject" Target="../embeddings/oleObject186.bin"/><Relationship Id="rId18" Type="http://schemas.openxmlformats.org/officeDocument/2006/relationships/image" Target="../media/image216.wmf"/><Relationship Id="rId17" Type="http://schemas.openxmlformats.org/officeDocument/2006/relationships/oleObject" Target="../embeddings/oleObject185.bin"/><Relationship Id="rId16" Type="http://schemas.openxmlformats.org/officeDocument/2006/relationships/image" Target="../media/image215.wmf"/><Relationship Id="rId15" Type="http://schemas.openxmlformats.org/officeDocument/2006/relationships/oleObject" Target="../embeddings/oleObject184.bin"/><Relationship Id="rId14" Type="http://schemas.openxmlformats.org/officeDocument/2006/relationships/image" Target="../media/image214.wmf"/><Relationship Id="rId13" Type="http://schemas.openxmlformats.org/officeDocument/2006/relationships/oleObject" Target="../embeddings/oleObject183.bin"/><Relationship Id="rId12" Type="http://schemas.openxmlformats.org/officeDocument/2006/relationships/image" Target="../media/image213.wmf"/><Relationship Id="rId11" Type="http://schemas.openxmlformats.org/officeDocument/2006/relationships/oleObject" Target="../embeddings/oleObject182.bin"/><Relationship Id="rId10" Type="http://schemas.openxmlformats.org/officeDocument/2006/relationships/image" Target="../media/image212.wmf"/><Relationship Id="rId1" Type="http://schemas.openxmlformats.org/officeDocument/2006/relationships/oleObject" Target="../embeddings/oleObject177.bin"/></Relationships>
</file>

<file path=ppt/slides/_rels/slide4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24.wmf"/><Relationship Id="rId7" Type="http://schemas.openxmlformats.org/officeDocument/2006/relationships/oleObject" Target="../embeddings/oleObject193.bin"/><Relationship Id="rId6" Type="http://schemas.openxmlformats.org/officeDocument/2006/relationships/image" Target="../media/image223.wmf"/><Relationship Id="rId5" Type="http://schemas.openxmlformats.org/officeDocument/2006/relationships/oleObject" Target="../embeddings/oleObject192.bin"/><Relationship Id="rId4" Type="http://schemas.openxmlformats.org/officeDocument/2006/relationships/image" Target="../media/image222.wmf"/><Relationship Id="rId3" Type="http://schemas.openxmlformats.org/officeDocument/2006/relationships/oleObject" Target="../embeddings/oleObject191.bin"/><Relationship Id="rId2" Type="http://schemas.openxmlformats.org/officeDocument/2006/relationships/image" Target="../media/image221.wmf"/><Relationship Id="rId10" Type="http://schemas.openxmlformats.org/officeDocument/2006/relationships/vmlDrawing" Target="../drawings/vmlDrawing37.vml"/><Relationship Id="rId1" Type="http://schemas.openxmlformats.org/officeDocument/2006/relationships/oleObject" Target="../embeddings/oleObject190.bin"/></Relationships>
</file>

<file path=ppt/slides/_rels/slide48.xml.rels><?xml version="1.0" encoding="UTF-8" standalone="yes"?>
<Relationships xmlns="http://schemas.openxmlformats.org/package/2006/relationships"><Relationship Id="rId9" Type="http://schemas.openxmlformats.org/officeDocument/2006/relationships/oleObject" Target="../embeddings/oleObject198.bin"/><Relationship Id="rId8" Type="http://schemas.openxmlformats.org/officeDocument/2006/relationships/image" Target="../media/image218.wmf"/><Relationship Id="rId7" Type="http://schemas.openxmlformats.org/officeDocument/2006/relationships/oleObject" Target="../embeddings/oleObject197.bin"/><Relationship Id="rId6" Type="http://schemas.openxmlformats.org/officeDocument/2006/relationships/image" Target="../media/image227.wmf"/><Relationship Id="rId5" Type="http://schemas.openxmlformats.org/officeDocument/2006/relationships/oleObject" Target="../embeddings/oleObject196.bin"/><Relationship Id="rId4" Type="http://schemas.openxmlformats.org/officeDocument/2006/relationships/image" Target="../media/image226.wmf"/><Relationship Id="rId3" Type="http://schemas.openxmlformats.org/officeDocument/2006/relationships/oleObject" Target="../embeddings/oleObject195.bin"/><Relationship Id="rId2" Type="http://schemas.openxmlformats.org/officeDocument/2006/relationships/image" Target="../media/image225.wmf"/><Relationship Id="rId16" Type="http://schemas.openxmlformats.org/officeDocument/2006/relationships/vmlDrawing" Target="../drawings/vmlDrawing38.vml"/><Relationship Id="rId15" Type="http://schemas.openxmlformats.org/officeDocument/2006/relationships/slideLayout" Target="../slideLayouts/slideLayout7.xml"/><Relationship Id="rId14" Type="http://schemas.openxmlformats.org/officeDocument/2006/relationships/image" Target="../media/image230.wmf"/><Relationship Id="rId13" Type="http://schemas.openxmlformats.org/officeDocument/2006/relationships/oleObject" Target="../embeddings/oleObject200.bin"/><Relationship Id="rId12" Type="http://schemas.openxmlformats.org/officeDocument/2006/relationships/image" Target="../media/image229.wmf"/><Relationship Id="rId11" Type="http://schemas.openxmlformats.org/officeDocument/2006/relationships/oleObject" Target="../embeddings/oleObject199.bin"/><Relationship Id="rId10" Type="http://schemas.openxmlformats.org/officeDocument/2006/relationships/image" Target="../media/image228.wmf"/><Relationship Id="rId1" Type="http://schemas.openxmlformats.org/officeDocument/2006/relationships/oleObject" Target="../embeddings/oleObject194.bin"/></Relationships>
</file>

<file path=ppt/slides/_rels/slide49.xml.rels><?xml version="1.0" encoding="UTF-8" standalone="yes"?>
<Relationships xmlns="http://schemas.openxmlformats.org/package/2006/relationships"><Relationship Id="rId9" Type="http://schemas.openxmlformats.org/officeDocument/2006/relationships/oleObject" Target="../embeddings/oleObject205.bin"/><Relationship Id="rId8" Type="http://schemas.openxmlformats.org/officeDocument/2006/relationships/image" Target="../media/image234.wmf"/><Relationship Id="rId7" Type="http://schemas.openxmlformats.org/officeDocument/2006/relationships/oleObject" Target="../embeddings/oleObject204.bin"/><Relationship Id="rId6" Type="http://schemas.openxmlformats.org/officeDocument/2006/relationships/image" Target="../media/image233.wmf"/><Relationship Id="rId5" Type="http://schemas.openxmlformats.org/officeDocument/2006/relationships/oleObject" Target="../embeddings/oleObject203.bin"/><Relationship Id="rId4" Type="http://schemas.openxmlformats.org/officeDocument/2006/relationships/image" Target="../media/image232.wmf"/><Relationship Id="rId3" Type="http://schemas.openxmlformats.org/officeDocument/2006/relationships/oleObject" Target="../embeddings/oleObject202.bin"/><Relationship Id="rId2" Type="http://schemas.openxmlformats.org/officeDocument/2006/relationships/image" Target="../media/image231.wmf"/><Relationship Id="rId14" Type="http://schemas.openxmlformats.org/officeDocument/2006/relationships/vmlDrawing" Target="../drawings/vmlDrawing39.vml"/><Relationship Id="rId13" Type="http://schemas.openxmlformats.org/officeDocument/2006/relationships/slideLayout" Target="../slideLayouts/slideLayout7.xml"/><Relationship Id="rId12" Type="http://schemas.openxmlformats.org/officeDocument/2006/relationships/image" Target="../media/image236.wmf"/><Relationship Id="rId11" Type="http://schemas.openxmlformats.org/officeDocument/2006/relationships/oleObject" Target="../embeddings/oleObject206.bin"/><Relationship Id="rId10" Type="http://schemas.openxmlformats.org/officeDocument/2006/relationships/image" Target="../media/image235.wmf"/><Relationship Id="rId1" Type="http://schemas.openxmlformats.org/officeDocument/2006/relationships/oleObject" Target="../embeddings/oleObject201.bin"/></Relationships>
</file>

<file path=ppt/slides/_rels/slide50.xml.rels><?xml version="1.0" encoding="UTF-8" standalone="yes"?>
<Relationships xmlns="http://schemas.openxmlformats.org/package/2006/relationships"><Relationship Id="rId9" Type="http://schemas.openxmlformats.org/officeDocument/2006/relationships/oleObject" Target="../embeddings/oleObject211.bin"/><Relationship Id="rId8" Type="http://schemas.openxmlformats.org/officeDocument/2006/relationships/image" Target="../media/image240.wmf"/><Relationship Id="rId7" Type="http://schemas.openxmlformats.org/officeDocument/2006/relationships/oleObject" Target="../embeddings/oleObject210.bin"/><Relationship Id="rId6" Type="http://schemas.openxmlformats.org/officeDocument/2006/relationships/image" Target="../media/image239.wmf"/><Relationship Id="rId5" Type="http://schemas.openxmlformats.org/officeDocument/2006/relationships/oleObject" Target="../embeddings/oleObject209.bin"/><Relationship Id="rId4" Type="http://schemas.openxmlformats.org/officeDocument/2006/relationships/image" Target="../media/image238.emf"/><Relationship Id="rId3" Type="http://schemas.openxmlformats.org/officeDocument/2006/relationships/oleObject" Target="../embeddings/oleObject208.bin"/><Relationship Id="rId2" Type="http://schemas.openxmlformats.org/officeDocument/2006/relationships/image" Target="../media/image237.emf"/><Relationship Id="rId12" Type="http://schemas.openxmlformats.org/officeDocument/2006/relationships/vmlDrawing" Target="../drawings/vmlDrawing40.vml"/><Relationship Id="rId11" Type="http://schemas.openxmlformats.org/officeDocument/2006/relationships/slideLayout" Target="../slideLayouts/slideLayout7.xml"/><Relationship Id="rId10" Type="http://schemas.openxmlformats.org/officeDocument/2006/relationships/image" Target="../media/image241.wmf"/><Relationship Id="rId1" Type="http://schemas.openxmlformats.org/officeDocument/2006/relationships/oleObject" Target="../embeddings/oleObject207.bin"/></Relationships>
</file>

<file path=ppt/slides/_rels/slide51.xml.rels><?xml version="1.0" encoding="UTF-8" standalone="yes"?>
<Relationships xmlns="http://schemas.openxmlformats.org/package/2006/relationships"><Relationship Id="rId9" Type="http://schemas.openxmlformats.org/officeDocument/2006/relationships/image" Target="../media/image246.wmf"/><Relationship Id="rId8" Type="http://schemas.openxmlformats.org/officeDocument/2006/relationships/oleObject" Target="../embeddings/oleObject215.bin"/><Relationship Id="rId7" Type="http://schemas.openxmlformats.org/officeDocument/2006/relationships/image" Target="../media/image245.wmf"/><Relationship Id="rId6" Type="http://schemas.openxmlformats.org/officeDocument/2006/relationships/oleObject" Target="../embeddings/oleObject214.bin"/><Relationship Id="rId5" Type="http://schemas.openxmlformats.org/officeDocument/2006/relationships/image" Target="../media/image244.wmf"/><Relationship Id="rId4" Type="http://schemas.openxmlformats.org/officeDocument/2006/relationships/oleObject" Target="../embeddings/oleObject213.bin"/><Relationship Id="rId3" Type="http://schemas.openxmlformats.org/officeDocument/2006/relationships/image" Target="../media/image243.wmf"/><Relationship Id="rId2" Type="http://schemas.openxmlformats.org/officeDocument/2006/relationships/oleObject" Target="../embeddings/oleObject212.bin"/><Relationship Id="rId13" Type="http://schemas.openxmlformats.org/officeDocument/2006/relationships/vmlDrawing" Target="../drawings/vmlDrawing41.vml"/><Relationship Id="rId12" Type="http://schemas.openxmlformats.org/officeDocument/2006/relationships/slideLayout" Target="../slideLayouts/slideLayout7.xml"/><Relationship Id="rId11" Type="http://schemas.openxmlformats.org/officeDocument/2006/relationships/image" Target="../media/image247.wmf"/><Relationship Id="rId10" Type="http://schemas.openxmlformats.org/officeDocument/2006/relationships/oleObject" Target="../embeddings/oleObject216.bin"/><Relationship Id="rId1" Type="http://schemas.openxmlformats.org/officeDocument/2006/relationships/image" Target="../media/image242.png"/></Relationships>
</file>

<file path=ppt/slides/_rels/slide52.xml.rels><?xml version="1.0" encoding="UTF-8" standalone="yes"?>
<Relationships xmlns="http://schemas.openxmlformats.org/package/2006/relationships"><Relationship Id="rId9" Type="http://schemas.openxmlformats.org/officeDocument/2006/relationships/image" Target="../media/image256.wmf"/><Relationship Id="rId8" Type="http://schemas.openxmlformats.org/officeDocument/2006/relationships/image" Target="../media/image255.wmf"/><Relationship Id="rId7" Type="http://schemas.openxmlformats.org/officeDocument/2006/relationships/image" Target="../media/image254.wmf"/><Relationship Id="rId6" Type="http://schemas.openxmlformats.org/officeDocument/2006/relationships/image" Target="../media/image253.wmf"/><Relationship Id="rId5" Type="http://schemas.openxmlformats.org/officeDocument/2006/relationships/image" Target="../media/image252.wmf"/><Relationship Id="rId4" Type="http://schemas.openxmlformats.org/officeDocument/2006/relationships/image" Target="../media/image251.wmf"/><Relationship Id="rId3" Type="http://schemas.openxmlformats.org/officeDocument/2006/relationships/image" Target="../media/image250.wmf"/><Relationship Id="rId24" Type="http://schemas.openxmlformats.org/officeDocument/2006/relationships/vmlDrawing" Target="../drawings/vmlDrawing42.vml"/><Relationship Id="rId23" Type="http://schemas.openxmlformats.org/officeDocument/2006/relationships/slideLayout" Target="../slideLayouts/slideLayout7.xml"/><Relationship Id="rId22" Type="http://schemas.openxmlformats.org/officeDocument/2006/relationships/image" Target="../media/image264.wmf"/><Relationship Id="rId21" Type="http://schemas.openxmlformats.org/officeDocument/2006/relationships/oleObject" Target="../embeddings/oleObject221.bin"/><Relationship Id="rId20" Type="http://schemas.openxmlformats.org/officeDocument/2006/relationships/image" Target="../media/image263.wmf"/><Relationship Id="rId2" Type="http://schemas.openxmlformats.org/officeDocument/2006/relationships/image" Target="../media/image249.wmf"/><Relationship Id="rId19" Type="http://schemas.openxmlformats.org/officeDocument/2006/relationships/oleObject" Target="../embeddings/oleObject220.bin"/><Relationship Id="rId18" Type="http://schemas.openxmlformats.org/officeDocument/2006/relationships/image" Target="../media/image262.wmf"/><Relationship Id="rId17" Type="http://schemas.openxmlformats.org/officeDocument/2006/relationships/oleObject" Target="../embeddings/oleObject219.bin"/><Relationship Id="rId16" Type="http://schemas.openxmlformats.org/officeDocument/2006/relationships/image" Target="../media/image261.wmf"/><Relationship Id="rId15" Type="http://schemas.openxmlformats.org/officeDocument/2006/relationships/image" Target="../media/image260.wmf"/><Relationship Id="rId14" Type="http://schemas.openxmlformats.org/officeDocument/2006/relationships/image" Target="../media/image259.wmf"/><Relationship Id="rId13" Type="http://schemas.openxmlformats.org/officeDocument/2006/relationships/image" Target="../media/image258.wmf"/><Relationship Id="rId12" Type="http://schemas.openxmlformats.org/officeDocument/2006/relationships/oleObject" Target="../embeddings/oleObject218.bin"/><Relationship Id="rId11" Type="http://schemas.openxmlformats.org/officeDocument/2006/relationships/image" Target="../media/image257.wmf"/><Relationship Id="rId10" Type="http://schemas.openxmlformats.org/officeDocument/2006/relationships/oleObject" Target="../embeddings/oleObject217.bin"/><Relationship Id="rId1" Type="http://schemas.openxmlformats.org/officeDocument/2006/relationships/image" Target="../media/image248.emf"/></Relationships>
</file>

<file path=ppt/slides/_rels/slide53.xml.rels><?xml version="1.0" encoding="UTF-8" standalone="yes"?>
<Relationships xmlns="http://schemas.openxmlformats.org/package/2006/relationships"><Relationship Id="rId9" Type="http://schemas.openxmlformats.org/officeDocument/2006/relationships/oleObject" Target="../embeddings/oleObject225.bin"/><Relationship Id="rId8" Type="http://schemas.openxmlformats.org/officeDocument/2006/relationships/image" Target="../media/image269.wmf"/><Relationship Id="rId7" Type="http://schemas.openxmlformats.org/officeDocument/2006/relationships/oleObject" Target="../embeddings/oleObject224.bin"/><Relationship Id="rId6" Type="http://schemas.openxmlformats.org/officeDocument/2006/relationships/image" Target="../media/image268.wmf"/><Relationship Id="rId5" Type="http://schemas.openxmlformats.org/officeDocument/2006/relationships/oleObject" Target="../embeddings/oleObject223.bin"/><Relationship Id="rId4" Type="http://schemas.openxmlformats.org/officeDocument/2006/relationships/image" Target="../media/image267.wmf"/><Relationship Id="rId3" Type="http://schemas.openxmlformats.org/officeDocument/2006/relationships/oleObject" Target="../embeddings/oleObject222.bin"/><Relationship Id="rId2" Type="http://schemas.openxmlformats.org/officeDocument/2006/relationships/image" Target="../media/image266.png"/><Relationship Id="rId12" Type="http://schemas.openxmlformats.org/officeDocument/2006/relationships/vmlDrawing" Target="../drawings/vmlDrawing43.vml"/><Relationship Id="rId11" Type="http://schemas.openxmlformats.org/officeDocument/2006/relationships/slideLayout" Target="../slideLayouts/slideLayout7.xml"/><Relationship Id="rId10" Type="http://schemas.openxmlformats.org/officeDocument/2006/relationships/image" Target="../media/image270.wmf"/><Relationship Id="rId1" Type="http://schemas.openxmlformats.org/officeDocument/2006/relationships/image" Target="../media/image265.tiff"/></Relationships>
</file>

<file path=ppt/slides/_rels/slide54.xml.rels><?xml version="1.0" encoding="UTF-8" standalone="yes"?>
<Relationships xmlns="http://schemas.openxmlformats.org/package/2006/relationships"><Relationship Id="rId9" Type="http://schemas.openxmlformats.org/officeDocument/2006/relationships/image" Target="../media/image266.png"/><Relationship Id="rId8" Type="http://schemas.openxmlformats.org/officeDocument/2006/relationships/image" Target="../media/image274.wmf"/><Relationship Id="rId7" Type="http://schemas.openxmlformats.org/officeDocument/2006/relationships/oleObject" Target="../embeddings/oleObject229.bin"/><Relationship Id="rId6" Type="http://schemas.openxmlformats.org/officeDocument/2006/relationships/image" Target="../media/image273.wmf"/><Relationship Id="rId5" Type="http://schemas.openxmlformats.org/officeDocument/2006/relationships/oleObject" Target="../embeddings/oleObject228.bin"/><Relationship Id="rId4" Type="http://schemas.openxmlformats.org/officeDocument/2006/relationships/image" Target="../media/image272.wmf"/><Relationship Id="rId3" Type="http://schemas.openxmlformats.org/officeDocument/2006/relationships/oleObject" Target="../embeddings/oleObject227.bin"/><Relationship Id="rId2" Type="http://schemas.openxmlformats.org/officeDocument/2006/relationships/image" Target="../media/image271.wmf"/><Relationship Id="rId13" Type="http://schemas.openxmlformats.org/officeDocument/2006/relationships/vmlDrawing" Target="../drawings/vmlDrawing44.vml"/><Relationship Id="rId12" Type="http://schemas.openxmlformats.org/officeDocument/2006/relationships/slideLayout" Target="../slideLayouts/slideLayout7.xml"/><Relationship Id="rId11" Type="http://schemas.openxmlformats.org/officeDocument/2006/relationships/image" Target="../media/image275.wmf"/><Relationship Id="rId10" Type="http://schemas.openxmlformats.org/officeDocument/2006/relationships/oleObject" Target="../embeddings/oleObject230.bin"/><Relationship Id="rId1" Type="http://schemas.openxmlformats.org/officeDocument/2006/relationships/oleObject" Target="../embeddings/oleObject226.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9" Type="http://schemas.openxmlformats.org/officeDocument/2006/relationships/oleObject" Target="../embeddings/oleObject235.bin"/><Relationship Id="rId8" Type="http://schemas.openxmlformats.org/officeDocument/2006/relationships/image" Target="../media/image279.wmf"/><Relationship Id="rId7" Type="http://schemas.openxmlformats.org/officeDocument/2006/relationships/oleObject" Target="../embeddings/oleObject234.bin"/><Relationship Id="rId6" Type="http://schemas.openxmlformats.org/officeDocument/2006/relationships/image" Target="../media/image278.wmf"/><Relationship Id="rId5" Type="http://schemas.openxmlformats.org/officeDocument/2006/relationships/oleObject" Target="../embeddings/oleObject233.bin"/><Relationship Id="rId4" Type="http://schemas.openxmlformats.org/officeDocument/2006/relationships/image" Target="../media/image277.emf"/><Relationship Id="rId3" Type="http://schemas.openxmlformats.org/officeDocument/2006/relationships/oleObject" Target="../embeddings/oleObject232.bin"/><Relationship Id="rId20" Type="http://schemas.openxmlformats.org/officeDocument/2006/relationships/vmlDrawing" Target="../drawings/vmlDrawing45.vml"/><Relationship Id="rId2" Type="http://schemas.openxmlformats.org/officeDocument/2006/relationships/image" Target="../media/image276.emf"/><Relationship Id="rId19" Type="http://schemas.openxmlformats.org/officeDocument/2006/relationships/slideLayout" Target="../slideLayouts/slideLayout7.xml"/><Relationship Id="rId18" Type="http://schemas.openxmlformats.org/officeDocument/2006/relationships/image" Target="../media/image284.wmf"/><Relationship Id="rId17" Type="http://schemas.openxmlformats.org/officeDocument/2006/relationships/oleObject" Target="../embeddings/oleObject239.bin"/><Relationship Id="rId16" Type="http://schemas.openxmlformats.org/officeDocument/2006/relationships/image" Target="../media/image283.wmf"/><Relationship Id="rId15" Type="http://schemas.openxmlformats.org/officeDocument/2006/relationships/oleObject" Target="../embeddings/oleObject238.bin"/><Relationship Id="rId14" Type="http://schemas.openxmlformats.org/officeDocument/2006/relationships/image" Target="../media/image282.wmf"/><Relationship Id="rId13" Type="http://schemas.openxmlformats.org/officeDocument/2006/relationships/oleObject" Target="../embeddings/oleObject237.bin"/><Relationship Id="rId12" Type="http://schemas.openxmlformats.org/officeDocument/2006/relationships/image" Target="../media/image281.wmf"/><Relationship Id="rId11" Type="http://schemas.openxmlformats.org/officeDocument/2006/relationships/oleObject" Target="../embeddings/oleObject236.bin"/><Relationship Id="rId10" Type="http://schemas.openxmlformats.org/officeDocument/2006/relationships/image" Target="../media/image280.wmf"/><Relationship Id="rId1" Type="http://schemas.openxmlformats.org/officeDocument/2006/relationships/oleObject" Target="../embeddings/oleObject231.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9" Type="http://schemas.openxmlformats.org/officeDocument/2006/relationships/image" Target="../media/image289.wmf"/><Relationship Id="rId8" Type="http://schemas.openxmlformats.org/officeDocument/2006/relationships/oleObject" Target="../embeddings/oleObject243.bin"/><Relationship Id="rId7" Type="http://schemas.openxmlformats.org/officeDocument/2006/relationships/image" Target="../media/image288.wmf"/><Relationship Id="rId6" Type="http://schemas.openxmlformats.org/officeDocument/2006/relationships/oleObject" Target="../embeddings/oleObject242.bin"/><Relationship Id="rId5" Type="http://schemas.openxmlformats.org/officeDocument/2006/relationships/image" Target="../media/image287.wmf"/><Relationship Id="rId4" Type="http://schemas.openxmlformats.org/officeDocument/2006/relationships/oleObject" Target="../embeddings/oleObject241.bin"/><Relationship Id="rId3" Type="http://schemas.openxmlformats.org/officeDocument/2006/relationships/image" Target="../media/image286.png"/><Relationship Id="rId27" Type="http://schemas.openxmlformats.org/officeDocument/2006/relationships/vmlDrawing" Target="../drawings/vmlDrawing46.vml"/><Relationship Id="rId26" Type="http://schemas.openxmlformats.org/officeDocument/2006/relationships/slideLayout" Target="../slideLayouts/slideLayout7.xml"/><Relationship Id="rId25" Type="http://schemas.openxmlformats.org/officeDocument/2006/relationships/image" Target="../media/image297.wmf"/><Relationship Id="rId24" Type="http://schemas.openxmlformats.org/officeDocument/2006/relationships/oleObject" Target="../embeddings/oleObject251.bin"/><Relationship Id="rId23" Type="http://schemas.openxmlformats.org/officeDocument/2006/relationships/image" Target="../media/image296.wmf"/><Relationship Id="rId22" Type="http://schemas.openxmlformats.org/officeDocument/2006/relationships/oleObject" Target="../embeddings/oleObject250.bin"/><Relationship Id="rId21" Type="http://schemas.openxmlformats.org/officeDocument/2006/relationships/image" Target="../media/image295.wmf"/><Relationship Id="rId20" Type="http://schemas.openxmlformats.org/officeDocument/2006/relationships/oleObject" Target="../embeddings/oleObject249.bin"/><Relationship Id="rId2" Type="http://schemas.openxmlformats.org/officeDocument/2006/relationships/image" Target="../media/image285.wmf"/><Relationship Id="rId19" Type="http://schemas.openxmlformats.org/officeDocument/2006/relationships/image" Target="../media/image294.wmf"/><Relationship Id="rId18" Type="http://schemas.openxmlformats.org/officeDocument/2006/relationships/oleObject" Target="../embeddings/oleObject248.bin"/><Relationship Id="rId17" Type="http://schemas.openxmlformats.org/officeDocument/2006/relationships/image" Target="../media/image293.wmf"/><Relationship Id="rId16" Type="http://schemas.openxmlformats.org/officeDocument/2006/relationships/oleObject" Target="../embeddings/oleObject247.bin"/><Relationship Id="rId15" Type="http://schemas.openxmlformats.org/officeDocument/2006/relationships/image" Target="../media/image292.wmf"/><Relationship Id="rId14" Type="http://schemas.openxmlformats.org/officeDocument/2006/relationships/oleObject" Target="../embeddings/oleObject246.bin"/><Relationship Id="rId13" Type="http://schemas.openxmlformats.org/officeDocument/2006/relationships/image" Target="../media/image291.wmf"/><Relationship Id="rId12" Type="http://schemas.openxmlformats.org/officeDocument/2006/relationships/oleObject" Target="../embeddings/oleObject245.bin"/><Relationship Id="rId11" Type="http://schemas.openxmlformats.org/officeDocument/2006/relationships/image" Target="../media/image290.wmf"/><Relationship Id="rId10" Type="http://schemas.openxmlformats.org/officeDocument/2006/relationships/oleObject" Target="../embeddings/oleObject244.bin"/><Relationship Id="rId1" Type="http://schemas.openxmlformats.org/officeDocument/2006/relationships/oleObject" Target="../embeddings/oleObject240.bin"/></Relationships>
</file>

<file path=ppt/slides/_rels/slide59.xml.rels><?xml version="1.0" encoding="UTF-8" standalone="yes"?>
<Relationships xmlns="http://schemas.openxmlformats.org/package/2006/relationships"><Relationship Id="rId7" Type="http://schemas.openxmlformats.org/officeDocument/2006/relationships/vmlDrawing" Target="../drawings/vmlDrawing47.vml"/><Relationship Id="rId6" Type="http://schemas.openxmlformats.org/officeDocument/2006/relationships/slideLayout" Target="../slideLayouts/slideLayout7.xml"/><Relationship Id="rId5" Type="http://schemas.openxmlformats.org/officeDocument/2006/relationships/image" Target="../media/image299.wmf"/><Relationship Id="rId4" Type="http://schemas.openxmlformats.org/officeDocument/2006/relationships/oleObject" Target="../embeddings/oleObject253.bin"/><Relationship Id="rId3" Type="http://schemas.openxmlformats.org/officeDocument/2006/relationships/image" Target="../media/image298.wmf"/><Relationship Id="rId2" Type="http://schemas.openxmlformats.org/officeDocument/2006/relationships/oleObject" Target="../embeddings/oleObject252.bin"/><Relationship Id="rId1" Type="http://schemas.openxmlformats.org/officeDocument/2006/relationships/image" Target="../media/image286.png"/></Relationships>
</file>

<file path=ppt/slides/_rels/slide60.xml.rels><?xml version="1.0" encoding="UTF-8" standalone="yes"?>
<Relationships xmlns="http://schemas.openxmlformats.org/package/2006/relationships"><Relationship Id="rId9" Type="http://schemas.openxmlformats.org/officeDocument/2006/relationships/image" Target="../media/image304.wmf"/><Relationship Id="rId8" Type="http://schemas.openxmlformats.org/officeDocument/2006/relationships/oleObject" Target="../embeddings/oleObject257.bin"/><Relationship Id="rId7" Type="http://schemas.openxmlformats.org/officeDocument/2006/relationships/image" Target="../media/image303.wmf"/><Relationship Id="rId6" Type="http://schemas.openxmlformats.org/officeDocument/2006/relationships/oleObject" Target="../embeddings/oleObject256.bin"/><Relationship Id="rId5" Type="http://schemas.openxmlformats.org/officeDocument/2006/relationships/image" Target="../media/image302.wmf"/><Relationship Id="rId4" Type="http://schemas.openxmlformats.org/officeDocument/2006/relationships/oleObject" Target="../embeddings/oleObject255.bin"/><Relationship Id="rId3" Type="http://schemas.openxmlformats.org/officeDocument/2006/relationships/image" Target="../media/image301.wmf"/><Relationship Id="rId2" Type="http://schemas.openxmlformats.org/officeDocument/2006/relationships/oleObject" Target="../embeddings/oleObject254.bin"/><Relationship Id="rId15" Type="http://schemas.openxmlformats.org/officeDocument/2006/relationships/vmlDrawing" Target="../drawings/vmlDrawing48.vml"/><Relationship Id="rId14" Type="http://schemas.openxmlformats.org/officeDocument/2006/relationships/slideLayout" Target="../slideLayouts/slideLayout7.xml"/><Relationship Id="rId13" Type="http://schemas.openxmlformats.org/officeDocument/2006/relationships/image" Target="../media/image306.wmf"/><Relationship Id="rId12" Type="http://schemas.openxmlformats.org/officeDocument/2006/relationships/oleObject" Target="../embeddings/oleObject259.bin"/><Relationship Id="rId11" Type="http://schemas.openxmlformats.org/officeDocument/2006/relationships/image" Target="../media/image305.wmf"/><Relationship Id="rId10" Type="http://schemas.openxmlformats.org/officeDocument/2006/relationships/oleObject" Target="../embeddings/oleObject258.bin"/><Relationship Id="rId1" Type="http://schemas.openxmlformats.org/officeDocument/2006/relationships/image" Target="../media/image30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4" Type="http://schemas.openxmlformats.org/officeDocument/2006/relationships/vmlDrawing" Target="../drawings/vmlDrawing49.vml"/><Relationship Id="rId3" Type="http://schemas.openxmlformats.org/officeDocument/2006/relationships/slideLayout" Target="../slideLayouts/slideLayout2.xml"/><Relationship Id="rId2" Type="http://schemas.openxmlformats.org/officeDocument/2006/relationships/image" Target="../media/image307.wmf"/><Relationship Id="rId1" Type="http://schemas.openxmlformats.org/officeDocument/2006/relationships/oleObject" Target="../embeddings/oleObject260.bin"/></Relationships>
</file>

<file path=ppt/slides/_rels/slide63.xml.rels><?xml version="1.0" encoding="UTF-8" standalone="yes"?>
<Relationships xmlns="http://schemas.openxmlformats.org/package/2006/relationships"><Relationship Id="rId9" Type="http://schemas.openxmlformats.org/officeDocument/2006/relationships/image" Target="../media/image316.wmf"/><Relationship Id="rId8" Type="http://schemas.openxmlformats.org/officeDocument/2006/relationships/image" Target="../media/image315.wmf"/><Relationship Id="rId7" Type="http://schemas.openxmlformats.org/officeDocument/2006/relationships/image" Target="../media/image314.wmf"/><Relationship Id="rId6" Type="http://schemas.openxmlformats.org/officeDocument/2006/relationships/image" Target="../media/image313.wmf"/><Relationship Id="rId5" Type="http://schemas.openxmlformats.org/officeDocument/2006/relationships/image" Target="../media/image312.wmf"/><Relationship Id="rId4" Type="http://schemas.openxmlformats.org/officeDocument/2006/relationships/image" Target="../media/image311.wmf"/><Relationship Id="rId3" Type="http://schemas.openxmlformats.org/officeDocument/2006/relationships/image" Target="../media/image310.wmf"/><Relationship Id="rId2" Type="http://schemas.openxmlformats.org/officeDocument/2006/relationships/image" Target="../media/image309.png"/><Relationship Id="rId11" Type="http://schemas.openxmlformats.org/officeDocument/2006/relationships/slideLayout" Target="../slideLayouts/slideLayout2.xml"/><Relationship Id="rId10" Type="http://schemas.openxmlformats.org/officeDocument/2006/relationships/image" Target="../media/image317.png"/><Relationship Id="rId1" Type="http://schemas.openxmlformats.org/officeDocument/2006/relationships/image" Target="../media/image308.png"/></Relationships>
</file>

<file path=ppt/slides/_rels/slide64.xml.rels><?xml version="1.0" encoding="UTF-8" standalone="yes"?>
<Relationships xmlns="http://schemas.openxmlformats.org/package/2006/relationships"><Relationship Id="rId9" Type="http://schemas.openxmlformats.org/officeDocument/2006/relationships/image" Target="../media/image326.png"/><Relationship Id="rId8" Type="http://schemas.openxmlformats.org/officeDocument/2006/relationships/image" Target="../media/image325.wmf"/><Relationship Id="rId7" Type="http://schemas.openxmlformats.org/officeDocument/2006/relationships/image" Target="../media/image324.wmf"/><Relationship Id="rId6" Type="http://schemas.openxmlformats.org/officeDocument/2006/relationships/image" Target="../media/image323.wmf"/><Relationship Id="rId5" Type="http://schemas.openxmlformats.org/officeDocument/2006/relationships/image" Target="../media/image322.wmf"/><Relationship Id="rId4" Type="http://schemas.openxmlformats.org/officeDocument/2006/relationships/image" Target="../media/image321.wmf"/><Relationship Id="rId3" Type="http://schemas.openxmlformats.org/officeDocument/2006/relationships/image" Target="../media/image320.wmf"/><Relationship Id="rId2" Type="http://schemas.openxmlformats.org/officeDocument/2006/relationships/image" Target="../media/image319.png"/><Relationship Id="rId13" Type="http://schemas.openxmlformats.org/officeDocument/2006/relationships/vmlDrawing" Target="../drawings/vmlDrawing50.vml"/><Relationship Id="rId12" Type="http://schemas.openxmlformats.org/officeDocument/2006/relationships/slideLayout" Target="../slideLayouts/slideLayout2.xml"/><Relationship Id="rId11" Type="http://schemas.openxmlformats.org/officeDocument/2006/relationships/image" Target="../media/image327.wmf"/><Relationship Id="rId10" Type="http://schemas.openxmlformats.org/officeDocument/2006/relationships/oleObject" Target="../embeddings/oleObject261.bin"/><Relationship Id="rId1" Type="http://schemas.openxmlformats.org/officeDocument/2006/relationships/image" Target="../media/image318.png"/></Relationships>
</file>

<file path=ppt/slides/_rels/slide65.xml.rels><?xml version="1.0" encoding="UTF-8" standalone="yes"?>
<Relationships xmlns="http://schemas.openxmlformats.org/package/2006/relationships"><Relationship Id="rId9" Type="http://schemas.openxmlformats.org/officeDocument/2006/relationships/image" Target="../media/image321.wmf"/><Relationship Id="rId8" Type="http://schemas.openxmlformats.org/officeDocument/2006/relationships/image" Target="../media/image330.png"/><Relationship Id="rId7" Type="http://schemas.openxmlformats.org/officeDocument/2006/relationships/image" Target="../media/image317.png"/><Relationship Id="rId6" Type="http://schemas.openxmlformats.org/officeDocument/2006/relationships/image" Target="../media/image312.wmf"/><Relationship Id="rId5" Type="http://schemas.openxmlformats.org/officeDocument/2006/relationships/image" Target="../media/image329.wmf"/><Relationship Id="rId4" Type="http://schemas.openxmlformats.org/officeDocument/2006/relationships/oleObject" Target="../embeddings/oleObject262.bin"/><Relationship Id="rId3" Type="http://schemas.openxmlformats.org/officeDocument/2006/relationships/image" Target="../media/image328.png"/><Relationship Id="rId2" Type="http://schemas.openxmlformats.org/officeDocument/2006/relationships/image" Target="../media/image308.png"/><Relationship Id="rId15" Type="http://schemas.openxmlformats.org/officeDocument/2006/relationships/vmlDrawing" Target="../drawings/vmlDrawing51.vml"/><Relationship Id="rId14" Type="http://schemas.openxmlformats.org/officeDocument/2006/relationships/slideLayout" Target="../slideLayouts/slideLayout2.xml"/><Relationship Id="rId13" Type="http://schemas.openxmlformats.org/officeDocument/2006/relationships/image" Target="../media/image333.png"/><Relationship Id="rId12" Type="http://schemas.openxmlformats.org/officeDocument/2006/relationships/image" Target="../media/image332.png"/><Relationship Id="rId11" Type="http://schemas.openxmlformats.org/officeDocument/2006/relationships/image" Target="../media/image331.png"/><Relationship Id="rId10" Type="http://schemas.openxmlformats.org/officeDocument/2006/relationships/image" Target="../media/image322.wmf"/><Relationship Id="rId1" Type="http://schemas.openxmlformats.org/officeDocument/2006/relationships/image" Target="../media/image319.png"/></Relationships>
</file>

<file path=ppt/slides/_rels/slide6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337.wmf"/><Relationship Id="rId4" Type="http://schemas.openxmlformats.org/officeDocument/2006/relationships/image" Target="../media/image336.wmf"/><Relationship Id="rId3" Type="http://schemas.openxmlformats.org/officeDocument/2006/relationships/image" Target="../media/image335.wmf"/><Relationship Id="rId2" Type="http://schemas.openxmlformats.org/officeDocument/2006/relationships/image" Target="../media/image334.wmf"/><Relationship Id="rId1" Type="http://schemas.openxmlformats.org/officeDocument/2006/relationships/image" Target="../media/image308.png"/></Relationships>
</file>

<file path=ppt/slides/_rels/slide67.xml.rels><?xml version="1.0" encoding="UTF-8" standalone="yes"?>
<Relationships xmlns="http://schemas.openxmlformats.org/package/2006/relationships"><Relationship Id="rId7" Type="http://schemas.openxmlformats.org/officeDocument/2006/relationships/vmlDrawing" Target="../drawings/vmlDrawing52.vml"/><Relationship Id="rId6" Type="http://schemas.openxmlformats.org/officeDocument/2006/relationships/slideLayout" Target="../slideLayouts/slideLayout2.xml"/><Relationship Id="rId5" Type="http://schemas.openxmlformats.org/officeDocument/2006/relationships/image" Target="../media/image341.wmf"/><Relationship Id="rId4" Type="http://schemas.openxmlformats.org/officeDocument/2006/relationships/image" Target="../media/image340.wmf"/><Relationship Id="rId3" Type="http://schemas.openxmlformats.org/officeDocument/2006/relationships/image" Target="../media/image339.wmf"/><Relationship Id="rId2" Type="http://schemas.openxmlformats.org/officeDocument/2006/relationships/oleObject" Target="../embeddings/oleObject263.bin"/><Relationship Id="rId1" Type="http://schemas.openxmlformats.org/officeDocument/2006/relationships/image" Target="../media/image33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0.xml.rels><?xml version="1.0" encoding="UTF-8" standalone="yes"?>
<Relationships xmlns="http://schemas.openxmlformats.org/package/2006/relationships"><Relationship Id="rId9" Type="http://schemas.openxmlformats.org/officeDocument/2006/relationships/oleObject" Target="../embeddings/oleObject268.bin"/><Relationship Id="rId8" Type="http://schemas.openxmlformats.org/officeDocument/2006/relationships/image" Target="../media/image345.wmf"/><Relationship Id="rId7" Type="http://schemas.openxmlformats.org/officeDocument/2006/relationships/oleObject" Target="../embeddings/oleObject267.bin"/><Relationship Id="rId6" Type="http://schemas.openxmlformats.org/officeDocument/2006/relationships/image" Target="../media/image344.wmf"/><Relationship Id="rId5" Type="http://schemas.openxmlformats.org/officeDocument/2006/relationships/oleObject" Target="../embeddings/oleObject266.bin"/><Relationship Id="rId4" Type="http://schemas.openxmlformats.org/officeDocument/2006/relationships/image" Target="../media/image343.wmf"/><Relationship Id="rId3" Type="http://schemas.openxmlformats.org/officeDocument/2006/relationships/oleObject" Target="../embeddings/oleObject265.bin"/><Relationship Id="rId2" Type="http://schemas.openxmlformats.org/officeDocument/2006/relationships/image" Target="../media/image342.wmf"/><Relationship Id="rId16" Type="http://schemas.openxmlformats.org/officeDocument/2006/relationships/vmlDrawing" Target="../drawings/vmlDrawing53.vml"/><Relationship Id="rId15" Type="http://schemas.openxmlformats.org/officeDocument/2006/relationships/slideLayout" Target="../slideLayouts/slideLayout13.xml"/><Relationship Id="rId14" Type="http://schemas.openxmlformats.org/officeDocument/2006/relationships/image" Target="../media/image348.wmf"/><Relationship Id="rId13" Type="http://schemas.openxmlformats.org/officeDocument/2006/relationships/oleObject" Target="../embeddings/oleObject270.bin"/><Relationship Id="rId12" Type="http://schemas.openxmlformats.org/officeDocument/2006/relationships/image" Target="../media/image347.wmf"/><Relationship Id="rId11" Type="http://schemas.openxmlformats.org/officeDocument/2006/relationships/oleObject" Target="../embeddings/oleObject269.bin"/><Relationship Id="rId10" Type="http://schemas.openxmlformats.org/officeDocument/2006/relationships/image" Target="../media/image346.wmf"/><Relationship Id="rId1" Type="http://schemas.openxmlformats.org/officeDocument/2006/relationships/oleObject" Target="../embeddings/oleObject264.bin"/></Relationships>
</file>

<file path=ppt/slides/_rels/slide71.xml.rels><?xml version="1.0" encoding="UTF-8" standalone="yes"?>
<Relationships xmlns="http://schemas.openxmlformats.org/package/2006/relationships"><Relationship Id="rId6" Type="http://schemas.openxmlformats.org/officeDocument/2006/relationships/vmlDrawing" Target="../drawings/vmlDrawing54.vml"/><Relationship Id="rId5" Type="http://schemas.openxmlformats.org/officeDocument/2006/relationships/slideLayout" Target="../slideLayouts/slideLayout2.xml"/><Relationship Id="rId4" Type="http://schemas.openxmlformats.org/officeDocument/2006/relationships/image" Target="../media/image350.png"/><Relationship Id="rId3" Type="http://schemas.openxmlformats.org/officeDocument/2006/relationships/oleObject" Target="../embeddings/oleObject272.bin"/><Relationship Id="rId2" Type="http://schemas.openxmlformats.org/officeDocument/2006/relationships/image" Target="../media/image349.png"/><Relationship Id="rId1" Type="http://schemas.openxmlformats.org/officeDocument/2006/relationships/oleObject" Target="../embeddings/oleObject271.bin"/></Relationships>
</file>

<file path=ppt/slides/_rels/slide7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54.wmf"/><Relationship Id="rId7" Type="http://schemas.openxmlformats.org/officeDocument/2006/relationships/oleObject" Target="../embeddings/oleObject276.bin"/><Relationship Id="rId6" Type="http://schemas.openxmlformats.org/officeDocument/2006/relationships/image" Target="../media/image353.emf"/><Relationship Id="rId5" Type="http://schemas.openxmlformats.org/officeDocument/2006/relationships/oleObject" Target="../embeddings/oleObject275.bin"/><Relationship Id="rId4" Type="http://schemas.openxmlformats.org/officeDocument/2006/relationships/image" Target="../media/image352.emf"/><Relationship Id="rId3" Type="http://schemas.openxmlformats.org/officeDocument/2006/relationships/oleObject" Target="../embeddings/oleObject274.bin"/><Relationship Id="rId2" Type="http://schemas.openxmlformats.org/officeDocument/2006/relationships/image" Target="../media/image351.emf"/><Relationship Id="rId10" Type="http://schemas.openxmlformats.org/officeDocument/2006/relationships/vmlDrawing" Target="../drawings/vmlDrawing55.vml"/><Relationship Id="rId1" Type="http://schemas.openxmlformats.org/officeDocument/2006/relationships/oleObject" Target="../embeddings/oleObject273.bin"/></Relationships>
</file>

<file path=ppt/slides/_rels/slide7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57.wmf"/><Relationship Id="rId7" Type="http://schemas.openxmlformats.org/officeDocument/2006/relationships/oleObject" Target="../embeddings/oleObject280.bin"/><Relationship Id="rId6" Type="http://schemas.openxmlformats.org/officeDocument/2006/relationships/image" Target="../media/image356.wmf"/><Relationship Id="rId5" Type="http://schemas.openxmlformats.org/officeDocument/2006/relationships/oleObject" Target="../embeddings/oleObject279.bin"/><Relationship Id="rId4" Type="http://schemas.openxmlformats.org/officeDocument/2006/relationships/image" Target="../media/image354.wmf"/><Relationship Id="rId3" Type="http://schemas.openxmlformats.org/officeDocument/2006/relationships/oleObject" Target="../embeddings/oleObject278.bin"/><Relationship Id="rId2" Type="http://schemas.openxmlformats.org/officeDocument/2006/relationships/image" Target="../media/image355.wmf"/><Relationship Id="rId10" Type="http://schemas.openxmlformats.org/officeDocument/2006/relationships/vmlDrawing" Target="../drawings/vmlDrawing56.vml"/><Relationship Id="rId1" Type="http://schemas.openxmlformats.org/officeDocument/2006/relationships/oleObject" Target="../embeddings/oleObject277.bin"/></Relationships>
</file>

<file path=ppt/slides/_rels/slide7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61.wmf"/><Relationship Id="rId7" Type="http://schemas.openxmlformats.org/officeDocument/2006/relationships/oleObject" Target="../embeddings/oleObject284.bin"/><Relationship Id="rId6" Type="http://schemas.openxmlformats.org/officeDocument/2006/relationships/image" Target="../media/image360.emf"/><Relationship Id="rId5" Type="http://schemas.openxmlformats.org/officeDocument/2006/relationships/oleObject" Target="../embeddings/oleObject283.bin"/><Relationship Id="rId4" Type="http://schemas.openxmlformats.org/officeDocument/2006/relationships/image" Target="../media/image359.emf"/><Relationship Id="rId3" Type="http://schemas.openxmlformats.org/officeDocument/2006/relationships/oleObject" Target="../embeddings/oleObject282.bin"/><Relationship Id="rId2" Type="http://schemas.openxmlformats.org/officeDocument/2006/relationships/image" Target="../media/image358.emf"/><Relationship Id="rId10" Type="http://schemas.openxmlformats.org/officeDocument/2006/relationships/vmlDrawing" Target="../drawings/vmlDrawing57.vml"/><Relationship Id="rId1" Type="http://schemas.openxmlformats.org/officeDocument/2006/relationships/oleObject" Target="../embeddings/oleObject281.bin"/></Relationships>
</file>

<file path=ppt/slides/_rels/slide75.xml.rels><?xml version="1.0" encoding="UTF-8" standalone="yes"?>
<Relationships xmlns="http://schemas.openxmlformats.org/package/2006/relationships"><Relationship Id="rId9" Type="http://schemas.openxmlformats.org/officeDocument/2006/relationships/oleObject" Target="../embeddings/oleObject289.bin"/><Relationship Id="rId8" Type="http://schemas.openxmlformats.org/officeDocument/2006/relationships/image" Target="../media/image364.wmf"/><Relationship Id="rId7" Type="http://schemas.openxmlformats.org/officeDocument/2006/relationships/oleObject" Target="../embeddings/oleObject288.bin"/><Relationship Id="rId6" Type="http://schemas.openxmlformats.org/officeDocument/2006/relationships/image" Target="../media/image363.wmf"/><Relationship Id="rId5" Type="http://schemas.openxmlformats.org/officeDocument/2006/relationships/oleObject" Target="../embeddings/oleObject287.bin"/><Relationship Id="rId4" Type="http://schemas.openxmlformats.org/officeDocument/2006/relationships/image" Target="../media/image362.wmf"/><Relationship Id="rId3" Type="http://schemas.openxmlformats.org/officeDocument/2006/relationships/oleObject" Target="../embeddings/oleObject286.bin"/><Relationship Id="rId2" Type="http://schemas.openxmlformats.org/officeDocument/2006/relationships/image" Target="../media/image361.wmf"/><Relationship Id="rId12" Type="http://schemas.openxmlformats.org/officeDocument/2006/relationships/vmlDrawing" Target="../drawings/vmlDrawing58.vml"/><Relationship Id="rId11" Type="http://schemas.openxmlformats.org/officeDocument/2006/relationships/slideLayout" Target="../slideLayouts/slideLayout7.xml"/><Relationship Id="rId10" Type="http://schemas.openxmlformats.org/officeDocument/2006/relationships/image" Target="../media/image365.wmf"/><Relationship Id="rId1" Type="http://schemas.openxmlformats.org/officeDocument/2006/relationships/oleObject" Target="../embeddings/oleObject285.bin"/></Relationships>
</file>

<file path=ppt/slides/_rels/slide76.xml.rels><?xml version="1.0" encoding="UTF-8" standalone="yes"?>
<Relationships xmlns="http://schemas.openxmlformats.org/package/2006/relationships"><Relationship Id="rId9" Type="http://schemas.openxmlformats.org/officeDocument/2006/relationships/image" Target="../media/image368.emf"/><Relationship Id="rId8" Type="http://schemas.openxmlformats.org/officeDocument/2006/relationships/oleObject" Target="../embeddings/oleObject294.bin"/><Relationship Id="rId7" Type="http://schemas.openxmlformats.org/officeDocument/2006/relationships/oleObject" Target="../embeddings/oleObject293.bin"/><Relationship Id="rId6" Type="http://schemas.openxmlformats.org/officeDocument/2006/relationships/image" Target="../media/image367.emf"/><Relationship Id="rId5" Type="http://schemas.openxmlformats.org/officeDocument/2006/relationships/oleObject" Target="../embeddings/oleObject292.bin"/><Relationship Id="rId4" Type="http://schemas.openxmlformats.org/officeDocument/2006/relationships/image" Target="../media/image358.emf"/><Relationship Id="rId3" Type="http://schemas.openxmlformats.org/officeDocument/2006/relationships/oleObject" Target="../embeddings/oleObject291.bin"/><Relationship Id="rId2" Type="http://schemas.openxmlformats.org/officeDocument/2006/relationships/image" Target="../media/image366.emf"/><Relationship Id="rId19" Type="http://schemas.openxmlformats.org/officeDocument/2006/relationships/vmlDrawing" Target="../drawings/vmlDrawing59.vml"/><Relationship Id="rId18" Type="http://schemas.openxmlformats.org/officeDocument/2006/relationships/slideLayout" Target="../slideLayouts/slideLayout7.xml"/><Relationship Id="rId17" Type="http://schemas.openxmlformats.org/officeDocument/2006/relationships/image" Target="../media/image372.wmf"/><Relationship Id="rId16" Type="http://schemas.openxmlformats.org/officeDocument/2006/relationships/oleObject" Target="../embeddings/oleObject298.bin"/><Relationship Id="rId15" Type="http://schemas.openxmlformats.org/officeDocument/2006/relationships/image" Target="../media/image371.wmf"/><Relationship Id="rId14" Type="http://schemas.openxmlformats.org/officeDocument/2006/relationships/oleObject" Target="../embeddings/oleObject297.bin"/><Relationship Id="rId13" Type="http://schemas.openxmlformats.org/officeDocument/2006/relationships/image" Target="../media/image370.wmf"/><Relationship Id="rId12" Type="http://schemas.openxmlformats.org/officeDocument/2006/relationships/oleObject" Target="../embeddings/oleObject296.bin"/><Relationship Id="rId11" Type="http://schemas.openxmlformats.org/officeDocument/2006/relationships/image" Target="../media/image369.wmf"/><Relationship Id="rId10" Type="http://schemas.openxmlformats.org/officeDocument/2006/relationships/oleObject" Target="../embeddings/oleObject295.bin"/><Relationship Id="rId1" Type="http://schemas.openxmlformats.org/officeDocument/2006/relationships/oleObject" Target="../embeddings/oleObject290.bin"/></Relationships>
</file>

<file path=ppt/slides/_rels/slide77.xml.rels><?xml version="1.0" encoding="UTF-8" standalone="yes"?>
<Relationships xmlns="http://schemas.openxmlformats.org/package/2006/relationships"><Relationship Id="rId9" Type="http://schemas.openxmlformats.org/officeDocument/2006/relationships/oleObject" Target="../embeddings/oleObject303.bin"/><Relationship Id="rId8" Type="http://schemas.openxmlformats.org/officeDocument/2006/relationships/image" Target="../media/image376.wmf"/><Relationship Id="rId7" Type="http://schemas.openxmlformats.org/officeDocument/2006/relationships/oleObject" Target="../embeddings/oleObject302.bin"/><Relationship Id="rId6" Type="http://schemas.openxmlformats.org/officeDocument/2006/relationships/image" Target="../media/image375.wmf"/><Relationship Id="rId5" Type="http://schemas.openxmlformats.org/officeDocument/2006/relationships/oleObject" Target="../embeddings/oleObject301.bin"/><Relationship Id="rId4" Type="http://schemas.openxmlformats.org/officeDocument/2006/relationships/image" Target="../media/image374.wmf"/><Relationship Id="rId3" Type="http://schemas.openxmlformats.org/officeDocument/2006/relationships/oleObject" Target="../embeddings/oleObject300.bin"/><Relationship Id="rId2" Type="http://schemas.openxmlformats.org/officeDocument/2006/relationships/image" Target="../media/image373.wmf"/><Relationship Id="rId16" Type="http://schemas.openxmlformats.org/officeDocument/2006/relationships/vmlDrawing" Target="../drawings/vmlDrawing60.vml"/><Relationship Id="rId15" Type="http://schemas.openxmlformats.org/officeDocument/2006/relationships/slideLayout" Target="../slideLayouts/slideLayout7.xml"/><Relationship Id="rId14" Type="http://schemas.openxmlformats.org/officeDocument/2006/relationships/image" Target="../media/image379.wmf"/><Relationship Id="rId13" Type="http://schemas.openxmlformats.org/officeDocument/2006/relationships/oleObject" Target="../embeddings/oleObject305.bin"/><Relationship Id="rId12" Type="http://schemas.openxmlformats.org/officeDocument/2006/relationships/image" Target="../media/image378.wmf"/><Relationship Id="rId11" Type="http://schemas.openxmlformats.org/officeDocument/2006/relationships/oleObject" Target="../embeddings/oleObject304.bin"/><Relationship Id="rId10" Type="http://schemas.openxmlformats.org/officeDocument/2006/relationships/image" Target="../media/image377.wmf"/><Relationship Id="rId1" Type="http://schemas.openxmlformats.org/officeDocument/2006/relationships/oleObject" Target="../embeddings/oleObject299.bin"/></Relationships>
</file>

<file path=ppt/slides/_rels/slide7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83.wmf"/><Relationship Id="rId7" Type="http://schemas.openxmlformats.org/officeDocument/2006/relationships/oleObject" Target="../embeddings/oleObject309.bin"/><Relationship Id="rId6" Type="http://schemas.openxmlformats.org/officeDocument/2006/relationships/image" Target="../media/image382.emf"/><Relationship Id="rId5" Type="http://schemas.openxmlformats.org/officeDocument/2006/relationships/oleObject" Target="../embeddings/oleObject308.bin"/><Relationship Id="rId4" Type="http://schemas.openxmlformats.org/officeDocument/2006/relationships/image" Target="../media/image381.emf"/><Relationship Id="rId3" Type="http://schemas.openxmlformats.org/officeDocument/2006/relationships/oleObject" Target="../embeddings/oleObject307.bin"/><Relationship Id="rId2" Type="http://schemas.openxmlformats.org/officeDocument/2006/relationships/image" Target="../media/image380.wmf"/><Relationship Id="rId10" Type="http://schemas.openxmlformats.org/officeDocument/2006/relationships/vmlDrawing" Target="../drawings/vmlDrawing61.vml"/><Relationship Id="rId1" Type="http://schemas.openxmlformats.org/officeDocument/2006/relationships/oleObject" Target="../embeddings/oleObject306.bin"/></Relationships>
</file>

<file path=ppt/slides/_rels/slide79.xml.rels><?xml version="1.0" encoding="UTF-8" standalone="yes"?>
<Relationships xmlns="http://schemas.openxmlformats.org/package/2006/relationships"><Relationship Id="rId9" Type="http://schemas.openxmlformats.org/officeDocument/2006/relationships/oleObject" Target="../embeddings/oleObject314.bin"/><Relationship Id="rId8" Type="http://schemas.openxmlformats.org/officeDocument/2006/relationships/image" Target="../media/image387.emf"/><Relationship Id="rId7" Type="http://schemas.openxmlformats.org/officeDocument/2006/relationships/oleObject" Target="../embeddings/oleObject313.bin"/><Relationship Id="rId6" Type="http://schemas.openxmlformats.org/officeDocument/2006/relationships/image" Target="../media/image386.wmf"/><Relationship Id="rId5" Type="http://schemas.openxmlformats.org/officeDocument/2006/relationships/oleObject" Target="../embeddings/oleObject312.bin"/><Relationship Id="rId4" Type="http://schemas.openxmlformats.org/officeDocument/2006/relationships/image" Target="../media/image385.wmf"/><Relationship Id="rId3" Type="http://schemas.openxmlformats.org/officeDocument/2006/relationships/oleObject" Target="../embeddings/oleObject311.bin"/><Relationship Id="rId2" Type="http://schemas.openxmlformats.org/officeDocument/2006/relationships/image" Target="../media/image384.wmf"/><Relationship Id="rId12" Type="http://schemas.openxmlformats.org/officeDocument/2006/relationships/vmlDrawing" Target="../drawings/vmlDrawing62.vml"/><Relationship Id="rId11" Type="http://schemas.openxmlformats.org/officeDocument/2006/relationships/slideLayout" Target="../slideLayouts/slideLayout7.xml"/><Relationship Id="rId10" Type="http://schemas.openxmlformats.org/officeDocument/2006/relationships/image" Target="../media/image382.emf"/><Relationship Id="rId1" Type="http://schemas.openxmlformats.org/officeDocument/2006/relationships/oleObject" Target="../embeddings/oleObject310.bin"/></Relationships>
</file>

<file path=ppt/slides/_rels/slide80.xml.rels><?xml version="1.0" encoding="UTF-8" standalone="yes"?>
<Relationships xmlns="http://schemas.openxmlformats.org/package/2006/relationships"><Relationship Id="rId9" Type="http://schemas.openxmlformats.org/officeDocument/2006/relationships/oleObject" Target="../embeddings/oleObject319.bin"/><Relationship Id="rId8" Type="http://schemas.openxmlformats.org/officeDocument/2006/relationships/image" Target="../media/image389.wmf"/><Relationship Id="rId7" Type="http://schemas.openxmlformats.org/officeDocument/2006/relationships/oleObject" Target="../embeddings/oleObject318.bin"/><Relationship Id="rId6" Type="http://schemas.openxmlformats.org/officeDocument/2006/relationships/image" Target="../media/image386.wmf"/><Relationship Id="rId5" Type="http://schemas.openxmlformats.org/officeDocument/2006/relationships/oleObject" Target="../embeddings/oleObject317.bin"/><Relationship Id="rId4" Type="http://schemas.openxmlformats.org/officeDocument/2006/relationships/image" Target="../media/image383.wmf"/><Relationship Id="rId3" Type="http://schemas.openxmlformats.org/officeDocument/2006/relationships/oleObject" Target="../embeddings/oleObject316.bin"/><Relationship Id="rId22" Type="http://schemas.openxmlformats.org/officeDocument/2006/relationships/vmlDrawing" Target="../drawings/vmlDrawing63.vml"/><Relationship Id="rId21" Type="http://schemas.openxmlformats.org/officeDocument/2006/relationships/slideLayout" Target="../slideLayouts/slideLayout7.xml"/><Relationship Id="rId20" Type="http://schemas.openxmlformats.org/officeDocument/2006/relationships/image" Target="../media/image395.wmf"/><Relationship Id="rId2" Type="http://schemas.openxmlformats.org/officeDocument/2006/relationships/image" Target="../media/image388.wmf"/><Relationship Id="rId19" Type="http://schemas.openxmlformats.org/officeDocument/2006/relationships/oleObject" Target="../embeddings/oleObject324.bin"/><Relationship Id="rId18" Type="http://schemas.openxmlformats.org/officeDocument/2006/relationships/image" Target="../media/image394.wmf"/><Relationship Id="rId17" Type="http://schemas.openxmlformats.org/officeDocument/2006/relationships/oleObject" Target="../embeddings/oleObject323.bin"/><Relationship Id="rId16" Type="http://schemas.openxmlformats.org/officeDocument/2006/relationships/image" Target="../media/image393.wmf"/><Relationship Id="rId15" Type="http://schemas.openxmlformats.org/officeDocument/2006/relationships/oleObject" Target="../embeddings/oleObject322.bin"/><Relationship Id="rId14" Type="http://schemas.openxmlformats.org/officeDocument/2006/relationships/image" Target="../media/image392.wmf"/><Relationship Id="rId13" Type="http://schemas.openxmlformats.org/officeDocument/2006/relationships/oleObject" Target="../embeddings/oleObject321.bin"/><Relationship Id="rId12" Type="http://schemas.openxmlformats.org/officeDocument/2006/relationships/image" Target="../media/image391.wmf"/><Relationship Id="rId11" Type="http://schemas.openxmlformats.org/officeDocument/2006/relationships/oleObject" Target="../embeddings/oleObject320.bin"/><Relationship Id="rId10" Type="http://schemas.openxmlformats.org/officeDocument/2006/relationships/image" Target="../media/image390.wmf"/><Relationship Id="rId1" Type="http://schemas.openxmlformats.org/officeDocument/2006/relationships/oleObject" Target="../embeddings/oleObject315.bin"/></Relationships>
</file>

<file path=ppt/slides/_rels/slide81.xml.rels><?xml version="1.0" encoding="UTF-8" standalone="yes"?>
<Relationships xmlns="http://schemas.openxmlformats.org/package/2006/relationships"><Relationship Id="rId4" Type="http://schemas.openxmlformats.org/officeDocument/2006/relationships/vmlDrawing" Target="../drawings/vmlDrawing64.vml"/><Relationship Id="rId3" Type="http://schemas.openxmlformats.org/officeDocument/2006/relationships/slideLayout" Target="../slideLayouts/slideLayout7.xml"/><Relationship Id="rId2" Type="http://schemas.openxmlformats.org/officeDocument/2006/relationships/image" Target="../media/image396.wmf"/><Relationship Id="rId1" Type="http://schemas.openxmlformats.org/officeDocument/2006/relationships/oleObject" Target="../embeddings/oleObject325.bin"/></Relationships>
</file>

<file path=ppt/slides/_rels/slide82.xml.rels><?xml version="1.0" encoding="UTF-8" standalone="yes"?>
<Relationships xmlns="http://schemas.openxmlformats.org/package/2006/relationships"><Relationship Id="rId8" Type="http://schemas.openxmlformats.org/officeDocument/2006/relationships/vmlDrawing" Target="../drawings/vmlDrawing65.vml"/><Relationship Id="rId7" Type="http://schemas.openxmlformats.org/officeDocument/2006/relationships/slideLayout" Target="../slideLayouts/slideLayout7.xml"/><Relationship Id="rId6" Type="http://schemas.openxmlformats.org/officeDocument/2006/relationships/image" Target="../media/image399.png"/><Relationship Id="rId5" Type="http://schemas.openxmlformats.org/officeDocument/2006/relationships/oleObject" Target="../embeddings/oleObject328.bin"/><Relationship Id="rId4" Type="http://schemas.openxmlformats.org/officeDocument/2006/relationships/image" Target="../media/image398.wmf"/><Relationship Id="rId3" Type="http://schemas.openxmlformats.org/officeDocument/2006/relationships/oleObject" Target="../embeddings/oleObject327.bin"/><Relationship Id="rId2" Type="http://schemas.openxmlformats.org/officeDocument/2006/relationships/image" Target="../media/image397.wmf"/><Relationship Id="rId1" Type="http://schemas.openxmlformats.org/officeDocument/2006/relationships/oleObject" Target="../embeddings/oleObject326.bin"/></Relationships>
</file>

<file path=ppt/slides/_rels/slide83.xml.rels><?xml version="1.0" encoding="UTF-8" standalone="yes"?>
<Relationships xmlns="http://schemas.openxmlformats.org/package/2006/relationships"><Relationship Id="rId9" Type="http://schemas.openxmlformats.org/officeDocument/2006/relationships/oleObject" Target="../embeddings/oleObject333.bin"/><Relationship Id="rId8" Type="http://schemas.openxmlformats.org/officeDocument/2006/relationships/image" Target="../media/image402.wmf"/><Relationship Id="rId7" Type="http://schemas.openxmlformats.org/officeDocument/2006/relationships/oleObject" Target="../embeddings/oleObject332.bin"/><Relationship Id="rId6" Type="http://schemas.openxmlformats.org/officeDocument/2006/relationships/image" Target="../media/image401.wmf"/><Relationship Id="rId5" Type="http://schemas.openxmlformats.org/officeDocument/2006/relationships/oleObject" Target="../embeddings/oleObject331.bin"/><Relationship Id="rId4" Type="http://schemas.openxmlformats.org/officeDocument/2006/relationships/image" Target="../media/image400.wmf"/><Relationship Id="rId3" Type="http://schemas.openxmlformats.org/officeDocument/2006/relationships/oleObject" Target="../embeddings/oleObject330.bin"/><Relationship Id="rId2" Type="http://schemas.openxmlformats.org/officeDocument/2006/relationships/image" Target="../media/image381.emf"/><Relationship Id="rId16" Type="http://schemas.openxmlformats.org/officeDocument/2006/relationships/vmlDrawing" Target="../drawings/vmlDrawing66.vml"/><Relationship Id="rId15" Type="http://schemas.openxmlformats.org/officeDocument/2006/relationships/slideLayout" Target="../slideLayouts/slideLayout7.xml"/><Relationship Id="rId14" Type="http://schemas.openxmlformats.org/officeDocument/2006/relationships/image" Target="../media/image405.wmf"/><Relationship Id="rId13" Type="http://schemas.openxmlformats.org/officeDocument/2006/relationships/oleObject" Target="../embeddings/oleObject335.bin"/><Relationship Id="rId12" Type="http://schemas.openxmlformats.org/officeDocument/2006/relationships/image" Target="../media/image404.wmf"/><Relationship Id="rId11" Type="http://schemas.openxmlformats.org/officeDocument/2006/relationships/oleObject" Target="../embeddings/oleObject334.bin"/><Relationship Id="rId10" Type="http://schemas.openxmlformats.org/officeDocument/2006/relationships/image" Target="../media/image403.wmf"/><Relationship Id="rId1" Type="http://schemas.openxmlformats.org/officeDocument/2006/relationships/oleObject" Target="../embeddings/oleObject329.bin"/></Relationships>
</file>

<file path=ppt/slides/_rels/slide84.xml.rels><?xml version="1.0" encoding="UTF-8" standalone="yes"?>
<Relationships xmlns="http://schemas.openxmlformats.org/package/2006/relationships"><Relationship Id="rId8" Type="http://schemas.openxmlformats.org/officeDocument/2006/relationships/vmlDrawing" Target="../drawings/vmlDrawing67.vml"/><Relationship Id="rId7" Type="http://schemas.openxmlformats.org/officeDocument/2006/relationships/slideLayout" Target="../slideLayouts/slideLayout14.xml"/><Relationship Id="rId6" Type="http://schemas.openxmlformats.org/officeDocument/2006/relationships/image" Target="../media/image408.wmf"/><Relationship Id="rId5" Type="http://schemas.openxmlformats.org/officeDocument/2006/relationships/oleObject" Target="../embeddings/oleObject338.bin"/><Relationship Id="rId4" Type="http://schemas.openxmlformats.org/officeDocument/2006/relationships/image" Target="../media/image407.wmf"/><Relationship Id="rId3" Type="http://schemas.openxmlformats.org/officeDocument/2006/relationships/oleObject" Target="../embeddings/oleObject337.bin"/><Relationship Id="rId2" Type="http://schemas.openxmlformats.org/officeDocument/2006/relationships/image" Target="../media/image406.wmf"/><Relationship Id="rId1" Type="http://schemas.openxmlformats.org/officeDocument/2006/relationships/oleObject" Target="../embeddings/oleObject336.bin"/></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9" Type="http://schemas.openxmlformats.org/officeDocument/2006/relationships/oleObject" Target="../embeddings/oleObject343.bin"/><Relationship Id="rId8" Type="http://schemas.openxmlformats.org/officeDocument/2006/relationships/image" Target="../media/image412.wmf"/><Relationship Id="rId7" Type="http://schemas.openxmlformats.org/officeDocument/2006/relationships/oleObject" Target="../embeddings/oleObject342.bin"/><Relationship Id="rId6" Type="http://schemas.openxmlformats.org/officeDocument/2006/relationships/image" Target="../media/image411.wmf"/><Relationship Id="rId5" Type="http://schemas.openxmlformats.org/officeDocument/2006/relationships/oleObject" Target="../embeddings/oleObject341.bin"/><Relationship Id="rId4" Type="http://schemas.openxmlformats.org/officeDocument/2006/relationships/image" Target="../media/image410.wmf"/><Relationship Id="rId3" Type="http://schemas.openxmlformats.org/officeDocument/2006/relationships/oleObject" Target="../embeddings/oleObject340.bin"/><Relationship Id="rId22" Type="http://schemas.openxmlformats.org/officeDocument/2006/relationships/vmlDrawing" Target="../drawings/vmlDrawing68.vml"/><Relationship Id="rId21" Type="http://schemas.openxmlformats.org/officeDocument/2006/relationships/slideLayout" Target="../slideLayouts/slideLayout7.xml"/><Relationship Id="rId20" Type="http://schemas.openxmlformats.org/officeDocument/2006/relationships/image" Target="../media/image418.wmf"/><Relationship Id="rId2" Type="http://schemas.openxmlformats.org/officeDocument/2006/relationships/image" Target="../media/image409.wmf"/><Relationship Id="rId19" Type="http://schemas.openxmlformats.org/officeDocument/2006/relationships/oleObject" Target="../embeddings/oleObject348.bin"/><Relationship Id="rId18" Type="http://schemas.openxmlformats.org/officeDocument/2006/relationships/image" Target="../media/image417.wmf"/><Relationship Id="rId17" Type="http://schemas.openxmlformats.org/officeDocument/2006/relationships/oleObject" Target="../embeddings/oleObject347.bin"/><Relationship Id="rId16" Type="http://schemas.openxmlformats.org/officeDocument/2006/relationships/image" Target="../media/image416.wmf"/><Relationship Id="rId15" Type="http://schemas.openxmlformats.org/officeDocument/2006/relationships/oleObject" Target="../embeddings/oleObject346.bin"/><Relationship Id="rId14" Type="http://schemas.openxmlformats.org/officeDocument/2006/relationships/image" Target="../media/image415.wmf"/><Relationship Id="rId13" Type="http://schemas.openxmlformats.org/officeDocument/2006/relationships/oleObject" Target="../embeddings/oleObject345.bin"/><Relationship Id="rId12" Type="http://schemas.openxmlformats.org/officeDocument/2006/relationships/image" Target="../media/image414.wmf"/><Relationship Id="rId11" Type="http://schemas.openxmlformats.org/officeDocument/2006/relationships/oleObject" Target="../embeddings/oleObject344.bin"/><Relationship Id="rId10" Type="http://schemas.openxmlformats.org/officeDocument/2006/relationships/image" Target="../media/image413.wmf"/><Relationship Id="rId1" Type="http://schemas.openxmlformats.org/officeDocument/2006/relationships/oleObject" Target="../embeddings/oleObject339.bin"/></Relationships>
</file>

<file path=ppt/slides/_rels/slide87.xml.rels><?xml version="1.0" encoding="UTF-8" standalone="yes"?>
<Relationships xmlns="http://schemas.openxmlformats.org/package/2006/relationships"><Relationship Id="rId9" Type="http://schemas.openxmlformats.org/officeDocument/2006/relationships/oleObject" Target="../embeddings/oleObject353.bin"/><Relationship Id="rId8" Type="http://schemas.openxmlformats.org/officeDocument/2006/relationships/image" Target="../media/image422.wmf"/><Relationship Id="rId7" Type="http://schemas.openxmlformats.org/officeDocument/2006/relationships/oleObject" Target="../embeddings/oleObject352.bin"/><Relationship Id="rId6" Type="http://schemas.openxmlformats.org/officeDocument/2006/relationships/image" Target="../media/image421.wmf"/><Relationship Id="rId5" Type="http://schemas.openxmlformats.org/officeDocument/2006/relationships/oleObject" Target="../embeddings/oleObject351.bin"/><Relationship Id="rId4" Type="http://schemas.openxmlformats.org/officeDocument/2006/relationships/image" Target="../media/image420.wmf"/><Relationship Id="rId3" Type="http://schemas.openxmlformats.org/officeDocument/2006/relationships/oleObject" Target="../embeddings/oleObject350.bin"/><Relationship Id="rId2" Type="http://schemas.openxmlformats.org/officeDocument/2006/relationships/image" Target="../media/image419.wmf"/><Relationship Id="rId12" Type="http://schemas.openxmlformats.org/officeDocument/2006/relationships/vmlDrawing" Target="../drawings/vmlDrawing69.vml"/><Relationship Id="rId11" Type="http://schemas.openxmlformats.org/officeDocument/2006/relationships/slideLayout" Target="../slideLayouts/slideLayout7.xml"/><Relationship Id="rId10" Type="http://schemas.openxmlformats.org/officeDocument/2006/relationships/image" Target="../media/image423.wmf"/><Relationship Id="rId1" Type="http://schemas.openxmlformats.org/officeDocument/2006/relationships/oleObject" Target="../embeddings/oleObject349.bin"/></Relationships>
</file>

<file path=ppt/slides/_rels/slide88.xml.rels><?xml version="1.0" encoding="UTF-8" standalone="yes"?>
<Relationships xmlns="http://schemas.openxmlformats.org/package/2006/relationships"><Relationship Id="rId8" Type="http://schemas.openxmlformats.org/officeDocument/2006/relationships/vmlDrawing" Target="../drawings/vmlDrawing70.vml"/><Relationship Id="rId7" Type="http://schemas.openxmlformats.org/officeDocument/2006/relationships/slideLayout" Target="../slideLayouts/slideLayout4.xml"/><Relationship Id="rId6" Type="http://schemas.openxmlformats.org/officeDocument/2006/relationships/image" Target="../media/image426.emf"/><Relationship Id="rId5" Type="http://schemas.openxmlformats.org/officeDocument/2006/relationships/oleObject" Target="../embeddings/oleObject356.bin"/><Relationship Id="rId4" Type="http://schemas.openxmlformats.org/officeDocument/2006/relationships/image" Target="../media/image425.wmf"/><Relationship Id="rId3" Type="http://schemas.openxmlformats.org/officeDocument/2006/relationships/oleObject" Target="../embeddings/oleObject355.bin"/><Relationship Id="rId2" Type="http://schemas.openxmlformats.org/officeDocument/2006/relationships/image" Target="../media/image424.wmf"/><Relationship Id="rId1" Type="http://schemas.openxmlformats.org/officeDocument/2006/relationships/oleObject" Target="../embeddings/oleObject354.bin"/></Relationships>
</file>

<file path=ppt/slides/_rels/slide89.xml.rels><?xml version="1.0" encoding="UTF-8" standalone="yes"?>
<Relationships xmlns="http://schemas.openxmlformats.org/package/2006/relationships"><Relationship Id="rId6" Type="http://schemas.openxmlformats.org/officeDocument/2006/relationships/vmlDrawing" Target="../drawings/vmlDrawing71.vml"/><Relationship Id="rId5" Type="http://schemas.openxmlformats.org/officeDocument/2006/relationships/slideLayout" Target="../slideLayouts/slideLayout12.xml"/><Relationship Id="rId4" Type="http://schemas.openxmlformats.org/officeDocument/2006/relationships/image" Target="../media/image428.wmf"/><Relationship Id="rId3" Type="http://schemas.openxmlformats.org/officeDocument/2006/relationships/oleObject" Target="../embeddings/oleObject358.bin"/><Relationship Id="rId2" Type="http://schemas.openxmlformats.org/officeDocument/2006/relationships/image" Target="../media/image427.wmf"/><Relationship Id="rId1" Type="http://schemas.openxmlformats.org/officeDocument/2006/relationships/oleObject" Target="../embeddings/oleObject357.bin"/></Relationships>
</file>

<file path=ppt/slides/_rels/slide9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432.wmf"/><Relationship Id="rId7" Type="http://schemas.openxmlformats.org/officeDocument/2006/relationships/oleObject" Target="../embeddings/oleObject362.bin"/><Relationship Id="rId6" Type="http://schemas.openxmlformats.org/officeDocument/2006/relationships/image" Target="../media/image431.wmf"/><Relationship Id="rId5" Type="http://schemas.openxmlformats.org/officeDocument/2006/relationships/oleObject" Target="../embeddings/oleObject361.bin"/><Relationship Id="rId4" Type="http://schemas.openxmlformats.org/officeDocument/2006/relationships/image" Target="../media/image430.wmf"/><Relationship Id="rId3" Type="http://schemas.openxmlformats.org/officeDocument/2006/relationships/oleObject" Target="../embeddings/oleObject360.bin"/><Relationship Id="rId2" Type="http://schemas.openxmlformats.org/officeDocument/2006/relationships/image" Target="../media/image429.wmf"/><Relationship Id="rId10" Type="http://schemas.openxmlformats.org/officeDocument/2006/relationships/vmlDrawing" Target="../drawings/vmlDrawing72.vml"/><Relationship Id="rId1" Type="http://schemas.openxmlformats.org/officeDocument/2006/relationships/oleObject" Target="../embeddings/oleObject359.bin"/></Relationships>
</file>

<file path=ppt/slides/_rels/slide91.xml.rels><?xml version="1.0" encoding="UTF-8" standalone="yes"?>
<Relationships xmlns="http://schemas.openxmlformats.org/package/2006/relationships"><Relationship Id="rId9" Type="http://schemas.openxmlformats.org/officeDocument/2006/relationships/oleObject" Target="../embeddings/oleObject367.bin"/><Relationship Id="rId8" Type="http://schemas.openxmlformats.org/officeDocument/2006/relationships/image" Target="../media/image430.wmf"/><Relationship Id="rId7" Type="http://schemas.openxmlformats.org/officeDocument/2006/relationships/oleObject" Target="../embeddings/oleObject366.bin"/><Relationship Id="rId6" Type="http://schemas.openxmlformats.org/officeDocument/2006/relationships/image" Target="../media/image435.wmf"/><Relationship Id="rId5" Type="http://schemas.openxmlformats.org/officeDocument/2006/relationships/oleObject" Target="../embeddings/oleObject365.bin"/><Relationship Id="rId4" Type="http://schemas.openxmlformats.org/officeDocument/2006/relationships/image" Target="../media/image434.wmf"/><Relationship Id="rId3" Type="http://schemas.openxmlformats.org/officeDocument/2006/relationships/oleObject" Target="../embeddings/oleObject364.bin"/><Relationship Id="rId2" Type="http://schemas.openxmlformats.org/officeDocument/2006/relationships/image" Target="../media/image433.wmf"/><Relationship Id="rId12" Type="http://schemas.openxmlformats.org/officeDocument/2006/relationships/vmlDrawing" Target="../drawings/vmlDrawing73.vml"/><Relationship Id="rId11" Type="http://schemas.openxmlformats.org/officeDocument/2006/relationships/slideLayout" Target="../slideLayouts/slideLayout7.xml"/><Relationship Id="rId10" Type="http://schemas.openxmlformats.org/officeDocument/2006/relationships/image" Target="../media/image436.wmf"/><Relationship Id="rId1" Type="http://schemas.openxmlformats.org/officeDocument/2006/relationships/oleObject" Target="../embeddings/oleObject363.bin"/></Relationships>
</file>

<file path=ppt/slides/_rels/slide92.xml.rels><?xml version="1.0" encoding="UTF-8" standalone="yes"?>
<Relationships xmlns="http://schemas.openxmlformats.org/package/2006/relationships"><Relationship Id="rId4" Type="http://schemas.openxmlformats.org/officeDocument/2006/relationships/vmlDrawing" Target="../drawings/vmlDrawing74.vml"/><Relationship Id="rId3" Type="http://schemas.openxmlformats.org/officeDocument/2006/relationships/slideLayout" Target="../slideLayouts/slideLayout2.xml"/><Relationship Id="rId2" Type="http://schemas.openxmlformats.org/officeDocument/2006/relationships/image" Target="../media/image437.wmf"/><Relationship Id="rId1" Type="http://schemas.openxmlformats.org/officeDocument/2006/relationships/oleObject" Target="../embeddings/oleObject368.bin"/></Relationships>
</file>

<file path=ppt/slides/_rels/slide93.xml.rels><?xml version="1.0" encoding="UTF-8" standalone="yes"?>
<Relationships xmlns="http://schemas.openxmlformats.org/package/2006/relationships"><Relationship Id="rId8" Type="http://schemas.openxmlformats.org/officeDocument/2006/relationships/vmlDrawing" Target="../drawings/vmlDrawing75.vml"/><Relationship Id="rId7" Type="http://schemas.openxmlformats.org/officeDocument/2006/relationships/slideLayout" Target="../slideLayouts/slideLayout7.xml"/><Relationship Id="rId6" Type="http://schemas.openxmlformats.org/officeDocument/2006/relationships/image" Target="../media/image440.wmf"/><Relationship Id="rId5" Type="http://schemas.openxmlformats.org/officeDocument/2006/relationships/oleObject" Target="../embeddings/oleObject371.bin"/><Relationship Id="rId4" Type="http://schemas.openxmlformats.org/officeDocument/2006/relationships/image" Target="../media/image439.wmf"/><Relationship Id="rId3" Type="http://schemas.openxmlformats.org/officeDocument/2006/relationships/oleObject" Target="../embeddings/oleObject370.bin"/><Relationship Id="rId2" Type="http://schemas.openxmlformats.org/officeDocument/2006/relationships/image" Target="../media/image438.wmf"/><Relationship Id="rId1" Type="http://schemas.openxmlformats.org/officeDocument/2006/relationships/oleObject" Target="../embeddings/oleObject369.bin"/></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444.wmf"/><Relationship Id="rId7" Type="http://schemas.openxmlformats.org/officeDocument/2006/relationships/oleObject" Target="../embeddings/oleObject375.bin"/><Relationship Id="rId6" Type="http://schemas.openxmlformats.org/officeDocument/2006/relationships/image" Target="../media/image443.wmf"/><Relationship Id="rId5" Type="http://schemas.openxmlformats.org/officeDocument/2006/relationships/oleObject" Target="../embeddings/oleObject374.bin"/><Relationship Id="rId4" Type="http://schemas.openxmlformats.org/officeDocument/2006/relationships/image" Target="../media/image442.wmf"/><Relationship Id="rId3" Type="http://schemas.openxmlformats.org/officeDocument/2006/relationships/oleObject" Target="../embeddings/oleObject373.bin"/><Relationship Id="rId2" Type="http://schemas.openxmlformats.org/officeDocument/2006/relationships/image" Target="../media/image441.wmf"/><Relationship Id="rId10" Type="http://schemas.openxmlformats.org/officeDocument/2006/relationships/vmlDrawing" Target="../drawings/vmlDrawing76.vml"/><Relationship Id="rId1" Type="http://schemas.openxmlformats.org/officeDocument/2006/relationships/oleObject" Target="../embeddings/oleObject372.bin"/></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1"/>
          <p:cNvPicPr/>
          <p:nvPr/>
        </p:nvPicPr>
        <p:blipFill rotWithShape="1">
          <a:blip r:embed="rId1"/>
          <a:srcRect l="9560" t="2022" r="16058" b="2022"/>
          <a:stretch>
            <a:fillRect/>
          </a:stretch>
        </p:blipFill>
        <p:spPr>
          <a:xfrm>
            <a:off x="-1" y="0"/>
            <a:ext cx="9144000" cy="6858000"/>
          </a:xfrm>
          <a:prstGeom prst="rect">
            <a:avLst/>
          </a:prstGeom>
          <a:solidFill>
            <a:srgbClr val="FFFFFF">
              <a:shade val="85000"/>
            </a:srgbClr>
          </a:solidFill>
          <a:ln>
            <a:noFill/>
          </a:ln>
          <a:effectLst>
            <a:reflection blurRad="6350" stA="14000" endPos="16000" dist="25400" dir="5400000" sy="-100000" algn="bl" rotWithShape="0"/>
          </a:effectLst>
        </p:spPr>
      </p:pic>
      <p:sp>
        <p:nvSpPr>
          <p:cNvPr id="6" name="矩形 5"/>
          <p:cNvSpPr/>
          <p:nvPr/>
        </p:nvSpPr>
        <p:spPr>
          <a:xfrm>
            <a:off x="0" y="-1587"/>
            <a:ext cx="9144000" cy="6858000"/>
          </a:xfrm>
          <a:prstGeom prst="rect">
            <a:avLst/>
          </a:prstGeom>
          <a:solidFill>
            <a:srgbClr val="A6A6A6">
              <a:alpha val="27059"/>
            </a:srgbClr>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 name="矩形 1"/>
          <p:cNvSpPr/>
          <p:nvPr/>
        </p:nvSpPr>
        <p:spPr>
          <a:xfrm>
            <a:off x="0" y="1719263"/>
            <a:ext cx="9144000" cy="1295400"/>
          </a:xfrm>
          <a:prstGeom prst="rect">
            <a:avLst/>
          </a:prstGeom>
          <a:solidFill>
            <a:srgbClr val="A6A6A6">
              <a:alpha val="4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7" name="矩形 6"/>
          <p:cNvSpPr/>
          <p:nvPr/>
        </p:nvSpPr>
        <p:spPr>
          <a:xfrm>
            <a:off x="2401888" y="1844675"/>
            <a:ext cx="4340225" cy="923925"/>
          </a:xfrm>
          <a:prstGeom prst="rect">
            <a:avLst/>
          </a:prstGeom>
          <a:noFill/>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5400" b="0" i="0" u="sng" strike="noStrike" kern="1200" cap="none" spc="0" normalizeH="0" baseline="0" noProof="0" dirty="0">
                <a:ln w="0"/>
                <a:solidFill>
                  <a:schemeClr val="tx1"/>
                </a:solidFill>
                <a:effectLst>
                  <a:outerShdw blurRad="38100" dist="19050" dir="2700000" algn="tl" rotWithShape="0">
                    <a:schemeClr val="dk1">
                      <a:alpha val="40000"/>
                    </a:schemeClr>
                  </a:outerShdw>
                </a:effectLst>
                <a:uLnTx/>
                <a:uFillTx/>
                <a:latin typeface="Times New Roman" panose="02020603050405020304" pitchFamily="18" charset="0"/>
                <a:ea typeface="宋体" panose="02010600030101010101" pitchFamily="2" charset="-122"/>
                <a:cs typeface="+mn-cs"/>
              </a:rPr>
              <a:t>高频电子线路</a:t>
            </a:r>
            <a:endParaRPr kumimoji="0" lang="zh-CN" altLang="en-US" sz="5400" b="0" i="0" u="sng" strike="noStrike" kern="1200" cap="none" spc="0" normalizeH="0" baseline="0" noProof="0" dirty="0">
              <a:ln w="0"/>
              <a:solidFill>
                <a:schemeClr val="tx1"/>
              </a:solidFill>
              <a:effectLst>
                <a:outerShdw blurRad="38100" dist="19050" dir="2700000" algn="tl" rotWithShape="0">
                  <a:schemeClr val="dk1">
                    <a:alpha val="40000"/>
                  </a:schemeClr>
                </a:outerShdw>
              </a:effectLst>
              <a:uLnTx/>
              <a:uFillTx/>
              <a:latin typeface="Times New Roman" panose="02020603050405020304" pitchFamily="18" charset="0"/>
              <a:ea typeface="宋体" panose="02010600030101010101" pitchFamily="2" charset="-122"/>
              <a:cs typeface="+mn-cs"/>
            </a:endParaRPr>
          </a:p>
        </p:txBody>
      </p:sp>
      <p:sp>
        <p:nvSpPr>
          <p:cNvPr id="8" name="矩形 7"/>
          <p:cNvSpPr/>
          <p:nvPr/>
        </p:nvSpPr>
        <p:spPr>
          <a:xfrm>
            <a:off x="4284663" y="2924175"/>
            <a:ext cx="3467100" cy="585788"/>
          </a:xfrm>
          <a:prstGeom prst="rect">
            <a:avLst/>
          </a:prstGeom>
          <a:noFill/>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200" b="0" i="1" u="none" strike="noStrike" kern="1200" cap="none" spc="0" normalizeH="0" baseline="0" noProof="0" dirty="0">
                <a:ln w="0"/>
                <a:solidFill>
                  <a:schemeClr val="tx1"/>
                </a:solidFill>
                <a:effectLst>
                  <a:outerShdw blurRad="38100" dist="19050" dir="2700000" algn="tl" rotWithShape="0">
                    <a:schemeClr val="dk1">
                      <a:alpha val="40000"/>
                    </a:schemeClr>
                  </a:outerShdw>
                </a:effectLst>
                <a:uLnTx/>
                <a:uFillTx/>
                <a:latin typeface="Times New Roman" panose="02020603050405020304" pitchFamily="18" charset="0"/>
                <a:ea typeface="宋体" panose="02010600030101010101" pitchFamily="2" charset="-122"/>
                <a:cs typeface="+mn-cs"/>
              </a:rPr>
              <a:t>南京信息工程大学</a:t>
            </a:r>
            <a:endParaRPr kumimoji="0" lang="zh-CN" altLang="en-US" sz="3200" b="0" i="1" u="none" strike="noStrike" kern="1200" cap="none" spc="0" normalizeH="0" baseline="0" noProof="0" dirty="0">
              <a:ln w="0"/>
              <a:solidFill>
                <a:schemeClr val="tx1"/>
              </a:solidFill>
              <a:effectLst>
                <a:outerShdw blurRad="38100" dist="19050" dir="2700000" algn="tl" rotWithShape="0">
                  <a:schemeClr val="dk1">
                    <a:alpha val="40000"/>
                  </a:schemeClr>
                </a:outerShdw>
              </a:effectLst>
              <a:uLnTx/>
              <a:uFillTx/>
              <a:latin typeface="Times New Roman" panose="02020603050405020304" pitchFamily="18" charset="0"/>
              <a:ea typeface="宋体" panose="02010600030101010101" pitchFamily="2" charset="-122"/>
              <a:cs typeface="+mn-cs"/>
            </a:endParaRPr>
          </a:p>
        </p:txBody>
      </p:sp>
      <p:sp>
        <p:nvSpPr>
          <p:cNvPr id="9" name="矩形 8"/>
          <p:cNvSpPr/>
          <p:nvPr/>
        </p:nvSpPr>
        <p:spPr>
          <a:xfrm>
            <a:off x="5399723" y="3482975"/>
            <a:ext cx="2824480" cy="583565"/>
          </a:xfrm>
          <a:prstGeom prst="rect">
            <a:avLst/>
          </a:prstGeom>
          <a:noFill/>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0" i="1" u="none" strike="noStrike" kern="1200" cap="none" spc="0" normalizeH="0" baseline="0" noProof="0" dirty="0">
                <a:ln w="0"/>
                <a:solidFill>
                  <a:schemeClr val="tx1"/>
                </a:solidFill>
                <a:effectLst>
                  <a:outerShdw blurRad="38100" dist="19050" dir="2700000" algn="tl" rotWithShape="0">
                    <a:schemeClr val="dk1">
                      <a:alpha val="40000"/>
                    </a:schemeClr>
                  </a:outerShdw>
                </a:effectLst>
                <a:uLnTx/>
                <a:uFillTx/>
                <a:latin typeface="Times New Roman" panose="02020603050405020304" pitchFamily="18" charset="0"/>
                <a:ea typeface="宋体" panose="02010600030101010101" pitchFamily="2" charset="-122"/>
                <a:cs typeface="+mn-cs"/>
              </a:rPr>
              <a:t>2026</a:t>
            </a:r>
            <a:r>
              <a:rPr kumimoji="0" lang="zh-CN" altLang="en-US" sz="3200" b="0" i="1" u="none" strike="noStrike" kern="1200" cap="none" spc="0" normalizeH="0" baseline="0" noProof="0" dirty="0">
                <a:ln w="0"/>
                <a:solidFill>
                  <a:schemeClr val="tx1"/>
                </a:solidFill>
                <a:effectLst>
                  <a:outerShdw blurRad="38100" dist="19050" dir="2700000" algn="tl" rotWithShape="0">
                    <a:schemeClr val="dk1">
                      <a:alpha val="40000"/>
                    </a:schemeClr>
                  </a:outerShdw>
                </a:effectLst>
                <a:uLnTx/>
                <a:uFillTx/>
                <a:latin typeface="Times New Roman" panose="02020603050405020304" pitchFamily="18" charset="0"/>
                <a:ea typeface="宋体" panose="02010600030101010101" pitchFamily="2" charset="-122"/>
                <a:cs typeface="+mn-cs"/>
              </a:rPr>
              <a:t>年</a:t>
            </a:r>
            <a:r>
              <a:rPr kumimoji="0" lang="en-US" altLang="zh-CN" sz="3200" b="0" i="1" u="none" strike="noStrike" kern="1200" cap="none" spc="0" normalizeH="0" baseline="0" noProof="0" dirty="0">
                <a:ln w="0"/>
                <a:solidFill>
                  <a:schemeClr val="tx1"/>
                </a:solidFill>
                <a:effectLst>
                  <a:outerShdw blurRad="38100" dist="19050" dir="2700000" algn="tl" rotWithShape="0">
                    <a:schemeClr val="dk1">
                      <a:alpha val="40000"/>
                    </a:schemeClr>
                  </a:outerShdw>
                </a:effectLst>
                <a:uLnTx/>
                <a:uFillTx/>
                <a:latin typeface="Times New Roman" panose="02020603050405020304" pitchFamily="18" charset="0"/>
                <a:ea typeface="宋体" panose="02010600030101010101" pitchFamily="2" charset="-122"/>
                <a:cs typeface="+mn-cs"/>
              </a:rPr>
              <a:t>2</a:t>
            </a:r>
            <a:r>
              <a:rPr kumimoji="0" lang="zh-CN" altLang="en-US" sz="3200" b="0" i="1" u="none" strike="noStrike" kern="1200" cap="none" spc="0" normalizeH="0" baseline="0" noProof="0" dirty="0">
                <a:ln w="0"/>
                <a:solidFill>
                  <a:schemeClr val="tx1"/>
                </a:solidFill>
                <a:effectLst>
                  <a:outerShdw blurRad="38100" dist="19050" dir="2700000" algn="tl" rotWithShape="0">
                    <a:schemeClr val="dk1">
                      <a:alpha val="40000"/>
                    </a:schemeClr>
                  </a:outerShdw>
                </a:effectLst>
                <a:uLnTx/>
                <a:uFillTx/>
                <a:latin typeface="Times New Roman" panose="02020603050405020304" pitchFamily="18" charset="0"/>
                <a:ea typeface="宋体" panose="02010600030101010101" pitchFamily="2" charset="-122"/>
                <a:cs typeface="+mn-cs"/>
              </a:rPr>
              <a:t>月</a:t>
            </a:r>
            <a:r>
              <a:rPr kumimoji="0" lang="zh-CN" altLang="en-US" sz="3200" b="0" i="1" u="none" strike="noStrike" kern="1200" cap="none" spc="0" normalizeH="0" baseline="0" noProof="0" dirty="0">
                <a:ln w="0"/>
                <a:solidFill>
                  <a:schemeClr val="tx1"/>
                </a:solidFill>
                <a:effectLst>
                  <a:outerShdw blurRad="38100" dist="19050" dir="2700000" algn="tl" rotWithShape="0">
                    <a:schemeClr val="dk1">
                      <a:alpha val="40000"/>
                    </a:schemeClr>
                  </a:outerShdw>
                </a:effectLst>
                <a:uLnTx/>
                <a:uFillTx/>
                <a:latin typeface="Times New Roman" panose="02020603050405020304" pitchFamily="18" charset="0"/>
                <a:ea typeface="宋体" panose="02010600030101010101" pitchFamily="2" charset="-122"/>
                <a:cs typeface="+mn-cs"/>
              </a:rPr>
              <a:t>修改</a:t>
            </a:r>
            <a:endParaRPr kumimoji="0" lang="zh-CN" altLang="en-US" sz="3200" b="0" i="1" u="none" strike="noStrike" kern="1200" cap="none" spc="0" normalizeH="0" baseline="0" noProof="0" dirty="0">
              <a:ln w="0"/>
              <a:solidFill>
                <a:schemeClr val="tx1"/>
              </a:solidFill>
              <a:effectLst>
                <a:outerShdw blurRad="38100" dist="19050" dir="2700000" algn="tl" rotWithShape="0">
                  <a:schemeClr val="dk1">
                    <a:alpha val="40000"/>
                  </a:schemeClr>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706" name="Group 5"/>
          <p:cNvGrpSpPr/>
          <p:nvPr/>
        </p:nvGrpSpPr>
        <p:grpSpPr>
          <a:xfrm>
            <a:off x="1887538" y="836296"/>
            <a:ext cx="5334000" cy="579438"/>
            <a:chOff x="1392" y="355"/>
            <a:chExt cx="3360" cy="365"/>
          </a:xfrm>
        </p:grpSpPr>
        <p:sp>
          <p:nvSpPr>
            <p:cNvPr id="72708" name="Rectangle 6"/>
            <p:cNvSpPr/>
            <p:nvPr/>
          </p:nvSpPr>
          <p:spPr>
            <a:xfrm>
              <a:off x="1392" y="355"/>
              <a:ext cx="3360" cy="365"/>
            </a:xfrm>
            <a:prstGeom prst="rect">
              <a:avLst/>
            </a:prstGeom>
            <a:noFill/>
            <a:ln w="9525">
              <a:noFill/>
            </a:ln>
          </p:spPr>
          <p:txBody>
            <a:bodyPr lIns="92075" tIns="46038" rIns="92075" bIns="46038">
              <a:spAutoFit/>
            </a:bodyPr>
            <a:lstStyle/>
            <a:p>
              <a:pPr algn="ctr">
                <a:spcBef>
                  <a:spcPct val="50000"/>
                </a:spcBef>
              </a:pPr>
              <a:r>
                <a:rPr lang="zh-CN" altLang="en-US" sz="3200" b="1" dirty="0">
                  <a:solidFill>
                    <a:schemeClr val="accent2"/>
                  </a:solidFill>
                  <a:latin typeface="Times New Roman" panose="02020603050405020304" pitchFamily="18" charset="0"/>
                </a:rPr>
                <a:t>第</a:t>
              </a:r>
              <a:r>
                <a:rPr lang="en-US" altLang="zh-CN" sz="3200" b="1" dirty="0">
                  <a:solidFill>
                    <a:schemeClr val="accent2"/>
                  </a:solidFill>
                  <a:latin typeface="Times New Roman" panose="02020603050405020304" pitchFamily="18" charset="0"/>
                </a:rPr>
                <a:t>2</a:t>
              </a:r>
              <a:r>
                <a:rPr lang="zh-CN" altLang="en-US" sz="3200" b="1" dirty="0">
                  <a:solidFill>
                    <a:schemeClr val="accent2"/>
                  </a:solidFill>
                  <a:latin typeface="Times New Roman" panose="02020603050405020304" pitchFamily="18" charset="0"/>
                </a:rPr>
                <a:t>章 高频电路基础</a:t>
              </a:r>
              <a:endParaRPr lang="zh-CN" altLang="en-US" sz="3200" b="1" dirty="0">
                <a:solidFill>
                  <a:schemeClr val="accent2"/>
                </a:solidFill>
                <a:latin typeface="Times New Roman" panose="02020603050405020304" pitchFamily="18" charset="0"/>
              </a:endParaRPr>
            </a:p>
          </p:txBody>
        </p:sp>
        <p:sp>
          <p:nvSpPr>
            <p:cNvPr id="72709" name="Line 7"/>
            <p:cNvSpPr/>
            <p:nvPr/>
          </p:nvSpPr>
          <p:spPr>
            <a:xfrm>
              <a:off x="1488" y="720"/>
              <a:ext cx="3024" cy="0"/>
            </a:xfrm>
            <a:prstGeom prst="line">
              <a:avLst/>
            </a:prstGeom>
            <a:ln w="57150" cap="flat" cmpd="tri">
              <a:solidFill>
                <a:srgbClr val="FF00FF"/>
              </a:solidFill>
              <a:prstDash val="solid"/>
              <a:headEnd type="none" w="sm" len="sm"/>
              <a:tailEnd type="none" w="sm" len="sm"/>
            </a:ln>
          </p:spPr>
        </p:sp>
      </p:grpSp>
      <p:sp>
        <p:nvSpPr>
          <p:cNvPr id="72707" name="Rectangle 9"/>
          <p:cNvSpPr/>
          <p:nvPr/>
        </p:nvSpPr>
        <p:spPr>
          <a:xfrm>
            <a:off x="2268855" y="2133600"/>
            <a:ext cx="4787900" cy="2245360"/>
          </a:xfrm>
          <a:prstGeom prst="rect">
            <a:avLst/>
          </a:prstGeom>
          <a:noFill/>
          <a:ln w="9525">
            <a:noFill/>
          </a:ln>
        </p:spPr>
        <p:txBody>
          <a:bodyPr wrap="square">
            <a:spAutoFit/>
          </a:bodyPr>
          <a:lstStyle/>
          <a:p>
            <a:pPr>
              <a:buFont typeface="Wingdings" panose="05000000000000000000" pitchFamily="2" charset="2"/>
              <a:buChar char="Ø"/>
            </a:pPr>
            <a:r>
              <a:rPr lang="en-US" altLang="zh-CN" sz="2800" b="1" dirty="0">
                <a:solidFill>
                  <a:schemeClr val="tx1"/>
                </a:solidFill>
                <a:latin typeface="Times New Roman" panose="02020603050405020304" pitchFamily="18" charset="0"/>
              </a:rPr>
              <a:t>2.1 </a:t>
            </a:r>
            <a:r>
              <a:rPr lang="zh-CN" altLang="en-US" sz="2800" b="1" dirty="0">
                <a:solidFill>
                  <a:schemeClr val="tx1"/>
                </a:solidFill>
                <a:latin typeface="Times New Roman" panose="02020603050405020304" pitchFamily="18" charset="0"/>
              </a:rPr>
              <a:t>高频电路中的元器件</a:t>
            </a:r>
            <a:endParaRPr lang="zh-CN" altLang="en-US" sz="2800" b="1" dirty="0">
              <a:solidFill>
                <a:schemeClr val="tx1"/>
              </a:solidFill>
              <a:latin typeface="Times New Roman" panose="02020603050405020304" pitchFamily="18" charset="0"/>
            </a:endParaRPr>
          </a:p>
          <a:p>
            <a:endParaRPr lang="zh-CN" altLang="en-US" sz="2800" b="1" dirty="0">
              <a:solidFill>
                <a:schemeClr val="tx1"/>
              </a:solidFill>
              <a:latin typeface="Times New Roman" panose="02020603050405020304" pitchFamily="18" charset="0"/>
            </a:endParaRPr>
          </a:p>
          <a:p>
            <a:pPr>
              <a:buFont typeface="Wingdings" panose="05000000000000000000" pitchFamily="2" charset="2"/>
              <a:buChar char="Ø"/>
            </a:pPr>
            <a:r>
              <a:rPr lang="en-US" altLang="zh-CN" sz="2800" b="1" dirty="0">
                <a:solidFill>
                  <a:schemeClr val="tx1"/>
                </a:solidFill>
                <a:latin typeface="Times New Roman" panose="02020603050405020304" pitchFamily="18" charset="0"/>
              </a:rPr>
              <a:t>2.2 </a:t>
            </a:r>
            <a:r>
              <a:rPr lang="zh-CN" altLang="en-US" sz="2800" b="1" dirty="0">
                <a:solidFill>
                  <a:schemeClr val="tx1"/>
                </a:solidFill>
                <a:latin typeface="Times New Roman" panose="02020603050405020304" pitchFamily="18" charset="0"/>
              </a:rPr>
              <a:t>高频电路中的基本电路</a:t>
            </a:r>
            <a:endParaRPr lang="zh-CN" altLang="en-US" sz="2800" b="1" dirty="0">
              <a:solidFill>
                <a:schemeClr val="tx1"/>
              </a:solidFill>
              <a:latin typeface="Times New Roman" panose="02020603050405020304" pitchFamily="18" charset="0"/>
            </a:endParaRPr>
          </a:p>
          <a:p>
            <a:endParaRPr lang="zh-CN" altLang="en-US" sz="2800" b="1" dirty="0">
              <a:solidFill>
                <a:schemeClr val="tx1"/>
              </a:solidFill>
              <a:latin typeface="Times New Roman" panose="02020603050405020304" pitchFamily="18" charset="0"/>
            </a:endParaRPr>
          </a:p>
          <a:p>
            <a:pPr>
              <a:buFont typeface="Wingdings" panose="05000000000000000000" pitchFamily="2" charset="2"/>
              <a:buChar char="Ø"/>
            </a:pPr>
            <a:r>
              <a:rPr lang="en-US" altLang="zh-CN" sz="2800" b="1" dirty="0">
                <a:solidFill>
                  <a:schemeClr val="tx1"/>
                </a:solidFill>
                <a:latin typeface="Times New Roman" panose="02020603050405020304" pitchFamily="18" charset="0"/>
              </a:rPr>
              <a:t>2.3 </a:t>
            </a:r>
            <a:r>
              <a:rPr lang="zh-CN" altLang="en-US" sz="2800" b="1" dirty="0">
                <a:solidFill>
                  <a:schemeClr val="tx1"/>
                </a:solidFill>
                <a:latin typeface="Times New Roman" panose="02020603050405020304" pitchFamily="18" charset="0"/>
              </a:rPr>
              <a:t>电子噪声</a:t>
            </a:r>
            <a:endParaRPr lang="zh-CN" altLang="en-US" sz="2800" b="1" dirty="0">
              <a:solidFill>
                <a:schemeClr val="tx1"/>
              </a:solidFill>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8" name="Text Box 6"/>
          <p:cNvSpPr txBox="1"/>
          <p:nvPr/>
        </p:nvSpPr>
        <p:spPr>
          <a:xfrm>
            <a:off x="539750" y="1341438"/>
            <a:ext cx="7869238" cy="829945"/>
          </a:xfrm>
          <a:prstGeom prst="rect">
            <a:avLst/>
          </a:prstGeom>
          <a:noFill/>
          <a:ln w="9525">
            <a:noFill/>
          </a:ln>
        </p:spPr>
        <p:txBody>
          <a:bodyPr>
            <a:spAutoFit/>
          </a:bodyPr>
          <a:lstStyle/>
          <a:p>
            <a:r>
              <a:rPr lang="zh-CN" altLang="en-US" dirty="0">
                <a:latin typeface="Times New Roman" panose="02020603050405020304" pitchFamily="18" charset="0"/>
              </a:rPr>
              <a:t>各种高频电路基本上是由</a:t>
            </a:r>
            <a:r>
              <a:rPr lang="zh-CN" altLang="en-US" b="1" dirty="0">
                <a:solidFill>
                  <a:srgbClr val="FF0066"/>
                </a:solidFill>
                <a:latin typeface="Times New Roman" panose="02020603050405020304" pitchFamily="18" charset="0"/>
              </a:rPr>
              <a:t>有源器件</a:t>
            </a:r>
            <a:r>
              <a:rPr lang="zh-CN" altLang="en-US" dirty="0">
                <a:solidFill>
                  <a:srgbClr val="FF0066"/>
                </a:solidFill>
                <a:latin typeface="Times New Roman" panose="02020603050405020304" pitchFamily="18" charset="0"/>
              </a:rPr>
              <a:t>、 </a:t>
            </a:r>
            <a:r>
              <a:rPr lang="zh-CN" altLang="en-US" b="1" dirty="0">
                <a:solidFill>
                  <a:srgbClr val="FF0066"/>
                </a:solidFill>
                <a:latin typeface="Times New Roman" panose="02020603050405020304" pitchFamily="18" charset="0"/>
              </a:rPr>
              <a:t>无源元件</a:t>
            </a:r>
            <a:r>
              <a:rPr lang="zh-CN" altLang="en-US" dirty="0">
                <a:latin typeface="Times New Roman" panose="02020603050405020304" pitchFamily="18" charset="0"/>
              </a:rPr>
              <a:t>和</a:t>
            </a:r>
            <a:r>
              <a:rPr lang="zh-CN" altLang="en-US" b="1" dirty="0">
                <a:solidFill>
                  <a:srgbClr val="FF0066"/>
                </a:solidFill>
                <a:latin typeface="Times New Roman" panose="02020603050405020304" pitchFamily="18" charset="0"/>
              </a:rPr>
              <a:t>无源网络</a:t>
            </a:r>
            <a:r>
              <a:rPr lang="zh-CN" altLang="en-US" dirty="0">
                <a:latin typeface="Times New Roman" panose="02020603050405020304" pitchFamily="18" charset="0"/>
              </a:rPr>
              <a:t>组成的。</a:t>
            </a:r>
            <a:endParaRPr lang="zh-CN" altLang="en-US" dirty="0">
              <a:latin typeface="Times New Roman" panose="02020603050405020304" pitchFamily="18" charset="0"/>
            </a:endParaRPr>
          </a:p>
        </p:txBody>
      </p:sp>
      <p:sp>
        <p:nvSpPr>
          <p:cNvPr id="3079" name="Text Box 7"/>
          <p:cNvSpPr txBox="1"/>
          <p:nvPr/>
        </p:nvSpPr>
        <p:spPr>
          <a:xfrm>
            <a:off x="539750" y="2349500"/>
            <a:ext cx="7580313" cy="829945"/>
          </a:xfrm>
          <a:prstGeom prst="rect">
            <a:avLst/>
          </a:prstGeom>
          <a:noFill/>
          <a:ln w="9525">
            <a:noFill/>
          </a:ln>
        </p:spPr>
        <p:txBody>
          <a:bodyPr>
            <a:spAutoFit/>
          </a:bodyPr>
          <a:lstStyle/>
          <a:p>
            <a:r>
              <a:rPr lang="zh-CN" altLang="en-US" dirty="0">
                <a:latin typeface="Times New Roman" panose="02020603050405020304" pitchFamily="18" charset="0"/>
              </a:rPr>
              <a:t>高频电路中使用的元器件与在低频电路中使用的元器件基本相同</a:t>
            </a:r>
            <a:r>
              <a:rPr lang="en-US" altLang="zh-CN" dirty="0">
                <a:latin typeface="Times New Roman" panose="02020603050405020304" pitchFamily="18" charset="0"/>
              </a:rPr>
              <a:t>, </a:t>
            </a:r>
            <a:r>
              <a:rPr lang="zh-CN" altLang="en-US" dirty="0">
                <a:latin typeface="Times New Roman" panose="02020603050405020304" pitchFamily="18" charset="0"/>
              </a:rPr>
              <a:t>但要注意它们在高频使用时的</a:t>
            </a:r>
            <a:r>
              <a:rPr lang="zh-CN" altLang="en-US" b="1" dirty="0">
                <a:solidFill>
                  <a:srgbClr val="FF0066"/>
                </a:solidFill>
                <a:latin typeface="Times New Roman" panose="02020603050405020304" pitchFamily="18" charset="0"/>
              </a:rPr>
              <a:t>高频特性</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3081" name="Text Box 9"/>
          <p:cNvSpPr txBox="1"/>
          <p:nvPr/>
        </p:nvSpPr>
        <p:spPr>
          <a:xfrm>
            <a:off x="611188" y="3357563"/>
            <a:ext cx="3960812" cy="460375"/>
          </a:xfrm>
          <a:prstGeom prst="rect">
            <a:avLst/>
          </a:prstGeom>
          <a:noFill/>
          <a:ln w="9525">
            <a:noFill/>
          </a:ln>
        </p:spPr>
        <p:txBody>
          <a:bodyPr>
            <a:spAutoFit/>
          </a:bodyPr>
          <a:lstStyle/>
          <a:p>
            <a:r>
              <a:rPr lang="zh-CN" altLang="en-US" b="1" dirty="0">
                <a:solidFill>
                  <a:srgbClr val="FF0066"/>
                </a:solidFill>
                <a:latin typeface="Times New Roman" panose="02020603050405020304" pitchFamily="18" charset="0"/>
              </a:rPr>
              <a:t>一、 高频电路中的无源元件</a:t>
            </a:r>
            <a:endParaRPr lang="zh-CN" altLang="en-US" b="1" dirty="0">
              <a:solidFill>
                <a:srgbClr val="FF0066"/>
              </a:solidFill>
              <a:latin typeface="Times New Roman" panose="02020603050405020304" pitchFamily="18" charset="0"/>
            </a:endParaRPr>
          </a:p>
        </p:txBody>
      </p:sp>
      <p:sp>
        <p:nvSpPr>
          <p:cNvPr id="3082" name="Text Box 10"/>
          <p:cNvSpPr txBox="1"/>
          <p:nvPr/>
        </p:nvSpPr>
        <p:spPr>
          <a:xfrm>
            <a:off x="755650" y="4292600"/>
            <a:ext cx="7724775" cy="829945"/>
          </a:xfrm>
          <a:prstGeom prst="rect">
            <a:avLst/>
          </a:prstGeom>
          <a:noFill/>
          <a:ln w="9525">
            <a:noFill/>
          </a:ln>
        </p:spPr>
        <p:txBody>
          <a:bodyPr>
            <a:spAutoFit/>
          </a:bodyPr>
          <a:lstStyle/>
          <a:p>
            <a:r>
              <a:rPr lang="zh-CN" altLang="en-US" dirty="0">
                <a:latin typeface="Times New Roman" panose="02020603050405020304" pitchFamily="18" charset="0"/>
              </a:rPr>
              <a:t>高频电路中的元件主要是</a:t>
            </a:r>
            <a:r>
              <a:rPr lang="zh-CN" altLang="en-US" b="1" dirty="0">
                <a:solidFill>
                  <a:srgbClr val="FF0066"/>
                </a:solidFill>
                <a:latin typeface="Times New Roman" panose="02020603050405020304" pitchFamily="18" charset="0"/>
              </a:rPr>
              <a:t>电阻</a:t>
            </a:r>
            <a:r>
              <a:rPr lang="en-US" altLang="zh-CN" b="1" dirty="0">
                <a:solidFill>
                  <a:srgbClr val="FF0066"/>
                </a:solidFill>
                <a:latin typeface="Times New Roman" panose="02020603050405020304" pitchFamily="18" charset="0"/>
              </a:rPr>
              <a:t>(</a:t>
            </a:r>
            <a:r>
              <a:rPr lang="zh-CN" altLang="en-US" b="1" dirty="0">
                <a:solidFill>
                  <a:srgbClr val="FF0066"/>
                </a:solidFill>
                <a:latin typeface="Times New Roman" panose="02020603050405020304" pitchFamily="18" charset="0"/>
              </a:rPr>
              <a:t>器</a:t>
            </a:r>
            <a:r>
              <a:rPr lang="en-US" altLang="zh-CN" b="1" dirty="0">
                <a:solidFill>
                  <a:srgbClr val="FF0066"/>
                </a:solidFill>
                <a:latin typeface="Times New Roman" panose="02020603050405020304" pitchFamily="18" charset="0"/>
              </a:rPr>
              <a:t>)</a:t>
            </a:r>
            <a:r>
              <a:rPr lang="zh-CN" altLang="en-US" dirty="0">
                <a:latin typeface="Times New Roman" panose="02020603050405020304" pitchFamily="18" charset="0"/>
              </a:rPr>
              <a:t>、 </a:t>
            </a:r>
            <a:r>
              <a:rPr lang="zh-CN" altLang="en-US" b="1" dirty="0">
                <a:solidFill>
                  <a:srgbClr val="FF0066"/>
                </a:solidFill>
                <a:latin typeface="Times New Roman" panose="02020603050405020304" pitchFamily="18" charset="0"/>
              </a:rPr>
              <a:t>电容</a:t>
            </a:r>
            <a:r>
              <a:rPr lang="en-US" altLang="zh-CN" b="1" dirty="0">
                <a:solidFill>
                  <a:srgbClr val="FF0066"/>
                </a:solidFill>
                <a:latin typeface="Times New Roman" panose="02020603050405020304" pitchFamily="18" charset="0"/>
              </a:rPr>
              <a:t>(</a:t>
            </a:r>
            <a:r>
              <a:rPr lang="zh-CN" altLang="en-US" b="1" dirty="0">
                <a:solidFill>
                  <a:srgbClr val="FF0066"/>
                </a:solidFill>
                <a:latin typeface="Times New Roman" panose="02020603050405020304" pitchFamily="18" charset="0"/>
              </a:rPr>
              <a:t>器</a:t>
            </a:r>
            <a:r>
              <a:rPr lang="en-US" altLang="zh-CN" b="1" dirty="0">
                <a:solidFill>
                  <a:srgbClr val="FF0066"/>
                </a:solidFill>
                <a:latin typeface="Times New Roman" panose="02020603050405020304" pitchFamily="18" charset="0"/>
              </a:rPr>
              <a:t>)</a:t>
            </a:r>
            <a:r>
              <a:rPr lang="zh-CN" altLang="en-US" dirty="0">
                <a:latin typeface="Times New Roman" panose="02020603050405020304" pitchFamily="18" charset="0"/>
              </a:rPr>
              <a:t>和</a:t>
            </a:r>
            <a:r>
              <a:rPr lang="zh-CN" altLang="en-US" b="1" dirty="0">
                <a:solidFill>
                  <a:srgbClr val="FF0066"/>
                </a:solidFill>
                <a:latin typeface="Times New Roman" panose="02020603050405020304" pitchFamily="18" charset="0"/>
              </a:rPr>
              <a:t>电感</a:t>
            </a:r>
            <a:r>
              <a:rPr lang="en-US" altLang="zh-CN" b="1" dirty="0">
                <a:solidFill>
                  <a:srgbClr val="FF0066"/>
                </a:solidFill>
                <a:latin typeface="Times New Roman" panose="02020603050405020304" pitchFamily="18" charset="0"/>
              </a:rPr>
              <a:t>(</a:t>
            </a:r>
            <a:r>
              <a:rPr lang="zh-CN" altLang="en-US" b="1" dirty="0">
                <a:solidFill>
                  <a:srgbClr val="FF0066"/>
                </a:solidFill>
                <a:latin typeface="Times New Roman" panose="02020603050405020304" pitchFamily="18" charset="0"/>
              </a:rPr>
              <a:t>器</a:t>
            </a:r>
            <a:r>
              <a:rPr lang="en-US" altLang="zh-CN" dirty="0">
                <a:solidFill>
                  <a:srgbClr val="FF0066"/>
                </a:solidFill>
                <a:latin typeface="Times New Roman" panose="02020603050405020304" pitchFamily="18" charset="0"/>
              </a:rPr>
              <a:t>),</a:t>
            </a:r>
            <a:r>
              <a:rPr lang="en-US" altLang="zh-CN" dirty="0">
                <a:latin typeface="Times New Roman" panose="02020603050405020304" pitchFamily="18" charset="0"/>
              </a:rPr>
              <a:t> </a:t>
            </a:r>
            <a:r>
              <a:rPr lang="zh-CN" altLang="en-US" dirty="0">
                <a:latin typeface="Times New Roman" panose="02020603050405020304" pitchFamily="18" charset="0"/>
              </a:rPr>
              <a:t>它们都属于无源的线性元件。</a:t>
            </a:r>
            <a:endParaRPr lang="zh-CN" altLang="en-US" dirty="0">
              <a:latin typeface="Times New Roman" panose="02020603050405020304" pitchFamily="18" charset="0"/>
            </a:endParaRPr>
          </a:p>
        </p:txBody>
      </p:sp>
      <p:grpSp>
        <p:nvGrpSpPr>
          <p:cNvPr id="73734" name="Group 15"/>
          <p:cNvGrpSpPr/>
          <p:nvPr/>
        </p:nvGrpSpPr>
        <p:grpSpPr>
          <a:xfrm>
            <a:off x="1951355" y="476885"/>
            <a:ext cx="5334000" cy="546100"/>
            <a:chOff x="1378" y="410"/>
            <a:chExt cx="3360" cy="344"/>
          </a:xfrm>
        </p:grpSpPr>
        <p:sp>
          <p:nvSpPr>
            <p:cNvPr id="73735" name="Rectangle 12"/>
            <p:cNvSpPr/>
            <p:nvPr/>
          </p:nvSpPr>
          <p:spPr>
            <a:xfrm>
              <a:off x="1378" y="410"/>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2.1 </a:t>
              </a:r>
              <a:r>
                <a:rPr lang="zh-CN" altLang="en-US" sz="2800" b="1" dirty="0">
                  <a:solidFill>
                    <a:schemeClr val="accent2"/>
                  </a:solidFill>
                  <a:latin typeface="Times New Roman" panose="02020603050405020304" pitchFamily="18" charset="0"/>
                </a:rPr>
                <a:t>高频电路中的元器件</a:t>
              </a:r>
              <a:endParaRPr lang="zh-CN" altLang="en-US" sz="2800" b="1" dirty="0">
                <a:solidFill>
                  <a:schemeClr val="accent2"/>
                </a:solidFill>
                <a:latin typeface="Times New Roman" panose="02020603050405020304" pitchFamily="18" charset="0"/>
              </a:endParaRPr>
            </a:p>
          </p:txBody>
        </p:sp>
        <p:sp>
          <p:nvSpPr>
            <p:cNvPr id="73736" name="Line 13"/>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2" name="Text Box 6"/>
          <p:cNvSpPr txBox="1"/>
          <p:nvPr/>
        </p:nvSpPr>
        <p:spPr>
          <a:xfrm>
            <a:off x="250825" y="1916113"/>
            <a:ext cx="8064500" cy="1938020"/>
          </a:xfrm>
          <a:prstGeom prst="rect">
            <a:avLst/>
          </a:prstGeom>
          <a:noFill/>
          <a:ln w="9525">
            <a:noFill/>
          </a:ln>
        </p:spPr>
        <p:txBody>
          <a:bodyPr>
            <a:spAutoFit/>
          </a:bodyPr>
          <a:lstStyle/>
          <a:p>
            <a:r>
              <a:rPr lang="zh-CN" altLang="en-US" dirty="0">
                <a:latin typeface="Times New Roman" panose="02020603050405020304" pitchFamily="18" charset="0"/>
              </a:rPr>
              <a:t>一个实际的电阻器</a:t>
            </a:r>
            <a:r>
              <a:rPr lang="en-US" altLang="zh-CN" dirty="0">
                <a:latin typeface="Times New Roman" panose="02020603050405020304" pitchFamily="18" charset="0"/>
              </a:rPr>
              <a:t>, </a:t>
            </a:r>
            <a:r>
              <a:rPr lang="zh-CN" altLang="en-US" dirty="0">
                <a:latin typeface="Times New Roman" panose="02020603050405020304" pitchFamily="18" charset="0"/>
              </a:rPr>
              <a:t>在</a:t>
            </a:r>
            <a:r>
              <a:rPr lang="zh-CN" altLang="en-US" dirty="0">
                <a:solidFill>
                  <a:srgbClr val="FF0066"/>
                </a:solidFill>
                <a:latin typeface="Times New Roman" panose="02020603050405020304" pitchFamily="18" charset="0"/>
              </a:rPr>
              <a:t>低频</a:t>
            </a:r>
            <a:r>
              <a:rPr lang="zh-CN" altLang="en-US" dirty="0">
                <a:latin typeface="Times New Roman" panose="02020603050405020304" pitchFamily="18" charset="0"/>
              </a:rPr>
              <a:t>时主要表现为</a:t>
            </a:r>
            <a:r>
              <a:rPr lang="zh-CN" altLang="en-US" dirty="0">
                <a:solidFill>
                  <a:srgbClr val="FF0066"/>
                </a:solidFill>
                <a:latin typeface="Times New Roman" panose="02020603050405020304" pitchFamily="18" charset="0"/>
              </a:rPr>
              <a:t>电阻</a:t>
            </a:r>
            <a:r>
              <a:rPr lang="zh-CN" altLang="en-US" dirty="0">
                <a:latin typeface="Times New Roman" panose="02020603050405020304" pitchFamily="18" charset="0"/>
              </a:rPr>
              <a:t>特性</a:t>
            </a:r>
            <a:r>
              <a:rPr lang="en-US" altLang="zh-CN" dirty="0">
                <a:latin typeface="Times New Roman" panose="02020603050405020304" pitchFamily="18" charset="0"/>
              </a:rPr>
              <a:t>, </a:t>
            </a:r>
            <a:r>
              <a:rPr lang="zh-CN" altLang="en-US" dirty="0">
                <a:latin typeface="Times New Roman" panose="02020603050405020304" pitchFamily="18" charset="0"/>
              </a:rPr>
              <a:t>但在</a:t>
            </a:r>
            <a:r>
              <a:rPr lang="zh-CN" altLang="en-US" dirty="0">
                <a:solidFill>
                  <a:srgbClr val="FF0066"/>
                </a:solidFill>
                <a:latin typeface="Times New Roman" panose="02020603050405020304" pitchFamily="18" charset="0"/>
              </a:rPr>
              <a:t>高频</a:t>
            </a:r>
            <a:r>
              <a:rPr lang="zh-CN" altLang="en-US" dirty="0">
                <a:latin typeface="Times New Roman" panose="02020603050405020304" pitchFamily="18" charset="0"/>
              </a:rPr>
              <a:t>使用时不仅表现有电阻特性的一面</a:t>
            </a:r>
            <a:r>
              <a:rPr lang="en-US" altLang="zh-CN" dirty="0">
                <a:latin typeface="Times New Roman" panose="02020603050405020304" pitchFamily="18" charset="0"/>
              </a:rPr>
              <a:t>, </a:t>
            </a:r>
            <a:r>
              <a:rPr lang="zh-CN" altLang="en-US" dirty="0">
                <a:latin typeface="Times New Roman" panose="02020603050405020304" pitchFamily="18" charset="0"/>
              </a:rPr>
              <a:t>而且还表现有</a:t>
            </a:r>
            <a:r>
              <a:rPr lang="zh-CN" altLang="en-US" dirty="0">
                <a:solidFill>
                  <a:srgbClr val="FF0066"/>
                </a:solidFill>
                <a:latin typeface="Times New Roman" panose="02020603050405020304" pitchFamily="18" charset="0"/>
              </a:rPr>
              <a:t>电抗特性</a:t>
            </a:r>
            <a:r>
              <a:rPr lang="zh-CN" altLang="en-US" dirty="0">
                <a:latin typeface="Times New Roman" panose="02020603050405020304" pitchFamily="18" charset="0"/>
              </a:rPr>
              <a:t>的一面。 电阻器的</a:t>
            </a:r>
            <a:r>
              <a:rPr lang="zh-CN" altLang="en-US" dirty="0">
                <a:solidFill>
                  <a:srgbClr val="FF0066"/>
                </a:solidFill>
                <a:latin typeface="Times New Roman" panose="02020603050405020304" pitchFamily="18" charset="0"/>
              </a:rPr>
              <a:t>电抗特性反映的就是其高频特性</a:t>
            </a:r>
            <a:r>
              <a:rPr lang="zh-CN" altLang="en-US" dirty="0">
                <a:latin typeface="Times New Roman" panose="02020603050405020304" pitchFamily="18" charset="0"/>
              </a:rPr>
              <a:t>。</a:t>
            </a:r>
            <a:endParaRPr lang="zh-CN" altLang="en-US" dirty="0">
              <a:latin typeface="Times New Roman" panose="02020603050405020304" pitchFamily="18" charset="0"/>
            </a:endParaRPr>
          </a:p>
          <a:p>
            <a:endParaRPr lang="zh-CN" altLang="en-US" dirty="0">
              <a:latin typeface="Times New Roman" panose="02020603050405020304" pitchFamily="18" charset="0"/>
            </a:endParaRPr>
          </a:p>
          <a:p>
            <a:r>
              <a:rPr lang="zh-CN" altLang="en-US" dirty="0">
                <a:latin typeface="Times New Roman" panose="02020603050405020304" pitchFamily="18" charset="0"/>
              </a:rPr>
              <a:t>其中</a:t>
            </a:r>
            <a:r>
              <a:rPr lang="en-US" altLang="zh-CN" dirty="0">
                <a:latin typeface="Times New Roman" panose="02020603050405020304" pitchFamily="18" charset="0"/>
              </a:rPr>
              <a:t>, </a:t>
            </a:r>
            <a:r>
              <a:rPr lang="en-US" altLang="zh-CN" i="1" dirty="0">
                <a:latin typeface="Times New Roman" panose="02020603050405020304" pitchFamily="18" charset="0"/>
              </a:rPr>
              <a:t>C</a:t>
            </a:r>
            <a:r>
              <a:rPr lang="en-US" altLang="zh-CN" i="1" baseline="-25000" dirty="0">
                <a:latin typeface="Times New Roman" panose="02020603050405020304" pitchFamily="18" charset="0"/>
              </a:rPr>
              <a:t>R</a:t>
            </a:r>
            <a:r>
              <a:rPr lang="zh-CN" altLang="en-US" dirty="0">
                <a:latin typeface="Times New Roman" panose="02020603050405020304" pitchFamily="18" charset="0"/>
              </a:rPr>
              <a:t>为分布电容</a:t>
            </a:r>
            <a:r>
              <a:rPr lang="en-US" altLang="zh-CN" dirty="0">
                <a:latin typeface="Times New Roman" panose="02020603050405020304" pitchFamily="18" charset="0"/>
              </a:rPr>
              <a:t>, </a:t>
            </a:r>
            <a:r>
              <a:rPr lang="en-US" altLang="zh-CN" i="1" dirty="0">
                <a:latin typeface="Times New Roman" panose="02020603050405020304" pitchFamily="18" charset="0"/>
              </a:rPr>
              <a:t>L</a:t>
            </a:r>
            <a:r>
              <a:rPr lang="en-US" altLang="zh-CN" i="1" baseline="-25000" dirty="0">
                <a:latin typeface="Times New Roman" panose="02020603050405020304" pitchFamily="18" charset="0"/>
              </a:rPr>
              <a:t>R</a:t>
            </a:r>
            <a:r>
              <a:rPr lang="zh-CN" altLang="en-US" dirty="0">
                <a:latin typeface="Times New Roman" panose="02020603050405020304" pitchFamily="18" charset="0"/>
              </a:rPr>
              <a:t>为引线电感</a:t>
            </a:r>
            <a:r>
              <a:rPr lang="en-US" altLang="zh-CN" dirty="0">
                <a:latin typeface="Times New Roman" panose="02020603050405020304" pitchFamily="18" charset="0"/>
              </a:rPr>
              <a:t>, </a:t>
            </a:r>
            <a:r>
              <a:rPr lang="en-US" altLang="zh-CN" i="1" dirty="0">
                <a:latin typeface="Times New Roman" panose="02020603050405020304" pitchFamily="18" charset="0"/>
              </a:rPr>
              <a:t>R</a:t>
            </a:r>
            <a:r>
              <a:rPr lang="zh-CN" altLang="en-US" dirty="0">
                <a:latin typeface="Times New Roman" panose="02020603050405020304" pitchFamily="18" charset="0"/>
              </a:rPr>
              <a:t>为电阻。 </a:t>
            </a:r>
            <a:endParaRPr lang="zh-CN" altLang="en-US" dirty="0">
              <a:latin typeface="Times New Roman" panose="02020603050405020304" pitchFamily="18" charset="0"/>
            </a:endParaRPr>
          </a:p>
        </p:txBody>
      </p:sp>
      <p:sp>
        <p:nvSpPr>
          <p:cNvPr id="1028" name="Text Box 8"/>
          <p:cNvSpPr txBox="1"/>
          <p:nvPr/>
        </p:nvSpPr>
        <p:spPr>
          <a:xfrm>
            <a:off x="468313" y="1341438"/>
            <a:ext cx="3470910" cy="460375"/>
          </a:xfrm>
          <a:prstGeom prst="rect">
            <a:avLst/>
          </a:prstGeom>
          <a:noFill/>
          <a:ln w="9525">
            <a:noFill/>
          </a:ln>
        </p:spPr>
        <p:txBody>
          <a:bodyPr wrap="none">
            <a:spAutoFit/>
          </a:bodyPr>
          <a:lstStyle/>
          <a:p>
            <a:r>
              <a:rPr lang="zh-CN" altLang="en-US" b="1" dirty="0">
                <a:solidFill>
                  <a:schemeClr val="tx1"/>
                </a:solidFill>
                <a:latin typeface="Times New Roman" panose="02020603050405020304" pitchFamily="18" charset="0"/>
              </a:rPr>
              <a:t>（</a:t>
            </a:r>
            <a:r>
              <a:rPr lang="en-US" altLang="zh-CN" b="1" dirty="0">
                <a:solidFill>
                  <a:schemeClr val="tx1"/>
                </a:solidFill>
                <a:latin typeface="Times New Roman" panose="02020603050405020304" pitchFamily="18" charset="0"/>
              </a:rPr>
              <a:t>1</a:t>
            </a:r>
            <a:r>
              <a:rPr lang="zh-CN" altLang="en-US" b="1" dirty="0">
                <a:solidFill>
                  <a:schemeClr val="tx1"/>
                </a:solidFill>
                <a:latin typeface="Times New Roman" panose="02020603050405020304" pitchFamily="18" charset="0"/>
              </a:rPr>
              <a:t>） 电阻的高频模型</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nvGrpSpPr>
          <p:cNvPr id="2" name="Group 13"/>
          <p:cNvGrpSpPr/>
          <p:nvPr/>
        </p:nvGrpSpPr>
        <p:grpSpPr>
          <a:xfrm>
            <a:off x="-36195" y="4076700"/>
            <a:ext cx="4243531" cy="1396583"/>
            <a:chOff x="1429" y="2205"/>
            <a:chExt cx="3251" cy="1234"/>
          </a:xfrm>
        </p:grpSpPr>
        <p:graphicFrame>
          <p:nvGraphicFramePr>
            <p:cNvPr id="1026" name="Object 10"/>
            <p:cNvGraphicFramePr/>
            <p:nvPr/>
          </p:nvGraphicFramePr>
          <p:xfrm>
            <a:off x="1429" y="2205"/>
            <a:ext cx="3130" cy="942"/>
          </p:xfrm>
          <a:graphic>
            <a:graphicData uri="http://schemas.openxmlformats.org/presentationml/2006/ole">
              <mc:AlternateContent xmlns:mc="http://schemas.openxmlformats.org/markup-compatibility/2006">
                <mc:Choice xmlns:v="urn:schemas-microsoft-com:vml" Requires="v">
                  <p:oleObj spid="_x0000_s3" name="" r:id="rId1" imgW="2016760" imgH="609600" progId="Visio.Drawing.6">
                    <p:embed/>
                  </p:oleObj>
                </mc:Choice>
                <mc:Fallback>
                  <p:oleObj name="" r:id="rId1" imgW="2016760" imgH="609600" progId="Visio.Drawing.6">
                    <p:embed/>
                    <p:pic>
                      <p:nvPicPr>
                        <p:cNvPr id="0" name="图片 3084"/>
                        <p:cNvPicPr/>
                        <p:nvPr/>
                      </p:nvPicPr>
                      <p:blipFill>
                        <a:blip r:embed="rId2"/>
                        <a:stretch>
                          <a:fillRect/>
                        </a:stretch>
                      </p:blipFill>
                      <p:spPr>
                        <a:xfrm>
                          <a:off x="1429" y="2205"/>
                          <a:ext cx="3130" cy="942"/>
                        </a:xfrm>
                        <a:prstGeom prst="rect">
                          <a:avLst/>
                        </a:prstGeom>
                        <a:noFill/>
                        <a:ln w="38100">
                          <a:noFill/>
                          <a:miter/>
                        </a:ln>
                      </p:spPr>
                    </p:pic>
                  </p:oleObj>
                </mc:Fallback>
              </mc:AlternateContent>
            </a:graphicData>
          </a:graphic>
        </p:graphicFrame>
        <p:sp>
          <p:nvSpPr>
            <p:cNvPr id="1037" name="Text Box 12"/>
            <p:cNvSpPr txBox="1"/>
            <p:nvPr/>
          </p:nvSpPr>
          <p:spPr>
            <a:xfrm>
              <a:off x="1815" y="3032"/>
              <a:ext cx="2865" cy="407"/>
            </a:xfrm>
            <a:prstGeom prst="rect">
              <a:avLst/>
            </a:prstGeom>
            <a:noFill/>
            <a:ln w="9525">
              <a:noFill/>
            </a:ln>
          </p:spPr>
          <p:txBody>
            <a:bodyPr wrap="square">
              <a:spAutoFit/>
            </a:bodyPr>
            <a:lstStyle/>
            <a:p>
              <a:pPr>
                <a:spcBef>
                  <a:spcPct val="50000"/>
                </a:spcBef>
              </a:pPr>
              <a:r>
                <a:rPr lang="en-US" altLang="zh-CN" dirty="0">
                  <a:latin typeface="Times New Roman" panose="02020603050405020304" pitchFamily="18" charset="0"/>
                </a:rPr>
                <a:t> </a:t>
              </a:r>
              <a:r>
                <a:rPr lang="zh-CN" altLang="en-US" sz="2000" dirty="0">
                  <a:latin typeface="Times New Roman" panose="02020603050405020304" pitchFamily="18" charset="0"/>
                </a:rPr>
                <a:t>图 </a:t>
              </a:r>
              <a:r>
                <a:rPr lang="en-US" altLang="zh-CN" sz="2000" dirty="0">
                  <a:latin typeface="Times New Roman" panose="02020603050405020304" pitchFamily="18" charset="0"/>
                </a:rPr>
                <a:t>2 -1 </a:t>
              </a:r>
              <a:r>
                <a:rPr lang="zh-CN" altLang="en-US" sz="2000" dirty="0">
                  <a:latin typeface="Times New Roman" panose="02020603050405020304" pitchFamily="18" charset="0"/>
                </a:rPr>
                <a:t>电阻的高频等效电路 </a:t>
              </a:r>
              <a:endParaRPr lang="zh-CN" altLang="en-US" sz="2000" dirty="0">
                <a:latin typeface="Times New Roman" panose="02020603050405020304" pitchFamily="18" charset="0"/>
              </a:endParaRPr>
            </a:p>
          </p:txBody>
        </p:sp>
      </p:grpSp>
      <p:sp>
        <p:nvSpPr>
          <p:cNvPr id="91150" name="Text Box 14"/>
          <p:cNvSpPr txBox="1"/>
          <p:nvPr/>
        </p:nvSpPr>
        <p:spPr>
          <a:xfrm>
            <a:off x="3855085" y="4076700"/>
            <a:ext cx="5153660" cy="521970"/>
          </a:xfrm>
          <a:prstGeom prst="rect">
            <a:avLst/>
          </a:prstGeom>
          <a:noFill/>
          <a:ln w="9525">
            <a:noFill/>
          </a:ln>
        </p:spPr>
        <p:txBody>
          <a:bodyPr wrap="square">
            <a:spAutoFit/>
          </a:bodyPr>
          <a:lstStyle/>
          <a:p>
            <a:r>
              <a:rPr lang="en-US" altLang="zh-CN" sz="2800" dirty="0">
                <a:solidFill>
                  <a:srgbClr val="FF0066"/>
                </a:solidFill>
                <a:latin typeface="Times New Roman" panose="02020603050405020304" pitchFamily="18" charset="0"/>
              </a:rPr>
              <a:t>●</a:t>
            </a:r>
            <a:r>
              <a:rPr lang="zh-CN" altLang="en-US" dirty="0">
                <a:solidFill>
                  <a:schemeClr val="tx1"/>
                </a:solidFill>
                <a:latin typeface="Times New Roman" panose="02020603050405020304" pitchFamily="18" charset="0"/>
              </a:rPr>
              <a:t>频率</a:t>
            </a:r>
            <a:r>
              <a:rPr lang="zh-CN" altLang="en-US" dirty="0">
                <a:latin typeface="Times New Roman" panose="02020603050405020304" pitchFamily="18" charset="0"/>
              </a:rPr>
              <a:t>越高，电阻的高频特性越明显</a:t>
            </a:r>
            <a:r>
              <a:rPr lang="zh-CN" altLang="en-US" sz="2800" dirty="0">
                <a:solidFill>
                  <a:srgbClr val="FF0066"/>
                </a:solidFill>
                <a:latin typeface="Times New Roman" panose="02020603050405020304" pitchFamily="18" charset="0"/>
              </a:rPr>
              <a:t> </a:t>
            </a:r>
            <a:endParaRPr lang="zh-CN" altLang="en-US" sz="2800" dirty="0">
              <a:solidFill>
                <a:srgbClr val="FF0066"/>
              </a:solidFill>
              <a:latin typeface="Times New Roman" panose="02020603050405020304" pitchFamily="18" charset="0"/>
            </a:endParaRPr>
          </a:p>
        </p:txBody>
      </p:sp>
      <p:sp>
        <p:nvSpPr>
          <p:cNvPr id="91152" name="Text Box 16"/>
          <p:cNvSpPr txBox="1"/>
          <p:nvPr/>
        </p:nvSpPr>
        <p:spPr>
          <a:xfrm>
            <a:off x="3779520" y="5544185"/>
            <a:ext cx="5207635" cy="891540"/>
          </a:xfrm>
          <a:prstGeom prst="rect">
            <a:avLst/>
          </a:prstGeom>
          <a:noFill/>
          <a:ln w="9525">
            <a:noFill/>
          </a:ln>
        </p:spPr>
        <p:txBody>
          <a:bodyPr wrap="square">
            <a:spAutoFit/>
          </a:bodyPr>
          <a:lstStyle/>
          <a:p>
            <a:r>
              <a:rPr lang="en-US" altLang="zh-CN" dirty="0">
                <a:solidFill>
                  <a:srgbClr val="FF0066"/>
                </a:solidFill>
                <a:latin typeface="Times New Roman" panose="02020603050405020304" pitchFamily="18" charset="0"/>
              </a:rPr>
              <a:t> </a:t>
            </a:r>
            <a:r>
              <a:rPr lang="en-US" altLang="zh-CN" sz="2800" dirty="0">
                <a:solidFill>
                  <a:srgbClr val="FF0066"/>
                </a:solidFill>
                <a:sym typeface="+mn-ea"/>
              </a:rPr>
              <a:t>●</a:t>
            </a:r>
            <a:r>
              <a:rPr lang="en-US" altLang="zh-CN" sz="2800" dirty="0">
                <a:latin typeface="Times New Roman" panose="02020603050405020304" pitchFamily="18" charset="0"/>
              </a:rPr>
              <a:t> </a:t>
            </a:r>
            <a:r>
              <a:rPr lang="en-US" altLang="zh-CN" i="1" dirty="0">
                <a:latin typeface="Times New Roman" panose="02020603050405020304" pitchFamily="18" charset="0"/>
              </a:rPr>
              <a:t>L</a:t>
            </a:r>
            <a:r>
              <a:rPr lang="en-US" altLang="zh-CN" i="1" baseline="-25000" dirty="0">
                <a:latin typeface="Times New Roman" panose="02020603050405020304" pitchFamily="18" charset="0"/>
              </a:rPr>
              <a:t>R</a:t>
            </a:r>
            <a:r>
              <a:rPr lang="zh-CN" altLang="en-US" dirty="0">
                <a:latin typeface="Times New Roman" panose="02020603050405020304" pitchFamily="18" charset="0"/>
              </a:rPr>
              <a:t>、</a:t>
            </a:r>
            <a:r>
              <a:rPr lang="en-US" altLang="zh-CN" i="1" dirty="0">
                <a:latin typeface="Times New Roman" panose="02020603050405020304" pitchFamily="18" charset="0"/>
              </a:rPr>
              <a:t>C</a:t>
            </a:r>
            <a:r>
              <a:rPr lang="en-US" altLang="zh-CN" i="1" baseline="-25000" dirty="0">
                <a:latin typeface="Times New Roman" panose="02020603050405020304" pitchFamily="18" charset="0"/>
              </a:rPr>
              <a:t>R</a:t>
            </a:r>
            <a:r>
              <a:rPr lang="zh-CN" altLang="en-US" dirty="0">
                <a:latin typeface="Times New Roman" panose="02020603050405020304" pitchFamily="18" charset="0"/>
              </a:rPr>
              <a:t>越小，高频特性越好，因</a:t>
            </a:r>
            <a:endParaRPr lang="zh-CN" altLang="en-US" dirty="0">
              <a:latin typeface="Times New Roman" panose="02020603050405020304" pitchFamily="18" charset="0"/>
            </a:endParaRPr>
          </a:p>
          <a:p>
            <a:r>
              <a:rPr lang="zh-CN" altLang="en-US" dirty="0">
                <a:latin typeface="Times New Roman" panose="02020603050405020304" pitchFamily="18" charset="0"/>
              </a:rPr>
              <a:t> </a:t>
            </a:r>
            <a:r>
              <a:rPr lang="en-US" altLang="zh-CN" dirty="0">
                <a:latin typeface="Times New Roman" panose="02020603050405020304" pitchFamily="18" charset="0"/>
              </a:rPr>
              <a:t>     </a:t>
            </a:r>
            <a:r>
              <a:rPr lang="zh-CN" altLang="en-US" dirty="0">
                <a:latin typeface="Times New Roman" panose="02020603050405020304" pitchFamily="18" charset="0"/>
              </a:rPr>
              <a:t>此希望电阻的</a:t>
            </a:r>
            <a:r>
              <a:rPr lang="zh-CN" altLang="en-US" dirty="0">
                <a:solidFill>
                  <a:srgbClr val="FF0066"/>
                </a:solidFill>
                <a:latin typeface="Times New Roman" panose="02020603050405020304" pitchFamily="18" charset="0"/>
              </a:rPr>
              <a:t>引线要短。</a:t>
            </a:r>
            <a:endParaRPr lang="zh-CN" altLang="en-US" dirty="0">
              <a:solidFill>
                <a:srgbClr val="FF0066"/>
              </a:solidFill>
              <a:latin typeface="Times New Roman" panose="02020603050405020304" pitchFamily="18" charset="0"/>
            </a:endParaRPr>
          </a:p>
        </p:txBody>
      </p:sp>
      <p:sp>
        <p:nvSpPr>
          <p:cNvPr id="91153" name="Text Box 17"/>
          <p:cNvSpPr txBox="1"/>
          <p:nvPr/>
        </p:nvSpPr>
        <p:spPr>
          <a:xfrm>
            <a:off x="3855085" y="4652645"/>
            <a:ext cx="5192395" cy="891540"/>
          </a:xfrm>
          <a:prstGeom prst="rect">
            <a:avLst/>
          </a:prstGeom>
          <a:noFill/>
          <a:ln w="9525">
            <a:noFill/>
          </a:ln>
        </p:spPr>
        <p:txBody>
          <a:bodyPr wrap="square">
            <a:spAutoFit/>
          </a:bodyPr>
          <a:lstStyle/>
          <a:p>
            <a:pPr>
              <a:lnSpc>
                <a:spcPct val="100000"/>
              </a:lnSpc>
            </a:pPr>
            <a:r>
              <a:rPr lang="en-US" altLang="zh-CN" sz="2800" dirty="0">
                <a:solidFill>
                  <a:srgbClr val="FF0066"/>
                </a:solidFill>
                <a:latin typeface="Times New Roman" panose="02020603050405020304" pitchFamily="18" charset="0"/>
              </a:rPr>
              <a:t>●</a:t>
            </a:r>
            <a:r>
              <a:rPr lang="zh-CN" altLang="en-US" dirty="0">
                <a:latin typeface="Times New Roman" panose="02020603050405020304" pitchFamily="18" charset="0"/>
              </a:rPr>
              <a:t>在实际使用时，要尽量减小电阻器</a:t>
            </a:r>
            <a:endParaRPr lang="zh-CN" altLang="en-US" dirty="0">
              <a:latin typeface="Times New Roman" panose="02020603050405020304" pitchFamily="18" charset="0"/>
            </a:endParaRPr>
          </a:p>
          <a:p>
            <a:r>
              <a:rPr lang="zh-CN" altLang="en-US" dirty="0">
                <a:latin typeface="Times New Roman" panose="02020603050405020304" pitchFamily="18" charset="0"/>
              </a:rPr>
              <a:t> </a:t>
            </a:r>
            <a:r>
              <a:rPr lang="en-US" altLang="zh-CN" dirty="0">
                <a:latin typeface="Times New Roman" panose="02020603050405020304" pitchFamily="18" charset="0"/>
              </a:rPr>
              <a:t>    </a:t>
            </a:r>
            <a:r>
              <a:rPr lang="zh-CN" altLang="en-US" dirty="0">
                <a:latin typeface="Times New Roman" panose="02020603050405020304" pitchFamily="18" charset="0"/>
              </a:rPr>
              <a:t>的高频特性，使之表现为</a:t>
            </a:r>
            <a:r>
              <a:rPr lang="zh-CN" altLang="en-US" dirty="0">
                <a:solidFill>
                  <a:srgbClr val="FF0066"/>
                </a:solidFill>
                <a:latin typeface="Times New Roman" panose="02020603050405020304" pitchFamily="18" charset="0"/>
              </a:rPr>
              <a:t>纯电阻</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1034" name="Text Box 21"/>
          <p:cNvSpPr txBox="1"/>
          <p:nvPr/>
        </p:nvSpPr>
        <p:spPr>
          <a:xfrm>
            <a:off x="0" y="908050"/>
            <a:ext cx="3960813" cy="460375"/>
          </a:xfrm>
          <a:prstGeom prst="rect">
            <a:avLst/>
          </a:prstGeom>
          <a:noFill/>
          <a:ln w="9525">
            <a:noFill/>
          </a:ln>
        </p:spPr>
        <p:txBody>
          <a:bodyPr>
            <a:spAutoFit/>
          </a:bodyPr>
          <a:lstStyle/>
          <a:p>
            <a:r>
              <a:rPr lang="zh-CN" altLang="en-US" b="1" dirty="0">
                <a:solidFill>
                  <a:srgbClr val="FF0066"/>
                </a:solidFill>
                <a:latin typeface="Times New Roman" panose="02020603050405020304" pitchFamily="18" charset="0"/>
              </a:rPr>
              <a:t>一、 高频电路中的无源元件</a:t>
            </a:r>
            <a:endParaRPr lang="zh-CN" altLang="en-US" b="1" dirty="0">
              <a:solidFill>
                <a:srgbClr val="FF0066"/>
              </a:solidFill>
              <a:latin typeface="Times New Roman" panose="02020603050405020304" pitchFamily="18" charset="0"/>
            </a:endParaRPr>
          </a:p>
        </p:txBody>
      </p:sp>
      <p:grpSp>
        <p:nvGrpSpPr>
          <p:cNvPr id="2060" name="Group 28"/>
          <p:cNvGrpSpPr/>
          <p:nvPr/>
        </p:nvGrpSpPr>
        <p:grpSpPr>
          <a:xfrm>
            <a:off x="1899285" y="362585"/>
            <a:ext cx="5334000" cy="546100"/>
            <a:chOff x="1378" y="410"/>
            <a:chExt cx="3360" cy="344"/>
          </a:xfrm>
        </p:grpSpPr>
        <p:sp>
          <p:nvSpPr>
            <p:cNvPr id="2063" name="Rectangle 29"/>
            <p:cNvSpPr/>
            <p:nvPr/>
          </p:nvSpPr>
          <p:spPr>
            <a:xfrm>
              <a:off x="1378" y="410"/>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2.1 </a:t>
              </a:r>
              <a:r>
                <a:rPr lang="zh-CN" altLang="en-US" sz="2800" b="1" dirty="0">
                  <a:solidFill>
                    <a:schemeClr val="accent2"/>
                  </a:solidFill>
                  <a:latin typeface="Times New Roman" panose="02020603050405020304" pitchFamily="18" charset="0"/>
                </a:rPr>
                <a:t>高频电路中的元器件</a:t>
              </a:r>
              <a:endParaRPr lang="zh-CN" altLang="en-US" sz="2800" b="1" dirty="0">
                <a:solidFill>
                  <a:schemeClr val="accent2"/>
                </a:solidFill>
                <a:latin typeface="Times New Roman" panose="02020603050405020304" pitchFamily="18" charset="0"/>
              </a:endParaRPr>
            </a:p>
          </p:txBody>
        </p:sp>
        <p:sp>
          <p:nvSpPr>
            <p:cNvPr id="2064" name="Line 30"/>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7" name="Text Box 6"/>
          <p:cNvSpPr txBox="1"/>
          <p:nvPr/>
        </p:nvSpPr>
        <p:spPr>
          <a:xfrm>
            <a:off x="251460" y="1484630"/>
            <a:ext cx="3251200" cy="460375"/>
          </a:xfrm>
          <a:prstGeom prst="rect">
            <a:avLst/>
          </a:prstGeom>
          <a:noFill/>
          <a:ln w="9525">
            <a:noFill/>
          </a:ln>
        </p:spPr>
        <p:txBody>
          <a:bodyPr wrap="square">
            <a:spAutoFit/>
          </a:bodyPr>
          <a:lstStyle/>
          <a:p>
            <a:r>
              <a:rPr lang="zh-CN" altLang="en-US" b="1" dirty="0">
                <a:solidFill>
                  <a:schemeClr val="tx1"/>
                </a:solidFill>
                <a:latin typeface="Times New Roman" panose="02020603050405020304" pitchFamily="18" charset="0"/>
              </a:rPr>
              <a:t>（</a:t>
            </a:r>
            <a:r>
              <a:rPr lang="en-US" altLang="zh-CN" b="1" dirty="0">
                <a:solidFill>
                  <a:schemeClr val="tx1"/>
                </a:solidFill>
                <a:latin typeface="Times New Roman" panose="02020603050405020304" pitchFamily="18" charset="0"/>
              </a:rPr>
              <a:t>2</a:t>
            </a:r>
            <a:r>
              <a:rPr lang="zh-CN" altLang="en-US" b="1" dirty="0">
                <a:solidFill>
                  <a:schemeClr val="tx1"/>
                </a:solidFill>
                <a:latin typeface="Times New Roman" panose="02020603050405020304" pitchFamily="18" charset="0"/>
              </a:rPr>
              <a:t>）</a:t>
            </a:r>
            <a:r>
              <a:rPr lang="en-US" altLang="zh-CN" b="1" dirty="0">
                <a:solidFill>
                  <a:schemeClr val="tx1"/>
                </a:solidFill>
                <a:latin typeface="Times New Roman" panose="02020603050405020304" pitchFamily="18" charset="0"/>
              </a:rPr>
              <a:t> </a:t>
            </a:r>
            <a:r>
              <a:rPr lang="zh-CN" altLang="en-US" b="1" dirty="0">
                <a:solidFill>
                  <a:schemeClr val="tx1"/>
                </a:solidFill>
                <a:latin typeface="Times New Roman" panose="02020603050405020304" pitchFamily="18" charset="0"/>
              </a:rPr>
              <a:t>电容的高频模型</a:t>
            </a:r>
            <a:endParaRPr lang="zh-CN" altLang="en-US" b="1" dirty="0">
              <a:solidFill>
                <a:schemeClr val="tx1"/>
              </a:solidFill>
              <a:latin typeface="Times New Roman" panose="02020603050405020304" pitchFamily="18" charset="0"/>
            </a:endParaRPr>
          </a:p>
        </p:txBody>
      </p:sp>
      <p:graphicFrame>
        <p:nvGraphicFramePr>
          <p:cNvPr id="5129" name="Object 9"/>
          <p:cNvGraphicFramePr>
            <a:graphicFrameLocks noGrp="1"/>
          </p:cNvGraphicFramePr>
          <p:nvPr>
            <p:ph sz="quarter" idx="1"/>
          </p:nvPr>
        </p:nvGraphicFramePr>
        <p:xfrm>
          <a:off x="684530" y="1916430"/>
          <a:ext cx="3185795" cy="1423670"/>
        </p:xfrm>
        <a:graphic>
          <a:graphicData uri="http://schemas.openxmlformats.org/presentationml/2006/ole">
            <mc:AlternateContent xmlns:mc="http://schemas.openxmlformats.org/markup-compatibility/2006">
              <mc:Choice xmlns:v="urn:schemas-microsoft-com:vml" Requires="v">
                <p:oleObj spid="_x0000_s2" name="" r:id="rId1" imgW="1583055" imgH="967105" progId="Visio.Drawing.6">
                  <p:embed/>
                </p:oleObj>
              </mc:Choice>
              <mc:Fallback>
                <p:oleObj name="" r:id="rId1" imgW="1583055" imgH="967105" progId="Visio.Drawing.6">
                  <p:embed/>
                  <p:pic>
                    <p:nvPicPr>
                      <p:cNvPr id="0" name="图片 3079"/>
                      <p:cNvPicPr/>
                      <p:nvPr/>
                    </p:nvPicPr>
                    <p:blipFill>
                      <a:blip r:embed="rId2"/>
                      <a:srcRect b="37357"/>
                      <a:stretch>
                        <a:fillRect/>
                      </a:stretch>
                    </p:blipFill>
                    <p:spPr>
                      <a:xfrm>
                        <a:off x="684530" y="1916430"/>
                        <a:ext cx="3185795" cy="1423670"/>
                      </a:xfrm>
                      <a:prstGeom prst="rect">
                        <a:avLst/>
                      </a:prstGeom>
                      <a:noFill/>
                      <a:ln w="38100">
                        <a:noFill/>
                        <a:miter/>
                      </a:ln>
                    </p:spPr>
                  </p:pic>
                </p:oleObj>
              </mc:Fallback>
            </mc:AlternateContent>
          </a:graphicData>
        </a:graphic>
      </p:graphicFrame>
      <p:graphicFrame>
        <p:nvGraphicFramePr>
          <p:cNvPr id="5131" name="Object 11"/>
          <p:cNvGraphicFramePr>
            <a:graphicFrameLocks noGrp="1"/>
          </p:cNvGraphicFramePr>
          <p:nvPr>
            <p:ph sz="quarter" idx="2"/>
          </p:nvPr>
        </p:nvGraphicFramePr>
        <p:xfrm>
          <a:off x="4787900" y="2432050"/>
          <a:ext cx="3888105" cy="2869247"/>
        </p:xfrm>
        <a:graphic>
          <a:graphicData uri="http://schemas.openxmlformats.org/presentationml/2006/ole">
            <mc:AlternateContent xmlns:mc="http://schemas.openxmlformats.org/markup-compatibility/2006">
              <mc:Choice xmlns:v="urn:schemas-microsoft-com:vml" Requires="v">
                <p:oleObj spid="_x0000_s3" name="" r:id="rId3" imgW="1906270" imgH="1636395" progId="Visio.Drawing.6">
                  <p:embed/>
                </p:oleObj>
              </mc:Choice>
              <mc:Fallback>
                <p:oleObj name="" r:id="rId3" imgW="1906270" imgH="1636395" progId="Visio.Drawing.6">
                  <p:embed/>
                  <p:pic>
                    <p:nvPicPr>
                      <p:cNvPr id="0" name="图片 3080"/>
                      <p:cNvPicPr/>
                      <p:nvPr/>
                    </p:nvPicPr>
                    <p:blipFill>
                      <a:blip r:embed="rId4"/>
                      <a:srcRect b="14162"/>
                      <a:stretch>
                        <a:fillRect/>
                      </a:stretch>
                    </p:blipFill>
                    <p:spPr>
                      <a:xfrm>
                        <a:off x="4787900" y="2432050"/>
                        <a:ext cx="3888105" cy="2869247"/>
                      </a:xfrm>
                      <a:prstGeom prst="rect">
                        <a:avLst/>
                      </a:prstGeom>
                      <a:noFill/>
                      <a:ln w="38100">
                        <a:noFill/>
                        <a:miter/>
                      </a:ln>
                    </p:spPr>
                  </p:pic>
                </p:oleObj>
              </mc:Fallback>
            </mc:AlternateContent>
          </a:graphicData>
        </a:graphic>
      </p:graphicFrame>
      <p:graphicFrame>
        <p:nvGraphicFramePr>
          <p:cNvPr id="5142" name="Object 22"/>
          <p:cNvGraphicFramePr>
            <a:graphicFrameLocks noGrp="1"/>
          </p:cNvGraphicFramePr>
          <p:nvPr>
            <p:ph sz="quarter" idx="3"/>
          </p:nvPr>
        </p:nvGraphicFramePr>
        <p:xfrm>
          <a:off x="6804025" y="3056890"/>
          <a:ext cx="33338" cy="1762125"/>
        </p:xfrm>
        <a:graphic>
          <a:graphicData uri="http://schemas.openxmlformats.org/presentationml/2006/ole">
            <mc:AlternateContent xmlns:mc="http://schemas.openxmlformats.org/markup-compatibility/2006">
              <mc:Choice xmlns:v="urn:schemas-microsoft-com:vml" Requires="v">
                <p:oleObj spid="_x0000_s4" name="" r:id="rId5" imgW="45085" imgH="1667510" progId="Visio.Drawing.6">
                  <p:embed/>
                </p:oleObj>
              </mc:Choice>
              <mc:Fallback>
                <p:oleObj name="" r:id="rId5" imgW="45085" imgH="1667510" progId="Visio.Drawing.6">
                  <p:embed/>
                  <p:pic>
                    <p:nvPicPr>
                      <p:cNvPr id="0" name="图片 3078"/>
                      <p:cNvPicPr/>
                      <p:nvPr/>
                    </p:nvPicPr>
                    <p:blipFill>
                      <a:blip r:embed="rId6"/>
                      <a:stretch>
                        <a:fillRect/>
                      </a:stretch>
                    </p:blipFill>
                    <p:spPr>
                      <a:xfrm>
                        <a:off x="6804025" y="3056890"/>
                        <a:ext cx="33338" cy="1762125"/>
                      </a:xfrm>
                      <a:prstGeom prst="rect">
                        <a:avLst/>
                      </a:prstGeom>
                      <a:noFill/>
                      <a:ln w="38100">
                        <a:noFill/>
                        <a:miter/>
                      </a:ln>
                    </p:spPr>
                  </p:pic>
                </p:oleObj>
              </mc:Fallback>
            </mc:AlternateContent>
          </a:graphicData>
        </a:graphic>
      </p:graphicFrame>
      <p:sp>
        <p:nvSpPr>
          <p:cNvPr id="5147" name="Text Box 27"/>
          <p:cNvSpPr txBox="1"/>
          <p:nvPr/>
        </p:nvSpPr>
        <p:spPr>
          <a:xfrm>
            <a:off x="467995" y="3860800"/>
            <a:ext cx="4319270" cy="1568450"/>
          </a:xfrm>
          <a:prstGeom prst="rect">
            <a:avLst/>
          </a:prstGeom>
          <a:noFill/>
          <a:ln w="9525">
            <a:noFill/>
          </a:ln>
        </p:spPr>
        <p:txBody>
          <a:bodyPr wrap="square">
            <a:spAutoFit/>
          </a:bodyPr>
          <a:lstStyle/>
          <a:p>
            <a:r>
              <a:rPr lang="en-US" altLang="zh-CN" i="1" dirty="0">
                <a:latin typeface="Times New Roman" panose="02020603050405020304" pitchFamily="18" charset="0"/>
              </a:rPr>
              <a:t>R</a:t>
            </a:r>
            <a:r>
              <a:rPr lang="en-US" altLang="zh-CN" i="1" baseline="-25000" dirty="0">
                <a:latin typeface="Times New Roman" panose="02020603050405020304" pitchFamily="18" charset="0"/>
              </a:rPr>
              <a:t>C</a:t>
            </a:r>
            <a:r>
              <a:rPr lang="en-US" altLang="zh-CN" dirty="0">
                <a:latin typeface="Times New Roman" panose="02020603050405020304" pitchFamily="18" charset="0"/>
              </a:rPr>
              <a:t> —</a:t>
            </a:r>
            <a:r>
              <a:rPr lang="zh-CN" altLang="en-US" dirty="0">
                <a:latin typeface="Times New Roman" panose="02020603050405020304" pitchFamily="18" charset="0"/>
              </a:rPr>
              <a:t>级间绝缘电阻（由于两导体间介质的非理想所致）；</a:t>
            </a:r>
            <a:endParaRPr lang="zh-CN" altLang="en-US" dirty="0">
              <a:latin typeface="Times New Roman" panose="02020603050405020304" pitchFamily="18" charset="0"/>
            </a:endParaRPr>
          </a:p>
          <a:p>
            <a:endParaRPr lang="zh-CN" altLang="en-US" dirty="0">
              <a:latin typeface="Times New Roman" panose="02020603050405020304" pitchFamily="18" charset="0"/>
            </a:endParaRPr>
          </a:p>
          <a:p>
            <a:r>
              <a:rPr lang="en-US" altLang="zh-CN" i="1" dirty="0">
                <a:latin typeface="Times New Roman" panose="02020603050405020304" pitchFamily="18" charset="0"/>
              </a:rPr>
              <a:t>L</a:t>
            </a:r>
            <a:r>
              <a:rPr lang="en-US" altLang="zh-CN" i="1" baseline="-25000" dirty="0">
                <a:latin typeface="Times New Roman" panose="02020603050405020304" pitchFamily="18" charset="0"/>
              </a:rPr>
              <a:t>C</a:t>
            </a:r>
            <a:r>
              <a:rPr lang="en-US" altLang="zh-CN" dirty="0">
                <a:latin typeface="Times New Roman" panose="02020603050405020304" pitchFamily="18" charset="0"/>
              </a:rPr>
              <a:t> —</a:t>
            </a:r>
            <a:r>
              <a:rPr lang="zh-CN" altLang="en-US" dirty="0">
                <a:latin typeface="Times New Roman" panose="02020603050405020304" pitchFamily="18" charset="0"/>
              </a:rPr>
              <a:t>分布电感或级间电感。</a:t>
            </a:r>
            <a:endParaRPr lang="en-US" altLang="zh-CN" dirty="0">
              <a:latin typeface="Times New Roman" panose="02020603050405020304" pitchFamily="18" charset="0"/>
            </a:endParaRPr>
          </a:p>
        </p:txBody>
      </p:sp>
      <p:grpSp>
        <p:nvGrpSpPr>
          <p:cNvPr id="2060" name="Group 28"/>
          <p:cNvGrpSpPr/>
          <p:nvPr/>
        </p:nvGrpSpPr>
        <p:grpSpPr>
          <a:xfrm>
            <a:off x="1899285" y="362585"/>
            <a:ext cx="5334000" cy="546100"/>
            <a:chOff x="1378" y="410"/>
            <a:chExt cx="3360" cy="344"/>
          </a:xfrm>
        </p:grpSpPr>
        <p:sp>
          <p:nvSpPr>
            <p:cNvPr id="2063" name="Rectangle 29"/>
            <p:cNvSpPr/>
            <p:nvPr/>
          </p:nvSpPr>
          <p:spPr>
            <a:xfrm>
              <a:off x="1378" y="410"/>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2.1 </a:t>
              </a:r>
              <a:r>
                <a:rPr lang="zh-CN" altLang="en-US" sz="2800" b="1" dirty="0">
                  <a:solidFill>
                    <a:schemeClr val="accent2"/>
                  </a:solidFill>
                  <a:latin typeface="Times New Roman" panose="02020603050405020304" pitchFamily="18" charset="0"/>
                </a:rPr>
                <a:t>高频电路中的元器件</a:t>
              </a:r>
              <a:endParaRPr lang="zh-CN" altLang="en-US" sz="2800" b="1" dirty="0">
                <a:solidFill>
                  <a:schemeClr val="accent2"/>
                </a:solidFill>
                <a:latin typeface="Times New Roman" panose="02020603050405020304" pitchFamily="18" charset="0"/>
              </a:endParaRPr>
            </a:p>
          </p:txBody>
        </p:sp>
        <p:sp>
          <p:nvSpPr>
            <p:cNvPr id="2064" name="Line 30"/>
            <p:cNvSpPr/>
            <p:nvPr/>
          </p:nvSpPr>
          <p:spPr>
            <a:xfrm>
              <a:off x="1474" y="754"/>
              <a:ext cx="3024" cy="0"/>
            </a:xfrm>
            <a:prstGeom prst="line">
              <a:avLst/>
            </a:prstGeom>
            <a:ln w="57150" cap="flat" cmpd="tri">
              <a:solidFill>
                <a:srgbClr val="FF00FF"/>
              </a:solidFill>
              <a:prstDash val="solid"/>
              <a:headEnd type="none" w="sm" len="sm"/>
              <a:tailEnd type="none" w="sm" len="sm"/>
            </a:ln>
          </p:spPr>
        </p:sp>
      </p:grpSp>
      <p:sp>
        <p:nvSpPr>
          <p:cNvPr id="2061" name="Text Box 31"/>
          <p:cNvSpPr txBox="1"/>
          <p:nvPr/>
        </p:nvSpPr>
        <p:spPr>
          <a:xfrm>
            <a:off x="312103" y="1006475"/>
            <a:ext cx="3960812" cy="460375"/>
          </a:xfrm>
          <a:prstGeom prst="rect">
            <a:avLst/>
          </a:prstGeom>
          <a:noFill/>
          <a:ln w="9525">
            <a:noFill/>
          </a:ln>
        </p:spPr>
        <p:txBody>
          <a:bodyPr>
            <a:spAutoFit/>
          </a:bodyPr>
          <a:lstStyle/>
          <a:p>
            <a:r>
              <a:rPr lang="zh-CN" altLang="en-US" b="1" dirty="0">
                <a:solidFill>
                  <a:srgbClr val="FF0000"/>
                </a:solidFill>
                <a:latin typeface="Times New Roman" panose="02020603050405020304" pitchFamily="18" charset="0"/>
              </a:rPr>
              <a:t>一、 高频电路中的元件</a:t>
            </a:r>
            <a:endParaRPr lang="zh-CN" altLang="en-US" b="1" dirty="0">
              <a:solidFill>
                <a:srgbClr val="FF0000"/>
              </a:solidFill>
              <a:latin typeface="Times New Roman" panose="02020603050405020304" pitchFamily="18" charset="0"/>
            </a:endParaRPr>
          </a:p>
        </p:txBody>
      </p:sp>
      <p:sp>
        <p:nvSpPr>
          <p:cNvPr id="5152" name="Text Box 32"/>
          <p:cNvSpPr txBox="1"/>
          <p:nvPr/>
        </p:nvSpPr>
        <p:spPr>
          <a:xfrm>
            <a:off x="467995" y="5672455"/>
            <a:ext cx="4585970" cy="460375"/>
          </a:xfrm>
          <a:prstGeom prst="rect">
            <a:avLst/>
          </a:prstGeom>
          <a:noFill/>
          <a:ln w="9525">
            <a:noFill/>
          </a:ln>
        </p:spPr>
        <p:txBody>
          <a:bodyPr wrap="none">
            <a:spAutoFit/>
          </a:bodyPr>
          <a:lstStyle/>
          <a:p>
            <a:r>
              <a:rPr lang="zh-CN" altLang="en-US" dirty="0">
                <a:solidFill>
                  <a:srgbClr val="FF0000"/>
                </a:solidFill>
                <a:latin typeface="Times New Roman" panose="02020603050405020304" pitchFamily="18" charset="0"/>
              </a:rPr>
              <a:t>高频电容具有自身谐振频率</a:t>
            </a:r>
            <a:r>
              <a:rPr lang="en-US" altLang="zh-CN" dirty="0">
                <a:solidFill>
                  <a:srgbClr val="FF0000"/>
                </a:solidFill>
                <a:latin typeface="Times New Roman" panose="02020603050405020304" pitchFamily="18" charset="0"/>
              </a:rPr>
              <a:t>(SRF)</a:t>
            </a:r>
            <a:endParaRPr lang="en-US" altLang="zh-CN" dirty="0">
              <a:solidFill>
                <a:srgbClr val="FF0000"/>
              </a:solidFill>
              <a:latin typeface="Times New Roman" panose="02020603050405020304" pitchFamily="18" charset="0"/>
            </a:endParaRPr>
          </a:p>
        </p:txBody>
      </p:sp>
      <p:sp>
        <p:nvSpPr>
          <p:cNvPr id="1037" name="Text Box 12"/>
          <p:cNvSpPr txBox="1"/>
          <p:nvPr/>
        </p:nvSpPr>
        <p:spPr>
          <a:xfrm>
            <a:off x="312420" y="3212465"/>
            <a:ext cx="4023360" cy="460375"/>
          </a:xfrm>
          <a:prstGeom prst="rect">
            <a:avLst/>
          </a:prstGeom>
          <a:noFill/>
          <a:ln w="9525">
            <a:noFill/>
          </a:ln>
        </p:spPr>
        <p:txBody>
          <a:bodyPr wrap="square">
            <a:spAutoFit/>
          </a:bodyPr>
          <a:lstStyle/>
          <a:p>
            <a:pPr>
              <a:spcBef>
                <a:spcPct val="50000"/>
              </a:spcBef>
            </a:pPr>
            <a:r>
              <a:rPr lang="en-US" altLang="zh-CN" dirty="0">
                <a:latin typeface="Times New Roman" panose="02020603050405020304" pitchFamily="18" charset="0"/>
              </a:rPr>
              <a:t> </a:t>
            </a:r>
            <a:r>
              <a:rPr lang="zh-CN" altLang="en-US" sz="2000" dirty="0">
                <a:latin typeface="Times New Roman" panose="02020603050405020304" pitchFamily="18" charset="0"/>
              </a:rPr>
              <a:t>图 </a:t>
            </a:r>
            <a:r>
              <a:rPr lang="en-US" altLang="zh-CN" sz="2000" dirty="0">
                <a:latin typeface="Times New Roman" panose="02020603050405020304" pitchFamily="18" charset="0"/>
              </a:rPr>
              <a:t>2-2 </a:t>
            </a:r>
            <a:r>
              <a:rPr lang="zh-CN" altLang="en-US" sz="2000" dirty="0">
                <a:latin typeface="Times New Roman" panose="02020603050405020304" pitchFamily="18" charset="0"/>
              </a:rPr>
              <a:t>（</a:t>
            </a:r>
            <a:r>
              <a:rPr lang="en-US" altLang="zh-CN" sz="2000" dirty="0">
                <a:latin typeface="Times New Roman" panose="02020603050405020304" pitchFamily="18" charset="0"/>
              </a:rPr>
              <a:t>a</a:t>
            </a:r>
            <a:r>
              <a:rPr lang="zh-CN" altLang="en-US" sz="2000" dirty="0">
                <a:latin typeface="Times New Roman" panose="02020603050405020304" pitchFamily="18" charset="0"/>
              </a:rPr>
              <a:t>）电容的高频等效电路 </a:t>
            </a:r>
            <a:endParaRPr lang="zh-CN" altLang="en-US" sz="2000" dirty="0">
              <a:latin typeface="Times New Roman" panose="02020603050405020304" pitchFamily="18" charset="0"/>
            </a:endParaRPr>
          </a:p>
        </p:txBody>
      </p:sp>
      <p:sp>
        <p:nvSpPr>
          <p:cNvPr id="5" name="文本框 4"/>
          <p:cNvSpPr txBox="1"/>
          <p:nvPr/>
        </p:nvSpPr>
        <p:spPr>
          <a:xfrm>
            <a:off x="4643755" y="5229225"/>
            <a:ext cx="3749040" cy="460375"/>
          </a:xfrm>
          <a:prstGeom prst="rect">
            <a:avLst/>
          </a:prstGeom>
          <a:noFill/>
        </p:spPr>
        <p:txBody>
          <a:bodyPr wrap="square" rtlCol="0" anchor="t">
            <a:spAutoFit/>
          </a:bodyPr>
          <a:lstStyle/>
          <a:p>
            <a:r>
              <a:rPr lang="en-US" altLang="zh-CN" dirty="0">
                <a:sym typeface="+mn-ea"/>
              </a:rPr>
              <a:t> </a:t>
            </a:r>
            <a:r>
              <a:rPr lang="zh-CN" altLang="en-US" sz="2000" dirty="0">
                <a:sym typeface="+mn-ea"/>
              </a:rPr>
              <a:t>图 </a:t>
            </a:r>
            <a:r>
              <a:rPr lang="en-US" altLang="zh-CN" sz="2000" dirty="0">
                <a:sym typeface="+mn-ea"/>
              </a:rPr>
              <a:t>2-2 </a:t>
            </a:r>
            <a:r>
              <a:rPr lang="zh-CN" altLang="en-US" sz="2000" dirty="0">
                <a:sym typeface="+mn-ea"/>
              </a:rPr>
              <a:t>（</a:t>
            </a:r>
            <a:r>
              <a:rPr lang="en-US" altLang="zh-CN" sz="2000" dirty="0">
                <a:sym typeface="+mn-ea"/>
              </a:rPr>
              <a:t>b</a:t>
            </a:r>
            <a:r>
              <a:rPr lang="zh-CN" altLang="en-US" sz="2000" dirty="0">
                <a:sym typeface="+mn-ea"/>
              </a:rPr>
              <a:t>）电容器的电抗特性</a:t>
            </a:r>
            <a:r>
              <a:rPr lang="en-US" altLang="zh-CN" sz="2000" dirty="0">
                <a:sym typeface="+mn-ea"/>
              </a:rPr>
              <a:t> </a:t>
            </a:r>
            <a:endParaRPr lang="en-US" altLang="zh-CN" sz="2000" dirty="0">
              <a:sym typeface="+mn-ea"/>
            </a:endParaRPr>
          </a:p>
        </p:txBody>
      </p:sp>
      <p:sp>
        <p:nvSpPr>
          <p:cNvPr id="6" name="矩形标注 5"/>
          <p:cNvSpPr/>
          <p:nvPr/>
        </p:nvSpPr>
        <p:spPr>
          <a:xfrm>
            <a:off x="5220335" y="4077335"/>
            <a:ext cx="905510" cy="576580"/>
          </a:xfrm>
          <a:prstGeom prst="wedgeRectCallout">
            <a:avLst>
              <a:gd name="adj1" fmla="val 35840"/>
              <a:gd name="adj2" fmla="val -90638"/>
            </a:avLst>
          </a:prstGeom>
          <a:solidFill>
            <a:schemeClr val="accent1">
              <a:alpha val="34000"/>
            </a:schemeClr>
          </a:solidFill>
          <a:ln w="28575" cap="flat" cmpd="dbl" algn="ctr">
            <a:solidFill>
              <a:schemeClr val="accent1">
                <a:shade val="50000"/>
              </a:schemeClr>
            </a:solidFill>
            <a:prstDash val="sysDot"/>
            <a:round/>
            <a:headEnd type="none" w="med" len="med"/>
            <a:tailEnd type="none" w="med" len="med"/>
          </a:ln>
        </p:spPr>
        <p:txBody>
          <a:bodyPr vert="horz" wrap="square" lIns="91440" tIns="45720" rIns="91440" bIns="45720" numCol="1" anchor="t" anchorCtr="0" compatLnSpc="1"/>
          <a:lstStyle/>
          <a:p>
            <a:pPr marL="0" marR="0" indent="0" algn="ctr" defTabSz="914400" rtl="0" eaLnBrk="1" fontAlgn="base" latinLnBrk="0" hangingPunct="1">
              <a:lnSpc>
                <a:spcPct val="120000"/>
              </a:lnSpc>
              <a:spcBef>
                <a:spcPct val="0"/>
              </a:spcBef>
              <a:spcAft>
                <a:spcPct val="0"/>
              </a:spcAft>
              <a:buClrTx/>
              <a:buSzTx/>
              <a:buFontTx/>
              <a:buNone/>
            </a:pPr>
            <a:r>
              <a:rPr kumimoji="1" lang="zh-CN" altLang="en-US" sz="2400" b="0"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容性</a:t>
            </a:r>
            <a:endParaRPr kumimoji="1" lang="zh-CN" altLang="en-US" sz="2400" b="0"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p:txBody>
      </p:sp>
      <p:sp>
        <p:nvSpPr>
          <p:cNvPr id="7" name="矩形标注 6"/>
          <p:cNvSpPr/>
          <p:nvPr/>
        </p:nvSpPr>
        <p:spPr>
          <a:xfrm>
            <a:off x="7956550" y="3672840"/>
            <a:ext cx="905510" cy="576580"/>
          </a:xfrm>
          <a:prstGeom prst="wedgeRectCallout">
            <a:avLst>
              <a:gd name="adj1" fmla="val -88639"/>
              <a:gd name="adj2" fmla="val -5837"/>
            </a:avLst>
          </a:prstGeom>
          <a:solidFill>
            <a:schemeClr val="accent1">
              <a:alpha val="34000"/>
            </a:schemeClr>
          </a:solidFill>
          <a:ln w="28575" cap="flat" cmpd="dbl" algn="ctr">
            <a:solidFill>
              <a:schemeClr val="accent1">
                <a:shade val="50000"/>
              </a:schemeClr>
            </a:solidFill>
            <a:prstDash val="sysDot"/>
            <a:round/>
            <a:headEnd type="none" w="med" len="med"/>
            <a:tailEnd type="none" w="med" len="med"/>
          </a:ln>
        </p:spPr>
        <p:txBody>
          <a:bodyPr vert="horz" wrap="square" lIns="91440" tIns="45720" rIns="91440" bIns="45720" numCol="1" anchor="t" anchorCtr="0" compatLnSpc="1"/>
          <a:lstStyle/>
          <a:p>
            <a:pPr marL="0" marR="0" indent="0" algn="ctr" defTabSz="914400" rtl="0" eaLnBrk="1" fontAlgn="base" latinLnBrk="0" hangingPunct="1">
              <a:lnSpc>
                <a:spcPct val="120000"/>
              </a:lnSpc>
              <a:spcBef>
                <a:spcPct val="0"/>
              </a:spcBef>
              <a:spcAft>
                <a:spcPct val="0"/>
              </a:spcAft>
              <a:buClrTx/>
              <a:buSzTx/>
              <a:buFontTx/>
              <a:buNone/>
            </a:pPr>
            <a:r>
              <a:rPr kumimoji="1" lang="zh-CN" altLang="en-US" sz="2400" b="0"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感性</a:t>
            </a:r>
            <a:endParaRPr kumimoji="1" lang="zh-CN" altLang="en-US" sz="2400" b="0"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p:txBody>
      </p:sp>
      <p:sp>
        <p:nvSpPr>
          <p:cNvPr id="8" name="矩形标注 7"/>
          <p:cNvSpPr/>
          <p:nvPr/>
        </p:nvSpPr>
        <p:spPr>
          <a:xfrm>
            <a:off x="7524115" y="2261870"/>
            <a:ext cx="1564005" cy="895350"/>
          </a:xfrm>
          <a:prstGeom prst="wedgeRectCallout">
            <a:avLst>
              <a:gd name="adj1" fmla="val -40377"/>
              <a:gd name="adj2" fmla="val 95647"/>
            </a:avLst>
          </a:prstGeom>
          <a:solidFill>
            <a:schemeClr val="accent1">
              <a:alpha val="34000"/>
            </a:schemeClr>
          </a:solidFill>
          <a:ln w="28575" cap="flat" cmpd="dbl" algn="ctr">
            <a:solidFill>
              <a:schemeClr val="accent1">
                <a:shade val="50000"/>
              </a:schemeClr>
            </a:solidFill>
            <a:prstDash val="sysDot"/>
            <a:round/>
            <a:headEnd type="none" w="med" len="med"/>
            <a:tailEnd type="none" w="med" len="med"/>
          </a:ln>
        </p:spPr>
        <p:txBody>
          <a:bodyPr vert="horz" wrap="square" lIns="91440" tIns="45720" rIns="91440" bIns="45720" numCol="1" anchor="t" anchorCtr="0" compatLnSpc="1"/>
          <a:lstStyle/>
          <a:p>
            <a:pPr marL="0" marR="0" indent="0" algn="ctr" defTabSz="914400" rtl="0" eaLnBrk="1" fontAlgn="base" latinLnBrk="0" hangingPunct="1">
              <a:lnSpc>
                <a:spcPct val="130000"/>
              </a:lnSpc>
              <a:spcBef>
                <a:spcPct val="0"/>
              </a:spcBef>
              <a:spcAft>
                <a:spcPct val="0"/>
              </a:spcAft>
              <a:buClrTx/>
              <a:buSzTx/>
              <a:buFontTx/>
              <a:buNone/>
            </a:pPr>
            <a:r>
              <a:rPr kumimoji="1"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实际电容器的阻抗特性</a:t>
            </a:r>
            <a:endParaRPr kumimoji="1"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9" name="矩形标注 8"/>
          <p:cNvSpPr/>
          <p:nvPr/>
        </p:nvSpPr>
        <p:spPr>
          <a:xfrm>
            <a:off x="5436235" y="1412875"/>
            <a:ext cx="1910715" cy="984885"/>
          </a:xfrm>
          <a:prstGeom prst="wedgeRectCallout">
            <a:avLst>
              <a:gd name="adj1" fmla="val -29295"/>
              <a:gd name="adj2" fmla="val 104094"/>
            </a:avLst>
          </a:prstGeom>
          <a:solidFill>
            <a:schemeClr val="accent1">
              <a:alpha val="34000"/>
            </a:schemeClr>
          </a:solidFill>
          <a:ln w="28575" cap="flat" cmpd="thickThin" algn="ctr">
            <a:solidFill>
              <a:schemeClr val="accent1">
                <a:shade val="50000"/>
              </a:schemeClr>
            </a:solidFill>
            <a:prstDash val="sysDot"/>
            <a:round/>
            <a:headEnd type="none" w="med" len="med"/>
            <a:tailEnd type="none" w="med" len="med"/>
          </a:ln>
        </p:spPr>
        <p:txBody>
          <a:bodyPr vert="horz" wrap="square" lIns="91440" tIns="45720" rIns="91440" bIns="45720" numCol="1" anchor="t" anchorCtr="0" compatLnSpc="1"/>
          <a:lstStyle/>
          <a:p>
            <a:pPr marL="0" marR="0" indent="0" algn="ctr" defTabSz="914400" rtl="0" eaLnBrk="1" fontAlgn="base" latinLnBrk="0" hangingPunct="1">
              <a:lnSpc>
                <a:spcPct val="130000"/>
              </a:lnSpc>
              <a:spcBef>
                <a:spcPct val="0"/>
              </a:spcBef>
              <a:spcAft>
                <a:spcPct val="0"/>
              </a:spcAft>
              <a:buClrTx/>
              <a:buSzTx/>
              <a:buFontTx/>
              <a:buNone/>
            </a:pPr>
            <a:r>
              <a:rPr kumimoji="1"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理想电容器的阻抗特性</a:t>
            </a: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2000" b="0" i="0" u="none" strike="noStrike" cap="none" normalizeH="0" baseline="0">
                <a:ln>
                  <a:noFill/>
                </a:ln>
                <a:solidFill>
                  <a:schemeClr val="tx1"/>
                </a:solidFill>
                <a:effectLst/>
                <a:latin typeface="+mn-lt"/>
                <a:ea typeface="宋体" panose="02010600030101010101" pitchFamily="2" charset="-122"/>
                <a:cs typeface="+mn-lt"/>
              </a:rPr>
              <a:t>1/j</a:t>
            </a:r>
            <a:r>
              <a:rPr kumimoji="1" lang="en-US" altLang="zh-CN" sz="2000" b="0" i="0" u="none" strike="noStrike" cap="none" normalizeH="0" baseline="0">
                <a:ln>
                  <a:noFill/>
                </a:ln>
                <a:solidFill>
                  <a:schemeClr val="tx1"/>
                </a:solidFill>
                <a:effectLst/>
                <a:latin typeface="+mn-lt"/>
                <a:ea typeface="微软雅黑" panose="020B0503020204020204" charset="-122"/>
                <a:cs typeface="+mn-lt"/>
              </a:rPr>
              <a:t>ω</a:t>
            </a:r>
            <a:r>
              <a:rPr kumimoji="1" lang="en-US" altLang="zh-CN" sz="2000" b="0" i="0" u="none" strike="noStrike" cap="none" normalizeH="0" baseline="0">
                <a:ln>
                  <a:noFill/>
                </a:ln>
                <a:solidFill>
                  <a:schemeClr val="tx1"/>
                </a:solidFill>
                <a:effectLst/>
                <a:latin typeface="+mn-lt"/>
                <a:ea typeface="宋体" panose="02010600030101010101" pitchFamily="2" charset="-122"/>
                <a:cs typeface="+mn-lt"/>
              </a:rPr>
              <a:t>C</a:t>
            </a: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0" name="文本框 9"/>
          <p:cNvSpPr txBox="1"/>
          <p:nvPr/>
        </p:nvSpPr>
        <p:spPr>
          <a:xfrm>
            <a:off x="6443980" y="2596515"/>
            <a:ext cx="784225" cy="460375"/>
          </a:xfrm>
          <a:prstGeom prst="rect">
            <a:avLst/>
          </a:prstGeom>
          <a:noFill/>
        </p:spPr>
        <p:txBody>
          <a:bodyPr wrap="square" rtlCol="0">
            <a:spAutoFit/>
          </a:bodyPr>
          <a:lstStyle/>
          <a:p>
            <a:r>
              <a:rPr lang="en-US" altLang="zh-CN"/>
              <a:t>SRF</a:t>
            </a:r>
            <a:endParaRPr lang="en-US" altLang="zh-CN"/>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 Box 7"/>
          <p:cNvSpPr txBox="1"/>
          <p:nvPr/>
        </p:nvSpPr>
        <p:spPr>
          <a:xfrm>
            <a:off x="539750" y="1700530"/>
            <a:ext cx="3351530" cy="460375"/>
          </a:xfrm>
          <a:prstGeom prst="rect">
            <a:avLst/>
          </a:prstGeom>
          <a:noFill/>
          <a:ln w="9525">
            <a:noFill/>
          </a:ln>
        </p:spPr>
        <p:txBody>
          <a:bodyPr wrap="square">
            <a:spAutoFit/>
          </a:bodyPr>
          <a:lstStyle/>
          <a:p>
            <a:r>
              <a:rPr lang="zh-CN" altLang="en-US" b="1" dirty="0">
                <a:solidFill>
                  <a:schemeClr val="tx1"/>
                </a:solidFill>
                <a:latin typeface="Times New Roman" panose="02020603050405020304" pitchFamily="18" charset="0"/>
              </a:rPr>
              <a:t>（</a:t>
            </a:r>
            <a:r>
              <a:rPr lang="en-US" altLang="zh-CN" b="1" dirty="0">
                <a:solidFill>
                  <a:schemeClr val="tx1"/>
                </a:solidFill>
                <a:latin typeface="Times New Roman" panose="02020603050405020304" pitchFamily="18" charset="0"/>
              </a:rPr>
              <a:t>3</a:t>
            </a:r>
            <a:r>
              <a:rPr lang="zh-CN" altLang="en-US" b="1" dirty="0">
                <a:solidFill>
                  <a:schemeClr val="tx1"/>
                </a:solidFill>
                <a:latin typeface="Times New Roman" panose="02020603050405020304" pitchFamily="18" charset="0"/>
              </a:rPr>
              <a:t>）电感的高频模型</a:t>
            </a:r>
            <a:endParaRPr lang="zh-CN" altLang="en-US" b="1" dirty="0">
              <a:solidFill>
                <a:schemeClr val="tx1"/>
              </a:solidFill>
              <a:latin typeface="Times New Roman" panose="02020603050405020304" pitchFamily="18" charset="0"/>
            </a:endParaRPr>
          </a:p>
        </p:txBody>
      </p:sp>
      <p:sp>
        <p:nvSpPr>
          <p:cNvPr id="6152" name="Text Box 8"/>
          <p:cNvSpPr txBox="1"/>
          <p:nvPr/>
        </p:nvSpPr>
        <p:spPr>
          <a:xfrm>
            <a:off x="611188" y="2268220"/>
            <a:ext cx="7653337" cy="829945"/>
          </a:xfrm>
          <a:prstGeom prst="rect">
            <a:avLst/>
          </a:prstGeom>
          <a:noFill/>
          <a:ln w="9525">
            <a:noFill/>
          </a:ln>
        </p:spPr>
        <p:txBody>
          <a:bodyPr>
            <a:spAutoFit/>
          </a:bodyPr>
          <a:lstStyle/>
          <a:p>
            <a:pPr marL="342900" indent="-342900">
              <a:buFont typeface="Wingdings" panose="05000000000000000000" charset="0"/>
              <a:buChar char="Ø"/>
            </a:pPr>
            <a:r>
              <a:rPr lang="zh-CN" altLang="en-US" dirty="0">
                <a:latin typeface="Times New Roman" panose="02020603050405020304" pitchFamily="18" charset="0"/>
              </a:rPr>
              <a:t>高频电路中，电感线圈的损耗是不能忽略的。</a:t>
            </a:r>
            <a:r>
              <a:rPr lang="zh-CN" altLang="en-US" dirty="0">
                <a:solidFill>
                  <a:srgbClr val="FF0066"/>
                </a:solidFill>
                <a:latin typeface="Times New Roman" panose="02020603050405020304" pitchFamily="18" charset="0"/>
              </a:rPr>
              <a:t>频率</a:t>
            </a:r>
            <a:r>
              <a:rPr lang="zh-CN" altLang="en-US" dirty="0">
                <a:latin typeface="Times New Roman" panose="02020603050405020304" pitchFamily="18" charset="0"/>
              </a:rPr>
              <a:t>越高，高频电感的</a:t>
            </a:r>
            <a:r>
              <a:rPr lang="zh-CN" altLang="en-US" dirty="0">
                <a:solidFill>
                  <a:srgbClr val="FF0066"/>
                </a:solidFill>
                <a:latin typeface="Times New Roman" panose="02020603050405020304" pitchFamily="18" charset="0"/>
              </a:rPr>
              <a:t>损耗（等效电阻）</a:t>
            </a:r>
            <a:r>
              <a:rPr lang="zh-CN" altLang="en-US" dirty="0">
                <a:latin typeface="Times New Roman" panose="02020603050405020304" pitchFamily="18" charset="0"/>
              </a:rPr>
              <a:t>越大。</a:t>
            </a:r>
            <a:endParaRPr lang="zh-CN" altLang="en-US" dirty="0">
              <a:latin typeface="Times New Roman" panose="02020603050405020304" pitchFamily="18" charset="0"/>
            </a:endParaRPr>
          </a:p>
        </p:txBody>
      </p:sp>
      <p:sp>
        <p:nvSpPr>
          <p:cNvPr id="6153" name="Text Box 9"/>
          <p:cNvSpPr txBox="1"/>
          <p:nvPr/>
        </p:nvSpPr>
        <p:spPr>
          <a:xfrm>
            <a:off x="611505" y="3284855"/>
            <a:ext cx="7272338" cy="829945"/>
          </a:xfrm>
          <a:prstGeom prst="rect">
            <a:avLst/>
          </a:prstGeom>
          <a:noFill/>
          <a:ln w="9525">
            <a:noFill/>
          </a:ln>
        </p:spPr>
        <p:txBody>
          <a:bodyPr>
            <a:spAutoFit/>
          </a:bodyPr>
          <a:lstStyle/>
          <a:p>
            <a:pPr marL="342900" indent="-342900">
              <a:buFont typeface="Wingdings" panose="05000000000000000000" charset="0"/>
              <a:buChar char="Ø"/>
            </a:pPr>
            <a:r>
              <a:rPr lang="zh-CN" altLang="en-US" dirty="0">
                <a:latin typeface="Times New Roman" panose="02020603050405020304" pitchFamily="18" charset="0"/>
              </a:rPr>
              <a:t>存在直流电阻和交流电阻，一般交流电阻远大于直流电阻，故高频电路的损耗电阻主要指</a:t>
            </a:r>
            <a:r>
              <a:rPr lang="zh-CN" altLang="en-US" dirty="0">
                <a:solidFill>
                  <a:srgbClr val="FF0066"/>
                </a:solidFill>
                <a:latin typeface="Times New Roman" panose="02020603050405020304" pitchFamily="18" charset="0"/>
              </a:rPr>
              <a:t>交流电阻</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6155" name="Text Box 11"/>
          <p:cNvSpPr txBox="1"/>
          <p:nvPr/>
        </p:nvSpPr>
        <p:spPr>
          <a:xfrm>
            <a:off x="611505" y="4301490"/>
            <a:ext cx="8037830" cy="1568450"/>
          </a:xfrm>
          <a:prstGeom prst="rect">
            <a:avLst/>
          </a:prstGeom>
          <a:noFill/>
          <a:ln w="9525">
            <a:noFill/>
          </a:ln>
        </p:spPr>
        <p:txBody>
          <a:bodyPr wrap="square">
            <a:spAutoFit/>
          </a:bodyPr>
          <a:lstStyle/>
          <a:p>
            <a:pPr marL="342900" indent="-342900">
              <a:buFont typeface="Wingdings" panose="05000000000000000000" charset="0"/>
              <a:buChar char="Ø"/>
            </a:pPr>
            <a:r>
              <a:rPr lang="zh-CN" altLang="en-US" dirty="0">
                <a:latin typeface="Times New Roman" panose="02020603050405020304" pitchFamily="18" charset="0"/>
              </a:rPr>
              <a:t>一般不直接使用交流电阻表征损耗，而用</a:t>
            </a:r>
            <a:r>
              <a:rPr lang="zh-CN" altLang="en-US" dirty="0">
                <a:solidFill>
                  <a:srgbClr val="FF0066"/>
                </a:solidFill>
                <a:latin typeface="Times New Roman" panose="02020603050405020304" pitchFamily="18" charset="0"/>
              </a:rPr>
              <a:t>品质因素</a:t>
            </a:r>
            <a:r>
              <a:rPr lang="en-US" altLang="zh-CN" dirty="0">
                <a:solidFill>
                  <a:srgbClr val="FF0066"/>
                </a:solidFill>
                <a:latin typeface="Times New Roman" panose="02020603050405020304" pitchFamily="18" charset="0"/>
              </a:rPr>
              <a:t>Q</a:t>
            </a:r>
            <a:r>
              <a:rPr lang="zh-CN" altLang="en-US" dirty="0">
                <a:latin typeface="Times New Roman" panose="02020603050405020304" pitchFamily="18" charset="0"/>
              </a:rPr>
              <a:t>来表征高频电感的损耗性能。品质因素</a:t>
            </a:r>
            <a:r>
              <a:rPr lang="en-US" altLang="zh-CN" dirty="0">
                <a:latin typeface="Times New Roman" panose="02020603050405020304" pitchFamily="18" charset="0"/>
              </a:rPr>
              <a:t>Q</a:t>
            </a:r>
            <a:r>
              <a:rPr lang="zh-CN" altLang="en-US" dirty="0">
                <a:latin typeface="Times New Roman" panose="02020603050405020304" pitchFamily="18" charset="0"/>
              </a:rPr>
              <a:t>定义为</a:t>
            </a:r>
            <a:r>
              <a:rPr lang="zh-CN" altLang="en-US" dirty="0">
                <a:solidFill>
                  <a:srgbClr val="FF0066"/>
                </a:solidFill>
                <a:latin typeface="Times New Roman" panose="02020603050405020304" pitchFamily="18" charset="0"/>
              </a:rPr>
              <a:t>高频电感的感抗</a:t>
            </a:r>
            <a:r>
              <a:rPr lang="zh-CN" altLang="en-US" dirty="0">
                <a:latin typeface="Times New Roman" panose="02020603050405020304" pitchFamily="18" charset="0"/>
              </a:rPr>
              <a:t>与其</a:t>
            </a:r>
            <a:r>
              <a:rPr lang="zh-CN" altLang="en-US" dirty="0">
                <a:solidFill>
                  <a:srgbClr val="FF0066"/>
                </a:solidFill>
                <a:latin typeface="Times New Roman" panose="02020603050405020304" pitchFamily="18" charset="0"/>
              </a:rPr>
              <a:t>串联损耗电阻</a:t>
            </a:r>
            <a:r>
              <a:rPr lang="zh-CN" altLang="en-US" dirty="0">
                <a:latin typeface="Times New Roman" panose="02020603050405020304" pitchFamily="18" charset="0"/>
              </a:rPr>
              <a:t>之比。</a:t>
            </a:r>
            <a:r>
              <a:rPr lang="en-US" altLang="zh-CN" dirty="0">
                <a:solidFill>
                  <a:srgbClr val="FF0066"/>
                </a:solidFill>
                <a:latin typeface="Times New Roman" panose="02020603050405020304" pitchFamily="18" charset="0"/>
              </a:rPr>
              <a:t>Q</a:t>
            </a:r>
            <a:r>
              <a:rPr lang="zh-CN" altLang="en-US" dirty="0">
                <a:solidFill>
                  <a:srgbClr val="FF0066"/>
                </a:solidFill>
                <a:latin typeface="Times New Roman" panose="02020603050405020304" pitchFamily="18" charset="0"/>
              </a:rPr>
              <a:t>值越高，表示电感的储能作用越强，损耗越小。</a:t>
            </a:r>
            <a:endParaRPr lang="zh-CN" altLang="en-US" dirty="0">
              <a:solidFill>
                <a:srgbClr val="FF0066"/>
              </a:solidFill>
              <a:latin typeface="Times New Roman" panose="02020603050405020304" pitchFamily="18" charset="0"/>
            </a:endParaRPr>
          </a:p>
        </p:txBody>
      </p:sp>
      <p:sp>
        <p:nvSpPr>
          <p:cNvPr id="74759" name="Text Box 23"/>
          <p:cNvSpPr txBox="1"/>
          <p:nvPr/>
        </p:nvSpPr>
        <p:spPr>
          <a:xfrm>
            <a:off x="395288" y="1196975"/>
            <a:ext cx="3960812" cy="460375"/>
          </a:xfrm>
          <a:prstGeom prst="rect">
            <a:avLst/>
          </a:prstGeom>
          <a:noFill/>
          <a:ln w="9525">
            <a:noFill/>
          </a:ln>
        </p:spPr>
        <p:txBody>
          <a:bodyPr>
            <a:spAutoFit/>
          </a:bodyPr>
          <a:lstStyle/>
          <a:p>
            <a:r>
              <a:rPr lang="zh-CN" altLang="en-US" b="1" dirty="0">
                <a:solidFill>
                  <a:srgbClr val="FF0066"/>
                </a:solidFill>
                <a:latin typeface="Times New Roman" panose="02020603050405020304" pitchFamily="18" charset="0"/>
              </a:rPr>
              <a:t>一、 高频电路中的元件</a:t>
            </a:r>
            <a:endParaRPr lang="zh-CN" altLang="en-US" b="1" dirty="0">
              <a:solidFill>
                <a:srgbClr val="FF0066"/>
              </a:solidFill>
              <a:latin typeface="Times New Roman" panose="02020603050405020304" pitchFamily="18" charset="0"/>
            </a:endParaRPr>
          </a:p>
        </p:txBody>
      </p:sp>
      <p:grpSp>
        <p:nvGrpSpPr>
          <p:cNvPr id="2060" name="Group 28"/>
          <p:cNvGrpSpPr/>
          <p:nvPr/>
        </p:nvGrpSpPr>
        <p:grpSpPr>
          <a:xfrm>
            <a:off x="1899285" y="362585"/>
            <a:ext cx="5334000" cy="546100"/>
            <a:chOff x="1378" y="410"/>
            <a:chExt cx="3360" cy="344"/>
          </a:xfrm>
        </p:grpSpPr>
        <p:sp>
          <p:nvSpPr>
            <p:cNvPr id="2063" name="Rectangle 29"/>
            <p:cNvSpPr/>
            <p:nvPr/>
          </p:nvSpPr>
          <p:spPr>
            <a:xfrm>
              <a:off x="1378" y="410"/>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2.1 </a:t>
              </a:r>
              <a:r>
                <a:rPr lang="zh-CN" altLang="en-US" sz="2800" b="1" dirty="0">
                  <a:solidFill>
                    <a:schemeClr val="accent2"/>
                  </a:solidFill>
                  <a:latin typeface="Times New Roman" panose="02020603050405020304" pitchFamily="18" charset="0"/>
                </a:rPr>
                <a:t>高频电路中的元器件</a:t>
              </a:r>
              <a:endParaRPr lang="zh-CN" altLang="en-US" sz="2800" b="1" dirty="0">
                <a:solidFill>
                  <a:schemeClr val="accent2"/>
                </a:solidFill>
                <a:latin typeface="Times New Roman" panose="02020603050405020304" pitchFamily="18" charset="0"/>
              </a:endParaRPr>
            </a:p>
          </p:txBody>
        </p:sp>
        <p:sp>
          <p:nvSpPr>
            <p:cNvPr id="2064" name="Line 30"/>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Text Box 8"/>
          <p:cNvSpPr txBox="1"/>
          <p:nvPr/>
        </p:nvSpPr>
        <p:spPr>
          <a:xfrm>
            <a:off x="7308850" y="2205038"/>
            <a:ext cx="576263" cy="457200"/>
          </a:xfrm>
          <a:prstGeom prst="rect">
            <a:avLst/>
          </a:prstGeom>
          <a:noFill/>
          <a:ln w="9525">
            <a:noFill/>
          </a:ln>
        </p:spPr>
        <p:txBody>
          <a:bodyPr>
            <a:spAutoFit/>
          </a:bodyPr>
          <a:lstStyle/>
          <a:p>
            <a:pPr>
              <a:spcBef>
                <a:spcPct val="50000"/>
              </a:spcBef>
            </a:pPr>
            <a:endParaRPr lang="zh-CN" altLang="zh-CN" dirty="0">
              <a:latin typeface="Times New Roman" panose="02020603050405020304" pitchFamily="18" charset="0"/>
            </a:endParaRPr>
          </a:p>
        </p:txBody>
      </p:sp>
      <p:sp>
        <p:nvSpPr>
          <p:cNvPr id="97289" name="Text Box 9"/>
          <p:cNvSpPr txBox="1"/>
          <p:nvPr/>
        </p:nvSpPr>
        <p:spPr>
          <a:xfrm>
            <a:off x="611188" y="1844675"/>
            <a:ext cx="7581900" cy="829945"/>
          </a:xfrm>
          <a:prstGeom prst="rect">
            <a:avLst/>
          </a:prstGeom>
          <a:noFill/>
          <a:ln w="9525">
            <a:noFill/>
          </a:ln>
        </p:spPr>
        <p:txBody>
          <a:bodyPr>
            <a:spAutoFit/>
          </a:bodyPr>
          <a:lstStyle/>
          <a:p>
            <a:r>
              <a:rPr lang="zh-CN" altLang="en-US" dirty="0">
                <a:latin typeface="Times New Roman" panose="02020603050405020304" pitchFamily="18" charset="0"/>
              </a:rPr>
              <a:t>高频电感器也具有自身谐振频率</a:t>
            </a:r>
            <a:r>
              <a:rPr lang="en-US" altLang="zh-CN" dirty="0">
                <a:latin typeface="Times New Roman" panose="02020603050405020304" pitchFamily="18" charset="0"/>
              </a:rPr>
              <a:t>SRF</a:t>
            </a:r>
            <a:r>
              <a:rPr lang="zh-CN" altLang="en-US" dirty="0">
                <a:latin typeface="Times New Roman" panose="02020603050405020304" pitchFamily="18" charset="0"/>
              </a:rPr>
              <a:t>。 在</a:t>
            </a:r>
            <a:r>
              <a:rPr lang="en-US" altLang="zh-CN" dirty="0">
                <a:latin typeface="Times New Roman" panose="02020603050405020304" pitchFamily="18" charset="0"/>
              </a:rPr>
              <a:t>SRF</a:t>
            </a:r>
            <a:r>
              <a:rPr lang="zh-CN" altLang="en-US" dirty="0">
                <a:latin typeface="Times New Roman" panose="02020603050405020304" pitchFamily="18" charset="0"/>
              </a:rPr>
              <a:t>上</a:t>
            </a:r>
            <a:r>
              <a:rPr lang="en-US" altLang="zh-CN" dirty="0">
                <a:latin typeface="Times New Roman" panose="02020603050405020304" pitchFamily="18" charset="0"/>
              </a:rPr>
              <a:t>, </a:t>
            </a:r>
            <a:r>
              <a:rPr lang="zh-CN" altLang="en-US" dirty="0">
                <a:latin typeface="Times New Roman" panose="02020603050405020304" pitchFamily="18" charset="0"/>
              </a:rPr>
              <a:t>高频电感的阻抗的幅值最大</a:t>
            </a:r>
            <a:r>
              <a:rPr lang="en-US" altLang="zh-CN" dirty="0">
                <a:latin typeface="Times New Roman" panose="02020603050405020304" pitchFamily="18" charset="0"/>
              </a:rPr>
              <a:t>, </a:t>
            </a:r>
            <a:r>
              <a:rPr lang="zh-CN" altLang="en-US" dirty="0">
                <a:latin typeface="Times New Roman" panose="02020603050405020304" pitchFamily="18" charset="0"/>
              </a:rPr>
              <a:t>而相角为零</a:t>
            </a:r>
            <a:r>
              <a:rPr lang="en-US" altLang="zh-CN" dirty="0">
                <a:latin typeface="Times New Roman" panose="02020603050405020304" pitchFamily="18" charset="0"/>
              </a:rPr>
              <a:t>, </a:t>
            </a:r>
            <a:r>
              <a:rPr lang="zh-CN" altLang="en-US" dirty="0">
                <a:latin typeface="Times New Roman" panose="02020603050405020304" pitchFamily="18" charset="0"/>
              </a:rPr>
              <a:t>如图</a:t>
            </a:r>
            <a:r>
              <a:rPr lang="en-US" altLang="zh-CN" dirty="0">
                <a:latin typeface="Times New Roman" panose="02020603050405020304" pitchFamily="18" charset="0"/>
              </a:rPr>
              <a:t>2-3</a:t>
            </a:r>
            <a:r>
              <a:rPr lang="zh-CN" altLang="en-US" dirty="0">
                <a:latin typeface="Times New Roman" panose="02020603050405020304" pitchFamily="18" charset="0"/>
              </a:rPr>
              <a:t>所示。</a:t>
            </a:r>
            <a:endParaRPr lang="zh-CN" altLang="en-US" dirty="0">
              <a:latin typeface="Times New Roman" panose="02020603050405020304" pitchFamily="18" charset="0"/>
            </a:endParaRPr>
          </a:p>
        </p:txBody>
      </p:sp>
      <p:grpSp>
        <p:nvGrpSpPr>
          <p:cNvPr id="2" name="Group 23"/>
          <p:cNvGrpSpPr/>
          <p:nvPr/>
        </p:nvGrpSpPr>
        <p:grpSpPr>
          <a:xfrm>
            <a:off x="1246188" y="2852738"/>
            <a:ext cx="5475287" cy="3557587"/>
            <a:chOff x="1058" y="1298"/>
            <a:chExt cx="3449" cy="2241"/>
          </a:xfrm>
        </p:grpSpPr>
        <p:graphicFrame>
          <p:nvGraphicFramePr>
            <p:cNvPr id="3076" name="Object 5"/>
            <p:cNvGraphicFramePr/>
            <p:nvPr/>
          </p:nvGraphicFramePr>
          <p:xfrm>
            <a:off x="1058" y="1298"/>
            <a:ext cx="3357" cy="2033"/>
          </p:xfrm>
          <a:graphic>
            <a:graphicData uri="http://schemas.openxmlformats.org/presentationml/2006/ole">
              <mc:AlternateContent xmlns:mc="http://schemas.openxmlformats.org/markup-compatibility/2006">
                <mc:Choice xmlns:v="urn:schemas-microsoft-com:vml" Requires="v">
                  <p:oleObj spid="_x0000_s3" name="" r:id="rId1" imgW="2573020" imgH="1559560" progId="Visio.Drawing.6">
                    <p:embed/>
                  </p:oleObj>
                </mc:Choice>
                <mc:Fallback>
                  <p:oleObj name="" r:id="rId1" imgW="2573020" imgH="1559560" progId="Visio.Drawing.6">
                    <p:embed/>
                    <p:pic>
                      <p:nvPicPr>
                        <p:cNvPr id="0" name="图片 3085"/>
                        <p:cNvPicPr/>
                        <p:nvPr/>
                      </p:nvPicPr>
                      <p:blipFill>
                        <a:blip r:embed="rId2"/>
                        <a:stretch>
                          <a:fillRect/>
                        </a:stretch>
                      </p:blipFill>
                      <p:spPr>
                        <a:xfrm>
                          <a:off x="1058" y="1298"/>
                          <a:ext cx="3357" cy="2033"/>
                        </a:xfrm>
                        <a:prstGeom prst="rect">
                          <a:avLst/>
                        </a:prstGeom>
                        <a:noFill/>
                        <a:ln w="38100">
                          <a:noFill/>
                          <a:miter/>
                        </a:ln>
                      </p:spPr>
                    </p:pic>
                  </p:oleObj>
                </mc:Fallback>
              </mc:AlternateContent>
            </a:graphicData>
          </a:graphic>
        </p:graphicFrame>
        <p:sp>
          <p:nvSpPr>
            <p:cNvPr id="3085" name="Text Box 10"/>
            <p:cNvSpPr txBox="1"/>
            <p:nvPr/>
          </p:nvSpPr>
          <p:spPr>
            <a:xfrm>
              <a:off x="1339" y="3249"/>
              <a:ext cx="3168" cy="290"/>
            </a:xfrm>
            <a:prstGeom prst="rect">
              <a:avLst/>
            </a:prstGeom>
            <a:noFill/>
            <a:ln w="9525">
              <a:noFill/>
            </a:ln>
          </p:spPr>
          <p:txBody>
            <a:bodyPr>
              <a:spAutoFit/>
            </a:bodyPr>
            <a:lstStyle/>
            <a:p>
              <a:pPr>
                <a:spcBef>
                  <a:spcPct val="50000"/>
                </a:spcBef>
              </a:pPr>
              <a:r>
                <a:rPr lang="en-US" altLang="zh-CN" dirty="0">
                  <a:latin typeface="Times New Roman" panose="02020603050405020304" pitchFamily="18" charset="0"/>
                </a:rPr>
                <a:t> </a:t>
              </a:r>
              <a:r>
                <a:rPr lang="zh-CN" altLang="en-US" sz="2000" dirty="0">
                  <a:latin typeface="Times New Roman" panose="02020603050405020304" pitchFamily="18" charset="0"/>
                </a:rPr>
                <a:t>图 </a:t>
              </a:r>
              <a:r>
                <a:rPr lang="en-US" altLang="zh-CN" sz="2000" dirty="0">
                  <a:latin typeface="Times New Roman" panose="02020603050405020304" pitchFamily="18" charset="0"/>
                </a:rPr>
                <a:t>2 - 3 </a:t>
              </a:r>
              <a:r>
                <a:rPr lang="zh-CN" altLang="en-US" sz="2000" dirty="0">
                  <a:latin typeface="Times New Roman" panose="02020603050405020304" pitchFamily="18" charset="0"/>
                </a:rPr>
                <a:t>高频电感器的自身谐振频率</a:t>
              </a:r>
              <a:r>
                <a:rPr lang="en-US" altLang="zh-CN" sz="2000" dirty="0">
                  <a:latin typeface="Times New Roman" panose="02020603050405020304" pitchFamily="18" charset="0"/>
                </a:rPr>
                <a:t>SRF </a:t>
              </a:r>
              <a:endParaRPr lang="en-US" altLang="zh-CN" sz="2000" dirty="0">
                <a:latin typeface="Times New Roman" panose="02020603050405020304" pitchFamily="18" charset="0"/>
              </a:endParaRPr>
            </a:p>
          </p:txBody>
        </p:sp>
      </p:grpSp>
      <p:grpSp>
        <p:nvGrpSpPr>
          <p:cNvPr id="3081" name="Group 26"/>
          <p:cNvGrpSpPr/>
          <p:nvPr/>
        </p:nvGrpSpPr>
        <p:grpSpPr>
          <a:xfrm>
            <a:off x="1905000" y="348940"/>
            <a:ext cx="5334000" cy="546100"/>
            <a:chOff x="1378" y="410"/>
            <a:chExt cx="3360" cy="344"/>
          </a:xfrm>
        </p:grpSpPr>
        <p:sp>
          <p:nvSpPr>
            <p:cNvPr id="3083" name="Rectangle 27"/>
            <p:cNvSpPr/>
            <p:nvPr/>
          </p:nvSpPr>
          <p:spPr>
            <a:xfrm>
              <a:off x="1378" y="410"/>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2.1 </a:t>
              </a:r>
              <a:r>
                <a:rPr lang="zh-CN" altLang="en-US" sz="2800" b="1" dirty="0">
                  <a:solidFill>
                    <a:schemeClr val="accent2"/>
                  </a:solidFill>
                  <a:latin typeface="Times New Roman" panose="02020603050405020304" pitchFamily="18" charset="0"/>
                </a:rPr>
                <a:t>高频电路中的元器件</a:t>
              </a:r>
              <a:endParaRPr lang="zh-CN" altLang="en-US" sz="2800" b="1" dirty="0">
                <a:solidFill>
                  <a:schemeClr val="accent2"/>
                </a:solidFill>
                <a:latin typeface="Times New Roman" panose="02020603050405020304" pitchFamily="18" charset="0"/>
              </a:endParaRPr>
            </a:p>
          </p:txBody>
        </p:sp>
        <p:sp>
          <p:nvSpPr>
            <p:cNvPr id="3084" name="Line 28"/>
            <p:cNvSpPr/>
            <p:nvPr/>
          </p:nvSpPr>
          <p:spPr>
            <a:xfrm>
              <a:off x="1474" y="754"/>
              <a:ext cx="3024" cy="0"/>
            </a:xfrm>
            <a:prstGeom prst="line">
              <a:avLst/>
            </a:prstGeom>
            <a:ln w="57150" cap="flat" cmpd="tri">
              <a:solidFill>
                <a:srgbClr val="FF00FF"/>
              </a:solidFill>
              <a:prstDash val="solid"/>
              <a:headEnd type="none" w="sm" len="sm"/>
              <a:tailEnd type="none" w="sm" len="sm"/>
            </a:ln>
          </p:spPr>
        </p:sp>
      </p:grpSp>
      <p:sp>
        <p:nvSpPr>
          <p:cNvPr id="3082" name="Text Box 29"/>
          <p:cNvSpPr txBox="1"/>
          <p:nvPr/>
        </p:nvSpPr>
        <p:spPr>
          <a:xfrm>
            <a:off x="395288" y="981075"/>
            <a:ext cx="3960812" cy="460375"/>
          </a:xfrm>
          <a:prstGeom prst="rect">
            <a:avLst/>
          </a:prstGeom>
          <a:noFill/>
          <a:ln w="9525">
            <a:noFill/>
          </a:ln>
        </p:spPr>
        <p:txBody>
          <a:bodyPr>
            <a:spAutoFit/>
          </a:bodyPr>
          <a:lstStyle/>
          <a:p>
            <a:r>
              <a:rPr lang="zh-CN" altLang="en-US" b="1" dirty="0">
                <a:solidFill>
                  <a:srgbClr val="FF0000"/>
                </a:solidFill>
                <a:latin typeface="Times New Roman" panose="02020603050405020304" pitchFamily="18" charset="0"/>
              </a:rPr>
              <a:t>一、 高频电路中的元件</a:t>
            </a:r>
            <a:endParaRPr lang="zh-CN" altLang="en-US" b="1" dirty="0">
              <a:solidFill>
                <a:srgbClr val="FF0000"/>
              </a:solidFill>
              <a:latin typeface="Times New Roman" panose="02020603050405020304" pitchFamily="18" charset="0"/>
            </a:endParaRPr>
          </a:p>
        </p:txBody>
      </p:sp>
      <p:sp>
        <p:nvSpPr>
          <p:cNvPr id="74754" name="Text Box 7"/>
          <p:cNvSpPr txBox="1"/>
          <p:nvPr/>
        </p:nvSpPr>
        <p:spPr>
          <a:xfrm>
            <a:off x="539750" y="1438275"/>
            <a:ext cx="3351530" cy="460375"/>
          </a:xfrm>
          <a:prstGeom prst="rect">
            <a:avLst/>
          </a:prstGeom>
          <a:noFill/>
          <a:ln w="9525">
            <a:noFill/>
          </a:ln>
        </p:spPr>
        <p:txBody>
          <a:bodyPr wrap="square">
            <a:spAutoFit/>
          </a:bodyPr>
          <a:lstStyle/>
          <a:p>
            <a:r>
              <a:rPr lang="zh-CN" altLang="en-US" b="1" dirty="0">
                <a:solidFill>
                  <a:schemeClr val="tx1"/>
                </a:solidFill>
                <a:latin typeface="Times New Roman" panose="02020603050405020304" pitchFamily="18" charset="0"/>
              </a:rPr>
              <a:t>（</a:t>
            </a:r>
            <a:r>
              <a:rPr lang="en-US" altLang="zh-CN" b="1" dirty="0">
                <a:solidFill>
                  <a:schemeClr val="tx1"/>
                </a:solidFill>
                <a:latin typeface="Times New Roman" panose="02020603050405020304" pitchFamily="18" charset="0"/>
              </a:rPr>
              <a:t>3</a:t>
            </a:r>
            <a:r>
              <a:rPr lang="zh-CN" altLang="en-US" b="1" dirty="0">
                <a:solidFill>
                  <a:schemeClr val="tx1"/>
                </a:solidFill>
                <a:latin typeface="Times New Roman" panose="02020603050405020304" pitchFamily="18" charset="0"/>
              </a:rPr>
              <a:t>）电感的高频模型</a:t>
            </a:r>
            <a:endParaRPr lang="zh-CN" altLang="en-US" b="1" dirty="0">
              <a:solidFill>
                <a:schemeClr val="tx1"/>
              </a:solidFill>
              <a:latin typeface="Times New Roman" panose="02020603050405020304" pitchFamily="18" charset="0"/>
            </a:endParaRPr>
          </a:p>
        </p:txBody>
      </p:sp>
      <p:sp>
        <p:nvSpPr>
          <p:cNvPr id="5" name="矩形标注 4"/>
          <p:cNvSpPr/>
          <p:nvPr/>
        </p:nvSpPr>
        <p:spPr>
          <a:xfrm>
            <a:off x="5723890" y="4149090"/>
            <a:ext cx="905510" cy="576580"/>
          </a:xfrm>
          <a:prstGeom prst="wedgeRectCallout">
            <a:avLst>
              <a:gd name="adj1" fmla="val -40603"/>
              <a:gd name="adj2" fmla="val -92841"/>
            </a:avLst>
          </a:prstGeom>
          <a:solidFill>
            <a:schemeClr val="accent1">
              <a:alpha val="34000"/>
            </a:schemeClr>
          </a:solidFill>
          <a:ln w="28575" cap="flat" cmpd="dbl" algn="ctr">
            <a:solidFill>
              <a:schemeClr val="accent1">
                <a:shade val="50000"/>
              </a:schemeClr>
            </a:solidFill>
            <a:prstDash val="sysDot"/>
            <a:round/>
            <a:headEnd type="none" w="med" len="med"/>
            <a:tailEnd type="none" w="med" len="med"/>
          </a:ln>
        </p:spPr>
        <p:txBody>
          <a:bodyPr vert="horz" wrap="square" lIns="91440" tIns="45720" rIns="91440" bIns="45720" numCol="1" anchor="t" anchorCtr="0" compatLnSpc="1"/>
          <a:lstStyle/>
          <a:p>
            <a:pPr marL="0" marR="0" indent="0" algn="ctr" defTabSz="914400" rtl="0" eaLnBrk="1" fontAlgn="base" latinLnBrk="0" hangingPunct="1">
              <a:lnSpc>
                <a:spcPct val="120000"/>
              </a:lnSpc>
              <a:spcBef>
                <a:spcPct val="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容性</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6" name="矩形标注 5"/>
          <p:cNvSpPr/>
          <p:nvPr/>
        </p:nvSpPr>
        <p:spPr>
          <a:xfrm>
            <a:off x="4283710" y="4797425"/>
            <a:ext cx="905510" cy="576580"/>
          </a:xfrm>
          <a:prstGeom prst="wedgeRectCallout">
            <a:avLst>
              <a:gd name="adj1" fmla="val -78821"/>
              <a:gd name="adj2" fmla="val -50991"/>
            </a:avLst>
          </a:prstGeom>
          <a:solidFill>
            <a:schemeClr val="accent1">
              <a:alpha val="34000"/>
            </a:schemeClr>
          </a:solidFill>
          <a:ln w="28575" cap="flat" cmpd="dbl" algn="ctr">
            <a:solidFill>
              <a:schemeClr val="accent1">
                <a:shade val="50000"/>
              </a:schemeClr>
            </a:solidFill>
            <a:prstDash val="sysDot"/>
            <a:round/>
            <a:headEnd type="none" w="med" len="med"/>
            <a:tailEnd type="none" w="med" len="med"/>
          </a:ln>
        </p:spPr>
        <p:txBody>
          <a:bodyPr vert="horz" wrap="square" lIns="91440" tIns="45720" rIns="91440" bIns="45720" numCol="1" anchor="t" anchorCtr="0" compatLnSpc="1"/>
          <a:lstStyle/>
          <a:p>
            <a:pPr marL="0" marR="0" indent="0" algn="ctr" defTabSz="914400" rtl="0" eaLnBrk="1" fontAlgn="base" latinLnBrk="0" hangingPunct="1">
              <a:lnSpc>
                <a:spcPct val="120000"/>
              </a:lnSpc>
              <a:spcBef>
                <a:spcPct val="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感性</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4"/>
          <p:cNvSpPr txBox="1"/>
          <p:nvPr/>
        </p:nvSpPr>
        <p:spPr>
          <a:xfrm>
            <a:off x="250825" y="981075"/>
            <a:ext cx="4087813" cy="457200"/>
          </a:xfrm>
          <a:prstGeom prst="rect">
            <a:avLst/>
          </a:prstGeom>
          <a:noFill/>
          <a:ln w="9525">
            <a:noFill/>
          </a:ln>
        </p:spPr>
        <p:txBody>
          <a:bodyPr wrap="none">
            <a:spAutoFit/>
          </a:bodyPr>
          <a:lstStyle/>
          <a:p>
            <a:r>
              <a:rPr lang="en-US" altLang="zh-CN" dirty="0">
                <a:solidFill>
                  <a:srgbClr val="FF0066"/>
                </a:solidFill>
                <a:latin typeface="Times New Roman" panose="02020603050405020304" pitchFamily="18" charset="0"/>
              </a:rPr>
              <a:t> </a:t>
            </a:r>
            <a:r>
              <a:rPr lang="zh-CN" altLang="en-US" dirty="0">
                <a:solidFill>
                  <a:srgbClr val="FF0066"/>
                </a:solidFill>
                <a:latin typeface="Times New Roman" panose="02020603050405020304" pitchFamily="18" charset="0"/>
              </a:rPr>
              <a:t>二</a:t>
            </a:r>
            <a:r>
              <a:rPr lang="zh-CN" altLang="en-US" b="1" dirty="0">
                <a:solidFill>
                  <a:srgbClr val="FF0066"/>
                </a:solidFill>
                <a:latin typeface="Times New Roman" panose="02020603050405020304" pitchFamily="18" charset="0"/>
              </a:rPr>
              <a:t>、 高频电路中的有源器件</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sp>
        <p:nvSpPr>
          <p:cNvPr id="103429" name="Text Box 5"/>
          <p:cNvSpPr txBox="1"/>
          <p:nvPr/>
        </p:nvSpPr>
        <p:spPr>
          <a:xfrm>
            <a:off x="611505" y="1484630"/>
            <a:ext cx="8416290" cy="829945"/>
          </a:xfrm>
          <a:prstGeom prst="rect">
            <a:avLst/>
          </a:prstGeom>
          <a:noFill/>
          <a:ln w="9525">
            <a:noFill/>
          </a:ln>
        </p:spPr>
        <p:txBody>
          <a:bodyPr wrap="square">
            <a:spAutoFit/>
          </a:bodyPr>
          <a:lstStyle/>
          <a:p>
            <a:r>
              <a:rPr lang="zh-CN" altLang="en-US" dirty="0">
                <a:latin typeface="Times New Roman" panose="02020603050405020304" pitchFamily="18" charset="0"/>
              </a:rPr>
              <a:t>高频电路中的有源器件主要有</a:t>
            </a:r>
            <a:r>
              <a:rPr lang="zh-CN" altLang="en-US" b="1" dirty="0">
                <a:solidFill>
                  <a:srgbClr val="FF0066"/>
                </a:solidFill>
                <a:latin typeface="Times New Roman" panose="02020603050405020304" pitchFamily="18" charset="0"/>
              </a:rPr>
              <a:t>二极管，晶体管</a:t>
            </a:r>
            <a:r>
              <a:rPr lang="zh-CN" altLang="en-US" dirty="0">
                <a:latin typeface="Times New Roman" panose="02020603050405020304" pitchFamily="18" charset="0"/>
              </a:rPr>
              <a:t>以及</a:t>
            </a:r>
            <a:r>
              <a:rPr lang="zh-CN" altLang="en-US" b="1" dirty="0">
                <a:solidFill>
                  <a:srgbClr val="FF0066"/>
                </a:solidFill>
                <a:latin typeface="Times New Roman" panose="02020603050405020304" pitchFamily="18" charset="0"/>
              </a:rPr>
              <a:t>集成电路</a:t>
            </a:r>
            <a:r>
              <a:rPr lang="zh-CN" altLang="en-US" dirty="0">
                <a:latin typeface="Times New Roman" panose="02020603050405020304" pitchFamily="18" charset="0"/>
              </a:rPr>
              <a:t>，完成</a:t>
            </a:r>
            <a:r>
              <a:rPr lang="zh-CN" altLang="en-US" b="1" dirty="0">
                <a:solidFill>
                  <a:srgbClr val="FF0066"/>
                </a:solidFill>
                <a:latin typeface="Times New Roman" panose="02020603050405020304" pitchFamily="18" charset="0"/>
              </a:rPr>
              <a:t>信号的放大、非线性变换</a:t>
            </a:r>
            <a:r>
              <a:rPr lang="zh-CN" altLang="en-US" dirty="0">
                <a:latin typeface="Times New Roman" panose="02020603050405020304" pitchFamily="18" charset="0"/>
              </a:rPr>
              <a:t>等功能。</a:t>
            </a:r>
            <a:endParaRPr lang="zh-CN" altLang="en-US" dirty="0">
              <a:latin typeface="Times New Roman" panose="02020603050405020304" pitchFamily="18" charset="0"/>
            </a:endParaRPr>
          </a:p>
        </p:txBody>
      </p:sp>
      <p:sp>
        <p:nvSpPr>
          <p:cNvPr id="103430" name="Text Box 6"/>
          <p:cNvSpPr txBox="1"/>
          <p:nvPr/>
        </p:nvSpPr>
        <p:spPr>
          <a:xfrm>
            <a:off x="468313" y="2360930"/>
            <a:ext cx="2247900" cy="460375"/>
          </a:xfrm>
          <a:prstGeom prst="rect">
            <a:avLst/>
          </a:prstGeom>
          <a:noFill/>
          <a:ln w="9525">
            <a:noFill/>
          </a:ln>
        </p:spPr>
        <p:txBody>
          <a:bodyPr wrap="none">
            <a:spAutoFit/>
          </a:bodyPr>
          <a:lstStyle/>
          <a:p>
            <a:r>
              <a:rPr lang="zh-CN" altLang="en-US" b="1" dirty="0">
                <a:solidFill>
                  <a:schemeClr val="tx1"/>
                </a:solidFill>
                <a:latin typeface="Times New Roman" panose="02020603050405020304" pitchFamily="18" charset="0"/>
              </a:rPr>
              <a:t>（</a:t>
            </a:r>
            <a:r>
              <a:rPr lang="en-US" altLang="zh-CN" b="1" dirty="0">
                <a:solidFill>
                  <a:schemeClr val="tx1"/>
                </a:solidFill>
                <a:latin typeface="Times New Roman" panose="02020603050405020304" pitchFamily="18" charset="0"/>
              </a:rPr>
              <a:t>1</a:t>
            </a:r>
            <a:r>
              <a:rPr lang="zh-CN" altLang="en-US" b="1" dirty="0">
                <a:solidFill>
                  <a:schemeClr val="tx1"/>
                </a:solidFill>
                <a:latin typeface="Times New Roman" panose="02020603050405020304" pitchFamily="18" charset="0"/>
              </a:rPr>
              <a:t>） 二极管</a:t>
            </a:r>
            <a:endParaRPr lang="zh-CN" altLang="en-US" b="1" dirty="0">
              <a:solidFill>
                <a:schemeClr val="tx1"/>
              </a:solidFill>
              <a:latin typeface="Times New Roman" panose="02020603050405020304" pitchFamily="18" charset="0"/>
            </a:endParaRPr>
          </a:p>
        </p:txBody>
      </p:sp>
      <p:sp>
        <p:nvSpPr>
          <p:cNvPr id="103431" name="Text Box 7"/>
          <p:cNvSpPr txBox="1"/>
          <p:nvPr/>
        </p:nvSpPr>
        <p:spPr>
          <a:xfrm>
            <a:off x="684213" y="2852738"/>
            <a:ext cx="8096250" cy="1198880"/>
          </a:xfrm>
          <a:prstGeom prst="rect">
            <a:avLst/>
          </a:prstGeom>
          <a:noFill/>
          <a:ln w="9525">
            <a:noFill/>
          </a:ln>
        </p:spPr>
        <p:txBody>
          <a:bodyPr>
            <a:spAutoFit/>
          </a:bodyPr>
          <a:lstStyle/>
          <a:p>
            <a:r>
              <a:rPr lang="en-US" altLang="zh-CN" dirty="0">
                <a:latin typeface="Times New Roman" panose="02020603050405020304" pitchFamily="18" charset="0"/>
              </a:rPr>
              <a:t> </a:t>
            </a:r>
            <a:r>
              <a:rPr lang="zh-CN" altLang="en-US" dirty="0">
                <a:latin typeface="Times New Roman" panose="02020603050405020304" pitchFamily="18" charset="0"/>
              </a:rPr>
              <a:t>半导体二极管在高频中主要用于</a:t>
            </a:r>
            <a:r>
              <a:rPr lang="zh-CN" altLang="en-US" dirty="0">
                <a:solidFill>
                  <a:srgbClr val="FF0066"/>
                </a:solidFill>
                <a:latin typeface="Times New Roman" panose="02020603050405020304" pitchFamily="18" charset="0"/>
              </a:rPr>
              <a:t>检波、 调制、 解调及混频</a:t>
            </a:r>
            <a:r>
              <a:rPr lang="zh-CN" altLang="en-US" dirty="0">
                <a:latin typeface="Times New Roman" panose="02020603050405020304" pitchFamily="18" charset="0"/>
              </a:rPr>
              <a:t>等非线性变换电路中。 主要有</a:t>
            </a:r>
            <a:r>
              <a:rPr lang="zh-CN" altLang="en-US" dirty="0">
                <a:solidFill>
                  <a:srgbClr val="FF0066"/>
                </a:solidFill>
                <a:latin typeface="Times New Roman" panose="02020603050405020304" pitchFamily="18" charset="0"/>
              </a:rPr>
              <a:t>点触式二极管、表面势垒二极管</a:t>
            </a:r>
            <a:r>
              <a:rPr lang="zh-CN" altLang="en-US" dirty="0">
                <a:latin typeface="Times New Roman" panose="02020603050405020304" pitchFamily="18" charset="0"/>
              </a:rPr>
              <a:t>以及</a:t>
            </a:r>
            <a:r>
              <a:rPr lang="zh-CN" altLang="en-US" dirty="0">
                <a:solidFill>
                  <a:srgbClr val="FF0066"/>
                </a:solidFill>
                <a:latin typeface="Times New Roman" panose="02020603050405020304" pitchFamily="18" charset="0"/>
              </a:rPr>
              <a:t>变容二极管</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103435" name="Text Box 11"/>
          <p:cNvSpPr txBox="1"/>
          <p:nvPr/>
        </p:nvSpPr>
        <p:spPr>
          <a:xfrm>
            <a:off x="611188" y="4292918"/>
            <a:ext cx="7869237" cy="1568450"/>
          </a:xfrm>
          <a:prstGeom prst="rect">
            <a:avLst/>
          </a:prstGeom>
          <a:noFill/>
          <a:ln w="9525">
            <a:noFill/>
          </a:ln>
        </p:spPr>
        <p:txBody>
          <a:bodyPr>
            <a:spAutoFit/>
          </a:bodyPr>
          <a:lstStyle/>
          <a:p>
            <a:pPr marL="342900" indent="-342900">
              <a:buFont typeface="Wingdings" panose="05000000000000000000" charset="0"/>
              <a:buChar char="Ø"/>
            </a:pPr>
            <a:r>
              <a:rPr lang="zh-CN" altLang="en-US" dirty="0">
                <a:latin typeface="Times New Roman" panose="02020603050405020304" pitchFamily="18" charset="0"/>
              </a:rPr>
              <a:t>点触式二极管、表面势垒二级管</a:t>
            </a:r>
            <a:r>
              <a:rPr lang="en-US" altLang="zh-CN" dirty="0">
                <a:latin typeface="Times New Roman" panose="02020603050405020304" pitchFamily="18" charset="0"/>
              </a:rPr>
              <a:t>——</a:t>
            </a:r>
            <a:r>
              <a:rPr lang="zh-CN" altLang="en-US" dirty="0">
                <a:latin typeface="Times New Roman" panose="02020603050405020304" pitchFamily="18" charset="0"/>
              </a:rPr>
              <a:t>极间电容小，工作频率高；</a:t>
            </a:r>
            <a:endParaRPr lang="zh-CN" altLang="en-US" dirty="0">
              <a:latin typeface="Times New Roman" panose="02020603050405020304" pitchFamily="18" charset="0"/>
            </a:endParaRPr>
          </a:p>
          <a:p>
            <a:pPr marL="342900" indent="-342900">
              <a:buFont typeface="Wingdings" panose="05000000000000000000" charset="0"/>
              <a:buChar char="Ø"/>
            </a:pPr>
            <a:r>
              <a:rPr lang="zh-CN" altLang="en-US" dirty="0">
                <a:latin typeface="Times New Roman" panose="02020603050405020304" pitchFamily="18" charset="0"/>
              </a:rPr>
              <a:t>变容二极管</a:t>
            </a:r>
            <a:r>
              <a:rPr lang="en-US" altLang="zh-CN" dirty="0">
                <a:latin typeface="Times New Roman" panose="02020603050405020304" pitchFamily="18" charset="0"/>
              </a:rPr>
              <a:t>——</a:t>
            </a:r>
            <a:r>
              <a:rPr lang="zh-CN" altLang="en-US" b="1" dirty="0">
                <a:solidFill>
                  <a:srgbClr val="FF0066"/>
                </a:solidFill>
                <a:latin typeface="Times New Roman" panose="02020603050405020304" pitchFamily="18" charset="0"/>
              </a:rPr>
              <a:t>电容随偏置电压变化</a:t>
            </a:r>
            <a:r>
              <a:rPr lang="zh-CN" altLang="en-US" dirty="0">
                <a:latin typeface="Times New Roman" panose="02020603050405020304" pitchFamily="18" charset="0"/>
              </a:rPr>
              <a:t>。可用作电调谐器和压控震荡器；</a:t>
            </a:r>
            <a:endParaRPr lang="zh-CN" altLang="en-US" dirty="0">
              <a:latin typeface="Times New Roman" panose="02020603050405020304" pitchFamily="18" charset="0"/>
            </a:endParaRPr>
          </a:p>
        </p:txBody>
      </p:sp>
      <p:grpSp>
        <p:nvGrpSpPr>
          <p:cNvPr id="75783" name="Group 12"/>
          <p:cNvGrpSpPr/>
          <p:nvPr/>
        </p:nvGrpSpPr>
        <p:grpSpPr>
          <a:xfrm>
            <a:off x="1878806" y="343217"/>
            <a:ext cx="5334000" cy="546100"/>
            <a:chOff x="1378" y="410"/>
            <a:chExt cx="3360" cy="344"/>
          </a:xfrm>
        </p:grpSpPr>
        <p:sp>
          <p:nvSpPr>
            <p:cNvPr id="75784" name="Rectangle 13"/>
            <p:cNvSpPr/>
            <p:nvPr/>
          </p:nvSpPr>
          <p:spPr>
            <a:xfrm>
              <a:off x="1378" y="410"/>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2.1 </a:t>
              </a:r>
              <a:r>
                <a:rPr lang="zh-CN" altLang="en-US" sz="2800" b="1" dirty="0">
                  <a:solidFill>
                    <a:schemeClr val="accent2"/>
                  </a:solidFill>
                  <a:latin typeface="Times New Roman" panose="02020603050405020304" pitchFamily="18" charset="0"/>
                </a:rPr>
                <a:t>高频电路中的元器件</a:t>
              </a:r>
              <a:endParaRPr lang="zh-CN" altLang="en-US" sz="2800" b="1" dirty="0">
                <a:solidFill>
                  <a:schemeClr val="accent2"/>
                </a:solidFill>
                <a:latin typeface="Times New Roman" panose="02020603050405020304" pitchFamily="18" charset="0"/>
              </a:endParaRPr>
            </a:p>
          </p:txBody>
        </p:sp>
        <p:sp>
          <p:nvSpPr>
            <p:cNvPr id="75785" name="Line 14"/>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2" name="Text Box 4"/>
          <p:cNvSpPr txBox="1"/>
          <p:nvPr/>
        </p:nvSpPr>
        <p:spPr>
          <a:xfrm>
            <a:off x="323215" y="1484313"/>
            <a:ext cx="2164080" cy="570865"/>
          </a:xfrm>
          <a:prstGeom prst="rect">
            <a:avLst/>
          </a:prstGeom>
          <a:noFill/>
          <a:ln w="9525">
            <a:noFill/>
          </a:ln>
        </p:spPr>
        <p:txBody>
          <a:bodyPr wrap="none">
            <a:spAutoFit/>
          </a:bodyPr>
          <a:lstStyle/>
          <a:p>
            <a:pPr>
              <a:lnSpc>
                <a:spcPct val="130000"/>
              </a:lnSpc>
              <a:spcBef>
                <a:spcPct val="20000"/>
              </a:spcBef>
            </a:pPr>
            <a:r>
              <a:rPr lang="en-US" altLang="zh-CN" dirty="0">
                <a:solidFill>
                  <a:schemeClr val="tx1"/>
                </a:solidFill>
                <a:latin typeface="Times New Roman" panose="02020603050405020304" pitchFamily="18" charset="0"/>
              </a:rPr>
              <a:t> </a:t>
            </a:r>
            <a:r>
              <a:rPr lang="zh-CN" altLang="en-US" dirty="0">
                <a:solidFill>
                  <a:schemeClr val="tx1"/>
                </a:solidFill>
                <a:latin typeface="Times New Roman" panose="02020603050405020304" pitchFamily="18" charset="0"/>
              </a:rPr>
              <a:t>（</a:t>
            </a:r>
            <a:r>
              <a:rPr lang="en-US" altLang="zh-CN" dirty="0">
                <a:solidFill>
                  <a:schemeClr val="tx1"/>
                </a:solidFill>
                <a:latin typeface="Times New Roman" panose="02020603050405020304" pitchFamily="18" charset="0"/>
              </a:rPr>
              <a:t>2</a:t>
            </a:r>
            <a:r>
              <a:rPr lang="zh-CN" altLang="en-US" dirty="0">
                <a:solidFill>
                  <a:schemeClr val="tx1"/>
                </a:solidFill>
                <a:latin typeface="Times New Roman" panose="02020603050405020304" pitchFamily="18" charset="0"/>
              </a:rPr>
              <a:t>） 晶体管  </a:t>
            </a:r>
            <a:endParaRPr lang="zh-CN" altLang="en-US" dirty="0">
              <a:solidFill>
                <a:schemeClr val="tx1"/>
              </a:solidFill>
              <a:latin typeface="Times New Roman" panose="02020603050405020304" pitchFamily="18" charset="0"/>
            </a:endParaRPr>
          </a:p>
        </p:txBody>
      </p:sp>
      <p:sp>
        <p:nvSpPr>
          <p:cNvPr id="104453" name="Text Box 5"/>
          <p:cNvSpPr txBox="1"/>
          <p:nvPr/>
        </p:nvSpPr>
        <p:spPr>
          <a:xfrm>
            <a:off x="395605" y="2169160"/>
            <a:ext cx="8432165" cy="1831975"/>
          </a:xfrm>
          <a:prstGeom prst="rect">
            <a:avLst/>
          </a:prstGeom>
          <a:noFill/>
          <a:ln w="9525">
            <a:noFill/>
          </a:ln>
        </p:spPr>
        <p:txBody>
          <a:bodyPr wrap="square">
            <a:spAutoFit/>
          </a:bodyPr>
          <a:lstStyle/>
          <a:p>
            <a:r>
              <a:rPr lang="en-US" altLang="zh-CN" dirty="0">
                <a:latin typeface="Times New Roman" panose="02020603050405020304" pitchFamily="18" charset="0"/>
              </a:rPr>
              <a:t> </a:t>
            </a:r>
            <a:r>
              <a:rPr lang="zh-CN" altLang="en-US" dirty="0">
                <a:latin typeface="Times New Roman" panose="02020603050405020304" pitchFamily="18" charset="0"/>
              </a:rPr>
              <a:t>高频晶体管有两大类型</a:t>
            </a:r>
            <a:r>
              <a:rPr lang="en-US" altLang="zh-CN" dirty="0">
                <a:latin typeface="Times New Roman" panose="02020603050405020304" pitchFamily="18" charset="0"/>
              </a:rPr>
              <a:t>: </a:t>
            </a:r>
            <a:endParaRPr lang="zh-CN" altLang="en-US" dirty="0">
              <a:latin typeface="Times New Roman" panose="02020603050405020304" pitchFamily="18" charset="0"/>
            </a:endParaRPr>
          </a:p>
          <a:p>
            <a:pPr marL="342900" indent="-342900">
              <a:lnSpc>
                <a:spcPct val="110000"/>
              </a:lnSpc>
              <a:spcAft>
                <a:spcPts val="1200"/>
              </a:spcAft>
              <a:buFont typeface="Wingdings" panose="05000000000000000000" charset="0"/>
              <a:buChar char="Ø"/>
            </a:pPr>
            <a:r>
              <a:rPr lang="zh-CN" altLang="en-US" dirty="0">
                <a:solidFill>
                  <a:srgbClr val="FF0066"/>
                </a:solidFill>
                <a:latin typeface="Times New Roman" panose="02020603050405020304" pitchFamily="18" charset="0"/>
              </a:rPr>
              <a:t>高频小功率管</a:t>
            </a:r>
            <a:r>
              <a:rPr lang="zh-CN" altLang="en-US" dirty="0">
                <a:latin typeface="Times New Roman" panose="02020603050405020304" pitchFamily="18" charset="0"/>
              </a:rPr>
              <a:t>：要求是</a:t>
            </a:r>
            <a:r>
              <a:rPr lang="zh-CN" altLang="en-US" dirty="0">
                <a:solidFill>
                  <a:srgbClr val="FF0066"/>
                </a:solidFill>
                <a:latin typeface="Times New Roman" panose="02020603050405020304" pitchFamily="18" charset="0"/>
              </a:rPr>
              <a:t>高增益和低噪声</a:t>
            </a:r>
            <a:r>
              <a:rPr lang="en-US" altLang="zh-CN" dirty="0">
                <a:latin typeface="Times New Roman" panose="02020603050405020304" pitchFamily="18" charset="0"/>
              </a:rPr>
              <a:t>; </a:t>
            </a:r>
            <a:endParaRPr lang="en-US" altLang="zh-CN" dirty="0">
              <a:latin typeface="Times New Roman" panose="02020603050405020304" pitchFamily="18" charset="0"/>
            </a:endParaRPr>
          </a:p>
          <a:p>
            <a:pPr marL="342900" indent="-342900">
              <a:lnSpc>
                <a:spcPct val="110000"/>
              </a:lnSpc>
              <a:buFont typeface="Wingdings" panose="05000000000000000000" charset="0"/>
              <a:buChar char="Ø"/>
            </a:pPr>
            <a:r>
              <a:rPr lang="zh-CN" altLang="en-US" dirty="0">
                <a:solidFill>
                  <a:srgbClr val="FF0066"/>
                </a:solidFill>
                <a:latin typeface="Times New Roman" panose="02020603050405020304" pitchFamily="18" charset="0"/>
              </a:rPr>
              <a:t>高频功率放大管（</a:t>
            </a:r>
            <a:r>
              <a:rPr lang="en-US" altLang="zh-CN" dirty="0">
                <a:solidFill>
                  <a:srgbClr val="FF0066"/>
                </a:solidFill>
                <a:latin typeface="Times New Roman" panose="02020603050405020304" pitchFamily="18" charset="0"/>
              </a:rPr>
              <a:t>FET</a:t>
            </a:r>
            <a:r>
              <a:rPr lang="zh-CN" altLang="en-US" dirty="0">
                <a:solidFill>
                  <a:srgbClr val="FF0066"/>
                </a:solidFill>
                <a:latin typeface="Times New Roman" panose="02020603050405020304" pitchFamily="18" charset="0"/>
              </a:rPr>
              <a:t>）</a:t>
            </a:r>
            <a:r>
              <a:rPr lang="zh-CN" altLang="en-US" dirty="0">
                <a:latin typeface="Times New Roman" panose="02020603050405020304" pitchFamily="18" charset="0"/>
              </a:rPr>
              <a:t>：除了</a:t>
            </a:r>
            <a:r>
              <a:rPr lang="zh-CN" altLang="en-US" dirty="0">
                <a:solidFill>
                  <a:srgbClr val="FF0066"/>
                </a:solidFill>
                <a:latin typeface="Times New Roman" panose="02020603050405020304" pitchFamily="18" charset="0"/>
              </a:rPr>
              <a:t>高增益</a:t>
            </a:r>
            <a:r>
              <a:rPr lang="zh-CN" altLang="en-US" dirty="0">
                <a:latin typeface="Times New Roman" panose="02020603050405020304" pitchFamily="18" charset="0"/>
              </a:rPr>
              <a:t>外</a:t>
            </a:r>
            <a:r>
              <a:rPr lang="en-US" altLang="zh-CN" dirty="0">
                <a:latin typeface="Times New Roman" panose="02020603050405020304" pitchFamily="18" charset="0"/>
              </a:rPr>
              <a:t>, </a:t>
            </a:r>
            <a:r>
              <a:rPr lang="zh-CN" altLang="en-US" dirty="0">
                <a:latin typeface="Times New Roman" panose="02020603050405020304" pitchFamily="18" charset="0"/>
              </a:rPr>
              <a:t>要求在高频有较</a:t>
            </a:r>
            <a:r>
              <a:rPr lang="zh-CN" altLang="en-US" dirty="0">
                <a:solidFill>
                  <a:srgbClr val="FF0066"/>
                </a:solidFill>
                <a:latin typeface="Times New Roman" panose="02020603050405020304" pitchFamily="18" charset="0"/>
              </a:rPr>
              <a:t>大的输出功率。 </a:t>
            </a:r>
            <a:endParaRPr lang="zh-CN" altLang="en-US" dirty="0">
              <a:solidFill>
                <a:srgbClr val="FF0066"/>
              </a:solidFill>
              <a:latin typeface="Times New Roman" panose="02020603050405020304" pitchFamily="18" charset="0"/>
            </a:endParaRPr>
          </a:p>
        </p:txBody>
      </p:sp>
      <p:sp>
        <p:nvSpPr>
          <p:cNvPr id="76804" name="Text Box 6"/>
          <p:cNvSpPr txBox="1"/>
          <p:nvPr/>
        </p:nvSpPr>
        <p:spPr>
          <a:xfrm>
            <a:off x="684213" y="4056063"/>
            <a:ext cx="184150" cy="457200"/>
          </a:xfrm>
          <a:prstGeom prst="rect">
            <a:avLst/>
          </a:prstGeom>
          <a:noFill/>
          <a:ln w="9525">
            <a:noFill/>
          </a:ln>
        </p:spPr>
        <p:txBody>
          <a:bodyPr wrap="none">
            <a:spAutoFit/>
          </a:bodyPr>
          <a:lstStyle/>
          <a:p>
            <a:endParaRPr lang="zh-CN" altLang="zh-CN" dirty="0">
              <a:latin typeface="Times New Roman" panose="02020603050405020304" pitchFamily="18" charset="0"/>
            </a:endParaRPr>
          </a:p>
        </p:txBody>
      </p:sp>
      <p:sp>
        <p:nvSpPr>
          <p:cNvPr id="104455" name="Text Box 7"/>
          <p:cNvSpPr txBox="1"/>
          <p:nvPr/>
        </p:nvSpPr>
        <p:spPr>
          <a:xfrm>
            <a:off x="395288" y="4052888"/>
            <a:ext cx="2240280" cy="460375"/>
          </a:xfrm>
          <a:prstGeom prst="rect">
            <a:avLst/>
          </a:prstGeom>
          <a:noFill/>
          <a:ln w="9525">
            <a:noFill/>
          </a:ln>
        </p:spPr>
        <p:txBody>
          <a:bodyPr wrap="none">
            <a:spAutoFit/>
          </a:bodyPr>
          <a:lstStyle/>
          <a:p>
            <a:r>
              <a:rPr lang="zh-CN" altLang="en-US" dirty="0">
                <a:latin typeface="Times New Roman" panose="02020603050405020304" pitchFamily="18" charset="0"/>
              </a:rPr>
              <a:t>（</a:t>
            </a:r>
            <a:r>
              <a:rPr lang="en-US" altLang="zh-CN" dirty="0">
                <a:latin typeface="Times New Roman" panose="02020603050405020304" pitchFamily="18" charset="0"/>
              </a:rPr>
              <a:t>3</a:t>
            </a:r>
            <a:r>
              <a:rPr lang="zh-CN" altLang="en-US" dirty="0">
                <a:latin typeface="Times New Roman" panose="02020603050405020304" pitchFamily="18" charset="0"/>
              </a:rPr>
              <a:t>） 集成电路</a:t>
            </a:r>
            <a:endParaRPr lang="zh-CN" altLang="en-US" dirty="0">
              <a:latin typeface="Times New Roman" panose="02020603050405020304" pitchFamily="18" charset="0"/>
            </a:endParaRPr>
          </a:p>
        </p:txBody>
      </p:sp>
      <p:sp>
        <p:nvSpPr>
          <p:cNvPr id="104456" name="Text Box 8"/>
          <p:cNvSpPr txBox="1"/>
          <p:nvPr/>
        </p:nvSpPr>
        <p:spPr>
          <a:xfrm>
            <a:off x="683260" y="4732020"/>
            <a:ext cx="8111490" cy="460375"/>
          </a:xfrm>
          <a:prstGeom prst="rect">
            <a:avLst/>
          </a:prstGeom>
          <a:noFill/>
          <a:ln w="9525">
            <a:noFill/>
          </a:ln>
        </p:spPr>
        <p:txBody>
          <a:bodyPr wrap="square">
            <a:spAutoFit/>
          </a:bodyPr>
          <a:lstStyle/>
          <a:p>
            <a:r>
              <a:rPr lang="zh-CN" altLang="en-US" dirty="0">
                <a:latin typeface="Times New Roman" panose="02020603050405020304" pitchFamily="18" charset="0"/>
              </a:rPr>
              <a:t>用于高频的集成电路的类型主要分为</a:t>
            </a:r>
            <a:r>
              <a:rPr lang="zh-CN" altLang="en-US" dirty="0">
                <a:solidFill>
                  <a:srgbClr val="FF0066"/>
                </a:solidFill>
                <a:latin typeface="Times New Roman" panose="02020603050405020304" pitchFamily="18" charset="0"/>
              </a:rPr>
              <a:t>通用型</a:t>
            </a:r>
            <a:r>
              <a:rPr lang="zh-CN" altLang="en-US" dirty="0">
                <a:latin typeface="Times New Roman" panose="02020603050405020304" pitchFamily="18" charset="0"/>
              </a:rPr>
              <a:t>和</a:t>
            </a:r>
            <a:r>
              <a:rPr lang="zh-CN" altLang="en-US" dirty="0">
                <a:solidFill>
                  <a:srgbClr val="FF0066"/>
                </a:solidFill>
                <a:latin typeface="Times New Roman" panose="02020603050405020304" pitchFamily="18" charset="0"/>
              </a:rPr>
              <a:t>专用型</a:t>
            </a:r>
            <a:r>
              <a:rPr lang="zh-CN" altLang="en-US" dirty="0">
                <a:latin typeface="Times New Roman" panose="02020603050405020304" pitchFamily="18" charset="0"/>
              </a:rPr>
              <a:t>两种。</a:t>
            </a:r>
            <a:endParaRPr lang="zh-CN" altLang="en-US" dirty="0">
              <a:latin typeface="Times New Roman" panose="02020603050405020304" pitchFamily="18" charset="0"/>
            </a:endParaRPr>
          </a:p>
        </p:txBody>
      </p:sp>
      <p:sp>
        <p:nvSpPr>
          <p:cNvPr id="76807" name="Text Box 9"/>
          <p:cNvSpPr txBox="1"/>
          <p:nvPr/>
        </p:nvSpPr>
        <p:spPr>
          <a:xfrm>
            <a:off x="250825" y="981075"/>
            <a:ext cx="4087813" cy="457200"/>
          </a:xfrm>
          <a:prstGeom prst="rect">
            <a:avLst/>
          </a:prstGeom>
          <a:noFill/>
          <a:ln w="9525">
            <a:noFill/>
          </a:ln>
        </p:spPr>
        <p:txBody>
          <a:bodyPr wrap="none">
            <a:spAutoFit/>
          </a:bodyPr>
          <a:lstStyle/>
          <a:p>
            <a:r>
              <a:rPr lang="en-US" altLang="zh-CN" dirty="0">
                <a:solidFill>
                  <a:srgbClr val="FF0066"/>
                </a:solidFill>
                <a:latin typeface="Times New Roman" panose="02020603050405020304" pitchFamily="18" charset="0"/>
              </a:rPr>
              <a:t> </a:t>
            </a:r>
            <a:r>
              <a:rPr lang="zh-CN" altLang="en-US" dirty="0">
                <a:solidFill>
                  <a:srgbClr val="FF0066"/>
                </a:solidFill>
                <a:latin typeface="Times New Roman" panose="02020603050405020304" pitchFamily="18" charset="0"/>
              </a:rPr>
              <a:t>二</a:t>
            </a:r>
            <a:r>
              <a:rPr lang="zh-CN" altLang="en-US" b="1" dirty="0">
                <a:solidFill>
                  <a:srgbClr val="FF0066"/>
                </a:solidFill>
                <a:latin typeface="Times New Roman" panose="02020603050405020304" pitchFamily="18" charset="0"/>
              </a:rPr>
              <a:t>、 高频电路中的有源器件</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grpSp>
        <p:nvGrpSpPr>
          <p:cNvPr id="76808" name="Group 10"/>
          <p:cNvGrpSpPr/>
          <p:nvPr/>
        </p:nvGrpSpPr>
        <p:grpSpPr>
          <a:xfrm>
            <a:off x="1905000" y="326264"/>
            <a:ext cx="5334000" cy="546100"/>
            <a:chOff x="1378" y="410"/>
            <a:chExt cx="3360" cy="344"/>
          </a:xfrm>
        </p:grpSpPr>
        <p:sp>
          <p:nvSpPr>
            <p:cNvPr id="76809" name="Rectangle 11"/>
            <p:cNvSpPr/>
            <p:nvPr/>
          </p:nvSpPr>
          <p:spPr>
            <a:xfrm>
              <a:off x="1378" y="410"/>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2.1 </a:t>
              </a:r>
              <a:r>
                <a:rPr lang="zh-CN" altLang="en-US" sz="2800" b="1" dirty="0">
                  <a:solidFill>
                    <a:schemeClr val="accent2"/>
                  </a:solidFill>
                  <a:latin typeface="Times New Roman" panose="02020603050405020304" pitchFamily="18" charset="0"/>
                </a:rPr>
                <a:t>高频电路中的元器件</a:t>
              </a:r>
              <a:endParaRPr lang="zh-CN" altLang="en-US" sz="2800" b="1" dirty="0">
                <a:solidFill>
                  <a:schemeClr val="accent2"/>
                </a:solidFill>
                <a:latin typeface="Times New Roman" panose="02020603050405020304" pitchFamily="18" charset="0"/>
              </a:endParaRPr>
            </a:p>
          </p:txBody>
        </p:sp>
        <p:sp>
          <p:nvSpPr>
            <p:cNvPr id="76810" name="Line 12"/>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Text Box 5"/>
          <p:cNvSpPr txBox="1"/>
          <p:nvPr/>
        </p:nvSpPr>
        <p:spPr>
          <a:xfrm>
            <a:off x="827088" y="1196975"/>
            <a:ext cx="7796212" cy="1516063"/>
          </a:xfrm>
          <a:prstGeom prst="rect">
            <a:avLst/>
          </a:prstGeom>
          <a:noFill/>
          <a:ln w="9525">
            <a:noFill/>
          </a:ln>
        </p:spPr>
        <p:txBody>
          <a:bodyPr>
            <a:spAutoFit/>
          </a:bodyPr>
          <a:lstStyle/>
          <a:p>
            <a:pPr>
              <a:lnSpc>
                <a:spcPct val="130000"/>
              </a:lnSpc>
              <a:spcBef>
                <a:spcPct val="20000"/>
              </a:spcBef>
            </a:pPr>
            <a:r>
              <a:rPr lang="zh-CN" altLang="en-US" dirty="0">
                <a:latin typeface="Times New Roman" panose="02020603050405020304" pitchFamily="18" charset="0"/>
              </a:rPr>
              <a:t>高频电路中的基本电路（无源组件或无源网络）主要有</a:t>
            </a:r>
            <a:r>
              <a:rPr lang="zh-CN" altLang="en-US" dirty="0">
                <a:solidFill>
                  <a:srgbClr val="FF0066"/>
                </a:solidFill>
                <a:latin typeface="Times New Roman" panose="02020603050405020304" pitchFamily="18" charset="0"/>
              </a:rPr>
              <a:t>高频振荡（谐振）回路</a:t>
            </a:r>
            <a:r>
              <a:rPr lang="zh-CN" altLang="en-US" dirty="0">
                <a:latin typeface="Times New Roman" panose="02020603050405020304" pitchFamily="18" charset="0"/>
              </a:rPr>
              <a:t>、 </a:t>
            </a:r>
            <a:r>
              <a:rPr lang="zh-CN" altLang="en-US" dirty="0">
                <a:solidFill>
                  <a:srgbClr val="FF0066"/>
                </a:solidFill>
                <a:latin typeface="Times New Roman" panose="02020603050405020304" pitchFamily="18" charset="0"/>
              </a:rPr>
              <a:t>高频变压器</a:t>
            </a:r>
            <a:r>
              <a:rPr lang="zh-CN" altLang="en-US" dirty="0">
                <a:latin typeface="Times New Roman" panose="02020603050405020304" pitchFamily="18" charset="0"/>
              </a:rPr>
              <a:t>、 </a:t>
            </a:r>
            <a:r>
              <a:rPr lang="zh-CN" altLang="en-US" dirty="0">
                <a:solidFill>
                  <a:srgbClr val="FF0066"/>
                </a:solidFill>
                <a:latin typeface="Times New Roman" panose="02020603050405020304" pitchFamily="18" charset="0"/>
              </a:rPr>
              <a:t>谐振器与滤波器</a:t>
            </a:r>
            <a:r>
              <a:rPr lang="zh-CN" altLang="en-US" dirty="0">
                <a:latin typeface="Times New Roman" panose="02020603050405020304" pitchFamily="18" charset="0"/>
              </a:rPr>
              <a:t>等</a:t>
            </a:r>
            <a:r>
              <a:rPr lang="en-US" altLang="zh-CN" dirty="0">
                <a:latin typeface="Times New Roman" panose="02020603050405020304" pitchFamily="18" charset="0"/>
              </a:rPr>
              <a:t>, </a:t>
            </a:r>
            <a:r>
              <a:rPr lang="zh-CN" altLang="en-US" dirty="0">
                <a:latin typeface="Times New Roman" panose="02020603050405020304" pitchFamily="18" charset="0"/>
              </a:rPr>
              <a:t>它们完成信号的</a:t>
            </a:r>
            <a:r>
              <a:rPr lang="zh-CN" altLang="en-US" dirty="0">
                <a:solidFill>
                  <a:srgbClr val="FF0066"/>
                </a:solidFill>
                <a:latin typeface="Times New Roman" panose="02020603050405020304" pitchFamily="18" charset="0"/>
              </a:rPr>
              <a:t>传输、 频率选择</a:t>
            </a:r>
            <a:r>
              <a:rPr lang="zh-CN" altLang="en-US" dirty="0">
                <a:latin typeface="Times New Roman" panose="02020603050405020304" pitchFamily="18" charset="0"/>
              </a:rPr>
              <a:t>及</a:t>
            </a:r>
            <a:r>
              <a:rPr lang="zh-CN" altLang="en-US" dirty="0">
                <a:solidFill>
                  <a:srgbClr val="FF0066"/>
                </a:solidFill>
                <a:latin typeface="Times New Roman" panose="02020603050405020304" pitchFamily="18" charset="0"/>
              </a:rPr>
              <a:t>阻抗变换</a:t>
            </a:r>
            <a:r>
              <a:rPr lang="zh-CN" altLang="en-US" dirty="0">
                <a:latin typeface="Times New Roman" panose="02020603050405020304" pitchFamily="18" charset="0"/>
              </a:rPr>
              <a:t>等功能。</a:t>
            </a:r>
            <a:endParaRPr lang="zh-CN" altLang="en-US" dirty="0">
              <a:latin typeface="Times New Roman" panose="02020603050405020304" pitchFamily="18" charset="0"/>
            </a:endParaRPr>
          </a:p>
        </p:txBody>
      </p:sp>
      <p:sp>
        <p:nvSpPr>
          <p:cNvPr id="9224" name="Text Box 8"/>
          <p:cNvSpPr txBox="1"/>
          <p:nvPr/>
        </p:nvSpPr>
        <p:spPr>
          <a:xfrm>
            <a:off x="611188" y="2896870"/>
            <a:ext cx="462026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一、电阻、电抗元件的串并转换</a:t>
            </a:r>
            <a:endParaRPr lang="zh-CN" altLang="en-US" b="1" dirty="0">
              <a:solidFill>
                <a:srgbClr val="FF0066"/>
              </a:solidFill>
              <a:latin typeface="Times New Roman" panose="02020603050405020304" pitchFamily="18" charset="0"/>
            </a:endParaRPr>
          </a:p>
        </p:txBody>
      </p:sp>
      <p:grpSp>
        <p:nvGrpSpPr>
          <p:cNvPr id="77831" name="Group 11"/>
          <p:cNvGrpSpPr/>
          <p:nvPr/>
        </p:nvGrpSpPr>
        <p:grpSpPr>
          <a:xfrm>
            <a:off x="1979613" y="549275"/>
            <a:ext cx="5334000" cy="546100"/>
            <a:chOff x="1378" y="410"/>
            <a:chExt cx="3360" cy="344"/>
          </a:xfrm>
        </p:grpSpPr>
        <p:sp>
          <p:nvSpPr>
            <p:cNvPr id="77832" name="Rectangle 12"/>
            <p:cNvSpPr/>
            <p:nvPr/>
          </p:nvSpPr>
          <p:spPr>
            <a:xfrm>
              <a:off x="1378" y="410"/>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77833" name="Line 13"/>
            <p:cNvSpPr/>
            <p:nvPr/>
          </p:nvSpPr>
          <p:spPr>
            <a:xfrm>
              <a:off x="1474" y="754"/>
              <a:ext cx="3024" cy="0"/>
            </a:xfrm>
            <a:prstGeom prst="line">
              <a:avLst/>
            </a:prstGeom>
            <a:ln w="57150" cap="flat" cmpd="tri">
              <a:solidFill>
                <a:srgbClr val="FF00FF"/>
              </a:solidFill>
              <a:prstDash val="solid"/>
              <a:headEnd type="none" w="sm" len="sm"/>
              <a:tailEnd type="none" w="sm" len="sm"/>
            </a:ln>
          </p:spPr>
        </p:sp>
      </p:gr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59205" y="3429000"/>
            <a:ext cx="6505575" cy="2433320"/>
          </a:xfrm>
          <a:prstGeom prst="rect">
            <a:avLst/>
          </a:prstGeom>
        </p:spPr>
      </p:pic>
      <p:sp>
        <p:nvSpPr>
          <p:cNvPr id="3085" name="Text Box 10"/>
          <p:cNvSpPr txBox="1"/>
          <p:nvPr/>
        </p:nvSpPr>
        <p:spPr>
          <a:xfrm>
            <a:off x="1692275" y="5949950"/>
            <a:ext cx="6478270" cy="460375"/>
          </a:xfrm>
          <a:prstGeom prst="rect">
            <a:avLst/>
          </a:prstGeom>
          <a:noFill/>
          <a:ln w="9525">
            <a:noFill/>
          </a:ln>
        </p:spPr>
        <p:txBody>
          <a:bodyPr wrap="square">
            <a:spAutoFit/>
          </a:bodyPr>
          <a:lstStyle/>
          <a:p>
            <a:pPr>
              <a:spcBef>
                <a:spcPct val="50000"/>
              </a:spcBef>
            </a:pPr>
            <a:r>
              <a:rPr lang="en-US" altLang="zh-CN" dirty="0">
                <a:latin typeface="Times New Roman" panose="02020603050405020304" pitchFamily="18" charset="0"/>
              </a:rPr>
              <a:t> </a:t>
            </a:r>
            <a:r>
              <a:rPr lang="zh-CN" altLang="en-US" sz="2000" dirty="0">
                <a:latin typeface="Times New Roman" panose="02020603050405020304" pitchFamily="18" charset="0"/>
              </a:rPr>
              <a:t>图 </a:t>
            </a:r>
            <a:r>
              <a:rPr lang="en-US" altLang="zh-CN" sz="2000" dirty="0">
                <a:latin typeface="Times New Roman" panose="02020603050405020304" pitchFamily="18" charset="0"/>
              </a:rPr>
              <a:t>2 - 4 </a:t>
            </a:r>
            <a:r>
              <a:rPr lang="zh-CN" altLang="en-US" sz="2000" dirty="0">
                <a:latin typeface="宋体" panose="02010600030101010101" pitchFamily="2" charset="-122"/>
                <a:sym typeface="+mn-ea"/>
              </a:rPr>
              <a:t>电阻元件、电抗元件串、并阻抗转换示意图</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4859655" y="5085715"/>
            <a:ext cx="3711575" cy="1223645"/>
          </a:xfrm>
          <a:prstGeom prst="rect">
            <a:avLst/>
          </a:prstGeom>
          <a:solidFill>
            <a:schemeClr val="accent1">
              <a:lumMod val="20000"/>
              <a:lumOff val="80000"/>
            </a:schemeClr>
          </a:solidFill>
          <a:ln w="9525" cap="flat" cmpd="sng" algn="ctr">
            <a:solidFill>
              <a:schemeClr val="accent1">
                <a:lumMod val="20000"/>
                <a:lumOff val="80000"/>
              </a:schemeClr>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27" name="矩形 26"/>
          <p:cNvSpPr/>
          <p:nvPr/>
        </p:nvSpPr>
        <p:spPr>
          <a:xfrm>
            <a:off x="2771775" y="2061210"/>
            <a:ext cx="4608195" cy="1223645"/>
          </a:xfrm>
          <a:prstGeom prst="rect">
            <a:avLst/>
          </a:prstGeom>
          <a:solidFill>
            <a:schemeClr val="accent1">
              <a:lumMod val="20000"/>
              <a:lumOff val="80000"/>
            </a:schemeClr>
          </a:solidFill>
          <a:ln w="9525" cap="flat" cmpd="sng" algn="ctr">
            <a:solidFill>
              <a:schemeClr val="accent1">
                <a:lumMod val="20000"/>
                <a:lumOff val="80000"/>
              </a:schemeClr>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9224" name="Text Box 8"/>
          <p:cNvSpPr txBox="1"/>
          <p:nvPr/>
        </p:nvSpPr>
        <p:spPr>
          <a:xfrm>
            <a:off x="467043" y="476885"/>
            <a:ext cx="462026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一、电阻、电抗元件的串并转换</a:t>
            </a:r>
            <a:endParaRPr lang="zh-CN" altLang="en-US" b="1" dirty="0">
              <a:solidFill>
                <a:srgbClr val="FF0066"/>
              </a:solidFill>
              <a:latin typeface="Times New Roman" panose="02020603050405020304" pitchFamily="18" charset="0"/>
            </a:endParaRPr>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676900" y="476885"/>
            <a:ext cx="3467100" cy="1296670"/>
          </a:xfrm>
          <a:prstGeom prst="rect">
            <a:avLst/>
          </a:prstGeom>
        </p:spPr>
      </p:pic>
      <p:pic>
        <p:nvPicPr>
          <p:cNvPr id="2" name="图片 1"/>
          <p:cNvPicPr/>
          <p:nvPr/>
        </p:nvPicPr>
        <p:blipFill>
          <a:blip r:embed="rId2"/>
          <a:stretch>
            <a:fillRect/>
          </a:stretch>
        </p:blipFill>
        <p:spPr>
          <a:xfrm>
            <a:off x="359410" y="1108075"/>
            <a:ext cx="1602740" cy="358140"/>
          </a:xfrm>
          <a:prstGeom prst="rect">
            <a:avLst/>
          </a:prstGeom>
        </p:spPr>
      </p:pic>
      <p:pic>
        <p:nvPicPr>
          <p:cNvPr id="5" name="图片 4"/>
          <p:cNvPicPr/>
          <p:nvPr/>
        </p:nvPicPr>
        <p:blipFill>
          <a:blip r:embed="rId3"/>
          <a:stretch>
            <a:fillRect/>
          </a:stretch>
        </p:blipFill>
        <p:spPr>
          <a:xfrm>
            <a:off x="1962150" y="908685"/>
            <a:ext cx="3535680" cy="753110"/>
          </a:xfrm>
          <a:prstGeom prst="rect">
            <a:avLst/>
          </a:prstGeom>
        </p:spPr>
      </p:pic>
      <p:pic>
        <p:nvPicPr>
          <p:cNvPr id="6" name="图片 5"/>
          <p:cNvPicPr/>
          <p:nvPr/>
        </p:nvPicPr>
        <p:blipFill>
          <a:blip r:embed="rId4"/>
          <a:stretch>
            <a:fillRect/>
          </a:stretch>
        </p:blipFill>
        <p:spPr>
          <a:xfrm>
            <a:off x="323215" y="1701165"/>
            <a:ext cx="1448435" cy="358140"/>
          </a:xfrm>
          <a:prstGeom prst="rect">
            <a:avLst/>
          </a:prstGeom>
        </p:spPr>
      </p:pic>
      <p:pic>
        <p:nvPicPr>
          <p:cNvPr id="7" name="图片 6"/>
          <p:cNvPicPr/>
          <p:nvPr/>
        </p:nvPicPr>
        <p:blipFill>
          <a:blip r:embed="rId5"/>
          <a:stretch>
            <a:fillRect/>
          </a:stretch>
        </p:blipFill>
        <p:spPr>
          <a:xfrm>
            <a:off x="323215" y="2281555"/>
            <a:ext cx="770255" cy="407035"/>
          </a:xfrm>
          <a:prstGeom prst="rect">
            <a:avLst/>
          </a:prstGeom>
        </p:spPr>
      </p:pic>
      <p:sp>
        <p:nvSpPr>
          <p:cNvPr id="10" name="文本框 9"/>
          <p:cNvSpPr txBox="1"/>
          <p:nvPr/>
        </p:nvSpPr>
        <p:spPr>
          <a:xfrm>
            <a:off x="1115695" y="2281525"/>
            <a:ext cx="1828801" cy="39878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dirty="0">
                <a:latin typeface="+mj-ea"/>
                <a:ea typeface="+mj-ea"/>
              </a:rPr>
              <a:t>则必须满足：</a:t>
            </a:r>
            <a:endParaRPr lang="zh-CN" altLang="en-US" sz="2000" dirty="0">
              <a:latin typeface="+mj-ea"/>
              <a:ea typeface="+mj-ea"/>
            </a:endParaRPr>
          </a:p>
        </p:txBody>
      </p:sp>
      <p:pic>
        <p:nvPicPr>
          <p:cNvPr id="8" name="图片 7"/>
          <p:cNvPicPr/>
          <p:nvPr/>
        </p:nvPicPr>
        <p:blipFill>
          <a:blip r:embed="rId6"/>
          <a:stretch>
            <a:fillRect/>
          </a:stretch>
        </p:blipFill>
        <p:spPr>
          <a:xfrm>
            <a:off x="2752249" y="2041208"/>
            <a:ext cx="2093912" cy="882650"/>
          </a:xfrm>
          <a:prstGeom prst="rect">
            <a:avLst/>
          </a:prstGeom>
        </p:spPr>
      </p:pic>
      <p:pic>
        <p:nvPicPr>
          <p:cNvPr id="9" name="图片 8"/>
          <p:cNvPicPr/>
          <p:nvPr/>
        </p:nvPicPr>
        <p:blipFill>
          <a:blip r:embed="rId7"/>
          <a:stretch>
            <a:fillRect/>
          </a:stretch>
        </p:blipFill>
        <p:spPr>
          <a:xfrm>
            <a:off x="5076349" y="2060893"/>
            <a:ext cx="2211387" cy="882650"/>
          </a:xfrm>
          <a:prstGeom prst="rect">
            <a:avLst/>
          </a:prstGeom>
        </p:spPr>
      </p:pic>
      <p:sp>
        <p:nvSpPr>
          <p:cNvPr id="13" name="文本框 12"/>
          <p:cNvSpPr txBox="1"/>
          <p:nvPr/>
        </p:nvSpPr>
        <p:spPr>
          <a:xfrm>
            <a:off x="4211955" y="2882900"/>
            <a:ext cx="1533525" cy="39878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r>
              <a:rPr lang="zh-CN" altLang="en-US" sz="2000" dirty="0">
                <a:latin typeface="+mj-ea"/>
                <a:ea typeface="+mj-ea"/>
              </a:rPr>
              <a:t>并联转串联</a:t>
            </a:r>
            <a:endParaRPr lang="zh-CN" altLang="en-US" sz="2000" dirty="0">
              <a:latin typeface="+mj-ea"/>
              <a:ea typeface="+mj-ea"/>
            </a:endParaRPr>
          </a:p>
        </p:txBody>
      </p:sp>
      <p:pic>
        <p:nvPicPr>
          <p:cNvPr id="11" name="图片 10"/>
          <p:cNvPicPr/>
          <p:nvPr/>
        </p:nvPicPr>
        <p:blipFill>
          <a:blip r:embed="rId6"/>
          <a:stretch>
            <a:fillRect/>
          </a:stretch>
        </p:blipFill>
        <p:spPr>
          <a:xfrm>
            <a:off x="257166" y="3180156"/>
            <a:ext cx="2093912" cy="882650"/>
          </a:xfrm>
          <a:prstGeom prst="rect">
            <a:avLst/>
          </a:prstGeom>
        </p:spPr>
      </p:pic>
      <p:pic>
        <p:nvPicPr>
          <p:cNvPr id="12" name="图片 11"/>
          <p:cNvPicPr/>
          <p:nvPr/>
        </p:nvPicPr>
        <p:blipFill>
          <a:blip r:embed="rId7"/>
          <a:stretch>
            <a:fillRect/>
          </a:stretch>
        </p:blipFill>
        <p:spPr>
          <a:xfrm>
            <a:off x="209694" y="4044875"/>
            <a:ext cx="2211387" cy="882650"/>
          </a:xfrm>
          <a:prstGeom prst="rect">
            <a:avLst/>
          </a:prstGeom>
        </p:spPr>
      </p:pic>
      <p:pic>
        <p:nvPicPr>
          <p:cNvPr id="14" name="图片 13"/>
          <p:cNvPicPr/>
          <p:nvPr/>
        </p:nvPicPr>
        <p:blipFill>
          <a:blip r:embed="rId8"/>
          <a:stretch>
            <a:fillRect/>
          </a:stretch>
        </p:blipFill>
        <p:spPr>
          <a:xfrm>
            <a:off x="2616540" y="3428293"/>
            <a:ext cx="2652712" cy="463550"/>
          </a:xfrm>
          <a:prstGeom prst="rect">
            <a:avLst/>
          </a:prstGeom>
        </p:spPr>
      </p:pic>
      <p:pic>
        <p:nvPicPr>
          <p:cNvPr id="15" name="图片 14"/>
          <p:cNvPicPr/>
          <p:nvPr/>
        </p:nvPicPr>
        <p:blipFill>
          <a:blip r:embed="rId9"/>
          <a:stretch>
            <a:fillRect/>
          </a:stretch>
        </p:blipFill>
        <p:spPr>
          <a:xfrm>
            <a:off x="2627805" y="4287182"/>
            <a:ext cx="2700337" cy="463550"/>
          </a:xfrm>
          <a:prstGeom prst="rect">
            <a:avLst/>
          </a:prstGeom>
        </p:spPr>
      </p:pic>
      <p:sp>
        <p:nvSpPr>
          <p:cNvPr id="53" name="箭头: 右 10"/>
          <p:cNvSpPr/>
          <p:nvPr/>
        </p:nvSpPr>
        <p:spPr>
          <a:xfrm>
            <a:off x="2406589" y="3478149"/>
            <a:ext cx="185814" cy="3325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4" name="箭头: 右 11"/>
          <p:cNvSpPr/>
          <p:nvPr/>
        </p:nvSpPr>
        <p:spPr>
          <a:xfrm>
            <a:off x="2411603" y="4319945"/>
            <a:ext cx="185814" cy="3325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6" name="图片 15"/>
          <p:cNvPicPr/>
          <p:nvPr/>
        </p:nvPicPr>
        <p:blipFill>
          <a:blip r:embed="rId10"/>
          <a:stretch>
            <a:fillRect/>
          </a:stretch>
        </p:blipFill>
        <p:spPr>
          <a:xfrm>
            <a:off x="5475213" y="3466759"/>
            <a:ext cx="3257550" cy="463550"/>
          </a:xfrm>
          <a:prstGeom prst="rect">
            <a:avLst/>
          </a:prstGeom>
        </p:spPr>
      </p:pic>
      <p:pic>
        <p:nvPicPr>
          <p:cNvPr id="17" name="图片 16"/>
          <p:cNvPicPr/>
          <p:nvPr/>
        </p:nvPicPr>
        <p:blipFill>
          <a:blip r:embed="rId11"/>
          <a:stretch>
            <a:fillRect/>
          </a:stretch>
        </p:blipFill>
        <p:spPr>
          <a:xfrm>
            <a:off x="5479173" y="4258652"/>
            <a:ext cx="3213100" cy="463550"/>
          </a:xfrm>
          <a:prstGeom prst="rect">
            <a:avLst/>
          </a:prstGeom>
        </p:spPr>
      </p:pic>
      <p:sp>
        <p:nvSpPr>
          <p:cNvPr id="18" name="箭头: 右 10"/>
          <p:cNvSpPr/>
          <p:nvPr/>
        </p:nvSpPr>
        <p:spPr>
          <a:xfrm>
            <a:off x="5293299" y="3478149"/>
            <a:ext cx="185814" cy="3325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9" name="箭头: 右 11"/>
          <p:cNvSpPr/>
          <p:nvPr/>
        </p:nvSpPr>
        <p:spPr>
          <a:xfrm>
            <a:off x="5298313" y="4319945"/>
            <a:ext cx="185814" cy="3325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20" name="图片 19"/>
          <p:cNvPicPr/>
          <p:nvPr/>
        </p:nvPicPr>
        <p:blipFill>
          <a:blip r:embed="rId12"/>
          <a:stretch>
            <a:fillRect/>
          </a:stretch>
        </p:blipFill>
        <p:spPr>
          <a:xfrm>
            <a:off x="408464" y="5085548"/>
            <a:ext cx="2373312" cy="463550"/>
          </a:xfrm>
          <a:prstGeom prst="rect">
            <a:avLst/>
          </a:prstGeom>
        </p:spPr>
      </p:pic>
      <p:pic>
        <p:nvPicPr>
          <p:cNvPr id="21" name="图片 20"/>
          <p:cNvPicPr/>
          <p:nvPr/>
        </p:nvPicPr>
        <p:blipFill>
          <a:blip r:embed="rId13"/>
          <a:stretch>
            <a:fillRect/>
          </a:stretch>
        </p:blipFill>
        <p:spPr>
          <a:xfrm>
            <a:off x="817902" y="5679926"/>
            <a:ext cx="1558925" cy="439737"/>
          </a:xfrm>
          <a:prstGeom prst="rect">
            <a:avLst/>
          </a:prstGeom>
        </p:spPr>
      </p:pic>
      <p:sp>
        <p:nvSpPr>
          <p:cNvPr id="22" name="箭头: 右 11"/>
          <p:cNvSpPr/>
          <p:nvPr/>
        </p:nvSpPr>
        <p:spPr>
          <a:xfrm>
            <a:off x="178943" y="5517555"/>
            <a:ext cx="185814" cy="3325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23" name="图片 22"/>
          <p:cNvPicPr/>
          <p:nvPr/>
        </p:nvPicPr>
        <p:blipFill>
          <a:blip r:embed="rId14"/>
          <a:stretch>
            <a:fillRect/>
          </a:stretch>
        </p:blipFill>
        <p:spPr>
          <a:xfrm>
            <a:off x="3158561" y="4864890"/>
            <a:ext cx="1325562" cy="831850"/>
          </a:xfrm>
          <a:prstGeom prst="rect">
            <a:avLst/>
          </a:prstGeom>
        </p:spPr>
      </p:pic>
      <p:pic>
        <p:nvPicPr>
          <p:cNvPr id="24" name="图片 23"/>
          <p:cNvPicPr/>
          <p:nvPr/>
        </p:nvPicPr>
        <p:blipFill>
          <a:blip r:embed="rId15"/>
          <a:stretch>
            <a:fillRect/>
          </a:stretch>
        </p:blipFill>
        <p:spPr>
          <a:xfrm>
            <a:off x="3112700" y="5589116"/>
            <a:ext cx="1371600" cy="831850"/>
          </a:xfrm>
          <a:prstGeom prst="rect">
            <a:avLst/>
          </a:prstGeom>
        </p:spPr>
      </p:pic>
      <p:pic>
        <p:nvPicPr>
          <p:cNvPr id="25" name="图片 24"/>
          <p:cNvPicPr/>
          <p:nvPr/>
        </p:nvPicPr>
        <p:blipFill>
          <a:blip r:embed="rId16"/>
          <a:stretch>
            <a:fillRect/>
          </a:stretch>
        </p:blipFill>
        <p:spPr>
          <a:xfrm>
            <a:off x="4912131" y="5143913"/>
            <a:ext cx="1744663" cy="836612"/>
          </a:xfrm>
          <a:prstGeom prst="rect">
            <a:avLst/>
          </a:prstGeom>
        </p:spPr>
      </p:pic>
      <p:pic>
        <p:nvPicPr>
          <p:cNvPr id="26" name="图片 25"/>
          <p:cNvPicPr/>
          <p:nvPr/>
        </p:nvPicPr>
        <p:blipFill>
          <a:blip r:embed="rId17"/>
          <a:stretch>
            <a:fillRect/>
          </a:stretch>
        </p:blipFill>
        <p:spPr>
          <a:xfrm>
            <a:off x="6719800" y="5144676"/>
            <a:ext cx="1790700" cy="836612"/>
          </a:xfrm>
          <a:prstGeom prst="rect">
            <a:avLst/>
          </a:prstGeom>
        </p:spPr>
      </p:pic>
      <p:sp>
        <p:nvSpPr>
          <p:cNvPr id="70" name="文本框 69"/>
          <p:cNvSpPr txBox="1"/>
          <p:nvPr/>
        </p:nvSpPr>
        <p:spPr>
          <a:xfrm>
            <a:off x="6071376" y="5936734"/>
            <a:ext cx="1386559"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latin typeface="宋体" panose="02010600030101010101" pitchFamily="2" charset="-122"/>
                <a:ea typeface="宋体" panose="02010600030101010101" pitchFamily="2" charset="-122"/>
              </a:rPr>
              <a:t>串联转并联</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4859655" y="6141720"/>
            <a:ext cx="2649220" cy="503555"/>
          </a:xfrm>
          <a:prstGeom prst="rect">
            <a:avLst/>
          </a:prstGeom>
          <a:solidFill>
            <a:schemeClr val="accent1">
              <a:lumMod val="20000"/>
              <a:lumOff val="80000"/>
            </a:schemeClr>
          </a:solidFill>
          <a:ln w="9525" cap="flat" cmpd="sng" algn="ctr">
            <a:solidFill>
              <a:schemeClr val="accent1">
                <a:lumMod val="20000"/>
                <a:lumOff val="80000"/>
              </a:schemeClr>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28" name="矩形 27"/>
          <p:cNvSpPr/>
          <p:nvPr/>
        </p:nvSpPr>
        <p:spPr>
          <a:xfrm>
            <a:off x="2267585" y="4509135"/>
            <a:ext cx="4728210" cy="871220"/>
          </a:xfrm>
          <a:prstGeom prst="rect">
            <a:avLst/>
          </a:prstGeom>
          <a:solidFill>
            <a:schemeClr val="accent1">
              <a:lumMod val="20000"/>
              <a:lumOff val="80000"/>
            </a:schemeClr>
          </a:solidFill>
          <a:ln w="9525" cap="flat" cmpd="sng" algn="ctr">
            <a:solidFill>
              <a:schemeClr val="accent1">
                <a:lumMod val="20000"/>
                <a:lumOff val="80000"/>
              </a:schemeClr>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9224" name="Text Box 8"/>
          <p:cNvSpPr txBox="1"/>
          <p:nvPr/>
        </p:nvSpPr>
        <p:spPr>
          <a:xfrm>
            <a:off x="467043" y="476885"/>
            <a:ext cx="462026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一、电阻、电抗元件的串并转换</a:t>
            </a:r>
            <a:endParaRPr lang="zh-CN" altLang="en-US" b="1" dirty="0">
              <a:solidFill>
                <a:srgbClr val="FF0066"/>
              </a:solidFill>
              <a:latin typeface="Times New Roman" panose="02020603050405020304" pitchFamily="18" charset="0"/>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27525" y="980770"/>
            <a:ext cx="4650237" cy="1739241"/>
          </a:xfrm>
          <a:prstGeom prst="rect">
            <a:avLst/>
          </a:prstGeom>
        </p:spPr>
      </p:pic>
      <p:pic>
        <p:nvPicPr>
          <p:cNvPr id="2" name="图片 1"/>
          <p:cNvPicPr/>
          <p:nvPr/>
        </p:nvPicPr>
        <p:blipFill>
          <a:blip r:embed="rId2"/>
          <a:stretch>
            <a:fillRect/>
          </a:stretch>
        </p:blipFill>
        <p:spPr>
          <a:xfrm>
            <a:off x="1331749" y="1602871"/>
            <a:ext cx="1069975" cy="904875"/>
          </a:xfrm>
          <a:prstGeom prst="rect">
            <a:avLst/>
          </a:prstGeom>
        </p:spPr>
      </p:pic>
      <p:pic>
        <p:nvPicPr>
          <p:cNvPr id="4" name="图片 3"/>
          <p:cNvPicPr/>
          <p:nvPr/>
        </p:nvPicPr>
        <p:blipFill>
          <a:blip r:embed="rId3"/>
          <a:stretch>
            <a:fillRect/>
          </a:stretch>
        </p:blipFill>
        <p:spPr>
          <a:xfrm>
            <a:off x="7452523" y="1602872"/>
            <a:ext cx="1023938" cy="835025"/>
          </a:xfrm>
          <a:prstGeom prst="rect">
            <a:avLst/>
          </a:prstGeom>
        </p:spPr>
      </p:pic>
      <p:pic>
        <p:nvPicPr>
          <p:cNvPr id="6" name="图片 5"/>
          <p:cNvPicPr/>
          <p:nvPr/>
        </p:nvPicPr>
        <p:blipFill>
          <a:blip r:embed="rId4"/>
          <a:stretch>
            <a:fillRect/>
          </a:stretch>
        </p:blipFill>
        <p:spPr>
          <a:xfrm>
            <a:off x="1691933" y="2781209"/>
            <a:ext cx="6232525" cy="836613"/>
          </a:xfrm>
          <a:prstGeom prst="rect">
            <a:avLst/>
          </a:prstGeom>
        </p:spPr>
      </p:pic>
      <p:pic>
        <p:nvPicPr>
          <p:cNvPr id="7" name="图片 6"/>
          <p:cNvPicPr/>
          <p:nvPr/>
        </p:nvPicPr>
        <p:blipFill>
          <a:blip r:embed="rId5"/>
          <a:stretch>
            <a:fillRect/>
          </a:stretch>
        </p:blipFill>
        <p:spPr>
          <a:xfrm>
            <a:off x="1632109" y="3669440"/>
            <a:ext cx="6557962" cy="836612"/>
          </a:xfrm>
          <a:prstGeom prst="rect">
            <a:avLst/>
          </a:prstGeom>
        </p:spPr>
      </p:pic>
      <p:pic>
        <p:nvPicPr>
          <p:cNvPr id="8" name="图片 7"/>
          <p:cNvPicPr/>
          <p:nvPr/>
        </p:nvPicPr>
        <p:blipFill>
          <a:blip r:embed="rId6"/>
          <a:stretch>
            <a:fillRect/>
          </a:stretch>
        </p:blipFill>
        <p:spPr>
          <a:xfrm>
            <a:off x="2502537" y="4704239"/>
            <a:ext cx="1790700" cy="465138"/>
          </a:xfrm>
          <a:prstGeom prst="rect">
            <a:avLst/>
          </a:prstGeom>
        </p:spPr>
      </p:pic>
      <p:pic>
        <p:nvPicPr>
          <p:cNvPr id="9" name="图片 8"/>
          <p:cNvPicPr/>
          <p:nvPr/>
        </p:nvPicPr>
        <p:blipFill>
          <a:blip r:embed="rId7"/>
          <a:stretch>
            <a:fillRect/>
          </a:stretch>
        </p:blipFill>
        <p:spPr>
          <a:xfrm>
            <a:off x="4932361" y="4558030"/>
            <a:ext cx="1954212" cy="768350"/>
          </a:xfrm>
          <a:prstGeom prst="rect">
            <a:avLst/>
          </a:prstGeom>
        </p:spPr>
      </p:pic>
      <p:sp>
        <p:nvSpPr>
          <p:cNvPr id="25" name="文本框 24"/>
          <p:cNvSpPr txBox="1"/>
          <p:nvPr/>
        </p:nvSpPr>
        <p:spPr>
          <a:xfrm>
            <a:off x="395605" y="5445125"/>
            <a:ext cx="8408035" cy="8299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mj-ea"/>
                <a:ea typeface="+mj-ea"/>
              </a:rPr>
              <a:t>由上可知，转换后</a:t>
            </a:r>
            <a:r>
              <a:rPr lang="zh-CN" altLang="en-US" sz="2400" b="1" dirty="0">
                <a:solidFill>
                  <a:srgbClr val="FF0066"/>
                </a:solidFill>
                <a:latin typeface="Times New Roman" panose="02020603050405020304" pitchFamily="18" charset="0"/>
                <a:ea typeface="宋体" panose="02010600030101010101" pitchFamily="2" charset="-122"/>
              </a:rPr>
              <a:t>电抗元件的性质不变</a:t>
            </a:r>
            <a:r>
              <a:rPr lang="zh-CN" altLang="en-US" sz="2400" dirty="0">
                <a:latin typeface="+mj-ea"/>
                <a:ea typeface="+mj-ea"/>
              </a:rPr>
              <a:t>，电感转换后仍为电感，电容转换后仍为电容</a:t>
            </a:r>
            <a:endParaRPr lang="zh-CN" altLang="en-US" sz="2400" dirty="0">
              <a:latin typeface="+mj-ea"/>
              <a:ea typeface="+mj-ea"/>
            </a:endParaRPr>
          </a:p>
        </p:txBody>
      </p:sp>
      <p:sp>
        <p:nvSpPr>
          <p:cNvPr id="26" name="文本框 25"/>
          <p:cNvSpPr txBox="1"/>
          <p:nvPr/>
        </p:nvSpPr>
        <p:spPr>
          <a:xfrm>
            <a:off x="2771989" y="6164927"/>
            <a:ext cx="2202926" cy="460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solidFill>
                  <a:srgbClr val="FF0066"/>
                </a:solidFill>
                <a:latin typeface="Times New Roman" panose="02020603050405020304" pitchFamily="18" charset="0"/>
                <a:ea typeface="宋体" panose="02010600030101010101" pitchFamily="2" charset="-122"/>
              </a:rPr>
              <a:t>若有Q远大于1</a:t>
            </a:r>
            <a:endParaRPr lang="zh-CN" altLang="en-US" sz="2400" dirty="0">
              <a:solidFill>
                <a:srgbClr val="FF0000"/>
              </a:solidFill>
              <a:latin typeface="+mj-ea"/>
              <a:ea typeface="+mj-ea"/>
              <a:cs typeface="+mj-ea"/>
            </a:endParaRPr>
          </a:p>
        </p:txBody>
      </p:sp>
      <p:pic>
        <p:nvPicPr>
          <p:cNvPr id="10" name="图片 9"/>
          <p:cNvPicPr/>
          <p:nvPr/>
        </p:nvPicPr>
        <p:blipFill>
          <a:blip r:embed="rId8"/>
          <a:stretch>
            <a:fillRect/>
          </a:stretch>
        </p:blipFill>
        <p:spPr>
          <a:xfrm>
            <a:off x="4974915" y="6140888"/>
            <a:ext cx="1209675" cy="465138"/>
          </a:xfrm>
          <a:prstGeom prst="rect">
            <a:avLst/>
          </a:prstGeom>
        </p:spPr>
      </p:pic>
      <p:pic>
        <p:nvPicPr>
          <p:cNvPr id="11" name="图片 10"/>
          <p:cNvPicPr/>
          <p:nvPr/>
        </p:nvPicPr>
        <p:blipFill>
          <a:blip r:embed="rId9"/>
          <a:stretch>
            <a:fillRect/>
          </a:stretch>
        </p:blipFill>
        <p:spPr>
          <a:xfrm>
            <a:off x="6428260" y="6141206"/>
            <a:ext cx="1023938" cy="441325"/>
          </a:xfrm>
          <a:prstGeom prst="rect">
            <a:avLst/>
          </a:prstGeom>
        </p:spPr>
      </p:pic>
      <p:sp>
        <p:nvSpPr>
          <p:cNvPr id="3" name="文本框 2"/>
          <p:cNvSpPr txBox="1"/>
          <p:nvPr/>
        </p:nvSpPr>
        <p:spPr>
          <a:xfrm>
            <a:off x="1331595" y="1196975"/>
            <a:ext cx="1477645" cy="460375"/>
          </a:xfrm>
          <a:prstGeom prst="rect">
            <a:avLst/>
          </a:prstGeom>
          <a:noFill/>
        </p:spPr>
        <p:txBody>
          <a:bodyPr wrap="square" rtlCol="0">
            <a:spAutoFit/>
          </a:bodyPr>
          <a:lstStyle/>
          <a:p>
            <a:r>
              <a:rPr lang="zh-CN" altLang="en-US"/>
              <a:t>并联形式</a:t>
            </a:r>
            <a:endParaRPr lang="zh-CN" altLang="en-US"/>
          </a:p>
        </p:txBody>
      </p:sp>
      <p:sp>
        <p:nvSpPr>
          <p:cNvPr id="13" name="文本框 12"/>
          <p:cNvSpPr txBox="1"/>
          <p:nvPr/>
        </p:nvSpPr>
        <p:spPr>
          <a:xfrm>
            <a:off x="7236460" y="1196975"/>
            <a:ext cx="1477645" cy="460375"/>
          </a:xfrm>
          <a:prstGeom prst="rect">
            <a:avLst/>
          </a:prstGeom>
          <a:noFill/>
        </p:spPr>
        <p:txBody>
          <a:bodyPr wrap="square" rtlCol="0">
            <a:spAutoFit/>
          </a:bodyPr>
          <a:lstStyle/>
          <a:p>
            <a:r>
              <a:rPr lang="zh-CN" altLang="en-US"/>
              <a:t>串联形式</a:t>
            </a:r>
            <a:endParaRPr lang="zh-CN" altLang="en-US"/>
          </a:p>
        </p:txBody>
      </p:sp>
      <p:sp>
        <p:nvSpPr>
          <p:cNvPr id="14" name="文本框 13"/>
          <p:cNvSpPr txBox="1"/>
          <p:nvPr/>
        </p:nvSpPr>
        <p:spPr>
          <a:xfrm>
            <a:off x="755650" y="4725670"/>
            <a:ext cx="1477645" cy="460375"/>
          </a:xfrm>
          <a:prstGeom prst="rect">
            <a:avLst/>
          </a:prstGeom>
          <a:noFill/>
        </p:spPr>
        <p:txBody>
          <a:bodyPr wrap="square" rtlCol="0">
            <a:spAutoFit/>
          </a:bodyPr>
          <a:lstStyle/>
          <a:p>
            <a:r>
              <a:rPr lang="zh-CN" altLang="en-US"/>
              <a:t>串并转换</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00" name="Text Box 4"/>
          <p:cNvSpPr txBox="1"/>
          <p:nvPr/>
        </p:nvSpPr>
        <p:spPr>
          <a:xfrm>
            <a:off x="611188" y="3357245"/>
            <a:ext cx="5212080" cy="460375"/>
          </a:xfrm>
          <a:prstGeom prst="rect">
            <a:avLst/>
          </a:prstGeom>
          <a:noFill/>
          <a:ln w="9525">
            <a:noFill/>
          </a:ln>
        </p:spPr>
        <p:txBody>
          <a:bodyPr wrap="none">
            <a:spAutoFit/>
          </a:bodyPr>
          <a:lstStyle/>
          <a:p>
            <a:r>
              <a:rPr lang="en-US" altLang="zh-CN" dirty="0">
                <a:solidFill>
                  <a:schemeClr val="accent2"/>
                </a:solidFill>
                <a:latin typeface="Times New Roman" panose="02020603050405020304" pitchFamily="18" charset="0"/>
              </a:rPr>
              <a:t>1</a:t>
            </a:r>
            <a:r>
              <a:rPr lang="zh-CN" altLang="en-US" dirty="0">
                <a:solidFill>
                  <a:schemeClr val="accent2"/>
                </a:solidFill>
                <a:latin typeface="Times New Roman" panose="02020603050405020304" pitchFamily="18" charset="0"/>
              </a:rPr>
              <a:t>、并联谐振回路（电感、电容并联）</a:t>
            </a:r>
            <a:endParaRPr lang="zh-CN" altLang="en-US" dirty="0">
              <a:solidFill>
                <a:schemeClr val="accent2"/>
              </a:solidFill>
              <a:latin typeface="Times New Roman" panose="02020603050405020304" pitchFamily="18" charset="0"/>
            </a:endParaRPr>
          </a:p>
        </p:txBody>
      </p:sp>
      <p:graphicFrame>
        <p:nvGraphicFramePr>
          <p:cNvPr id="106501" name="Object 5"/>
          <p:cNvGraphicFramePr>
            <a:graphicFrameLocks noGrp="1"/>
          </p:cNvGraphicFramePr>
          <p:nvPr>
            <p:ph sz="quarter" idx="1"/>
          </p:nvPr>
        </p:nvGraphicFramePr>
        <p:xfrm>
          <a:off x="1286193" y="3958590"/>
          <a:ext cx="1681162" cy="2592388"/>
        </p:xfrm>
        <a:graphic>
          <a:graphicData uri="http://schemas.openxmlformats.org/presentationml/2006/ole">
            <mc:AlternateContent xmlns:mc="http://schemas.openxmlformats.org/markup-compatibility/2006">
              <mc:Choice xmlns:v="urn:schemas-microsoft-com:vml" Requires="v">
                <p:oleObj spid="_x0000_s2" name="" r:id="rId1" imgW="699135" imgH="1066800" progId="Visio.Drawing.6">
                  <p:embed/>
                </p:oleObj>
              </mc:Choice>
              <mc:Fallback>
                <p:oleObj name="" r:id="rId1" imgW="699135" imgH="1066800" progId="Visio.Drawing.6">
                  <p:embed/>
                  <p:pic>
                    <p:nvPicPr>
                      <p:cNvPr id="0" name="图片 3088"/>
                      <p:cNvPicPr/>
                      <p:nvPr/>
                    </p:nvPicPr>
                    <p:blipFill>
                      <a:blip r:embed="rId2"/>
                      <a:stretch>
                        <a:fillRect/>
                      </a:stretch>
                    </p:blipFill>
                    <p:spPr>
                      <a:xfrm>
                        <a:off x="1286193" y="3958590"/>
                        <a:ext cx="1681162" cy="2592388"/>
                      </a:xfrm>
                      <a:prstGeom prst="rect">
                        <a:avLst/>
                      </a:prstGeom>
                      <a:noFill/>
                      <a:ln w="38100">
                        <a:noFill/>
                        <a:miter/>
                      </a:ln>
                    </p:spPr>
                  </p:pic>
                </p:oleObj>
              </mc:Fallback>
            </mc:AlternateContent>
          </a:graphicData>
        </a:graphic>
      </p:graphicFrame>
      <p:sp>
        <p:nvSpPr>
          <p:cNvPr id="106512" name="Text Box 16"/>
          <p:cNvSpPr txBox="1"/>
          <p:nvPr/>
        </p:nvSpPr>
        <p:spPr>
          <a:xfrm>
            <a:off x="2483803" y="3801745"/>
            <a:ext cx="1097280" cy="460375"/>
          </a:xfrm>
          <a:prstGeom prst="rect">
            <a:avLst/>
          </a:prstGeom>
          <a:noFill/>
          <a:ln w="9525">
            <a:noFill/>
          </a:ln>
        </p:spPr>
        <p:txBody>
          <a:bodyPr wrap="none">
            <a:spAutoFit/>
          </a:bodyPr>
          <a:lstStyle/>
          <a:p>
            <a:r>
              <a:rPr lang="zh-CN" altLang="en-US" dirty="0">
                <a:latin typeface="Times New Roman" panose="02020603050405020304" pitchFamily="18" charset="0"/>
              </a:rPr>
              <a:t>阻抗：</a:t>
            </a:r>
            <a:endParaRPr lang="zh-CN" altLang="en-US" dirty="0">
              <a:latin typeface="Times New Roman" panose="02020603050405020304" pitchFamily="18" charset="0"/>
            </a:endParaRPr>
          </a:p>
        </p:txBody>
      </p:sp>
      <p:graphicFrame>
        <p:nvGraphicFramePr>
          <p:cNvPr id="106513" name="Object 17"/>
          <p:cNvGraphicFramePr/>
          <p:nvPr/>
        </p:nvGraphicFramePr>
        <p:xfrm>
          <a:off x="6301105" y="3357245"/>
          <a:ext cx="2592388" cy="1597025"/>
        </p:xfrm>
        <a:graphic>
          <a:graphicData uri="http://schemas.openxmlformats.org/presentationml/2006/ole">
            <mc:AlternateContent xmlns:mc="http://schemas.openxmlformats.org/markup-compatibility/2006">
              <mc:Choice xmlns:v="urn:schemas-microsoft-com:vml" Requires="v">
                <p:oleObj spid="_x0000_s3" name="" r:id="rId3" imgW="1320165" imgH="812165" progId="Equation.DSMT4">
                  <p:embed/>
                </p:oleObj>
              </mc:Choice>
              <mc:Fallback>
                <p:oleObj name="" r:id="rId3" imgW="1320165" imgH="812165" progId="Equation.DSMT4">
                  <p:embed/>
                  <p:pic>
                    <p:nvPicPr>
                      <p:cNvPr id="0" name="图片 3086"/>
                      <p:cNvPicPr/>
                      <p:nvPr/>
                    </p:nvPicPr>
                    <p:blipFill>
                      <a:blip r:embed="rId4"/>
                      <a:stretch>
                        <a:fillRect/>
                      </a:stretch>
                    </p:blipFill>
                    <p:spPr>
                      <a:xfrm>
                        <a:off x="6301105" y="3357245"/>
                        <a:ext cx="2592388" cy="1597025"/>
                      </a:xfrm>
                      <a:prstGeom prst="rect">
                        <a:avLst/>
                      </a:prstGeom>
                      <a:noFill/>
                      <a:ln w="38100">
                        <a:noFill/>
                        <a:miter/>
                      </a:ln>
                    </p:spPr>
                  </p:pic>
                </p:oleObj>
              </mc:Fallback>
            </mc:AlternateContent>
          </a:graphicData>
        </a:graphic>
      </p:graphicFrame>
      <p:grpSp>
        <p:nvGrpSpPr>
          <p:cNvPr id="4106" name="Group 28"/>
          <p:cNvGrpSpPr/>
          <p:nvPr/>
        </p:nvGrpSpPr>
        <p:grpSpPr>
          <a:xfrm>
            <a:off x="2339975" y="333375"/>
            <a:ext cx="5334000" cy="546100"/>
            <a:chOff x="1378" y="410"/>
            <a:chExt cx="3360" cy="344"/>
          </a:xfrm>
        </p:grpSpPr>
        <p:sp>
          <p:nvSpPr>
            <p:cNvPr id="4109" name="Rectangle 29"/>
            <p:cNvSpPr/>
            <p:nvPr/>
          </p:nvSpPr>
          <p:spPr>
            <a:xfrm>
              <a:off x="1378" y="410"/>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4110" name="Line 30"/>
            <p:cNvSpPr/>
            <p:nvPr/>
          </p:nvSpPr>
          <p:spPr>
            <a:xfrm>
              <a:off x="1474" y="754"/>
              <a:ext cx="3024" cy="0"/>
            </a:xfrm>
            <a:prstGeom prst="line">
              <a:avLst/>
            </a:prstGeom>
            <a:ln w="57150" cap="flat" cmpd="tri">
              <a:solidFill>
                <a:srgbClr val="FF00FF"/>
              </a:solidFill>
              <a:prstDash val="solid"/>
              <a:headEnd type="none" w="sm" len="sm"/>
              <a:tailEnd type="none" w="sm" len="sm"/>
            </a:ln>
          </p:spPr>
        </p:sp>
      </p:grpSp>
      <p:sp>
        <p:nvSpPr>
          <p:cNvPr id="4108" name="Text Box 32"/>
          <p:cNvSpPr txBox="1"/>
          <p:nvPr/>
        </p:nvSpPr>
        <p:spPr>
          <a:xfrm>
            <a:off x="179388" y="981075"/>
            <a:ext cx="2783840" cy="460375"/>
          </a:xfrm>
          <a:prstGeom prst="rect">
            <a:avLst/>
          </a:prstGeom>
          <a:noFill/>
          <a:ln w="9525">
            <a:noFill/>
          </a:ln>
        </p:spPr>
        <p:txBody>
          <a:bodyPr wrap="none">
            <a:spAutoFit/>
          </a:bodyPr>
          <a:lstStyle/>
          <a:p>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二、高频振荡回路</a:t>
            </a:r>
            <a:endParaRPr lang="zh-CN" altLang="en-US" b="1" dirty="0">
              <a:solidFill>
                <a:srgbClr val="FF0066"/>
              </a:solidFill>
              <a:latin typeface="Times New Roman" panose="02020603050405020304" pitchFamily="18" charset="0"/>
            </a:endParaRPr>
          </a:p>
        </p:txBody>
      </p:sp>
      <p:graphicFrame>
        <p:nvGraphicFramePr>
          <p:cNvPr id="106529" name="Object 33"/>
          <p:cNvGraphicFramePr/>
          <p:nvPr/>
        </p:nvGraphicFramePr>
        <p:xfrm>
          <a:off x="4428490" y="5170170"/>
          <a:ext cx="4392613" cy="1535113"/>
        </p:xfrm>
        <a:graphic>
          <a:graphicData uri="http://schemas.openxmlformats.org/presentationml/2006/ole">
            <mc:AlternateContent xmlns:mc="http://schemas.openxmlformats.org/markup-compatibility/2006">
              <mc:Choice xmlns:v="urn:schemas-microsoft-com:vml" Requires="v">
                <p:oleObj spid="_x0000_s4" name="" r:id="rId5" imgW="2221230" imgH="774065" progId="Equation.DSMT4">
                  <p:embed/>
                </p:oleObj>
              </mc:Choice>
              <mc:Fallback>
                <p:oleObj name="" r:id="rId5" imgW="2221230" imgH="774065" progId="Equation.DSMT4">
                  <p:embed/>
                  <p:pic>
                    <p:nvPicPr>
                      <p:cNvPr id="0" name="图片 3087"/>
                      <p:cNvPicPr/>
                      <p:nvPr/>
                    </p:nvPicPr>
                    <p:blipFill>
                      <a:blip r:embed="rId6"/>
                      <a:stretch>
                        <a:fillRect/>
                      </a:stretch>
                    </p:blipFill>
                    <p:spPr>
                      <a:xfrm>
                        <a:off x="4428490" y="5170170"/>
                        <a:ext cx="4392613" cy="1535113"/>
                      </a:xfrm>
                      <a:prstGeom prst="rect">
                        <a:avLst/>
                      </a:prstGeom>
                      <a:noFill/>
                      <a:ln w="38100">
                        <a:noFill/>
                        <a:miter/>
                      </a:ln>
                    </p:spPr>
                  </p:pic>
                </p:oleObj>
              </mc:Fallback>
            </mc:AlternateContent>
          </a:graphicData>
        </a:graphic>
      </p:graphicFrame>
      <p:sp>
        <p:nvSpPr>
          <p:cNvPr id="9226" name="Text Box 10"/>
          <p:cNvSpPr txBox="1"/>
          <p:nvPr/>
        </p:nvSpPr>
        <p:spPr>
          <a:xfrm>
            <a:off x="709613" y="2526983"/>
            <a:ext cx="7653337" cy="829945"/>
          </a:xfrm>
          <a:prstGeom prst="rect">
            <a:avLst/>
          </a:prstGeom>
          <a:noFill/>
          <a:ln w="9525">
            <a:noFill/>
          </a:ln>
        </p:spPr>
        <p:txBody>
          <a:bodyPr>
            <a:spAutoFit/>
          </a:bodyPr>
          <a:lstStyle/>
          <a:p>
            <a:r>
              <a:rPr lang="zh-CN" altLang="en-US" dirty="0">
                <a:latin typeface="Times New Roman" panose="02020603050405020304" pitchFamily="18" charset="0"/>
              </a:rPr>
              <a:t>只有一个回路的</a:t>
            </a:r>
            <a:r>
              <a:rPr lang="zh-CN" altLang="en-US" dirty="0">
                <a:solidFill>
                  <a:schemeClr val="tx1"/>
                </a:solidFill>
                <a:sym typeface="+mn-ea"/>
              </a:rPr>
              <a:t>振</a:t>
            </a:r>
            <a:r>
              <a:rPr lang="zh-CN" altLang="en-US" dirty="0">
                <a:latin typeface="Times New Roman" panose="02020603050405020304" pitchFamily="18" charset="0"/>
              </a:rPr>
              <a:t>荡电路称为简单</a:t>
            </a:r>
            <a:r>
              <a:rPr lang="zh-CN" altLang="en-US" dirty="0">
                <a:sym typeface="+mn-ea"/>
              </a:rPr>
              <a:t>振荡</a:t>
            </a:r>
            <a:r>
              <a:rPr lang="zh-CN" altLang="en-US" dirty="0">
                <a:latin typeface="Times New Roman" panose="02020603050405020304" pitchFamily="18" charset="0"/>
              </a:rPr>
              <a:t>回路或单谐振回路，有</a:t>
            </a:r>
            <a:r>
              <a:rPr lang="zh-CN" altLang="en-US" dirty="0">
                <a:solidFill>
                  <a:srgbClr val="FF0066"/>
                </a:solidFill>
                <a:latin typeface="Times New Roman" panose="02020603050405020304" pitchFamily="18" charset="0"/>
              </a:rPr>
              <a:t>串联谐振回路</a:t>
            </a:r>
            <a:r>
              <a:rPr lang="zh-CN" altLang="en-US" dirty="0">
                <a:latin typeface="Times New Roman" panose="02020603050405020304" pitchFamily="18" charset="0"/>
              </a:rPr>
              <a:t>和</a:t>
            </a:r>
            <a:r>
              <a:rPr lang="zh-CN" altLang="en-US" dirty="0">
                <a:solidFill>
                  <a:srgbClr val="FF0066"/>
                </a:solidFill>
                <a:latin typeface="Times New Roman" panose="02020603050405020304" pitchFamily="18" charset="0"/>
              </a:rPr>
              <a:t>并联</a:t>
            </a:r>
            <a:r>
              <a:rPr lang="zh-CN" altLang="en-US" dirty="0">
                <a:solidFill>
                  <a:srgbClr val="FF0066"/>
                </a:solidFill>
                <a:sym typeface="+mn-ea"/>
              </a:rPr>
              <a:t>谐振</a:t>
            </a:r>
            <a:r>
              <a:rPr lang="zh-CN" altLang="en-US" dirty="0">
                <a:solidFill>
                  <a:srgbClr val="FF0066"/>
                </a:solidFill>
                <a:latin typeface="Times New Roman" panose="02020603050405020304" pitchFamily="18" charset="0"/>
              </a:rPr>
              <a:t>回路</a:t>
            </a:r>
            <a:r>
              <a:rPr lang="zh-CN" altLang="en-US" dirty="0">
                <a:latin typeface="Times New Roman" panose="02020603050405020304" pitchFamily="18" charset="0"/>
              </a:rPr>
              <a:t>两种。</a:t>
            </a:r>
            <a:endParaRPr lang="zh-CN" altLang="en-US" dirty="0">
              <a:latin typeface="Times New Roman" panose="02020603050405020304" pitchFamily="18" charset="0"/>
            </a:endParaRPr>
          </a:p>
        </p:txBody>
      </p:sp>
      <p:sp>
        <p:nvSpPr>
          <p:cNvPr id="5" name="矩形标注 4"/>
          <p:cNvSpPr/>
          <p:nvPr/>
        </p:nvSpPr>
        <p:spPr>
          <a:xfrm>
            <a:off x="2693035" y="5555615"/>
            <a:ext cx="905510" cy="576580"/>
          </a:xfrm>
          <a:prstGeom prst="wedgeRectCallout">
            <a:avLst>
              <a:gd name="adj1" fmla="val -40603"/>
              <a:gd name="adj2" fmla="val -92841"/>
            </a:avLst>
          </a:prstGeom>
          <a:solidFill>
            <a:schemeClr val="accent1">
              <a:alpha val="34000"/>
            </a:schemeClr>
          </a:solidFill>
          <a:ln w="28575" cap="flat" cmpd="dbl" algn="ctr">
            <a:solidFill>
              <a:schemeClr val="accent1">
                <a:shade val="50000"/>
              </a:schemeClr>
            </a:solidFill>
            <a:prstDash val="sysDot"/>
            <a:round/>
            <a:headEnd type="none" w="med" len="med"/>
            <a:tailEnd type="none" w="med" len="med"/>
          </a:ln>
        </p:spPr>
        <p:txBody>
          <a:bodyPr vert="horz" wrap="square" lIns="91440" tIns="45720" rIns="91440" bIns="45720" numCol="1" anchor="t" anchorCtr="0" compatLnSpc="1"/>
          <a:lstStyle/>
          <a:p>
            <a:pPr marL="0" marR="0" indent="0" algn="ctr" defTabSz="914400" rtl="0" eaLnBrk="1" fontAlgn="base" latinLnBrk="0" hangingPunct="1">
              <a:lnSpc>
                <a:spcPct val="120000"/>
              </a:lnSpc>
              <a:spcBef>
                <a:spcPct val="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电容</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6" name="矩形标注 5"/>
          <p:cNvSpPr/>
          <p:nvPr/>
        </p:nvSpPr>
        <p:spPr>
          <a:xfrm>
            <a:off x="179705" y="4377690"/>
            <a:ext cx="905510" cy="576580"/>
          </a:xfrm>
          <a:prstGeom prst="wedgeRectCallout">
            <a:avLst>
              <a:gd name="adj1" fmla="val 75806"/>
              <a:gd name="adj2" fmla="val 53634"/>
            </a:avLst>
          </a:prstGeom>
          <a:solidFill>
            <a:schemeClr val="accent1">
              <a:alpha val="34000"/>
            </a:schemeClr>
          </a:solidFill>
          <a:ln w="28575" cap="flat" cmpd="dbl" algn="ctr">
            <a:solidFill>
              <a:schemeClr val="accent1">
                <a:shade val="50000"/>
              </a:schemeClr>
            </a:solidFill>
            <a:prstDash val="sysDot"/>
            <a:round/>
            <a:headEnd type="none" w="med" len="med"/>
            <a:tailEnd type="none" w="med" len="med"/>
          </a:ln>
        </p:spPr>
        <p:txBody>
          <a:bodyPr vert="horz" wrap="square" lIns="91440" tIns="45720" rIns="91440" bIns="45720" numCol="1" anchor="t" anchorCtr="0" compatLnSpc="1"/>
          <a:lstStyle/>
          <a:p>
            <a:pPr marL="0" marR="0" indent="0" algn="ctr" defTabSz="914400" rtl="0" eaLnBrk="1" fontAlgn="base" latinLnBrk="0" hangingPunct="1">
              <a:lnSpc>
                <a:spcPct val="120000"/>
              </a:lnSpc>
              <a:spcBef>
                <a:spcPct val="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电感</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7" name="矩形标注 6"/>
          <p:cNvSpPr/>
          <p:nvPr/>
        </p:nvSpPr>
        <p:spPr>
          <a:xfrm>
            <a:off x="179705" y="5480685"/>
            <a:ext cx="905510" cy="727710"/>
          </a:xfrm>
          <a:prstGeom prst="wedgeRectCallout">
            <a:avLst>
              <a:gd name="adj1" fmla="val 68793"/>
              <a:gd name="adj2" fmla="val -23472"/>
            </a:avLst>
          </a:prstGeom>
          <a:solidFill>
            <a:schemeClr val="accent1">
              <a:alpha val="34000"/>
            </a:schemeClr>
          </a:solidFill>
          <a:ln w="28575" cap="flat" cmpd="dbl" algn="ctr">
            <a:solidFill>
              <a:schemeClr val="accent1">
                <a:shade val="50000"/>
              </a:schemeClr>
            </a:solidFill>
            <a:prstDash val="sysDot"/>
            <a:round/>
            <a:headEnd type="none" w="med" len="med"/>
            <a:tailEnd type="none" w="med" len="med"/>
          </a:ln>
        </p:spPr>
        <p:txBody>
          <a:bodyPr vert="horz" wrap="square" lIns="91440" tIns="45720" rIns="91440" bIns="45720" numCol="1" anchor="t" anchorCtr="0" compatLnSpc="1"/>
          <a:lstStyle/>
          <a:p>
            <a:pPr marL="0" marR="0" indent="0" algn="ctr" defTabSz="914400" rtl="0" eaLnBrk="1" fontAlgn="base" latinLnBrk="0" hangingPunct="1">
              <a:lnSpc>
                <a:spcPct val="90000"/>
              </a:lnSpc>
              <a:spcBef>
                <a:spcPct val="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损耗电阻</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graphicFrame>
        <p:nvGraphicFramePr>
          <p:cNvPr id="8" name="对象 7">
            <a:hlinkClick r:id="" action="ppaction://ole?verb=0"/>
          </p:cNvPr>
          <p:cNvGraphicFramePr>
            <a:graphicFrameLocks noChangeAspect="1"/>
          </p:cNvGraphicFramePr>
          <p:nvPr/>
        </p:nvGraphicFramePr>
        <p:xfrm>
          <a:off x="3348355" y="3665220"/>
          <a:ext cx="2676525" cy="817880"/>
        </p:xfrm>
        <a:graphic>
          <a:graphicData uri="http://schemas.openxmlformats.org/presentationml/2006/ole">
            <mc:AlternateContent xmlns:mc="http://schemas.openxmlformats.org/markup-compatibility/2006">
              <mc:Choice xmlns:v="urn:schemas-microsoft-com:vml" Requires="v">
                <p:oleObj spid="_x0000_s9" name="" r:id="rId7" imgW="1371600" imgH="419100" progId="Equation.KSEE3">
                  <p:embed/>
                </p:oleObj>
              </mc:Choice>
              <mc:Fallback>
                <p:oleObj name="" r:id="rId7" imgW="1371600" imgH="419100" progId="Equation.KSEE3">
                  <p:embed/>
                  <p:pic>
                    <p:nvPicPr>
                      <p:cNvPr id="0" name="图片 1024"/>
                      <p:cNvPicPr/>
                      <p:nvPr/>
                    </p:nvPicPr>
                    <p:blipFill>
                      <a:blip r:embed="rId8"/>
                      <a:stretch>
                        <a:fillRect/>
                      </a:stretch>
                    </p:blipFill>
                    <p:spPr>
                      <a:xfrm>
                        <a:off x="3348355" y="3665220"/>
                        <a:ext cx="2676525" cy="817880"/>
                      </a:xfrm>
                      <a:prstGeom prst="rect">
                        <a:avLst/>
                      </a:prstGeom>
                    </p:spPr>
                  </p:pic>
                </p:oleObj>
              </mc:Fallback>
            </mc:AlternateContent>
          </a:graphicData>
        </a:graphic>
      </p:graphicFrame>
      <p:sp>
        <p:nvSpPr>
          <p:cNvPr id="11" name="右箭头 10"/>
          <p:cNvSpPr/>
          <p:nvPr/>
        </p:nvSpPr>
        <p:spPr>
          <a:xfrm>
            <a:off x="6054725" y="3945890"/>
            <a:ext cx="216535" cy="288290"/>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9225" name="Text Box 9"/>
          <p:cNvSpPr txBox="1"/>
          <p:nvPr/>
        </p:nvSpPr>
        <p:spPr>
          <a:xfrm>
            <a:off x="709613" y="1393508"/>
            <a:ext cx="7724775" cy="1198880"/>
          </a:xfrm>
          <a:prstGeom prst="rect">
            <a:avLst/>
          </a:prstGeom>
          <a:noFill/>
          <a:ln w="9525">
            <a:noFill/>
          </a:ln>
        </p:spPr>
        <p:txBody>
          <a:bodyPr>
            <a:spAutoFit/>
          </a:bodyPr>
          <a:lstStyle/>
          <a:p>
            <a:r>
              <a:rPr lang="zh-CN" altLang="en-US" dirty="0">
                <a:latin typeface="Times New Roman" panose="02020603050405020304" pitchFamily="18" charset="0"/>
              </a:rPr>
              <a:t>高频振荡回落有</a:t>
            </a:r>
            <a:r>
              <a:rPr lang="zh-CN" altLang="en-US" dirty="0">
                <a:solidFill>
                  <a:srgbClr val="FF0066"/>
                </a:solidFill>
                <a:latin typeface="Times New Roman" panose="02020603050405020304" pitchFamily="18" charset="0"/>
              </a:rPr>
              <a:t>简单</a:t>
            </a:r>
            <a:r>
              <a:rPr lang="zh-CN" altLang="en-US" dirty="0">
                <a:solidFill>
                  <a:srgbClr val="FF0066"/>
                </a:solidFill>
                <a:sym typeface="+mn-ea"/>
              </a:rPr>
              <a:t>振</a:t>
            </a:r>
            <a:r>
              <a:rPr lang="zh-CN" altLang="en-US" dirty="0">
                <a:solidFill>
                  <a:srgbClr val="FF0066"/>
                </a:solidFill>
                <a:latin typeface="Times New Roman" panose="02020603050405020304" pitchFamily="18" charset="0"/>
              </a:rPr>
              <a:t>荡回路</a:t>
            </a:r>
            <a:r>
              <a:rPr lang="zh-CN" altLang="en-US" dirty="0">
                <a:latin typeface="Times New Roman" panose="02020603050405020304" pitchFamily="18" charset="0"/>
              </a:rPr>
              <a:t>、</a:t>
            </a:r>
            <a:r>
              <a:rPr lang="zh-CN" altLang="en-US" dirty="0">
                <a:solidFill>
                  <a:srgbClr val="FF0066"/>
                </a:solidFill>
                <a:latin typeface="Times New Roman" panose="02020603050405020304" pitchFamily="18" charset="0"/>
              </a:rPr>
              <a:t>抽头并联</a:t>
            </a:r>
            <a:r>
              <a:rPr lang="zh-CN" altLang="en-US" dirty="0">
                <a:sym typeface="+mn-ea"/>
              </a:rPr>
              <a:t>振</a:t>
            </a:r>
            <a:r>
              <a:rPr lang="zh-CN" altLang="en-US" dirty="0">
                <a:solidFill>
                  <a:srgbClr val="FF0066"/>
                </a:solidFill>
                <a:latin typeface="Times New Roman" panose="02020603050405020304" pitchFamily="18" charset="0"/>
              </a:rPr>
              <a:t>荡回路</a:t>
            </a:r>
            <a:r>
              <a:rPr lang="zh-CN" altLang="en-US" dirty="0">
                <a:latin typeface="Times New Roman" panose="02020603050405020304" pitchFamily="18" charset="0"/>
              </a:rPr>
              <a:t>和</a:t>
            </a:r>
            <a:r>
              <a:rPr lang="zh-CN" altLang="en-US" dirty="0">
                <a:solidFill>
                  <a:srgbClr val="FF0066"/>
                </a:solidFill>
                <a:latin typeface="Times New Roman" panose="02020603050405020304" pitchFamily="18" charset="0"/>
              </a:rPr>
              <a:t>耦合</a:t>
            </a:r>
            <a:r>
              <a:rPr lang="zh-CN" altLang="en-US" dirty="0">
                <a:sym typeface="+mn-ea"/>
              </a:rPr>
              <a:t>振</a:t>
            </a:r>
            <a:r>
              <a:rPr lang="zh-CN" altLang="en-US" dirty="0">
                <a:solidFill>
                  <a:srgbClr val="FF0066"/>
                </a:solidFill>
                <a:latin typeface="Times New Roman" panose="02020603050405020304" pitchFamily="18" charset="0"/>
              </a:rPr>
              <a:t>荡回路</a:t>
            </a:r>
            <a:r>
              <a:rPr lang="zh-CN" altLang="en-US" dirty="0">
                <a:latin typeface="Times New Roman" panose="02020603050405020304" pitchFamily="18" charset="0"/>
              </a:rPr>
              <a:t>。完成</a:t>
            </a:r>
            <a:r>
              <a:rPr lang="zh-CN" altLang="en-US" dirty="0">
                <a:solidFill>
                  <a:srgbClr val="FF0066"/>
                </a:solidFill>
                <a:latin typeface="Times New Roman" panose="02020603050405020304" pitchFamily="18" charset="0"/>
              </a:rPr>
              <a:t>阻抗变换</a:t>
            </a:r>
            <a:r>
              <a:rPr lang="zh-CN" altLang="en-US" dirty="0">
                <a:latin typeface="Times New Roman" panose="02020603050405020304" pitchFamily="18" charset="0"/>
              </a:rPr>
              <a:t>，</a:t>
            </a:r>
            <a:r>
              <a:rPr lang="zh-CN" altLang="en-US" dirty="0">
                <a:solidFill>
                  <a:srgbClr val="FF0066"/>
                </a:solidFill>
                <a:latin typeface="Times New Roman" panose="02020603050405020304" pitchFamily="18" charset="0"/>
              </a:rPr>
              <a:t>信号选择与滤波，相频转换</a:t>
            </a:r>
            <a:r>
              <a:rPr lang="zh-CN" altLang="en-US" dirty="0">
                <a:latin typeface="Times New Roman" panose="02020603050405020304" pitchFamily="18" charset="0"/>
              </a:rPr>
              <a:t>和</a:t>
            </a:r>
            <a:r>
              <a:rPr lang="zh-CN" altLang="en-US" dirty="0">
                <a:solidFill>
                  <a:srgbClr val="FF0066"/>
                </a:solidFill>
                <a:latin typeface="Times New Roman" panose="02020603050405020304" pitchFamily="18" charset="0"/>
              </a:rPr>
              <a:t>移相</a:t>
            </a:r>
            <a:r>
              <a:rPr lang="zh-CN" altLang="en-US" dirty="0">
                <a:latin typeface="Times New Roman" panose="02020603050405020304" pitchFamily="18" charset="0"/>
              </a:rPr>
              <a:t>等功能</a:t>
            </a:r>
            <a:endParaRPr lang="zh-CN" altLang="en-US" dirty="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p:nvPr/>
        </p:nvGrpSpPr>
        <p:grpSpPr>
          <a:xfrm>
            <a:off x="420688" y="3428683"/>
            <a:ext cx="8108950" cy="865187"/>
            <a:chOff x="373" y="2840"/>
            <a:chExt cx="5108" cy="545"/>
          </a:xfrm>
        </p:grpSpPr>
        <p:sp>
          <p:nvSpPr>
            <p:cNvPr id="5135" name="Text Box 5"/>
            <p:cNvSpPr txBox="1"/>
            <p:nvPr/>
          </p:nvSpPr>
          <p:spPr>
            <a:xfrm>
              <a:off x="373" y="2853"/>
              <a:ext cx="5108" cy="518"/>
            </a:xfrm>
            <a:prstGeom prst="rect">
              <a:avLst/>
            </a:prstGeom>
            <a:noFill/>
            <a:ln w="9525">
              <a:noFill/>
            </a:ln>
          </p:spPr>
          <p:txBody>
            <a:bodyPr wrap="none">
              <a:spAutoFit/>
            </a:bodyPr>
            <a:lstStyle/>
            <a:p>
              <a:r>
                <a:rPr lang="zh-CN" altLang="en-US" dirty="0">
                  <a:solidFill>
                    <a:srgbClr val="FF0066"/>
                  </a:solidFill>
                  <a:latin typeface="Times New Roman" panose="02020603050405020304" pitchFamily="18" charset="0"/>
                </a:rPr>
                <a:t>定义：</a:t>
              </a:r>
              <a:r>
                <a:rPr lang="zh-CN" altLang="en-US" dirty="0">
                  <a:latin typeface="Times New Roman" panose="02020603050405020304" pitchFamily="18" charset="0"/>
                </a:rPr>
                <a:t>使感抗与容抗相等的频率为</a:t>
              </a:r>
              <a:r>
                <a:rPr lang="zh-CN" altLang="en-US" dirty="0">
                  <a:solidFill>
                    <a:srgbClr val="FF0066"/>
                  </a:solidFill>
                  <a:latin typeface="Times New Roman" panose="02020603050405020304" pitchFamily="18" charset="0"/>
                </a:rPr>
                <a:t>并联谐振频率        ，即令</a:t>
              </a:r>
              <a:endParaRPr lang="zh-CN" altLang="en-US" dirty="0">
                <a:solidFill>
                  <a:srgbClr val="FF0066"/>
                </a:solidFill>
                <a:latin typeface="Times New Roman" panose="02020603050405020304" pitchFamily="18" charset="0"/>
              </a:endParaRPr>
            </a:p>
            <a:p>
              <a:r>
                <a:rPr lang="zh-CN" altLang="en-US" dirty="0">
                  <a:solidFill>
                    <a:srgbClr val="FF0066"/>
                  </a:solidFill>
                  <a:latin typeface="Times New Roman" panose="02020603050405020304" pitchFamily="18" charset="0"/>
                </a:rPr>
                <a:t>                    </a:t>
              </a:r>
              <a:r>
                <a:rPr lang="zh-CN" altLang="en-US" dirty="0">
                  <a:latin typeface="Times New Roman" panose="02020603050405020304" pitchFamily="18" charset="0"/>
                </a:rPr>
                <a:t>的虚部为</a:t>
              </a:r>
              <a:r>
                <a:rPr lang="en-US" altLang="zh-CN" dirty="0">
                  <a:latin typeface="Times New Roman" panose="02020603050405020304" pitchFamily="18" charset="0"/>
                </a:rPr>
                <a:t>0</a:t>
              </a:r>
              <a:r>
                <a:rPr lang="zh-CN" altLang="en-US" dirty="0">
                  <a:latin typeface="Times New Roman" panose="02020603050405020304" pitchFamily="18" charset="0"/>
                </a:rPr>
                <a:t>，则有：</a:t>
              </a:r>
              <a:endParaRPr lang="zh-CN" altLang="en-US" dirty="0">
                <a:latin typeface="Times New Roman" panose="02020603050405020304" pitchFamily="18" charset="0"/>
              </a:endParaRPr>
            </a:p>
          </p:txBody>
        </p:sp>
        <p:graphicFrame>
          <p:nvGraphicFramePr>
            <p:cNvPr id="5124" name="Object 6"/>
            <p:cNvGraphicFramePr/>
            <p:nvPr/>
          </p:nvGraphicFramePr>
          <p:xfrm>
            <a:off x="4468" y="2840"/>
            <a:ext cx="265" cy="318"/>
          </p:xfrm>
          <a:graphic>
            <a:graphicData uri="http://schemas.openxmlformats.org/presentationml/2006/ole">
              <mc:AlternateContent xmlns:mc="http://schemas.openxmlformats.org/markup-compatibility/2006">
                <mc:Choice xmlns:v="urn:schemas-microsoft-com:vml" Requires="v">
                  <p:oleObj spid="_x0000_s3" name="" r:id="rId1" imgW="190500" imgH="228600" progId="Equation.DSMT4">
                    <p:embed/>
                  </p:oleObj>
                </mc:Choice>
                <mc:Fallback>
                  <p:oleObj name="" r:id="rId1" imgW="190500" imgH="228600" progId="Equation.DSMT4">
                    <p:embed/>
                    <p:pic>
                      <p:nvPicPr>
                        <p:cNvPr id="0" name="图片 3083"/>
                        <p:cNvPicPr/>
                        <p:nvPr/>
                      </p:nvPicPr>
                      <p:blipFill>
                        <a:blip r:embed="rId2"/>
                        <a:stretch>
                          <a:fillRect/>
                        </a:stretch>
                      </p:blipFill>
                      <p:spPr>
                        <a:xfrm>
                          <a:off x="4468" y="2840"/>
                          <a:ext cx="265" cy="318"/>
                        </a:xfrm>
                        <a:prstGeom prst="rect">
                          <a:avLst/>
                        </a:prstGeom>
                        <a:noFill/>
                        <a:ln w="38100">
                          <a:noFill/>
                          <a:miter/>
                        </a:ln>
                      </p:spPr>
                    </p:pic>
                  </p:oleObj>
                </mc:Fallback>
              </mc:AlternateContent>
            </a:graphicData>
          </a:graphic>
        </p:graphicFrame>
        <p:graphicFrame>
          <p:nvGraphicFramePr>
            <p:cNvPr id="5125" name="Object 7"/>
            <p:cNvGraphicFramePr/>
            <p:nvPr/>
          </p:nvGraphicFramePr>
          <p:xfrm>
            <a:off x="1111" y="3113"/>
            <a:ext cx="229" cy="272"/>
          </p:xfrm>
          <a:graphic>
            <a:graphicData uri="http://schemas.openxmlformats.org/presentationml/2006/ole">
              <mc:AlternateContent xmlns:mc="http://schemas.openxmlformats.org/markup-compatibility/2006">
                <mc:Choice xmlns:v="urn:schemas-microsoft-com:vml" Requires="v">
                  <p:oleObj spid="_x0000_s4" name="" r:id="rId3" imgW="203200" imgH="241300" progId="Equation.DSMT4">
                    <p:embed/>
                  </p:oleObj>
                </mc:Choice>
                <mc:Fallback>
                  <p:oleObj name="" r:id="rId3" imgW="203200" imgH="241300" progId="Equation.DSMT4">
                    <p:embed/>
                    <p:pic>
                      <p:nvPicPr>
                        <p:cNvPr id="0" name="图片 3082"/>
                        <p:cNvPicPr/>
                        <p:nvPr/>
                      </p:nvPicPr>
                      <p:blipFill>
                        <a:blip r:embed="rId4"/>
                        <a:stretch>
                          <a:fillRect/>
                        </a:stretch>
                      </p:blipFill>
                      <p:spPr>
                        <a:xfrm>
                          <a:off x="1111" y="3113"/>
                          <a:ext cx="229" cy="272"/>
                        </a:xfrm>
                        <a:prstGeom prst="rect">
                          <a:avLst/>
                        </a:prstGeom>
                        <a:noFill/>
                        <a:ln w="38100">
                          <a:noFill/>
                          <a:miter/>
                        </a:ln>
                      </p:spPr>
                    </p:pic>
                  </p:oleObj>
                </mc:Fallback>
              </mc:AlternateContent>
            </a:graphicData>
          </a:graphic>
        </p:graphicFrame>
      </p:grpSp>
      <p:grpSp>
        <p:nvGrpSpPr>
          <p:cNvPr id="5" name="Group 8"/>
          <p:cNvGrpSpPr/>
          <p:nvPr/>
        </p:nvGrpSpPr>
        <p:grpSpPr>
          <a:xfrm>
            <a:off x="2555558" y="4508818"/>
            <a:ext cx="4384675" cy="981075"/>
            <a:chOff x="1791" y="3430"/>
            <a:chExt cx="2981" cy="649"/>
          </a:xfrm>
        </p:grpSpPr>
        <p:graphicFrame>
          <p:nvGraphicFramePr>
            <p:cNvPr id="5123" name="Object 9"/>
            <p:cNvGraphicFramePr/>
            <p:nvPr/>
          </p:nvGraphicFramePr>
          <p:xfrm>
            <a:off x="1791" y="3430"/>
            <a:ext cx="1753" cy="649"/>
          </p:xfrm>
          <a:graphic>
            <a:graphicData uri="http://schemas.openxmlformats.org/presentationml/2006/ole">
              <mc:AlternateContent xmlns:mc="http://schemas.openxmlformats.org/markup-compatibility/2006">
                <mc:Choice xmlns:v="urn:schemas-microsoft-com:vml" Requires="v">
                  <p:oleObj spid="_x0000_s6" name="" r:id="rId5" imgW="1269365" imgH="469900" progId="Equation.DSMT4">
                    <p:embed/>
                  </p:oleObj>
                </mc:Choice>
                <mc:Fallback>
                  <p:oleObj name="" r:id="rId5" imgW="1269365" imgH="469900" progId="Equation.DSMT4">
                    <p:embed/>
                    <p:pic>
                      <p:nvPicPr>
                        <p:cNvPr id="0" name="图片 3084"/>
                        <p:cNvPicPr/>
                        <p:nvPr/>
                      </p:nvPicPr>
                      <p:blipFill>
                        <a:blip r:embed="rId6"/>
                        <a:stretch>
                          <a:fillRect/>
                        </a:stretch>
                      </p:blipFill>
                      <p:spPr>
                        <a:xfrm>
                          <a:off x="1791" y="3430"/>
                          <a:ext cx="1753" cy="649"/>
                        </a:xfrm>
                        <a:prstGeom prst="rect">
                          <a:avLst/>
                        </a:prstGeom>
                        <a:noFill/>
                        <a:ln w="38100">
                          <a:noFill/>
                          <a:miter/>
                        </a:ln>
                      </p:spPr>
                    </p:pic>
                  </p:oleObj>
                </mc:Fallback>
              </mc:AlternateContent>
            </a:graphicData>
          </a:graphic>
        </p:graphicFrame>
        <p:sp>
          <p:nvSpPr>
            <p:cNvPr id="5134" name="Text Box 10"/>
            <p:cNvSpPr txBox="1"/>
            <p:nvPr/>
          </p:nvSpPr>
          <p:spPr>
            <a:xfrm>
              <a:off x="3956" y="3624"/>
              <a:ext cx="816" cy="303"/>
            </a:xfrm>
            <a:prstGeom prst="rect">
              <a:avLst/>
            </a:prstGeom>
            <a:noFill/>
            <a:ln w="9525">
              <a:noFill/>
            </a:ln>
          </p:spPr>
          <p:txBody>
            <a:bodyPr wrap="none">
              <a:spAutoFit/>
            </a:bodyPr>
            <a:lstStyle/>
            <a:p>
              <a:r>
                <a:rPr lang="zh-CN" altLang="en-US" dirty="0">
                  <a:latin typeface="Times New Roman" panose="02020603050405020304" pitchFamily="18" charset="0"/>
                </a:rPr>
                <a:t>（</a:t>
              </a:r>
              <a:r>
                <a:rPr lang="en-US" altLang="zh-CN" dirty="0">
                  <a:latin typeface="Times New Roman" panose="02020603050405020304" pitchFamily="18" charset="0"/>
                </a:rPr>
                <a:t>2-2</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grpSp>
        <p:nvGrpSpPr>
          <p:cNvPr id="5129" name="Group 12"/>
          <p:cNvGrpSpPr/>
          <p:nvPr/>
        </p:nvGrpSpPr>
        <p:grpSpPr>
          <a:xfrm>
            <a:off x="2339975" y="354013"/>
            <a:ext cx="5334000" cy="546100"/>
            <a:chOff x="1378" y="410"/>
            <a:chExt cx="3360" cy="344"/>
          </a:xfrm>
        </p:grpSpPr>
        <p:sp>
          <p:nvSpPr>
            <p:cNvPr id="5132" name="Rectangle 13"/>
            <p:cNvSpPr/>
            <p:nvPr/>
          </p:nvSpPr>
          <p:spPr>
            <a:xfrm>
              <a:off x="1378" y="410"/>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5133" name="Line 14"/>
            <p:cNvSpPr/>
            <p:nvPr/>
          </p:nvSpPr>
          <p:spPr>
            <a:xfrm>
              <a:off x="1474" y="754"/>
              <a:ext cx="3024" cy="0"/>
            </a:xfrm>
            <a:prstGeom prst="line">
              <a:avLst/>
            </a:prstGeom>
            <a:ln w="57150" cap="flat" cmpd="tri">
              <a:solidFill>
                <a:srgbClr val="FF00FF"/>
              </a:solidFill>
              <a:prstDash val="solid"/>
              <a:headEnd type="none" w="sm" len="sm"/>
              <a:tailEnd type="none" w="sm" len="sm"/>
            </a:ln>
          </p:spPr>
        </p:sp>
      </p:grpSp>
      <p:graphicFrame>
        <p:nvGraphicFramePr>
          <p:cNvPr id="5122" name="Object 18"/>
          <p:cNvGraphicFramePr/>
          <p:nvPr/>
        </p:nvGraphicFramePr>
        <p:xfrm>
          <a:off x="2195830" y="1971040"/>
          <a:ext cx="3959225" cy="1384300"/>
        </p:xfrm>
        <a:graphic>
          <a:graphicData uri="http://schemas.openxmlformats.org/presentationml/2006/ole">
            <mc:AlternateContent xmlns:mc="http://schemas.openxmlformats.org/markup-compatibility/2006">
              <mc:Choice xmlns:v="urn:schemas-microsoft-com:vml" Requires="v">
                <p:oleObj spid="_x0000_s7" name="" r:id="rId7" imgW="2221230" imgH="774065" progId="Equation.DSMT4">
                  <p:embed/>
                </p:oleObj>
              </mc:Choice>
              <mc:Fallback>
                <p:oleObj name="" r:id="rId7" imgW="2221230" imgH="774065" progId="Equation.DSMT4">
                  <p:embed/>
                  <p:pic>
                    <p:nvPicPr>
                      <p:cNvPr id="0" name="图片 3090"/>
                      <p:cNvPicPr/>
                      <p:nvPr/>
                    </p:nvPicPr>
                    <p:blipFill>
                      <a:blip r:embed="rId8"/>
                      <a:stretch>
                        <a:fillRect/>
                      </a:stretch>
                    </p:blipFill>
                    <p:spPr>
                      <a:xfrm>
                        <a:off x="2195830" y="1971040"/>
                        <a:ext cx="3959225" cy="1384300"/>
                      </a:xfrm>
                      <a:prstGeom prst="rect">
                        <a:avLst/>
                      </a:prstGeom>
                      <a:noFill/>
                      <a:ln w="38100">
                        <a:noFill/>
                        <a:miter/>
                      </a:ln>
                    </p:spPr>
                  </p:pic>
                </p:oleObj>
              </mc:Fallback>
            </mc:AlternateContent>
          </a:graphicData>
        </a:graphic>
      </p:graphicFrame>
      <p:sp>
        <p:nvSpPr>
          <p:cNvPr id="4108" name="Text Box 32"/>
          <p:cNvSpPr txBox="1"/>
          <p:nvPr/>
        </p:nvSpPr>
        <p:spPr>
          <a:xfrm>
            <a:off x="179388" y="981075"/>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sp>
        <p:nvSpPr>
          <p:cNvPr id="106500" name="Text Box 4"/>
          <p:cNvSpPr txBox="1"/>
          <p:nvPr/>
        </p:nvSpPr>
        <p:spPr>
          <a:xfrm>
            <a:off x="611188" y="1438275"/>
            <a:ext cx="5212080" cy="460375"/>
          </a:xfrm>
          <a:prstGeom prst="rect">
            <a:avLst/>
          </a:prstGeom>
          <a:noFill/>
          <a:ln w="9525">
            <a:noFill/>
          </a:ln>
        </p:spPr>
        <p:txBody>
          <a:bodyPr wrap="none">
            <a:spAutoFit/>
          </a:bodyPr>
          <a:lstStyle/>
          <a:p>
            <a:r>
              <a:rPr lang="en-US" altLang="zh-CN" dirty="0">
                <a:solidFill>
                  <a:schemeClr val="accent2"/>
                </a:solidFill>
                <a:latin typeface="Times New Roman" panose="02020603050405020304" pitchFamily="18" charset="0"/>
              </a:rPr>
              <a:t>1</a:t>
            </a:r>
            <a:r>
              <a:rPr lang="zh-CN" altLang="en-US" dirty="0">
                <a:solidFill>
                  <a:schemeClr val="accent2"/>
                </a:solidFill>
                <a:latin typeface="Times New Roman" panose="02020603050405020304" pitchFamily="18" charset="0"/>
              </a:rPr>
              <a:t>、并联谐振回路（电感、电容并联）</a:t>
            </a:r>
            <a:endParaRPr lang="zh-CN" altLang="en-US" dirty="0">
              <a:solidFill>
                <a:schemeClr val="accent2"/>
              </a:solidFill>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标注 4"/>
          <p:cNvSpPr/>
          <p:nvPr/>
        </p:nvSpPr>
        <p:spPr>
          <a:xfrm>
            <a:off x="3514090" y="4193540"/>
            <a:ext cx="2765425" cy="850900"/>
          </a:xfrm>
          <a:prstGeom prst="wedgeRoundRectCallout">
            <a:avLst>
              <a:gd name="adj1" fmla="val -32800"/>
              <a:gd name="adj2" fmla="val 70352"/>
              <a:gd name="adj3" fmla="val 1666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19812" name="Text Box 4"/>
          <p:cNvSpPr txBox="1"/>
          <p:nvPr/>
        </p:nvSpPr>
        <p:spPr>
          <a:xfrm>
            <a:off x="1043623" y="1830388"/>
            <a:ext cx="2470150" cy="457200"/>
          </a:xfrm>
          <a:prstGeom prst="rect">
            <a:avLst/>
          </a:prstGeom>
          <a:noFill/>
          <a:ln w="9525">
            <a:noFill/>
          </a:ln>
        </p:spPr>
        <p:txBody>
          <a:bodyPr wrap="none">
            <a:spAutoFit/>
          </a:bodyPr>
          <a:lstStyle/>
          <a:p>
            <a:r>
              <a:rPr lang="zh-CN" altLang="en-US" dirty="0">
                <a:solidFill>
                  <a:srgbClr val="FF0066"/>
                </a:solidFill>
                <a:latin typeface="Times New Roman" panose="02020603050405020304" pitchFamily="18" charset="0"/>
              </a:rPr>
              <a:t>定义  </a:t>
            </a:r>
            <a:r>
              <a:rPr lang="en-US" altLang="zh-CN" dirty="0">
                <a:solidFill>
                  <a:srgbClr val="FF0066"/>
                </a:solidFill>
                <a:latin typeface="Times New Roman" panose="02020603050405020304" pitchFamily="18" charset="0"/>
              </a:rPr>
              <a:t>:</a:t>
            </a:r>
            <a:r>
              <a:rPr lang="zh-CN" altLang="en-US" dirty="0">
                <a:latin typeface="Times New Roman" panose="02020603050405020304" pitchFamily="18" charset="0"/>
              </a:rPr>
              <a:t>品质因素</a:t>
            </a:r>
            <a:r>
              <a:rPr lang="en-US" altLang="zh-CN" dirty="0">
                <a:latin typeface="Times New Roman" panose="02020603050405020304" pitchFamily="18" charset="0"/>
              </a:rPr>
              <a:t>Q</a:t>
            </a:r>
            <a:endParaRPr lang="en-US" altLang="zh-CN" dirty="0">
              <a:latin typeface="Times New Roman" panose="02020603050405020304" pitchFamily="18" charset="0"/>
            </a:endParaRPr>
          </a:p>
        </p:txBody>
      </p:sp>
      <p:graphicFrame>
        <p:nvGraphicFramePr>
          <p:cNvPr id="119813" name="Object 5"/>
          <p:cNvGraphicFramePr>
            <a:graphicFrameLocks noGrp="1"/>
          </p:cNvGraphicFramePr>
          <p:nvPr>
            <p:ph sz="quarter" idx="1"/>
          </p:nvPr>
        </p:nvGraphicFramePr>
        <p:xfrm>
          <a:off x="899478" y="2420620"/>
          <a:ext cx="1944370" cy="733425"/>
        </p:xfrm>
        <a:graphic>
          <a:graphicData uri="http://schemas.openxmlformats.org/presentationml/2006/ole">
            <mc:AlternateContent xmlns:mc="http://schemas.openxmlformats.org/markup-compatibility/2006">
              <mc:Choice xmlns:v="urn:schemas-microsoft-com:vml" Requires="v">
                <p:oleObj spid="_x0000_s2" name="" r:id="rId1" imgW="1143000" imgH="431800" progId="Equation.DSMT4">
                  <p:embed/>
                </p:oleObj>
              </mc:Choice>
              <mc:Fallback>
                <p:oleObj name="" r:id="rId1" imgW="1143000" imgH="431800" progId="Equation.DSMT4">
                  <p:embed/>
                  <p:pic>
                    <p:nvPicPr>
                      <p:cNvPr id="0" name="图片 3089"/>
                      <p:cNvPicPr/>
                      <p:nvPr/>
                    </p:nvPicPr>
                    <p:blipFill>
                      <a:blip r:embed="rId2"/>
                      <a:stretch>
                        <a:fillRect/>
                      </a:stretch>
                    </p:blipFill>
                    <p:spPr>
                      <a:xfrm>
                        <a:off x="899478" y="2420620"/>
                        <a:ext cx="1944370" cy="733425"/>
                      </a:xfrm>
                      <a:prstGeom prst="rect">
                        <a:avLst/>
                      </a:prstGeom>
                      <a:noFill/>
                      <a:ln w="38100">
                        <a:noFill/>
                        <a:miter/>
                      </a:ln>
                    </p:spPr>
                  </p:pic>
                </p:oleObj>
              </mc:Fallback>
            </mc:AlternateContent>
          </a:graphicData>
        </a:graphic>
      </p:graphicFrame>
      <p:graphicFrame>
        <p:nvGraphicFramePr>
          <p:cNvPr id="119820" name="Object 12"/>
          <p:cNvGraphicFramePr>
            <a:graphicFrameLocks noGrp="1"/>
          </p:cNvGraphicFramePr>
          <p:nvPr>
            <p:ph sz="quarter" idx="2"/>
          </p:nvPr>
        </p:nvGraphicFramePr>
        <p:xfrm>
          <a:off x="2916238" y="2347595"/>
          <a:ext cx="1800225" cy="774700"/>
        </p:xfrm>
        <a:graphic>
          <a:graphicData uri="http://schemas.openxmlformats.org/presentationml/2006/ole">
            <mc:AlternateContent xmlns:mc="http://schemas.openxmlformats.org/markup-compatibility/2006">
              <mc:Choice xmlns:v="urn:schemas-microsoft-com:vml" Requires="v">
                <p:oleObj spid="_x0000_s3" name="" r:id="rId3" imgW="913765" imgH="393700" progId="Equation.DSMT4">
                  <p:embed/>
                </p:oleObj>
              </mc:Choice>
              <mc:Fallback>
                <p:oleObj name="" r:id="rId3" imgW="913765" imgH="393700" progId="Equation.DSMT4">
                  <p:embed/>
                  <p:pic>
                    <p:nvPicPr>
                      <p:cNvPr id="0" name="图片 3102"/>
                      <p:cNvPicPr/>
                      <p:nvPr/>
                    </p:nvPicPr>
                    <p:blipFill>
                      <a:blip r:embed="rId4"/>
                      <a:stretch>
                        <a:fillRect/>
                      </a:stretch>
                    </p:blipFill>
                    <p:spPr>
                      <a:xfrm>
                        <a:off x="2916238" y="2347595"/>
                        <a:ext cx="1800225" cy="774700"/>
                      </a:xfrm>
                      <a:prstGeom prst="rect">
                        <a:avLst/>
                      </a:prstGeom>
                      <a:noFill/>
                      <a:ln w="38100">
                        <a:noFill/>
                        <a:miter/>
                      </a:ln>
                    </p:spPr>
                  </p:pic>
                </p:oleObj>
              </mc:Fallback>
            </mc:AlternateContent>
          </a:graphicData>
        </a:graphic>
      </p:graphicFrame>
      <p:graphicFrame>
        <p:nvGraphicFramePr>
          <p:cNvPr id="119883" name="Object 75"/>
          <p:cNvGraphicFramePr>
            <a:graphicFrameLocks noGrp="1"/>
          </p:cNvGraphicFramePr>
          <p:nvPr>
            <p:ph sz="quarter" idx="3"/>
          </p:nvPr>
        </p:nvGraphicFramePr>
        <p:xfrm>
          <a:off x="5652135" y="2774315"/>
          <a:ext cx="2438400" cy="875030"/>
        </p:xfrm>
        <a:graphic>
          <a:graphicData uri="http://schemas.openxmlformats.org/presentationml/2006/ole">
            <mc:AlternateContent xmlns:mc="http://schemas.openxmlformats.org/markup-compatibility/2006">
              <mc:Choice xmlns:v="urn:schemas-microsoft-com:vml" Requires="v">
                <p:oleObj spid="_x0000_s4" name="" r:id="rId5" imgW="4796155" imgH="1900555" progId="Visio.Drawing.11">
                  <p:embed/>
                </p:oleObj>
              </mc:Choice>
              <mc:Fallback>
                <p:oleObj name="" r:id="rId5" imgW="4796155" imgH="1900555" progId="Visio.Drawing.11">
                  <p:embed/>
                  <p:pic>
                    <p:nvPicPr>
                      <p:cNvPr id="0" name="图片 3099"/>
                      <p:cNvPicPr/>
                      <p:nvPr/>
                    </p:nvPicPr>
                    <p:blipFill>
                      <a:blip r:embed="rId6"/>
                      <a:stretch>
                        <a:fillRect/>
                      </a:stretch>
                    </p:blipFill>
                    <p:spPr>
                      <a:xfrm>
                        <a:off x="5652135" y="2774315"/>
                        <a:ext cx="2438400" cy="875030"/>
                      </a:xfrm>
                      <a:prstGeom prst="rect">
                        <a:avLst/>
                      </a:prstGeom>
                      <a:noFill/>
                      <a:ln w="38100">
                        <a:noFill/>
                        <a:miter/>
                      </a:ln>
                    </p:spPr>
                  </p:pic>
                </p:oleObj>
              </mc:Fallback>
            </mc:AlternateContent>
          </a:graphicData>
        </a:graphic>
      </p:graphicFrame>
      <p:graphicFrame>
        <p:nvGraphicFramePr>
          <p:cNvPr id="119827" name="Object 19"/>
          <p:cNvGraphicFramePr/>
          <p:nvPr/>
        </p:nvGraphicFramePr>
        <p:xfrm>
          <a:off x="2308860" y="3213100"/>
          <a:ext cx="2408555" cy="921385"/>
        </p:xfrm>
        <a:graphic>
          <a:graphicData uri="http://schemas.openxmlformats.org/presentationml/2006/ole">
            <mc:AlternateContent xmlns:mc="http://schemas.openxmlformats.org/markup-compatibility/2006">
              <mc:Choice xmlns:v="urn:schemas-microsoft-com:vml" Requires="v">
                <p:oleObj spid="_x0000_s6" name="" r:id="rId7" imgW="1270000" imgH="469900" progId="Equation.DSMT4">
                  <p:embed/>
                </p:oleObj>
              </mc:Choice>
              <mc:Fallback>
                <p:oleObj name="" r:id="rId7" imgW="1270000" imgH="469900" progId="Equation.DSMT4">
                  <p:embed/>
                  <p:pic>
                    <p:nvPicPr>
                      <p:cNvPr id="0" name="图片 3092"/>
                      <p:cNvPicPr/>
                      <p:nvPr/>
                    </p:nvPicPr>
                    <p:blipFill>
                      <a:blip r:embed="rId8"/>
                      <a:stretch>
                        <a:fillRect/>
                      </a:stretch>
                    </p:blipFill>
                    <p:spPr>
                      <a:xfrm>
                        <a:off x="2308860" y="3213100"/>
                        <a:ext cx="2408555" cy="921385"/>
                      </a:xfrm>
                      <a:prstGeom prst="rect">
                        <a:avLst/>
                      </a:prstGeom>
                      <a:noFill/>
                      <a:ln w="38100">
                        <a:noFill/>
                        <a:miter/>
                      </a:ln>
                    </p:spPr>
                  </p:pic>
                </p:oleObj>
              </mc:Fallback>
            </mc:AlternateContent>
          </a:graphicData>
        </a:graphic>
      </p:graphicFrame>
      <p:sp>
        <p:nvSpPr>
          <p:cNvPr id="6154" name="Text Box 89"/>
          <p:cNvSpPr txBox="1"/>
          <p:nvPr/>
        </p:nvSpPr>
        <p:spPr>
          <a:xfrm>
            <a:off x="611188" y="1372553"/>
            <a:ext cx="5212080" cy="460375"/>
          </a:xfrm>
          <a:prstGeom prst="rect">
            <a:avLst/>
          </a:prstGeom>
          <a:noFill/>
          <a:ln w="9525">
            <a:noFill/>
          </a:ln>
        </p:spPr>
        <p:txBody>
          <a:bodyPr wrap="none">
            <a:spAutoFit/>
          </a:bodyPr>
          <a:lstStyle/>
          <a:p>
            <a:r>
              <a:rPr lang="en-US" altLang="zh-CN" dirty="0">
                <a:solidFill>
                  <a:schemeClr val="accent2"/>
                </a:solidFill>
                <a:latin typeface="Times New Roman" panose="02020603050405020304" pitchFamily="18" charset="0"/>
              </a:rPr>
              <a:t>1</a:t>
            </a:r>
            <a:r>
              <a:rPr lang="zh-CN" altLang="en-US" dirty="0">
                <a:solidFill>
                  <a:schemeClr val="accent2"/>
                </a:solidFill>
                <a:latin typeface="Times New Roman" panose="02020603050405020304" pitchFamily="18" charset="0"/>
              </a:rPr>
              <a:t>、并联谐振回路（电感、电容并联）</a:t>
            </a:r>
            <a:endParaRPr lang="zh-CN" altLang="en-US" dirty="0">
              <a:solidFill>
                <a:schemeClr val="accent2"/>
              </a:solidFill>
              <a:latin typeface="Times New Roman" panose="02020603050405020304" pitchFamily="18" charset="0"/>
            </a:endParaRPr>
          </a:p>
        </p:txBody>
      </p:sp>
      <p:grpSp>
        <p:nvGrpSpPr>
          <p:cNvPr id="6155" name="Group 90"/>
          <p:cNvGrpSpPr/>
          <p:nvPr/>
        </p:nvGrpSpPr>
        <p:grpSpPr>
          <a:xfrm>
            <a:off x="2339975" y="354013"/>
            <a:ext cx="5334000" cy="546100"/>
            <a:chOff x="1378" y="410"/>
            <a:chExt cx="3360" cy="344"/>
          </a:xfrm>
        </p:grpSpPr>
        <p:sp>
          <p:nvSpPr>
            <p:cNvPr id="6161" name="Rectangle 91"/>
            <p:cNvSpPr/>
            <p:nvPr/>
          </p:nvSpPr>
          <p:spPr>
            <a:xfrm>
              <a:off x="1378" y="410"/>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6162" name="Line 92"/>
            <p:cNvSpPr/>
            <p:nvPr/>
          </p:nvSpPr>
          <p:spPr>
            <a:xfrm>
              <a:off x="1474" y="754"/>
              <a:ext cx="3024" cy="0"/>
            </a:xfrm>
            <a:prstGeom prst="line">
              <a:avLst/>
            </a:prstGeom>
            <a:ln w="57150" cap="flat" cmpd="tri">
              <a:solidFill>
                <a:srgbClr val="FF00FF"/>
              </a:solidFill>
              <a:prstDash val="solid"/>
              <a:headEnd type="none" w="sm" len="sm"/>
              <a:tailEnd type="none" w="sm" len="sm"/>
            </a:ln>
          </p:spPr>
        </p:sp>
      </p:grpSp>
      <p:sp>
        <p:nvSpPr>
          <p:cNvPr id="6157" name="Text Box 94"/>
          <p:cNvSpPr txBox="1"/>
          <p:nvPr/>
        </p:nvSpPr>
        <p:spPr>
          <a:xfrm>
            <a:off x="0" y="908050"/>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graphicFrame>
        <p:nvGraphicFramePr>
          <p:cNvPr id="119906" name="Object 98"/>
          <p:cNvGraphicFramePr>
            <a:graphicFrameLocks noGrp="1"/>
          </p:cNvGraphicFramePr>
          <p:nvPr>
            <p:ph sz="quarter" idx="4"/>
          </p:nvPr>
        </p:nvGraphicFramePr>
        <p:xfrm>
          <a:off x="4572000" y="2492058"/>
          <a:ext cx="555625" cy="1443037"/>
        </p:xfrm>
        <a:graphic>
          <a:graphicData uri="http://schemas.openxmlformats.org/presentationml/2006/ole">
            <mc:AlternateContent xmlns:mc="http://schemas.openxmlformats.org/markup-compatibility/2006">
              <mc:Choice xmlns:v="urn:schemas-microsoft-com:vml" Requires="v">
                <p:oleObj spid="_x0000_s7" name="" r:id="rId9" imgW="177800" imgH="253365" progId="Equation.DSMT4">
                  <p:embed/>
                </p:oleObj>
              </mc:Choice>
              <mc:Fallback>
                <p:oleObj name="" r:id="rId9" imgW="177800" imgH="253365" progId="Equation.DSMT4">
                  <p:embed/>
                  <p:pic>
                    <p:nvPicPr>
                      <p:cNvPr id="0" name="图片 3103"/>
                      <p:cNvPicPr/>
                      <p:nvPr/>
                    </p:nvPicPr>
                    <p:blipFill>
                      <a:blip r:embed="rId10"/>
                      <a:stretch>
                        <a:fillRect/>
                      </a:stretch>
                    </p:blipFill>
                    <p:spPr>
                      <a:xfrm>
                        <a:off x="4572000" y="2492058"/>
                        <a:ext cx="555625" cy="1443037"/>
                      </a:xfrm>
                      <a:prstGeom prst="rect">
                        <a:avLst/>
                      </a:prstGeom>
                      <a:noFill/>
                      <a:ln w="38100">
                        <a:noFill/>
                        <a:miter/>
                      </a:ln>
                    </p:spPr>
                  </p:pic>
                </p:oleObj>
              </mc:Fallback>
            </mc:AlternateContent>
          </a:graphicData>
        </a:graphic>
      </p:graphicFrame>
      <p:graphicFrame>
        <p:nvGraphicFramePr>
          <p:cNvPr id="119909" name="Object 101"/>
          <p:cNvGraphicFramePr/>
          <p:nvPr/>
        </p:nvGraphicFramePr>
        <p:xfrm>
          <a:off x="5076190" y="2997200"/>
          <a:ext cx="640715" cy="429260"/>
        </p:xfrm>
        <a:graphic>
          <a:graphicData uri="http://schemas.openxmlformats.org/presentationml/2006/ole">
            <mc:AlternateContent xmlns:mc="http://schemas.openxmlformats.org/markup-compatibility/2006">
              <mc:Choice xmlns:v="urn:schemas-microsoft-com:vml" Requires="v">
                <p:oleObj spid="_x0000_s8" name="" r:id="rId11" imgW="190500" imgH="152400" progId="Equation.DSMT4">
                  <p:embed/>
                </p:oleObj>
              </mc:Choice>
              <mc:Fallback>
                <p:oleObj name="" r:id="rId11" imgW="190500" imgH="152400" progId="Equation.DSMT4">
                  <p:embed/>
                  <p:pic>
                    <p:nvPicPr>
                      <p:cNvPr id="0" name="图片 3091"/>
                      <p:cNvPicPr/>
                      <p:nvPr/>
                    </p:nvPicPr>
                    <p:blipFill>
                      <a:blip r:embed="rId12"/>
                      <a:stretch>
                        <a:fillRect/>
                      </a:stretch>
                    </p:blipFill>
                    <p:spPr>
                      <a:xfrm>
                        <a:off x="5076190" y="2997200"/>
                        <a:ext cx="640715" cy="429260"/>
                      </a:xfrm>
                      <a:prstGeom prst="rect">
                        <a:avLst/>
                      </a:prstGeom>
                      <a:noFill/>
                      <a:ln w="38100">
                        <a:noFill/>
                        <a:miter/>
                      </a:ln>
                    </p:spPr>
                  </p:pic>
                </p:oleObj>
              </mc:Fallback>
            </mc:AlternateContent>
          </a:graphicData>
        </a:graphic>
      </p:graphicFrame>
      <p:grpSp>
        <p:nvGrpSpPr>
          <p:cNvPr id="9" name="Group 102"/>
          <p:cNvGrpSpPr/>
          <p:nvPr/>
        </p:nvGrpSpPr>
        <p:grpSpPr>
          <a:xfrm>
            <a:off x="1240473" y="4896485"/>
            <a:ext cx="5707062" cy="906463"/>
            <a:chOff x="418" y="3294"/>
            <a:chExt cx="3595" cy="571"/>
          </a:xfrm>
        </p:grpSpPr>
        <p:sp>
          <p:nvSpPr>
            <p:cNvPr id="6160" name="Text Box 103"/>
            <p:cNvSpPr txBox="1"/>
            <p:nvPr/>
          </p:nvSpPr>
          <p:spPr>
            <a:xfrm>
              <a:off x="418" y="3488"/>
              <a:ext cx="2679" cy="288"/>
            </a:xfrm>
            <a:prstGeom prst="rect">
              <a:avLst/>
            </a:prstGeom>
            <a:noFill/>
            <a:ln w="9525">
              <a:noFill/>
            </a:ln>
          </p:spPr>
          <p:txBody>
            <a:bodyPr wrap="none">
              <a:spAutoFit/>
            </a:bodyPr>
            <a:lstStyle/>
            <a:p>
              <a:r>
                <a:rPr lang="zh-CN" altLang="en-US" dirty="0">
                  <a:latin typeface="Times New Roman" panose="02020603050405020304" pitchFamily="18" charset="0"/>
                </a:rPr>
                <a:t>在高频电路中，</a:t>
              </a:r>
              <a:r>
                <a:rPr lang="en-US" altLang="zh-CN" dirty="0">
                  <a:latin typeface="Times New Roman" panose="02020603050405020304" pitchFamily="18" charset="0"/>
                </a:rPr>
                <a:t>Q&gt;&gt;1</a:t>
              </a:r>
              <a:r>
                <a:rPr lang="zh-CN" altLang="en-US" dirty="0">
                  <a:latin typeface="Times New Roman" panose="02020603050405020304" pitchFamily="18" charset="0"/>
                </a:rPr>
                <a:t>，故有：</a:t>
              </a:r>
              <a:endParaRPr lang="zh-CN" altLang="en-US" dirty="0">
                <a:latin typeface="Times New Roman" panose="02020603050405020304" pitchFamily="18" charset="0"/>
              </a:endParaRPr>
            </a:p>
          </p:txBody>
        </p:sp>
        <p:graphicFrame>
          <p:nvGraphicFramePr>
            <p:cNvPr id="6152" name="Object 104"/>
            <p:cNvGraphicFramePr/>
            <p:nvPr/>
          </p:nvGraphicFramePr>
          <p:xfrm>
            <a:off x="3061" y="3294"/>
            <a:ext cx="952" cy="571"/>
          </p:xfrm>
          <a:graphic>
            <a:graphicData uri="http://schemas.openxmlformats.org/presentationml/2006/ole">
              <mc:AlternateContent xmlns:mc="http://schemas.openxmlformats.org/markup-compatibility/2006">
                <mc:Choice xmlns:v="urn:schemas-microsoft-com:vml" Requires="v">
                  <p:oleObj spid="_x0000_s10" name="" r:id="rId13" imgW="698500" imgH="419100" progId="Equation.DSMT4">
                    <p:embed/>
                  </p:oleObj>
                </mc:Choice>
                <mc:Fallback>
                  <p:oleObj name="" r:id="rId13" imgW="698500" imgH="419100" progId="Equation.DSMT4">
                    <p:embed/>
                    <p:pic>
                      <p:nvPicPr>
                        <p:cNvPr id="0" name="图片 3087"/>
                        <p:cNvPicPr/>
                        <p:nvPr/>
                      </p:nvPicPr>
                      <p:blipFill>
                        <a:blip r:embed="rId14"/>
                        <a:stretch>
                          <a:fillRect/>
                        </a:stretch>
                      </p:blipFill>
                      <p:spPr>
                        <a:xfrm>
                          <a:off x="3061" y="3294"/>
                          <a:ext cx="952" cy="571"/>
                        </a:xfrm>
                        <a:prstGeom prst="rect">
                          <a:avLst/>
                        </a:prstGeom>
                        <a:noFill/>
                        <a:ln w="38100">
                          <a:noFill/>
                          <a:miter/>
                        </a:ln>
                      </p:spPr>
                    </p:pic>
                  </p:oleObj>
                </mc:Fallback>
              </mc:AlternateContent>
            </a:graphicData>
          </a:graphic>
        </p:graphicFrame>
      </p:grpSp>
      <p:sp>
        <p:nvSpPr>
          <p:cNvPr id="119913" name="Text Box 105"/>
          <p:cNvSpPr txBox="1"/>
          <p:nvPr/>
        </p:nvSpPr>
        <p:spPr>
          <a:xfrm>
            <a:off x="2483803" y="5813743"/>
            <a:ext cx="5681980" cy="460375"/>
          </a:xfrm>
          <a:prstGeom prst="rect">
            <a:avLst/>
          </a:prstGeom>
          <a:noFill/>
          <a:ln w="9525">
            <a:noFill/>
          </a:ln>
        </p:spPr>
        <p:txBody>
          <a:bodyPr wrap="none">
            <a:spAutoFit/>
          </a:bodyPr>
          <a:lstStyle/>
          <a:p>
            <a:r>
              <a:rPr lang="zh-CN" altLang="en-US" dirty="0">
                <a:latin typeface="Times New Roman" panose="02020603050405020304" pitchFamily="18" charset="0"/>
              </a:rPr>
              <a:t>此频率也为回路的</a:t>
            </a:r>
            <a:r>
              <a:rPr lang="zh-CN" altLang="en-US" b="1" dirty="0">
                <a:solidFill>
                  <a:srgbClr val="FF0066"/>
                </a:solidFill>
                <a:latin typeface="Times New Roman" panose="02020603050405020304" pitchFamily="18" charset="0"/>
              </a:rPr>
              <a:t>中心频率（谐振频率）</a:t>
            </a:r>
            <a:endParaRPr lang="zh-CN" altLang="en-US" b="1" dirty="0">
              <a:solidFill>
                <a:srgbClr val="FF0066"/>
              </a:solidFill>
              <a:latin typeface="Times New Roman" panose="02020603050405020304" pitchFamily="18" charset="0"/>
            </a:endParaRPr>
          </a:p>
        </p:txBody>
      </p:sp>
      <p:graphicFrame>
        <p:nvGraphicFramePr>
          <p:cNvPr id="11" name="Object 5"/>
          <p:cNvGraphicFramePr/>
          <p:nvPr/>
        </p:nvGraphicFramePr>
        <p:xfrm>
          <a:off x="3513773" y="4285298"/>
          <a:ext cx="2766060" cy="669290"/>
        </p:xfrm>
        <a:graphic>
          <a:graphicData uri="http://schemas.openxmlformats.org/presentationml/2006/ole">
            <mc:AlternateContent xmlns:mc="http://schemas.openxmlformats.org/markup-compatibility/2006">
              <mc:Choice xmlns:v="urn:schemas-microsoft-com:vml" Requires="v">
                <p:oleObj spid="_x0000_s12" name="" r:id="rId15" imgW="1625600" imgH="393700" progId="Equation.DSMT4">
                  <p:embed/>
                </p:oleObj>
              </mc:Choice>
              <mc:Fallback>
                <p:oleObj name="" r:id="rId15" imgW="1625600" imgH="393700" progId="Equation.DSMT4">
                  <p:embed/>
                  <p:pic>
                    <p:nvPicPr>
                      <p:cNvPr id="0" name="图片 3089"/>
                      <p:cNvPicPr/>
                      <p:nvPr/>
                    </p:nvPicPr>
                    <p:blipFill>
                      <a:blip r:embed="rId16"/>
                      <a:stretch>
                        <a:fillRect/>
                      </a:stretch>
                    </p:blipFill>
                    <p:spPr>
                      <a:xfrm>
                        <a:off x="3513773" y="4285298"/>
                        <a:ext cx="2766060" cy="669290"/>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76" name="Group 5"/>
          <p:cNvGrpSpPr/>
          <p:nvPr/>
        </p:nvGrpSpPr>
        <p:grpSpPr>
          <a:xfrm>
            <a:off x="2339975" y="354013"/>
            <a:ext cx="5334000" cy="546100"/>
            <a:chOff x="1378" y="410"/>
            <a:chExt cx="3360" cy="344"/>
          </a:xfrm>
        </p:grpSpPr>
        <p:sp>
          <p:nvSpPr>
            <p:cNvPr id="7184" name="Rectangle 6"/>
            <p:cNvSpPr/>
            <p:nvPr/>
          </p:nvSpPr>
          <p:spPr>
            <a:xfrm>
              <a:off x="1378" y="410"/>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7185" name="Line 7"/>
            <p:cNvSpPr/>
            <p:nvPr/>
          </p:nvSpPr>
          <p:spPr>
            <a:xfrm>
              <a:off x="1474" y="754"/>
              <a:ext cx="3024" cy="0"/>
            </a:xfrm>
            <a:prstGeom prst="line">
              <a:avLst/>
            </a:prstGeom>
            <a:ln w="57150" cap="flat" cmpd="tri">
              <a:solidFill>
                <a:srgbClr val="FF00FF"/>
              </a:solidFill>
              <a:prstDash val="solid"/>
              <a:headEnd type="none" w="sm" len="sm"/>
              <a:tailEnd type="none" w="sm" len="sm"/>
            </a:ln>
          </p:spPr>
        </p:sp>
      </p:grpSp>
      <p:sp>
        <p:nvSpPr>
          <p:cNvPr id="7178" name="Text Box 9"/>
          <p:cNvSpPr txBox="1"/>
          <p:nvPr/>
        </p:nvSpPr>
        <p:spPr>
          <a:xfrm>
            <a:off x="0" y="908050"/>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graphicFrame>
        <p:nvGraphicFramePr>
          <p:cNvPr id="358410" name="Object 10"/>
          <p:cNvGraphicFramePr/>
          <p:nvPr/>
        </p:nvGraphicFramePr>
        <p:xfrm>
          <a:off x="3779838" y="2063115"/>
          <a:ext cx="1152525" cy="793750"/>
        </p:xfrm>
        <a:graphic>
          <a:graphicData uri="http://schemas.openxmlformats.org/presentationml/2006/ole">
            <mc:AlternateContent xmlns:mc="http://schemas.openxmlformats.org/markup-compatibility/2006">
              <mc:Choice xmlns:v="urn:schemas-microsoft-com:vml" Requires="v">
                <p:oleObj spid="_x0000_s2" name="" r:id="rId1" imgW="571500" imgH="393700" progId="Equation.DSMT4">
                  <p:embed/>
                </p:oleObj>
              </mc:Choice>
              <mc:Fallback>
                <p:oleObj name="" r:id="rId1" imgW="571500" imgH="393700" progId="Equation.DSMT4">
                  <p:embed/>
                  <p:pic>
                    <p:nvPicPr>
                      <p:cNvPr id="0" name="图片 3101"/>
                      <p:cNvPicPr/>
                      <p:nvPr/>
                    </p:nvPicPr>
                    <p:blipFill>
                      <a:blip r:embed="rId2"/>
                      <a:stretch>
                        <a:fillRect/>
                      </a:stretch>
                    </p:blipFill>
                    <p:spPr>
                      <a:xfrm>
                        <a:off x="3779838" y="2063115"/>
                        <a:ext cx="1152525" cy="793750"/>
                      </a:xfrm>
                      <a:prstGeom prst="rect">
                        <a:avLst/>
                      </a:prstGeom>
                      <a:noFill/>
                      <a:ln w="38100">
                        <a:noFill/>
                        <a:miter/>
                      </a:ln>
                    </p:spPr>
                  </p:pic>
                </p:oleObj>
              </mc:Fallback>
            </mc:AlternateContent>
          </a:graphicData>
        </a:graphic>
      </p:graphicFrame>
      <p:sp>
        <p:nvSpPr>
          <p:cNvPr id="358411" name="Text Box 11"/>
          <p:cNvSpPr txBox="1"/>
          <p:nvPr/>
        </p:nvSpPr>
        <p:spPr>
          <a:xfrm>
            <a:off x="445453" y="4077335"/>
            <a:ext cx="7940675" cy="822325"/>
          </a:xfrm>
          <a:prstGeom prst="rect">
            <a:avLst/>
          </a:prstGeom>
          <a:noFill/>
          <a:ln w="9525">
            <a:noFill/>
          </a:ln>
        </p:spPr>
        <p:txBody>
          <a:bodyPr>
            <a:spAutoFit/>
          </a:bodyPr>
          <a:lstStyle/>
          <a:p>
            <a:r>
              <a:rPr lang="zh-CN" altLang="en-US" dirty="0">
                <a:solidFill>
                  <a:srgbClr val="FF0066"/>
                </a:solidFill>
                <a:latin typeface="Times New Roman" panose="02020603050405020304" pitchFamily="18" charset="0"/>
              </a:rPr>
              <a:t>谐振的物理意义</a:t>
            </a:r>
            <a:r>
              <a:rPr lang="zh-CN" altLang="en-US" dirty="0">
                <a:latin typeface="Times New Roman" panose="02020603050405020304" pitchFamily="18" charset="0"/>
              </a:rPr>
              <a:t>：电容中储存的电能和电感中储存的磁能周期性的转换，并且储存的最大能量相等。</a:t>
            </a:r>
            <a:endParaRPr lang="zh-CN" altLang="en-US" dirty="0">
              <a:latin typeface="Times New Roman" panose="02020603050405020304" pitchFamily="18" charset="0"/>
            </a:endParaRPr>
          </a:p>
        </p:txBody>
      </p:sp>
      <p:grpSp>
        <p:nvGrpSpPr>
          <p:cNvPr id="7180" name="Group 12"/>
          <p:cNvGrpSpPr/>
          <p:nvPr/>
        </p:nvGrpSpPr>
        <p:grpSpPr>
          <a:xfrm>
            <a:off x="445770" y="2017078"/>
            <a:ext cx="3536950" cy="704850"/>
            <a:chOff x="418" y="272"/>
            <a:chExt cx="2228" cy="444"/>
          </a:xfrm>
        </p:grpSpPr>
        <p:sp>
          <p:nvSpPr>
            <p:cNvPr id="7183" name="Text Box 13"/>
            <p:cNvSpPr txBox="1"/>
            <p:nvPr/>
          </p:nvSpPr>
          <p:spPr>
            <a:xfrm>
              <a:off x="418" y="404"/>
              <a:ext cx="2228" cy="288"/>
            </a:xfrm>
            <a:prstGeom prst="rect">
              <a:avLst/>
            </a:prstGeom>
            <a:noFill/>
            <a:ln w="9525">
              <a:noFill/>
            </a:ln>
          </p:spPr>
          <p:txBody>
            <a:bodyPr wrap="none">
              <a:spAutoFit/>
            </a:bodyPr>
            <a:lstStyle/>
            <a:p>
              <a:r>
                <a:rPr lang="zh-CN" altLang="en-US" dirty="0">
                  <a:latin typeface="Times New Roman" panose="02020603050405020304" pitchFamily="18" charset="0"/>
                </a:rPr>
                <a:t>特性阻抗            ，则有：</a:t>
              </a:r>
              <a:endParaRPr lang="zh-CN" altLang="en-US" dirty="0">
                <a:latin typeface="Times New Roman" panose="02020603050405020304" pitchFamily="18" charset="0"/>
              </a:endParaRPr>
            </a:p>
          </p:txBody>
        </p:sp>
        <p:graphicFrame>
          <p:nvGraphicFramePr>
            <p:cNvPr id="7174" name="Object 14"/>
            <p:cNvGraphicFramePr/>
            <p:nvPr/>
          </p:nvGraphicFramePr>
          <p:xfrm>
            <a:off x="1292" y="272"/>
            <a:ext cx="545" cy="444"/>
          </p:xfrm>
          <a:graphic>
            <a:graphicData uri="http://schemas.openxmlformats.org/presentationml/2006/ole">
              <mc:AlternateContent xmlns:mc="http://schemas.openxmlformats.org/markup-compatibility/2006">
                <mc:Choice xmlns:v="urn:schemas-microsoft-com:vml" Requires="v">
                  <p:oleObj spid="_x0000_s3" name="" r:id="rId3" imgW="546100" imgH="444500" progId="Equation.DSMT4">
                    <p:embed/>
                  </p:oleObj>
                </mc:Choice>
                <mc:Fallback>
                  <p:oleObj name="" r:id="rId3" imgW="546100" imgH="444500" progId="Equation.DSMT4">
                    <p:embed/>
                    <p:pic>
                      <p:nvPicPr>
                        <p:cNvPr id="0" name="图片 3088"/>
                        <p:cNvPicPr/>
                        <p:nvPr/>
                      </p:nvPicPr>
                      <p:blipFill>
                        <a:blip r:embed="rId4"/>
                        <a:stretch>
                          <a:fillRect/>
                        </a:stretch>
                      </p:blipFill>
                      <p:spPr>
                        <a:xfrm>
                          <a:off x="1292" y="272"/>
                          <a:ext cx="545" cy="444"/>
                        </a:xfrm>
                        <a:prstGeom prst="rect">
                          <a:avLst/>
                        </a:prstGeom>
                        <a:noFill/>
                        <a:ln w="38100">
                          <a:noFill/>
                          <a:miter/>
                        </a:ln>
                      </p:spPr>
                    </p:pic>
                  </p:oleObj>
                </mc:Fallback>
              </mc:AlternateContent>
            </a:graphicData>
          </a:graphic>
        </p:graphicFrame>
      </p:grpSp>
      <p:grpSp>
        <p:nvGrpSpPr>
          <p:cNvPr id="4" name="Group 15"/>
          <p:cNvGrpSpPr/>
          <p:nvPr/>
        </p:nvGrpSpPr>
        <p:grpSpPr>
          <a:xfrm>
            <a:off x="467360" y="3086418"/>
            <a:ext cx="7796213" cy="830263"/>
            <a:chOff x="476" y="890"/>
            <a:chExt cx="4911" cy="523"/>
          </a:xfrm>
        </p:grpSpPr>
        <p:sp>
          <p:nvSpPr>
            <p:cNvPr id="7182" name="Text Box 16"/>
            <p:cNvSpPr txBox="1"/>
            <p:nvPr/>
          </p:nvSpPr>
          <p:spPr>
            <a:xfrm>
              <a:off x="476" y="890"/>
              <a:ext cx="4911" cy="523"/>
            </a:xfrm>
            <a:prstGeom prst="rect">
              <a:avLst/>
            </a:prstGeom>
            <a:noFill/>
            <a:ln w="9525">
              <a:noFill/>
            </a:ln>
          </p:spPr>
          <p:txBody>
            <a:bodyPr>
              <a:spAutoFit/>
            </a:bodyPr>
            <a:lstStyle/>
            <a:p>
              <a:r>
                <a:rPr lang="zh-CN" altLang="en-US" dirty="0">
                  <a:latin typeface="Times New Roman" panose="02020603050405020304" pitchFamily="18" charset="0"/>
                </a:rPr>
                <a:t>即在电感</a:t>
              </a:r>
              <a:r>
                <a:rPr lang="en-US" altLang="zh-CN" i="1" dirty="0">
                  <a:latin typeface="Times New Roman" panose="02020603050405020304" pitchFamily="18" charset="0"/>
                </a:rPr>
                <a:t>L</a:t>
              </a:r>
              <a:r>
                <a:rPr lang="zh-CN" altLang="en-US" dirty="0">
                  <a:latin typeface="Times New Roman" panose="02020603050405020304" pitchFamily="18" charset="0"/>
                </a:rPr>
                <a:t>的损耗电阻</a:t>
              </a:r>
              <a:r>
                <a:rPr lang="en-US" altLang="zh-CN" i="1" dirty="0">
                  <a:latin typeface="Times New Roman" panose="02020603050405020304" pitchFamily="18" charset="0"/>
                </a:rPr>
                <a:t>r</a:t>
              </a:r>
              <a:r>
                <a:rPr lang="zh-CN" altLang="en-US" dirty="0">
                  <a:latin typeface="Times New Roman" panose="02020603050405020304" pitchFamily="18" charset="0"/>
                </a:rPr>
                <a:t>相同的条件下，</a:t>
              </a:r>
              <a:r>
                <a:rPr lang="zh-CN" altLang="en-US" dirty="0">
                  <a:solidFill>
                    <a:srgbClr val="FF0066"/>
                  </a:solidFill>
                  <a:latin typeface="Times New Roman" panose="02020603050405020304" pitchFamily="18" charset="0"/>
                </a:rPr>
                <a:t>回路的品质因素</a:t>
              </a:r>
              <a:r>
                <a:rPr lang="en-US" altLang="zh-CN" i="1" dirty="0">
                  <a:solidFill>
                    <a:srgbClr val="FF0066"/>
                  </a:solidFill>
                  <a:latin typeface="Times New Roman" panose="02020603050405020304" pitchFamily="18" charset="0"/>
                </a:rPr>
                <a:t>Q</a:t>
              </a:r>
              <a:r>
                <a:rPr lang="zh-CN" altLang="en-US" dirty="0">
                  <a:solidFill>
                    <a:srgbClr val="FF0066"/>
                  </a:solidFill>
                  <a:latin typeface="Times New Roman" panose="02020603050405020304" pitchFamily="18" charset="0"/>
                </a:rPr>
                <a:t>与特性阻抗      成正比</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aphicFrame>
          <p:nvGraphicFramePr>
            <p:cNvPr id="7173" name="Object 17"/>
            <p:cNvGraphicFramePr/>
            <p:nvPr/>
          </p:nvGraphicFramePr>
          <p:xfrm>
            <a:off x="1519" y="1165"/>
            <a:ext cx="225" cy="232"/>
          </p:xfrm>
          <a:graphic>
            <a:graphicData uri="http://schemas.openxmlformats.org/presentationml/2006/ole">
              <mc:AlternateContent xmlns:mc="http://schemas.openxmlformats.org/markup-compatibility/2006">
                <mc:Choice xmlns:v="urn:schemas-microsoft-com:vml" Requires="v">
                  <p:oleObj spid="_x0000_s5" name="" r:id="rId5" imgW="152400" imgH="165100" progId="Equation.DSMT4">
                    <p:embed/>
                  </p:oleObj>
                </mc:Choice>
                <mc:Fallback>
                  <p:oleObj name="" r:id="rId5" imgW="152400" imgH="165100" progId="Equation.DSMT4">
                    <p:embed/>
                    <p:pic>
                      <p:nvPicPr>
                        <p:cNvPr id="0" name="图片 3096"/>
                        <p:cNvPicPr/>
                        <p:nvPr/>
                      </p:nvPicPr>
                      <p:blipFill>
                        <a:blip r:embed="rId6"/>
                        <a:stretch>
                          <a:fillRect/>
                        </a:stretch>
                      </p:blipFill>
                      <p:spPr>
                        <a:xfrm>
                          <a:off x="1519" y="1165"/>
                          <a:ext cx="225" cy="232"/>
                        </a:xfrm>
                        <a:prstGeom prst="rect">
                          <a:avLst/>
                        </a:prstGeom>
                        <a:noFill/>
                        <a:ln w="38100">
                          <a:noFill/>
                          <a:miter/>
                        </a:ln>
                      </p:spPr>
                    </p:pic>
                  </p:oleObj>
                </mc:Fallback>
              </mc:AlternateContent>
            </a:graphicData>
          </a:graphic>
        </p:graphicFrame>
      </p:grpSp>
      <p:graphicFrame>
        <p:nvGraphicFramePr>
          <p:cNvPr id="358418" name="Object 18"/>
          <p:cNvGraphicFramePr/>
          <p:nvPr/>
        </p:nvGraphicFramePr>
        <p:xfrm>
          <a:off x="4930458" y="2063115"/>
          <a:ext cx="1655762" cy="828675"/>
        </p:xfrm>
        <a:graphic>
          <a:graphicData uri="http://schemas.openxmlformats.org/presentationml/2006/ole">
            <mc:AlternateContent xmlns:mc="http://schemas.openxmlformats.org/markup-compatibility/2006">
              <mc:Choice xmlns:v="urn:schemas-microsoft-com:vml" Requires="v">
                <p:oleObj spid="_x0000_s6" name="" r:id="rId7" imgW="838200" imgH="419100" progId="Equation.DSMT4">
                  <p:embed/>
                </p:oleObj>
              </mc:Choice>
              <mc:Fallback>
                <p:oleObj name="" r:id="rId7" imgW="838200" imgH="419100" progId="Equation.DSMT4">
                  <p:embed/>
                  <p:pic>
                    <p:nvPicPr>
                      <p:cNvPr id="0" name="图片 3094"/>
                      <p:cNvPicPr/>
                      <p:nvPr/>
                    </p:nvPicPr>
                    <p:blipFill>
                      <a:blip r:embed="rId8"/>
                      <a:stretch>
                        <a:fillRect/>
                      </a:stretch>
                    </p:blipFill>
                    <p:spPr>
                      <a:xfrm>
                        <a:off x="4930458" y="2063115"/>
                        <a:ext cx="1655762" cy="828675"/>
                      </a:xfrm>
                      <a:prstGeom prst="rect">
                        <a:avLst/>
                      </a:prstGeom>
                      <a:noFill/>
                      <a:ln w="38100">
                        <a:noFill/>
                        <a:miter/>
                      </a:ln>
                    </p:spPr>
                  </p:pic>
                </p:oleObj>
              </mc:Fallback>
            </mc:AlternateContent>
          </a:graphicData>
        </a:graphic>
      </p:graphicFrame>
      <p:graphicFrame>
        <p:nvGraphicFramePr>
          <p:cNvPr id="358419" name="Object 19"/>
          <p:cNvGraphicFramePr/>
          <p:nvPr/>
        </p:nvGraphicFramePr>
        <p:xfrm>
          <a:off x="6587808" y="1988503"/>
          <a:ext cx="1800225" cy="927100"/>
        </p:xfrm>
        <a:graphic>
          <a:graphicData uri="http://schemas.openxmlformats.org/presentationml/2006/ole">
            <mc:AlternateContent xmlns:mc="http://schemas.openxmlformats.org/markup-compatibility/2006">
              <mc:Choice xmlns:v="urn:schemas-microsoft-com:vml" Requires="v">
                <p:oleObj spid="_x0000_s7" name="" r:id="rId9" imgW="862965" imgH="444500" progId="Equation.DSMT4">
                  <p:embed/>
                </p:oleObj>
              </mc:Choice>
              <mc:Fallback>
                <p:oleObj name="" r:id="rId9" imgW="862965" imgH="444500" progId="Equation.DSMT4">
                  <p:embed/>
                  <p:pic>
                    <p:nvPicPr>
                      <p:cNvPr id="0" name="图片 3104"/>
                      <p:cNvPicPr/>
                      <p:nvPr/>
                    </p:nvPicPr>
                    <p:blipFill>
                      <a:blip r:embed="rId10"/>
                      <a:stretch>
                        <a:fillRect/>
                      </a:stretch>
                    </p:blipFill>
                    <p:spPr>
                      <a:xfrm>
                        <a:off x="6587808" y="1988503"/>
                        <a:ext cx="1800225" cy="927100"/>
                      </a:xfrm>
                      <a:prstGeom prst="rect">
                        <a:avLst/>
                      </a:prstGeom>
                      <a:noFill/>
                      <a:ln w="38100">
                        <a:noFill/>
                        <a:miter/>
                      </a:ln>
                    </p:spPr>
                  </p:pic>
                </p:oleObj>
              </mc:Fallback>
            </mc:AlternateContent>
          </a:graphicData>
        </a:graphic>
      </p:graphicFrame>
      <p:sp>
        <p:nvSpPr>
          <p:cNvPr id="6154" name="Text Box 89"/>
          <p:cNvSpPr txBox="1"/>
          <p:nvPr/>
        </p:nvSpPr>
        <p:spPr>
          <a:xfrm>
            <a:off x="611188" y="1412558"/>
            <a:ext cx="5212080" cy="460375"/>
          </a:xfrm>
          <a:prstGeom prst="rect">
            <a:avLst/>
          </a:prstGeom>
          <a:noFill/>
          <a:ln w="9525">
            <a:noFill/>
          </a:ln>
        </p:spPr>
        <p:txBody>
          <a:bodyPr wrap="none">
            <a:spAutoFit/>
          </a:bodyPr>
          <a:lstStyle/>
          <a:p>
            <a:r>
              <a:rPr lang="en-US" altLang="zh-CN" dirty="0">
                <a:solidFill>
                  <a:schemeClr val="accent2"/>
                </a:solidFill>
                <a:latin typeface="Times New Roman" panose="02020603050405020304" pitchFamily="18" charset="0"/>
              </a:rPr>
              <a:t>1</a:t>
            </a:r>
            <a:r>
              <a:rPr lang="zh-CN" altLang="en-US" dirty="0">
                <a:solidFill>
                  <a:schemeClr val="accent2"/>
                </a:solidFill>
                <a:latin typeface="Times New Roman" panose="02020603050405020304" pitchFamily="18" charset="0"/>
              </a:rPr>
              <a:t>、并联谐振回路（电感、电容并联）</a:t>
            </a:r>
            <a:endParaRPr lang="zh-CN" altLang="en-US" dirty="0">
              <a:solidFill>
                <a:schemeClr val="accent2"/>
              </a:solidFill>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02" name="Group 5"/>
          <p:cNvGrpSpPr/>
          <p:nvPr/>
        </p:nvGrpSpPr>
        <p:grpSpPr>
          <a:xfrm>
            <a:off x="2339975" y="354013"/>
            <a:ext cx="5334000" cy="546100"/>
            <a:chOff x="1378" y="410"/>
            <a:chExt cx="3360" cy="344"/>
          </a:xfrm>
        </p:grpSpPr>
        <p:sp>
          <p:nvSpPr>
            <p:cNvPr id="8209" name="Rectangle 6"/>
            <p:cNvSpPr/>
            <p:nvPr/>
          </p:nvSpPr>
          <p:spPr>
            <a:xfrm>
              <a:off x="1378" y="410"/>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8210" name="Line 7"/>
            <p:cNvSpPr/>
            <p:nvPr/>
          </p:nvSpPr>
          <p:spPr>
            <a:xfrm>
              <a:off x="1474" y="754"/>
              <a:ext cx="3024" cy="0"/>
            </a:xfrm>
            <a:prstGeom prst="line">
              <a:avLst/>
            </a:prstGeom>
            <a:ln w="57150" cap="flat" cmpd="tri">
              <a:solidFill>
                <a:srgbClr val="FF00FF"/>
              </a:solidFill>
              <a:prstDash val="solid"/>
              <a:headEnd type="none" w="sm" len="sm"/>
              <a:tailEnd type="none" w="sm" len="sm"/>
            </a:ln>
          </p:spPr>
        </p:sp>
      </p:grpSp>
      <p:sp>
        <p:nvSpPr>
          <p:cNvPr id="8204" name="Text Box 9"/>
          <p:cNvSpPr txBox="1"/>
          <p:nvPr/>
        </p:nvSpPr>
        <p:spPr>
          <a:xfrm>
            <a:off x="0" y="908050"/>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graphicFrame>
        <p:nvGraphicFramePr>
          <p:cNvPr id="359434" name="Object 10"/>
          <p:cNvGraphicFramePr/>
          <p:nvPr/>
        </p:nvGraphicFramePr>
        <p:xfrm>
          <a:off x="335915" y="5013960"/>
          <a:ext cx="1438910" cy="1017270"/>
        </p:xfrm>
        <a:graphic>
          <a:graphicData uri="http://schemas.openxmlformats.org/presentationml/2006/ole">
            <mc:AlternateContent xmlns:mc="http://schemas.openxmlformats.org/markup-compatibility/2006">
              <mc:Choice xmlns:v="urn:schemas-microsoft-com:vml" Requires="v">
                <p:oleObj spid="_x0000_s2" name="" r:id="rId1" imgW="469265" imgH="355600" progId="Equation.DSMT4">
                  <p:embed/>
                </p:oleObj>
              </mc:Choice>
              <mc:Fallback>
                <p:oleObj name="" r:id="rId1" imgW="469265" imgH="355600" progId="Equation.DSMT4">
                  <p:embed/>
                  <p:pic>
                    <p:nvPicPr>
                      <p:cNvPr id="0" name="图片 3095"/>
                      <p:cNvPicPr/>
                      <p:nvPr/>
                    </p:nvPicPr>
                    <p:blipFill>
                      <a:blip r:embed="rId2"/>
                      <a:stretch>
                        <a:fillRect/>
                      </a:stretch>
                    </p:blipFill>
                    <p:spPr>
                      <a:xfrm>
                        <a:off x="335915" y="5013960"/>
                        <a:ext cx="1438910" cy="1017270"/>
                      </a:xfrm>
                      <a:prstGeom prst="rect">
                        <a:avLst/>
                      </a:prstGeom>
                      <a:noFill/>
                      <a:ln w="38100">
                        <a:noFill/>
                        <a:miter/>
                      </a:ln>
                    </p:spPr>
                  </p:pic>
                </p:oleObj>
              </mc:Fallback>
            </mc:AlternateContent>
          </a:graphicData>
        </a:graphic>
      </p:graphicFrame>
      <p:graphicFrame>
        <p:nvGraphicFramePr>
          <p:cNvPr id="359435" name="Object 11"/>
          <p:cNvGraphicFramePr/>
          <p:nvPr/>
        </p:nvGraphicFramePr>
        <p:xfrm>
          <a:off x="488950" y="3783965"/>
          <a:ext cx="5358765" cy="1301750"/>
        </p:xfrm>
        <a:graphic>
          <a:graphicData uri="http://schemas.openxmlformats.org/presentationml/2006/ole">
            <mc:AlternateContent xmlns:mc="http://schemas.openxmlformats.org/markup-compatibility/2006">
              <mc:Choice xmlns:v="urn:schemas-microsoft-com:vml" Requires="v">
                <p:oleObj spid="_x0000_s3" name="" r:id="rId3" imgW="2768600" imgH="673100" progId="Equation.DSMT4">
                  <p:embed/>
                </p:oleObj>
              </mc:Choice>
              <mc:Fallback>
                <p:oleObj name="" r:id="rId3" imgW="2768600" imgH="673100" progId="Equation.DSMT4">
                  <p:embed/>
                  <p:pic>
                    <p:nvPicPr>
                      <p:cNvPr id="0" name="图片 3085"/>
                      <p:cNvPicPr/>
                      <p:nvPr/>
                    </p:nvPicPr>
                    <p:blipFill>
                      <a:blip r:embed="rId4"/>
                      <a:stretch>
                        <a:fillRect/>
                      </a:stretch>
                    </p:blipFill>
                    <p:spPr>
                      <a:xfrm>
                        <a:off x="488950" y="3783965"/>
                        <a:ext cx="5358765" cy="1301750"/>
                      </a:xfrm>
                      <a:prstGeom prst="rect">
                        <a:avLst/>
                      </a:prstGeom>
                      <a:noFill/>
                      <a:ln w="38100">
                        <a:noFill/>
                        <a:miter/>
                      </a:ln>
                    </p:spPr>
                  </p:pic>
                </p:oleObj>
              </mc:Fallback>
            </mc:AlternateContent>
          </a:graphicData>
        </a:graphic>
      </p:graphicFrame>
      <p:graphicFrame>
        <p:nvGraphicFramePr>
          <p:cNvPr id="359436" name="Object 12"/>
          <p:cNvGraphicFramePr/>
          <p:nvPr/>
        </p:nvGraphicFramePr>
        <p:xfrm>
          <a:off x="2783840" y="5266055"/>
          <a:ext cx="3382963" cy="1011238"/>
        </p:xfrm>
        <a:graphic>
          <a:graphicData uri="http://schemas.openxmlformats.org/presentationml/2006/ole">
            <mc:AlternateContent xmlns:mc="http://schemas.openxmlformats.org/markup-compatibility/2006">
              <mc:Choice xmlns:v="urn:schemas-microsoft-com:vml" Requires="v">
                <p:oleObj spid="_x0000_s4" name="" r:id="rId5" imgW="1485265" imgH="444500" progId="Equation.DSMT4">
                  <p:embed/>
                </p:oleObj>
              </mc:Choice>
              <mc:Fallback>
                <p:oleObj name="" r:id="rId5" imgW="1485265" imgH="444500" progId="Equation.DSMT4">
                  <p:embed/>
                  <p:pic>
                    <p:nvPicPr>
                      <p:cNvPr id="0" name="图片 3100"/>
                      <p:cNvPicPr/>
                      <p:nvPr/>
                    </p:nvPicPr>
                    <p:blipFill>
                      <a:blip r:embed="rId6"/>
                      <a:stretch>
                        <a:fillRect/>
                      </a:stretch>
                    </p:blipFill>
                    <p:spPr>
                      <a:xfrm>
                        <a:off x="2783840" y="5266055"/>
                        <a:ext cx="3382963" cy="1011238"/>
                      </a:xfrm>
                      <a:prstGeom prst="rect">
                        <a:avLst/>
                      </a:prstGeom>
                      <a:noFill/>
                      <a:ln w="38100">
                        <a:noFill/>
                        <a:miter/>
                      </a:ln>
                    </p:spPr>
                  </p:pic>
                </p:oleObj>
              </mc:Fallback>
            </mc:AlternateContent>
          </a:graphicData>
        </a:graphic>
      </p:graphicFrame>
      <p:grpSp>
        <p:nvGrpSpPr>
          <p:cNvPr id="5" name="Group 13"/>
          <p:cNvGrpSpPr/>
          <p:nvPr/>
        </p:nvGrpSpPr>
        <p:grpSpPr>
          <a:xfrm>
            <a:off x="825500" y="1844675"/>
            <a:ext cx="7573963" cy="503238"/>
            <a:chOff x="645" y="2523"/>
            <a:chExt cx="4771" cy="317"/>
          </a:xfrm>
        </p:grpSpPr>
        <p:sp>
          <p:nvSpPr>
            <p:cNvPr id="8208" name="Text Box 14"/>
            <p:cNvSpPr txBox="1"/>
            <p:nvPr/>
          </p:nvSpPr>
          <p:spPr>
            <a:xfrm>
              <a:off x="645" y="2536"/>
              <a:ext cx="4771" cy="290"/>
            </a:xfrm>
            <a:prstGeom prst="rect">
              <a:avLst/>
            </a:prstGeom>
            <a:noFill/>
            <a:ln w="9525">
              <a:noFill/>
            </a:ln>
          </p:spPr>
          <p:txBody>
            <a:bodyPr wrap="none">
              <a:spAutoFit/>
            </a:bodyPr>
            <a:lstStyle/>
            <a:p>
              <a:r>
                <a:rPr lang="en-US" altLang="zh-CN" dirty="0">
                  <a:latin typeface="Times New Roman" panose="02020603050405020304" pitchFamily="18" charset="0"/>
                </a:rPr>
                <a:t> </a:t>
              </a:r>
              <a:r>
                <a:rPr lang="zh-CN" altLang="en-US" dirty="0">
                  <a:latin typeface="Times New Roman" panose="02020603050405020304" pitchFamily="18" charset="0"/>
                </a:rPr>
                <a:t>谐振时，回路阻抗        最大，为一</a:t>
              </a:r>
              <a:r>
                <a:rPr lang="zh-CN" altLang="en-US" dirty="0">
                  <a:solidFill>
                    <a:srgbClr val="FF0066"/>
                  </a:solidFill>
                  <a:latin typeface="Times New Roman" panose="02020603050405020304" pitchFamily="18" charset="0"/>
                </a:rPr>
                <a:t>纯电阻</a:t>
              </a:r>
              <a:r>
                <a:rPr lang="zh-CN" altLang="en-US" dirty="0">
                  <a:latin typeface="Times New Roman" panose="02020603050405020304" pitchFamily="18" charset="0"/>
                </a:rPr>
                <a:t>即：谐振电阻</a:t>
              </a:r>
              <a:endParaRPr lang="zh-CN" altLang="en-US" dirty="0">
                <a:latin typeface="Times New Roman" panose="02020603050405020304" pitchFamily="18" charset="0"/>
              </a:endParaRPr>
            </a:p>
          </p:txBody>
        </p:sp>
        <p:graphicFrame>
          <p:nvGraphicFramePr>
            <p:cNvPr id="8200" name="Object 15"/>
            <p:cNvGraphicFramePr/>
            <p:nvPr/>
          </p:nvGraphicFramePr>
          <p:xfrm>
            <a:off x="2336" y="2523"/>
            <a:ext cx="265" cy="317"/>
          </p:xfrm>
          <a:graphic>
            <a:graphicData uri="http://schemas.openxmlformats.org/presentationml/2006/ole">
              <mc:AlternateContent xmlns:mc="http://schemas.openxmlformats.org/markup-compatibility/2006">
                <mc:Choice xmlns:v="urn:schemas-microsoft-com:vml" Requires="v">
                  <p:oleObj spid="_x0000_s6" name="" r:id="rId7" imgW="190500" imgH="228600" progId="Equation.DSMT4">
                    <p:embed/>
                  </p:oleObj>
                </mc:Choice>
                <mc:Fallback>
                  <p:oleObj name="" r:id="rId7" imgW="190500" imgH="228600" progId="Equation.DSMT4">
                    <p:embed/>
                    <p:pic>
                      <p:nvPicPr>
                        <p:cNvPr id="0" name="图片 3097"/>
                        <p:cNvPicPr/>
                        <p:nvPr/>
                      </p:nvPicPr>
                      <p:blipFill>
                        <a:blip r:embed="rId8"/>
                        <a:stretch>
                          <a:fillRect/>
                        </a:stretch>
                      </p:blipFill>
                      <p:spPr>
                        <a:xfrm>
                          <a:off x="2336" y="2523"/>
                          <a:ext cx="265" cy="317"/>
                        </a:xfrm>
                        <a:prstGeom prst="rect">
                          <a:avLst/>
                        </a:prstGeom>
                        <a:noFill/>
                        <a:ln w="38100">
                          <a:noFill/>
                          <a:miter/>
                        </a:ln>
                      </p:spPr>
                    </p:pic>
                  </p:oleObj>
                </mc:Fallback>
              </mc:AlternateContent>
            </a:graphicData>
          </a:graphic>
        </p:graphicFrame>
      </p:grpSp>
      <p:grpSp>
        <p:nvGrpSpPr>
          <p:cNvPr id="7" name="Group 16"/>
          <p:cNvGrpSpPr/>
          <p:nvPr/>
        </p:nvGrpSpPr>
        <p:grpSpPr>
          <a:xfrm>
            <a:off x="6299518" y="3932873"/>
            <a:ext cx="2574924" cy="1216025"/>
            <a:chOff x="3979" y="2568"/>
            <a:chExt cx="1622" cy="766"/>
          </a:xfrm>
        </p:grpSpPr>
        <p:sp>
          <p:nvSpPr>
            <p:cNvPr id="8207" name="Text Box 17"/>
            <p:cNvSpPr txBox="1"/>
            <p:nvPr/>
          </p:nvSpPr>
          <p:spPr>
            <a:xfrm>
              <a:off x="3979" y="2568"/>
              <a:ext cx="1622" cy="755"/>
            </a:xfrm>
            <a:prstGeom prst="rect">
              <a:avLst/>
            </a:prstGeom>
            <a:solidFill>
              <a:schemeClr val="accent1">
                <a:lumMod val="20000"/>
                <a:lumOff val="80000"/>
              </a:schemeClr>
            </a:solidFill>
            <a:ln w="9525">
              <a:noFill/>
            </a:ln>
          </p:spPr>
          <p:txBody>
            <a:bodyPr wrap="square">
              <a:spAutoFit/>
            </a:bodyPr>
            <a:lstStyle/>
            <a:p>
              <a:r>
                <a:rPr lang="zh-CN" altLang="en-US" dirty="0">
                  <a:latin typeface="Times New Roman" panose="02020603050405020304" pitchFamily="18" charset="0"/>
                </a:rPr>
                <a:t>并联谐振回路的电阻</a:t>
              </a:r>
              <a:r>
                <a:rPr lang="en-US" altLang="zh-CN" dirty="0">
                  <a:latin typeface="Times New Roman" panose="02020603050405020304" pitchFamily="18" charset="0"/>
                </a:rPr>
                <a:t>R</a:t>
              </a:r>
              <a:r>
                <a:rPr lang="en-US" altLang="zh-CN" baseline="-25000" dirty="0">
                  <a:latin typeface="Times New Roman" panose="02020603050405020304" pitchFamily="18" charset="0"/>
                </a:rPr>
                <a:t>e0</a:t>
              </a:r>
              <a:r>
                <a:rPr lang="zh-CN" altLang="en-US" dirty="0">
                  <a:latin typeface="Times New Roman" panose="02020603050405020304" pitchFamily="18" charset="0"/>
                </a:rPr>
                <a:t>为             </a:t>
              </a:r>
              <a:endParaRPr lang="zh-CN" altLang="en-US" dirty="0">
                <a:latin typeface="Times New Roman" panose="02020603050405020304" pitchFamily="18" charset="0"/>
              </a:endParaRPr>
            </a:p>
            <a:p>
              <a:r>
                <a:rPr lang="zh-CN" altLang="en-US" dirty="0">
                  <a:latin typeface="Times New Roman" panose="02020603050405020304" pitchFamily="18" charset="0"/>
                </a:rPr>
                <a:t>和              的</a:t>
              </a:r>
              <a:r>
                <a:rPr lang="en-US" altLang="zh-CN" dirty="0">
                  <a:latin typeface="Times New Roman" panose="02020603050405020304" pitchFamily="18" charset="0"/>
                </a:rPr>
                <a:t>Q</a:t>
              </a:r>
              <a:r>
                <a:rPr lang="zh-CN" altLang="en-US" dirty="0">
                  <a:latin typeface="Times New Roman" panose="02020603050405020304" pitchFamily="18" charset="0"/>
                </a:rPr>
                <a:t>倍</a:t>
              </a:r>
              <a:endParaRPr lang="zh-CN" altLang="en-US" dirty="0">
                <a:latin typeface="Times New Roman" panose="02020603050405020304" pitchFamily="18" charset="0"/>
              </a:endParaRPr>
            </a:p>
          </p:txBody>
        </p:sp>
        <p:graphicFrame>
          <p:nvGraphicFramePr>
            <p:cNvPr id="8198" name="Object 18"/>
            <p:cNvGraphicFramePr/>
            <p:nvPr/>
          </p:nvGraphicFramePr>
          <p:xfrm>
            <a:off x="4834" y="2795"/>
            <a:ext cx="408" cy="319"/>
          </p:xfrm>
          <a:graphic>
            <a:graphicData uri="http://schemas.openxmlformats.org/presentationml/2006/ole">
              <mc:AlternateContent xmlns:mc="http://schemas.openxmlformats.org/markup-compatibility/2006">
                <mc:Choice xmlns:v="urn:schemas-microsoft-com:vml" Requires="v">
                  <p:oleObj spid="_x0000_s8" name="" r:id="rId9" imgW="292100" imgH="228600" progId="Equation.DSMT4">
                    <p:embed/>
                  </p:oleObj>
                </mc:Choice>
                <mc:Fallback>
                  <p:oleObj name="" r:id="rId9" imgW="292100" imgH="228600" progId="Equation.DSMT4">
                    <p:embed/>
                    <p:pic>
                      <p:nvPicPr>
                        <p:cNvPr id="0" name="图片 3086"/>
                        <p:cNvPicPr/>
                        <p:nvPr/>
                      </p:nvPicPr>
                      <p:blipFill>
                        <a:blip r:embed="rId10"/>
                        <a:stretch>
                          <a:fillRect/>
                        </a:stretch>
                      </p:blipFill>
                      <p:spPr>
                        <a:xfrm>
                          <a:off x="4834" y="2795"/>
                          <a:ext cx="408" cy="319"/>
                        </a:xfrm>
                        <a:prstGeom prst="rect">
                          <a:avLst/>
                        </a:prstGeom>
                        <a:noFill/>
                        <a:ln w="38100">
                          <a:noFill/>
                          <a:miter/>
                        </a:ln>
                      </p:spPr>
                    </p:pic>
                  </p:oleObj>
                </mc:Fallback>
              </mc:AlternateContent>
            </a:graphicData>
          </a:graphic>
        </p:graphicFrame>
        <p:graphicFrame>
          <p:nvGraphicFramePr>
            <p:cNvPr id="8199" name="Object 19"/>
            <p:cNvGraphicFramePr/>
            <p:nvPr/>
          </p:nvGraphicFramePr>
          <p:xfrm>
            <a:off x="4286" y="3021"/>
            <a:ext cx="590" cy="313"/>
          </p:xfrm>
          <a:graphic>
            <a:graphicData uri="http://schemas.openxmlformats.org/presentationml/2006/ole">
              <mc:AlternateContent xmlns:mc="http://schemas.openxmlformats.org/markup-compatibility/2006">
                <mc:Choice xmlns:v="urn:schemas-microsoft-com:vml" Requires="v">
                  <p:oleObj spid="_x0000_s9" name="" r:id="rId11" imgW="431800" imgH="228600" progId="Equation.DSMT4">
                    <p:embed/>
                  </p:oleObj>
                </mc:Choice>
                <mc:Fallback>
                  <p:oleObj name="" r:id="rId11" imgW="431800" imgH="228600" progId="Equation.DSMT4">
                    <p:embed/>
                    <p:pic>
                      <p:nvPicPr>
                        <p:cNvPr id="0" name="图片 3093"/>
                        <p:cNvPicPr/>
                        <p:nvPr/>
                      </p:nvPicPr>
                      <p:blipFill>
                        <a:blip r:embed="rId12"/>
                        <a:stretch>
                          <a:fillRect/>
                        </a:stretch>
                      </p:blipFill>
                      <p:spPr>
                        <a:xfrm>
                          <a:off x="4286" y="3021"/>
                          <a:ext cx="590" cy="313"/>
                        </a:xfrm>
                        <a:prstGeom prst="rect">
                          <a:avLst/>
                        </a:prstGeom>
                        <a:noFill/>
                        <a:ln w="38100">
                          <a:noFill/>
                          <a:miter/>
                        </a:ln>
                      </p:spPr>
                    </p:pic>
                  </p:oleObj>
                </mc:Fallback>
              </mc:AlternateContent>
            </a:graphicData>
          </a:graphic>
        </p:graphicFrame>
      </p:grpSp>
      <p:graphicFrame>
        <p:nvGraphicFramePr>
          <p:cNvPr id="359444" name="Object 20"/>
          <p:cNvGraphicFramePr/>
          <p:nvPr/>
        </p:nvGraphicFramePr>
        <p:xfrm>
          <a:off x="1593215" y="5382895"/>
          <a:ext cx="1155700" cy="777875"/>
        </p:xfrm>
        <a:graphic>
          <a:graphicData uri="http://schemas.openxmlformats.org/presentationml/2006/ole">
            <mc:AlternateContent xmlns:mc="http://schemas.openxmlformats.org/markup-compatibility/2006">
              <mc:Choice xmlns:v="urn:schemas-microsoft-com:vml" Requires="v">
                <p:oleObj spid="_x0000_s10" name="" r:id="rId13" imgW="584200" imgH="393700" progId="Equation.DSMT4">
                  <p:embed/>
                </p:oleObj>
              </mc:Choice>
              <mc:Fallback>
                <p:oleObj name="" r:id="rId13" imgW="584200" imgH="393700" progId="Equation.DSMT4">
                  <p:embed/>
                  <p:pic>
                    <p:nvPicPr>
                      <p:cNvPr id="0" name="图片 3098"/>
                      <p:cNvPicPr/>
                      <p:nvPr/>
                    </p:nvPicPr>
                    <p:blipFill>
                      <a:blip r:embed="rId14"/>
                      <a:stretch>
                        <a:fillRect/>
                      </a:stretch>
                    </p:blipFill>
                    <p:spPr>
                      <a:xfrm>
                        <a:off x="1593215" y="5382895"/>
                        <a:ext cx="1155700" cy="777875"/>
                      </a:xfrm>
                      <a:prstGeom prst="rect">
                        <a:avLst/>
                      </a:prstGeom>
                      <a:noFill/>
                      <a:ln w="38100">
                        <a:noFill/>
                        <a:miter/>
                      </a:ln>
                    </p:spPr>
                  </p:pic>
                </p:oleObj>
              </mc:Fallback>
            </mc:AlternateContent>
          </a:graphicData>
        </a:graphic>
      </p:graphicFrame>
      <p:sp>
        <p:nvSpPr>
          <p:cNvPr id="6154" name="Text Box 89"/>
          <p:cNvSpPr txBox="1"/>
          <p:nvPr/>
        </p:nvSpPr>
        <p:spPr>
          <a:xfrm>
            <a:off x="611188" y="1372553"/>
            <a:ext cx="5212080" cy="460375"/>
          </a:xfrm>
          <a:prstGeom prst="rect">
            <a:avLst/>
          </a:prstGeom>
          <a:noFill/>
          <a:ln w="9525">
            <a:noFill/>
          </a:ln>
        </p:spPr>
        <p:txBody>
          <a:bodyPr wrap="none">
            <a:spAutoFit/>
          </a:bodyPr>
          <a:lstStyle/>
          <a:p>
            <a:r>
              <a:rPr lang="en-US" altLang="zh-CN" dirty="0">
                <a:solidFill>
                  <a:schemeClr val="accent2"/>
                </a:solidFill>
                <a:latin typeface="Times New Roman" panose="02020603050405020304" pitchFamily="18" charset="0"/>
              </a:rPr>
              <a:t>1</a:t>
            </a:r>
            <a:r>
              <a:rPr lang="zh-CN" altLang="en-US" dirty="0">
                <a:solidFill>
                  <a:schemeClr val="accent2"/>
                </a:solidFill>
                <a:latin typeface="Times New Roman" panose="02020603050405020304" pitchFamily="18" charset="0"/>
              </a:rPr>
              <a:t>、并联谐振回路（电感、电容并联）</a:t>
            </a:r>
            <a:endParaRPr lang="zh-CN" altLang="en-US" dirty="0">
              <a:solidFill>
                <a:schemeClr val="accent2"/>
              </a:solidFill>
              <a:latin typeface="Times New Roman" panose="02020603050405020304" pitchFamily="18" charset="0"/>
            </a:endParaRPr>
          </a:p>
        </p:txBody>
      </p:sp>
      <p:graphicFrame>
        <p:nvGraphicFramePr>
          <p:cNvPr id="11" name="Object 18"/>
          <p:cNvGraphicFramePr/>
          <p:nvPr/>
        </p:nvGraphicFramePr>
        <p:xfrm>
          <a:off x="683895" y="2321560"/>
          <a:ext cx="4050665" cy="1496060"/>
        </p:xfrm>
        <a:graphic>
          <a:graphicData uri="http://schemas.openxmlformats.org/presentationml/2006/ole">
            <mc:AlternateContent xmlns:mc="http://schemas.openxmlformats.org/markup-compatibility/2006">
              <mc:Choice xmlns:v="urn:schemas-microsoft-com:vml" Requires="v">
                <p:oleObj spid="_x0000_s12" name="" r:id="rId15" imgW="2221230" imgH="774065" progId="Equation.DSMT4">
                  <p:embed/>
                </p:oleObj>
              </mc:Choice>
              <mc:Fallback>
                <p:oleObj name="" r:id="rId15" imgW="2221230" imgH="774065" progId="Equation.DSMT4">
                  <p:embed/>
                  <p:pic>
                    <p:nvPicPr>
                      <p:cNvPr id="0" name="图片 3090"/>
                      <p:cNvPicPr/>
                      <p:nvPr/>
                    </p:nvPicPr>
                    <p:blipFill>
                      <a:blip r:embed="rId16"/>
                      <a:stretch>
                        <a:fillRect/>
                      </a:stretch>
                    </p:blipFill>
                    <p:spPr>
                      <a:xfrm>
                        <a:off x="683895" y="2321560"/>
                        <a:ext cx="4050665" cy="1496060"/>
                      </a:xfrm>
                      <a:prstGeom prst="rect">
                        <a:avLst/>
                      </a:prstGeom>
                      <a:noFill/>
                      <a:ln w="38100">
                        <a:noFill/>
                        <a:miter/>
                      </a:ln>
                    </p:spPr>
                  </p:pic>
                </p:oleObj>
              </mc:Fallback>
            </mc:AlternateContent>
          </a:graphicData>
        </a:graphic>
      </p:graphicFrame>
      <p:graphicFrame>
        <p:nvGraphicFramePr>
          <p:cNvPr id="13" name="Object 20"/>
          <p:cNvGraphicFramePr/>
          <p:nvPr/>
        </p:nvGraphicFramePr>
        <p:xfrm>
          <a:off x="7148830" y="5229225"/>
          <a:ext cx="1155700" cy="777875"/>
        </p:xfrm>
        <a:graphic>
          <a:graphicData uri="http://schemas.openxmlformats.org/presentationml/2006/ole">
            <mc:AlternateContent xmlns:mc="http://schemas.openxmlformats.org/markup-compatibility/2006">
              <mc:Choice xmlns:v="urn:schemas-microsoft-com:vml" Requires="v">
                <p:oleObj spid="_x0000_s14" name="" r:id="rId17" imgW="584200" imgH="393700" progId="Equation.DSMT4">
                  <p:embed/>
                </p:oleObj>
              </mc:Choice>
              <mc:Fallback>
                <p:oleObj name="" r:id="rId17" imgW="584200" imgH="393700" progId="Equation.DSMT4">
                  <p:embed/>
                  <p:pic>
                    <p:nvPicPr>
                      <p:cNvPr id="0" name="图片 3098"/>
                      <p:cNvPicPr/>
                      <p:nvPr/>
                    </p:nvPicPr>
                    <p:blipFill>
                      <a:blip r:embed="rId18"/>
                      <a:stretch>
                        <a:fillRect/>
                      </a:stretch>
                    </p:blipFill>
                    <p:spPr>
                      <a:xfrm>
                        <a:off x="7148830" y="5229225"/>
                        <a:ext cx="1155700" cy="777875"/>
                      </a:xfrm>
                      <a:prstGeom prst="rect">
                        <a:avLst/>
                      </a:prstGeom>
                      <a:noFill/>
                      <a:ln w="38100">
                        <a:noFill/>
                        <a:miter/>
                      </a:ln>
                    </p:spPr>
                  </p:pic>
                </p:oleObj>
              </mc:Fallback>
            </mc:AlternateContent>
          </a:graphicData>
        </a:graphic>
      </p:graphicFrame>
      <p:graphicFrame>
        <p:nvGraphicFramePr>
          <p:cNvPr id="15" name="Object 20"/>
          <p:cNvGraphicFramePr/>
          <p:nvPr/>
        </p:nvGraphicFramePr>
        <p:xfrm>
          <a:off x="6511925" y="5877243"/>
          <a:ext cx="2362200" cy="853440"/>
        </p:xfrm>
        <a:graphic>
          <a:graphicData uri="http://schemas.openxmlformats.org/presentationml/2006/ole">
            <mc:AlternateContent xmlns:mc="http://schemas.openxmlformats.org/markup-compatibility/2006">
              <mc:Choice xmlns:v="urn:schemas-microsoft-com:vml" Requires="v">
                <p:oleObj spid="_x0000_s16" name="" r:id="rId19" imgW="1193800" imgH="431800" progId="Equation.DSMT4">
                  <p:embed/>
                </p:oleObj>
              </mc:Choice>
              <mc:Fallback>
                <p:oleObj name="" r:id="rId19" imgW="1193800" imgH="431800" progId="Equation.DSMT4">
                  <p:embed/>
                  <p:pic>
                    <p:nvPicPr>
                      <p:cNvPr id="0" name="图片 3098"/>
                      <p:cNvPicPr/>
                      <p:nvPr/>
                    </p:nvPicPr>
                    <p:blipFill>
                      <a:blip r:embed="rId20"/>
                      <a:stretch>
                        <a:fillRect/>
                      </a:stretch>
                    </p:blipFill>
                    <p:spPr>
                      <a:xfrm>
                        <a:off x="6511925" y="5877243"/>
                        <a:ext cx="2362200" cy="853440"/>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nvGraphicFramePr>
        <p:xfrm>
          <a:off x="467384" y="2518515"/>
          <a:ext cx="6557963" cy="1117600"/>
        </p:xfrm>
        <a:graphic>
          <a:graphicData uri="http://schemas.openxmlformats.org/presentationml/2006/ole">
            <mc:AlternateContent xmlns:mc="http://schemas.openxmlformats.org/markup-compatibility/2006">
              <mc:Choice xmlns:v="urn:schemas-microsoft-com:vml" Requires="v">
                <p:oleObj spid="_x0000_s2" name="Equation" r:id="rId1" imgW="88087200" imgH="14630400" progId="Equation.DSMT4">
                  <p:embed/>
                </p:oleObj>
              </mc:Choice>
              <mc:Fallback>
                <p:oleObj name="Equation" r:id="rId1" imgW="88087200" imgH="14630400" progId="Equation.DSMT4">
                  <p:embed/>
                  <p:pic>
                    <p:nvPicPr>
                      <p:cNvPr id="0" name="对象 4"/>
                      <p:cNvPicPr/>
                      <p:nvPr/>
                    </p:nvPicPr>
                    <p:blipFill>
                      <a:blip r:embed="rId2"/>
                      <a:stretch>
                        <a:fillRect/>
                      </a:stretch>
                    </p:blipFill>
                    <p:spPr>
                      <a:xfrm>
                        <a:off x="467384" y="2518515"/>
                        <a:ext cx="6557963" cy="1117600"/>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539604" y="1773197"/>
          <a:ext cx="2451100" cy="768350"/>
        </p:xfrm>
        <a:graphic>
          <a:graphicData uri="http://schemas.openxmlformats.org/presentationml/2006/ole">
            <mc:AlternateContent xmlns:mc="http://schemas.openxmlformats.org/markup-compatibility/2006">
              <mc:Choice xmlns:v="urn:schemas-microsoft-com:vml" Requires="v">
                <p:oleObj spid="_x0000_s4" name="Equation" r:id="rId3" imgW="32918400" imgH="10058400" progId="Equation.DSMT4">
                  <p:embed/>
                </p:oleObj>
              </mc:Choice>
              <mc:Fallback>
                <p:oleObj name="Equation" r:id="rId3" imgW="32918400" imgH="10058400" progId="Equation.DSMT4">
                  <p:embed/>
                  <p:pic>
                    <p:nvPicPr>
                      <p:cNvPr id="0" name="对象 7"/>
                      <p:cNvPicPr/>
                      <p:nvPr/>
                    </p:nvPicPr>
                    <p:blipFill>
                      <a:blip r:embed="rId4"/>
                      <a:stretch>
                        <a:fillRect/>
                      </a:stretch>
                    </p:blipFill>
                    <p:spPr>
                      <a:xfrm>
                        <a:off x="539604" y="1773197"/>
                        <a:ext cx="2451100" cy="76835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2123123" y="3809365"/>
          <a:ext cx="931862" cy="327025"/>
        </p:xfrm>
        <a:graphic>
          <a:graphicData uri="http://schemas.openxmlformats.org/presentationml/2006/ole">
            <mc:AlternateContent xmlns:mc="http://schemas.openxmlformats.org/markup-compatibility/2006">
              <mc:Choice xmlns:v="urn:schemas-microsoft-com:vml" Requires="v">
                <p:oleObj spid="_x0000_s5" name="Equation" r:id="rId5" imgW="12496800" imgH="4267200" progId="Equation.DSMT4">
                  <p:embed/>
                </p:oleObj>
              </mc:Choice>
              <mc:Fallback>
                <p:oleObj name="Equation" r:id="rId5" imgW="12496800" imgH="4267200" progId="Equation.DSMT4">
                  <p:embed/>
                  <p:pic>
                    <p:nvPicPr>
                      <p:cNvPr id="0" name="对象 8"/>
                      <p:cNvPicPr/>
                      <p:nvPr/>
                    </p:nvPicPr>
                    <p:blipFill>
                      <a:blip r:embed="rId6"/>
                      <a:stretch>
                        <a:fillRect/>
                      </a:stretch>
                    </p:blipFill>
                    <p:spPr>
                      <a:xfrm>
                        <a:off x="2123123" y="3809365"/>
                        <a:ext cx="931862" cy="327025"/>
                      </a:xfrm>
                      <a:prstGeom prst="rect">
                        <a:avLst/>
                      </a:prstGeom>
                    </p:spPr>
                  </p:pic>
                </p:oleObj>
              </mc:Fallback>
            </mc:AlternateContent>
          </a:graphicData>
        </a:graphic>
      </p:graphicFrame>
      <p:sp>
        <p:nvSpPr>
          <p:cNvPr id="9" name="文本框 8"/>
          <p:cNvSpPr txBox="1"/>
          <p:nvPr/>
        </p:nvSpPr>
        <p:spPr>
          <a:xfrm>
            <a:off x="323069" y="3783287"/>
            <a:ext cx="1820742" cy="460375"/>
          </a:xfrm>
          <a:prstGeom prst="rect">
            <a:avLst/>
          </a:prstGeom>
          <a:noFill/>
        </p:spPr>
        <p:txBody>
          <a:bodyPr wrap="square" rtlCol="0">
            <a:spAutoFit/>
          </a:bodyPr>
          <a:lstStyle/>
          <a:p>
            <a:r>
              <a:rPr lang="zh-CN" altLang="en-US" b="1" dirty="0">
                <a:latin typeface="+mj-ea"/>
                <a:ea typeface="+mj-ea"/>
                <a:cs typeface="Times New Roman" panose="02020603050405020304" pitchFamily="18" charset="0"/>
              </a:rPr>
              <a:t>一般情况下</a:t>
            </a:r>
            <a:endParaRPr lang="zh-CN" altLang="en-US" b="1" dirty="0">
              <a:latin typeface="+mj-ea"/>
              <a:ea typeface="+mj-ea"/>
              <a:cs typeface="Times New Roman" panose="02020603050405020304" pitchFamily="18" charset="0"/>
            </a:endParaRPr>
          </a:p>
        </p:txBody>
      </p:sp>
      <p:graphicFrame>
        <p:nvGraphicFramePr>
          <p:cNvPr id="10" name="对象 9"/>
          <p:cNvGraphicFramePr>
            <a:graphicFrameLocks noChangeAspect="1"/>
          </p:cNvGraphicFramePr>
          <p:nvPr/>
        </p:nvGraphicFramePr>
        <p:xfrm>
          <a:off x="289560" y="4199890"/>
          <a:ext cx="5365115" cy="2279650"/>
        </p:xfrm>
        <a:graphic>
          <a:graphicData uri="http://schemas.openxmlformats.org/presentationml/2006/ole">
            <mc:AlternateContent xmlns:mc="http://schemas.openxmlformats.org/markup-compatibility/2006">
              <mc:Choice xmlns:v="urn:schemas-microsoft-com:vml" Requires="v">
                <p:oleObj spid="_x0000_s7" name="Equation" r:id="rId7" imgW="3288665" imgH="1346200" progId="Equation.DSMT4">
                  <p:embed/>
                </p:oleObj>
              </mc:Choice>
              <mc:Fallback>
                <p:oleObj name="Equation" r:id="rId7" imgW="3288665" imgH="1346200" progId="Equation.DSMT4">
                  <p:embed/>
                  <p:pic>
                    <p:nvPicPr>
                      <p:cNvPr id="0" name="对象 10"/>
                      <p:cNvPicPr/>
                      <p:nvPr/>
                    </p:nvPicPr>
                    <p:blipFill>
                      <a:blip r:embed="rId8"/>
                      <a:stretch>
                        <a:fillRect/>
                      </a:stretch>
                    </p:blipFill>
                    <p:spPr>
                      <a:xfrm>
                        <a:off x="289560" y="4199890"/>
                        <a:ext cx="5365115" cy="2279650"/>
                      </a:xfrm>
                      <a:prstGeom prst="rect">
                        <a:avLst/>
                      </a:prstGeom>
                    </p:spPr>
                  </p:pic>
                </p:oleObj>
              </mc:Fallback>
            </mc:AlternateContent>
          </a:graphicData>
        </a:graphic>
      </p:graphicFrame>
      <p:grpSp>
        <p:nvGrpSpPr>
          <p:cNvPr id="11" name="Group 12"/>
          <p:cNvGrpSpPr/>
          <p:nvPr/>
        </p:nvGrpSpPr>
        <p:grpSpPr>
          <a:xfrm>
            <a:off x="5722303" y="3861435"/>
            <a:ext cx="1708150" cy="2600325"/>
            <a:chOff x="158" y="709"/>
            <a:chExt cx="1606" cy="2020"/>
          </a:xfrm>
        </p:grpSpPr>
        <p:graphicFrame>
          <p:nvGraphicFramePr>
            <p:cNvPr id="9222" name="Object 13"/>
            <p:cNvGraphicFramePr/>
            <p:nvPr/>
          </p:nvGraphicFramePr>
          <p:xfrm>
            <a:off x="295" y="709"/>
            <a:ext cx="943" cy="1510"/>
          </p:xfrm>
          <a:graphic>
            <a:graphicData uri="http://schemas.openxmlformats.org/presentationml/2006/ole">
              <mc:AlternateContent xmlns:mc="http://schemas.openxmlformats.org/markup-compatibility/2006">
                <mc:Choice xmlns:v="urn:schemas-microsoft-com:vml" Requires="v">
                  <p:oleObj spid="_x0000_s12" name="" r:id="rId9" imgW="672465" imgH="1057910" progId="Visio.Drawing.6">
                    <p:embed/>
                  </p:oleObj>
                </mc:Choice>
                <mc:Fallback>
                  <p:oleObj name="" r:id="rId9" imgW="672465" imgH="1057910" progId="Visio.Drawing.6">
                    <p:embed/>
                    <p:pic>
                      <p:nvPicPr>
                        <p:cNvPr id="0" name="图片 3416"/>
                        <p:cNvPicPr/>
                        <p:nvPr/>
                      </p:nvPicPr>
                      <p:blipFill>
                        <a:blip r:embed="rId10"/>
                        <a:stretch>
                          <a:fillRect/>
                        </a:stretch>
                      </p:blipFill>
                      <p:spPr>
                        <a:xfrm>
                          <a:off x="295" y="709"/>
                          <a:ext cx="943" cy="1510"/>
                        </a:xfrm>
                        <a:prstGeom prst="rect">
                          <a:avLst/>
                        </a:prstGeom>
                        <a:noFill/>
                        <a:ln w="38100">
                          <a:noFill/>
                          <a:miter/>
                        </a:ln>
                      </p:spPr>
                    </p:pic>
                  </p:oleObj>
                </mc:Fallback>
              </mc:AlternateContent>
            </a:graphicData>
          </a:graphic>
        </p:graphicFrame>
        <p:sp>
          <p:nvSpPr>
            <p:cNvPr id="9234" name="Text Box 14"/>
            <p:cNvSpPr txBox="1"/>
            <p:nvPr/>
          </p:nvSpPr>
          <p:spPr>
            <a:xfrm>
              <a:off x="158" y="2420"/>
              <a:ext cx="1606" cy="309"/>
            </a:xfrm>
            <a:prstGeom prst="rect">
              <a:avLst/>
            </a:prstGeom>
            <a:noFill/>
            <a:ln w="9525">
              <a:noFill/>
            </a:ln>
          </p:spPr>
          <p:txBody>
            <a:bodyPr wrap="none">
              <a:spAutoFit/>
            </a:bodyPr>
            <a:lstStyle/>
            <a:p>
              <a:r>
                <a:rPr lang="zh-CN" altLang="en-US" sz="2000" dirty="0">
                  <a:latin typeface="Times New Roman" panose="02020603050405020304" pitchFamily="18" charset="0"/>
                </a:rPr>
                <a:t>并联谐振回路</a:t>
              </a:r>
              <a:endParaRPr lang="zh-CN" altLang="en-US" sz="2000" dirty="0">
                <a:latin typeface="Times New Roman" panose="02020603050405020304" pitchFamily="18" charset="0"/>
              </a:endParaRPr>
            </a:p>
          </p:txBody>
        </p:sp>
      </p:grpSp>
      <p:grpSp>
        <p:nvGrpSpPr>
          <p:cNvPr id="13" name="Group 15"/>
          <p:cNvGrpSpPr/>
          <p:nvPr/>
        </p:nvGrpSpPr>
        <p:grpSpPr>
          <a:xfrm>
            <a:off x="7164070" y="3809048"/>
            <a:ext cx="1873250" cy="2670511"/>
            <a:chOff x="1927" y="663"/>
            <a:chExt cx="1527" cy="2012"/>
          </a:xfrm>
        </p:grpSpPr>
        <p:sp>
          <p:nvSpPr>
            <p:cNvPr id="9233" name="Text Box 16"/>
            <p:cNvSpPr txBox="1"/>
            <p:nvPr/>
          </p:nvSpPr>
          <p:spPr>
            <a:xfrm>
              <a:off x="2200" y="2376"/>
              <a:ext cx="978" cy="299"/>
            </a:xfrm>
            <a:prstGeom prst="rect">
              <a:avLst/>
            </a:prstGeom>
            <a:noFill/>
            <a:ln w="9525">
              <a:noFill/>
            </a:ln>
          </p:spPr>
          <p:txBody>
            <a:bodyPr wrap="none">
              <a:spAutoFit/>
            </a:bodyPr>
            <a:lstStyle/>
            <a:p>
              <a:r>
                <a:rPr lang="zh-CN" altLang="en-US" sz="2000" dirty="0">
                  <a:latin typeface="Times New Roman" panose="02020603050405020304" pitchFamily="18" charset="0"/>
                </a:rPr>
                <a:t>等效电路</a:t>
              </a:r>
              <a:endParaRPr lang="zh-CN" altLang="en-US" sz="2000" dirty="0">
                <a:latin typeface="Times New Roman" panose="02020603050405020304" pitchFamily="18" charset="0"/>
              </a:endParaRPr>
            </a:p>
          </p:txBody>
        </p:sp>
        <p:graphicFrame>
          <p:nvGraphicFramePr>
            <p:cNvPr id="9221" name="Object 17"/>
            <p:cNvGraphicFramePr/>
            <p:nvPr/>
          </p:nvGraphicFramePr>
          <p:xfrm>
            <a:off x="1927" y="663"/>
            <a:ext cx="1527" cy="1566"/>
          </p:xfrm>
          <a:graphic>
            <a:graphicData uri="http://schemas.openxmlformats.org/presentationml/2006/ole">
              <mc:AlternateContent xmlns:mc="http://schemas.openxmlformats.org/markup-compatibility/2006">
                <mc:Choice xmlns:v="urn:schemas-microsoft-com:vml" Requires="v">
                  <p:oleObj spid="_x0000_s14" name="" r:id="rId11" imgW="4455160" imgH="4563110" progId="Visio.Drawing.6">
                    <p:embed/>
                  </p:oleObj>
                </mc:Choice>
                <mc:Fallback>
                  <p:oleObj name="" r:id="rId11" imgW="4455160" imgH="4563110" progId="Visio.Drawing.6">
                    <p:embed/>
                    <p:pic>
                      <p:nvPicPr>
                        <p:cNvPr id="0" name="图片 3417"/>
                        <p:cNvPicPr/>
                        <p:nvPr/>
                      </p:nvPicPr>
                      <p:blipFill>
                        <a:blip r:embed="rId12"/>
                        <a:stretch>
                          <a:fillRect/>
                        </a:stretch>
                      </p:blipFill>
                      <p:spPr>
                        <a:xfrm>
                          <a:off x="1927" y="663"/>
                          <a:ext cx="1527" cy="1566"/>
                        </a:xfrm>
                        <a:prstGeom prst="rect">
                          <a:avLst/>
                        </a:prstGeom>
                        <a:noFill/>
                        <a:ln w="38100">
                          <a:noFill/>
                          <a:miter/>
                        </a:ln>
                      </p:spPr>
                    </p:pic>
                  </p:oleObj>
                </mc:Fallback>
              </mc:AlternateContent>
            </a:graphicData>
          </a:graphic>
        </p:graphicFrame>
      </p:grpSp>
      <p:grpSp>
        <p:nvGrpSpPr>
          <p:cNvPr id="8202" name="Group 5"/>
          <p:cNvGrpSpPr/>
          <p:nvPr/>
        </p:nvGrpSpPr>
        <p:grpSpPr>
          <a:xfrm>
            <a:off x="2339975" y="354013"/>
            <a:ext cx="5334000" cy="546100"/>
            <a:chOff x="1378" y="410"/>
            <a:chExt cx="3360" cy="344"/>
          </a:xfrm>
        </p:grpSpPr>
        <p:sp>
          <p:nvSpPr>
            <p:cNvPr id="8209" name="Rectangle 6"/>
            <p:cNvSpPr/>
            <p:nvPr/>
          </p:nvSpPr>
          <p:spPr>
            <a:xfrm>
              <a:off x="1378" y="410"/>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8210" name="Line 7"/>
            <p:cNvSpPr/>
            <p:nvPr/>
          </p:nvSpPr>
          <p:spPr>
            <a:xfrm>
              <a:off x="1474" y="754"/>
              <a:ext cx="3024" cy="0"/>
            </a:xfrm>
            <a:prstGeom prst="line">
              <a:avLst/>
            </a:prstGeom>
            <a:ln w="57150" cap="flat" cmpd="tri">
              <a:solidFill>
                <a:srgbClr val="FF00FF"/>
              </a:solidFill>
              <a:prstDash val="solid"/>
              <a:headEnd type="none" w="sm" len="sm"/>
              <a:tailEnd type="none" w="sm" len="sm"/>
            </a:ln>
          </p:spPr>
        </p:sp>
      </p:grpSp>
      <p:sp>
        <p:nvSpPr>
          <p:cNvPr id="8204" name="Text Box 9"/>
          <p:cNvSpPr txBox="1"/>
          <p:nvPr/>
        </p:nvSpPr>
        <p:spPr>
          <a:xfrm>
            <a:off x="0" y="908050"/>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sp>
        <p:nvSpPr>
          <p:cNvPr id="6154" name="Text Box 89"/>
          <p:cNvSpPr txBox="1"/>
          <p:nvPr/>
        </p:nvSpPr>
        <p:spPr>
          <a:xfrm>
            <a:off x="611188" y="1372553"/>
            <a:ext cx="5212080" cy="460375"/>
          </a:xfrm>
          <a:prstGeom prst="rect">
            <a:avLst/>
          </a:prstGeom>
          <a:noFill/>
          <a:ln w="9525">
            <a:noFill/>
          </a:ln>
        </p:spPr>
        <p:txBody>
          <a:bodyPr wrap="none">
            <a:spAutoFit/>
          </a:bodyPr>
          <a:lstStyle/>
          <a:p>
            <a:r>
              <a:rPr lang="en-US" altLang="zh-CN" dirty="0">
                <a:solidFill>
                  <a:schemeClr val="accent2"/>
                </a:solidFill>
                <a:latin typeface="Times New Roman" panose="02020603050405020304" pitchFamily="18" charset="0"/>
              </a:rPr>
              <a:t>1</a:t>
            </a:r>
            <a:r>
              <a:rPr lang="zh-CN" altLang="en-US" dirty="0">
                <a:solidFill>
                  <a:schemeClr val="accent2"/>
                </a:solidFill>
                <a:latin typeface="Times New Roman" panose="02020603050405020304" pitchFamily="18" charset="0"/>
              </a:rPr>
              <a:t>、并联谐振回路（电感、电容并联）</a:t>
            </a:r>
            <a:endParaRPr lang="zh-CN" altLang="en-US" dirty="0">
              <a:solidFill>
                <a:schemeClr val="accent2"/>
              </a:solidFill>
              <a:latin typeface="Times New Roman" panose="02020603050405020304" pitchFamily="18" charset="0"/>
            </a:endParaRPr>
          </a:p>
        </p:txBody>
      </p:sp>
      <p:sp>
        <p:nvSpPr>
          <p:cNvPr id="15" name="右箭头 14"/>
          <p:cNvSpPr/>
          <p:nvPr/>
        </p:nvSpPr>
        <p:spPr>
          <a:xfrm>
            <a:off x="6876415" y="4740275"/>
            <a:ext cx="215900" cy="215900"/>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24" name="Group 5"/>
          <p:cNvGrpSpPr/>
          <p:nvPr/>
        </p:nvGrpSpPr>
        <p:grpSpPr>
          <a:xfrm>
            <a:off x="2339975" y="354013"/>
            <a:ext cx="5334000" cy="546100"/>
            <a:chOff x="1378" y="410"/>
            <a:chExt cx="3360" cy="344"/>
          </a:xfrm>
        </p:grpSpPr>
        <p:sp>
          <p:nvSpPr>
            <p:cNvPr id="9235" name="Rectangle 6"/>
            <p:cNvSpPr/>
            <p:nvPr/>
          </p:nvSpPr>
          <p:spPr>
            <a:xfrm>
              <a:off x="1378" y="410"/>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9236" name="Line 7"/>
            <p:cNvSpPr/>
            <p:nvPr/>
          </p:nvSpPr>
          <p:spPr>
            <a:xfrm>
              <a:off x="1474" y="754"/>
              <a:ext cx="3024" cy="0"/>
            </a:xfrm>
            <a:prstGeom prst="line">
              <a:avLst/>
            </a:prstGeom>
            <a:ln w="57150" cap="flat" cmpd="tri">
              <a:solidFill>
                <a:srgbClr val="FF00FF"/>
              </a:solidFill>
              <a:prstDash val="solid"/>
              <a:headEnd type="none" w="sm" len="sm"/>
              <a:tailEnd type="none" w="sm" len="sm"/>
            </a:ln>
          </p:spPr>
        </p:sp>
      </p:grpSp>
      <p:graphicFrame>
        <p:nvGraphicFramePr>
          <p:cNvPr id="360471" name="Object 23"/>
          <p:cNvGraphicFramePr>
            <a:graphicFrameLocks noGrp="1"/>
          </p:cNvGraphicFramePr>
          <p:nvPr>
            <p:ph sz="quarter"/>
          </p:nvPr>
        </p:nvGraphicFramePr>
        <p:xfrm>
          <a:off x="1188085" y="4741228"/>
          <a:ext cx="2376488" cy="1362075"/>
        </p:xfrm>
        <a:graphic>
          <a:graphicData uri="http://schemas.openxmlformats.org/presentationml/2006/ole">
            <mc:AlternateContent xmlns:mc="http://schemas.openxmlformats.org/markup-compatibility/2006">
              <mc:Choice xmlns:v="urn:schemas-microsoft-com:vml" Requires="v">
                <p:oleObj spid="_x0000_s2" name="" r:id="rId1" imgW="1358265" imgH="799465" progId="Equation.DSMT4">
                  <p:embed/>
                </p:oleObj>
              </mc:Choice>
              <mc:Fallback>
                <p:oleObj name="" r:id="rId1" imgW="1358265" imgH="799465" progId="Equation.DSMT4">
                  <p:embed/>
                  <p:pic>
                    <p:nvPicPr>
                      <p:cNvPr id="0" name="图片 3415"/>
                      <p:cNvPicPr/>
                      <p:nvPr/>
                    </p:nvPicPr>
                    <p:blipFill>
                      <a:blip r:embed="rId2"/>
                      <a:stretch>
                        <a:fillRect/>
                      </a:stretch>
                    </p:blipFill>
                    <p:spPr>
                      <a:xfrm>
                        <a:off x="1188085" y="4741228"/>
                        <a:ext cx="2376488" cy="1362075"/>
                      </a:xfrm>
                      <a:prstGeom prst="rect">
                        <a:avLst/>
                      </a:prstGeom>
                      <a:noFill/>
                      <a:ln w="38100">
                        <a:noFill/>
                        <a:miter/>
                      </a:ln>
                    </p:spPr>
                  </p:pic>
                </p:oleObj>
              </mc:Fallback>
            </mc:AlternateContent>
          </a:graphicData>
        </a:graphic>
      </p:graphicFrame>
      <p:sp>
        <p:nvSpPr>
          <p:cNvPr id="8204" name="Text Box 9"/>
          <p:cNvSpPr txBox="1"/>
          <p:nvPr/>
        </p:nvSpPr>
        <p:spPr>
          <a:xfrm>
            <a:off x="0" y="908050"/>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sp>
        <p:nvSpPr>
          <p:cNvPr id="6154" name="Text Box 89"/>
          <p:cNvSpPr txBox="1"/>
          <p:nvPr/>
        </p:nvSpPr>
        <p:spPr>
          <a:xfrm>
            <a:off x="611188" y="1372553"/>
            <a:ext cx="5212080" cy="460375"/>
          </a:xfrm>
          <a:prstGeom prst="rect">
            <a:avLst/>
          </a:prstGeom>
          <a:noFill/>
          <a:ln w="9525">
            <a:noFill/>
          </a:ln>
        </p:spPr>
        <p:txBody>
          <a:bodyPr wrap="none">
            <a:spAutoFit/>
          </a:bodyPr>
          <a:lstStyle/>
          <a:p>
            <a:r>
              <a:rPr lang="en-US" altLang="zh-CN" dirty="0">
                <a:solidFill>
                  <a:schemeClr val="accent2"/>
                </a:solidFill>
                <a:latin typeface="Times New Roman" panose="02020603050405020304" pitchFamily="18" charset="0"/>
              </a:rPr>
              <a:t>1</a:t>
            </a:r>
            <a:r>
              <a:rPr lang="zh-CN" altLang="en-US" dirty="0">
                <a:solidFill>
                  <a:schemeClr val="accent2"/>
                </a:solidFill>
                <a:latin typeface="Times New Roman" panose="02020603050405020304" pitchFamily="18" charset="0"/>
              </a:rPr>
              <a:t>、并联谐振回路（电感、电容并联）</a:t>
            </a:r>
            <a:endParaRPr lang="zh-CN" altLang="en-US" dirty="0">
              <a:solidFill>
                <a:schemeClr val="accent2"/>
              </a:solidFill>
              <a:latin typeface="Times New Roman" panose="02020603050405020304" pitchFamily="18" charset="0"/>
            </a:endParaRPr>
          </a:p>
        </p:txBody>
      </p:sp>
      <p:sp>
        <p:nvSpPr>
          <p:cNvPr id="3" name="右箭头 2"/>
          <p:cNvSpPr/>
          <p:nvPr/>
        </p:nvSpPr>
        <p:spPr>
          <a:xfrm>
            <a:off x="828040" y="5298440"/>
            <a:ext cx="215900" cy="215900"/>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graphicFrame>
        <p:nvGraphicFramePr>
          <p:cNvPr id="10" name="对象 9"/>
          <p:cNvGraphicFramePr>
            <a:graphicFrameLocks noChangeAspect="1"/>
          </p:cNvGraphicFramePr>
          <p:nvPr/>
        </p:nvGraphicFramePr>
        <p:xfrm>
          <a:off x="683895" y="2061210"/>
          <a:ext cx="7356475" cy="2452370"/>
        </p:xfrm>
        <a:graphic>
          <a:graphicData uri="http://schemas.openxmlformats.org/presentationml/2006/ole">
            <mc:AlternateContent xmlns:mc="http://schemas.openxmlformats.org/markup-compatibility/2006">
              <mc:Choice xmlns:v="urn:schemas-microsoft-com:vml" Requires="v">
                <p:oleObj spid="_x0000_s4" name="Equation" r:id="rId3" imgW="4508500" imgH="1447800" progId="Equation.DSMT4">
                  <p:embed/>
                </p:oleObj>
              </mc:Choice>
              <mc:Fallback>
                <p:oleObj name="Equation" r:id="rId3" imgW="4508500" imgH="1447800" progId="Equation.DSMT4">
                  <p:embed/>
                  <p:pic>
                    <p:nvPicPr>
                      <p:cNvPr id="0" name="对象 10"/>
                      <p:cNvPicPr/>
                      <p:nvPr/>
                    </p:nvPicPr>
                    <p:blipFill>
                      <a:blip r:embed="rId4"/>
                      <a:stretch>
                        <a:fillRect/>
                      </a:stretch>
                    </p:blipFill>
                    <p:spPr>
                      <a:xfrm>
                        <a:off x="683895" y="2061210"/>
                        <a:ext cx="7356475" cy="245237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51" name="Group 5"/>
          <p:cNvGrpSpPr/>
          <p:nvPr/>
        </p:nvGrpSpPr>
        <p:grpSpPr>
          <a:xfrm>
            <a:off x="2339975" y="354013"/>
            <a:ext cx="5334000" cy="546100"/>
            <a:chOff x="1378" y="410"/>
            <a:chExt cx="3360" cy="344"/>
          </a:xfrm>
        </p:grpSpPr>
        <p:sp>
          <p:nvSpPr>
            <p:cNvPr id="10260" name="Rectangle 6"/>
            <p:cNvSpPr/>
            <p:nvPr/>
          </p:nvSpPr>
          <p:spPr>
            <a:xfrm>
              <a:off x="1378" y="410"/>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10261" name="Line 7"/>
            <p:cNvSpPr/>
            <p:nvPr/>
          </p:nvSpPr>
          <p:spPr>
            <a:xfrm>
              <a:off x="1474" y="754"/>
              <a:ext cx="3024" cy="0"/>
            </a:xfrm>
            <a:prstGeom prst="line">
              <a:avLst/>
            </a:prstGeom>
            <a:ln w="57150" cap="flat" cmpd="tri">
              <a:solidFill>
                <a:srgbClr val="FF00FF"/>
              </a:solidFill>
              <a:prstDash val="solid"/>
              <a:headEnd type="none" w="sm" len="sm"/>
              <a:tailEnd type="none" w="sm" len="sm"/>
            </a:ln>
          </p:spPr>
        </p:sp>
      </p:grpSp>
      <p:sp>
        <p:nvSpPr>
          <p:cNvPr id="10253" name="Text Box 9"/>
          <p:cNvSpPr txBox="1"/>
          <p:nvPr/>
        </p:nvSpPr>
        <p:spPr>
          <a:xfrm>
            <a:off x="0" y="908050"/>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graphicFrame>
        <p:nvGraphicFramePr>
          <p:cNvPr id="361482" name="Object 10"/>
          <p:cNvGraphicFramePr/>
          <p:nvPr/>
        </p:nvGraphicFramePr>
        <p:xfrm>
          <a:off x="971550" y="2637473"/>
          <a:ext cx="4464050" cy="841375"/>
        </p:xfrm>
        <a:graphic>
          <a:graphicData uri="http://schemas.openxmlformats.org/presentationml/2006/ole">
            <mc:AlternateContent xmlns:mc="http://schemas.openxmlformats.org/markup-compatibility/2006">
              <mc:Choice xmlns:v="urn:schemas-microsoft-com:vml" Requires="v">
                <p:oleObj spid="_x0000_s2" name="" r:id="rId1" imgW="2425700" imgH="457200" progId="Equation.DSMT4">
                  <p:embed/>
                </p:oleObj>
              </mc:Choice>
              <mc:Fallback>
                <p:oleObj name="" r:id="rId1" imgW="2425700" imgH="457200" progId="Equation.DSMT4">
                  <p:embed/>
                  <p:pic>
                    <p:nvPicPr>
                      <p:cNvPr id="0" name="图片 3413"/>
                      <p:cNvPicPr/>
                      <p:nvPr/>
                    </p:nvPicPr>
                    <p:blipFill>
                      <a:blip r:embed="rId2"/>
                      <a:stretch>
                        <a:fillRect/>
                      </a:stretch>
                    </p:blipFill>
                    <p:spPr>
                      <a:xfrm>
                        <a:off x="971550" y="2637473"/>
                        <a:ext cx="4464050" cy="841375"/>
                      </a:xfrm>
                      <a:prstGeom prst="rect">
                        <a:avLst/>
                      </a:prstGeom>
                      <a:noFill/>
                      <a:ln w="38100">
                        <a:noFill/>
                        <a:miter/>
                      </a:ln>
                    </p:spPr>
                  </p:pic>
                </p:oleObj>
              </mc:Fallback>
            </mc:AlternateContent>
          </a:graphicData>
        </a:graphic>
      </p:graphicFrame>
      <p:graphicFrame>
        <p:nvGraphicFramePr>
          <p:cNvPr id="361483" name="Object 11"/>
          <p:cNvGraphicFramePr/>
          <p:nvPr/>
        </p:nvGraphicFramePr>
        <p:xfrm>
          <a:off x="5508625" y="2708910"/>
          <a:ext cx="1873250" cy="757238"/>
        </p:xfrm>
        <a:graphic>
          <a:graphicData uri="http://schemas.openxmlformats.org/presentationml/2006/ole">
            <mc:AlternateContent xmlns:mc="http://schemas.openxmlformats.org/markup-compatibility/2006">
              <mc:Choice xmlns:v="urn:schemas-microsoft-com:vml" Requires="v">
                <p:oleObj spid="_x0000_s3" name="" r:id="rId3" imgW="1066165" imgH="431800" progId="Equation.DSMT4">
                  <p:embed/>
                </p:oleObj>
              </mc:Choice>
              <mc:Fallback>
                <p:oleObj name="" r:id="rId3" imgW="1066165" imgH="431800" progId="Equation.DSMT4">
                  <p:embed/>
                  <p:pic>
                    <p:nvPicPr>
                      <p:cNvPr id="0" name="图片 3412"/>
                      <p:cNvPicPr/>
                      <p:nvPr/>
                    </p:nvPicPr>
                    <p:blipFill>
                      <a:blip r:embed="rId4"/>
                      <a:stretch>
                        <a:fillRect/>
                      </a:stretch>
                    </p:blipFill>
                    <p:spPr>
                      <a:xfrm>
                        <a:off x="5508625" y="2708910"/>
                        <a:ext cx="1873250" cy="757238"/>
                      </a:xfrm>
                      <a:prstGeom prst="rect">
                        <a:avLst/>
                      </a:prstGeom>
                      <a:noFill/>
                      <a:ln w="38100">
                        <a:noFill/>
                        <a:miter/>
                      </a:ln>
                    </p:spPr>
                  </p:pic>
                </p:oleObj>
              </mc:Fallback>
            </mc:AlternateContent>
          </a:graphicData>
        </a:graphic>
      </p:graphicFrame>
      <p:grpSp>
        <p:nvGrpSpPr>
          <p:cNvPr id="4" name="Group 12"/>
          <p:cNvGrpSpPr/>
          <p:nvPr/>
        </p:nvGrpSpPr>
        <p:grpSpPr>
          <a:xfrm>
            <a:off x="611505" y="2040890"/>
            <a:ext cx="8029576" cy="571500"/>
            <a:chOff x="418" y="981"/>
            <a:chExt cx="5058" cy="360"/>
          </a:xfrm>
        </p:grpSpPr>
        <p:sp>
          <p:nvSpPr>
            <p:cNvPr id="10259" name="Text Box 13"/>
            <p:cNvSpPr txBox="1"/>
            <p:nvPr/>
          </p:nvSpPr>
          <p:spPr>
            <a:xfrm>
              <a:off x="418" y="1039"/>
              <a:ext cx="5058" cy="290"/>
            </a:xfrm>
            <a:prstGeom prst="rect">
              <a:avLst/>
            </a:prstGeom>
            <a:noFill/>
            <a:ln w="9525">
              <a:noFill/>
            </a:ln>
          </p:spPr>
          <p:txBody>
            <a:bodyPr wrap="square">
              <a:spAutoFit/>
            </a:bodyPr>
            <a:lstStyle/>
            <a:p>
              <a:r>
                <a:rPr lang="zh-CN" altLang="en-US" dirty="0">
                  <a:latin typeface="Times New Roman" panose="02020603050405020304" pitchFamily="18" charset="0"/>
                </a:rPr>
                <a:t>一般并联回路用于窄带系统，即此时    与      相差不大，则</a:t>
              </a:r>
              <a:endParaRPr lang="zh-CN" altLang="en-US" dirty="0">
                <a:latin typeface="Times New Roman" panose="02020603050405020304" pitchFamily="18" charset="0"/>
              </a:endParaRPr>
            </a:p>
          </p:txBody>
        </p:sp>
        <p:graphicFrame>
          <p:nvGraphicFramePr>
            <p:cNvPr id="10248" name="Object 14"/>
            <p:cNvGraphicFramePr/>
            <p:nvPr/>
          </p:nvGraphicFramePr>
          <p:xfrm>
            <a:off x="3560" y="1071"/>
            <a:ext cx="226" cy="207"/>
          </p:xfrm>
          <a:graphic>
            <a:graphicData uri="http://schemas.openxmlformats.org/presentationml/2006/ole">
              <mc:AlternateContent xmlns:mc="http://schemas.openxmlformats.org/markup-compatibility/2006">
                <mc:Choice xmlns:v="urn:schemas-microsoft-com:vml" Requires="v">
                  <p:oleObj spid="_x0000_s5" name="" r:id="rId5" imgW="152400" imgH="139700" progId="Equation.DSMT4">
                    <p:embed/>
                  </p:oleObj>
                </mc:Choice>
                <mc:Fallback>
                  <p:oleObj name="" r:id="rId5" imgW="152400" imgH="139700" progId="Equation.DSMT4">
                    <p:embed/>
                    <p:pic>
                      <p:nvPicPr>
                        <p:cNvPr id="0" name="图片 3141"/>
                        <p:cNvPicPr/>
                        <p:nvPr/>
                      </p:nvPicPr>
                      <p:blipFill>
                        <a:blip r:embed="rId6"/>
                        <a:stretch>
                          <a:fillRect/>
                        </a:stretch>
                      </p:blipFill>
                      <p:spPr>
                        <a:xfrm>
                          <a:off x="3560" y="1071"/>
                          <a:ext cx="226" cy="207"/>
                        </a:xfrm>
                        <a:prstGeom prst="rect">
                          <a:avLst/>
                        </a:prstGeom>
                        <a:noFill/>
                        <a:ln w="38100">
                          <a:noFill/>
                          <a:miter/>
                        </a:ln>
                      </p:spPr>
                    </p:pic>
                  </p:oleObj>
                </mc:Fallback>
              </mc:AlternateContent>
            </a:graphicData>
          </a:graphic>
        </p:graphicFrame>
        <p:graphicFrame>
          <p:nvGraphicFramePr>
            <p:cNvPr id="10249" name="Object 15"/>
            <p:cNvGraphicFramePr/>
            <p:nvPr/>
          </p:nvGraphicFramePr>
          <p:xfrm>
            <a:off x="3923" y="981"/>
            <a:ext cx="300" cy="360"/>
          </p:xfrm>
          <a:graphic>
            <a:graphicData uri="http://schemas.openxmlformats.org/presentationml/2006/ole">
              <mc:AlternateContent xmlns:mc="http://schemas.openxmlformats.org/markup-compatibility/2006">
                <mc:Choice xmlns:v="urn:schemas-microsoft-com:vml" Requires="v">
                  <p:oleObj spid="_x0000_s6" name="" r:id="rId7" imgW="190500" imgH="228600" progId="Equation.DSMT4">
                    <p:embed/>
                  </p:oleObj>
                </mc:Choice>
                <mc:Fallback>
                  <p:oleObj name="" r:id="rId7" imgW="190500" imgH="228600" progId="Equation.DSMT4">
                    <p:embed/>
                    <p:pic>
                      <p:nvPicPr>
                        <p:cNvPr id="0" name="图片 3123"/>
                        <p:cNvPicPr/>
                        <p:nvPr/>
                      </p:nvPicPr>
                      <p:blipFill>
                        <a:blip r:embed="rId8"/>
                        <a:stretch>
                          <a:fillRect/>
                        </a:stretch>
                      </p:blipFill>
                      <p:spPr>
                        <a:xfrm>
                          <a:off x="3923" y="981"/>
                          <a:ext cx="300" cy="360"/>
                        </a:xfrm>
                        <a:prstGeom prst="rect">
                          <a:avLst/>
                        </a:prstGeom>
                        <a:noFill/>
                        <a:ln w="38100">
                          <a:noFill/>
                          <a:miter/>
                        </a:ln>
                      </p:spPr>
                    </p:pic>
                  </p:oleObj>
                </mc:Fallback>
              </mc:AlternateContent>
            </a:graphicData>
          </a:graphic>
        </p:graphicFrame>
      </p:grpSp>
      <p:graphicFrame>
        <p:nvGraphicFramePr>
          <p:cNvPr id="361489" name="Object 17"/>
          <p:cNvGraphicFramePr/>
          <p:nvPr/>
        </p:nvGraphicFramePr>
        <p:xfrm>
          <a:off x="1259205" y="3644900"/>
          <a:ext cx="2948940" cy="1234440"/>
        </p:xfrm>
        <a:graphic>
          <a:graphicData uri="http://schemas.openxmlformats.org/presentationml/2006/ole">
            <mc:AlternateContent xmlns:mc="http://schemas.openxmlformats.org/markup-compatibility/2006">
              <mc:Choice xmlns:v="urn:schemas-microsoft-com:vml" Requires="v">
                <p:oleObj spid="_x0000_s7" name="" r:id="rId9" imgW="1612900" imgH="622300" progId="Equation.DSMT4">
                  <p:embed/>
                </p:oleObj>
              </mc:Choice>
              <mc:Fallback>
                <p:oleObj name="" r:id="rId9" imgW="1612900" imgH="622300" progId="Equation.DSMT4">
                  <p:embed/>
                  <p:pic>
                    <p:nvPicPr>
                      <p:cNvPr id="0" name="图片 3120"/>
                      <p:cNvPicPr/>
                      <p:nvPr/>
                    </p:nvPicPr>
                    <p:blipFill>
                      <a:blip r:embed="rId10"/>
                      <a:stretch>
                        <a:fillRect/>
                      </a:stretch>
                    </p:blipFill>
                    <p:spPr>
                      <a:xfrm>
                        <a:off x="1259205" y="3644900"/>
                        <a:ext cx="2948940" cy="1234440"/>
                      </a:xfrm>
                      <a:prstGeom prst="rect">
                        <a:avLst/>
                      </a:prstGeom>
                      <a:noFill/>
                      <a:ln w="38100">
                        <a:noFill/>
                        <a:miter/>
                      </a:ln>
                    </p:spPr>
                  </p:pic>
                </p:oleObj>
              </mc:Fallback>
            </mc:AlternateContent>
          </a:graphicData>
        </a:graphic>
      </p:graphicFrame>
      <p:graphicFrame>
        <p:nvGraphicFramePr>
          <p:cNvPr id="10245" name="Object 19"/>
          <p:cNvGraphicFramePr/>
          <p:nvPr/>
        </p:nvGraphicFramePr>
        <p:xfrm>
          <a:off x="6588125" y="836613"/>
          <a:ext cx="2376488" cy="1362075"/>
        </p:xfrm>
        <a:graphic>
          <a:graphicData uri="http://schemas.openxmlformats.org/presentationml/2006/ole">
            <mc:AlternateContent xmlns:mc="http://schemas.openxmlformats.org/markup-compatibility/2006">
              <mc:Choice xmlns:v="urn:schemas-microsoft-com:vml" Requires="v">
                <p:oleObj spid="_x0000_s8" name="" r:id="rId11" imgW="1358265" imgH="799465" progId="Equation.DSMT4">
                  <p:embed/>
                </p:oleObj>
              </mc:Choice>
              <mc:Fallback>
                <p:oleObj name="" r:id="rId11" imgW="1358265" imgH="799465" progId="Equation.DSMT4">
                  <p:embed/>
                  <p:pic>
                    <p:nvPicPr>
                      <p:cNvPr id="0" name="图片 3136"/>
                      <p:cNvPicPr/>
                      <p:nvPr/>
                    </p:nvPicPr>
                    <p:blipFill>
                      <a:blip r:embed="rId12"/>
                      <a:stretch>
                        <a:fillRect/>
                      </a:stretch>
                    </p:blipFill>
                    <p:spPr>
                      <a:xfrm>
                        <a:off x="6588125" y="836613"/>
                        <a:ext cx="2376488" cy="1362075"/>
                      </a:xfrm>
                      <a:prstGeom prst="rect">
                        <a:avLst/>
                      </a:prstGeom>
                      <a:noFill/>
                      <a:ln w="38100">
                        <a:noFill/>
                        <a:miter/>
                      </a:ln>
                    </p:spPr>
                  </p:pic>
                </p:oleObj>
              </mc:Fallback>
            </mc:AlternateContent>
          </a:graphicData>
        </a:graphic>
      </p:graphicFrame>
      <p:grpSp>
        <p:nvGrpSpPr>
          <p:cNvPr id="9" name="Group 26"/>
          <p:cNvGrpSpPr/>
          <p:nvPr/>
        </p:nvGrpSpPr>
        <p:grpSpPr>
          <a:xfrm>
            <a:off x="683578" y="4789488"/>
            <a:ext cx="8064500" cy="830262"/>
            <a:chOff x="476" y="3182"/>
            <a:chExt cx="5080" cy="523"/>
          </a:xfrm>
        </p:grpSpPr>
        <p:sp>
          <p:nvSpPr>
            <p:cNvPr id="10258" name="Rectangle 21"/>
            <p:cNvSpPr/>
            <p:nvPr/>
          </p:nvSpPr>
          <p:spPr>
            <a:xfrm>
              <a:off x="476" y="3182"/>
              <a:ext cx="5080" cy="523"/>
            </a:xfrm>
            <a:prstGeom prst="rect">
              <a:avLst/>
            </a:prstGeom>
            <a:noFill/>
            <a:ln w="9525">
              <a:noFill/>
            </a:ln>
          </p:spPr>
          <p:txBody>
            <a:bodyPr>
              <a:spAutoFit/>
            </a:bodyPr>
            <a:lstStyle/>
            <a:p>
              <a:r>
                <a:rPr lang="zh-CN" altLang="en-US" dirty="0">
                  <a:latin typeface="Times New Roman" panose="02020603050405020304" pitchFamily="18" charset="0"/>
                </a:rPr>
                <a:t>式中</a:t>
              </a:r>
              <a:r>
                <a:rPr lang="en-US" altLang="zh-CN" dirty="0">
                  <a:latin typeface="Times New Roman" panose="02020603050405020304" pitchFamily="18" charset="0"/>
                </a:rPr>
                <a:t>,                    </a:t>
              </a:r>
              <a:r>
                <a:rPr lang="zh-CN" altLang="en-US" dirty="0">
                  <a:latin typeface="Times New Roman" panose="02020603050405020304" pitchFamily="18" charset="0"/>
                </a:rPr>
                <a:t>是相对于回路中心频率的</a:t>
              </a:r>
              <a:r>
                <a:rPr lang="zh-CN" altLang="en-US" b="1" dirty="0">
                  <a:solidFill>
                    <a:srgbClr val="FF0066"/>
                  </a:solidFill>
                  <a:latin typeface="Times New Roman" panose="02020603050405020304" pitchFamily="18" charset="0"/>
                </a:rPr>
                <a:t>绝对角频偏</a:t>
              </a:r>
              <a:r>
                <a:rPr lang="zh-CN" altLang="en-US" dirty="0">
                  <a:latin typeface="Times New Roman" panose="02020603050405020304" pitchFamily="18" charset="0"/>
                </a:rPr>
                <a:t>，称为</a:t>
              </a:r>
              <a:r>
                <a:rPr lang="zh-CN" altLang="en-US" dirty="0">
                  <a:solidFill>
                    <a:srgbClr val="FF0066"/>
                  </a:solidFill>
                  <a:latin typeface="Times New Roman" panose="02020603050405020304" pitchFamily="18" charset="0"/>
                </a:rPr>
                <a:t>失谐。</a:t>
              </a:r>
              <a:endParaRPr lang="zh-CN" altLang="en-US" dirty="0">
                <a:solidFill>
                  <a:srgbClr val="FF0066"/>
                </a:solidFill>
                <a:latin typeface="Times New Roman" panose="02020603050405020304" pitchFamily="18" charset="0"/>
              </a:endParaRPr>
            </a:p>
          </p:txBody>
        </p:sp>
        <p:graphicFrame>
          <p:nvGraphicFramePr>
            <p:cNvPr id="10247" name="Object 22"/>
            <p:cNvGraphicFramePr/>
            <p:nvPr/>
          </p:nvGraphicFramePr>
          <p:xfrm>
            <a:off x="1066" y="3187"/>
            <a:ext cx="997" cy="281"/>
          </p:xfrm>
          <a:graphic>
            <a:graphicData uri="http://schemas.openxmlformats.org/presentationml/2006/ole">
              <mc:AlternateContent xmlns:mc="http://schemas.openxmlformats.org/markup-compatibility/2006">
                <mc:Choice xmlns:v="urn:schemas-microsoft-com:vml" Requires="v">
                  <p:oleObj spid="_x0000_s10" name="" r:id="rId13" imgW="761365" imgH="228600" progId="Equation.DSMT4">
                    <p:embed/>
                  </p:oleObj>
                </mc:Choice>
                <mc:Fallback>
                  <p:oleObj name="" r:id="rId13" imgW="761365" imgH="228600" progId="Equation.DSMT4">
                    <p:embed/>
                    <p:pic>
                      <p:nvPicPr>
                        <p:cNvPr id="0" name="图片 3130"/>
                        <p:cNvPicPr/>
                        <p:nvPr/>
                      </p:nvPicPr>
                      <p:blipFill>
                        <a:blip r:embed="rId14"/>
                        <a:stretch>
                          <a:fillRect/>
                        </a:stretch>
                      </p:blipFill>
                      <p:spPr>
                        <a:xfrm>
                          <a:off x="1066" y="3187"/>
                          <a:ext cx="997" cy="281"/>
                        </a:xfrm>
                        <a:prstGeom prst="rect">
                          <a:avLst/>
                        </a:prstGeom>
                        <a:noFill/>
                        <a:ln w="38100">
                          <a:noFill/>
                          <a:miter/>
                        </a:ln>
                      </p:spPr>
                    </p:pic>
                  </p:oleObj>
                </mc:Fallback>
              </mc:AlternateContent>
            </a:graphicData>
          </a:graphic>
        </p:graphicFrame>
      </p:grpSp>
      <p:grpSp>
        <p:nvGrpSpPr>
          <p:cNvPr id="11" name="Group 23"/>
          <p:cNvGrpSpPr/>
          <p:nvPr/>
        </p:nvGrpSpPr>
        <p:grpSpPr>
          <a:xfrm>
            <a:off x="2492058" y="5660708"/>
            <a:ext cx="3857058" cy="720725"/>
            <a:chOff x="521" y="3764"/>
            <a:chExt cx="3032" cy="556"/>
          </a:xfrm>
        </p:grpSpPr>
        <p:graphicFrame>
          <p:nvGraphicFramePr>
            <p:cNvPr id="10246" name="Object 24"/>
            <p:cNvGraphicFramePr/>
            <p:nvPr/>
          </p:nvGraphicFramePr>
          <p:xfrm>
            <a:off x="521" y="3764"/>
            <a:ext cx="1179" cy="556"/>
          </p:xfrm>
          <a:graphic>
            <a:graphicData uri="http://schemas.openxmlformats.org/presentationml/2006/ole">
              <mc:AlternateContent xmlns:mc="http://schemas.openxmlformats.org/markup-compatibility/2006">
                <mc:Choice xmlns:v="urn:schemas-microsoft-com:vml" Requires="v">
                  <p:oleObj spid="_x0000_s12" name="" r:id="rId15" imgW="698500" imgH="431800" progId="Equation.DSMT4">
                    <p:embed/>
                  </p:oleObj>
                </mc:Choice>
                <mc:Fallback>
                  <p:oleObj name="" r:id="rId15" imgW="698500" imgH="431800" progId="Equation.DSMT4">
                    <p:embed/>
                    <p:pic>
                      <p:nvPicPr>
                        <p:cNvPr id="0" name="图片 3137"/>
                        <p:cNvPicPr/>
                        <p:nvPr/>
                      </p:nvPicPr>
                      <p:blipFill>
                        <a:blip r:embed="rId16"/>
                        <a:stretch>
                          <a:fillRect/>
                        </a:stretch>
                      </p:blipFill>
                      <p:spPr>
                        <a:xfrm>
                          <a:off x="521" y="3764"/>
                          <a:ext cx="1179" cy="556"/>
                        </a:xfrm>
                        <a:prstGeom prst="rect">
                          <a:avLst/>
                        </a:prstGeom>
                        <a:noFill/>
                        <a:ln w="38100">
                          <a:noFill/>
                          <a:miter/>
                        </a:ln>
                      </p:spPr>
                    </p:pic>
                  </p:oleObj>
                </mc:Fallback>
              </mc:AlternateContent>
            </a:graphicData>
          </a:graphic>
        </p:graphicFrame>
        <p:sp>
          <p:nvSpPr>
            <p:cNvPr id="10257" name="Text Box 25"/>
            <p:cNvSpPr txBox="1"/>
            <p:nvPr/>
          </p:nvSpPr>
          <p:spPr>
            <a:xfrm>
              <a:off x="1873" y="3820"/>
              <a:ext cx="1680" cy="403"/>
            </a:xfrm>
            <a:prstGeom prst="rect">
              <a:avLst/>
            </a:prstGeom>
            <a:noFill/>
            <a:ln w="9525">
              <a:noFill/>
            </a:ln>
          </p:spPr>
          <p:txBody>
            <a:bodyPr wrap="square">
              <a:spAutoFit/>
            </a:bodyPr>
            <a:lstStyle/>
            <a:p>
              <a:r>
                <a:rPr lang="zh-CN" altLang="en-US" b="1" dirty="0">
                  <a:solidFill>
                    <a:srgbClr val="FF0066"/>
                  </a:solidFill>
                  <a:latin typeface="Times New Roman" panose="02020603050405020304" pitchFamily="18" charset="0"/>
                </a:rPr>
                <a:t>为广义失谐</a:t>
              </a:r>
              <a:r>
                <a:rPr lang="zh-CN" altLang="en-US" sz="2800" dirty="0">
                  <a:solidFill>
                    <a:srgbClr val="FF0066"/>
                  </a:solidFill>
                  <a:latin typeface="Times New Roman" panose="02020603050405020304" pitchFamily="18" charset="0"/>
                </a:rPr>
                <a:t> </a:t>
              </a:r>
              <a:r>
                <a:rPr lang="zh-CN" altLang="en-US" dirty="0">
                  <a:solidFill>
                    <a:srgbClr val="FF0066"/>
                  </a:solidFill>
                  <a:latin typeface="Times New Roman" panose="02020603050405020304" pitchFamily="18" charset="0"/>
                </a:rPr>
                <a:t>       </a:t>
              </a:r>
              <a:endParaRPr lang="zh-CN" altLang="en-US" dirty="0">
                <a:latin typeface="Times New Roman" panose="02020603050405020304" pitchFamily="18" charset="0"/>
              </a:endParaRPr>
            </a:p>
          </p:txBody>
        </p:sp>
      </p:grpSp>
      <p:sp>
        <p:nvSpPr>
          <p:cNvPr id="6154" name="Text Box 89"/>
          <p:cNvSpPr txBox="1"/>
          <p:nvPr/>
        </p:nvSpPr>
        <p:spPr>
          <a:xfrm>
            <a:off x="611188" y="1372553"/>
            <a:ext cx="5212080" cy="460375"/>
          </a:xfrm>
          <a:prstGeom prst="rect">
            <a:avLst/>
          </a:prstGeom>
          <a:noFill/>
          <a:ln w="9525">
            <a:noFill/>
          </a:ln>
        </p:spPr>
        <p:txBody>
          <a:bodyPr wrap="none">
            <a:spAutoFit/>
          </a:bodyPr>
          <a:lstStyle/>
          <a:p>
            <a:r>
              <a:rPr lang="en-US" altLang="zh-CN" dirty="0">
                <a:solidFill>
                  <a:schemeClr val="accent2"/>
                </a:solidFill>
                <a:latin typeface="Times New Roman" panose="02020603050405020304" pitchFamily="18" charset="0"/>
              </a:rPr>
              <a:t>1</a:t>
            </a:r>
            <a:r>
              <a:rPr lang="zh-CN" altLang="en-US" dirty="0">
                <a:solidFill>
                  <a:schemeClr val="accent2"/>
                </a:solidFill>
                <a:latin typeface="Times New Roman" panose="02020603050405020304" pitchFamily="18" charset="0"/>
              </a:rPr>
              <a:t>、并联谐振回路（电感、电容并联）</a:t>
            </a:r>
            <a:endParaRPr lang="zh-CN" altLang="en-US" dirty="0">
              <a:solidFill>
                <a:schemeClr val="accent2"/>
              </a:solidFill>
              <a:latin typeface="Times New Roman" panose="02020603050405020304" pitchFamily="18" charset="0"/>
            </a:endParaRPr>
          </a:p>
        </p:txBody>
      </p:sp>
      <p:graphicFrame>
        <p:nvGraphicFramePr>
          <p:cNvPr id="13" name="对象 12">
            <a:hlinkClick r:id="" action="ppaction://ole?verb=0"/>
          </p:cNvPr>
          <p:cNvGraphicFramePr>
            <a:graphicFrameLocks noChangeAspect="1"/>
          </p:cNvGraphicFramePr>
          <p:nvPr/>
        </p:nvGraphicFramePr>
        <p:xfrm>
          <a:off x="4716145" y="3860800"/>
          <a:ext cx="269240" cy="430530"/>
        </p:xfrm>
        <a:graphic>
          <a:graphicData uri="http://schemas.openxmlformats.org/presentationml/2006/ole">
            <mc:AlternateContent xmlns:mc="http://schemas.openxmlformats.org/markup-compatibility/2006">
              <mc:Choice xmlns:v="urn:schemas-microsoft-com:vml" Requires="v">
                <p:oleObj spid="_x0000_s14" name="" r:id="rId17" imgW="127000" imgH="203200" progId="Equation.KSEE3">
                  <p:embed/>
                </p:oleObj>
              </mc:Choice>
              <mc:Fallback>
                <p:oleObj name="" r:id="rId17" imgW="127000" imgH="203200" progId="Equation.KSEE3">
                  <p:embed/>
                  <p:pic>
                    <p:nvPicPr>
                      <p:cNvPr id="0" name="图片 1024"/>
                      <p:cNvPicPr/>
                      <p:nvPr/>
                    </p:nvPicPr>
                    <p:blipFill>
                      <a:blip r:embed="rId18"/>
                      <a:stretch>
                        <a:fillRect/>
                      </a:stretch>
                    </p:blipFill>
                    <p:spPr>
                      <a:xfrm>
                        <a:off x="4716145" y="3860800"/>
                        <a:ext cx="269240" cy="430530"/>
                      </a:xfrm>
                      <a:prstGeom prst="rect">
                        <a:avLst/>
                      </a:prstGeom>
                    </p:spPr>
                  </p:pic>
                </p:oleObj>
              </mc:Fallback>
            </mc:AlternateContent>
          </a:graphicData>
        </a:graphic>
      </p:graphicFrame>
      <p:sp>
        <p:nvSpPr>
          <p:cNvPr id="15" name="文本框 14"/>
          <p:cNvSpPr txBox="1"/>
          <p:nvPr/>
        </p:nvSpPr>
        <p:spPr>
          <a:xfrm>
            <a:off x="4716145" y="3853180"/>
            <a:ext cx="1144270" cy="460375"/>
          </a:xfrm>
          <a:prstGeom prst="rect">
            <a:avLst/>
          </a:prstGeom>
          <a:noFill/>
        </p:spPr>
        <p:txBody>
          <a:bodyPr wrap="square" rtlCol="0">
            <a:spAutoFit/>
          </a:bodyPr>
          <a:lstStyle/>
          <a:p>
            <a:r>
              <a:rPr lang="zh-CN" altLang="en-US"/>
              <a:t>（</a:t>
            </a:r>
            <a:r>
              <a:rPr lang="en-US" altLang="zh-CN"/>
              <a:t>Ksai</a:t>
            </a:r>
            <a:r>
              <a:rPr lang="zh-CN" altLang="en-US"/>
              <a:t>）</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1" name="Text Box 39"/>
          <p:cNvSpPr txBox="1"/>
          <p:nvPr/>
        </p:nvSpPr>
        <p:spPr>
          <a:xfrm>
            <a:off x="682943" y="1372553"/>
            <a:ext cx="5516880" cy="460375"/>
          </a:xfrm>
          <a:prstGeom prst="rect">
            <a:avLst/>
          </a:prstGeom>
          <a:noFill/>
          <a:ln w="9525">
            <a:noFill/>
          </a:ln>
        </p:spPr>
        <p:txBody>
          <a:bodyPr wrap="none">
            <a:spAutoFit/>
          </a:bodyPr>
          <a:lstStyle/>
          <a:p>
            <a:r>
              <a:rPr lang="zh-CN" altLang="en-US" dirty="0">
                <a:solidFill>
                  <a:schemeClr val="accent2"/>
                </a:solidFill>
                <a:latin typeface="Times New Roman" panose="02020603050405020304" pitchFamily="18" charset="0"/>
              </a:rPr>
              <a:t>（</a:t>
            </a:r>
            <a:r>
              <a:rPr lang="en-US" altLang="zh-CN" dirty="0">
                <a:solidFill>
                  <a:schemeClr val="accent2"/>
                </a:solidFill>
                <a:latin typeface="Times New Roman" panose="02020603050405020304" pitchFamily="18" charset="0"/>
              </a:rPr>
              <a:t>1</a:t>
            </a:r>
            <a:r>
              <a:rPr lang="zh-CN" altLang="en-US" dirty="0">
                <a:solidFill>
                  <a:schemeClr val="accent2"/>
                </a:solidFill>
                <a:latin typeface="Times New Roman" panose="02020603050405020304" pitchFamily="18" charset="0"/>
              </a:rPr>
              <a:t>）并联谐振回路（电感、电容并联）</a:t>
            </a:r>
            <a:endParaRPr lang="zh-CN" altLang="en-US" dirty="0">
              <a:solidFill>
                <a:schemeClr val="accent2"/>
              </a:solidFill>
              <a:latin typeface="Times New Roman" panose="02020603050405020304" pitchFamily="18" charset="0"/>
            </a:endParaRPr>
          </a:p>
        </p:txBody>
      </p:sp>
      <p:grpSp>
        <p:nvGrpSpPr>
          <p:cNvPr id="11272" name="Group 40"/>
          <p:cNvGrpSpPr/>
          <p:nvPr/>
        </p:nvGrpSpPr>
        <p:grpSpPr>
          <a:xfrm>
            <a:off x="1979613" y="388938"/>
            <a:ext cx="5334000" cy="519113"/>
            <a:chOff x="1287" y="432"/>
            <a:chExt cx="3360" cy="327"/>
          </a:xfrm>
        </p:grpSpPr>
        <p:sp>
          <p:nvSpPr>
            <p:cNvPr id="11280" name="Rectangle 41"/>
            <p:cNvSpPr/>
            <p:nvPr/>
          </p:nvSpPr>
          <p:spPr>
            <a:xfrm>
              <a:off x="1287" y="43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11281" name="Line 42"/>
            <p:cNvSpPr/>
            <p:nvPr/>
          </p:nvSpPr>
          <p:spPr>
            <a:xfrm>
              <a:off x="1469" y="749"/>
              <a:ext cx="3024" cy="0"/>
            </a:xfrm>
            <a:prstGeom prst="line">
              <a:avLst/>
            </a:prstGeom>
            <a:ln w="57150" cap="flat" cmpd="tri">
              <a:solidFill>
                <a:srgbClr val="FF00FF"/>
              </a:solidFill>
              <a:prstDash val="solid"/>
              <a:headEnd type="none" w="sm" len="sm"/>
              <a:tailEnd type="none" w="sm" len="sm"/>
            </a:ln>
          </p:spPr>
        </p:sp>
      </p:grpSp>
      <p:sp>
        <p:nvSpPr>
          <p:cNvPr id="11274" name="Text Box 44"/>
          <p:cNvSpPr txBox="1"/>
          <p:nvPr/>
        </p:nvSpPr>
        <p:spPr>
          <a:xfrm>
            <a:off x="0" y="908050"/>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graphicFrame>
        <p:nvGraphicFramePr>
          <p:cNvPr id="154669" name="Object 45"/>
          <p:cNvGraphicFramePr>
            <a:graphicFrameLocks noGrp="1"/>
          </p:cNvGraphicFramePr>
          <p:nvPr>
            <p:ph sz="half" idx="1"/>
          </p:nvPr>
        </p:nvGraphicFramePr>
        <p:xfrm>
          <a:off x="632778" y="2495550"/>
          <a:ext cx="3413125" cy="1167765"/>
        </p:xfrm>
        <a:graphic>
          <a:graphicData uri="http://schemas.openxmlformats.org/presentationml/2006/ole">
            <mc:AlternateContent xmlns:mc="http://schemas.openxmlformats.org/markup-compatibility/2006">
              <mc:Choice xmlns:v="urn:schemas-microsoft-com:vml" Requires="v">
                <p:oleObj spid="_x0000_s2" name="" r:id="rId1" imgW="1968500" imgH="660400" progId="Equation.DSMT4">
                  <p:embed/>
                </p:oleObj>
              </mc:Choice>
              <mc:Fallback>
                <p:oleObj name="" r:id="rId1" imgW="1968500" imgH="660400" progId="Equation.DSMT4">
                  <p:embed/>
                  <p:pic>
                    <p:nvPicPr>
                      <p:cNvPr id="0" name="图片 3124"/>
                      <p:cNvPicPr/>
                      <p:nvPr/>
                    </p:nvPicPr>
                    <p:blipFill>
                      <a:blip r:embed="rId2"/>
                      <a:stretch>
                        <a:fillRect/>
                      </a:stretch>
                    </p:blipFill>
                    <p:spPr>
                      <a:xfrm>
                        <a:off x="632778" y="2495550"/>
                        <a:ext cx="3413125" cy="1167765"/>
                      </a:xfrm>
                      <a:prstGeom prst="rect">
                        <a:avLst/>
                      </a:prstGeom>
                      <a:noFill/>
                      <a:ln w="38100">
                        <a:noFill/>
                        <a:miter/>
                      </a:ln>
                    </p:spPr>
                  </p:pic>
                </p:oleObj>
              </mc:Fallback>
            </mc:AlternateContent>
          </a:graphicData>
        </a:graphic>
      </p:graphicFrame>
      <p:graphicFrame>
        <p:nvGraphicFramePr>
          <p:cNvPr id="154670" name="Object 46"/>
          <p:cNvGraphicFramePr>
            <a:graphicFrameLocks noGrp="1"/>
          </p:cNvGraphicFramePr>
          <p:nvPr>
            <p:ph sz="quarter" idx="2"/>
          </p:nvPr>
        </p:nvGraphicFramePr>
        <p:xfrm>
          <a:off x="4375150" y="2407920"/>
          <a:ext cx="4391025" cy="922020"/>
        </p:xfrm>
        <a:graphic>
          <a:graphicData uri="http://schemas.openxmlformats.org/presentationml/2006/ole">
            <mc:AlternateContent xmlns:mc="http://schemas.openxmlformats.org/markup-compatibility/2006">
              <mc:Choice xmlns:v="urn:schemas-microsoft-com:vml" Requires="v">
                <p:oleObj spid="_x0000_s3" name="" r:id="rId3" imgW="2095500" imgH="431800" progId="Equation.DSMT4">
                  <p:embed/>
                </p:oleObj>
              </mc:Choice>
              <mc:Fallback>
                <p:oleObj name="" r:id="rId3" imgW="2095500" imgH="431800" progId="Equation.DSMT4">
                  <p:embed/>
                  <p:pic>
                    <p:nvPicPr>
                      <p:cNvPr id="0" name="图片 3132"/>
                      <p:cNvPicPr/>
                      <p:nvPr/>
                    </p:nvPicPr>
                    <p:blipFill>
                      <a:blip r:embed="rId4"/>
                      <a:stretch>
                        <a:fillRect/>
                      </a:stretch>
                    </p:blipFill>
                    <p:spPr>
                      <a:xfrm>
                        <a:off x="4375150" y="2407920"/>
                        <a:ext cx="4391025" cy="922020"/>
                      </a:xfrm>
                      <a:prstGeom prst="rect">
                        <a:avLst/>
                      </a:prstGeom>
                      <a:noFill/>
                      <a:ln w="38100">
                        <a:noFill/>
                        <a:miter/>
                      </a:ln>
                    </p:spPr>
                  </p:pic>
                </p:oleObj>
              </mc:Fallback>
            </mc:AlternateContent>
          </a:graphicData>
        </a:graphic>
      </p:graphicFrame>
      <p:sp>
        <p:nvSpPr>
          <p:cNvPr id="11275" name="Text Box 47"/>
          <p:cNvSpPr txBox="1"/>
          <p:nvPr/>
        </p:nvSpPr>
        <p:spPr>
          <a:xfrm>
            <a:off x="611505" y="1934210"/>
            <a:ext cx="3761740" cy="460375"/>
          </a:xfrm>
          <a:prstGeom prst="rect">
            <a:avLst/>
          </a:prstGeom>
          <a:noFill/>
          <a:ln w="9525">
            <a:noFill/>
          </a:ln>
        </p:spPr>
        <p:txBody>
          <a:bodyPr wrap="square">
            <a:spAutoFit/>
          </a:bodyPr>
          <a:lstStyle/>
          <a:p>
            <a:pPr>
              <a:spcBef>
                <a:spcPct val="50000"/>
              </a:spcBef>
            </a:pPr>
            <a:r>
              <a:rPr lang="zh-CN" altLang="en-US" dirty="0">
                <a:latin typeface="Times New Roman" panose="02020603050405020304" pitchFamily="18" charset="0"/>
              </a:rPr>
              <a:t>对应的阻抗模值和相位为： </a:t>
            </a:r>
            <a:endParaRPr lang="zh-CN" altLang="en-US" dirty="0">
              <a:latin typeface="Times New Roman" panose="02020603050405020304" pitchFamily="18" charset="0"/>
            </a:endParaRPr>
          </a:p>
        </p:txBody>
      </p:sp>
      <p:grpSp>
        <p:nvGrpSpPr>
          <p:cNvPr id="4" name="Group 60"/>
          <p:cNvGrpSpPr/>
          <p:nvPr/>
        </p:nvGrpSpPr>
        <p:grpSpPr>
          <a:xfrm>
            <a:off x="611505" y="3717290"/>
            <a:ext cx="2837180" cy="2827655"/>
            <a:chOff x="385" y="2263"/>
            <a:chExt cx="2041" cy="1781"/>
          </a:xfrm>
        </p:grpSpPr>
        <p:sp>
          <p:nvSpPr>
            <p:cNvPr id="11279" name="Text Box 58"/>
            <p:cNvSpPr txBox="1"/>
            <p:nvPr/>
          </p:nvSpPr>
          <p:spPr>
            <a:xfrm>
              <a:off x="930" y="3793"/>
              <a:ext cx="1254" cy="251"/>
            </a:xfrm>
            <a:prstGeom prst="rect">
              <a:avLst/>
            </a:prstGeom>
            <a:noFill/>
            <a:ln w="9525">
              <a:noFill/>
            </a:ln>
          </p:spPr>
          <p:txBody>
            <a:bodyPr wrap="square">
              <a:spAutoFit/>
            </a:bodyPr>
            <a:lstStyle/>
            <a:p>
              <a:r>
                <a:rPr lang="zh-CN" altLang="en-US" sz="2000" dirty="0">
                  <a:latin typeface="Times New Roman" panose="02020603050405020304" pitchFamily="18" charset="0"/>
                </a:rPr>
                <a:t>阻抗幅频特性</a:t>
              </a:r>
              <a:endParaRPr lang="zh-CN" altLang="en-US" sz="2000" dirty="0">
                <a:latin typeface="Times New Roman" panose="02020603050405020304" pitchFamily="18" charset="0"/>
              </a:endParaRPr>
            </a:p>
          </p:txBody>
        </p:sp>
        <p:graphicFrame>
          <p:nvGraphicFramePr>
            <p:cNvPr id="11270" name="Object 59"/>
            <p:cNvGraphicFramePr/>
            <p:nvPr/>
          </p:nvGraphicFramePr>
          <p:xfrm>
            <a:off x="385" y="2263"/>
            <a:ext cx="2041" cy="1490"/>
          </p:xfrm>
          <a:graphic>
            <a:graphicData uri="http://schemas.openxmlformats.org/presentationml/2006/ole">
              <mc:AlternateContent xmlns:mc="http://schemas.openxmlformats.org/markup-compatibility/2006">
                <mc:Choice xmlns:v="urn:schemas-microsoft-com:vml" Requires="v">
                  <p:oleObj spid="_x0000_s5" name="" r:id="rId5" imgW="4554220" imgH="3568065" progId="Visio.Drawing.6">
                    <p:embed/>
                  </p:oleObj>
                </mc:Choice>
                <mc:Fallback>
                  <p:oleObj name="" r:id="rId5" imgW="4554220" imgH="3568065" progId="Visio.Drawing.6">
                    <p:embed/>
                    <p:pic>
                      <p:nvPicPr>
                        <p:cNvPr id="0" name="图片 3142"/>
                        <p:cNvPicPr/>
                        <p:nvPr/>
                      </p:nvPicPr>
                      <p:blipFill>
                        <a:blip r:embed="rId6"/>
                        <a:stretch>
                          <a:fillRect/>
                        </a:stretch>
                      </p:blipFill>
                      <p:spPr>
                        <a:xfrm>
                          <a:off x="385" y="2263"/>
                          <a:ext cx="2041" cy="1490"/>
                        </a:xfrm>
                        <a:prstGeom prst="rect">
                          <a:avLst/>
                        </a:prstGeom>
                        <a:noFill/>
                        <a:ln w="38100">
                          <a:noFill/>
                          <a:miter/>
                        </a:ln>
                      </p:spPr>
                    </p:pic>
                  </p:oleObj>
                </mc:Fallback>
              </mc:AlternateContent>
            </a:graphicData>
          </a:graphic>
        </p:graphicFrame>
      </p:grpSp>
      <p:grpSp>
        <p:nvGrpSpPr>
          <p:cNvPr id="6" name="Group 64"/>
          <p:cNvGrpSpPr/>
          <p:nvPr/>
        </p:nvGrpSpPr>
        <p:grpSpPr>
          <a:xfrm>
            <a:off x="4211955" y="3881120"/>
            <a:ext cx="3461385" cy="2648665"/>
            <a:chOff x="2653" y="2160"/>
            <a:chExt cx="2268" cy="1805"/>
          </a:xfrm>
        </p:grpSpPr>
        <p:sp>
          <p:nvSpPr>
            <p:cNvPr id="11278" name="Text Box 62"/>
            <p:cNvSpPr txBox="1"/>
            <p:nvPr/>
          </p:nvSpPr>
          <p:spPr>
            <a:xfrm>
              <a:off x="3408" y="3693"/>
              <a:ext cx="900" cy="272"/>
            </a:xfrm>
            <a:prstGeom prst="rect">
              <a:avLst/>
            </a:prstGeom>
            <a:noFill/>
            <a:ln w="9525">
              <a:noFill/>
            </a:ln>
          </p:spPr>
          <p:txBody>
            <a:bodyPr wrap="square">
              <a:spAutoFit/>
            </a:bodyPr>
            <a:lstStyle/>
            <a:p>
              <a:r>
                <a:rPr lang="zh-CN" altLang="en-US" sz="2000" dirty="0">
                  <a:latin typeface="Times New Roman" panose="02020603050405020304" pitchFamily="18" charset="0"/>
                </a:rPr>
                <a:t>相位特性</a:t>
              </a:r>
              <a:endParaRPr lang="zh-CN" altLang="en-US" sz="2000" dirty="0">
                <a:latin typeface="Times New Roman" panose="02020603050405020304" pitchFamily="18" charset="0"/>
              </a:endParaRPr>
            </a:p>
          </p:txBody>
        </p:sp>
        <p:graphicFrame>
          <p:nvGraphicFramePr>
            <p:cNvPr id="11269" name="Object 63"/>
            <p:cNvGraphicFramePr/>
            <p:nvPr/>
          </p:nvGraphicFramePr>
          <p:xfrm>
            <a:off x="2653" y="2160"/>
            <a:ext cx="2268" cy="1533"/>
          </p:xfrm>
          <a:graphic>
            <a:graphicData uri="http://schemas.openxmlformats.org/presentationml/2006/ole">
              <mc:AlternateContent xmlns:mc="http://schemas.openxmlformats.org/markup-compatibility/2006">
                <mc:Choice xmlns:v="urn:schemas-microsoft-com:vml" Requires="v">
                  <p:oleObj spid="_x0000_s7" name="" r:id="rId7" imgW="5997575" imgH="4060825" progId="Visio.Drawing.6">
                    <p:embed/>
                  </p:oleObj>
                </mc:Choice>
                <mc:Fallback>
                  <p:oleObj name="" r:id="rId7" imgW="5997575" imgH="4060825" progId="Visio.Drawing.6">
                    <p:embed/>
                    <p:pic>
                      <p:nvPicPr>
                        <p:cNvPr id="0" name="图片 3138"/>
                        <p:cNvPicPr/>
                        <p:nvPr/>
                      </p:nvPicPr>
                      <p:blipFill>
                        <a:blip r:embed="rId8"/>
                        <a:stretch>
                          <a:fillRect/>
                        </a:stretch>
                      </p:blipFill>
                      <p:spPr>
                        <a:xfrm>
                          <a:off x="2653" y="2160"/>
                          <a:ext cx="2268" cy="1533"/>
                        </a:xfrm>
                        <a:prstGeom prst="rect">
                          <a:avLst/>
                        </a:prstGeom>
                        <a:noFill/>
                        <a:ln w="38100">
                          <a:noFill/>
                          <a:miter/>
                        </a:ln>
                      </p:spPr>
                    </p:pic>
                  </p:oleObj>
                </mc:Fallback>
              </mc:AlternateContent>
            </a:graphicData>
          </a:graphic>
        </p:graphicFrame>
      </p:grpSp>
      <p:graphicFrame>
        <p:nvGraphicFramePr>
          <p:cNvPr id="11268" name="Object 66"/>
          <p:cNvGraphicFramePr>
            <a:graphicFrameLocks noGrp="1"/>
          </p:cNvGraphicFramePr>
          <p:nvPr>
            <p:ph sz="quarter" idx="3"/>
          </p:nvPr>
        </p:nvGraphicFramePr>
        <p:xfrm>
          <a:off x="6155532" y="1341120"/>
          <a:ext cx="2701925" cy="1041400"/>
        </p:xfrm>
        <a:graphic>
          <a:graphicData uri="http://schemas.openxmlformats.org/presentationml/2006/ole">
            <mc:AlternateContent xmlns:mc="http://schemas.openxmlformats.org/markup-compatibility/2006">
              <mc:Choice xmlns:v="urn:schemas-microsoft-com:vml" Requires="v">
                <p:oleObj spid="_x0000_s8" name="" r:id="rId9" imgW="1612900" imgH="622300" progId="Equation.DSMT4">
                  <p:embed/>
                </p:oleObj>
              </mc:Choice>
              <mc:Fallback>
                <p:oleObj name="" r:id="rId9" imgW="1612900" imgH="622300" progId="Equation.DSMT4">
                  <p:embed/>
                  <p:pic>
                    <p:nvPicPr>
                      <p:cNvPr id="0" name="图片 3140"/>
                      <p:cNvPicPr/>
                      <p:nvPr/>
                    </p:nvPicPr>
                    <p:blipFill>
                      <a:blip r:embed="rId10"/>
                      <a:stretch>
                        <a:fillRect/>
                      </a:stretch>
                    </p:blipFill>
                    <p:spPr>
                      <a:xfrm>
                        <a:off x="6155532" y="1341120"/>
                        <a:ext cx="2701925" cy="1041400"/>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1" name="Text Box 39"/>
          <p:cNvSpPr txBox="1"/>
          <p:nvPr/>
        </p:nvSpPr>
        <p:spPr>
          <a:xfrm>
            <a:off x="646748" y="941388"/>
            <a:ext cx="5516880" cy="460375"/>
          </a:xfrm>
          <a:prstGeom prst="rect">
            <a:avLst/>
          </a:prstGeom>
          <a:noFill/>
          <a:ln w="9525">
            <a:noFill/>
          </a:ln>
        </p:spPr>
        <p:txBody>
          <a:bodyPr wrap="none">
            <a:spAutoFit/>
          </a:bodyPr>
          <a:lstStyle/>
          <a:p>
            <a:r>
              <a:rPr lang="zh-CN" altLang="en-US" dirty="0">
                <a:solidFill>
                  <a:schemeClr val="accent2"/>
                </a:solidFill>
                <a:latin typeface="Times New Roman" panose="02020603050405020304" pitchFamily="18" charset="0"/>
              </a:rPr>
              <a:t>（</a:t>
            </a:r>
            <a:r>
              <a:rPr lang="en-US" altLang="zh-CN" dirty="0">
                <a:solidFill>
                  <a:schemeClr val="accent2"/>
                </a:solidFill>
                <a:latin typeface="Times New Roman" panose="02020603050405020304" pitchFamily="18" charset="0"/>
              </a:rPr>
              <a:t>1</a:t>
            </a:r>
            <a:r>
              <a:rPr lang="zh-CN" altLang="en-US" dirty="0">
                <a:solidFill>
                  <a:schemeClr val="accent2"/>
                </a:solidFill>
                <a:latin typeface="Times New Roman" panose="02020603050405020304" pitchFamily="18" charset="0"/>
              </a:rPr>
              <a:t>）并联谐振回路（电感、电容并联）</a:t>
            </a:r>
            <a:endParaRPr lang="zh-CN" altLang="en-US" dirty="0">
              <a:solidFill>
                <a:schemeClr val="accent2"/>
              </a:solidFill>
              <a:latin typeface="Times New Roman" panose="02020603050405020304" pitchFamily="18" charset="0"/>
            </a:endParaRPr>
          </a:p>
        </p:txBody>
      </p:sp>
      <p:sp>
        <p:nvSpPr>
          <p:cNvPr id="11274" name="Text Box 44"/>
          <p:cNvSpPr txBox="1"/>
          <p:nvPr/>
        </p:nvSpPr>
        <p:spPr>
          <a:xfrm>
            <a:off x="-36195" y="476885"/>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sp>
        <p:nvSpPr>
          <p:cNvPr id="32" name="文本框 31"/>
          <p:cNvSpPr txBox="1"/>
          <p:nvPr/>
        </p:nvSpPr>
        <p:spPr>
          <a:xfrm>
            <a:off x="483870" y="1475740"/>
            <a:ext cx="7839710" cy="70675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dirty="0">
                <a:solidFill>
                  <a:srgbClr val="FF0066"/>
                </a:solidFill>
                <a:sym typeface="+mn-ea"/>
              </a:rPr>
              <a:t>谐振曲线</a:t>
            </a:r>
            <a:r>
              <a:rPr lang="en-US" altLang="zh-CN" sz="2000" dirty="0">
                <a:solidFill>
                  <a:srgbClr val="FF0066"/>
                </a:solidFill>
                <a:sym typeface="+mn-ea"/>
              </a:rPr>
              <a:t>:</a:t>
            </a:r>
            <a:r>
              <a:rPr lang="zh-CN" altLang="en-US" sz="2000" dirty="0"/>
              <a:t>回路电压</a:t>
            </a:r>
            <a:r>
              <a:rPr lang="en-US" altLang="zh-CN" sz="2000" dirty="0"/>
              <a:t>U</a:t>
            </a:r>
            <a:r>
              <a:rPr lang="zh-CN" altLang="en-US" sz="2000" dirty="0"/>
              <a:t>与外加信号源频率之间的幅频特性曲线为谐振曲线</a:t>
            </a:r>
            <a:r>
              <a:rPr lang="en-US" altLang="zh-CN" sz="2000" dirty="0"/>
              <a:t>(</a:t>
            </a:r>
            <a:r>
              <a:rPr lang="en-US" altLang="zh-CN" sz="2000" dirty="0">
                <a:sym typeface="Symbol" panose="05050102010706020507" pitchFamily="18" charset="2"/>
              </a:rPr>
              <a:t>-U</a:t>
            </a:r>
            <a:r>
              <a:rPr lang="en-US" altLang="zh-CN" sz="2000" dirty="0"/>
              <a:t>)</a:t>
            </a:r>
            <a:endParaRPr lang="en-US" altLang="zh-CN" sz="2000" dirty="0"/>
          </a:p>
        </p:txBody>
      </p:sp>
      <p:sp>
        <p:nvSpPr>
          <p:cNvPr id="28" name="文本框 27"/>
          <p:cNvSpPr txBox="1"/>
          <p:nvPr/>
        </p:nvSpPr>
        <p:spPr>
          <a:xfrm>
            <a:off x="483235" y="2277745"/>
            <a:ext cx="7840345" cy="70675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dirty="0"/>
              <a:t>谐振时，回路呈现纯电导，谐振导纳最小</a:t>
            </a:r>
            <a:r>
              <a:rPr lang="en-US" altLang="zh-CN" sz="2000" dirty="0"/>
              <a:t>(</a:t>
            </a:r>
            <a:r>
              <a:rPr lang="zh-CN" altLang="en-US" sz="2000" dirty="0"/>
              <a:t>谐振阻抗最大</a:t>
            </a:r>
            <a:r>
              <a:rPr lang="en-US" altLang="zh-CN" sz="2000" dirty="0"/>
              <a:t>)</a:t>
            </a:r>
            <a:r>
              <a:rPr lang="zh-CN" altLang="en-US" sz="2000" dirty="0"/>
              <a:t>，回路电压</a:t>
            </a:r>
            <a:r>
              <a:rPr lang="en-US" altLang="zh-CN" sz="2000" dirty="0"/>
              <a:t>U</a:t>
            </a:r>
            <a:r>
              <a:rPr lang="en-US" altLang="zh-CN" sz="2000" baseline="-25000" dirty="0"/>
              <a:t>o0</a:t>
            </a:r>
            <a:r>
              <a:rPr lang="zh-CN" altLang="en-US" sz="2000" dirty="0"/>
              <a:t>最大</a:t>
            </a:r>
            <a:endParaRPr lang="zh-CN" altLang="en-US" sz="2000" dirty="0"/>
          </a:p>
        </p:txBody>
      </p:sp>
      <p:sp>
        <p:nvSpPr>
          <p:cNvPr id="33" name="文本框 32"/>
          <p:cNvSpPr txBox="1"/>
          <p:nvPr/>
        </p:nvSpPr>
        <p:spPr>
          <a:xfrm>
            <a:off x="503450" y="3070195"/>
            <a:ext cx="7451301" cy="70675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r>
              <a:rPr lang="zh-CN" altLang="en-US" sz="2000" dirty="0">
                <a:solidFill>
                  <a:srgbClr val="FF0066"/>
                </a:solidFill>
                <a:sym typeface="+mn-ea"/>
              </a:rPr>
              <a:t>归一化谐振函数：</a:t>
            </a:r>
            <a:r>
              <a:rPr lang="zh-CN" altLang="en-US" sz="2000" dirty="0">
                <a:solidFill>
                  <a:schemeClr val="tx1"/>
                </a:solidFill>
                <a:sym typeface="+mn-ea"/>
              </a:rPr>
              <a:t>任意频率下回路电压U与谐振时回路电压Uo0之比称为归一化谐振函数，用</a:t>
            </a:r>
            <a:r>
              <a:rPr lang="zh-CN" altLang="en-US" sz="2000" i="1" dirty="0">
                <a:solidFill>
                  <a:srgbClr val="FF0066"/>
                </a:solidFill>
                <a:sym typeface="+mn-ea"/>
              </a:rPr>
              <a:t>N</a:t>
            </a:r>
            <a:r>
              <a:rPr lang="zh-CN" altLang="en-US" sz="2000" dirty="0">
                <a:solidFill>
                  <a:srgbClr val="FF0066"/>
                </a:solidFill>
                <a:sym typeface="+mn-ea"/>
              </a:rPr>
              <a:t>(</a:t>
            </a:r>
            <a:r>
              <a:rPr lang="zh-CN" altLang="en-US" sz="2000" i="1" dirty="0">
                <a:solidFill>
                  <a:srgbClr val="FF0066"/>
                </a:solidFill>
                <a:sym typeface="+mn-ea"/>
              </a:rPr>
              <a:t>f</a:t>
            </a:r>
            <a:r>
              <a:rPr lang="zh-CN" altLang="en-US" sz="2000" dirty="0">
                <a:solidFill>
                  <a:srgbClr val="FF0066"/>
                </a:solidFill>
                <a:sym typeface="+mn-ea"/>
              </a:rPr>
              <a:t>)</a:t>
            </a:r>
            <a:r>
              <a:rPr lang="zh-CN" altLang="en-US" sz="2000" dirty="0">
                <a:solidFill>
                  <a:schemeClr val="tx1"/>
                </a:solidFill>
                <a:sym typeface="+mn-ea"/>
              </a:rPr>
              <a:t>表示。</a:t>
            </a:r>
            <a:endParaRPr lang="zh-CN" altLang="en-US" sz="2000" dirty="0">
              <a:solidFill>
                <a:schemeClr val="tx1"/>
              </a:solidFill>
              <a:sym typeface="+mn-ea"/>
            </a:endParaRPr>
          </a:p>
        </p:txBody>
      </p:sp>
      <p:graphicFrame>
        <p:nvGraphicFramePr>
          <p:cNvPr id="6" name="对象 5"/>
          <p:cNvGraphicFramePr/>
          <p:nvPr/>
        </p:nvGraphicFramePr>
        <p:xfrm>
          <a:off x="796925" y="5300980"/>
          <a:ext cx="4211955" cy="1249680"/>
        </p:xfrm>
        <a:graphic>
          <a:graphicData uri="http://schemas.openxmlformats.org/presentationml/2006/ole">
            <mc:AlternateContent xmlns:mc="http://schemas.openxmlformats.org/markup-compatibility/2006">
              <mc:Choice xmlns:v="urn:schemas-microsoft-com:vml" Requires="v">
                <p:oleObj spid="_x0000_s2" name="" r:id="rId1" imgW="2857500" imgH="723900" progId="Equation.DSMT4">
                  <p:embed/>
                </p:oleObj>
              </mc:Choice>
              <mc:Fallback>
                <p:oleObj name="" r:id="rId1" imgW="2857500" imgH="723900" progId="Equation.DSMT4">
                  <p:embed/>
                  <p:pic>
                    <p:nvPicPr>
                      <p:cNvPr id="0" name="图片 6"/>
                      <p:cNvPicPr/>
                      <p:nvPr/>
                    </p:nvPicPr>
                    <p:blipFill>
                      <a:blip r:embed="rId2"/>
                      <a:stretch>
                        <a:fillRect/>
                      </a:stretch>
                    </p:blipFill>
                    <p:spPr>
                      <a:xfrm>
                        <a:off x="796925" y="5300980"/>
                        <a:ext cx="4211955" cy="1249680"/>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796925" y="3879215"/>
          <a:ext cx="3688715" cy="1197610"/>
        </p:xfrm>
        <a:graphic>
          <a:graphicData uri="http://schemas.openxmlformats.org/presentationml/2006/ole">
            <mc:AlternateContent xmlns:mc="http://schemas.openxmlformats.org/markup-compatibility/2006">
              <mc:Choice xmlns:v="urn:schemas-microsoft-com:vml" Requires="v">
                <p:oleObj spid="_x0000_s3" name="Equation" r:id="rId3" imgW="2234565" imgH="698500" progId="Equation.DSMT4">
                  <p:embed/>
                </p:oleObj>
              </mc:Choice>
              <mc:Fallback>
                <p:oleObj name="Equation" r:id="rId3" imgW="2234565" imgH="698500" progId="Equation.DSMT4">
                  <p:embed/>
                  <p:pic>
                    <p:nvPicPr>
                      <p:cNvPr id="0" name="对象 10"/>
                      <p:cNvPicPr/>
                      <p:nvPr/>
                    </p:nvPicPr>
                    <p:blipFill>
                      <a:blip r:embed="rId4"/>
                      <a:stretch>
                        <a:fillRect/>
                      </a:stretch>
                    </p:blipFill>
                    <p:spPr>
                      <a:xfrm>
                        <a:off x="796925" y="3879215"/>
                        <a:ext cx="3688715" cy="1197610"/>
                      </a:xfrm>
                      <a:prstGeom prst="rect">
                        <a:avLst/>
                      </a:prstGeom>
                    </p:spPr>
                  </p:pic>
                </p:oleObj>
              </mc:Fallback>
            </mc:AlternateContent>
          </a:graphicData>
        </a:graphic>
      </p:graphicFrame>
      <p:pic>
        <p:nvPicPr>
          <p:cNvPr id="4" name="图片 3"/>
          <p:cNvPicPr>
            <a:picLocks noChangeAspect="1"/>
          </p:cNvPicPr>
          <p:nvPr/>
        </p:nvPicPr>
        <p:blipFill>
          <a:blip r:embed="rId5"/>
          <a:stretch>
            <a:fillRect/>
          </a:stretch>
        </p:blipFill>
        <p:spPr>
          <a:xfrm>
            <a:off x="5363845" y="3635375"/>
            <a:ext cx="3703320" cy="27692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3204210" y="5403038"/>
            <a:ext cx="2676790" cy="970474"/>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366602" name="Text Box 10"/>
          <p:cNvSpPr txBox="1"/>
          <p:nvPr/>
        </p:nvSpPr>
        <p:spPr>
          <a:xfrm>
            <a:off x="323533" y="476568"/>
            <a:ext cx="6583680" cy="460375"/>
          </a:xfrm>
          <a:prstGeom prst="rect">
            <a:avLst/>
          </a:prstGeom>
          <a:noFill/>
          <a:ln w="9525">
            <a:noFill/>
          </a:ln>
        </p:spPr>
        <p:txBody>
          <a:bodyPr wrap="none">
            <a:spAutoFit/>
          </a:bodyPr>
          <a:lstStyle/>
          <a:p>
            <a:r>
              <a:rPr lang="zh-CN" altLang="en-US" dirty="0">
                <a:latin typeface="Times New Roman" panose="02020603050405020304" pitchFamily="18" charset="0"/>
              </a:rPr>
              <a:t>谐振回路中的两个重要参数：</a:t>
            </a:r>
            <a:r>
              <a:rPr lang="zh-CN" altLang="en-US" dirty="0">
                <a:solidFill>
                  <a:srgbClr val="FF0066"/>
                </a:solidFill>
                <a:latin typeface="Times New Roman" panose="02020603050405020304" pitchFamily="18" charset="0"/>
              </a:rPr>
              <a:t>通频带和矩形系数</a:t>
            </a:r>
            <a:endParaRPr lang="zh-CN" altLang="en-US" dirty="0">
              <a:solidFill>
                <a:srgbClr val="FF0066"/>
              </a:solidFill>
              <a:latin typeface="Times New Roman" panose="02020603050405020304" pitchFamily="18" charset="0"/>
            </a:endParaRPr>
          </a:p>
        </p:txBody>
      </p:sp>
      <p:grpSp>
        <p:nvGrpSpPr>
          <p:cNvPr id="12302" name="Group 16"/>
          <p:cNvGrpSpPr/>
          <p:nvPr/>
        </p:nvGrpSpPr>
        <p:grpSpPr>
          <a:xfrm>
            <a:off x="467678" y="908368"/>
            <a:ext cx="8291512" cy="830263"/>
            <a:chOff x="295" y="1933"/>
            <a:chExt cx="5223" cy="523"/>
          </a:xfrm>
        </p:grpSpPr>
        <p:sp>
          <p:nvSpPr>
            <p:cNvPr id="12308" name="Text Box 12"/>
            <p:cNvSpPr txBox="1"/>
            <p:nvPr/>
          </p:nvSpPr>
          <p:spPr>
            <a:xfrm>
              <a:off x="295" y="1933"/>
              <a:ext cx="5223" cy="523"/>
            </a:xfrm>
            <a:prstGeom prst="rect">
              <a:avLst/>
            </a:prstGeom>
            <a:noFill/>
            <a:ln w="9525">
              <a:noFill/>
            </a:ln>
          </p:spPr>
          <p:txBody>
            <a:bodyPr wrap="square">
              <a:spAutoFit/>
            </a:bodyPr>
            <a:lstStyle/>
            <a:p>
              <a:r>
                <a:rPr lang="en-US" altLang="zh-CN" dirty="0">
                  <a:solidFill>
                    <a:srgbClr val="FF0066"/>
                  </a:solidFill>
                  <a:latin typeface="Times New Roman" panose="02020603050405020304" pitchFamily="18" charset="0"/>
                </a:rPr>
                <a:t>3dB</a:t>
              </a:r>
              <a:r>
                <a:rPr lang="zh-CN" altLang="en-US" dirty="0">
                  <a:solidFill>
                    <a:srgbClr val="FF0066"/>
                  </a:solidFill>
                  <a:latin typeface="Times New Roman" panose="02020603050405020304" pitchFamily="18" charset="0"/>
                </a:rPr>
                <a:t>通频带</a:t>
              </a:r>
              <a:r>
                <a:rPr lang="zh-CN" altLang="en-US" dirty="0">
                  <a:latin typeface="Times New Roman" panose="02020603050405020304" pitchFamily="18" charset="0"/>
                </a:rPr>
                <a:t>：阻抗幅频特性下降为谐振值</a:t>
              </a:r>
              <a:r>
                <a:rPr lang="en-US" altLang="zh-CN" dirty="0">
                  <a:latin typeface="Times New Roman" panose="02020603050405020304" pitchFamily="18" charset="0"/>
                </a:rPr>
                <a:t>(</a:t>
              </a:r>
              <a:r>
                <a:rPr lang="zh-CN" altLang="en-US" dirty="0">
                  <a:latin typeface="Times New Roman" panose="02020603050405020304" pitchFamily="18" charset="0"/>
                </a:rPr>
                <a:t>中心频率处</a:t>
              </a:r>
              <a:r>
                <a:rPr lang="en-US" altLang="zh-CN" dirty="0">
                  <a:latin typeface="Times New Roman" panose="02020603050405020304" pitchFamily="18" charset="0"/>
                </a:rPr>
                <a:t>)</a:t>
              </a:r>
              <a:r>
                <a:rPr lang="zh-CN" altLang="en-US" dirty="0">
                  <a:latin typeface="Times New Roman" panose="02020603050405020304" pitchFamily="18" charset="0"/>
                </a:rPr>
                <a:t>的          </a:t>
              </a:r>
              <a:endParaRPr lang="zh-CN" altLang="en-US" dirty="0">
                <a:latin typeface="Times New Roman" panose="02020603050405020304" pitchFamily="18" charset="0"/>
              </a:endParaRPr>
            </a:p>
            <a:p>
              <a:r>
                <a:rPr lang="zh-CN" altLang="en-US" dirty="0">
                  <a:latin typeface="Times New Roman" panose="02020603050405020304" pitchFamily="18" charset="0"/>
                </a:rPr>
                <a:t>时对应的频率范围，也称回路带宽。常用         或        表示。</a:t>
              </a:r>
              <a:endParaRPr lang="zh-CN" altLang="en-US" dirty="0">
                <a:latin typeface="Times New Roman" panose="02020603050405020304" pitchFamily="18" charset="0"/>
              </a:endParaRPr>
            </a:p>
          </p:txBody>
        </p:sp>
        <p:graphicFrame>
          <p:nvGraphicFramePr>
            <p:cNvPr id="12294" name="Object 13"/>
            <p:cNvGraphicFramePr/>
            <p:nvPr/>
          </p:nvGraphicFramePr>
          <p:xfrm>
            <a:off x="5013" y="1956"/>
            <a:ext cx="325" cy="236"/>
          </p:xfrm>
          <a:graphic>
            <a:graphicData uri="http://schemas.openxmlformats.org/presentationml/2006/ole">
              <mc:AlternateContent xmlns:mc="http://schemas.openxmlformats.org/markup-compatibility/2006">
                <mc:Choice xmlns:v="urn:schemas-microsoft-com:vml" Requires="v">
                  <p:oleObj spid="_x0000_s2" name="" r:id="rId1" imgW="380365" imgH="215900" progId="Equation.DSMT4">
                    <p:embed/>
                  </p:oleObj>
                </mc:Choice>
                <mc:Fallback>
                  <p:oleObj name="" r:id="rId1" imgW="380365" imgH="215900" progId="Equation.DSMT4">
                    <p:embed/>
                    <p:pic>
                      <p:nvPicPr>
                        <p:cNvPr id="0" name="图片 3121"/>
                        <p:cNvPicPr/>
                        <p:nvPr/>
                      </p:nvPicPr>
                      <p:blipFill>
                        <a:blip r:embed="rId2"/>
                        <a:stretch>
                          <a:fillRect/>
                        </a:stretch>
                      </p:blipFill>
                      <p:spPr>
                        <a:xfrm>
                          <a:off x="5013" y="1956"/>
                          <a:ext cx="325" cy="236"/>
                        </a:xfrm>
                        <a:prstGeom prst="rect">
                          <a:avLst/>
                        </a:prstGeom>
                        <a:noFill/>
                        <a:ln w="38100">
                          <a:noFill/>
                          <a:miter/>
                        </a:ln>
                      </p:spPr>
                    </p:pic>
                  </p:oleObj>
                </mc:Fallback>
              </mc:AlternateContent>
            </a:graphicData>
          </a:graphic>
        </p:graphicFrame>
        <p:graphicFrame>
          <p:nvGraphicFramePr>
            <p:cNvPr id="12295" name="Object 14"/>
            <p:cNvGraphicFramePr/>
            <p:nvPr/>
          </p:nvGraphicFramePr>
          <p:xfrm>
            <a:off x="3788" y="2153"/>
            <a:ext cx="453" cy="303"/>
          </p:xfrm>
          <a:graphic>
            <a:graphicData uri="http://schemas.openxmlformats.org/presentationml/2006/ole">
              <mc:AlternateContent xmlns:mc="http://schemas.openxmlformats.org/markup-compatibility/2006">
                <mc:Choice xmlns:v="urn:schemas-microsoft-com:vml" Requires="v">
                  <p:oleObj spid="_x0000_s3" name="" r:id="rId3" imgW="342900" imgH="228600" progId="Equation.DSMT4">
                    <p:embed/>
                  </p:oleObj>
                </mc:Choice>
                <mc:Fallback>
                  <p:oleObj name="" r:id="rId3" imgW="342900" imgH="228600" progId="Equation.DSMT4">
                    <p:embed/>
                    <p:pic>
                      <p:nvPicPr>
                        <p:cNvPr id="0" name="图片 3139"/>
                        <p:cNvPicPr/>
                        <p:nvPr/>
                      </p:nvPicPr>
                      <p:blipFill>
                        <a:blip r:embed="rId4"/>
                        <a:stretch>
                          <a:fillRect/>
                        </a:stretch>
                      </p:blipFill>
                      <p:spPr>
                        <a:xfrm>
                          <a:off x="3788" y="2153"/>
                          <a:ext cx="453" cy="303"/>
                        </a:xfrm>
                        <a:prstGeom prst="rect">
                          <a:avLst/>
                        </a:prstGeom>
                        <a:noFill/>
                        <a:ln w="38100">
                          <a:noFill/>
                          <a:miter/>
                        </a:ln>
                      </p:spPr>
                    </p:pic>
                  </p:oleObj>
                </mc:Fallback>
              </mc:AlternateContent>
            </a:graphicData>
          </a:graphic>
        </p:graphicFrame>
        <p:graphicFrame>
          <p:nvGraphicFramePr>
            <p:cNvPr id="12296" name="Object 15"/>
            <p:cNvGraphicFramePr/>
            <p:nvPr/>
          </p:nvGraphicFramePr>
          <p:xfrm>
            <a:off x="4425" y="2139"/>
            <a:ext cx="404" cy="317"/>
          </p:xfrm>
          <a:graphic>
            <a:graphicData uri="http://schemas.openxmlformats.org/presentationml/2006/ole">
              <mc:AlternateContent xmlns:mc="http://schemas.openxmlformats.org/markup-compatibility/2006">
                <mc:Choice xmlns:v="urn:schemas-microsoft-com:vml" Requires="v">
                  <p:oleObj spid="_x0000_s4" name="" r:id="rId5" imgW="292100" imgH="228600" progId="Equation.DSMT4">
                    <p:embed/>
                  </p:oleObj>
                </mc:Choice>
                <mc:Fallback>
                  <p:oleObj name="" r:id="rId5" imgW="292100" imgH="228600" progId="Equation.DSMT4">
                    <p:embed/>
                    <p:pic>
                      <p:nvPicPr>
                        <p:cNvPr id="0" name="图片 3131"/>
                        <p:cNvPicPr/>
                        <p:nvPr/>
                      </p:nvPicPr>
                      <p:blipFill>
                        <a:blip r:embed="rId6"/>
                        <a:stretch>
                          <a:fillRect/>
                        </a:stretch>
                      </p:blipFill>
                      <p:spPr>
                        <a:xfrm>
                          <a:off x="4425" y="2139"/>
                          <a:ext cx="404" cy="317"/>
                        </a:xfrm>
                        <a:prstGeom prst="rect">
                          <a:avLst/>
                        </a:prstGeom>
                        <a:noFill/>
                        <a:ln w="38100">
                          <a:noFill/>
                          <a:miter/>
                        </a:ln>
                      </p:spPr>
                    </p:pic>
                  </p:oleObj>
                </mc:Fallback>
              </mc:AlternateContent>
            </a:graphicData>
          </a:graphic>
        </p:graphicFrame>
      </p:grpSp>
      <p:graphicFrame>
        <p:nvGraphicFramePr>
          <p:cNvPr id="6" name="对象 5"/>
          <p:cNvGraphicFramePr/>
          <p:nvPr/>
        </p:nvGraphicFramePr>
        <p:xfrm>
          <a:off x="755650" y="1701165"/>
          <a:ext cx="1649730" cy="781685"/>
        </p:xfrm>
        <a:graphic>
          <a:graphicData uri="http://schemas.openxmlformats.org/presentationml/2006/ole">
            <mc:AlternateContent xmlns:mc="http://schemas.openxmlformats.org/markup-compatibility/2006">
              <mc:Choice xmlns:v="urn:schemas-microsoft-com:vml" Requires="v">
                <p:oleObj spid="_x0000_s5" name="" r:id="rId7" imgW="1372235" imgH="838835" progId="Equation.DSMT4">
                  <p:embed/>
                </p:oleObj>
              </mc:Choice>
              <mc:Fallback>
                <p:oleObj name="" r:id="rId7" imgW="1372235" imgH="838835" progId="Equation.DSMT4">
                  <p:embed/>
                  <p:pic>
                    <p:nvPicPr>
                      <p:cNvPr id="0" name="图片 6"/>
                      <p:cNvPicPr/>
                      <p:nvPr/>
                    </p:nvPicPr>
                    <p:blipFill>
                      <a:blip r:embed="rId8"/>
                      <a:stretch>
                        <a:fillRect/>
                      </a:stretch>
                    </p:blipFill>
                    <p:spPr>
                      <a:xfrm>
                        <a:off x="755650" y="1701165"/>
                        <a:ext cx="1649730" cy="781685"/>
                      </a:xfrm>
                      <a:prstGeom prst="rect">
                        <a:avLst/>
                      </a:prstGeom>
                    </p:spPr>
                  </p:pic>
                </p:oleObj>
              </mc:Fallback>
            </mc:AlternateContent>
          </a:graphicData>
        </a:graphic>
      </p:graphicFrame>
      <p:pic>
        <p:nvPicPr>
          <p:cNvPr id="26" name="图片 25"/>
          <p:cNvPicPr>
            <a:picLocks noChangeAspect="1"/>
          </p:cNvPicPr>
          <p:nvPr/>
        </p:nvPicPr>
        <p:blipFill>
          <a:blip r:embed="rId9"/>
          <a:stretch>
            <a:fillRect/>
          </a:stretch>
        </p:blipFill>
        <p:spPr>
          <a:xfrm>
            <a:off x="5386773" y="1757860"/>
            <a:ext cx="3530600" cy="2639695"/>
          </a:xfrm>
          <a:prstGeom prst="rect">
            <a:avLst/>
          </a:prstGeom>
        </p:spPr>
      </p:pic>
      <p:graphicFrame>
        <p:nvGraphicFramePr>
          <p:cNvPr id="8" name="对象 7"/>
          <p:cNvGraphicFramePr/>
          <p:nvPr/>
        </p:nvGraphicFramePr>
        <p:xfrm>
          <a:off x="2627682" y="1698494"/>
          <a:ext cx="3253318" cy="1153036"/>
        </p:xfrm>
        <a:graphic>
          <a:graphicData uri="http://schemas.openxmlformats.org/presentationml/2006/ole">
            <mc:AlternateContent xmlns:mc="http://schemas.openxmlformats.org/markup-compatibility/2006">
              <mc:Choice xmlns:v="urn:schemas-microsoft-com:vml" Requires="v">
                <p:oleObj spid="_x0000_s7" name="" r:id="rId10" imgW="3013710" imgH="1151255" progId="Equation.DSMT4">
                  <p:embed/>
                </p:oleObj>
              </mc:Choice>
              <mc:Fallback>
                <p:oleObj name="" r:id="rId10" imgW="3013710" imgH="1151255" progId="Equation.DSMT4">
                  <p:embed/>
                  <p:pic>
                    <p:nvPicPr>
                      <p:cNvPr id="0" name="图片 8"/>
                      <p:cNvPicPr/>
                      <p:nvPr/>
                    </p:nvPicPr>
                    <p:blipFill>
                      <a:blip r:embed="rId11"/>
                      <a:stretch>
                        <a:fillRect/>
                      </a:stretch>
                    </p:blipFill>
                    <p:spPr>
                      <a:xfrm>
                        <a:off x="2627682" y="1698494"/>
                        <a:ext cx="3253318" cy="1153036"/>
                      </a:xfrm>
                      <a:prstGeom prst="rect">
                        <a:avLst/>
                      </a:prstGeom>
                    </p:spPr>
                  </p:pic>
                </p:oleObj>
              </mc:Fallback>
            </mc:AlternateContent>
          </a:graphicData>
        </a:graphic>
      </p:graphicFrame>
      <p:graphicFrame>
        <p:nvGraphicFramePr>
          <p:cNvPr id="10" name="对象 9"/>
          <p:cNvGraphicFramePr/>
          <p:nvPr/>
        </p:nvGraphicFramePr>
        <p:xfrm>
          <a:off x="482648" y="3053623"/>
          <a:ext cx="2361160" cy="970475"/>
        </p:xfrm>
        <a:graphic>
          <a:graphicData uri="http://schemas.openxmlformats.org/presentationml/2006/ole">
            <mc:AlternateContent xmlns:mc="http://schemas.openxmlformats.org/markup-compatibility/2006">
              <mc:Choice xmlns:v="urn:schemas-microsoft-com:vml" Requires="v">
                <p:oleObj spid="_x0000_s9" name="" r:id="rId12" imgW="1944370" imgH="795020" progId="Equation.DSMT4">
                  <p:embed/>
                </p:oleObj>
              </mc:Choice>
              <mc:Fallback>
                <p:oleObj name="" r:id="rId12" imgW="1944370" imgH="795020" progId="Equation.DSMT4">
                  <p:embed/>
                  <p:pic>
                    <p:nvPicPr>
                      <p:cNvPr id="0" name="图片 10"/>
                      <p:cNvPicPr/>
                      <p:nvPr/>
                    </p:nvPicPr>
                    <p:blipFill>
                      <a:blip r:embed="rId13"/>
                      <a:stretch>
                        <a:fillRect/>
                      </a:stretch>
                    </p:blipFill>
                    <p:spPr>
                      <a:xfrm>
                        <a:off x="482648" y="3053623"/>
                        <a:ext cx="2361160" cy="970475"/>
                      </a:xfrm>
                      <a:prstGeom prst="rect">
                        <a:avLst/>
                      </a:prstGeom>
                    </p:spPr>
                  </p:pic>
                </p:oleObj>
              </mc:Fallback>
            </mc:AlternateContent>
          </a:graphicData>
        </a:graphic>
      </p:graphicFrame>
      <p:graphicFrame>
        <p:nvGraphicFramePr>
          <p:cNvPr id="12" name="对象 11"/>
          <p:cNvGraphicFramePr/>
          <p:nvPr/>
        </p:nvGraphicFramePr>
        <p:xfrm>
          <a:off x="3131840" y="3112639"/>
          <a:ext cx="1733494" cy="893832"/>
        </p:xfrm>
        <a:graphic>
          <a:graphicData uri="http://schemas.openxmlformats.org/presentationml/2006/ole">
            <mc:AlternateContent xmlns:mc="http://schemas.openxmlformats.org/markup-compatibility/2006">
              <mc:Choice xmlns:v="urn:schemas-microsoft-com:vml" Requires="v">
                <p:oleObj spid="_x0000_s11" name="" r:id="rId14" imgW="1294765" imgH="777875" progId="Equation.DSMT4">
                  <p:embed/>
                </p:oleObj>
              </mc:Choice>
              <mc:Fallback>
                <p:oleObj name="" r:id="rId14" imgW="1294765" imgH="777875" progId="Equation.DSMT4">
                  <p:embed/>
                  <p:pic>
                    <p:nvPicPr>
                      <p:cNvPr id="0" name="图片 12"/>
                      <p:cNvPicPr/>
                      <p:nvPr/>
                    </p:nvPicPr>
                    <p:blipFill>
                      <a:blip r:embed="rId15"/>
                      <a:stretch>
                        <a:fillRect/>
                      </a:stretch>
                    </p:blipFill>
                    <p:spPr>
                      <a:xfrm>
                        <a:off x="3131840" y="3112639"/>
                        <a:ext cx="1733494" cy="893832"/>
                      </a:xfrm>
                      <a:prstGeom prst="rect">
                        <a:avLst/>
                      </a:prstGeom>
                    </p:spPr>
                  </p:pic>
                </p:oleObj>
              </mc:Fallback>
            </mc:AlternateContent>
          </a:graphicData>
        </a:graphic>
      </p:graphicFrame>
      <p:pic>
        <p:nvPicPr>
          <p:cNvPr id="14" name="图片 13"/>
          <p:cNvPicPr/>
          <p:nvPr/>
        </p:nvPicPr>
        <p:blipFill>
          <a:blip r:embed="rId16"/>
          <a:stretch>
            <a:fillRect/>
          </a:stretch>
        </p:blipFill>
        <p:spPr>
          <a:xfrm>
            <a:off x="418290" y="4455408"/>
            <a:ext cx="2338494" cy="970475"/>
          </a:xfrm>
          <a:prstGeom prst="rect">
            <a:avLst/>
          </a:prstGeom>
        </p:spPr>
      </p:pic>
      <p:pic>
        <p:nvPicPr>
          <p:cNvPr id="15" name="图片 14"/>
          <p:cNvPicPr/>
          <p:nvPr/>
        </p:nvPicPr>
        <p:blipFill>
          <a:blip r:embed="rId17"/>
          <a:stretch>
            <a:fillRect/>
          </a:stretch>
        </p:blipFill>
        <p:spPr>
          <a:xfrm>
            <a:off x="2916217" y="4455520"/>
            <a:ext cx="2338678" cy="893831"/>
          </a:xfrm>
          <a:prstGeom prst="rect">
            <a:avLst/>
          </a:prstGeom>
        </p:spPr>
      </p:pic>
      <p:pic>
        <p:nvPicPr>
          <p:cNvPr id="18" name="图片 17"/>
          <p:cNvPicPr/>
          <p:nvPr/>
        </p:nvPicPr>
        <p:blipFill>
          <a:blip r:embed="rId18"/>
          <a:stretch>
            <a:fillRect/>
          </a:stretch>
        </p:blipFill>
        <p:spPr>
          <a:xfrm>
            <a:off x="5422429" y="4455408"/>
            <a:ext cx="2182008" cy="893618"/>
          </a:xfrm>
          <a:prstGeom prst="rect">
            <a:avLst/>
          </a:prstGeom>
        </p:spPr>
      </p:pic>
      <p:pic>
        <p:nvPicPr>
          <p:cNvPr id="19" name="图片 18"/>
          <p:cNvPicPr/>
          <p:nvPr/>
        </p:nvPicPr>
        <p:blipFill>
          <a:blip r:embed="rId19"/>
          <a:stretch>
            <a:fillRect/>
          </a:stretch>
        </p:blipFill>
        <p:spPr>
          <a:xfrm>
            <a:off x="3275789" y="5426023"/>
            <a:ext cx="2520315" cy="89361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1547495" y="3208655"/>
            <a:ext cx="2520315" cy="791845"/>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7" name="文本框 16"/>
          <p:cNvSpPr txBox="1"/>
          <p:nvPr/>
        </p:nvSpPr>
        <p:spPr>
          <a:xfrm>
            <a:off x="395605" y="1461135"/>
            <a:ext cx="8037830" cy="105029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30000"/>
              </a:lnSpc>
              <a:buClrTx/>
              <a:buSzTx/>
              <a:buFontTx/>
            </a:pPr>
            <a:r>
              <a:rPr lang="zh-CN" altLang="en-US" sz="2400" b="1" dirty="0">
                <a:solidFill>
                  <a:srgbClr val="FF0000"/>
                </a:solidFill>
                <a:latin typeface="Times New Roman" panose="02020603050405020304" pitchFamily="18" charset="0"/>
                <a:ea typeface="宋体" panose="02010600030101010101" pitchFamily="2" charset="-122"/>
              </a:rPr>
              <a:t>矩形系数</a:t>
            </a:r>
            <a:r>
              <a:rPr lang="zh-CN" altLang="en-US" sz="2400" dirty="0">
                <a:latin typeface="Times New Roman" panose="02020603050405020304" pitchFamily="18" charset="0"/>
                <a:ea typeface="宋体" panose="02010600030101010101" pitchFamily="2" charset="-122"/>
              </a:rPr>
              <a:t>：衡量实际幅频特性曲线接近理想幅频特性曲线的程度，矩形系数越小，则幅频特性越理想，选择性越好</a:t>
            </a:r>
            <a:endParaRPr lang="zh-CN" altLang="en-US" sz="2400" dirty="0">
              <a:latin typeface="Times New Roman" panose="02020603050405020304" pitchFamily="18" charset="0"/>
              <a:ea typeface="宋体" panose="02010600030101010101" pitchFamily="2" charset="-122"/>
            </a:endParaRPr>
          </a:p>
        </p:txBody>
      </p:sp>
      <p:sp>
        <p:nvSpPr>
          <p:cNvPr id="12297" name="Text Box 4"/>
          <p:cNvSpPr txBox="1"/>
          <p:nvPr/>
        </p:nvSpPr>
        <p:spPr>
          <a:xfrm>
            <a:off x="611188" y="968693"/>
            <a:ext cx="5516880" cy="460375"/>
          </a:xfrm>
          <a:prstGeom prst="rect">
            <a:avLst/>
          </a:prstGeom>
          <a:noFill/>
          <a:ln w="9525">
            <a:noFill/>
          </a:ln>
        </p:spPr>
        <p:txBody>
          <a:bodyPr wrap="none">
            <a:spAutoFit/>
          </a:bodyPr>
          <a:lstStyle/>
          <a:p>
            <a:r>
              <a:rPr lang="zh-CN" altLang="en-US" dirty="0">
                <a:solidFill>
                  <a:schemeClr val="accent2"/>
                </a:solidFill>
                <a:latin typeface="Times New Roman" panose="02020603050405020304" pitchFamily="18" charset="0"/>
              </a:rPr>
              <a:t>（</a:t>
            </a:r>
            <a:r>
              <a:rPr lang="en-US" altLang="zh-CN" dirty="0">
                <a:solidFill>
                  <a:schemeClr val="accent2"/>
                </a:solidFill>
                <a:latin typeface="Times New Roman" panose="02020603050405020304" pitchFamily="18" charset="0"/>
              </a:rPr>
              <a:t>1</a:t>
            </a:r>
            <a:r>
              <a:rPr lang="zh-CN" altLang="en-US" dirty="0">
                <a:solidFill>
                  <a:schemeClr val="accent2"/>
                </a:solidFill>
                <a:latin typeface="Times New Roman" panose="02020603050405020304" pitchFamily="18" charset="0"/>
              </a:rPr>
              <a:t>）并联谐振回路（电感、电容并联）</a:t>
            </a:r>
            <a:endParaRPr lang="zh-CN" altLang="en-US" dirty="0">
              <a:solidFill>
                <a:schemeClr val="accent2"/>
              </a:solidFill>
              <a:latin typeface="Times New Roman" panose="02020603050405020304" pitchFamily="18" charset="0"/>
            </a:endParaRPr>
          </a:p>
        </p:txBody>
      </p:sp>
      <p:sp>
        <p:nvSpPr>
          <p:cNvPr id="12300" name="Text Box 9"/>
          <p:cNvSpPr txBox="1"/>
          <p:nvPr/>
        </p:nvSpPr>
        <p:spPr>
          <a:xfrm>
            <a:off x="0" y="476885"/>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graphicFrame>
        <p:nvGraphicFramePr>
          <p:cNvPr id="6" name="对象 5"/>
          <p:cNvGraphicFramePr/>
          <p:nvPr/>
        </p:nvGraphicFramePr>
        <p:xfrm>
          <a:off x="1727410" y="3208656"/>
          <a:ext cx="2160484" cy="791844"/>
        </p:xfrm>
        <a:graphic>
          <a:graphicData uri="http://schemas.openxmlformats.org/presentationml/2006/ole">
            <mc:AlternateContent xmlns:mc="http://schemas.openxmlformats.org/markup-compatibility/2006">
              <mc:Choice xmlns:v="urn:schemas-microsoft-com:vml" Requires="v">
                <p:oleObj spid="_x0000_s2" name="" r:id="rId1" imgW="1797050" imgH="744220" progId="Equation.DSMT4">
                  <p:embed/>
                </p:oleObj>
              </mc:Choice>
              <mc:Fallback>
                <p:oleObj name="" r:id="rId1" imgW="1797050" imgH="744220" progId="Equation.DSMT4">
                  <p:embed/>
                  <p:pic>
                    <p:nvPicPr>
                      <p:cNvPr id="0" name="图片 6"/>
                      <p:cNvPicPr/>
                      <p:nvPr/>
                    </p:nvPicPr>
                    <p:blipFill>
                      <a:blip r:embed="rId2"/>
                      <a:stretch>
                        <a:fillRect/>
                      </a:stretch>
                    </p:blipFill>
                    <p:spPr>
                      <a:xfrm>
                        <a:off x="1727410" y="3208656"/>
                        <a:ext cx="2160484" cy="791844"/>
                      </a:xfrm>
                      <a:prstGeom prst="rect">
                        <a:avLst/>
                      </a:prstGeom>
                    </p:spPr>
                  </p:pic>
                </p:oleObj>
              </mc:Fallback>
            </mc:AlternateContent>
          </a:graphicData>
        </a:graphic>
      </p:graphicFrame>
      <p:pic>
        <p:nvPicPr>
          <p:cNvPr id="26" name="图片 25"/>
          <p:cNvPicPr>
            <a:picLocks noChangeAspect="1"/>
          </p:cNvPicPr>
          <p:nvPr/>
        </p:nvPicPr>
        <p:blipFill>
          <a:blip r:embed="rId3"/>
          <a:stretch>
            <a:fillRect/>
          </a:stretch>
        </p:blipFill>
        <p:spPr>
          <a:xfrm>
            <a:off x="5363845" y="2637155"/>
            <a:ext cx="3530600" cy="263969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7" name="Text Box 4"/>
          <p:cNvSpPr txBox="1"/>
          <p:nvPr/>
        </p:nvSpPr>
        <p:spPr>
          <a:xfrm>
            <a:off x="611188" y="968693"/>
            <a:ext cx="5516880" cy="460375"/>
          </a:xfrm>
          <a:prstGeom prst="rect">
            <a:avLst/>
          </a:prstGeom>
          <a:noFill/>
          <a:ln w="9525">
            <a:noFill/>
          </a:ln>
        </p:spPr>
        <p:txBody>
          <a:bodyPr wrap="none">
            <a:spAutoFit/>
          </a:bodyPr>
          <a:lstStyle/>
          <a:p>
            <a:r>
              <a:rPr lang="zh-CN" altLang="en-US" dirty="0">
                <a:solidFill>
                  <a:schemeClr val="accent2"/>
                </a:solidFill>
                <a:latin typeface="Times New Roman" panose="02020603050405020304" pitchFamily="18" charset="0"/>
              </a:rPr>
              <a:t>（</a:t>
            </a:r>
            <a:r>
              <a:rPr lang="en-US" altLang="zh-CN" dirty="0">
                <a:solidFill>
                  <a:schemeClr val="accent2"/>
                </a:solidFill>
                <a:latin typeface="Times New Roman" panose="02020603050405020304" pitchFamily="18" charset="0"/>
              </a:rPr>
              <a:t>1</a:t>
            </a:r>
            <a:r>
              <a:rPr lang="zh-CN" altLang="en-US" dirty="0">
                <a:solidFill>
                  <a:schemeClr val="accent2"/>
                </a:solidFill>
                <a:latin typeface="Times New Roman" panose="02020603050405020304" pitchFamily="18" charset="0"/>
              </a:rPr>
              <a:t>）并联谐振回路（电感、电容并联）</a:t>
            </a:r>
            <a:endParaRPr lang="zh-CN" altLang="en-US" dirty="0">
              <a:solidFill>
                <a:schemeClr val="accent2"/>
              </a:solidFill>
              <a:latin typeface="Times New Roman" panose="02020603050405020304" pitchFamily="18" charset="0"/>
            </a:endParaRPr>
          </a:p>
        </p:txBody>
      </p:sp>
      <p:sp>
        <p:nvSpPr>
          <p:cNvPr id="12300" name="Text Box 9"/>
          <p:cNvSpPr txBox="1"/>
          <p:nvPr/>
        </p:nvSpPr>
        <p:spPr>
          <a:xfrm>
            <a:off x="0" y="476885"/>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sp>
        <p:nvSpPr>
          <p:cNvPr id="6" name="文本框 5"/>
          <p:cNvSpPr txBox="1"/>
          <p:nvPr/>
        </p:nvSpPr>
        <p:spPr>
          <a:xfrm>
            <a:off x="611505" y="1429385"/>
            <a:ext cx="5490210" cy="5708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30000"/>
              </a:lnSpc>
              <a:buClrTx/>
              <a:buSzTx/>
              <a:buFontTx/>
            </a:pPr>
            <a:r>
              <a:rPr lang="zh-CN" altLang="en-US" sz="2400" dirty="0">
                <a:latin typeface="Times New Roman" panose="02020603050405020304" pitchFamily="18" charset="0"/>
                <a:ea typeface="宋体" panose="02010600030101010101" pitchFamily="2" charset="-122"/>
              </a:rPr>
              <a:t>例题1： 求并联谐振回路的矩形系数</a:t>
            </a:r>
            <a:endParaRPr lang="zh-CN" altLang="en-US" sz="2400" dirty="0">
              <a:latin typeface="Times New Roman" panose="02020603050405020304" pitchFamily="18" charset="0"/>
              <a:ea typeface="宋体" panose="02010600030101010101" pitchFamily="2" charset="-122"/>
            </a:endParaRPr>
          </a:p>
        </p:txBody>
      </p:sp>
      <p:sp>
        <p:nvSpPr>
          <p:cNvPr id="7" name="文本框 6"/>
          <p:cNvSpPr txBox="1"/>
          <p:nvPr/>
        </p:nvSpPr>
        <p:spPr>
          <a:xfrm>
            <a:off x="768350" y="1967230"/>
            <a:ext cx="7472680" cy="105029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30000"/>
              </a:lnSpc>
              <a:buClrTx/>
              <a:buSzTx/>
              <a:buFontTx/>
            </a:pPr>
            <a:r>
              <a:rPr lang="zh-CN" altLang="en-US" sz="2400" dirty="0">
                <a:latin typeface="Times New Roman" panose="02020603050405020304" pitchFamily="18" charset="0"/>
                <a:ea typeface="宋体" panose="02010600030101010101" pitchFamily="2" charset="-122"/>
              </a:rPr>
              <a:t>分析：要求矩形系数，需要知道</a:t>
            </a:r>
            <a:r>
              <a:rPr lang="en-US" altLang="zh-CN" sz="24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     和</a:t>
            </a:r>
            <a:r>
              <a:rPr lang="en-US" altLang="zh-CN" sz="24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     ，已知</a:t>
            </a:r>
            <a:r>
              <a:rPr lang="en-US" altLang="zh-CN" sz="24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          ，因此需求</a:t>
            </a:r>
            <a:r>
              <a:rPr lang="en-US" altLang="zh-CN" sz="24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a:t>
            </a:r>
            <a:endParaRPr lang="zh-CN" altLang="en-US" sz="2400" dirty="0">
              <a:latin typeface="Times New Roman" panose="02020603050405020304" pitchFamily="18" charset="0"/>
              <a:ea typeface="宋体" panose="02010600030101010101" pitchFamily="2" charset="-122"/>
            </a:endParaRPr>
          </a:p>
        </p:txBody>
      </p:sp>
      <p:pic>
        <p:nvPicPr>
          <p:cNvPr id="2" name="图片 -1"/>
          <p:cNvPicPr/>
          <p:nvPr/>
        </p:nvPicPr>
        <p:blipFill>
          <a:blip r:embed="rId1"/>
          <a:stretch>
            <a:fillRect/>
          </a:stretch>
        </p:blipFill>
        <p:spPr>
          <a:xfrm>
            <a:off x="5076050" y="2071547"/>
            <a:ext cx="563593" cy="337642"/>
          </a:xfrm>
          <a:prstGeom prst="rect">
            <a:avLst/>
          </a:prstGeom>
        </p:spPr>
      </p:pic>
      <p:pic>
        <p:nvPicPr>
          <p:cNvPr id="8" name="图片 7"/>
          <p:cNvPicPr/>
          <p:nvPr/>
        </p:nvPicPr>
        <p:blipFill>
          <a:blip r:embed="rId2"/>
          <a:stretch>
            <a:fillRect/>
          </a:stretch>
        </p:blipFill>
        <p:spPr>
          <a:xfrm>
            <a:off x="3708222" y="2575231"/>
            <a:ext cx="544513" cy="336550"/>
          </a:xfrm>
          <a:prstGeom prst="rect">
            <a:avLst/>
          </a:prstGeom>
        </p:spPr>
      </p:pic>
      <p:pic>
        <p:nvPicPr>
          <p:cNvPr id="9" name="图片 8"/>
          <p:cNvPicPr/>
          <p:nvPr/>
        </p:nvPicPr>
        <p:blipFill>
          <a:blip r:embed="rId2"/>
          <a:stretch>
            <a:fillRect/>
          </a:stretch>
        </p:blipFill>
        <p:spPr>
          <a:xfrm>
            <a:off x="5940501" y="2071676"/>
            <a:ext cx="544513" cy="336550"/>
          </a:xfrm>
          <a:prstGeom prst="rect">
            <a:avLst/>
          </a:prstGeom>
        </p:spPr>
      </p:pic>
      <p:pic>
        <p:nvPicPr>
          <p:cNvPr id="10" name="图片 9"/>
          <p:cNvPicPr/>
          <p:nvPr/>
        </p:nvPicPr>
        <p:blipFill>
          <a:blip r:embed="rId3"/>
          <a:stretch>
            <a:fillRect/>
          </a:stretch>
        </p:blipFill>
        <p:spPr>
          <a:xfrm>
            <a:off x="1115792" y="2431098"/>
            <a:ext cx="1084263" cy="638175"/>
          </a:xfrm>
          <a:prstGeom prst="rect">
            <a:avLst/>
          </a:prstGeom>
        </p:spPr>
      </p:pic>
      <p:sp>
        <p:nvSpPr>
          <p:cNvPr id="11" name="文本框 10"/>
          <p:cNvSpPr txBox="1"/>
          <p:nvPr/>
        </p:nvSpPr>
        <p:spPr>
          <a:xfrm>
            <a:off x="768558" y="3030974"/>
            <a:ext cx="7570055" cy="5708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30000"/>
              </a:lnSpc>
              <a:buClrTx/>
              <a:buSzTx/>
              <a:buFontTx/>
            </a:pPr>
            <a:r>
              <a:rPr lang="zh-CN" altLang="en-US" sz="2400" dirty="0">
                <a:latin typeface="Times New Roman" panose="02020603050405020304" pitchFamily="18" charset="0"/>
                <a:ea typeface="宋体" panose="02010600030101010101" pitchFamily="2" charset="-122"/>
              </a:rPr>
              <a:t>设</a:t>
            </a:r>
            <a:r>
              <a:rPr lang="en-US" altLang="zh-CN" sz="24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          时的频率分别为</a:t>
            </a:r>
            <a:r>
              <a:rPr lang="en-US" altLang="zh-CN" sz="2400" i="1" dirty="0">
                <a:latin typeface="Times New Roman" panose="02020603050405020304" pitchFamily="18" charset="0"/>
                <a:ea typeface="宋体" panose="02010600030101010101" pitchFamily="2" charset="-122"/>
              </a:rPr>
              <a:t>f</a:t>
            </a:r>
            <a:r>
              <a:rPr lang="en-US" altLang="zh-CN" sz="2400" baseline="-25000" dirty="0">
                <a:latin typeface="Times New Roman" panose="02020603050405020304" pitchFamily="18" charset="0"/>
                <a:ea typeface="宋体" panose="02010600030101010101" pitchFamily="2" charset="-122"/>
              </a:rPr>
              <a:t>3</a:t>
            </a:r>
            <a:r>
              <a:rPr lang="zh-CN" altLang="en-US" sz="2400" dirty="0">
                <a:latin typeface="Times New Roman" panose="02020603050405020304" pitchFamily="18" charset="0"/>
                <a:ea typeface="宋体" panose="02010600030101010101" pitchFamily="2" charset="-122"/>
              </a:rPr>
              <a:t>和</a:t>
            </a:r>
            <a:r>
              <a:rPr lang="en-US" altLang="zh-CN" sz="2400" i="1" dirty="0">
                <a:latin typeface="Times New Roman" panose="02020603050405020304" pitchFamily="18" charset="0"/>
                <a:ea typeface="宋体" panose="02010600030101010101" pitchFamily="2" charset="-122"/>
              </a:rPr>
              <a:t>f</a:t>
            </a:r>
            <a:r>
              <a:rPr lang="en-US" altLang="zh-CN" sz="2400" baseline="-25000" dirty="0">
                <a:latin typeface="Times New Roman" panose="02020603050405020304" pitchFamily="18" charset="0"/>
                <a:ea typeface="宋体" panose="02010600030101010101" pitchFamily="2" charset="-122"/>
              </a:rPr>
              <a:t>4</a:t>
            </a:r>
            <a:r>
              <a:rPr lang="zh-CN" altLang="en-US" sz="2400" dirty="0">
                <a:latin typeface="Times New Roman" panose="02020603050405020304" pitchFamily="18" charset="0"/>
                <a:ea typeface="宋体" panose="02010600030101010101" pitchFamily="2" charset="-122"/>
              </a:rPr>
              <a:t>，则满足：</a:t>
            </a:r>
            <a:endParaRPr lang="zh-CN" altLang="en-US" sz="2400" dirty="0">
              <a:latin typeface="Times New Roman" panose="02020603050405020304" pitchFamily="18" charset="0"/>
              <a:ea typeface="宋体" panose="02010600030101010101" pitchFamily="2" charset="-122"/>
            </a:endParaRPr>
          </a:p>
        </p:txBody>
      </p:sp>
      <p:graphicFrame>
        <p:nvGraphicFramePr>
          <p:cNvPr id="12" name="对象 11"/>
          <p:cNvGraphicFramePr/>
          <p:nvPr/>
        </p:nvGraphicFramePr>
        <p:xfrm>
          <a:off x="1169035" y="3207385"/>
          <a:ext cx="1224915" cy="339725"/>
        </p:xfrm>
        <a:graphic>
          <a:graphicData uri="http://schemas.openxmlformats.org/presentationml/2006/ole">
            <mc:AlternateContent xmlns:mc="http://schemas.openxmlformats.org/markup-compatibility/2006">
              <mc:Choice xmlns:v="urn:schemas-microsoft-com:vml" Requires="v">
                <p:oleObj spid="_x0000_s3" name="" r:id="rId4" imgW="1236980" imgH="325120" progId="Equation.DSMT4">
                  <p:embed/>
                </p:oleObj>
              </mc:Choice>
              <mc:Fallback>
                <p:oleObj name="" r:id="rId4" imgW="1236980" imgH="325120" progId="Equation.DSMT4">
                  <p:embed/>
                  <p:pic>
                    <p:nvPicPr>
                      <p:cNvPr id="0" name="图片 12"/>
                      <p:cNvPicPr/>
                      <p:nvPr/>
                    </p:nvPicPr>
                    <p:blipFill>
                      <a:blip r:embed="rId5"/>
                      <a:stretch>
                        <a:fillRect/>
                      </a:stretch>
                    </p:blipFill>
                    <p:spPr>
                      <a:xfrm>
                        <a:off x="1169035" y="3207385"/>
                        <a:ext cx="1224915" cy="339725"/>
                      </a:xfrm>
                      <a:prstGeom prst="rect">
                        <a:avLst/>
                      </a:prstGeom>
                    </p:spPr>
                  </p:pic>
                </p:oleObj>
              </mc:Fallback>
            </mc:AlternateContent>
          </a:graphicData>
        </a:graphic>
      </p:graphicFrame>
      <p:pic>
        <p:nvPicPr>
          <p:cNvPr id="14" name="图片 13"/>
          <p:cNvPicPr/>
          <p:nvPr/>
        </p:nvPicPr>
        <p:blipFill>
          <a:blip r:embed="rId6"/>
          <a:stretch>
            <a:fillRect/>
          </a:stretch>
        </p:blipFill>
        <p:spPr>
          <a:xfrm>
            <a:off x="768431" y="3604531"/>
            <a:ext cx="3371850" cy="1208087"/>
          </a:xfrm>
          <a:prstGeom prst="rect">
            <a:avLst/>
          </a:prstGeom>
        </p:spPr>
      </p:pic>
      <p:pic>
        <p:nvPicPr>
          <p:cNvPr id="15" name="图片 14"/>
          <p:cNvPicPr/>
          <p:nvPr/>
        </p:nvPicPr>
        <p:blipFill>
          <a:blip r:embed="rId7"/>
          <a:stretch>
            <a:fillRect/>
          </a:stretch>
        </p:blipFill>
        <p:spPr>
          <a:xfrm>
            <a:off x="4604622" y="3656084"/>
            <a:ext cx="2303462" cy="788988"/>
          </a:xfrm>
          <a:prstGeom prst="rect">
            <a:avLst/>
          </a:prstGeom>
        </p:spPr>
      </p:pic>
      <p:pic>
        <p:nvPicPr>
          <p:cNvPr id="16" name="图片 15"/>
          <p:cNvPicPr/>
          <p:nvPr/>
        </p:nvPicPr>
        <p:blipFill>
          <a:blip r:embed="rId8"/>
          <a:stretch>
            <a:fillRect/>
          </a:stretch>
        </p:blipFill>
        <p:spPr>
          <a:xfrm>
            <a:off x="755937" y="4870072"/>
            <a:ext cx="3279775" cy="788988"/>
          </a:xfrm>
          <a:prstGeom prst="rect">
            <a:avLst/>
          </a:prstGeom>
        </p:spPr>
      </p:pic>
      <p:pic>
        <p:nvPicPr>
          <p:cNvPr id="17" name="图片 16"/>
          <p:cNvPicPr/>
          <p:nvPr/>
        </p:nvPicPr>
        <p:blipFill>
          <a:blip r:embed="rId9"/>
          <a:stretch>
            <a:fillRect/>
          </a:stretch>
        </p:blipFill>
        <p:spPr>
          <a:xfrm>
            <a:off x="720673" y="5716000"/>
            <a:ext cx="3419475" cy="787400"/>
          </a:xfrm>
          <a:prstGeom prst="rect">
            <a:avLst/>
          </a:prstGeom>
        </p:spPr>
      </p:pic>
      <p:sp>
        <p:nvSpPr>
          <p:cNvPr id="26" name="文本框 25"/>
          <p:cNvSpPr txBox="1"/>
          <p:nvPr/>
        </p:nvSpPr>
        <p:spPr>
          <a:xfrm>
            <a:off x="4292600" y="4725670"/>
            <a:ext cx="4404995" cy="101473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buClrTx/>
              <a:buSzTx/>
              <a:buFontTx/>
            </a:pPr>
            <a:r>
              <a:rPr lang="zh-CN" altLang="en-US" sz="2000" dirty="0">
                <a:solidFill>
                  <a:srgbClr val="FF0066"/>
                </a:solidFill>
                <a:latin typeface="Times New Roman" panose="02020603050405020304" pitchFamily="18" charset="0"/>
                <a:ea typeface="宋体" panose="02010600030101010101" pitchFamily="2" charset="-122"/>
              </a:rPr>
              <a:t>矩形系数大，接近于10,</a:t>
            </a:r>
            <a:r>
              <a:rPr lang="zh-CN" altLang="en-US" sz="2000" dirty="0">
                <a:solidFill>
                  <a:srgbClr val="FF0066"/>
                </a:solidFill>
                <a:latin typeface="Times New Roman" panose="02020603050405020304" pitchFamily="18" charset="0"/>
                <a:ea typeface="宋体" panose="02010600030101010101" pitchFamily="2" charset="-122"/>
                <a:sym typeface="+mn-ea"/>
              </a:rPr>
              <a:t>单谐振回路幅频特性不好。</a:t>
            </a:r>
            <a:endParaRPr lang="zh-CN" altLang="en-US" sz="2000" dirty="0">
              <a:solidFill>
                <a:srgbClr val="FF0066"/>
              </a:solidFill>
              <a:latin typeface="Times New Roman" panose="02020603050405020304" pitchFamily="18" charset="0"/>
              <a:ea typeface="宋体" panose="02010600030101010101" pitchFamily="2" charset="-122"/>
            </a:endParaRPr>
          </a:p>
          <a:p>
            <a:pPr algn="just">
              <a:buClrTx/>
              <a:buSzTx/>
              <a:buFontTx/>
            </a:pPr>
            <a:endParaRPr lang="zh-CN" altLang="en-US" sz="2000" dirty="0">
              <a:solidFill>
                <a:srgbClr val="FF0066"/>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8" name="文本框 27"/>
          <p:cNvSpPr txBox="1"/>
          <p:nvPr/>
        </p:nvSpPr>
        <p:spPr>
          <a:xfrm>
            <a:off x="4293235" y="5740400"/>
            <a:ext cx="4404995" cy="645160"/>
          </a:xfrm>
          <a:prstGeom prst="rect">
            <a:avLst/>
          </a:prstGeom>
          <a:solidFill>
            <a:schemeClr val="accent1">
              <a:lumMod val="20000"/>
              <a:lumOff val="80000"/>
            </a:schemeClr>
          </a:solidFill>
          <a:ln w="12700">
            <a:solidFill>
              <a:schemeClr val="accent1">
                <a:lumMod val="75000"/>
              </a:schemeClr>
            </a:solid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zh-CN" altLang="en-US" b="1" dirty="0">
                <a:latin typeface="Times New Roman" panose="02020603050405020304" pitchFamily="18" charset="0"/>
                <a:ea typeface="宋体" panose="02010600030101010101" pitchFamily="2" charset="-122"/>
                <a:cs typeface="Times New Roman" panose="02020603050405020304" pitchFamily="18" charset="0"/>
              </a:rPr>
              <a:t>单谐振回路的矩形系数是一个定值，与回路</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Q</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值和谐振频率无关</a:t>
            </a:r>
            <a:endParaRPr lang="zh-CN" altLang="en-US" b="1"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4" name="Text Box 4"/>
          <p:cNvSpPr txBox="1"/>
          <p:nvPr/>
        </p:nvSpPr>
        <p:spPr>
          <a:xfrm>
            <a:off x="611188" y="1372553"/>
            <a:ext cx="5516880" cy="460375"/>
          </a:xfrm>
          <a:prstGeom prst="rect">
            <a:avLst/>
          </a:prstGeom>
          <a:noFill/>
          <a:ln w="9525">
            <a:noFill/>
          </a:ln>
        </p:spPr>
        <p:txBody>
          <a:bodyPr wrap="none">
            <a:spAutoFit/>
          </a:bodyPr>
          <a:lstStyle/>
          <a:p>
            <a:r>
              <a:rPr lang="zh-CN" altLang="en-US" dirty="0">
                <a:solidFill>
                  <a:schemeClr val="accent2"/>
                </a:solidFill>
                <a:latin typeface="Times New Roman" panose="02020603050405020304" pitchFamily="18" charset="0"/>
              </a:rPr>
              <a:t>（</a:t>
            </a:r>
            <a:r>
              <a:rPr lang="en-US" altLang="zh-CN" dirty="0">
                <a:solidFill>
                  <a:schemeClr val="accent2"/>
                </a:solidFill>
                <a:latin typeface="Times New Roman" panose="02020603050405020304" pitchFamily="18" charset="0"/>
              </a:rPr>
              <a:t>1</a:t>
            </a:r>
            <a:r>
              <a:rPr lang="zh-CN" altLang="en-US" dirty="0">
                <a:solidFill>
                  <a:schemeClr val="accent2"/>
                </a:solidFill>
                <a:latin typeface="Times New Roman" panose="02020603050405020304" pitchFamily="18" charset="0"/>
              </a:rPr>
              <a:t>）并联谐振回路（电感、电容并联）</a:t>
            </a:r>
            <a:endParaRPr lang="zh-CN" altLang="en-US" dirty="0">
              <a:solidFill>
                <a:schemeClr val="accent2"/>
              </a:solidFill>
              <a:latin typeface="Times New Roman" panose="02020603050405020304" pitchFamily="18" charset="0"/>
            </a:endParaRPr>
          </a:p>
        </p:txBody>
      </p:sp>
      <p:sp>
        <p:nvSpPr>
          <p:cNvPr id="14347" name="Text Box 9"/>
          <p:cNvSpPr txBox="1"/>
          <p:nvPr/>
        </p:nvSpPr>
        <p:spPr>
          <a:xfrm>
            <a:off x="0" y="908050"/>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grpSp>
        <p:nvGrpSpPr>
          <p:cNvPr id="3" name="Group 24"/>
          <p:cNvGrpSpPr/>
          <p:nvPr/>
        </p:nvGrpSpPr>
        <p:grpSpPr>
          <a:xfrm>
            <a:off x="755333" y="1754505"/>
            <a:ext cx="5902325" cy="854075"/>
            <a:chOff x="295" y="1366"/>
            <a:chExt cx="3718" cy="538"/>
          </a:xfrm>
        </p:grpSpPr>
        <p:graphicFrame>
          <p:nvGraphicFramePr>
            <p:cNvPr id="14343" name="Object 10"/>
            <p:cNvGraphicFramePr/>
            <p:nvPr/>
          </p:nvGraphicFramePr>
          <p:xfrm>
            <a:off x="1428" y="1366"/>
            <a:ext cx="2585" cy="538"/>
          </p:xfrm>
          <a:graphic>
            <a:graphicData uri="http://schemas.openxmlformats.org/presentationml/2006/ole">
              <mc:AlternateContent xmlns:mc="http://schemas.openxmlformats.org/markup-compatibility/2006">
                <mc:Choice xmlns:v="urn:schemas-microsoft-com:vml" Requires="v">
                  <p:oleObj spid="_x0000_s2" name="" r:id="rId1" imgW="2197100" imgH="457200" progId="Equation.DSMT4">
                    <p:embed/>
                  </p:oleObj>
                </mc:Choice>
                <mc:Fallback>
                  <p:oleObj name="" r:id="rId1" imgW="2197100" imgH="457200" progId="Equation.DSMT4">
                    <p:embed/>
                    <p:pic>
                      <p:nvPicPr>
                        <p:cNvPr id="0" name="图片 3161"/>
                        <p:cNvPicPr/>
                        <p:nvPr/>
                      </p:nvPicPr>
                      <p:blipFill>
                        <a:blip r:embed="rId2"/>
                        <a:stretch>
                          <a:fillRect/>
                        </a:stretch>
                      </p:blipFill>
                      <p:spPr>
                        <a:xfrm>
                          <a:off x="1428" y="1366"/>
                          <a:ext cx="2585" cy="538"/>
                        </a:xfrm>
                        <a:prstGeom prst="rect">
                          <a:avLst/>
                        </a:prstGeom>
                        <a:noFill/>
                        <a:ln w="38100">
                          <a:noFill/>
                          <a:miter/>
                        </a:ln>
                      </p:spPr>
                    </p:pic>
                  </p:oleObj>
                </mc:Fallback>
              </mc:AlternateContent>
            </a:graphicData>
          </a:graphic>
        </p:graphicFrame>
        <p:sp>
          <p:nvSpPr>
            <p:cNvPr id="14355" name="Text Box 11"/>
            <p:cNvSpPr txBox="1"/>
            <p:nvPr/>
          </p:nvSpPr>
          <p:spPr>
            <a:xfrm>
              <a:off x="295" y="1513"/>
              <a:ext cx="1267" cy="290"/>
            </a:xfrm>
            <a:prstGeom prst="rect">
              <a:avLst/>
            </a:prstGeom>
            <a:noFill/>
            <a:ln w="9525">
              <a:noFill/>
            </a:ln>
          </p:spPr>
          <p:txBody>
            <a:bodyPr wrap="none">
              <a:spAutoFit/>
            </a:bodyPr>
            <a:lstStyle/>
            <a:p>
              <a:r>
                <a:rPr lang="zh-CN" altLang="en-US" dirty="0">
                  <a:latin typeface="Times New Roman" panose="02020603050405020304" pitchFamily="18" charset="0"/>
                </a:rPr>
                <a:t>由相频特性：</a:t>
              </a:r>
              <a:endParaRPr lang="zh-CN" altLang="en-US" dirty="0">
                <a:latin typeface="Times New Roman" panose="02020603050405020304" pitchFamily="18" charset="0"/>
              </a:endParaRPr>
            </a:p>
          </p:txBody>
        </p:sp>
      </p:grpSp>
      <p:grpSp>
        <p:nvGrpSpPr>
          <p:cNvPr id="4" name="Group 20"/>
          <p:cNvGrpSpPr/>
          <p:nvPr/>
        </p:nvGrpSpPr>
        <p:grpSpPr>
          <a:xfrm>
            <a:off x="224473" y="2680018"/>
            <a:ext cx="8424862" cy="830263"/>
            <a:chOff x="204" y="2341"/>
            <a:chExt cx="5307" cy="523"/>
          </a:xfrm>
        </p:grpSpPr>
        <p:sp>
          <p:nvSpPr>
            <p:cNvPr id="14354" name="Text Box 13"/>
            <p:cNvSpPr txBox="1"/>
            <p:nvPr/>
          </p:nvSpPr>
          <p:spPr>
            <a:xfrm>
              <a:off x="204" y="2341"/>
              <a:ext cx="5307" cy="523"/>
            </a:xfrm>
            <a:prstGeom prst="rect">
              <a:avLst/>
            </a:prstGeom>
            <a:noFill/>
            <a:ln w="9525">
              <a:noFill/>
            </a:ln>
          </p:spPr>
          <p:txBody>
            <a:bodyPr>
              <a:spAutoFit/>
            </a:bodyPr>
            <a:lstStyle/>
            <a:p>
              <a:r>
                <a:rPr lang="zh-CN" altLang="en-US" b="1" dirty="0">
                  <a:solidFill>
                    <a:srgbClr val="FF0066"/>
                  </a:solidFill>
                  <a:latin typeface="Times New Roman" panose="02020603050405020304" pitchFamily="18" charset="0"/>
                </a:rPr>
                <a:t>谐振</a:t>
              </a:r>
              <a:r>
                <a:rPr lang="zh-CN" altLang="en-US" dirty="0">
                  <a:latin typeface="Times New Roman" panose="02020603050405020304" pitchFamily="18" charset="0"/>
                </a:rPr>
                <a:t>时（             ），回路</a:t>
              </a:r>
              <a:r>
                <a:rPr lang="zh-CN" altLang="en-US" b="1" dirty="0">
                  <a:solidFill>
                    <a:srgbClr val="FF0066"/>
                  </a:solidFill>
                  <a:latin typeface="Times New Roman" panose="02020603050405020304" pitchFamily="18" charset="0"/>
                </a:rPr>
                <a:t>呈纯电阻</a:t>
              </a:r>
              <a:r>
                <a:rPr lang="zh-CN" altLang="en-US" dirty="0">
                  <a:latin typeface="Times New Roman" panose="02020603050405020304" pitchFamily="18" charset="0"/>
                </a:rPr>
                <a:t>。</a:t>
              </a:r>
              <a:r>
                <a:rPr lang="zh-CN" altLang="en-US" b="1" dirty="0">
                  <a:solidFill>
                    <a:srgbClr val="FF0000"/>
                  </a:solidFill>
                  <a:latin typeface="Times New Roman" panose="02020603050405020304" pitchFamily="18" charset="0"/>
                </a:rPr>
                <a:t>失谐</a:t>
              </a:r>
              <a:r>
                <a:rPr lang="zh-CN" altLang="en-US" dirty="0">
                  <a:latin typeface="Times New Roman" panose="02020603050405020304" pitchFamily="18" charset="0"/>
                </a:rPr>
                <a:t>时，如果           ，则回路呈</a:t>
              </a:r>
              <a:r>
                <a:rPr lang="zh-CN" altLang="en-US" dirty="0">
                  <a:solidFill>
                    <a:srgbClr val="FF0066"/>
                  </a:solidFill>
                  <a:latin typeface="Times New Roman" panose="02020603050405020304" pitchFamily="18" charset="0"/>
                </a:rPr>
                <a:t>感性</a:t>
              </a:r>
              <a:r>
                <a:rPr lang="zh-CN" altLang="en-US" dirty="0">
                  <a:latin typeface="Times New Roman" panose="02020603050405020304" pitchFamily="18" charset="0"/>
                </a:rPr>
                <a:t>；如果             ，回路呈</a:t>
              </a:r>
              <a:r>
                <a:rPr lang="zh-CN" altLang="en-US" dirty="0">
                  <a:solidFill>
                    <a:srgbClr val="FF0066"/>
                  </a:solidFill>
                  <a:latin typeface="Times New Roman" panose="02020603050405020304" pitchFamily="18" charset="0"/>
                </a:rPr>
                <a:t>容性</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aphicFrame>
          <p:nvGraphicFramePr>
            <p:cNvPr id="14340" name="Object 14"/>
            <p:cNvGraphicFramePr/>
            <p:nvPr/>
          </p:nvGraphicFramePr>
          <p:xfrm>
            <a:off x="1854" y="2572"/>
            <a:ext cx="567" cy="292"/>
          </p:xfrm>
          <a:graphic>
            <a:graphicData uri="http://schemas.openxmlformats.org/presentationml/2006/ole">
              <mc:AlternateContent xmlns:mc="http://schemas.openxmlformats.org/markup-compatibility/2006">
                <mc:Choice xmlns:v="urn:schemas-microsoft-com:vml" Requires="v">
                  <p:oleObj spid="_x0000_s5" name="" r:id="rId3" imgW="444500" imgH="228600" progId="Equation.DSMT4">
                    <p:embed/>
                  </p:oleObj>
                </mc:Choice>
                <mc:Fallback>
                  <p:oleObj name="" r:id="rId3" imgW="444500" imgH="228600" progId="Equation.DSMT4">
                    <p:embed/>
                    <p:pic>
                      <p:nvPicPr>
                        <p:cNvPr id="0" name="图片 3149"/>
                        <p:cNvPicPr/>
                        <p:nvPr/>
                      </p:nvPicPr>
                      <p:blipFill>
                        <a:blip r:embed="rId4"/>
                        <a:stretch>
                          <a:fillRect/>
                        </a:stretch>
                      </p:blipFill>
                      <p:spPr>
                        <a:xfrm>
                          <a:off x="1854" y="2572"/>
                          <a:ext cx="567" cy="292"/>
                        </a:xfrm>
                        <a:prstGeom prst="rect">
                          <a:avLst/>
                        </a:prstGeom>
                        <a:noFill/>
                        <a:ln w="38100">
                          <a:noFill/>
                          <a:miter/>
                        </a:ln>
                      </p:spPr>
                    </p:pic>
                  </p:oleObj>
                </mc:Fallback>
              </mc:AlternateContent>
            </a:graphicData>
          </a:graphic>
        </p:graphicFrame>
        <p:graphicFrame>
          <p:nvGraphicFramePr>
            <p:cNvPr id="14341" name="Object 15"/>
            <p:cNvGraphicFramePr/>
            <p:nvPr/>
          </p:nvGraphicFramePr>
          <p:xfrm>
            <a:off x="992" y="2341"/>
            <a:ext cx="635" cy="286"/>
          </p:xfrm>
          <a:graphic>
            <a:graphicData uri="http://schemas.openxmlformats.org/presentationml/2006/ole">
              <mc:AlternateContent xmlns:mc="http://schemas.openxmlformats.org/markup-compatibility/2006">
                <mc:Choice xmlns:v="urn:schemas-microsoft-com:vml" Requires="v">
                  <p:oleObj spid="_x0000_s6" name="" r:id="rId5" imgW="508000" imgH="228600" progId="Equation.DSMT4">
                    <p:embed/>
                  </p:oleObj>
                </mc:Choice>
                <mc:Fallback>
                  <p:oleObj name="" r:id="rId5" imgW="508000" imgH="228600" progId="Equation.DSMT4">
                    <p:embed/>
                    <p:pic>
                      <p:nvPicPr>
                        <p:cNvPr id="0" name="图片 3145"/>
                        <p:cNvPicPr/>
                        <p:nvPr/>
                      </p:nvPicPr>
                      <p:blipFill>
                        <a:blip r:embed="rId6"/>
                        <a:stretch>
                          <a:fillRect/>
                        </a:stretch>
                      </p:blipFill>
                      <p:spPr>
                        <a:xfrm>
                          <a:off x="992" y="2341"/>
                          <a:ext cx="635" cy="286"/>
                        </a:xfrm>
                        <a:prstGeom prst="rect">
                          <a:avLst/>
                        </a:prstGeom>
                        <a:noFill/>
                        <a:ln w="38100">
                          <a:noFill/>
                          <a:miter/>
                        </a:ln>
                      </p:spPr>
                    </p:pic>
                  </p:oleObj>
                </mc:Fallback>
              </mc:AlternateContent>
            </a:graphicData>
          </a:graphic>
        </p:graphicFrame>
        <p:graphicFrame>
          <p:nvGraphicFramePr>
            <p:cNvPr id="14342" name="Object 16"/>
            <p:cNvGraphicFramePr/>
            <p:nvPr/>
          </p:nvGraphicFramePr>
          <p:xfrm>
            <a:off x="4530" y="2341"/>
            <a:ext cx="567" cy="292"/>
          </p:xfrm>
          <a:graphic>
            <a:graphicData uri="http://schemas.openxmlformats.org/presentationml/2006/ole">
              <mc:AlternateContent xmlns:mc="http://schemas.openxmlformats.org/markup-compatibility/2006">
                <mc:Choice xmlns:v="urn:schemas-microsoft-com:vml" Requires="v">
                  <p:oleObj spid="_x0000_s7" name="" r:id="rId7" imgW="444500" imgH="228600" progId="Equation.DSMT4">
                    <p:embed/>
                  </p:oleObj>
                </mc:Choice>
                <mc:Fallback>
                  <p:oleObj name="" r:id="rId7" imgW="444500" imgH="228600" progId="Equation.DSMT4">
                    <p:embed/>
                    <p:pic>
                      <p:nvPicPr>
                        <p:cNvPr id="0" name="图片 3146"/>
                        <p:cNvPicPr/>
                        <p:nvPr/>
                      </p:nvPicPr>
                      <p:blipFill>
                        <a:blip r:embed="rId8"/>
                        <a:stretch>
                          <a:fillRect/>
                        </a:stretch>
                      </p:blipFill>
                      <p:spPr>
                        <a:xfrm>
                          <a:off x="4530" y="2341"/>
                          <a:ext cx="567" cy="292"/>
                        </a:xfrm>
                        <a:prstGeom prst="rect">
                          <a:avLst/>
                        </a:prstGeom>
                        <a:noFill/>
                        <a:ln w="38100">
                          <a:noFill/>
                          <a:miter/>
                        </a:ln>
                      </p:spPr>
                    </p:pic>
                  </p:oleObj>
                </mc:Fallback>
              </mc:AlternateContent>
            </a:graphicData>
          </a:graphic>
        </p:graphicFrame>
      </p:grpSp>
      <p:sp>
        <p:nvSpPr>
          <p:cNvPr id="368657" name="Text Box 17"/>
          <p:cNvSpPr txBox="1"/>
          <p:nvPr/>
        </p:nvSpPr>
        <p:spPr>
          <a:xfrm>
            <a:off x="320040" y="3789045"/>
            <a:ext cx="2446655" cy="460375"/>
          </a:xfrm>
          <a:prstGeom prst="rect">
            <a:avLst/>
          </a:prstGeom>
          <a:noFill/>
          <a:ln w="9525">
            <a:noFill/>
          </a:ln>
        </p:spPr>
        <p:txBody>
          <a:bodyPr wrap="square">
            <a:spAutoFit/>
          </a:bodyPr>
          <a:lstStyle/>
          <a:p>
            <a:pPr>
              <a:spcBef>
                <a:spcPct val="50000"/>
              </a:spcBef>
            </a:pPr>
            <a:r>
              <a:rPr lang="zh-CN" altLang="en-US" dirty="0">
                <a:latin typeface="Times New Roman" panose="02020603050405020304" pitchFamily="18" charset="0"/>
              </a:rPr>
              <a:t>相频特性的斜率：</a:t>
            </a:r>
            <a:endParaRPr lang="zh-CN" altLang="en-US" dirty="0">
              <a:latin typeface="Times New Roman" panose="02020603050405020304" pitchFamily="18" charset="0"/>
            </a:endParaRPr>
          </a:p>
        </p:txBody>
      </p:sp>
      <p:graphicFrame>
        <p:nvGraphicFramePr>
          <p:cNvPr id="368658" name="Object 18"/>
          <p:cNvGraphicFramePr/>
          <p:nvPr/>
        </p:nvGraphicFramePr>
        <p:xfrm>
          <a:off x="2844165" y="3667125"/>
          <a:ext cx="1888490" cy="829310"/>
        </p:xfrm>
        <a:graphic>
          <a:graphicData uri="http://schemas.openxmlformats.org/presentationml/2006/ole">
            <mc:AlternateContent xmlns:mc="http://schemas.openxmlformats.org/markup-compatibility/2006">
              <mc:Choice xmlns:v="urn:schemas-microsoft-com:vml" Requires="v">
                <p:oleObj spid="_x0000_s8" name="" r:id="rId9" imgW="1028065" imgH="431800" progId="Equation.DSMT4">
                  <p:embed/>
                </p:oleObj>
              </mc:Choice>
              <mc:Fallback>
                <p:oleObj name="" r:id="rId9" imgW="1028065" imgH="431800" progId="Equation.DSMT4">
                  <p:embed/>
                  <p:pic>
                    <p:nvPicPr>
                      <p:cNvPr id="0" name="图片 3153"/>
                      <p:cNvPicPr/>
                      <p:nvPr/>
                    </p:nvPicPr>
                    <p:blipFill>
                      <a:blip r:embed="rId10"/>
                      <a:stretch>
                        <a:fillRect/>
                      </a:stretch>
                    </p:blipFill>
                    <p:spPr>
                      <a:xfrm>
                        <a:off x="2844165" y="3667125"/>
                        <a:ext cx="1888490" cy="829310"/>
                      </a:xfrm>
                      <a:prstGeom prst="rect">
                        <a:avLst/>
                      </a:prstGeom>
                      <a:noFill/>
                      <a:ln w="38100">
                        <a:noFill/>
                        <a:miter/>
                      </a:ln>
                    </p:spPr>
                  </p:pic>
                </p:oleObj>
              </mc:Fallback>
            </mc:AlternateContent>
          </a:graphicData>
        </a:graphic>
      </p:graphicFrame>
      <p:sp>
        <p:nvSpPr>
          <p:cNvPr id="368659" name="Text Box 19"/>
          <p:cNvSpPr txBox="1"/>
          <p:nvPr/>
        </p:nvSpPr>
        <p:spPr>
          <a:xfrm>
            <a:off x="251460" y="4665980"/>
            <a:ext cx="5160645" cy="1198880"/>
          </a:xfrm>
          <a:prstGeom prst="rect">
            <a:avLst/>
          </a:prstGeom>
          <a:noFill/>
          <a:ln w="9525">
            <a:noFill/>
          </a:ln>
        </p:spPr>
        <p:txBody>
          <a:bodyPr wrap="square">
            <a:spAutoFit/>
          </a:bodyPr>
          <a:lstStyle/>
          <a:p>
            <a:r>
              <a:rPr lang="en-US" altLang="zh-CN" dirty="0">
                <a:solidFill>
                  <a:srgbClr val="FF0066"/>
                </a:solidFill>
                <a:latin typeface="Times New Roman" panose="02020603050405020304" pitchFamily="18" charset="0"/>
              </a:rPr>
              <a:t>Q</a:t>
            </a:r>
            <a:r>
              <a:rPr lang="zh-CN" altLang="en-US" dirty="0">
                <a:solidFill>
                  <a:srgbClr val="FF0066"/>
                </a:solidFill>
                <a:latin typeface="Times New Roman" panose="02020603050405020304" pitchFamily="18" charset="0"/>
              </a:rPr>
              <a:t>值越大，斜率越大</a:t>
            </a:r>
            <a:r>
              <a:rPr lang="zh-CN" altLang="en-US" dirty="0">
                <a:latin typeface="Times New Roman" panose="02020603050405020304" pitchFamily="18" charset="0"/>
              </a:rPr>
              <a:t>，曲线越陡峭。在谐振频率附近，相频特性呈近似线性关系，且</a:t>
            </a:r>
            <a:r>
              <a:rPr lang="en-US" altLang="zh-CN" b="1" dirty="0">
                <a:solidFill>
                  <a:srgbClr val="FF0066"/>
                </a:solidFill>
                <a:latin typeface="Times New Roman" panose="02020603050405020304" pitchFamily="18" charset="0"/>
              </a:rPr>
              <a:t>Q</a:t>
            </a:r>
            <a:r>
              <a:rPr lang="zh-CN" altLang="en-US" b="1" dirty="0">
                <a:solidFill>
                  <a:srgbClr val="FF0066"/>
                </a:solidFill>
                <a:latin typeface="Times New Roman" panose="02020603050405020304" pitchFamily="18" charset="0"/>
              </a:rPr>
              <a:t>值越小，线性范围越宽</a:t>
            </a:r>
            <a:r>
              <a:rPr lang="zh-CN" altLang="en-US" dirty="0">
                <a:solidFill>
                  <a:srgbClr val="FF0066"/>
                </a:solidFill>
                <a:latin typeface="Times New Roman" panose="02020603050405020304" pitchFamily="18" charset="0"/>
              </a:rPr>
              <a:t>。</a:t>
            </a:r>
            <a:endParaRPr lang="zh-CN" altLang="en-US" dirty="0">
              <a:solidFill>
                <a:srgbClr val="FF0066"/>
              </a:solidFill>
              <a:latin typeface="Times New Roman" panose="02020603050405020304" pitchFamily="18" charset="0"/>
            </a:endParaRPr>
          </a:p>
        </p:txBody>
      </p:sp>
      <p:grpSp>
        <p:nvGrpSpPr>
          <p:cNvPr id="9" name="Group 21"/>
          <p:cNvGrpSpPr/>
          <p:nvPr/>
        </p:nvGrpSpPr>
        <p:grpSpPr>
          <a:xfrm>
            <a:off x="5364163" y="3429000"/>
            <a:ext cx="3600450" cy="2979738"/>
            <a:chOff x="2925" y="935"/>
            <a:chExt cx="2268" cy="1877"/>
          </a:xfrm>
        </p:grpSpPr>
        <p:sp>
          <p:nvSpPr>
            <p:cNvPr id="14353" name="Text Box 22"/>
            <p:cNvSpPr txBox="1"/>
            <p:nvPr/>
          </p:nvSpPr>
          <p:spPr>
            <a:xfrm>
              <a:off x="3618" y="2522"/>
              <a:ext cx="883" cy="290"/>
            </a:xfrm>
            <a:prstGeom prst="rect">
              <a:avLst/>
            </a:prstGeom>
            <a:noFill/>
            <a:ln w="9525">
              <a:noFill/>
            </a:ln>
          </p:spPr>
          <p:txBody>
            <a:bodyPr wrap="none">
              <a:spAutoFit/>
            </a:bodyPr>
            <a:lstStyle/>
            <a:p>
              <a:r>
                <a:rPr lang="zh-CN" altLang="en-US" dirty="0">
                  <a:latin typeface="Times New Roman" panose="02020603050405020304" pitchFamily="18" charset="0"/>
                </a:rPr>
                <a:t>相频特性</a:t>
              </a:r>
              <a:endParaRPr lang="zh-CN" altLang="en-US" dirty="0">
                <a:latin typeface="Times New Roman" panose="02020603050405020304" pitchFamily="18" charset="0"/>
              </a:endParaRPr>
            </a:p>
          </p:txBody>
        </p:sp>
        <p:graphicFrame>
          <p:nvGraphicFramePr>
            <p:cNvPr id="14339" name="Object 23"/>
            <p:cNvGraphicFramePr/>
            <p:nvPr/>
          </p:nvGraphicFramePr>
          <p:xfrm>
            <a:off x="2925" y="935"/>
            <a:ext cx="2268" cy="1533"/>
          </p:xfrm>
          <a:graphic>
            <a:graphicData uri="http://schemas.openxmlformats.org/presentationml/2006/ole">
              <mc:AlternateContent xmlns:mc="http://schemas.openxmlformats.org/markup-compatibility/2006">
                <mc:Choice xmlns:v="urn:schemas-microsoft-com:vml" Requires="v">
                  <p:oleObj spid="_x0000_s10" name="" r:id="rId11" imgW="5997575" imgH="4060825" progId="Visio.Drawing.6">
                    <p:embed/>
                  </p:oleObj>
                </mc:Choice>
                <mc:Fallback>
                  <p:oleObj name="" r:id="rId11" imgW="5997575" imgH="4060825" progId="Visio.Drawing.6">
                    <p:embed/>
                    <p:pic>
                      <p:nvPicPr>
                        <p:cNvPr id="0" name="图片 3162"/>
                        <p:cNvPicPr/>
                        <p:nvPr/>
                      </p:nvPicPr>
                      <p:blipFill>
                        <a:blip r:embed="rId12"/>
                        <a:stretch>
                          <a:fillRect/>
                        </a:stretch>
                      </p:blipFill>
                      <p:spPr>
                        <a:xfrm>
                          <a:off x="2925" y="935"/>
                          <a:ext cx="2268" cy="1533"/>
                        </a:xfrm>
                        <a:prstGeom prst="rect">
                          <a:avLst/>
                        </a:prstGeom>
                        <a:noFill/>
                        <a:ln w="38100">
                          <a:noFill/>
                          <a:miter/>
                        </a:ln>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9" name="Text Box 4"/>
          <p:cNvSpPr txBox="1"/>
          <p:nvPr/>
        </p:nvSpPr>
        <p:spPr>
          <a:xfrm>
            <a:off x="322898" y="1412558"/>
            <a:ext cx="5516880" cy="460375"/>
          </a:xfrm>
          <a:prstGeom prst="rect">
            <a:avLst/>
          </a:prstGeom>
          <a:noFill/>
          <a:ln w="9525">
            <a:noFill/>
          </a:ln>
        </p:spPr>
        <p:txBody>
          <a:bodyPr wrap="none">
            <a:spAutoFit/>
          </a:bodyPr>
          <a:lstStyle/>
          <a:p>
            <a:r>
              <a:rPr lang="zh-CN" altLang="en-US" dirty="0">
                <a:solidFill>
                  <a:schemeClr val="accent2"/>
                </a:solidFill>
                <a:latin typeface="Times New Roman" panose="02020603050405020304" pitchFamily="18" charset="0"/>
              </a:rPr>
              <a:t>（</a:t>
            </a:r>
            <a:r>
              <a:rPr lang="en-US" altLang="zh-CN" dirty="0">
                <a:solidFill>
                  <a:schemeClr val="accent2"/>
                </a:solidFill>
                <a:latin typeface="Times New Roman" panose="02020603050405020304" pitchFamily="18" charset="0"/>
              </a:rPr>
              <a:t>1</a:t>
            </a:r>
            <a:r>
              <a:rPr lang="zh-CN" altLang="en-US" dirty="0">
                <a:solidFill>
                  <a:schemeClr val="accent2"/>
                </a:solidFill>
                <a:latin typeface="Times New Roman" panose="02020603050405020304" pitchFamily="18" charset="0"/>
              </a:rPr>
              <a:t>）并联谐振回路（电感、电容并联）</a:t>
            </a:r>
            <a:endParaRPr lang="zh-CN" altLang="en-US" dirty="0">
              <a:solidFill>
                <a:schemeClr val="accent2"/>
              </a:solidFill>
              <a:latin typeface="Times New Roman" panose="02020603050405020304" pitchFamily="18" charset="0"/>
            </a:endParaRPr>
          </a:p>
        </p:txBody>
      </p:sp>
      <p:sp>
        <p:nvSpPr>
          <p:cNvPr id="15372" name="Text Box 9"/>
          <p:cNvSpPr txBox="1"/>
          <p:nvPr/>
        </p:nvSpPr>
        <p:spPr>
          <a:xfrm>
            <a:off x="0" y="908050"/>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grpSp>
        <p:nvGrpSpPr>
          <p:cNvPr id="3" name="Group 24"/>
          <p:cNvGrpSpPr/>
          <p:nvPr/>
        </p:nvGrpSpPr>
        <p:grpSpPr>
          <a:xfrm>
            <a:off x="6372225" y="908050"/>
            <a:ext cx="2199005" cy="2608870"/>
            <a:chOff x="4014" y="572"/>
            <a:chExt cx="1527" cy="1854"/>
          </a:xfrm>
        </p:grpSpPr>
        <p:sp>
          <p:nvSpPr>
            <p:cNvPr id="15381" name="Text Box 11"/>
            <p:cNvSpPr txBox="1"/>
            <p:nvPr/>
          </p:nvSpPr>
          <p:spPr>
            <a:xfrm>
              <a:off x="4264" y="2143"/>
              <a:ext cx="934" cy="283"/>
            </a:xfrm>
            <a:prstGeom prst="rect">
              <a:avLst/>
            </a:prstGeom>
            <a:noFill/>
            <a:ln w="9525">
              <a:noFill/>
            </a:ln>
          </p:spPr>
          <p:txBody>
            <a:bodyPr wrap="square">
              <a:spAutoFit/>
            </a:bodyPr>
            <a:lstStyle/>
            <a:p>
              <a:r>
                <a:rPr lang="zh-CN" altLang="en-US" sz="2000" dirty="0">
                  <a:latin typeface="Times New Roman" panose="02020603050405020304" pitchFamily="18" charset="0"/>
                </a:rPr>
                <a:t>等效电路</a:t>
              </a:r>
              <a:endParaRPr lang="zh-CN" altLang="en-US" sz="2000" dirty="0">
                <a:latin typeface="Times New Roman" panose="02020603050405020304" pitchFamily="18" charset="0"/>
              </a:endParaRPr>
            </a:p>
          </p:txBody>
        </p:sp>
        <p:graphicFrame>
          <p:nvGraphicFramePr>
            <p:cNvPr id="15368" name="Object 12"/>
            <p:cNvGraphicFramePr/>
            <p:nvPr/>
          </p:nvGraphicFramePr>
          <p:xfrm>
            <a:off x="4014" y="572"/>
            <a:ext cx="1527" cy="1566"/>
          </p:xfrm>
          <a:graphic>
            <a:graphicData uri="http://schemas.openxmlformats.org/presentationml/2006/ole">
              <mc:AlternateContent xmlns:mc="http://schemas.openxmlformats.org/markup-compatibility/2006">
                <mc:Choice xmlns:v="urn:schemas-microsoft-com:vml" Requires="v">
                  <p:oleObj spid="_x0000_s2" name="" r:id="rId1" imgW="4455160" imgH="4563110" progId="Visio.Drawing.6">
                    <p:embed/>
                  </p:oleObj>
                </mc:Choice>
                <mc:Fallback>
                  <p:oleObj name="" r:id="rId1" imgW="4455160" imgH="4563110" progId="Visio.Drawing.6">
                    <p:embed/>
                    <p:pic>
                      <p:nvPicPr>
                        <p:cNvPr id="0" name="图片 3154"/>
                        <p:cNvPicPr/>
                        <p:nvPr/>
                      </p:nvPicPr>
                      <p:blipFill>
                        <a:blip r:embed="rId2"/>
                        <a:stretch>
                          <a:fillRect/>
                        </a:stretch>
                      </p:blipFill>
                      <p:spPr>
                        <a:xfrm>
                          <a:off x="4014" y="572"/>
                          <a:ext cx="1527" cy="1566"/>
                        </a:xfrm>
                        <a:prstGeom prst="rect">
                          <a:avLst/>
                        </a:prstGeom>
                        <a:noFill/>
                        <a:ln w="38100">
                          <a:noFill/>
                          <a:miter/>
                        </a:ln>
                      </p:spPr>
                    </p:pic>
                  </p:oleObj>
                </mc:Fallback>
              </mc:AlternateContent>
            </a:graphicData>
          </a:graphic>
        </p:graphicFrame>
      </p:grpSp>
      <p:grpSp>
        <p:nvGrpSpPr>
          <p:cNvPr id="4" name="Group 25"/>
          <p:cNvGrpSpPr/>
          <p:nvPr/>
        </p:nvGrpSpPr>
        <p:grpSpPr>
          <a:xfrm>
            <a:off x="5618480" y="3111183"/>
            <a:ext cx="3355976" cy="3246438"/>
            <a:chOff x="2608" y="1979"/>
            <a:chExt cx="2114" cy="2045"/>
          </a:xfrm>
        </p:grpSpPr>
        <p:graphicFrame>
          <p:nvGraphicFramePr>
            <p:cNvPr id="15367" name="Object 20"/>
            <p:cNvGraphicFramePr/>
            <p:nvPr/>
          </p:nvGraphicFramePr>
          <p:xfrm>
            <a:off x="2608" y="1979"/>
            <a:ext cx="1860" cy="1522"/>
          </p:xfrm>
          <a:graphic>
            <a:graphicData uri="http://schemas.openxmlformats.org/presentationml/2006/ole">
              <mc:AlternateContent xmlns:mc="http://schemas.openxmlformats.org/markup-compatibility/2006">
                <mc:Choice xmlns:v="urn:schemas-microsoft-com:vml" Requires="v">
                  <p:oleObj spid="_x0000_s5" name="" r:id="rId3" imgW="2011680" imgH="1645920" progId="Visio.Drawing.4">
                    <p:embed/>
                  </p:oleObj>
                </mc:Choice>
                <mc:Fallback>
                  <p:oleObj name="" r:id="rId3" imgW="2011680" imgH="1645920" progId="Visio.Drawing.4">
                    <p:embed/>
                    <p:pic>
                      <p:nvPicPr>
                        <p:cNvPr id="0" name="图片 3155"/>
                        <p:cNvPicPr/>
                        <p:nvPr/>
                      </p:nvPicPr>
                      <p:blipFill>
                        <a:blip r:embed="rId4"/>
                        <a:stretch>
                          <a:fillRect/>
                        </a:stretch>
                      </p:blipFill>
                      <p:spPr>
                        <a:xfrm>
                          <a:off x="2608" y="1979"/>
                          <a:ext cx="1860" cy="1522"/>
                        </a:xfrm>
                        <a:prstGeom prst="rect">
                          <a:avLst/>
                        </a:prstGeom>
                        <a:noFill/>
                        <a:ln w="38100">
                          <a:noFill/>
                          <a:miter/>
                        </a:ln>
                      </p:spPr>
                    </p:pic>
                  </p:oleObj>
                </mc:Fallback>
              </mc:AlternateContent>
            </a:graphicData>
          </a:graphic>
        </p:graphicFrame>
        <p:sp>
          <p:nvSpPr>
            <p:cNvPr id="15380" name="Text Box 21"/>
            <p:cNvSpPr txBox="1"/>
            <p:nvPr/>
          </p:nvSpPr>
          <p:spPr>
            <a:xfrm>
              <a:off x="2744" y="3501"/>
              <a:ext cx="1978" cy="523"/>
            </a:xfrm>
            <a:prstGeom prst="rect">
              <a:avLst/>
            </a:prstGeom>
            <a:noFill/>
            <a:ln w="9525">
              <a:noFill/>
            </a:ln>
          </p:spPr>
          <p:txBody>
            <a:bodyPr wrap="square">
              <a:spAutoFit/>
            </a:bodyPr>
            <a:lstStyle/>
            <a:p>
              <a:r>
                <a:rPr lang="zh-CN" altLang="en-US" dirty="0">
                  <a:latin typeface="Times New Roman" panose="02020603050405020304" pitchFamily="18" charset="0"/>
                </a:rPr>
                <a:t>并联谐振回路中谐振时的电流电压的关系</a:t>
              </a:r>
              <a:endParaRPr lang="zh-CN" altLang="en-US" dirty="0">
                <a:latin typeface="Times New Roman" panose="02020603050405020304" pitchFamily="18" charset="0"/>
              </a:endParaRPr>
            </a:p>
          </p:txBody>
        </p:sp>
      </p:grpSp>
      <p:grpSp>
        <p:nvGrpSpPr>
          <p:cNvPr id="6" name="Group 26"/>
          <p:cNvGrpSpPr/>
          <p:nvPr/>
        </p:nvGrpSpPr>
        <p:grpSpPr>
          <a:xfrm>
            <a:off x="252095" y="2493010"/>
            <a:ext cx="5402743" cy="1863982"/>
            <a:chOff x="295" y="1570"/>
            <a:chExt cx="2835" cy="1174"/>
          </a:xfrm>
        </p:grpSpPr>
        <p:sp>
          <p:nvSpPr>
            <p:cNvPr id="15379" name="Text Box 14"/>
            <p:cNvSpPr txBox="1"/>
            <p:nvPr/>
          </p:nvSpPr>
          <p:spPr>
            <a:xfrm>
              <a:off x="295" y="1570"/>
              <a:ext cx="2835" cy="1174"/>
            </a:xfrm>
            <a:prstGeom prst="rect">
              <a:avLst/>
            </a:prstGeom>
            <a:noFill/>
            <a:ln w="9525">
              <a:noFill/>
            </a:ln>
          </p:spPr>
          <p:txBody>
            <a:bodyPr wrap="square">
              <a:spAutoFit/>
            </a:bodyPr>
            <a:lstStyle/>
            <a:p>
              <a:pPr algn="just">
                <a:lnSpc>
                  <a:spcPct val="120000"/>
                </a:lnSpc>
              </a:pPr>
              <a:r>
                <a:rPr lang="en-US" altLang="zh-CN" dirty="0">
                  <a:latin typeface="Times New Roman" panose="02020603050405020304" pitchFamily="18" charset="0"/>
                </a:rPr>
                <a:t>      </a:t>
              </a:r>
              <a:r>
                <a:rPr lang="zh-CN" altLang="en-US" dirty="0">
                  <a:latin typeface="Times New Roman" panose="02020603050405020304" pitchFamily="18" charset="0"/>
                </a:rPr>
                <a:t>电感</a:t>
              </a:r>
              <a:r>
                <a:rPr lang="en-US" altLang="zh-CN" i="1" dirty="0">
                  <a:latin typeface="Times New Roman" panose="02020603050405020304" pitchFamily="18" charset="0"/>
                </a:rPr>
                <a:t>L</a:t>
              </a:r>
              <a:r>
                <a:rPr lang="zh-CN" altLang="en-US" dirty="0">
                  <a:latin typeface="Times New Roman" panose="02020603050405020304" pitchFamily="18" charset="0"/>
                </a:rPr>
                <a:t>电流的电流     是感性电流，它落后于回路两端电压</a:t>
              </a:r>
              <a:r>
                <a:rPr lang="en-US" altLang="zh-CN" dirty="0">
                  <a:latin typeface="Times New Roman" panose="02020603050405020304" pitchFamily="18" charset="0"/>
                </a:rPr>
                <a:t>90</a:t>
              </a:r>
              <a:r>
                <a:rPr lang="zh-CN" altLang="en-US" dirty="0">
                  <a:latin typeface="Times New Roman" panose="02020603050405020304" pitchFamily="18" charset="0"/>
                </a:rPr>
                <a:t>度，  是容性电流</a:t>
              </a:r>
              <a:r>
                <a:rPr lang="en-US" altLang="zh-CN" dirty="0">
                  <a:latin typeface="Times New Roman" panose="02020603050405020304" pitchFamily="18" charset="0"/>
                </a:rPr>
                <a:t>, </a:t>
              </a:r>
              <a:r>
                <a:rPr lang="zh-CN" altLang="en-US" dirty="0">
                  <a:latin typeface="Times New Roman" panose="02020603050405020304" pitchFamily="18" charset="0"/>
                </a:rPr>
                <a:t>超前于回路两端电压</a:t>
              </a:r>
              <a:r>
                <a:rPr lang="en-US" altLang="zh-CN" dirty="0">
                  <a:latin typeface="Times New Roman" panose="02020603050405020304" pitchFamily="18" charset="0"/>
                </a:rPr>
                <a:t>90</a:t>
              </a:r>
              <a:r>
                <a:rPr lang="zh-CN" altLang="en-US" dirty="0">
                  <a:latin typeface="Times New Roman" panose="02020603050405020304" pitchFamily="18" charset="0"/>
                </a:rPr>
                <a:t>度。    则与回路电压同相。</a:t>
              </a:r>
              <a:endParaRPr lang="zh-CN" altLang="en-US" dirty="0">
                <a:latin typeface="Times New Roman" panose="02020603050405020304" pitchFamily="18" charset="0"/>
              </a:endParaRPr>
            </a:p>
          </p:txBody>
        </p:sp>
        <p:graphicFrame>
          <p:nvGraphicFramePr>
            <p:cNvPr id="15364" name="Object 15"/>
            <p:cNvGraphicFramePr/>
            <p:nvPr/>
          </p:nvGraphicFramePr>
          <p:xfrm>
            <a:off x="1882" y="1637"/>
            <a:ext cx="187" cy="273"/>
          </p:xfrm>
          <a:graphic>
            <a:graphicData uri="http://schemas.openxmlformats.org/presentationml/2006/ole">
              <mc:AlternateContent xmlns:mc="http://schemas.openxmlformats.org/markup-compatibility/2006">
                <mc:Choice xmlns:v="urn:schemas-microsoft-com:vml" Requires="v">
                  <p:oleObj spid="_x0000_s7" name="" r:id="rId5" imgW="165100" imgH="241300" progId="Equation.DSMT4">
                    <p:embed/>
                  </p:oleObj>
                </mc:Choice>
                <mc:Fallback>
                  <p:oleObj name="" r:id="rId5" imgW="165100" imgH="241300" progId="Equation.DSMT4">
                    <p:embed/>
                    <p:pic>
                      <p:nvPicPr>
                        <p:cNvPr id="0" name="图片 3150"/>
                        <p:cNvPicPr/>
                        <p:nvPr/>
                      </p:nvPicPr>
                      <p:blipFill>
                        <a:blip r:embed="rId6"/>
                        <a:stretch>
                          <a:fillRect/>
                        </a:stretch>
                      </p:blipFill>
                      <p:spPr>
                        <a:xfrm>
                          <a:off x="1882" y="1637"/>
                          <a:ext cx="187" cy="273"/>
                        </a:xfrm>
                        <a:prstGeom prst="rect">
                          <a:avLst/>
                        </a:prstGeom>
                        <a:noFill/>
                        <a:ln w="38100">
                          <a:noFill/>
                          <a:miter/>
                        </a:ln>
                      </p:spPr>
                    </p:pic>
                  </p:oleObj>
                </mc:Fallback>
              </mc:AlternateContent>
            </a:graphicData>
          </a:graphic>
        </p:graphicFrame>
        <p:graphicFrame>
          <p:nvGraphicFramePr>
            <p:cNvPr id="15365" name="Object 18"/>
            <p:cNvGraphicFramePr/>
            <p:nvPr/>
          </p:nvGraphicFramePr>
          <p:xfrm>
            <a:off x="2374" y="1876"/>
            <a:ext cx="279" cy="294"/>
          </p:xfrm>
          <a:graphic>
            <a:graphicData uri="http://schemas.openxmlformats.org/presentationml/2006/ole">
              <mc:AlternateContent xmlns:mc="http://schemas.openxmlformats.org/markup-compatibility/2006">
                <mc:Choice xmlns:v="urn:schemas-microsoft-com:vml" Requires="v">
                  <p:oleObj spid="_x0000_s8" name="" r:id="rId7" imgW="177800" imgH="240665" progId="Equation.DSMT4">
                    <p:embed/>
                  </p:oleObj>
                </mc:Choice>
                <mc:Fallback>
                  <p:oleObj name="" r:id="rId7" imgW="177800" imgH="240665" progId="Equation.DSMT4">
                    <p:embed/>
                    <p:pic>
                      <p:nvPicPr>
                        <p:cNvPr id="0" name="图片 3151"/>
                        <p:cNvPicPr/>
                        <p:nvPr/>
                      </p:nvPicPr>
                      <p:blipFill>
                        <a:blip r:embed="rId8"/>
                        <a:stretch>
                          <a:fillRect/>
                        </a:stretch>
                      </p:blipFill>
                      <p:spPr>
                        <a:xfrm>
                          <a:off x="2374" y="1876"/>
                          <a:ext cx="279" cy="294"/>
                        </a:xfrm>
                        <a:prstGeom prst="rect">
                          <a:avLst/>
                        </a:prstGeom>
                        <a:noFill/>
                        <a:ln w="38100">
                          <a:noFill/>
                          <a:miter/>
                        </a:ln>
                      </p:spPr>
                    </p:pic>
                  </p:oleObj>
                </mc:Fallback>
              </mc:AlternateContent>
            </a:graphicData>
          </a:graphic>
        </p:graphicFrame>
        <p:graphicFrame>
          <p:nvGraphicFramePr>
            <p:cNvPr id="15366" name="Object 22"/>
            <p:cNvGraphicFramePr/>
            <p:nvPr/>
          </p:nvGraphicFramePr>
          <p:xfrm>
            <a:off x="2676" y="2164"/>
            <a:ext cx="241" cy="282"/>
          </p:xfrm>
          <a:graphic>
            <a:graphicData uri="http://schemas.openxmlformats.org/presentationml/2006/ole">
              <mc:AlternateContent xmlns:mc="http://schemas.openxmlformats.org/markup-compatibility/2006">
                <mc:Choice xmlns:v="urn:schemas-microsoft-com:vml" Requires="v">
                  <p:oleObj spid="_x0000_s9" name="" r:id="rId9" imgW="177800" imgH="240665" progId="Equation.DSMT4">
                    <p:embed/>
                  </p:oleObj>
                </mc:Choice>
                <mc:Fallback>
                  <p:oleObj name="" r:id="rId9" imgW="177800" imgH="240665" progId="Equation.DSMT4">
                    <p:embed/>
                    <p:pic>
                      <p:nvPicPr>
                        <p:cNvPr id="0" name="图片 3157"/>
                        <p:cNvPicPr/>
                        <p:nvPr/>
                      </p:nvPicPr>
                      <p:blipFill>
                        <a:blip r:embed="rId10"/>
                        <a:stretch>
                          <a:fillRect/>
                        </a:stretch>
                      </p:blipFill>
                      <p:spPr>
                        <a:xfrm>
                          <a:off x="2676" y="2164"/>
                          <a:ext cx="241" cy="282"/>
                        </a:xfrm>
                        <a:prstGeom prst="rect">
                          <a:avLst/>
                        </a:prstGeom>
                        <a:noFill/>
                        <a:ln w="38100">
                          <a:noFill/>
                          <a:miter/>
                        </a:ln>
                      </p:spPr>
                    </p:pic>
                  </p:oleObj>
                </mc:Fallback>
              </mc:AlternateContent>
            </a:graphicData>
          </a:graphic>
        </p:graphicFrame>
      </p:grpSp>
      <p:grpSp>
        <p:nvGrpSpPr>
          <p:cNvPr id="10" name="Group 27"/>
          <p:cNvGrpSpPr/>
          <p:nvPr/>
        </p:nvGrpSpPr>
        <p:grpSpPr>
          <a:xfrm>
            <a:off x="251143" y="4718050"/>
            <a:ext cx="4733924" cy="836613"/>
            <a:chOff x="249" y="2972"/>
            <a:chExt cx="2982" cy="527"/>
          </a:xfrm>
        </p:grpSpPr>
        <p:sp>
          <p:nvSpPr>
            <p:cNvPr id="15378" name="Rectangle 23"/>
            <p:cNvSpPr/>
            <p:nvPr/>
          </p:nvSpPr>
          <p:spPr>
            <a:xfrm>
              <a:off x="249" y="2976"/>
              <a:ext cx="2982" cy="523"/>
            </a:xfrm>
            <a:prstGeom prst="rect">
              <a:avLst/>
            </a:prstGeom>
            <a:noFill/>
            <a:ln w="9525">
              <a:noFill/>
            </a:ln>
          </p:spPr>
          <p:txBody>
            <a:bodyPr wrap="square">
              <a:spAutoFit/>
            </a:bodyPr>
            <a:lstStyle/>
            <a:p>
              <a:r>
                <a:rPr lang="zh-CN" altLang="en-US" dirty="0">
                  <a:latin typeface="Times New Roman" panose="02020603050405020304" pitchFamily="18" charset="0"/>
                </a:rPr>
                <a:t>谐振时，   与     相位相反，大小相等。他们的相位关系如图所示。</a:t>
              </a:r>
              <a:endParaRPr lang="zh-CN" altLang="en-US" dirty="0">
                <a:latin typeface="Times New Roman" panose="02020603050405020304" pitchFamily="18" charset="0"/>
              </a:endParaRPr>
            </a:p>
          </p:txBody>
        </p:sp>
        <p:graphicFrame>
          <p:nvGraphicFramePr>
            <p:cNvPr id="15362" name="Object 17"/>
            <p:cNvGraphicFramePr/>
            <p:nvPr/>
          </p:nvGraphicFramePr>
          <p:xfrm>
            <a:off x="1020" y="2972"/>
            <a:ext cx="187" cy="273"/>
          </p:xfrm>
          <a:graphic>
            <a:graphicData uri="http://schemas.openxmlformats.org/presentationml/2006/ole">
              <mc:AlternateContent xmlns:mc="http://schemas.openxmlformats.org/markup-compatibility/2006">
                <mc:Choice xmlns:v="urn:schemas-microsoft-com:vml" Requires="v">
                  <p:oleObj spid="_x0000_s11" name="" r:id="rId11" imgW="165100" imgH="241300" progId="Equation.DSMT4">
                    <p:embed/>
                  </p:oleObj>
                </mc:Choice>
                <mc:Fallback>
                  <p:oleObj name="" r:id="rId11" imgW="165100" imgH="241300" progId="Equation.DSMT4">
                    <p:embed/>
                    <p:pic>
                      <p:nvPicPr>
                        <p:cNvPr id="0" name="图片 3160"/>
                        <p:cNvPicPr/>
                        <p:nvPr/>
                      </p:nvPicPr>
                      <p:blipFill>
                        <a:blip r:embed="rId6"/>
                        <a:stretch>
                          <a:fillRect/>
                        </a:stretch>
                      </p:blipFill>
                      <p:spPr>
                        <a:xfrm>
                          <a:off x="1020" y="2972"/>
                          <a:ext cx="187" cy="273"/>
                        </a:xfrm>
                        <a:prstGeom prst="rect">
                          <a:avLst/>
                        </a:prstGeom>
                        <a:noFill/>
                        <a:ln w="38100">
                          <a:noFill/>
                          <a:miter/>
                        </a:ln>
                      </p:spPr>
                    </p:pic>
                  </p:oleObj>
                </mc:Fallback>
              </mc:AlternateContent>
            </a:graphicData>
          </a:graphic>
        </p:graphicFrame>
        <p:graphicFrame>
          <p:nvGraphicFramePr>
            <p:cNvPr id="15363" name="Object 16"/>
            <p:cNvGraphicFramePr/>
            <p:nvPr/>
          </p:nvGraphicFramePr>
          <p:xfrm>
            <a:off x="1430" y="3001"/>
            <a:ext cx="180" cy="244"/>
          </p:xfrm>
          <a:graphic>
            <a:graphicData uri="http://schemas.openxmlformats.org/presentationml/2006/ole">
              <mc:AlternateContent xmlns:mc="http://schemas.openxmlformats.org/markup-compatibility/2006">
                <mc:Choice xmlns:v="urn:schemas-microsoft-com:vml" Requires="v">
                  <p:oleObj spid="_x0000_s12" name="" r:id="rId12" imgW="177800" imgH="240665" progId="Equation.DSMT4">
                    <p:embed/>
                  </p:oleObj>
                </mc:Choice>
                <mc:Fallback>
                  <p:oleObj name="" r:id="rId12" imgW="177800" imgH="240665" progId="Equation.DSMT4">
                    <p:embed/>
                    <p:pic>
                      <p:nvPicPr>
                        <p:cNvPr id="0" name="图片 3156"/>
                        <p:cNvPicPr/>
                        <p:nvPr/>
                      </p:nvPicPr>
                      <p:blipFill>
                        <a:blip r:embed="rId8"/>
                        <a:stretch>
                          <a:fillRect/>
                        </a:stretch>
                      </p:blipFill>
                      <p:spPr>
                        <a:xfrm>
                          <a:off x="1430" y="3001"/>
                          <a:ext cx="180" cy="244"/>
                        </a:xfrm>
                        <a:prstGeom prst="rect">
                          <a:avLst/>
                        </a:prstGeom>
                        <a:noFill/>
                        <a:ln w="38100">
                          <a:noFill/>
                          <a:miter/>
                        </a:ln>
                      </p:spPr>
                    </p:pic>
                  </p:oleObj>
                </mc:Fallback>
              </mc:AlternateContent>
            </a:graphicData>
          </a:graphic>
        </p:graphicFrame>
      </p:grpSp>
      <p:sp>
        <p:nvSpPr>
          <p:cNvPr id="369692" name="Text Box 28"/>
          <p:cNvSpPr txBox="1"/>
          <p:nvPr/>
        </p:nvSpPr>
        <p:spPr>
          <a:xfrm>
            <a:off x="493713" y="1988503"/>
            <a:ext cx="4773930" cy="460375"/>
          </a:xfrm>
          <a:prstGeom prst="rect">
            <a:avLst/>
          </a:prstGeom>
          <a:noFill/>
          <a:ln w="9525">
            <a:noFill/>
          </a:ln>
        </p:spPr>
        <p:txBody>
          <a:bodyPr wrap="none">
            <a:spAutoFit/>
          </a:bodyPr>
          <a:lstStyle/>
          <a:p>
            <a:r>
              <a:rPr lang="zh-CN" altLang="en-US" b="1" dirty="0">
                <a:solidFill>
                  <a:schemeClr val="tx1"/>
                </a:solidFill>
                <a:latin typeface="Times New Roman" panose="02020603050405020304" pitchFamily="18" charset="0"/>
              </a:rPr>
              <a:t>谐振时，回路中电流电压的关系：</a:t>
            </a:r>
            <a:endParaRPr lang="zh-CN" altLang="en-US" b="1" dirty="0">
              <a:solidFill>
                <a:schemeClr val="tx1"/>
              </a:solidFill>
              <a:latin typeface="Times New Roman" panose="02020603050405020304" pitchFamily="18" charset="0"/>
            </a:endParaRPr>
          </a:p>
        </p:txBody>
      </p:sp>
      <p:graphicFrame>
        <p:nvGraphicFramePr>
          <p:cNvPr id="368658" name="Object 18"/>
          <p:cNvGraphicFramePr/>
          <p:nvPr/>
        </p:nvGraphicFramePr>
        <p:xfrm>
          <a:off x="2843530" y="5784215"/>
          <a:ext cx="1563370" cy="439420"/>
        </p:xfrm>
        <a:graphic>
          <a:graphicData uri="http://schemas.openxmlformats.org/presentationml/2006/ole">
            <mc:AlternateContent xmlns:mc="http://schemas.openxmlformats.org/markup-compatibility/2006">
              <mc:Choice xmlns:v="urn:schemas-microsoft-com:vml" Requires="v">
                <p:oleObj spid="_x0000_s13" name="" r:id="rId13" imgW="850900" imgH="228600" progId="Equation.DSMT4">
                  <p:embed/>
                </p:oleObj>
              </mc:Choice>
              <mc:Fallback>
                <p:oleObj name="" r:id="rId13" imgW="850900" imgH="228600" progId="Equation.DSMT4">
                  <p:embed/>
                  <p:pic>
                    <p:nvPicPr>
                      <p:cNvPr id="0" name="图片 3153"/>
                      <p:cNvPicPr/>
                      <p:nvPr/>
                    </p:nvPicPr>
                    <p:blipFill>
                      <a:blip r:embed="rId14"/>
                      <a:stretch>
                        <a:fillRect/>
                      </a:stretch>
                    </p:blipFill>
                    <p:spPr>
                      <a:xfrm>
                        <a:off x="2843530" y="5784215"/>
                        <a:ext cx="1563370" cy="439420"/>
                      </a:xfrm>
                      <a:prstGeom prst="rect">
                        <a:avLst/>
                      </a:prstGeom>
                      <a:solidFill>
                        <a:schemeClr val="accent1">
                          <a:lumMod val="20000"/>
                          <a:lumOff val="80000"/>
                        </a:schemeClr>
                      </a:solidFill>
                      <a:ln w="9525">
                        <a:solidFill>
                          <a:schemeClr val="tx1"/>
                        </a:solidFill>
                        <a:miter/>
                      </a:ln>
                    </p:spPr>
                  </p:pic>
                </p:oleObj>
              </mc:Fallback>
            </mc:AlternateContent>
          </a:graphicData>
        </a:graphic>
      </p:graphicFrame>
      <p:sp>
        <p:nvSpPr>
          <p:cNvPr id="14" name="Rectangle 23"/>
          <p:cNvSpPr/>
          <p:nvPr/>
        </p:nvSpPr>
        <p:spPr>
          <a:xfrm>
            <a:off x="1612900" y="5763260"/>
            <a:ext cx="1311275" cy="460375"/>
          </a:xfrm>
          <a:prstGeom prst="rect">
            <a:avLst/>
          </a:prstGeom>
          <a:noFill/>
          <a:ln w="9525">
            <a:noFill/>
          </a:ln>
        </p:spPr>
        <p:txBody>
          <a:bodyPr wrap="square">
            <a:spAutoFit/>
          </a:bodyPr>
          <a:lstStyle/>
          <a:p>
            <a:r>
              <a:rPr lang="zh-CN" altLang="en-US" dirty="0">
                <a:latin typeface="Times New Roman" panose="02020603050405020304" pitchFamily="18" charset="0"/>
              </a:rPr>
              <a:t>谐振时</a:t>
            </a:r>
            <a:endParaRPr lang="zh-CN" altLang="en-US" dirty="0">
              <a:latin typeface="Times New Roman" panose="02020603050405020304" pitchFamily="18" charset="0"/>
            </a:endParaRPr>
          </a:p>
        </p:txBody>
      </p:sp>
      <p:grpSp>
        <p:nvGrpSpPr>
          <p:cNvPr id="11272" name="Group 40"/>
          <p:cNvGrpSpPr/>
          <p:nvPr/>
        </p:nvGrpSpPr>
        <p:grpSpPr>
          <a:xfrm>
            <a:off x="1979613" y="388938"/>
            <a:ext cx="5334000" cy="519113"/>
            <a:chOff x="1287" y="432"/>
            <a:chExt cx="3360" cy="327"/>
          </a:xfrm>
        </p:grpSpPr>
        <p:sp>
          <p:nvSpPr>
            <p:cNvPr id="11280" name="Rectangle 41"/>
            <p:cNvSpPr/>
            <p:nvPr/>
          </p:nvSpPr>
          <p:spPr>
            <a:xfrm>
              <a:off x="1287" y="43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11281" name="Line 42"/>
            <p:cNvSpPr/>
            <p:nvPr/>
          </p:nvSpPr>
          <p:spPr>
            <a:xfrm>
              <a:off x="1469" y="749"/>
              <a:ext cx="3024" cy="0"/>
            </a:xfrm>
            <a:prstGeom prst="line">
              <a:avLst/>
            </a:prstGeom>
            <a:ln w="57150" cap="flat" cmpd="tri">
              <a:solidFill>
                <a:srgbClr val="FF00FF"/>
              </a:solidFill>
              <a:prstDash val="solid"/>
              <a:headEnd type="none" w="sm" len="sm"/>
              <a:tailEnd type="none" w="sm" len="sm"/>
            </a:ln>
          </p:spPr>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2" name="Text Box 4"/>
          <p:cNvSpPr txBox="1"/>
          <p:nvPr/>
        </p:nvSpPr>
        <p:spPr>
          <a:xfrm>
            <a:off x="611188" y="1376045"/>
            <a:ext cx="5516880" cy="460375"/>
          </a:xfrm>
          <a:prstGeom prst="rect">
            <a:avLst/>
          </a:prstGeom>
          <a:noFill/>
          <a:ln w="9525">
            <a:noFill/>
          </a:ln>
        </p:spPr>
        <p:txBody>
          <a:bodyPr wrap="none">
            <a:spAutoFit/>
          </a:bodyPr>
          <a:lstStyle/>
          <a:p>
            <a:r>
              <a:rPr lang="zh-CN" altLang="en-US" dirty="0">
                <a:solidFill>
                  <a:schemeClr val="accent2"/>
                </a:solidFill>
                <a:latin typeface="Times New Roman" panose="02020603050405020304" pitchFamily="18" charset="0"/>
              </a:rPr>
              <a:t>（</a:t>
            </a:r>
            <a:r>
              <a:rPr lang="en-US" altLang="zh-CN" dirty="0">
                <a:solidFill>
                  <a:schemeClr val="accent2"/>
                </a:solidFill>
                <a:latin typeface="Times New Roman" panose="02020603050405020304" pitchFamily="18" charset="0"/>
              </a:rPr>
              <a:t>2</a:t>
            </a:r>
            <a:r>
              <a:rPr lang="zh-CN" altLang="en-US" dirty="0">
                <a:solidFill>
                  <a:schemeClr val="accent2"/>
                </a:solidFill>
                <a:latin typeface="Times New Roman" panose="02020603050405020304" pitchFamily="18" charset="0"/>
              </a:rPr>
              <a:t>）串联谐振回路（电感、电容串联）</a:t>
            </a:r>
            <a:endParaRPr lang="zh-CN" altLang="en-US" dirty="0">
              <a:solidFill>
                <a:schemeClr val="accent2"/>
              </a:solidFill>
              <a:latin typeface="Times New Roman" panose="02020603050405020304" pitchFamily="18" charset="0"/>
            </a:endParaRPr>
          </a:p>
        </p:txBody>
      </p:sp>
      <p:sp>
        <p:nvSpPr>
          <p:cNvPr id="16399" name="Text Box 9"/>
          <p:cNvSpPr txBox="1"/>
          <p:nvPr/>
        </p:nvSpPr>
        <p:spPr>
          <a:xfrm>
            <a:off x="0" y="908050"/>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sp>
        <p:nvSpPr>
          <p:cNvPr id="370698" name="Text Box 10"/>
          <p:cNvSpPr txBox="1"/>
          <p:nvPr/>
        </p:nvSpPr>
        <p:spPr>
          <a:xfrm>
            <a:off x="467995" y="1806575"/>
            <a:ext cx="2038350" cy="457200"/>
          </a:xfrm>
          <a:prstGeom prst="rect">
            <a:avLst/>
          </a:prstGeom>
          <a:noFill/>
          <a:ln w="9525">
            <a:noFill/>
          </a:ln>
        </p:spPr>
        <p:txBody>
          <a:bodyPr wrap="none">
            <a:spAutoFit/>
          </a:bodyPr>
          <a:lstStyle/>
          <a:p>
            <a:r>
              <a:rPr lang="zh-CN" altLang="en-US" sz="2000" dirty="0">
                <a:latin typeface="Times New Roman" panose="02020603050405020304" pitchFamily="18" charset="0"/>
              </a:rPr>
              <a:t>电路如图所示：</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grpSp>
        <p:nvGrpSpPr>
          <p:cNvPr id="3" name="Group 11"/>
          <p:cNvGrpSpPr/>
          <p:nvPr/>
        </p:nvGrpSpPr>
        <p:grpSpPr>
          <a:xfrm>
            <a:off x="7524750" y="620713"/>
            <a:ext cx="1397000" cy="2339975"/>
            <a:chOff x="0" y="981"/>
            <a:chExt cx="880" cy="1474"/>
          </a:xfrm>
        </p:grpSpPr>
        <p:graphicFrame>
          <p:nvGraphicFramePr>
            <p:cNvPr id="16395" name="Object 12"/>
            <p:cNvGraphicFramePr/>
            <p:nvPr/>
          </p:nvGraphicFramePr>
          <p:xfrm>
            <a:off x="340" y="981"/>
            <a:ext cx="279" cy="1179"/>
          </p:xfrm>
          <a:graphic>
            <a:graphicData uri="http://schemas.openxmlformats.org/presentationml/2006/ole">
              <mc:AlternateContent xmlns:mc="http://schemas.openxmlformats.org/markup-compatibility/2006">
                <mc:Choice xmlns:v="urn:schemas-microsoft-com:vml" Requires="v">
                  <p:oleObj spid="_x0000_s2" name="" r:id="rId1" imgW="278130" imgH="1129665" progId="Visio.Drawing.6">
                    <p:embed/>
                  </p:oleObj>
                </mc:Choice>
                <mc:Fallback>
                  <p:oleObj name="" r:id="rId1" imgW="278130" imgH="1129665" progId="Visio.Drawing.6">
                    <p:embed/>
                    <p:pic>
                      <p:nvPicPr>
                        <p:cNvPr id="0" name="图片 3152"/>
                        <p:cNvPicPr/>
                        <p:nvPr/>
                      </p:nvPicPr>
                      <p:blipFill>
                        <a:blip r:embed="rId2"/>
                        <a:stretch>
                          <a:fillRect/>
                        </a:stretch>
                      </p:blipFill>
                      <p:spPr>
                        <a:xfrm>
                          <a:off x="340" y="981"/>
                          <a:ext cx="279" cy="1179"/>
                        </a:xfrm>
                        <a:prstGeom prst="rect">
                          <a:avLst/>
                        </a:prstGeom>
                        <a:noFill/>
                        <a:ln w="38100">
                          <a:noFill/>
                          <a:miter/>
                        </a:ln>
                      </p:spPr>
                    </p:pic>
                  </p:oleObj>
                </mc:Fallback>
              </mc:AlternateContent>
            </a:graphicData>
          </a:graphic>
        </p:graphicFrame>
        <p:sp>
          <p:nvSpPr>
            <p:cNvPr id="16418" name="Text Box 13"/>
            <p:cNvSpPr txBox="1"/>
            <p:nvPr/>
          </p:nvSpPr>
          <p:spPr>
            <a:xfrm>
              <a:off x="0" y="2205"/>
              <a:ext cx="880" cy="250"/>
            </a:xfrm>
            <a:prstGeom prst="rect">
              <a:avLst/>
            </a:prstGeom>
            <a:noFill/>
            <a:ln w="9525">
              <a:noFill/>
            </a:ln>
          </p:spPr>
          <p:txBody>
            <a:bodyPr wrap="none">
              <a:spAutoFit/>
            </a:bodyPr>
            <a:lstStyle/>
            <a:p>
              <a:r>
                <a:rPr lang="zh-CN" altLang="en-US" sz="2000" dirty="0">
                  <a:latin typeface="Times New Roman" panose="02020603050405020304" pitchFamily="18" charset="0"/>
                </a:rPr>
                <a:t>图</a:t>
              </a:r>
              <a:r>
                <a:rPr lang="en-US" altLang="zh-CN" sz="2000" dirty="0">
                  <a:latin typeface="Times New Roman" panose="02020603050405020304" pitchFamily="18" charset="0"/>
                </a:rPr>
                <a:t>2-4</a:t>
              </a:r>
              <a:r>
                <a:rPr lang="zh-CN" altLang="en-US" sz="2000" dirty="0">
                  <a:latin typeface="Times New Roman" panose="02020603050405020304" pitchFamily="18" charset="0"/>
                </a:rPr>
                <a:t>（</a:t>
              </a:r>
              <a:r>
                <a:rPr lang="en-US" altLang="zh-CN" sz="2000" dirty="0">
                  <a:latin typeface="Times New Roman" panose="02020603050405020304" pitchFamily="18" charset="0"/>
                </a:rPr>
                <a:t>a</a:t>
              </a:r>
              <a:r>
                <a:rPr lang="zh-CN" altLang="en-US" sz="2000" dirty="0">
                  <a:latin typeface="Times New Roman" panose="02020603050405020304" pitchFamily="18" charset="0"/>
                </a:rPr>
                <a:t>）</a:t>
              </a:r>
              <a:endParaRPr lang="zh-CN" altLang="en-US" sz="2000" dirty="0">
                <a:latin typeface="Times New Roman" panose="02020603050405020304" pitchFamily="18" charset="0"/>
              </a:endParaRPr>
            </a:p>
          </p:txBody>
        </p:sp>
      </p:grpSp>
      <p:sp>
        <p:nvSpPr>
          <p:cNvPr id="370702" name="Text Box 14"/>
          <p:cNvSpPr txBox="1"/>
          <p:nvPr/>
        </p:nvSpPr>
        <p:spPr>
          <a:xfrm>
            <a:off x="467360" y="2263775"/>
            <a:ext cx="1504950" cy="457200"/>
          </a:xfrm>
          <a:prstGeom prst="rect">
            <a:avLst/>
          </a:prstGeom>
          <a:noFill/>
          <a:ln w="9525">
            <a:noFill/>
          </a:ln>
        </p:spPr>
        <p:txBody>
          <a:bodyPr wrap="none">
            <a:spAutoFit/>
          </a:bodyPr>
          <a:lstStyle/>
          <a:p>
            <a:r>
              <a:rPr lang="zh-CN" altLang="en-US" sz="2000" dirty="0">
                <a:latin typeface="Times New Roman" panose="02020603050405020304" pitchFamily="18" charset="0"/>
              </a:rPr>
              <a:t>串联阻抗</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370703" name="Text Box 15"/>
          <p:cNvSpPr txBox="1"/>
          <p:nvPr/>
        </p:nvSpPr>
        <p:spPr>
          <a:xfrm>
            <a:off x="467678" y="3048953"/>
            <a:ext cx="2012950" cy="457200"/>
          </a:xfrm>
          <a:prstGeom prst="rect">
            <a:avLst/>
          </a:prstGeom>
          <a:noFill/>
          <a:ln w="9525">
            <a:noFill/>
          </a:ln>
        </p:spPr>
        <p:txBody>
          <a:bodyPr wrap="none">
            <a:spAutoFit/>
          </a:bodyPr>
          <a:lstStyle/>
          <a:p>
            <a:r>
              <a:rPr lang="zh-CN" altLang="en-US" sz="2000" dirty="0">
                <a:latin typeface="Times New Roman" panose="02020603050405020304" pitchFamily="18" charset="0"/>
              </a:rPr>
              <a:t>串联谐振频率</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aphicFrame>
        <p:nvGraphicFramePr>
          <p:cNvPr id="16394" name="Object 17"/>
          <p:cNvGraphicFramePr/>
          <p:nvPr/>
        </p:nvGraphicFramePr>
        <p:xfrm>
          <a:off x="6372225" y="3045460"/>
          <a:ext cx="864870" cy="473075"/>
        </p:xfrm>
        <a:graphic>
          <a:graphicData uri="http://schemas.openxmlformats.org/presentationml/2006/ole">
            <mc:AlternateContent xmlns:mc="http://schemas.openxmlformats.org/markup-compatibility/2006">
              <mc:Choice xmlns:v="urn:schemas-microsoft-com:vml" Requires="v">
                <p:oleObj spid="_x0000_s4" name="" r:id="rId3" imgW="419100" imgH="228600" progId="Equation.DSMT4">
                  <p:embed/>
                </p:oleObj>
              </mc:Choice>
              <mc:Fallback>
                <p:oleObj name="" r:id="rId3" imgW="419100" imgH="228600" progId="Equation.DSMT4">
                  <p:embed/>
                  <p:pic>
                    <p:nvPicPr>
                      <p:cNvPr id="0" name="图片 3158"/>
                      <p:cNvPicPr/>
                      <p:nvPr/>
                    </p:nvPicPr>
                    <p:blipFill>
                      <a:blip r:embed="rId4"/>
                      <a:stretch>
                        <a:fillRect/>
                      </a:stretch>
                    </p:blipFill>
                    <p:spPr>
                      <a:xfrm>
                        <a:off x="6372225" y="3045460"/>
                        <a:ext cx="864870" cy="473075"/>
                      </a:xfrm>
                      <a:prstGeom prst="rect">
                        <a:avLst/>
                      </a:prstGeom>
                      <a:noFill/>
                      <a:ln w="38100">
                        <a:noFill/>
                        <a:miter/>
                      </a:ln>
                    </p:spPr>
                  </p:pic>
                </p:oleObj>
              </mc:Fallback>
            </mc:AlternateContent>
          </a:graphicData>
        </a:graphic>
      </p:graphicFrame>
      <p:grpSp>
        <p:nvGrpSpPr>
          <p:cNvPr id="6" name="Group 19"/>
          <p:cNvGrpSpPr/>
          <p:nvPr/>
        </p:nvGrpSpPr>
        <p:grpSpPr>
          <a:xfrm>
            <a:off x="1979613" y="2166938"/>
            <a:ext cx="5087937" cy="720725"/>
            <a:chOff x="2018" y="901"/>
            <a:chExt cx="3455" cy="496"/>
          </a:xfrm>
        </p:grpSpPr>
        <p:graphicFrame>
          <p:nvGraphicFramePr>
            <p:cNvPr id="16393" name="Object 20"/>
            <p:cNvGraphicFramePr/>
            <p:nvPr/>
          </p:nvGraphicFramePr>
          <p:xfrm>
            <a:off x="2018" y="901"/>
            <a:ext cx="2812" cy="496"/>
          </p:xfrm>
          <a:graphic>
            <a:graphicData uri="http://schemas.openxmlformats.org/presentationml/2006/ole">
              <mc:AlternateContent xmlns:mc="http://schemas.openxmlformats.org/markup-compatibility/2006">
                <mc:Choice xmlns:v="urn:schemas-microsoft-com:vml" Requires="v">
                  <p:oleObj spid="_x0000_s5" name="" r:id="rId5" imgW="2374900" imgH="419100" progId="Equation.DSMT4">
                    <p:embed/>
                  </p:oleObj>
                </mc:Choice>
                <mc:Fallback>
                  <p:oleObj name="" r:id="rId5" imgW="2374900" imgH="419100" progId="Equation.DSMT4">
                    <p:embed/>
                    <p:pic>
                      <p:nvPicPr>
                        <p:cNvPr id="0" name="图片 3159"/>
                        <p:cNvPicPr/>
                        <p:nvPr/>
                      </p:nvPicPr>
                      <p:blipFill>
                        <a:blip r:embed="rId6"/>
                        <a:stretch>
                          <a:fillRect/>
                        </a:stretch>
                      </p:blipFill>
                      <p:spPr>
                        <a:xfrm>
                          <a:off x="2018" y="901"/>
                          <a:ext cx="2812" cy="496"/>
                        </a:xfrm>
                        <a:prstGeom prst="rect">
                          <a:avLst/>
                        </a:prstGeom>
                        <a:noFill/>
                        <a:ln w="38100">
                          <a:noFill/>
                          <a:miter/>
                        </a:ln>
                      </p:spPr>
                    </p:pic>
                  </p:oleObj>
                </mc:Fallback>
              </mc:AlternateContent>
            </a:graphicData>
          </a:graphic>
        </p:graphicFrame>
        <p:sp>
          <p:nvSpPr>
            <p:cNvPr id="16416" name="Text Box 21"/>
            <p:cNvSpPr txBox="1"/>
            <p:nvPr/>
          </p:nvSpPr>
          <p:spPr>
            <a:xfrm>
              <a:off x="4830" y="982"/>
              <a:ext cx="643" cy="314"/>
            </a:xfrm>
            <a:prstGeom prst="rect">
              <a:avLst/>
            </a:prstGeom>
            <a:noFill/>
            <a:ln w="9525">
              <a:noFill/>
            </a:ln>
          </p:spPr>
          <p:txBody>
            <a:bodyPr wrap="none">
              <a:spAutoFit/>
            </a:bodyPr>
            <a:lstStyle/>
            <a:p>
              <a:r>
                <a:rPr lang="zh-CN" altLang="en-US" dirty="0">
                  <a:latin typeface="Times New Roman" panose="02020603050405020304" pitchFamily="18" charset="0"/>
                </a:rPr>
                <a:t>（</a:t>
              </a:r>
              <a:r>
                <a:rPr lang="en-US" altLang="zh-CN" dirty="0">
                  <a:latin typeface="Times New Roman" panose="02020603050405020304" pitchFamily="18" charset="0"/>
                </a:rPr>
                <a:t>1</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grpSp>
        <p:nvGrpSpPr>
          <p:cNvPr id="8" name="Group 22"/>
          <p:cNvGrpSpPr/>
          <p:nvPr/>
        </p:nvGrpSpPr>
        <p:grpSpPr>
          <a:xfrm>
            <a:off x="2268220" y="3033563"/>
            <a:ext cx="3528432" cy="522437"/>
            <a:chOff x="2245" y="1525"/>
            <a:chExt cx="1925" cy="285"/>
          </a:xfrm>
        </p:grpSpPr>
        <p:graphicFrame>
          <p:nvGraphicFramePr>
            <p:cNvPr id="16392" name="Object 23"/>
            <p:cNvGraphicFramePr/>
            <p:nvPr/>
          </p:nvGraphicFramePr>
          <p:xfrm>
            <a:off x="2245" y="1525"/>
            <a:ext cx="1497" cy="285"/>
          </p:xfrm>
          <a:graphic>
            <a:graphicData uri="http://schemas.openxmlformats.org/presentationml/2006/ole">
              <mc:AlternateContent xmlns:mc="http://schemas.openxmlformats.org/markup-compatibility/2006">
                <mc:Choice xmlns:v="urn:schemas-microsoft-com:vml" Requires="v">
                  <p:oleObj spid="_x0000_s7" name="" r:id="rId7" imgW="1802765" imgH="342900" progId="Equation.DSMT4">
                    <p:embed/>
                  </p:oleObj>
                </mc:Choice>
                <mc:Fallback>
                  <p:oleObj name="" r:id="rId7" imgW="1802765" imgH="342900" progId="Equation.DSMT4">
                    <p:embed/>
                    <p:pic>
                      <p:nvPicPr>
                        <p:cNvPr id="0" name="图片 3148"/>
                        <p:cNvPicPr/>
                        <p:nvPr/>
                      </p:nvPicPr>
                      <p:blipFill>
                        <a:blip r:embed="rId8"/>
                        <a:stretch>
                          <a:fillRect/>
                        </a:stretch>
                      </p:blipFill>
                      <p:spPr>
                        <a:xfrm>
                          <a:off x="2245" y="1525"/>
                          <a:ext cx="1497" cy="285"/>
                        </a:xfrm>
                        <a:prstGeom prst="rect">
                          <a:avLst/>
                        </a:prstGeom>
                        <a:noFill/>
                        <a:ln w="38100">
                          <a:noFill/>
                          <a:miter/>
                        </a:ln>
                      </p:spPr>
                    </p:pic>
                  </p:oleObj>
                </mc:Fallback>
              </mc:AlternateContent>
            </a:graphicData>
          </a:graphic>
        </p:graphicFrame>
        <p:sp>
          <p:nvSpPr>
            <p:cNvPr id="16415" name="Text Box 24"/>
            <p:cNvSpPr txBox="1"/>
            <p:nvPr/>
          </p:nvSpPr>
          <p:spPr>
            <a:xfrm>
              <a:off x="3729" y="1525"/>
              <a:ext cx="441" cy="251"/>
            </a:xfrm>
            <a:prstGeom prst="rect">
              <a:avLst/>
            </a:prstGeom>
            <a:noFill/>
            <a:ln w="9525">
              <a:noFill/>
            </a:ln>
          </p:spPr>
          <p:txBody>
            <a:bodyPr wrap="square">
              <a:spAutoFit/>
            </a:bodyPr>
            <a:lstStyle/>
            <a:p>
              <a:r>
                <a:rPr lang="zh-CN" altLang="en-US" dirty="0">
                  <a:latin typeface="Times New Roman" panose="02020603050405020304" pitchFamily="18" charset="0"/>
                </a:rPr>
                <a:t>（</a:t>
              </a:r>
              <a:r>
                <a:rPr lang="en-US" altLang="zh-CN" dirty="0">
                  <a:latin typeface="Times New Roman" panose="02020603050405020304" pitchFamily="18" charset="0"/>
                </a:rPr>
                <a:t>2</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grpSp>
        <p:nvGrpSpPr>
          <p:cNvPr id="10" name="Group 28"/>
          <p:cNvGrpSpPr/>
          <p:nvPr/>
        </p:nvGrpSpPr>
        <p:grpSpPr>
          <a:xfrm>
            <a:off x="466408" y="3668395"/>
            <a:ext cx="4826000" cy="785813"/>
            <a:chOff x="385" y="2795"/>
            <a:chExt cx="3040" cy="495"/>
          </a:xfrm>
        </p:grpSpPr>
        <p:graphicFrame>
          <p:nvGraphicFramePr>
            <p:cNvPr id="16391" name="Object 26"/>
            <p:cNvGraphicFramePr/>
            <p:nvPr/>
          </p:nvGraphicFramePr>
          <p:xfrm>
            <a:off x="1519" y="2795"/>
            <a:ext cx="1906" cy="495"/>
          </p:xfrm>
          <a:graphic>
            <a:graphicData uri="http://schemas.openxmlformats.org/presentationml/2006/ole">
              <mc:AlternateContent xmlns:mc="http://schemas.openxmlformats.org/markup-compatibility/2006">
                <mc:Choice xmlns:v="urn:schemas-microsoft-com:vml" Requires="v">
                  <p:oleObj spid="_x0000_s9" name="" r:id="rId9" imgW="1663065" imgH="431800" progId="Equation.DSMT4">
                    <p:embed/>
                  </p:oleObj>
                </mc:Choice>
                <mc:Fallback>
                  <p:oleObj name="" r:id="rId9" imgW="1663065" imgH="431800" progId="Equation.DSMT4">
                    <p:embed/>
                    <p:pic>
                      <p:nvPicPr>
                        <p:cNvPr id="0" name="图片 3147"/>
                        <p:cNvPicPr/>
                        <p:nvPr/>
                      </p:nvPicPr>
                      <p:blipFill>
                        <a:blip r:embed="rId10"/>
                        <a:stretch>
                          <a:fillRect/>
                        </a:stretch>
                      </p:blipFill>
                      <p:spPr>
                        <a:xfrm>
                          <a:off x="1519" y="2795"/>
                          <a:ext cx="1906" cy="495"/>
                        </a:xfrm>
                        <a:prstGeom prst="rect">
                          <a:avLst/>
                        </a:prstGeom>
                        <a:noFill/>
                        <a:ln w="38100">
                          <a:noFill/>
                          <a:miter/>
                        </a:ln>
                      </p:spPr>
                    </p:pic>
                  </p:oleObj>
                </mc:Fallback>
              </mc:AlternateContent>
            </a:graphicData>
          </a:graphic>
        </p:graphicFrame>
        <p:sp>
          <p:nvSpPr>
            <p:cNvPr id="16414" name="Text Box 27"/>
            <p:cNvSpPr txBox="1"/>
            <p:nvPr/>
          </p:nvSpPr>
          <p:spPr>
            <a:xfrm>
              <a:off x="385" y="2849"/>
              <a:ext cx="1268" cy="288"/>
            </a:xfrm>
            <a:prstGeom prst="rect">
              <a:avLst/>
            </a:prstGeom>
            <a:noFill/>
            <a:ln w="9525">
              <a:noFill/>
            </a:ln>
          </p:spPr>
          <p:txBody>
            <a:bodyPr wrap="none">
              <a:spAutoFit/>
            </a:bodyPr>
            <a:lstStyle/>
            <a:p>
              <a:r>
                <a:rPr lang="zh-CN" altLang="en-US" sz="2000" dirty="0">
                  <a:latin typeface="Times New Roman" panose="02020603050405020304" pitchFamily="18" charset="0"/>
                </a:rPr>
                <a:t>由（</a:t>
              </a:r>
              <a:r>
                <a:rPr lang="en-US" altLang="zh-CN" sz="2000" dirty="0">
                  <a:latin typeface="Times New Roman" panose="02020603050405020304" pitchFamily="18" charset="0"/>
                </a:rPr>
                <a:t>1</a:t>
              </a:r>
              <a:r>
                <a:rPr lang="zh-CN" altLang="en-US" sz="2000" dirty="0">
                  <a:latin typeface="Times New Roman" panose="02020603050405020304" pitchFamily="18" charset="0"/>
                </a:rPr>
                <a:t>、</a:t>
              </a:r>
              <a:r>
                <a:rPr lang="en-US" altLang="zh-CN" sz="2000" dirty="0">
                  <a:latin typeface="Times New Roman" panose="02020603050405020304" pitchFamily="18" charset="0"/>
                </a:rPr>
                <a:t>2</a:t>
              </a:r>
              <a:r>
                <a:rPr lang="zh-CN" altLang="en-US" sz="2000" dirty="0">
                  <a:latin typeface="Times New Roman" panose="02020603050405020304" pitchFamily="18" charset="0"/>
                </a:rPr>
                <a:t>）得</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graphicFrame>
        <p:nvGraphicFramePr>
          <p:cNvPr id="370717" name="Object 29"/>
          <p:cNvGraphicFramePr/>
          <p:nvPr/>
        </p:nvGraphicFramePr>
        <p:xfrm>
          <a:off x="1763713" y="4566285"/>
          <a:ext cx="3116262" cy="788988"/>
        </p:xfrm>
        <a:graphic>
          <a:graphicData uri="http://schemas.openxmlformats.org/presentationml/2006/ole">
            <mc:AlternateContent xmlns:mc="http://schemas.openxmlformats.org/markup-compatibility/2006">
              <mc:Choice xmlns:v="urn:schemas-microsoft-com:vml" Requires="v">
                <p:oleObj spid="_x0000_s11" name="" r:id="rId11" imgW="1904365" imgH="482600" progId="Equation.DSMT4">
                  <p:embed/>
                </p:oleObj>
              </mc:Choice>
              <mc:Fallback>
                <p:oleObj name="" r:id="rId11" imgW="1904365" imgH="482600" progId="Equation.DSMT4">
                  <p:embed/>
                  <p:pic>
                    <p:nvPicPr>
                      <p:cNvPr id="0" name="图片 3144"/>
                      <p:cNvPicPr/>
                      <p:nvPr/>
                    </p:nvPicPr>
                    <p:blipFill>
                      <a:blip r:embed="rId12"/>
                      <a:stretch>
                        <a:fillRect/>
                      </a:stretch>
                    </p:blipFill>
                    <p:spPr>
                      <a:xfrm>
                        <a:off x="1763713" y="4566285"/>
                        <a:ext cx="3116262" cy="788988"/>
                      </a:xfrm>
                      <a:prstGeom prst="rect">
                        <a:avLst/>
                      </a:prstGeom>
                      <a:noFill/>
                      <a:ln w="38100">
                        <a:noFill/>
                        <a:miter/>
                      </a:ln>
                    </p:spPr>
                  </p:pic>
                </p:oleObj>
              </mc:Fallback>
            </mc:AlternateContent>
          </a:graphicData>
        </a:graphic>
      </p:graphicFrame>
      <p:graphicFrame>
        <p:nvGraphicFramePr>
          <p:cNvPr id="370719" name="Object 31"/>
          <p:cNvGraphicFramePr/>
          <p:nvPr/>
        </p:nvGraphicFramePr>
        <p:xfrm>
          <a:off x="5292090" y="4690110"/>
          <a:ext cx="1728788" cy="520700"/>
        </p:xfrm>
        <a:graphic>
          <a:graphicData uri="http://schemas.openxmlformats.org/presentationml/2006/ole">
            <mc:AlternateContent xmlns:mc="http://schemas.openxmlformats.org/markup-compatibility/2006">
              <mc:Choice xmlns:v="urn:schemas-microsoft-com:vml" Requires="v">
                <p:oleObj spid="_x0000_s12" name="" r:id="rId13" imgW="927100" imgH="279400" progId="Equation.DSMT4">
                  <p:embed/>
                </p:oleObj>
              </mc:Choice>
              <mc:Fallback>
                <p:oleObj name="" r:id="rId13" imgW="927100" imgH="279400" progId="Equation.DSMT4">
                  <p:embed/>
                  <p:pic>
                    <p:nvPicPr>
                      <p:cNvPr id="0" name="图片 3163"/>
                      <p:cNvPicPr/>
                      <p:nvPr/>
                    </p:nvPicPr>
                    <p:blipFill>
                      <a:blip r:embed="rId14"/>
                      <a:stretch>
                        <a:fillRect/>
                      </a:stretch>
                    </p:blipFill>
                    <p:spPr>
                      <a:xfrm>
                        <a:off x="5292090" y="4690110"/>
                        <a:ext cx="1728788" cy="520700"/>
                      </a:xfrm>
                      <a:prstGeom prst="rect">
                        <a:avLst/>
                      </a:prstGeom>
                      <a:noFill/>
                      <a:ln w="38100">
                        <a:noFill/>
                        <a:miter/>
                      </a:ln>
                    </p:spPr>
                  </p:pic>
                </p:oleObj>
              </mc:Fallback>
            </mc:AlternateContent>
          </a:graphicData>
        </a:graphic>
      </p:graphicFrame>
      <p:sp>
        <p:nvSpPr>
          <p:cNvPr id="370720" name="Text Box 32"/>
          <p:cNvSpPr txBox="1"/>
          <p:nvPr/>
        </p:nvSpPr>
        <p:spPr>
          <a:xfrm>
            <a:off x="467678" y="4751070"/>
            <a:ext cx="1454150" cy="396875"/>
          </a:xfrm>
          <a:prstGeom prst="rect">
            <a:avLst/>
          </a:prstGeom>
          <a:noFill/>
          <a:ln w="9525">
            <a:noFill/>
          </a:ln>
        </p:spPr>
        <p:txBody>
          <a:bodyPr wrap="none">
            <a:spAutoFit/>
          </a:bodyPr>
          <a:lstStyle/>
          <a:p>
            <a:r>
              <a:rPr lang="zh-CN" altLang="en-US" sz="2000" dirty="0">
                <a:solidFill>
                  <a:srgbClr val="FF0066"/>
                </a:solidFill>
                <a:latin typeface="Times New Roman" panose="02020603050405020304" pitchFamily="18" charset="0"/>
              </a:rPr>
              <a:t>阻抗模值</a:t>
            </a:r>
            <a:r>
              <a:rPr lang="zh-CN" altLang="en-US" sz="2000" dirty="0">
                <a:latin typeface="Times New Roman" panose="02020603050405020304" pitchFamily="18" charset="0"/>
              </a:rPr>
              <a:t>：</a:t>
            </a:r>
            <a:endParaRPr lang="zh-CN" altLang="en-US" sz="2000" dirty="0">
              <a:latin typeface="Times New Roman" panose="02020603050405020304" pitchFamily="18" charset="0"/>
            </a:endParaRPr>
          </a:p>
        </p:txBody>
      </p:sp>
      <p:grpSp>
        <p:nvGrpSpPr>
          <p:cNvPr id="14" name="Group 40"/>
          <p:cNvGrpSpPr/>
          <p:nvPr/>
        </p:nvGrpSpPr>
        <p:grpSpPr>
          <a:xfrm>
            <a:off x="467678" y="5445760"/>
            <a:ext cx="4394200" cy="649288"/>
            <a:chOff x="431" y="3294"/>
            <a:chExt cx="2768" cy="409"/>
          </a:xfrm>
        </p:grpSpPr>
        <p:sp>
          <p:nvSpPr>
            <p:cNvPr id="16413" name="Text Box 34"/>
            <p:cNvSpPr txBox="1"/>
            <p:nvPr/>
          </p:nvSpPr>
          <p:spPr>
            <a:xfrm>
              <a:off x="431" y="3373"/>
              <a:ext cx="436" cy="250"/>
            </a:xfrm>
            <a:prstGeom prst="rect">
              <a:avLst/>
            </a:prstGeom>
            <a:noFill/>
            <a:ln w="9525">
              <a:noFill/>
            </a:ln>
          </p:spPr>
          <p:txBody>
            <a:bodyPr wrap="none">
              <a:spAutoFit/>
            </a:bodyPr>
            <a:lstStyle/>
            <a:p>
              <a:r>
                <a:rPr lang="zh-CN" altLang="en-US" sz="2000" dirty="0">
                  <a:latin typeface="Times New Roman" panose="02020603050405020304" pitchFamily="18" charset="0"/>
                </a:rPr>
                <a:t>其中</a:t>
              </a:r>
              <a:endParaRPr lang="zh-CN" altLang="en-US" sz="2000" dirty="0">
                <a:latin typeface="Times New Roman" panose="02020603050405020304" pitchFamily="18" charset="0"/>
              </a:endParaRPr>
            </a:p>
          </p:txBody>
        </p:sp>
        <p:graphicFrame>
          <p:nvGraphicFramePr>
            <p:cNvPr id="16390" name="Object 35"/>
            <p:cNvGraphicFramePr/>
            <p:nvPr/>
          </p:nvGraphicFramePr>
          <p:xfrm>
            <a:off x="1021" y="3294"/>
            <a:ext cx="2178" cy="409"/>
          </p:xfrm>
          <a:graphic>
            <a:graphicData uri="http://schemas.openxmlformats.org/presentationml/2006/ole">
              <mc:AlternateContent xmlns:mc="http://schemas.openxmlformats.org/markup-compatibility/2006">
                <mc:Choice xmlns:v="urn:schemas-microsoft-com:vml" Requires="v">
                  <p:oleObj spid="_x0000_s13" name="" r:id="rId15" imgW="2297430" imgH="431800" progId="Equation.DSMT4">
                    <p:embed/>
                  </p:oleObj>
                </mc:Choice>
                <mc:Fallback>
                  <p:oleObj name="" r:id="rId15" imgW="2297430" imgH="431800" progId="Equation.DSMT4">
                    <p:embed/>
                    <p:pic>
                      <p:nvPicPr>
                        <p:cNvPr id="0" name="图片 3164"/>
                        <p:cNvPicPr/>
                        <p:nvPr/>
                      </p:nvPicPr>
                      <p:blipFill>
                        <a:blip r:embed="rId16"/>
                        <a:stretch>
                          <a:fillRect/>
                        </a:stretch>
                      </p:blipFill>
                      <p:spPr>
                        <a:xfrm>
                          <a:off x="1021" y="3294"/>
                          <a:ext cx="2178" cy="409"/>
                        </a:xfrm>
                        <a:prstGeom prst="rect">
                          <a:avLst/>
                        </a:prstGeom>
                        <a:noFill/>
                        <a:ln w="38100">
                          <a:noFill/>
                          <a:miter/>
                        </a:ln>
                      </p:spPr>
                    </p:pic>
                  </p:oleObj>
                </mc:Fallback>
              </mc:AlternateContent>
            </a:graphicData>
          </a:graphic>
        </p:graphicFrame>
      </p:grpSp>
      <p:graphicFrame>
        <p:nvGraphicFramePr>
          <p:cNvPr id="370724" name="Object 36"/>
          <p:cNvGraphicFramePr/>
          <p:nvPr/>
        </p:nvGraphicFramePr>
        <p:xfrm>
          <a:off x="5292090" y="5430203"/>
          <a:ext cx="2881313" cy="665162"/>
        </p:xfrm>
        <a:graphic>
          <a:graphicData uri="http://schemas.openxmlformats.org/presentationml/2006/ole">
            <mc:AlternateContent xmlns:mc="http://schemas.openxmlformats.org/markup-compatibility/2006">
              <mc:Choice xmlns:v="urn:schemas-microsoft-com:vml" Requires="v">
                <p:oleObj spid="_x0000_s15" name="" r:id="rId17" imgW="1866265" imgH="431800" progId="Equation.DSMT4">
                  <p:embed/>
                </p:oleObj>
              </mc:Choice>
              <mc:Fallback>
                <p:oleObj name="" r:id="rId17" imgW="1866265" imgH="431800" progId="Equation.DSMT4">
                  <p:embed/>
                  <p:pic>
                    <p:nvPicPr>
                      <p:cNvPr id="0" name="图片 3172"/>
                      <p:cNvPicPr/>
                      <p:nvPr/>
                    </p:nvPicPr>
                    <p:blipFill>
                      <a:blip r:embed="rId18"/>
                      <a:stretch>
                        <a:fillRect/>
                      </a:stretch>
                    </p:blipFill>
                    <p:spPr>
                      <a:xfrm>
                        <a:off x="5292090" y="5430203"/>
                        <a:ext cx="2881313" cy="665162"/>
                      </a:xfrm>
                      <a:prstGeom prst="rect">
                        <a:avLst/>
                      </a:prstGeom>
                      <a:noFill/>
                      <a:ln w="38100">
                        <a:noFill/>
                        <a:miter/>
                      </a:ln>
                    </p:spPr>
                  </p:pic>
                </p:oleObj>
              </mc:Fallback>
            </mc:AlternateContent>
          </a:graphicData>
        </a:graphic>
      </p:graphicFrame>
      <p:grpSp>
        <p:nvGrpSpPr>
          <p:cNvPr id="17" name="Group 37"/>
          <p:cNvGrpSpPr/>
          <p:nvPr/>
        </p:nvGrpSpPr>
        <p:grpSpPr>
          <a:xfrm>
            <a:off x="466408" y="6114733"/>
            <a:ext cx="2376487" cy="431800"/>
            <a:chOff x="884" y="3781"/>
            <a:chExt cx="1497" cy="272"/>
          </a:xfrm>
        </p:grpSpPr>
        <p:sp>
          <p:nvSpPr>
            <p:cNvPr id="16412" name="Text Box 38"/>
            <p:cNvSpPr txBox="1"/>
            <p:nvPr/>
          </p:nvSpPr>
          <p:spPr>
            <a:xfrm>
              <a:off x="884" y="3781"/>
              <a:ext cx="596" cy="250"/>
            </a:xfrm>
            <a:prstGeom prst="rect">
              <a:avLst/>
            </a:prstGeom>
            <a:noFill/>
            <a:ln w="9525">
              <a:noFill/>
            </a:ln>
          </p:spPr>
          <p:txBody>
            <a:bodyPr wrap="none">
              <a:spAutoFit/>
            </a:bodyPr>
            <a:lstStyle/>
            <a:p>
              <a:r>
                <a:rPr lang="zh-CN" altLang="en-US" sz="2000" dirty="0">
                  <a:solidFill>
                    <a:srgbClr val="FF0066"/>
                  </a:solidFill>
                  <a:latin typeface="Times New Roman" panose="02020603050405020304" pitchFamily="18" charset="0"/>
                </a:rPr>
                <a:t>相角</a:t>
              </a:r>
              <a:r>
                <a:rPr lang="zh-CN" altLang="en-US" sz="2000" dirty="0">
                  <a:latin typeface="Times New Roman" panose="02020603050405020304" pitchFamily="18" charset="0"/>
                </a:rPr>
                <a:t>：</a:t>
              </a:r>
              <a:endParaRPr lang="zh-CN" altLang="en-US" sz="2000" dirty="0">
                <a:latin typeface="Times New Roman" panose="02020603050405020304" pitchFamily="18" charset="0"/>
              </a:endParaRPr>
            </a:p>
          </p:txBody>
        </p:sp>
        <p:graphicFrame>
          <p:nvGraphicFramePr>
            <p:cNvPr id="16389" name="Object 39"/>
            <p:cNvGraphicFramePr/>
            <p:nvPr/>
          </p:nvGraphicFramePr>
          <p:xfrm>
            <a:off x="1701" y="3793"/>
            <a:ext cx="680" cy="260"/>
          </p:xfrm>
          <a:graphic>
            <a:graphicData uri="http://schemas.openxmlformats.org/presentationml/2006/ole">
              <mc:AlternateContent xmlns:mc="http://schemas.openxmlformats.org/markup-compatibility/2006">
                <mc:Choice xmlns:v="urn:schemas-microsoft-com:vml" Requires="v">
                  <p:oleObj spid="_x0000_s16" name="" r:id="rId19" imgW="596900" imgH="228600" progId="Equation.DSMT4">
                    <p:embed/>
                  </p:oleObj>
                </mc:Choice>
                <mc:Fallback>
                  <p:oleObj name="" r:id="rId19" imgW="596900" imgH="228600" progId="Equation.DSMT4">
                    <p:embed/>
                    <p:pic>
                      <p:nvPicPr>
                        <p:cNvPr id="0" name="图片 3166"/>
                        <p:cNvPicPr/>
                        <p:nvPr/>
                      </p:nvPicPr>
                      <p:blipFill>
                        <a:blip r:embed="rId20"/>
                        <a:stretch>
                          <a:fillRect/>
                        </a:stretch>
                      </p:blipFill>
                      <p:spPr>
                        <a:xfrm>
                          <a:off x="1701" y="3793"/>
                          <a:ext cx="680" cy="260"/>
                        </a:xfrm>
                        <a:prstGeom prst="rect">
                          <a:avLst/>
                        </a:prstGeom>
                        <a:noFill/>
                        <a:ln w="38100">
                          <a:noFill/>
                          <a:miter/>
                        </a:ln>
                      </p:spPr>
                    </p:pic>
                  </p:oleObj>
                </mc:Fallback>
              </mc:AlternateContent>
            </a:graphicData>
          </a:graphic>
        </p:graphicFrame>
      </p:grpSp>
      <p:sp>
        <p:nvSpPr>
          <p:cNvPr id="19" name="右箭头 18"/>
          <p:cNvSpPr/>
          <p:nvPr/>
        </p:nvSpPr>
        <p:spPr>
          <a:xfrm>
            <a:off x="5904865" y="3188970"/>
            <a:ext cx="215900" cy="215900"/>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20" name="文本框 19"/>
          <p:cNvSpPr txBox="1"/>
          <p:nvPr/>
        </p:nvSpPr>
        <p:spPr>
          <a:xfrm>
            <a:off x="7236460" y="3045460"/>
            <a:ext cx="1720850" cy="829945"/>
          </a:xfrm>
          <a:prstGeom prst="rect">
            <a:avLst/>
          </a:prstGeom>
          <a:solidFill>
            <a:schemeClr val="accent1">
              <a:lumMod val="20000"/>
              <a:lumOff val="80000"/>
            </a:schemeClr>
          </a:solidFill>
        </p:spPr>
        <p:txBody>
          <a:bodyPr wrap="square" rtlCol="0">
            <a:spAutoFit/>
          </a:bodyPr>
          <a:lstStyle/>
          <a:p>
            <a:r>
              <a:rPr lang="zh-CN" altLang="en-US"/>
              <a:t>非常小，相当于</a:t>
            </a:r>
            <a:r>
              <a:rPr lang="zh-CN" altLang="en-US"/>
              <a:t>短路</a:t>
            </a:r>
            <a:endParaRPr lang="zh-CN" altLang="en-US"/>
          </a:p>
        </p:txBody>
      </p:sp>
      <p:sp>
        <p:nvSpPr>
          <p:cNvPr id="22" name="右箭头 21"/>
          <p:cNvSpPr/>
          <p:nvPr/>
        </p:nvSpPr>
        <p:spPr>
          <a:xfrm>
            <a:off x="4988560" y="4841240"/>
            <a:ext cx="215900" cy="215900"/>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grpSp>
        <p:nvGrpSpPr>
          <p:cNvPr id="11272" name="Group 40"/>
          <p:cNvGrpSpPr/>
          <p:nvPr/>
        </p:nvGrpSpPr>
        <p:grpSpPr>
          <a:xfrm>
            <a:off x="1979613" y="388938"/>
            <a:ext cx="5334000" cy="519113"/>
            <a:chOff x="1287" y="432"/>
            <a:chExt cx="3360" cy="327"/>
          </a:xfrm>
        </p:grpSpPr>
        <p:sp>
          <p:nvSpPr>
            <p:cNvPr id="11280" name="Rectangle 41"/>
            <p:cNvSpPr/>
            <p:nvPr/>
          </p:nvSpPr>
          <p:spPr>
            <a:xfrm>
              <a:off x="1287" y="43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11281" name="Line 42"/>
            <p:cNvSpPr/>
            <p:nvPr/>
          </p:nvSpPr>
          <p:spPr>
            <a:xfrm>
              <a:off x="1469" y="749"/>
              <a:ext cx="3024" cy="0"/>
            </a:xfrm>
            <a:prstGeom prst="line">
              <a:avLst/>
            </a:prstGeom>
            <a:ln w="57150" cap="flat" cmpd="tri">
              <a:solidFill>
                <a:srgbClr val="FF00FF"/>
              </a:solidFill>
              <a:prstDash val="solid"/>
              <a:headEnd type="none" w="sm" len="sm"/>
              <a:tailEnd type="none" w="sm" len="sm"/>
            </a:ln>
          </p:spPr>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9" name="Text Box 9"/>
          <p:cNvSpPr txBox="1"/>
          <p:nvPr/>
        </p:nvSpPr>
        <p:spPr>
          <a:xfrm>
            <a:off x="0" y="908050"/>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sp>
        <p:nvSpPr>
          <p:cNvPr id="371722" name="Text Box 10"/>
          <p:cNvSpPr txBox="1"/>
          <p:nvPr/>
        </p:nvSpPr>
        <p:spPr>
          <a:xfrm>
            <a:off x="468313" y="1989138"/>
            <a:ext cx="5175885" cy="398780"/>
          </a:xfrm>
          <a:prstGeom prst="rect">
            <a:avLst/>
          </a:prstGeom>
          <a:noFill/>
          <a:ln w="9525">
            <a:noFill/>
          </a:ln>
        </p:spPr>
        <p:txBody>
          <a:bodyPr wrap="none">
            <a:spAutoFit/>
          </a:bodyPr>
          <a:lstStyle/>
          <a:p>
            <a:r>
              <a:rPr lang="zh-CN" altLang="en-US" sz="2000" dirty="0">
                <a:latin typeface="Times New Roman" panose="02020603050405020304" pitchFamily="18" charset="0"/>
              </a:rPr>
              <a:t>回路阻抗的模值和相角随</a:t>
            </a:r>
            <a:r>
              <a:rPr lang="en-US" altLang="zh-CN" sz="2000" dirty="0">
                <a:cs typeface="Times New Roman" panose="02020603050405020304" pitchFamily="18" charset="0"/>
              </a:rPr>
              <a:t>ω</a:t>
            </a:r>
            <a:r>
              <a:rPr lang="zh-CN" altLang="en-US" sz="2000" dirty="0">
                <a:latin typeface="Times New Roman" panose="02020603050405020304" pitchFamily="18" charset="0"/>
              </a:rPr>
              <a:t>的变化曲线如下：</a:t>
            </a:r>
            <a:endParaRPr lang="zh-CN" altLang="en-US" sz="2000" dirty="0">
              <a:latin typeface="Times New Roman" panose="02020603050405020304" pitchFamily="18" charset="0"/>
            </a:endParaRPr>
          </a:p>
        </p:txBody>
      </p:sp>
      <p:graphicFrame>
        <p:nvGraphicFramePr>
          <p:cNvPr id="17410" name="Object 11"/>
          <p:cNvGraphicFramePr/>
          <p:nvPr/>
        </p:nvGraphicFramePr>
        <p:xfrm>
          <a:off x="6299835" y="1395413"/>
          <a:ext cx="1728788" cy="520700"/>
        </p:xfrm>
        <a:graphic>
          <a:graphicData uri="http://schemas.openxmlformats.org/presentationml/2006/ole">
            <mc:AlternateContent xmlns:mc="http://schemas.openxmlformats.org/markup-compatibility/2006">
              <mc:Choice xmlns:v="urn:schemas-microsoft-com:vml" Requires="v">
                <p:oleObj spid="_x0000_s2" name="" r:id="rId1" imgW="927100" imgH="279400" progId="Equation.DSMT4">
                  <p:embed/>
                </p:oleObj>
              </mc:Choice>
              <mc:Fallback>
                <p:oleObj name="" r:id="rId1" imgW="927100" imgH="279400" progId="Equation.DSMT4">
                  <p:embed/>
                  <p:pic>
                    <p:nvPicPr>
                      <p:cNvPr id="0" name="图片 3174"/>
                      <p:cNvPicPr/>
                      <p:nvPr/>
                    </p:nvPicPr>
                    <p:blipFill>
                      <a:blip r:embed="rId2"/>
                      <a:stretch>
                        <a:fillRect/>
                      </a:stretch>
                    </p:blipFill>
                    <p:spPr>
                      <a:xfrm>
                        <a:off x="6299835" y="1395413"/>
                        <a:ext cx="1728788" cy="520700"/>
                      </a:xfrm>
                      <a:prstGeom prst="rect">
                        <a:avLst/>
                      </a:prstGeom>
                      <a:noFill/>
                      <a:ln w="38100">
                        <a:noFill/>
                        <a:miter/>
                      </a:ln>
                    </p:spPr>
                  </p:pic>
                </p:oleObj>
              </mc:Fallback>
            </mc:AlternateContent>
          </a:graphicData>
        </a:graphic>
      </p:graphicFrame>
      <p:grpSp>
        <p:nvGrpSpPr>
          <p:cNvPr id="17421" name="Group 12"/>
          <p:cNvGrpSpPr/>
          <p:nvPr/>
        </p:nvGrpSpPr>
        <p:grpSpPr>
          <a:xfrm>
            <a:off x="6084888" y="1900238"/>
            <a:ext cx="1847850" cy="412750"/>
            <a:chOff x="884" y="3771"/>
            <a:chExt cx="1164" cy="260"/>
          </a:xfrm>
        </p:grpSpPr>
        <p:sp>
          <p:nvSpPr>
            <p:cNvPr id="17429" name="Text Box 13"/>
            <p:cNvSpPr txBox="1"/>
            <p:nvPr/>
          </p:nvSpPr>
          <p:spPr>
            <a:xfrm>
              <a:off x="884" y="3781"/>
              <a:ext cx="596" cy="250"/>
            </a:xfrm>
            <a:prstGeom prst="rect">
              <a:avLst/>
            </a:prstGeom>
            <a:noFill/>
            <a:ln w="9525">
              <a:noFill/>
            </a:ln>
          </p:spPr>
          <p:txBody>
            <a:bodyPr wrap="none">
              <a:spAutoFit/>
            </a:bodyPr>
            <a:lstStyle/>
            <a:p>
              <a:r>
                <a:rPr lang="zh-CN" altLang="en-US" sz="2000" dirty="0">
                  <a:solidFill>
                    <a:srgbClr val="FF0066"/>
                  </a:solidFill>
                  <a:latin typeface="Times New Roman" panose="02020603050405020304" pitchFamily="18" charset="0"/>
                </a:rPr>
                <a:t>相角</a:t>
              </a:r>
              <a:r>
                <a:rPr lang="zh-CN" altLang="en-US" sz="2000" dirty="0">
                  <a:latin typeface="Times New Roman" panose="02020603050405020304" pitchFamily="18" charset="0"/>
                </a:rPr>
                <a:t>：</a:t>
              </a:r>
              <a:endParaRPr lang="zh-CN" altLang="en-US" sz="2000" dirty="0">
                <a:latin typeface="Times New Roman" panose="02020603050405020304" pitchFamily="18" charset="0"/>
              </a:endParaRPr>
            </a:p>
          </p:txBody>
        </p:sp>
        <p:graphicFrame>
          <p:nvGraphicFramePr>
            <p:cNvPr id="17415" name="Object 14"/>
            <p:cNvGraphicFramePr/>
            <p:nvPr/>
          </p:nvGraphicFramePr>
          <p:xfrm>
            <a:off x="1368" y="3771"/>
            <a:ext cx="680" cy="260"/>
          </p:xfrm>
          <a:graphic>
            <a:graphicData uri="http://schemas.openxmlformats.org/presentationml/2006/ole">
              <mc:AlternateContent xmlns:mc="http://schemas.openxmlformats.org/markup-compatibility/2006">
                <mc:Choice xmlns:v="urn:schemas-microsoft-com:vml" Requires="v">
                  <p:oleObj spid="_x0000_s3" name="" r:id="rId3" imgW="596900" imgH="228600" progId="Equation.DSMT4">
                    <p:embed/>
                  </p:oleObj>
                </mc:Choice>
                <mc:Fallback>
                  <p:oleObj name="" r:id="rId3" imgW="596900" imgH="228600" progId="Equation.DSMT4">
                    <p:embed/>
                    <p:pic>
                      <p:nvPicPr>
                        <p:cNvPr id="0" name="图片 3182"/>
                        <p:cNvPicPr/>
                        <p:nvPr/>
                      </p:nvPicPr>
                      <p:blipFill>
                        <a:blip r:embed="rId4"/>
                        <a:stretch>
                          <a:fillRect/>
                        </a:stretch>
                      </p:blipFill>
                      <p:spPr>
                        <a:xfrm>
                          <a:off x="1368" y="3771"/>
                          <a:ext cx="680" cy="260"/>
                        </a:xfrm>
                        <a:prstGeom prst="rect">
                          <a:avLst/>
                        </a:prstGeom>
                        <a:noFill/>
                        <a:ln w="38100">
                          <a:noFill/>
                          <a:miter/>
                        </a:ln>
                      </p:spPr>
                    </p:pic>
                  </p:oleObj>
                </mc:Fallback>
              </mc:AlternateContent>
            </a:graphicData>
          </a:graphic>
        </p:graphicFrame>
      </p:grpSp>
      <p:grpSp>
        <p:nvGrpSpPr>
          <p:cNvPr id="4" name="Group 26"/>
          <p:cNvGrpSpPr/>
          <p:nvPr/>
        </p:nvGrpSpPr>
        <p:grpSpPr>
          <a:xfrm>
            <a:off x="323850" y="2649538"/>
            <a:ext cx="2663826" cy="2403475"/>
            <a:chOff x="249" y="1745"/>
            <a:chExt cx="1678" cy="1514"/>
          </a:xfrm>
        </p:grpSpPr>
        <p:graphicFrame>
          <p:nvGraphicFramePr>
            <p:cNvPr id="17414" name="Object 16"/>
            <p:cNvGraphicFramePr/>
            <p:nvPr/>
          </p:nvGraphicFramePr>
          <p:xfrm>
            <a:off x="249" y="1745"/>
            <a:ext cx="1678" cy="1306"/>
          </p:xfrm>
          <a:graphic>
            <a:graphicData uri="http://schemas.openxmlformats.org/presentationml/2006/ole">
              <mc:AlternateContent xmlns:mc="http://schemas.openxmlformats.org/markup-compatibility/2006">
                <mc:Choice xmlns:v="urn:schemas-microsoft-com:vml" Requires="v">
                  <p:oleObj spid="_x0000_s5" name="" r:id="rId5" imgW="1739265" imgH="1336040" progId="Visio.Drawing.6">
                    <p:embed/>
                  </p:oleObj>
                </mc:Choice>
                <mc:Fallback>
                  <p:oleObj name="" r:id="rId5" imgW="1739265" imgH="1336040" progId="Visio.Drawing.6">
                    <p:embed/>
                    <p:pic>
                      <p:nvPicPr>
                        <p:cNvPr id="0" name="图片 3170"/>
                        <p:cNvPicPr/>
                        <p:nvPr/>
                      </p:nvPicPr>
                      <p:blipFill>
                        <a:blip r:embed="rId6"/>
                        <a:stretch>
                          <a:fillRect/>
                        </a:stretch>
                      </p:blipFill>
                      <p:spPr>
                        <a:xfrm>
                          <a:off x="249" y="1745"/>
                          <a:ext cx="1678" cy="1306"/>
                        </a:xfrm>
                        <a:prstGeom prst="rect">
                          <a:avLst/>
                        </a:prstGeom>
                        <a:noFill/>
                        <a:ln w="38100">
                          <a:noFill/>
                          <a:miter/>
                        </a:ln>
                      </p:spPr>
                    </p:pic>
                  </p:oleObj>
                </mc:Fallback>
              </mc:AlternateContent>
            </a:graphicData>
          </a:graphic>
        </p:graphicFrame>
        <p:sp>
          <p:nvSpPr>
            <p:cNvPr id="17428" name="Text Box 17"/>
            <p:cNvSpPr txBox="1"/>
            <p:nvPr/>
          </p:nvSpPr>
          <p:spPr>
            <a:xfrm>
              <a:off x="657" y="3009"/>
              <a:ext cx="756" cy="250"/>
            </a:xfrm>
            <a:prstGeom prst="rect">
              <a:avLst/>
            </a:prstGeom>
            <a:noFill/>
            <a:ln w="9525">
              <a:noFill/>
            </a:ln>
          </p:spPr>
          <p:txBody>
            <a:bodyPr wrap="none">
              <a:spAutoFit/>
            </a:bodyPr>
            <a:lstStyle/>
            <a:p>
              <a:r>
                <a:rPr lang="zh-CN" altLang="en-US" sz="2000" dirty="0">
                  <a:latin typeface="Times New Roman" panose="02020603050405020304" pitchFamily="18" charset="0"/>
                </a:rPr>
                <a:t>幅频特性</a:t>
              </a:r>
              <a:endParaRPr lang="zh-CN" altLang="en-US" sz="2000" dirty="0">
                <a:latin typeface="Times New Roman" panose="02020603050405020304" pitchFamily="18" charset="0"/>
              </a:endParaRPr>
            </a:p>
          </p:txBody>
        </p:sp>
      </p:grpSp>
      <p:grpSp>
        <p:nvGrpSpPr>
          <p:cNvPr id="6" name="Group 25"/>
          <p:cNvGrpSpPr/>
          <p:nvPr/>
        </p:nvGrpSpPr>
        <p:grpSpPr>
          <a:xfrm>
            <a:off x="2987675" y="2510155"/>
            <a:ext cx="3095625" cy="2536284"/>
            <a:chOff x="1927" y="1570"/>
            <a:chExt cx="1950" cy="1654"/>
          </a:xfrm>
        </p:grpSpPr>
        <p:graphicFrame>
          <p:nvGraphicFramePr>
            <p:cNvPr id="17413" name="Object 19"/>
            <p:cNvGraphicFramePr/>
            <p:nvPr/>
          </p:nvGraphicFramePr>
          <p:xfrm>
            <a:off x="1927" y="1570"/>
            <a:ext cx="1950" cy="1520"/>
          </p:xfrm>
          <a:graphic>
            <a:graphicData uri="http://schemas.openxmlformats.org/presentationml/2006/ole">
              <mc:AlternateContent xmlns:mc="http://schemas.openxmlformats.org/markup-compatibility/2006">
                <mc:Choice xmlns:v="urn:schemas-microsoft-com:vml" Requires="v">
                  <p:oleObj spid="_x0000_s7" name="" r:id="rId7" imgW="5629910" imgH="4051935" progId="Visio.Drawing.6">
                    <p:embed/>
                  </p:oleObj>
                </mc:Choice>
                <mc:Fallback>
                  <p:oleObj name="" r:id="rId7" imgW="5629910" imgH="4051935" progId="Visio.Drawing.6">
                    <p:embed/>
                    <p:pic>
                      <p:nvPicPr>
                        <p:cNvPr id="0" name="图片 3181"/>
                        <p:cNvPicPr/>
                        <p:nvPr/>
                      </p:nvPicPr>
                      <p:blipFill>
                        <a:blip r:embed="rId8"/>
                        <a:stretch>
                          <a:fillRect/>
                        </a:stretch>
                      </p:blipFill>
                      <p:spPr>
                        <a:xfrm>
                          <a:off x="1927" y="1570"/>
                          <a:ext cx="1950" cy="1520"/>
                        </a:xfrm>
                        <a:prstGeom prst="rect">
                          <a:avLst/>
                        </a:prstGeom>
                        <a:noFill/>
                        <a:ln w="38100">
                          <a:noFill/>
                          <a:miter/>
                        </a:ln>
                      </p:spPr>
                    </p:pic>
                  </p:oleObj>
                </mc:Fallback>
              </mc:AlternateContent>
            </a:graphicData>
          </a:graphic>
        </p:graphicFrame>
        <p:sp>
          <p:nvSpPr>
            <p:cNvPr id="17427" name="Text Box 20"/>
            <p:cNvSpPr txBox="1"/>
            <p:nvPr/>
          </p:nvSpPr>
          <p:spPr>
            <a:xfrm>
              <a:off x="2517" y="2964"/>
              <a:ext cx="756" cy="260"/>
            </a:xfrm>
            <a:prstGeom prst="rect">
              <a:avLst/>
            </a:prstGeom>
            <a:noFill/>
            <a:ln w="9525">
              <a:noFill/>
            </a:ln>
          </p:spPr>
          <p:txBody>
            <a:bodyPr>
              <a:spAutoFit/>
            </a:bodyPr>
            <a:lstStyle/>
            <a:p>
              <a:r>
                <a:rPr lang="zh-CN" altLang="en-US" sz="2000" dirty="0">
                  <a:latin typeface="Times New Roman" panose="02020603050405020304" pitchFamily="18" charset="0"/>
                </a:rPr>
                <a:t>相频特性</a:t>
              </a:r>
              <a:endParaRPr lang="zh-CN" altLang="en-US" sz="2000" dirty="0">
                <a:latin typeface="Times New Roman" panose="02020603050405020304" pitchFamily="18" charset="0"/>
              </a:endParaRPr>
            </a:p>
          </p:txBody>
        </p:sp>
      </p:grpSp>
      <p:grpSp>
        <p:nvGrpSpPr>
          <p:cNvPr id="8" name="Group 24"/>
          <p:cNvGrpSpPr/>
          <p:nvPr/>
        </p:nvGrpSpPr>
        <p:grpSpPr>
          <a:xfrm>
            <a:off x="6154737" y="2492375"/>
            <a:ext cx="2565400" cy="2486026"/>
            <a:chOff x="3922" y="1797"/>
            <a:chExt cx="1616" cy="1566"/>
          </a:xfrm>
        </p:grpSpPr>
        <p:graphicFrame>
          <p:nvGraphicFramePr>
            <p:cNvPr id="17412" name="Object 22"/>
            <p:cNvGraphicFramePr/>
            <p:nvPr/>
          </p:nvGraphicFramePr>
          <p:xfrm>
            <a:off x="3922" y="1797"/>
            <a:ext cx="1616" cy="1426"/>
          </p:xfrm>
          <a:graphic>
            <a:graphicData uri="http://schemas.openxmlformats.org/presentationml/2006/ole">
              <mc:AlternateContent xmlns:mc="http://schemas.openxmlformats.org/markup-compatibility/2006">
                <mc:Choice xmlns:v="urn:schemas-microsoft-com:vml" Requires="v">
                  <p:oleObj spid="_x0000_s9" name="" r:id="rId9" imgW="1658620" imgH="1129665" progId="Visio.Drawing.6">
                    <p:embed/>
                  </p:oleObj>
                </mc:Choice>
                <mc:Fallback>
                  <p:oleObj name="" r:id="rId9" imgW="1658620" imgH="1129665" progId="Visio.Drawing.6">
                    <p:embed/>
                    <p:pic>
                      <p:nvPicPr>
                        <p:cNvPr id="0" name="图片 3180"/>
                        <p:cNvPicPr/>
                        <p:nvPr/>
                      </p:nvPicPr>
                      <p:blipFill>
                        <a:blip r:embed="rId10"/>
                        <a:stretch>
                          <a:fillRect/>
                        </a:stretch>
                      </p:blipFill>
                      <p:spPr>
                        <a:xfrm>
                          <a:off x="3922" y="1797"/>
                          <a:ext cx="1616" cy="1426"/>
                        </a:xfrm>
                        <a:prstGeom prst="rect">
                          <a:avLst/>
                        </a:prstGeom>
                        <a:noFill/>
                        <a:ln w="38100">
                          <a:noFill/>
                          <a:miter/>
                        </a:ln>
                      </p:spPr>
                    </p:pic>
                  </p:oleObj>
                </mc:Fallback>
              </mc:AlternateContent>
            </a:graphicData>
          </a:graphic>
        </p:graphicFrame>
        <p:sp>
          <p:nvSpPr>
            <p:cNvPr id="17426" name="Text Box 23"/>
            <p:cNvSpPr txBox="1"/>
            <p:nvPr/>
          </p:nvSpPr>
          <p:spPr>
            <a:xfrm>
              <a:off x="4240" y="3113"/>
              <a:ext cx="756" cy="250"/>
            </a:xfrm>
            <a:prstGeom prst="rect">
              <a:avLst/>
            </a:prstGeom>
            <a:noFill/>
            <a:ln w="9525">
              <a:noFill/>
            </a:ln>
          </p:spPr>
          <p:txBody>
            <a:bodyPr wrap="none">
              <a:spAutoFit/>
            </a:bodyPr>
            <a:lstStyle/>
            <a:p>
              <a:r>
                <a:rPr lang="zh-CN" altLang="en-US" sz="2000" dirty="0">
                  <a:latin typeface="Times New Roman" panose="02020603050405020304" pitchFamily="18" charset="0"/>
                </a:rPr>
                <a:t>电抗特性</a:t>
              </a:r>
              <a:endParaRPr lang="zh-CN" altLang="en-US" sz="2000" dirty="0">
                <a:latin typeface="Times New Roman" panose="02020603050405020304" pitchFamily="18" charset="0"/>
              </a:endParaRPr>
            </a:p>
          </p:txBody>
        </p:sp>
      </p:grpSp>
      <p:sp>
        <p:nvSpPr>
          <p:cNvPr id="371739" name="Text Box 27"/>
          <p:cNvSpPr txBox="1"/>
          <p:nvPr/>
        </p:nvSpPr>
        <p:spPr>
          <a:xfrm>
            <a:off x="1600200" y="5537200"/>
            <a:ext cx="509588" cy="457200"/>
          </a:xfrm>
          <a:prstGeom prst="rect">
            <a:avLst/>
          </a:prstGeom>
          <a:noFill/>
          <a:ln w="9525">
            <a:noFill/>
          </a:ln>
        </p:spPr>
        <p:txBody>
          <a:bodyPr wrap="none">
            <a:spAutoFit/>
          </a:bodyPr>
          <a:lstStyle/>
          <a:p>
            <a:r>
              <a:rPr lang="en-US" altLang="zh-CN" dirty="0">
                <a:latin typeface="Times New Roman" panose="02020603050405020304" pitchFamily="18" charset="0"/>
                <a:sym typeface="Wingdings" panose="05000000000000000000" pitchFamily="2" charset="2"/>
              </a:rPr>
              <a:t></a:t>
            </a:r>
            <a:endParaRPr lang="en-US" altLang="zh-CN" dirty="0">
              <a:latin typeface="Times New Roman" panose="02020603050405020304" pitchFamily="18" charset="0"/>
            </a:endParaRPr>
          </a:p>
        </p:txBody>
      </p:sp>
      <p:graphicFrame>
        <p:nvGraphicFramePr>
          <p:cNvPr id="371740" name="Object 28"/>
          <p:cNvGraphicFramePr/>
          <p:nvPr/>
        </p:nvGraphicFramePr>
        <p:xfrm>
          <a:off x="2195513" y="5157788"/>
          <a:ext cx="4679950" cy="1228725"/>
        </p:xfrm>
        <a:graphic>
          <a:graphicData uri="http://schemas.openxmlformats.org/presentationml/2006/ole">
            <mc:AlternateContent xmlns:mc="http://schemas.openxmlformats.org/markup-compatibility/2006">
              <mc:Choice xmlns:v="urn:schemas-microsoft-com:vml" Requires="v">
                <p:oleObj spid="_x0000_s10" name="" r:id="rId11" imgW="2806700" imgH="736600" progId="Equation.DSMT4">
                  <p:embed/>
                </p:oleObj>
              </mc:Choice>
              <mc:Fallback>
                <p:oleObj name="" r:id="rId11" imgW="2806700" imgH="736600" progId="Equation.DSMT4">
                  <p:embed/>
                  <p:pic>
                    <p:nvPicPr>
                      <p:cNvPr id="0" name="图片 3177"/>
                      <p:cNvPicPr/>
                      <p:nvPr/>
                    </p:nvPicPr>
                    <p:blipFill>
                      <a:blip r:embed="rId12"/>
                      <a:stretch>
                        <a:fillRect/>
                      </a:stretch>
                    </p:blipFill>
                    <p:spPr>
                      <a:xfrm>
                        <a:off x="2195513" y="5157788"/>
                        <a:ext cx="4679950" cy="1228725"/>
                      </a:xfrm>
                      <a:prstGeom prst="rect">
                        <a:avLst/>
                      </a:prstGeom>
                      <a:noFill/>
                      <a:ln w="38100">
                        <a:noFill/>
                        <a:miter/>
                      </a:ln>
                    </p:spPr>
                  </p:pic>
                </p:oleObj>
              </mc:Fallback>
            </mc:AlternateContent>
          </a:graphicData>
        </a:graphic>
      </p:graphicFrame>
      <p:sp>
        <p:nvSpPr>
          <p:cNvPr id="370692" name="Text Box 4"/>
          <p:cNvSpPr txBox="1"/>
          <p:nvPr/>
        </p:nvSpPr>
        <p:spPr>
          <a:xfrm>
            <a:off x="611188" y="1376045"/>
            <a:ext cx="5516880" cy="460375"/>
          </a:xfrm>
          <a:prstGeom prst="rect">
            <a:avLst/>
          </a:prstGeom>
          <a:noFill/>
          <a:ln w="9525">
            <a:noFill/>
          </a:ln>
        </p:spPr>
        <p:txBody>
          <a:bodyPr wrap="none">
            <a:spAutoFit/>
          </a:bodyPr>
          <a:lstStyle/>
          <a:p>
            <a:r>
              <a:rPr lang="zh-CN" altLang="en-US" dirty="0">
                <a:solidFill>
                  <a:schemeClr val="accent2"/>
                </a:solidFill>
                <a:latin typeface="Times New Roman" panose="02020603050405020304" pitchFamily="18" charset="0"/>
              </a:rPr>
              <a:t>（</a:t>
            </a:r>
            <a:r>
              <a:rPr lang="en-US" altLang="zh-CN" dirty="0">
                <a:solidFill>
                  <a:schemeClr val="accent2"/>
                </a:solidFill>
                <a:latin typeface="Times New Roman" panose="02020603050405020304" pitchFamily="18" charset="0"/>
              </a:rPr>
              <a:t>2</a:t>
            </a:r>
            <a:r>
              <a:rPr lang="zh-CN" altLang="en-US" dirty="0">
                <a:solidFill>
                  <a:schemeClr val="accent2"/>
                </a:solidFill>
                <a:latin typeface="Times New Roman" panose="02020603050405020304" pitchFamily="18" charset="0"/>
              </a:rPr>
              <a:t>）串联谐振回路（电感、电容串联）</a:t>
            </a:r>
            <a:endParaRPr lang="zh-CN" altLang="en-US" dirty="0">
              <a:solidFill>
                <a:schemeClr val="accent2"/>
              </a:solidFill>
              <a:latin typeface="Times New Roman" panose="02020603050405020304" pitchFamily="18" charset="0"/>
            </a:endParaRPr>
          </a:p>
        </p:txBody>
      </p:sp>
      <p:grpSp>
        <p:nvGrpSpPr>
          <p:cNvPr id="11272" name="Group 40"/>
          <p:cNvGrpSpPr/>
          <p:nvPr/>
        </p:nvGrpSpPr>
        <p:grpSpPr>
          <a:xfrm>
            <a:off x="1979613" y="388938"/>
            <a:ext cx="5334000" cy="519113"/>
            <a:chOff x="1287" y="432"/>
            <a:chExt cx="3360" cy="327"/>
          </a:xfrm>
        </p:grpSpPr>
        <p:sp>
          <p:nvSpPr>
            <p:cNvPr id="11280" name="Rectangle 41"/>
            <p:cNvSpPr/>
            <p:nvPr/>
          </p:nvSpPr>
          <p:spPr>
            <a:xfrm>
              <a:off x="1287" y="43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11281" name="Line 42"/>
            <p:cNvSpPr/>
            <p:nvPr/>
          </p:nvSpPr>
          <p:spPr>
            <a:xfrm>
              <a:off x="1469" y="749"/>
              <a:ext cx="3024" cy="0"/>
            </a:xfrm>
            <a:prstGeom prst="line">
              <a:avLst/>
            </a:prstGeom>
            <a:ln w="57150" cap="flat" cmpd="tri">
              <a:solidFill>
                <a:srgbClr val="FF00FF"/>
              </a:solidFill>
              <a:prstDash val="solid"/>
              <a:headEnd type="none" w="sm" len="sm"/>
              <a:tailEnd type="none" w="sm" len="sm"/>
            </a:ln>
          </p:spPr>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Text Box 41"/>
          <p:cNvSpPr txBox="1"/>
          <p:nvPr/>
        </p:nvSpPr>
        <p:spPr>
          <a:xfrm>
            <a:off x="0" y="908050"/>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grpSp>
        <p:nvGrpSpPr>
          <p:cNvPr id="3" name="Group 47"/>
          <p:cNvGrpSpPr/>
          <p:nvPr/>
        </p:nvGrpSpPr>
        <p:grpSpPr>
          <a:xfrm>
            <a:off x="179388" y="2781300"/>
            <a:ext cx="4267200" cy="3133725"/>
            <a:chOff x="113" y="1752"/>
            <a:chExt cx="2688" cy="1974"/>
          </a:xfrm>
        </p:grpSpPr>
        <p:graphicFrame>
          <p:nvGraphicFramePr>
            <p:cNvPr id="19459" name="Object 43"/>
            <p:cNvGraphicFramePr/>
            <p:nvPr/>
          </p:nvGraphicFramePr>
          <p:xfrm>
            <a:off x="295" y="1752"/>
            <a:ext cx="1968" cy="1698"/>
          </p:xfrm>
          <a:graphic>
            <a:graphicData uri="http://schemas.openxmlformats.org/presentationml/2006/ole">
              <mc:AlternateContent xmlns:mc="http://schemas.openxmlformats.org/markup-compatibility/2006">
                <mc:Choice xmlns:v="urn:schemas-microsoft-com:vml" Requires="v">
                  <p:oleObj spid="_x0000_s2" name="" r:id="rId1" imgW="1929130" imgH="1662430" progId="Visio.Drawing.4">
                    <p:embed/>
                  </p:oleObj>
                </mc:Choice>
                <mc:Fallback>
                  <p:oleObj name="" r:id="rId1" imgW="1929130" imgH="1662430" progId="Visio.Drawing.4">
                    <p:embed/>
                    <p:pic>
                      <p:nvPicPr>
                        <p:cNvPr id="0" name="图片 3173"/>
                        <p:cNvPicPr/>
                        <p:nvPr/>
                      </p:nvPicPr>
                      <p:blipFill>
                        <a:blip r:embed="rId2"/>
                        <a:stretch>
                          <a:fillRect/>
                        </a:stretch>
                      </p:blipFill>
                      <p:spPr>
                        <a:xfrm>
                          <a:off x="295" y="1752"/>
                          <a:ext cx="1968" cy="1698"/>
                        </a:xfrm>
                        <a:prstGeom prst="rect">
                          <a:avLst/>
                        </a:prstGeom>
                        <a:noFill/>
                        <a:ln w="38100">
                          <a:noFill/>
                          <a:miter/>
                        </a:ln>
                      </p:spPr>
                    </p:pic>
                  </p:oleObj>
                </mc:Fallback>
              </mc:AlternateContent>
            </a:graphicData>
          </a:graphic>
        </p:graphicFrame>
        <p:sp>
          <p:nvSpPr>
            <p:cNvPr id="19468" name="Text Box 44"/>
            <p:cNvSpPr txBox="1"/>
            <p:nvPr/>
          </p:nvSpPr>
          <p:spPr>
            <a:xfrm>
              <a:off x="113" y="3476"/>
              <a:ext cx="2688" cy="250"/>
            </a:xfrm>
            <a:prstGeom prst="rect">
              <a:avLst/>
            </a:prstGeom>
            <a:noFill/>
            <a:ln w="9525">
              <a:noFill/>
            </a:ln>
          </p:spPr>
          <p:txBody>
            <a:bodyPr>
              <a:spAutoFit/>
            </a:bodyPr>
            <a:lstStyle/>
            <a:p>
              <a:pPr algn="just">
                <a:spcBef>
                  <a:spcPct val="50000"/>
                </a:spcBef>
              </a:pPr>
              <a:r>
                <a:rPr lang="en-US" altLang="zh-CN" sz="2000" dirty="0">
                  <a:latin typeface="Times New Roman" panose="02020603050405020304" pitchFamily="18" charset="0"/>
                </a:rPr>
                <a:t>      </a:t>
              </a:r>
              <a:r>
                <a:rPr lang="zh-CN" altLang="en-US" sz="2000" dirty="0">
                  <a:latin typeface="Times New Roman" panose="02020603050405020304" pitchFamily="18" charset="0"/>
                </a:rPr>
                <a:t>串联谐振回路的谐振曲线</a:t>
              </a:r>
              <a:endParaRPr lang="zh-CN" altLang="en-US" sz="2000" dirty="0">
                <a:latin typeface="Times New Roman" panose="02020603050405020304" pitchFamily="18" charset="0"/>
              </a:endParaRPr>
            </a:p>
          </p:txBody>
        </p:sp>
      </p:grpSp>
      <p:grpSp>
        <p:nvGrpSpPr>
          <p:cNvPr id="4" name="Group 48"/>
          <p:cNvGrpSpPr/>
          <p:nvPr/>
        </p:nvGrpSpPr>
        <p:grpSpPr>
          <a:xfrm>
            <a:off x="4357053" y="2637155"/>
            <a:ext cx="4392612" cy="3276600"/>
            <a:chOff x="2789" y="1406"/>
            <a:chExt cx="2767" cy="2064"/>
          </a:xfrm>
        </p:grpSpPr>
        <p:graphicFrame>
          <p:nvGraphicFramePr>
            <p:cNvPr id="19458" name="Object 42"/>
            <p:cNvGraphicFramePr/>
            <p:nvPr/>
          </p:nvGraphicFramePr>
          <p:xfrm>
            <a:off x="2880" y="1406"/>
            <a:ext cx="2178" cy="1789"/>
          </p:xfrm>
          <a:graphic>
            <a:graphicData uri="http://schemas.openxmlformats.org/presentationml/2006/ole">
              <mc:AlternateContent xmlns:mc="http://schemas.openxmlformats.org/markup-compatibility/2006">
                <mc:Choice xmlns:v="urn:schemas-microsoft-com:vml" Requires="v">
                  <p:oleObj spid="_x0000_s5" name="" r:id="rId3" imgW="2011680" imgH="1641475" progId="Visio.Drawing.4">
                    <p:embed/>
                  </p:oleObj>
                </mc:Choice>
                <mc:Fallback>
                  <p:oleObj name="" r:id="rId3" imgW="2011680" imgH="1641475" progId="Visio.Drawing.4">
                    <p:embed/>
                    <p:pic>
                      <p:nvPicPr>
                        <p:cNvPr id="0" name="图片 3171"/>
                        <p:cNvPicPr/>
                        <p:nvPr/>
                      </p:nvPicPr>
                      <p:blipFill>
                        <a:blip r:embed="rId4"/>
                        <a:stretch>
                          <a:fillRect/>
                        </a:stretch>
                      </p:blipFill>
                      <p:spPr>
                        <a:xfrm>
                          <a:off x="2880" y="1406"/>
                          <a:ext cx="2178" cy="1789"/>
                        </a:xfrm>
                        <a:prstGeom prst="rect">
                          <a:avLst/>
                        </a:prstGeom>
                        <a:noFill/>
                        <a:ln w="38100">
                          <a:noFill/>
                          <a:miter/>
                        </a:ln>
                      </p:spPr>
                    </p:pic>
                  </p:oleObj>
                </mc:Fallback>
              </mc:AlternateContent>
            </a:graphicData>
          </a:graphic>
        </p:graphicFrame>
        <p:sp>
          <p:nvSpPr>
            <p:cNvPr id="19467" name="Text Box 45"/>
            <p:cNvSpPr txBox="1"/>
            <p:nvPr/>
          </p:nvSpPr>
          <p:spPr>
            <a:xfrm>
              <a:off x="2789" y="3220"/>
              <a:ext cx="2767" cy="250"/>
            </a:xfrm>
            <a:prstGeom prst="rect">
              <a:avLst/>
            </a:prstGeom>
            <a:noFill/>
            <a:ln w="9525">
              <a:noFill/>
            </a:ln>
          </p:spPr>
          <p:txBody>
            <a:bodyPr>
              <a:spAutoFit/>
            </a:bodyPr>
            <a:lstStyle/>
            <a:p>
              <a:pPr>
                <a:spcBef>
                  <a:spcPct val="50000"/>
                </a:spcBef>
              </a:pPr>
              <a:r>
                <a:rPr lang="zh-CN" altLang="en-US" sz="2000" dirty="0">
                  <a:latin typeface="Times New Roman" panose="02020603050405020304" pitchFamily="18" charset="0"/>
                </a:rPr>
                <a:t>串联回路在谐振时的电流、 电压关系 </a:t>
              </a:r>
              <a:endParaRPr lang="zh-CN" altLang="en-US" sz="2000" dirty="0">
                <a:latin typeface="Times New Roman" panose="02020603050405020304" pitchFamily="18" charset="0"/>
              </a:endParaRPr>
            </a:p>
          </p:txBody>
        </p:sp>
      </p:grpSp>
      <p:sp>
        <p:nvSpPr>
          <p:cNvPr id="12334" name="Rectangle 46"/>
          <p:cNvSpPr/>
          <p:nvPr/>
        </p:nvSpPr>
        <p:spPr>
          <a:xfrm>
            <a:off x="611188" y="2133600"/>
            <a:ext cx="3536950" cy="457200"/>
          </a:xfrm>
          <a:prstGeom prst="rect">
            <a:avLst/>
          </a:prstGeom>
          <a:noFill/>
          <a:ln w="9525">
            <a:noFill/>
          </a:ln>
        </p:spPr>
        <p:txBody>
          <a:bodyPr wrap="none">
            <a:spAutoFit/>
          </a:bodyPr>
          <a:lstStyle/>
          <a:p>
            <a:r>
              <a:rPr lang="zh-CN" altLang="en-US" sz="2000" dirty="0">
                <a:latin typeface="Times New Roman" panose="02020603050405020304" pitchFamily="18" charset="0"/>
              </a:rPr>
              <a:t>则串联谐振回路的谐振曲线</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370692" name="Text Box 4"/>
          <p:cNvSpPr txBox="1"/>
          <p:nvPr/>
        </p:nvSpPr>
        <p:spPr>
          <a:xfrm>
            <a:off x="611188" y="1376045"/>
            <a:ext cx="5516880" cy="460375"/>
          </a:xfrm>
          <a:prstGeom prst="rect">
            <a:avLst/>
          </a:prstGeom>
          <a:noFill/>
          <a:ln w="9525">
            <a:noFill/>
          </a:ln>
        </p:spPr>
        <p:txBody>
          <a:bodyPr wrap="none">
            <a:spAutoFit/>
          </a:bodyPr>
          <a:lstStyle/>
          <a:p>
            <a:r>
              <a:rPr lang="zh-CN" altLang="en-US" dirty="0">
                <a:solidFill>
                  <a:schemeClr val="accent2"/>
                </a:solidFill>
                <a:latin typeface="Times New Roman" panose="02020603050405020304" pitchFamily="18" charset="0"/>
              </a:rPr>
              <a:t>（</a:t>
            </a:r>
            <a:r>
              <a:rPr lang="en-US" altLang="zh-CN" dirty="0">
                <a:solidFill>
                  <a:schemeClr val="accent2"/>
                </a:solidFill>
                <a:latin typeface="Times New Roman" panose="02020603050405020304" pitchFamily="18" charset="0"/>
              </a:rPr>
              <a:t>2</a:t>
            </a:r>
            <a:r>
              <a:rPr lang="zh-CN" altLang="en-US" dirty="0">
                <a:solidFill>
                  <a:schemeClr val="accent2"/>
                </a:solidFill>
                <a:latin typeface="Times New Roman" panose="02020603050405020304" pitchFamily="18" charset="0"/>
              </a:rPr>
              <a:t>）串联谐振回路（电感、电容串联）</a:t>
            </a:r>
            <a:endParaRPr lang="zh-CN" altLang="en-US" dirty="0">
              <a:solidFill>
                <a:schemeClr val="accent2"/>
              </a:solidFill>
              <a:latin typeface="Times New Roman" panose="02020603050405020304" pitchFamily="18" charset="0"/>
            </a:endParaRPr>
          </a:p>
        </p:txBody>
      </p:sp>
      <p:grpSp>
        <p:nvGrpSpPr>
          <p:cNvPr id="11272" name="Group 40"/>
          <p:cNvGrpSpPr/>
          <p:nvPr/>
        </p:nvGrpSpPr>
        <p:grpSpPr>
          <a:xfrm>
            <a:off x="1979613" y="388938"/>
            <a:ext cx="5334000" cy="519113"/>
            <a:chOff x="1287" y="432"/>
            <a:chExt cx="3360" cy="327"/>
          </a:xfrm>
        </p:grpSpPr>
        <p:sp>
          <p:nvSpPr>
            <p:cNvPr id="11280" name="Rectangle 41"/>
            <p:cNvSpPr/>
            <p:nvPr/>
          </p:nvSpPr>
          <p:spPr>
            <a:xfrm>
              <a:off x="1287" y="43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11281" name="Line 42"/>
            <p:cNvSpPr/>
            <p:nvPr/>
          </p:nvSpPr>
          <p:spPr>
            <a:xfrm>
              <a:off x="1469" y="749"/>
              <a:ext cx="3024" cy="0"/>
            </a:xfrm>
            <a:prstGeom prst="line">
              <a:avLst/>
            </a:prstGeom>
            <a:ln w="57150" cap="flat" cmpd="tri">
              <a:solidFill>
                <a:srgbClr val="FF00FF"/>
              </a:solidFill>
              <a:prstDash val="solid"/>
              <a:headEnd type="none" w="sm" len="sm"/>
              <a:tailEnd type="none" w="sm" len="sm"/>
            </a:ln>
          </p:spPr>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7" name="Text Box 8"/>
          <p:cNvSpPr txBox="1"/>
          <p:nvPr/>
        </p:nvSpPr>
        <p:spPr>
          <a:xfrm>
            <a:off x="215900" y="1123950"/>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sp>
        <p:nvSpPr>
          <p:cNvPr id="20488" name="Rectangle 9"/>
          <p:cNvSpPr/>
          <p:nvPr/>
        </p:nvSpPr>
        <p:spPr>
          <a:xfrm>
            <a:off x="611188" y="2060575"/>
            <a:ext cx="8064500" cy="1920875"/>
          </a:xfrm>
          <a:prstGeom prst="rect">
            <a:avLst/>
          </a:prstGeom>
          <a:noFill/>
          <a:ln w="9525">
            <a:noFill/>
          </a:ln>
        </p:spPr>
        <p:txBody>
          <a:bodyPr>
            <a:spAutoFit/>
          </a:bodyPr>
          <a:lstStyle/>
          <a:p>
            <a:r>
              <a:rPr lang="zh-CN" altLang="en-US" sz="2000" b="1" dirty="0">
                <a:latin typeface="Times New Roman" panose="02020603050405020304" pitchFamily="18" charset="0"/>
              </a:rPr>
              <a:t>例 </a:t>
            </a:r>
            <a:r>
              <a:rPr lang="en-US" altLang="zh-CN" sz="2000" b="1" dirty="0">
                <a:latin typeface="Times New Roman" panose="02020603050405020304" pitchFamily="18" charset="0"/>
              </a:rPr>
              <a:t>1</a:t>
            </a:r>
            <a:r>
              <a:rPr lang="en-US" altLang="zh-CN" sz="2000" dirty="0">
                <a:latin typeface="Times New Roman" panose="02020603050405020304" pitchFamily="18" charset="0"/>
              </a:rPr>
              <a:t>  </a:t>
            </a:r>
            <a:r>
              <a:rPr lang="zh-CN" altLang="en-US" sz="2000" dirty="0">
                <a:latin typeface="Times New Roman" panose="02020603050405020304" pitchFamily="18" charset="0"/>
              </a:rPr>
              <a:t>设一放大器以简单并联振荡回路为负载</a:t>
            </a:r>
            <a:r>
              <a:rPr lang="en-US" altLang="zh-CN" sz="2000" dirty="0">
                <a:latin typeface="Times New Roman" panose="02020603050405020304" pitchFamily="18" charset="0"/>
              </a:rPr>
              <a:t>, </a:t>
            </a:r>
            <a:r>
              <a:rPr lang="zh-CN" altLang="en-US" sz="2000" dirty="0">
                <a:latin typeface="Times New Roman" panose="02020603050405020304" pitchFamily="18" charset="0"/>
              </a:rPr>
              <a:t>信号中心频率</a:t>
            </a:r>
            <a:r>
              <a:rPr lang="en-US" altLang="zh-CN" sz="2000" i="1" dirty="0">
                <a:latin typeface="Times New Roman" panose="02020603050405020304" pitchFamily="18" charset="0"/>
              </a:rPr>
              <a:t>f</a:t>
            </a:r>
            <a:r>
              <a:rPr lang="en-US" altLang="zh-CN" sz="2000" dirty="0">
                <a:latin typeface="Times New Roman" panose="02020603050405020304" pitchFamily="18" charset="0"/>
              </a:rPr>
              <a:t>s=10MHz, </a:t>
            </a:r>
            <a:r>
              <a:rPr lang="zh-CN" altLang="en-US" sz="2000" dirty="0">
                <a:latin typeface="Times New Roman" panose="02020603050405020304" pitchFamily="18" charset="0"/>
              </a:rPr>
              <a:t>回路电容</a:t>
            </a:r>
            <a:r>
              <a:rPr lang="en-US" altLang="zh-CN" sz="2000" i="1" dirty="0">
                <a:latin typeface="Times New Roman" panose="02020603050405020304" pitchFamily="18" charset="0"/>
              </a:rPr>
              <a:t>C</a:t>
            </a:r>
            <a:r>
              <a:rPr lang="en-US" altLang="zh-CN" sz="2000" dirty="0">
                <a:latin typeface="Times New Roman" panose="02020603050405020304" pitchFamily="18" charset="0"/>
              </a:rPr>
              <a:t>=50 pF, </a:t>
            </a:r>
            <a:endParaRPr lang="en-US" altLang="zh-CN" sz="2000" dirty="0">
              <a:latin typeface="Times New Roman" panose="02020603050405020304" pitchFamily="18" charset="0"/>
            </a:endParaRPr>
          </a:p>
          <a:p>
            <a:r>
              <a:rPr lang="en-US" altLang="zh-CN" sz="2000" dirty="0">
                <a:latin typeface="Times New Roman" panose="02020603050405020304" pitchFamily="18" charset="0"/>
              </a:rPr>
              <a:t>              (1) </a:t>
            </a:r>
            <a:r>
              <a:rPr lang="zh-CN" altLang="en-US" sz="2000" dirty="0">
                <a:latin typeface="Times New Roman" panose="02020603050405020304" pitchFamily="18" charset="0"/>
              </a:rPr>
              <a:t>试计算所需的线圈电感值。</a:t>
            </a:r>
            <a:endParaRPr lang="zh-CN" altLang="en-US" sz="2000" dirty="0">
              <a:latin typeface="Times New Roman" panose="02020603050405020304" pitchFamily="18" charset="0"/>
            </a:endParaRPr>
          </a:p>
          <a:p>
            <a:r>
              <a:rPr lang="zh-CN" altLang="en-US" sz="2000" dirty="0">
                <a:latin typeface="Times New Roman" panose="02020603050405020304" pitchFamily="18" charset="0"/>
              </a:rPr>
              <a:t>              </a:t>
            </a:r>
            <a:r>
              <a:rPr lang="en-US" altLang="zh-CN" sz="2000" dirty="0">
                <a:latin typeface="Times New Roman" panose="02020603050405020304" pitchFamily="18" charset="0"/>
              </a:rPr>
              <a:t>(2) </a:t>
            </a:r>
            <a:r>
              <a:rPr lang="zh-CN" altLang="en-US" sz="2000" dirty="0">
                <a:latin typeface="Times New Roman" panose="02020603050405020304" pitchFamily="18" charset="0"/>
              </a:rPr>
              <a:t>若线圈品质因数为</a:t>
            </a:r>
            <a:r>
              <a:rPr lang="en-US" altLang="zh-CN" sz="2000" i="1" dirty="0">
                <a:latin typeface="Times New Roman" panose="02020603050405020304" pitchFamily="18" charset="0"/>
              </a:rPr>
              <a:t>Q</a:t>
            </a:r>
            <a:r>
              <a:rPr lang="en-US" altLang="zh-CN" sz="2000" dirty="0">
                <a:latin typeface="Times New Roman" panose="02020603050405020304" pitchFamily="18" charset="0"/>
              </a:rPr>
              <a:t>=100, </a:t>
            </a:r>
            <a:r>
              <a:rPr lang="zh-CN" altLang="en-US" sz="2000" dirty="0">
                <a:latin typeface="Times New Roman" panose="02020603050405020304" pitchFamily="18" charset="0"/>
              </a:rPr>
              <a:t>试计算回路谐振电阻及回路带宽。 </a:t>
            </a:r>
            <a:endParaRPr lang="zh-CN" altLang="en-US" sz="2000" dirty="0">
              <a:latin typeface="Times New Roman" panose="02020603050405020304" pitchFamily="18" charset="0"/>
            </a:endParaRPr>
          </a:p>
          <a:p>
            <a:r>
              <a:rPr lang="zh-CN" altLang="en-US" sz="2000" dirty="0">
                <a:latin typeface="Times New Roman" panose="02020603050405020304" pitchFamily="18" charset="0"/>
              </a:rPr>
              <a:t>              </a:t>
            </a:r>
            <a:r>
              <a:rPr lang="en-US" altLang="zh-CN" sz="2000" dirty="0">
                <a:latin typeface="Times New Roman" panose="02020603050405020304" pitchFamily="18" charset="0"/>
              </a:rPr>
              <a:t>(3) </a:t>
            </a:r>
            <a:r>
              <a:rPr lang="zh-CN" altLang="en-US" sz="2000" dirty="0">
                <a:latin typeface="Times New Roman" panose="02020603050405020304" pitchFamily="18" charset="0"/>
              </a:rPr>
              <a:t>若放大器所需的带宽</a:t>
            </a:r>
            <a:r>
              <a:rPr lang="en-US" altLang="zh-CN" sz="2000" i="1" dirty="0">
                <a:latin typeface="Times New Roman" panose="02020603050405020304" pitchFamily="18" charset="0"/>
              </a:rPr>
              <a:t>B</a:t>
            </a:r>
            <a:r>
              <a:rPr lang="en-US" altLang="zh-CN" sz="2000" dirty="0">
                <a:latin typeface="Times New Roman" panose="02020603050405020304" pitchFamily="18" charset="0"/>
              </a:rPr>
              <a:t>=0.5 MHz, </a:t>
            </a:r>
            <a:r>
              <a:rPr lang="zh-CN" altLang="en-US" sz="2000" dirty="0">
                <a:latin typeface="Times New Roman" panose="02020603050405020304" pitchFamily="18" charset="0"/>
              </a:rPr>
              <a:t>则应在回路上并联多大电阻才能满足放大器所需带宽要求</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p:txBody>
      </p:sp>
      <p:sp>
        <p:nvSpPr>
          <p:cNvPr id="373770" name="Rectangle 10"/>
          <p:cNvSpPr/>
          <p:nvPr/>
        </p:nvSpPr>
        <p:spPr>
          <a:xfrm>
            <a:off x="971550" y="4149725"/>
            <a:ext cx="7488238" cy="396875"/>
          </a:xfrm>
          <a:prstGeom prst="rect">
            <a:avLst/>
          </a:prstGeom>
          <a:noFill/>
          <a:ln w="9525">
            <a:noFill/>
          </a:ln>
        </p:spPr>
        <p:txBody>
          <a:bodyPr>
            <a:spAutoFit/>
          </a:bodyPr>
          <a:lstStyle/>
          <a:p>
            <a:r>
              <a:rPr lang="zh-CN" altLang="en-US" sz="2000" b="1" dirty="0">
                <a:latin typeface="Times New Roman" panose="02020603050405020304" pitchFamily="18" charset="0"/>
              </a:rPr>
              <a:t>解</a:t>
            </a:r>
            <a:r>
              <a:rPr lang="zh-CN" altLang="en-US" sz="2000" dirty="0">
                <a:latin typeface="Times New Roman" panose="02020603050405020304" pitchFamily="18" charset="0"/>
              </a:rPr>
              <a:t>                </a:t>
            </a:r>
            <a:r>
              <a:rPr lang="en-US" altLang="zh-CN" sz="2000" dirty="0">
                <a:latin typeface="Times New Roman" panose="02020603050405020304" pitchFamily="18" charset="0"/>
              </a:rPr>
              <a:t>(1) </a:t>
            </a:r>
            <a:r>
              <a:rPr lang="zh-CN" altLang="en-US" sz="2000" dirty="0">
                <a:latin typeface="Times New Roman" panose="02020603050405020304" pitchFamily="18" charset="0"/>
              </a:rPr>
              <a:t>计算</a:t>
            </a:r>
            <a:r>
              <a:rPr lang="en-US" altLang="zh-CN" sz="2000" i="1" dirty="0">
                <a:latin typeface="Times New Roman" panose="02020603050405020304" pitchFamily="18" charset="0"/>
              </a:rPr>
              <a:t>L</a:t>
            </a:r>
            <a:r>
              <a:rPr lang="zh-CN" altLang="en-US" sz="2000" dirty="0">
                <a:latin typeface="Times New Roman" panose="02020603050405020304" pitchFamily="18" charset="0"/>
              </a:rPr>
              <a:t>值。</a:t>
            </a:r>
            <a:endParaRPr lang="zh-CN" altLang="en-US" sz="2000" dirty="0">
              <a:latin typeface="Times New Roman" panose="02020603050405020304" pitchFamily="18" charset="0"/>
            </a:endParaRPr>
          </a:p>
        </p:txBody>
      </p:sp>
      <p:graphicFrame>
        <p:nvGraphicFramePr>
          <p:cNvPr id="373771" name="Object 11"/>
          <p:cNvGraphicFramePr/>
          <p:nvPr/>
        </p:nvGraphicFramePr>
        <p:xfrm>
          <a:off x="2962275" y="4562475"/>
          <a:ext cx="2787650" cy="771525"/>
        </p:xfrm>
        <a:graphic>
          <a:graphicData uri="http://schemas.openxmlformats.org/presentationml/2006/ole">
            <mc:AlternateContent xmlns:mc="http://schemas.openxmlformats.org/markup-compatibility/2006">
              <mc:Choice xmlns:v="urn:schemas-microsoft-com:vml" Requires="v">
                <p:oleObj spid="_x0000_s2" name="" r:id="rId1" imgW="1561465" imgH="431800" progId="Equation.DSMT4">
                  <p:embed/>
                </p:oleObj>
              </mc:Choice>
              <mc:Fallback>
                <p:oleObj name="" r:id="rId1" imgW="1561465" imgH="431800" progId="Equation.DSMT4">
                  <p:embed/>
                  <p:pic>
                    <p:nvPicPr>
                      <p:cNvPr id="0" name="图片 3185"/>
                      <p:cNvPicPr/>
                      <p:nvPr/>
                    </p:nvPicPr>
                    <p:blipFill>
                      <a:blip r:embed="rId2"/>
                      <a:stretch>
                        <a:fillRect/>
                      </a:stretch>
                    </p:blipFill>
                    <p:spPr>
                      <a:xfrm>
                        <a:off x="2962275" y="4562475"/>
                        <a:ext cx="2787650" cy="771525"/>
                      </a:xfrm>
                      <a:prstGeom prst="rect">
                        <a:avLst/>
                      </a:prstGeom>
                      <a:noFill/>
                      <a:ln w="38100">
                        <a:noFill/>
                        <a:miter/>
                      </a:ln>
                    </p:spPr>
                  </p:pic>
                </p:oleObj>
              </mc:Fallback>
            </mc:AlternateContent>
          </a:graphicData>
        </a:graphic>
      </p:graphicFrame>
      <p:graphicFrame>
        <p:nvGraphicFramePr>
          <p:cNvPr id="373772" name="Object 12"/>
          <p:cNvGraphicFramePr/>
          <p:nvPr/>
        </p:nvGraphicFramePr>
        <p:xfrm>
          <a:off x="1403350" y="4581525"/>
          <a:ext cx="1223963" cy="733425"/>
        </p:xfrm>
        <a:graphic>
          <a:graphicData uri="http://schemas.openxmlformats.org/presentationml/2006/ole">
            <mc:AlternateContent xmlns:mc="http://schemas.openxmlformats.org/markup-compatibility/2006">
              <mc:Choice xmlns:v="urn:schemas-microsoft-com:vml" Requires="v">
                <p:oleObj spid="_x0000_s3" name="" r:id="rId3" imgW="698500" imgH="419100" progId="Equation.DSMT4">
                  <p:embed/>
                </p:oleObj>
              </mc:Choice>
              <mc:Fallback>
                <p:oleObj name="" r:id="rId3" imgW="698500" imgH="419100" progId="Equation.DSMT4">
                  <p:embed/>
                  <p:pic>
                    <p:nvPicPr>
                      <p:cNvPr id="0" name="图片 3184"/>
                      <p:cNvPicPr/>
                      <p:nvPr/>
                    </p:nvPicPr>
                    <p:blipFill>
                      <a:blip r:embed="rId4"/>
                      <a:stretch>
                        <a:fillRect/>
                      </a:stretch>
                    </p:blipFill>
                    <p:spPr>
                      <a:xfrm>
                        <a:off x="1403350" y="4581525"/>
                        <a:ext cx="1223963" cy="733425"/>
                      </a:xfrm>
                      <a:prstGeom prst="rect">
                        <a:avLst/>
                      </a:prstGeom>
                      <a:noFill/>
                      <a:ln w="38100">
                        <a:noFill/>
                        <a:miter/>
                      </a:ln>
                    </p:spPr>
                  </p:pic>
                </p:oleObj>
              </mc:Fallback>
            </mc:AlternateContent>
          </a:graphicData>
        </a:graphic>
      </p:graphicFrame>
      <p:graphicFrame>
        <p:nvGraphicFramePr>
          <p:cNvPr id="373773" name="Object 13"/>
          <p:cNvGraphicFramePr/>
          <p:nvPr/>
        </p:nvGraphicFramePr>
        <p:xfrm>
          <a:off x="2987675" y="5661025"/>
          <a:ext cx="1603375" cy="307975"/>
        </p:xfrm>
        <a:graphic>
          <a:graphicData uri="http://schemas.openxmlformats.org/presentationml/2006/ole">
            <mc:AlternateContent xmlns:mc="http://schemas.openxmlformats.org/markup-compatibility/2006">
              <mc:Choice xmlns:v="urn:schemas-microsoft-com:vml" Requires="v">
                <p:oleObj spid="_x0000_s4" name="" r:id="rId5" imgW="925195" imgH="177800" progId="Equation.DSMT4">
                  <p:embed/>
                </p:oleObj>
              </mc:Choice>
              <mc:Fallback>
                <p:oleObj name="" r:id="rId5" imgW="925195" imgH="177800" progId="Equation.DSMT4">
                  <p:embed/>
                  <p:pic>
                    <p:nvPicPr>
                      <p:cNvPr id="0" name="图片 3183"/>
                      <p:cNvPicPr/>
                      <p:nvPr/>
                    </p:nvPicPr>
                    <p:blipFill>
                      <a:blip r:embed="rId6"/>
                      <a:stretch>
                        <a:fillRect/>
                      </a:stretch>
                    </p:blipFill>
                    <p:spPr>
                      <a:xfrm>
                        <a:off x="2987675" y="5661025"/>
                        <a:ext cx="1603375" cy="307975"/>
                      </a:xfrm>
                      <a:prstGeom prst="rect">
                        <a:avLst/>
                      </a:prstGeom>
                      <a:noFill/>
                      <a:ln w="38100">
                        <a:noFill/>
                        <a:miter/>
                      </a:ln>
                    </p:spPr>
                  </p:pic>
                </p:oleObj>
              </mc:Fallback>
            </mc:AlternateContent>
          </a:graphicData>
        </a:graphic>
      </p:graphicFrame>
      <p:grpSp>
        <p:nvGrpSpPr>
          <p:cNvPr id="11272" name="Group 40"/>
          <p:cNvGrpSpPr/>
          <p:nvPr/>
        </p:nvGrpSpPr>
        <p:grpSpPr>
          <a:xfrm>
            <a:off x="1979613" y="388938"/>
            <a:ext cx="5334000" cy="519113"/>
            <a:chOff x="1287" y="432"/>
            <a:chExt cx="3360" cy="327"/>
          </a:xfrm>
        </p:grpSpPr>
        <p:sp>
          <p:nvSpPr>
            <p:cNvPr id="11280" name="Rectangle 41"/>
            <p:cNvSpPr/>
            <p:nvPr/>
          </p:nvSpPr>
          <p:spPr>
            <a:xfrm>
              <a:off x="1287" y="43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11281" name="Line 42"/>
            <p:cNvSpPr/>
            <p:nvPr/>
          </p:nvSpPr>
          <p:spPr>
            <a:xfrm>
              <a:off x="1469" y="749"/>
              <a:ext cx="3024" cy="0"/>
            </a:xfrm>
            <a:prstGeom prst="line">
              <a:avLst/>
            </a:prstGeom>
            <a:ln w="57150" cap="flat" cmpd="tri">
              <a:solidFill>
                <a:srgbClr val="FF00FF"/>
              </a:solidFill>
              <a:prstDash val="solid"/>
              <a:headEnd type="none" w="sm" len="sm"/>
              <a:tailEnd type="none" w="sm" len="sm"/>
            </a:ln>
          </p:spPr>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3770"/>
                                        </p:tgtEl>
                                        <p:attrNameLst>
                                          <p:attrName>style.visibility</p:attrName>
                                        </p:attrNameLst>
                                      </p:cBhvr>
                                      <p:to>
                                        <p:strVal val="visible"/>
                                      </p:to>
                                    </p:set>
                                    <p:animEffect transition="in" filter="wipe(left)">
                                      <p:cBhvr>
                                        <p:cTn id="7" dur="500"/>
                                        <p:tgtEl>
                                          <p:spTgt spid="37377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73772"/>
                                        </p:tgtEl>
                                        <p:attrNameLst>
                                          <p:attrName>style.visibility</p:attrName>
                                        </p:attrNameLst>
                                      </p:cBhvr>
                                      <p:to>
                                        <p:strVal val="visible"/>
                                      </p:to>
                                    </p:set>
                                    <p:animEffect transition="in" filter="wipe(left)">
                                      <p:cBhvr>
                                        <p:cTn id="12" dur="500"/>
                                        <p:tgtEl>
                                          <p:spTgt spid="37377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73771"/>
                                        </p:tgtEl>
                                        <p:attrNameLst>
                                          <p:attrName>style.visibility</p:attrName>
                                        </p:attrNameLst>
                                      </p:cBhvr>
                                      <p:to>
                                        <p:strVal val="visible"/>
                                      </p:to>
                                    </p:set>
                                    <p:animEffect transition="in" filter="wipe(left)">
                                      <p:cBhvr>
                                        <p:cTn id="17" dur="500"/>
                                        <p:tgtEl>
                                          <p:spTgt spid="37377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73773"/>
                                        </p:tgtEl>
                                        <p:attrNameLst>
                                          <p:attrName>style.visibility</p:attrName>
                                        </p:attrNameLst>
                                      </p:cBhvr>
                                      <p:to>
                                        <p:strVal val="visible"/>
                                      </p:to>
                                    </p:set>
                                    <p:animEffect transition="in" filter="wipe(left)">
                                      <p:cBhvr>
                                        <p:cTn id="22" dur="500"/>
                                        <p:tgtEl>
                                          <p:spTgt spid="3737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7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45" name="Text Box 9"/>
          <p:cNvSpPr txBox="1"/>
          <p:nvPr/>
        </p:nvSpPr>
        <p:spPr>
          <a:xfrm>
            <a:off x="0" y="908050"/>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sp>
        <p:nvSpPr>
          <p:cNvPr id="372746" name="Text Box 10"/>
          <p:cNvSpPr txBox="1"/>
          <p:nvPr/>
        </p:nvSpPr>
        <p:spPr>
          <a:xfrm>
            <a:off x="590550" y="1772603"/>
            <a:ext cx="1962150" cy="396875"/>
          </a:xfrm>
          <a:prstGeom prst="rect">
            <a:avLst/>
          </a:prstGeom>
          <a:noFill/>
          <a:ln w="9525">
            <a:noFill/>
          </a:ln>
        </p:spPr>
        <p:txBody>
          <a:bodyPr wrap="none">
            <a:spAutoFit/>
          </a:bodyPr>
          <a:lstStyle/>
          <a:p>
            <a:r>
              <a:rPr lang="zh-CN" altLang="en-US" sz="2000" dirty="0">
                <a:latin typeface="Times New Roman" panose="02020603050405020304" pitchFamily="18" charset="0"/>
              </a:rPr>
              <a:t>回路的</a:t>
            </a:r>
            <a:r>
              <a:rPr lang="zh-CN" altLang="en-US" sz="2000" dirty="0">
                <a:solidFill>
                  <a:srgbClr val="FF0066"/>
                </a:solidFill>
                <a:latin typeface="Times New Roman" panose="02020603050405020304" pitchFamily="18" charset="0"/>
              </a:rPr>
              <a:t>电流特性</a:t>
            </a:r>
            <a:endParaRPr lang="zh-CN" altLang="en-US" sz="2000" dirty="0">
              <a:latin typeface="Times New Roman" panose="02020603050405020304" pitchFamily="18" charset="0"/>
            </a:endParaRPr>
          </a:p>
        </p:txBody>
      </p:sp>
      <p:graphicFrame>
        <p:nvGraphicFramePr>
          <p:cNvPr id="372748" name="Object 12"/>
          <p:cNvGraphicFramePr/>
          <p:nvPr/>
        </p:nvGraphicFramePr>
        <p:xfrm>
          <a:off x="4107180" y="2853055"/>
          <a:ext cx="878205" cy="783590"/>
        </p:xfrm>
        <a:graphic>
          <a:graphicData uri="http://schemas.openxmlformats.org/presentationml/2006/ole">
            <mc:AlternateContent xmlns:mc="http://schemas.openxmlformats.org/markup-compatibility/2006">
              <mc:Choice xmlns:v="urn:schemas-microsoft-com:vml" Requires="v">
                <p:oleObj spid="_x0000_s2" name="" r:id="rId1" imgW="469900" imgH="419100" progId="Equation.DSMT4">
                  <p:embed/>
                </p:oleObj>
              </mc:Choice>
              <mc:Fallback>
                <p:oleObj name="" r:id="rId1" imgW="469900" imgH="419100" progId="Equation.DSMT4">
                  <p:embed/>
                  <p:pic>
                    <p:nvPicPr>
                      <p:cNvPr id="0" name="图片 3165"/>
                      <p:cNvPicPr/>
                      <p:nvPr/>
                    </p:nvPicPr>
                    <p:blipFill>
                      <a:blip r:embed="rId2"/>
                      <a:stretch>
                        <a:fillRect/>
                      </a:stretch>
                    </p:blipFill>
                    <p:spPr>
                      <a:xfrm>
                        <a:off x="4107180" y="2853055"/>
                        <a:ext cx="878205" cy="783590"/>
                      </a:xfrm>
                      <a:prstGeom prst="rect">
                        <a:avLst/>
                      </a:prstGeom>
                      <a:noFill/>
                      <a:ln w="38100">
                        <a:noFill/>
                        <a:miter/>
                      </a:ln>
                    </p:spPr>
                  </p:pic>
                </p:oleObj>
              </mc:Fallback>
            </mc:AlternateContent>
          </a:graphicData>
        </a:graphic>
      </p:graphicFrame>
      <p:grpSp>
        <p:nvGrpSpPr>
          <p:cNvPr id="3" name="Group 20"/>
          <p:cNvGrpSpPr/>
          <p:nvPr/>
        </p:nvGrpSpPr>
        <p:grpSpPr>
          <a:xfrm>
            <a:off x="252413" y="3789045"/>
            <a:ext cx="6049962" cy="504825"/>
            <a:chOff x="294" y="3022"/>
            <a:chExt cx="3811" cy="318"/>
          </a:xfrm>
        </p:grpSpPr>
        <p:sp>
          <p:nvSpPr>
            <p:cNvPr id="18453" name="Text Box 14"/>
            <p:cNvSpPr txBox="1"/>
            <p:nvPr/>
          </p:nvSpPr>
          <p:spPr>
            <a:xfrm>
              <a:off x="294" y="3067"/>
              <a:ext cx="3811" cy="250"/>
            </a:xfrm>
            <a:prstGeom prst="rect">
              <a:avLst/>
            </a:prstGeom>
            <a:noFill/>
            <a:ln w="9525">
              <a:noFill/>
            </a:ln>
          </p:spPr>
          <p:txBody>
            <a:bodyPr>
              <a:spAutoFit/>
            </a:bodyPr>
            <a:lstStyle/>
            <a:p>
              <a:pPr algn="just">
                <a:spcBef>
                  <a:spcPct val="50000"/>
                </a:spcBef>
              </a:pPr>
              <a:r>
                <a:rPr lang="en-US" altLang="zh-CN" sz="2000" dirty="0">
                  <a:latin typeface="Times New Roman" panose="02020603050405020304" pitchFamily="18" charset="0"/>
                </a:rPr>
                <a:t>     </a:t>
              </a:r>
              <a:r>
                <a:rPr lang="zh-CN" altLang="en-US" sz="2000" dirty="0">
                  <a:latin typeface="Times New Roman" panose="02020603050405020304" pitchFamily="18" charset="0"/>
                </a:rPr>
                <a:t>在任意频率下的回路电流   与谐振电流     之比为</a:t>
              </a:r>
              <a:endParaRPr lang="zh-CN" altLang="en-US" sz="2000" dirty="0">
                <a:latin typeface="Times New Roman" panose="02020603050405020304" pitchFamily="18" charset="0"/>
              </a:endParaRPr>
            </a:p>
          </p:txBody>
        </p:sp>
        <p:graphicFrame>
          <p:nvGraphicFramePr>
            <p:cNvPr id="18440" name="Object 15"/>
            <p:cNvGraphicFramePr/>
            <p:nvPr/>
          </p:nvGraphicFramePr>
          <p:xfrm>
            <a:off x="2336" y="3022"/>
            <a:ext cx="159" cy="238"/>
          </p:xfrm>
          <a:graphic>
            <a:graphicData uri="http://schemas.openxmlformats.org/presentationml/2006/ole">
              <mc:AlternateContent xmlns:mc="http://schemas.openxmlformats.org/markup-compatibility/2006">
                <mc:Choice xmlns:v="urn:schemas-microsoft-com:vml" Requires="v">
                  <p:oleObj spid="_x0000_s4" name="" r:id="rId3" imgW="127000" imgH="189865" progId="Equation.DSMT4">
                    <p:embed/>
                  </p:oleObj>
                </mc:Choice>
                <mc:Fallback>
                  <p:oleObj name="" r:id="rId3" imgW="127000" imgH="189865" progId="Equation.DSMT4">
                    <p:embed/>
                    <p:pic>
                      <p:nvPicPr>
                        <p:cNvPr id="0" name="图片 3178"/>
                        <p:cNvPicPr/>
                        <p:nvPr/>
                      </p:nvPicPr>
                      <p:blipFill>
                        <a:blip r:embed="rId4"/>
                        <a:stretch>
                          <a:fillRect/>
                        </a:stretch>
                      </p:blipFill>
                      <p:spPr>
                        <a:xfrm>
                          <a:off x="2336" y="3022"/>
                          <a:ext cx="159" cy="238"/>
                        </a:xfrm>
                        <a:prstGeom prst="rect">
                          <a:avLst/>
                        </a:prstGeom>
                        <a:noFill/>
                        <a:ln w="38100">
                          <a:noFill/>
                          <a:miter/>
                        </a:ln>
                      </p:spPr>
                    </p:pic>
                  </p:oleObj>
                </mc:Fallback>
              </mc:AlternateContent>
            </a:graphicData>
          </a:graphic>
        </p:graphicFrame>
        <p:graphicFrame>
          <p:nvGraphicFramePr>
            <p:cNvPr id="18441" name="Object 16"/>
            <p:cNvGraphicFramePr/>
            <p:nvPr/>
          </p:nvGraphicFramePr>
          <p:xfrm>
            <a:off x="3243" y="3067"/>
            <a:ext cx="173" cy="273"/>
          </p:xfrm>
          <a:graphic>
            <a:graphicData uri="http://schemas.openxmlformats.org/presentationml/2006/ole">
              <mc:AlternateContent xmlns:mc="http://schemas.openxmlformats.org/markup-compatibility/2006">
                <mc:Choice xmlns:v="urn:schemas-microsoft-com:vml" Requires="v">
                  <p:oleObj spid="_x0000_s5" name="" r:id="rId5" imgW="152400" imgH="241300" progId="Equation.DSMT4">
                    <p:embed/>
                  </p:oleObj>
                </mc:Choice>
                <mc:Fallback>
                  <p:oleObj name="" r:id="rId5" imgW="152400" imgH="241300" progId="Equation.DSMT4">
                    <p:embed/>
                    <p:pic>
                      <p:nvPicPr>
                        <p:cNvPr id="0" name="图片 3176"/>
                        <p:cNvPicPr/>
                        <p:nvPr/>
                      </p:nvPicPr>
                      <p:blipFill>
                        <a:blip r:embed="rId6"/>
                        <a:stretch>
                          <a:fillRect/>
                        </a:stretch>
                      </p:blipFill>
                      <p:spPr>
                        <a:xfrm>
                          <a:off x="3243" y="3067"/>
                          <a:ext cx="173" cy="273"/>
                        </a:xfrm>
                        <a:prstGeom prst="rect">
                          <a:avLst/>
                        </a:prstGeom>
                        <a:noFill/>
                        <a:ln w="38100">
                          <a:noFill/>
                          <a:miter/>
                        </a:ln>
                      </p:spPr>
                    </p:pic>
                  </p:oleObj>
                </mc:Fallback>
              </mc:AlternateContent>
            </a:graphicData>
          </a:graphic>
        </p:graphicFrame>
      </p:grpSp>
      <p:graphicFrame>
        <p:nvGraphicFramePr>
          <p:cNvPr id="372753" name="Object 17"/>
          <p:cNvGraphicFramePr/>
          <p:nvPr/>
        </p:nvGraphicFramePr>
        <p:xfrm>
          <a:off x="6156325" y="3573145"/>
          <a:ext cx="1704975" cy="876300"/>
        </p:xfrm>
        <a:graphic>
          <a:graphicData uri="http://schemas.openxmlformats.org/presentationml/2006/ole">
            <mc:AlternateContent xmlns:mc="http://schemas.openxmlformats.org/markup-compatibility/2006">
              <mc:Choice xmlns:v="urn:schemas-microsoft-com:vml" Requires="v">
                <p:oleObj spid="_x0000_s6" name="" r:id="rId7" imgW="889000" imgH="457200" progId="Equation.DSMT4">
                  <p:embed/>
                </p:oleObj>
              </mc:Choice>
              <mc:Fallback>
                <p:oleObj name="" r:id="rId7" imgW="889000" imgH="457200" progId="Equation.DSMT4">
                  <p:embed/>
                  <p:pic>
                    <p:nvPicPr>
                      <p:cNvPr id="0" name="图片 3175"/>
                      <p:cNvPicPr/>
                      <p:nvPr/>
                    </p:nvPicPr>
                    <p:blipFill>
                      <a:blip r:embed="rId8"/>
                      <a:stretch>
                        <a:fillRect/>
                      </a:stretch>
                    </p:blipFill>
                    <p:spPr>
                      <a:xfrm>
                        <a:off x="6156325" y="3573145"/>
                        <a:ext cx="1704975" cy="876300"/>
                      </a:xfrm>
                      <a:prstGeom prst="rect">
                        <a:avLst/>
                      </a:prstGeom>
                      <a:noFill/>
                      <a:ln w="38100">
                        <a:noFill/>
                        <a:miter/>
                      </a:ln>
                    </p:spPr>
                  </p:pic>
                </p:oleObj>
              </mc:Fallback>
            </mc:AlternateContent>
          </a:graphicData>
        </a:graphic>
      </p:graphicFrame>
      <p:grpSp>
        <p:nvGrpSpPr>
          <p:cNvPr id="7" name="Group 19"/>
          <p:cNvGrpSpPr/>
          <p:nvPr/>
        </p:nvGrpSpPr>
        <p:grpSpPr>
          <a:xfrm>
            <a:off x="611188" y="2153603"/>
            <a:ext cx="7940675" cy="722312"/>
            <a:chOff x="417" y="1661"/>
            <a:chExt cx="5002" cy="455"/>
          </a:xfrm>
        </p:grpSpPr>
        <p:sp>
          <p:nvSpPr>
            <p:cNvPr id="18452" name="Text Box 11"/>
            <p:cNvSpPr txBox="1"/>
            <p:nvPr/>
          </p:nvSpPr>
          <p:spPr>
            <a:xfrm>
              <a:off x="417" y="1674"/>
              <a:ext cx="5002" cy="442"/>
            </a:xfrm>
            <a:prstGeom prst="rect">
              <a:avLst/>
            </a:prstGeom>
            <a:noFill/>
            <a:ln w="9525">
              <a:noFill/>
            </a:ln>
          </p:spPr>
          <p:txBody>
            <a:bodyPr>
              <a:spAutoFit/>
            </a:bodyPr>
            <a:lstStyle/>
            <a:p>
              <a:r>
                <a:rPr lang="zh-CN" altLang="en-US" sz="2000" dirty="0">
                  <a:latin typeface="Times New Roman" panose="02020603050405020304" pitchFamily="18" charset="0"/>
                </a:rPr>
                <a:t>若在串联振荡回路两端加一恒压信号      </a:t>
              </a:r>
              <a:r>
                <a:rPr lang="en-US" altLang="zh-CN" sz="2000" dirty="0">
                  <a:latin typeface="Times New Roman" panose="02020603050405020304" pitchFamily="18" charset="0"/>
                </a:rPr>
                <a:t>, </a:t>
              </a:r>
              <a:r>
                <a:rPr lang="zh-CN" altLang="en-US" sz="2000" dirty="0">
                  <a:latin typeface="Times New Roman" panose="02020603050405020304" pitchFamily="18" charset="0"/>
                </a:rPr>
                <a:t>则发生串联谐振时因阻抗最小</a:t>
              </a:r>
              <a:r>
                <a:rPr lang="en-US" altLang="zh-CN" sz="2000" dirty="0">
                  <a:latin typeface="Times New Roman" panose="02020603050405020304" pitchFamily="18" charset="0"/>
                </a:rPr>
                <a:t>, </a:t>
              </a:r>
              <a:r>
                <a:rPr lang="zh-CN" altLang="en-US" sz="2000" dirty="0">
                  <a:latin typeface="Times New Roman" panose="02020603050405020304" pitchFamily="18" charset="0"/>
                </a:rPr>
                <a:t>流过电路的电流最大</a:t>
              </a:r>
              <a:r>
                <a:rPr lang="en-US" altLang="zh-CN" sz="2000" dirty="0">
                  <a:latin typeface="Times New Roman" panose="02020603050405020304" pitchFamily="18" charset="0"/>
                </a:rPr>
                <a:t>, </a:t>
              </a:r>
              <a:r>
                <a:rPr lang="zh-CN" altLang="en-US" sz="2000" dirty="0">
                  <a:latin typeface="Times New Roman" panose="02020603050405020304" pitchFamily="18" charset="0"/>
                </a:rPr>
                <a:t>称为</a:t>
              </a:r>
              <a:r>
                <a:rPr lang="zh-CN" altLang="en-US" sz="2000" dirty="0">
                  <a:solidFill>
                    <a:srgbClr val="FF0066"/>
                  </a:solidFill>
                  <a:latin typeface="Times New Roman" panose="02020603050405020304" pitchFamily="18" charset="0"/>
                </a:rPr>
                <a:t>谐振电流</a:t>
              </a:r>
              <a:r>
                <a:rPr lang="en-US" altLang="zh-CN" sz="2000" dirty="0">
                  <a:latin typeface="Times New Roman" panose="02020603050405020304" pitchFamily="18" charset="0"/>
                </a:rPr>
                <a:t>, </a:t>
              </a:r>
              <a:r>
                <a:rPr lang="zh-CN" altLang="en-US" sz="2000" dirty="0">
                  <a:latin typeface="Times New Roman" panose="02020603050405020304" pitchFamily="18" charset="0"/>
                </a:rPr>
                <a:t>其值为</a:t>
              </a:r>
              <a:endParaRPr lang="zh-CN" altLang="en-US" sz="2000" dirty="0">
                <a:latin typeface="Times New Roman" panose="02020603050405020304" pitchFamily="18" charset="0"/>
              </a:endParaRPr>
            </a:p>
          </p:txBody>
        </p:sp>
        <p:graphicFrame>
          <p:nvGraphicFramePr>
            <p:cNvPr id="18439" name="Object 18"/>
            <p:cNvGraphicFramePr/>
            <p:nvPr/>
          </p:nvGraphicFramePr>
          <p:xfrm>
            <a:off x="3061" y="1661"/>
            <a:ext cx="195" cy="240"/>
          </p:xfrm>
          <a:graphic>
            <a:graphicData uri="http://schemas.openxmlformats.org/presentationml/2006/ole">
              <mc:AlternateContent xmlns:mc="http://schemas.openxmlformats.org/markup-compatibility/2006">
                <mc:Choice xmlns:v="urn:schemas-microsoft-com:vml" Requires="v">
                  <p:oleObj spid="_x0000_s8" name="" r:id="rId9" imgW="165100" imgH="203200" progId="Equation.DSMT4">
                    <p:embed/>
                  </p:oleObj>
                </mc:Choice>
                <mc:Fallback>
                  <p:oleObj name="" r:id="rId9" imgW="165100" imgH="203200" progId="Equation.DSMT4">
                    <p:embed/>
                    <p:pic>
                      <p:nvPicPr>
                        <p:cNvPr id="0" name="图片 3179"/>
                        <p:cNvPicPr/>
                        <p:nvPr/>
                      </p:nvPicPr>
                      <p:blipFill>
                        <a:blip r:embed="rId10"/>
                        <a:stretch>
                          <a:fillRect/>
                        </a:stretch>
                      </p:blipFill>
                      <p:spPr>
                        <a:xfrm>
                          <a:off x="3061" y="1661"/>
                          <a:ext cx="195" cy="240"/>
                        </a:xfrm>
                        <a:prstGeom prst="rect">
                          <a:avLst/>
                        </a:prstGeom>
                        <a:noFill/>
                        <a:ln w="38100">
                          <a:noFill/>
                          <a:miter/>
                        </a:ln>
                      </p:spPr>
                    </p:pic>
                  </p:oleObj>
                </mc:Fallback>
              </mc:AlternateContent>
            </a:graphicData>
          </a:graphic>
        </p:graphicFrame>
      </p:grpSp>
      <p:sp>
        <p:nvSpPr>
          <p:cNvPr id="372757" name="Text Box 21"/>
          <p:cNvSpPr txBox="1"/>
          <p:nvPr/>
        </p:nvSpPr>
        <p:spPr>
          <a:xfrm>
            <a:off x="592138" y="4510088"/>
            <a:ext cx="742950" cy="457200"/>
          </a:xfrm>
          <a:prstGeom prst="rect">
            <a:avLst/>
          </a:prstGeom>
          <a:noFill/>
          <a:ln w="9525">
            <a:noFill/>
          </a:ln>
        </p:spPr>
        <p:txBody>
          <a:bodyPr wrap="none">
            <a:spAutoFit/>
          </a:bodyPr>
          <a:lstStyle/>
          <a:p>
            <a:r>
              <a:rPr lang="zh-CN" altLang="en-US" sz="2000" dirty="0">
                <a:latin typeface="Times New Roman" panose="02020603050405020304" pitchFamily="18" charset="0"/>
              </a:rPr>
              <a:t>则</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aphicFrame>
        <p:nvGraphicFramePr>
          <p:cNvPr id="372758" name="Object 22"/>
          <p:cNvGraphicFramePr/>
          <p:nvPr/>
        </p:nvGraphicFramePr>
        <p:xfrm>
          <a:off x="1331913" y="4365625"/>
          <a:ext cx="2447925" cy="752475"/>
        </p:xfrm>
        <a:graphic>
          <a:graphicData uri="http://schemas.openxmlformats.org/presentationml/2006/ole">
            <mc:AlternateContent xmlns:mc="http://schemas.openxmlformats.org/markup-compatibility/2006">
              <mc:Choice xmlns:v="urn:schemas-microsoft-com:vml" Requires="v">
                <p:oleObj spid="_x0000_s9" name="" r:id="rId11" imgW="1612265" imgH="495300" progId="Equation.DSMT4">
                  <p:embed/>
                </p:oleObj>
              </mc:Choice>
              <mc:Fallback>
                <p:oleObj name="" r:id="rId11" imgW="1612265" imgH="495300" progId="Equation.DSMT4">
                  <p:embed/>
                  <p:pic>
                    <p:nvPicPr>
                      <p:cNvPr id="0" name="图片 3167"/>
                      <p:cNvPicPr/>
                      <p:nvPr/>
                    </p:nvPicPr>
                    <p:blipFill>
                      <a:blip r:embed="rId12"/>
                      <a:stretch>
                        <a:fillRect/>
                      </a:stretch>
                    </p:blipFill>
                    <p:spPr>
                      <a:xfrm>
                        <a:off x="1331913" y="4365625"/>
                        <a:ext cx="2447925" cy="752475"/>
                      </a:xfrm>
                      <a:prstGeom prst="rect">
                        <a:avLst/>
                      </a:prstGeom>
                      <a:noFill/>
                      <a:ln w="38100">
                        <a:noFill/>
                        <a:miter/>
                      </a:ln>
                    </p:spPr>
                  </p:pic>
                </p:oleObj>
              </mc:Fallback>
            </mc:AlternateContent>
          </a:graphicData>
        </a:graphic>
      </p:graphicFrame>
      <p:grpSp>
        <p:nvGrpSpPr>
          <p:cNvPr id="10" name="Group 23"/>
          <p:cNvGrpSpPr/>
          <p:nvPr/>
        </p:nvGrpSpPr>
        <p:grpSpPr>
          <a:xfrm>
            <a:off x="592138" y="5245100"/>
            <a:ext cx="2971800" cy="744538"/>
            <a:chOff x="645" y="3521"/>
            <a:chExt cx="1872" cy="469"/>
          </a:xfrm>
        </p:grpSpPr>
        <p:sp>
          <p:nvSpPr>
            <p:cNvPr id="18451" name="Text Box 24"/>
            <p:cNvSpPr txBox="1"/>
            <p:nvPr/>
          </p:nvSpPr>
          <p:spPr>
            <a:xfrm>
              <a:off x="645" y="3644"/>
              <a:ext cx="436" cy="250"/>
            </a:xfrm>
            <a:prstGeom prst="rect">
              <a:avLst/>
            </a:prstGeom>
            <a:noFill/>
            <a:ln w="9525">
              <a:noFill/>
            </a:ln>
          </p:spPr>
          <p:txBody>
            <a:bodyPr wrap="none">
              <a:spAutoFit/>
            </a:bodyPr>
            <a:lstStyle/>
            <a:p>
              <a:r>
                <a:rPr lang="zh-CN" altLang="en-US" sz="2000" dirty="0">
                  <a:latin typeface="Times New Roman" panose="02020603050405020304" pitchFamily="18" charset="0"/>
                </a:rPr>
                <a:t>令：</a:t>
              </a:r>
              <a:endParaRPr lang="zh-CN" altLang="en-US" sz="2000" dirty="0">
                <a:latin typeface="Times New Roman" panose="02020603050405020304" pitchFamily="18" charset="0"/>
              </a:endParaRPr>
            </a:p>
          </p:txBody>
        </p:sp>
        <p:graphicFrame>
          <p:nvGraphicFramePr>
            <p:cNvPr id="18438" name="Object 25"/>
            <p:cNvGraphicFramePr/>
            <p:nvPr/>
          </p:nvGraphicFramePr>
          <p:xfrm>
            <a:off x="1111" y="3521"/>
            <a:ext cx="1406" cy="469"/>
          </p:xfrm>
          <a:graphic>
            <a:graphicData uri="http://schemas.openxmlformats.org/presentationml/2006/ole">
              <mc:AlternateContent xmlns:mc="http://schemas.openxmlformats.org/markup-compatibility/2006">
                <mc:Choice xmlns:v="urn:schemas-microsoft-com:vml" Requires="v">
                  <p:oleObj spid="_x0000_s11" name="" r:id="rId13" imgW="1371600" imgH="457200" progId="Equation.DSMT4">
                    <p:embed/>
                  </p:oleObj>
                </mc:Choice>
                <mc:Fallback>
                  <p:oleObj name="" r:id="rId13" imgW="1371600" imgH="457200" progId="Equation.DSMT4">
                    <p:embed/>
                    <p:pic>
                      <p:nvPicPr>
                        <p:cNvPr id="0" name="图片 3169"/>
                        <p:cNvPicPr/>
                        <p:nvPr/>
                      </p:nvPicPr>
                      <p:blipFill>
                        <a:blip r:embed="rId14"/>
                        <a:stretch>
                          <a:fillRect/>
                        </a:stretch>
                      </p:blipFill>
                      <p:spPr>
                        <a:xfrm>
                          <a:off x="1111" y="3521"/>
                          <a:ext cx="1406" cy="469"/>
                        </a:xfrm>
                        <a:prstGeom prst="rect">
                          <a:avLst/>
                        </a:prstGeom>
                        <a:noFill/>
                        <a:ln w="38100">
                          <a:noFill/>
                          <a:miter/>
                        </a:ln>
                      </p:spPr>
                    </p:pic>
                  </p:oleObj>
                </mc:Fallback>
              </mc:AlternateContent>
            </a:graphicData>
          </a:graphic>
        </p:graphicFrame>
      </p:grpSp>
      <p:graphicFrame>
        <p:nvGraphicFramePr>
          <p:cNvPr id="372762" name="Object 26"/>
          <p:cNvGraphicFramePr/>
          <p:nvPr/>
        </p:nvGraphicFramePr>
        <p:xfrm>
          <a:off x="3737769" y="5112544"/>
          <a:ext cx="4635500" cy="962025"/>
        </p:xfrm>
        <a:graphic>
          <a:graphicData uri="http://schemas.openxmlformats.org/presentationml/2006/ole">
            <mc:AlternateContent xmlns:mc="http://schemas.openxmlformats.org/markup-compatibility/2006">
              <mc:Choice xmlns:v="urn:schemas-microsoft-com:vml" Requires="v">
                <p:oleObj spid="_x0000_s12" name="" r:id="rId15" imgW="2019300" imgH="419100" progId="Equation.DSMT4">
                  <p:embed/>
                </p:oleObj>
              </mc:Choice>
              <mc:Fallback>
                <p:oleObj name="" r:id="rId15" imgW="2019300" imgH="419100" progId="Equation.DSMT4">
                  <p:embed/>
                  <p:pic>
                    <p:nvPicPr>
                      <p:cNvPr id="0" name="图片 3168"/>
                      <p:cNvPicPr/>
                      <p:nvPr/>
                    </p:nvPicPr>
                    <p:blipFill>
                      <a:blip r:embed="rId16"/>
                      <a:stretch>
                        <a:fillRect/>
                      </a:stretch>
                    </p:blipFill>
                    <p:spPr>
                      <a:xfrm>
                        <a:off x="3737769" y="5112544"/>
                        <a:ext cx="4635500" cy="962025"/>
                      </a:xfrm>
                      <a:prstGeom prst="rect">
                        <a:avLst/>
                      </a:prstGeom>
                      <a:noFill/>
                      <a:ln w="38100">
                        <a:noFill/>
                        <a:miter/>
                      </a:ln>
                    </p:spPr>
                  </p:pic>
                </p:oleObj>
              </mc:Fallback>
            </mc:AlternateContent>
          </a:graphicData>
        </a:graphic>
      </p:graphicFrame>
      <p:sp>
        <p:nvSpPr>
          <p:cNvPr id="370692" name="Text Box 4"/>
          <p:cNvSpPr txBox="1"/>
          <p:nvPr/>
        </p:nvSpPr>
        <p:spPr>
          <a:xfrm>
            <a:off x="611188" y="1376045"/>
            <a:ext cx="5516880" cy="460375"/>
          </a:xfrm>
          <a:prstGeom prst="rect">
            <a:avLst/>
          </a:prstGeom>
          <a:noFill/>
          <a:ln w="9525">
            <a:noFill/>
          </a:ln>
        </p:spPr>
        <p:txBody>
          <a:bodyPr wrap="none">
            <a:spAutoFit/>
          </a:bodyPr>
          <a:lstStyle/>
          <a:p>
            <a:r>
              <a:rPr lang="zh-CN" altLang="en-US" dirty="0">
                <a:solidFill>
                  <a:schemeClr val="accent2"/>
                </a:solidFill>
                <a:latin typeface="Times New Roman" panose="02020603050405020304" pitchFamily="18" charset="0"/>
              </a:rPr>
              <a:t>（</a:t>
            </a:r>
            <a:r>
              <a:rPr lang="en-US" altLang="zh-CN" dirty="0">
                <a:solidFill>
                  <a:schemeClr val="accent2"/>
                </a:solidFill>
                <a:latin typeface="Times New Roman" panose="02020603050405020304" pitchFamily="18" charset="0"/>
              </a:rPr>
              <a:t>2</a:t>
            </a:r>
            <a:r>
              <a:rPr lang="zh-CN" altLang="en-US" dirty="0">
                <a:solidFill>
                  <a:schemeClr val="accent2"/>
                </a:solidFill>
                <a:latin typeface="Times New Roman" panose="02020603050405020304" pitchFamily="18" charset="0"/>
              </a:rPr>
              <a:t>）串联谐振回路（电感、电容串联）</a:t>
            </a:r>
            <a:endParaRPr lang="zh-CN" altLang="en-US" dirty="0">
              <a:solidFill>
                <a:schemeClr val="accent2"/>
              </a:solidFill>
              <a:latin typeface="Times New Roman" panose="02020603050405020304" pitchFamily="18" charset="0"/>
            </a:endParaRPr>
          </a:p>
        </p:txBody>
      </p:sp>
      <p:sp>
        <p:nvSpPr>
          <p:cNvPr id="13" name="文本框 12"/>
          <p:cNvSpPr txBox="1"/>
          <p:nvPr/>
        </p:nvSpPr>
        <p:spPr>
          <a:xfrm>
            <a:off x="5220335" y="4568825"/>
            <a:ext cx="2580005" cy="398780"/>
          </a:xfrm>
          <a:prstGeom prst="rect">
            <a:avLst/>
          </a:prstGeom>
          <a:solidFill>
            <a:schemeClr val="accent1">
              <a:lumMod val="20000"/>
              <a:lumOff val="80000"/>
            </a:schemeClr>
          </a:solidFill>
        </p:spPr>
        <p:txBody>
          <a:bodyPr wrap="square" rtlCol="0">
            <a:spAutoFit/>
          </a:bodyPr>
          <a:lstStyle/>
          <a:p>
            <a:pPr algn="ctr"/>
            <a:r>
              <a:rPr lang="zh-CN" altLang="en-US" sz="2000"/>
              <a:t>也是归一化谐振函数</a:t>
            </a:r>
            <a:endParaRPr lang="zh-CN" altLang="en-US" sz="2000"/>
          </a:p>
        </p:txBody>
      </p:sp>
      <p:grpSp>
        <p:nvGrpSpPr>
          <p:cNvPr id="11272" name="Group 40"/>
          <p:cNvGrpSpPr/>
          <p:nvPr/>
        </p:nvGrpSpPr>
        <p:grpSpPr>
          <a:xfrm>
            <a:off x="1979613" y="388938"/>
            <a:ext cx="5334000" cy="519113"/>
            <a:chOff x="1287" y="432"/>
            <a:chExt cx="3360" cy="327"/>
          </a:xfrm>
        </p:grpSpPr>
        <p:sp>
          <p:nvSpPr>
            <p:cNvPr id="11280" name="Rectangle 41"/>
            <p:cNvSpPr/>
            <p:nvPr/>
          </p:nvSpPr>
          <p:spPr>
            <a:xfrm>
              <a:off x="1287" y="43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11281" name="Line 42"/>
            <p:cNvSpPr/>
            <p:nvPr/>
          </p:nvSpPr>
          <p:spPr>
            <a:xfrm>
              <a:off x="1469" y="749"/>
              <a:ext cx="3024" cy="0"/>
            </a:xfrm>
            <a:prstGeom prst="line">
              <a:avLst/>
            </a:prstGeom>
            <a:ln w="57150" cap="flat" cmpd="tri">
              <a:solidFill>
                <a:srgbClr val="FF00FF"/>
              </a:solidFill>
              <a:prstDash val="solid"/>
              <a:headEnd type="none" w="sm" len="sm"/>
              <a:tailEnd type="none" w="sm" len="sm"/>
            </a:ln>
          </p:spPr>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0" name="Text Box 8"/>
          <p:cNvSpPr txBox="1"/>
          <p:nvPr/>
        </p:nvSpPr>
        <p:spPr>
          <a:xfrm>
            <a:off x="323850" y="908050"/>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sp>
        <p:nvSpPr>
          <p:cNvPr id="374793" name="Text Box 9"/>
          <p:cNvSpPr txBox="1"/>
          <p:nvPr/>
        </p:nvSpPr>
        <p:spPr>
          <a:xfrm>
            <a:off x="727868" y="3356992"/>
            <a:ext cx="4176713" cy="457200"/>
          </a:xfrm>
          <a:prstGeom prst="rect">
            <a:avLst/>
          </a:prstGeom>
          <a:noFill/>
          <a:ln w="9525">
            <a:noFill/>
          </a:ln>
        </p:spPr>
        <p:txBody>
          <a:bodyPr>
            <a:spAutoFit/>
          </a:bodyPr>
          <a:lstStyle/>
          <a:p>
            <a:pPr algn="just">
              <a:spcBef>
                <a:spcPct val="50000"/>
              </a:spcBef>
            </a:pPr>
            <a:r>
              <a:rPr lang="en-US" altLang="zh-CN" dirty="0">
                <a:latin typeface="Times New Roman" panose="02020603050405020304" pitchFamily="18" charset="0"/>
              </a:rPr>
              <a:t>(2) </a:t>
            </a:r>
            <a:r>
              <a:rPr lang="zh-CN" altLang="en-US" dirty="0">
                <a:latin typeface="Times New Roman" panose="02020603050405020304" pitchFamily="18" charset="0"/>
              </a:rPr>
              <a:t>回路谐振电阻和带宽。</a:t>
            </a:r>
            <a:endParaRPr lang="zh-CN" altLang="en-US" dirty="0">
              <a:latin typeface="Times New Roman" panose="02020603050405020304" pitchFamily="18" charset="0"/>
            </a:endParaRPr>
          </a:p>
        </p:txBody>
      </p:sp>
      <p:graphicFrame>
        <p:nvGraphicFramePr>
          <p:cNvPr id="374799" name="Object 15"/>
          <p:cNvGraphicFramePr/>
          <p:nvPr/>
        </p:nvGraphicFramePr>
        <p:xfrm>
          <a:off x="1302543" y="4147567"/>
          <a:ext cx="6248400" cy="1087438"/>
        </p:xfrm>
        <a:graphic>
          <a:graphicData uri="http://schemas.openxmlformats.org/presentationml/2006/ole">
            <mc:AlternateContent xmlns:mc="http://schemas.openxmlformats.org/markup-compatibility/2006">
              <mc:Choice xmlns:v="urn:schemas-microsoft-com:vml" Requires="v">
                <p:oleObj spid="_x0000_s2" name="" r:id="rId1" imgW="3213100" imgH="558800" progId="Equation.3">
                  <p:embed/>
                </p:oleObj>
              </mc:Choice>
              <mc:Fallback>
                <p:oleObj name="" r:id="rId1" imgW="3213100" imgH="558800" progId="Equation.3">
                  <p:embed/>
                  <p:pic>
                    <p:nvPicPr>
                      <p:cNvPr id="0" name="图片 3115"/>
                      <p:cNvPicPr/>
                      <p:nvPr/>
                    </p:nvPicPr>
                    <p:blipFill>
                      <a:blip r:embed="rId2"/>
                      <a:stretch>
                        <a:fillRect/>
                      </a:stretch>
                    </p:blipFill>
                    <p:spPr>
                      <a:xfrm>
                        <a:off x="1302543" y="4147567"/>
                        <a:ext cx="6248400" cy="1087438"/>
                      </a:xfrm>
                      <a:prstGeom prst="rect">
                        <a:avLst/>
                      </a:prstGeom>
                      <a:noFill/>
                      <a:ln w="38100">
                        <a:noFill/>
                        <a:miter/>
                      </a:ln>
                    </p:spPr>
                  </p:pic>
                </p:oleObj>
              </mc:Fallback>
            </mc:AlternateContent>
          </a:graphicData>
        </a:graphic>
      </p:graphicFrame>
      <p:sp>
        <p:nvSpPr>
          <p:cNvPr id="374801" name="Text Box 17"/>
          <p:cNvSpPr txBox="1"/>
          <p:nvPr/>
        </p:nvSpPr>
        <p:spPr>
          <a:xfrm>
            <a:off x="1159668" y="5155630"/>
            <a:ext cx="2016125" cy="457200"/>
          </a:xfrm>
          <a:prstGeom prst="rect">
            <a:avLst/>
          </a:prstGeom>
          <a:noFill/>
          <a:ln w="9525">
            <a:noFill/>
          </a:ln>
        </p:spPr>
        <p:txBody>
          <a:bodyPr>
            <a:spAutoFit/>
          </a:bodyPr>
          <a:lstStyle/>
          <a:p>
            <a:pPr>
              <a:spcBef>
                <a:spcPct val="50000"/>
              </a:spcBef>
            </a:pPr>
            <a:r>
              <a:rPr lang="zh-CN" altLang="en-US" dirty="0">
                <a:latin typeface="Times New Roman" panose="02020603050405020304" pitchFamily="18" charset="0"/>
              </a:rPr>
              <a:t>回路带宽为 </a:t>
            </a:r>
            <a:endParaRPr lang="zh-CN" altLang="en-US" dirty="0">
              <a:latin typeface="Times New Roman" panose="02020603050405020304" pitchFamily="18" charset="0"/>
            </a:endParaRPr>
          </a:p>
        </p:txBody>
      </p:sp>
      <p:graphicFrame>
        <p:nvGraphicFramePr>
          <p:cNvPr id="374802" name="Object 18"/>
          <p:cNvGraphicFramePr/>
          <p:nvPr/>
        </p:nvGraphicFramePr>
        <p:xfrm>
          <a:off x="3175793" y="5084192"/>
          <a:ext cx="1944688" cy="755650"/>
        </p:xfrm>
        <a:graphic>
          <a:graphicData uri="http://schemas.openxmlformats.org/presentationml/2006/ole">
            <mc:AlternateContent xmlns:mc="http://schemas.openxmlformats.org/markup-compatibility/2006">
              <mc:Choice xmlns:v="urn:schemas-microsoft-com:vml" Requires="v">
                <p:oleObj spid="_x0000_s3" name="" r:id="rId3" imgW="1079500" imgH="419100" progId="Equation.DSMT4">
                  <p:embed/>
                </p:oleObj>
              </mc:Choice>
              <mc:Fallback>
                <p:oleObj name="" r:id="rId3" imgW="1079500" imgH="419100" progId="Equation.DSMT4">
                  <p:embed/>
                  <p:pic>
                    <p:nvPicPr>
                      <p:cNvPr id="0" name="图片 3111"/>
                      <p:cNvPicPr/>
                      <p:nvPr/>
                    </p:nvPicPr>
                    <p:blipFill>
                      <a:blip r:embed="rId4"/>
                      <a:stretch>
                        <a:fillRect/>
                      </a:stretch>
                    </p:blipFill>
                    <p:spPr>
                      <a:xfrm>
                        <a:off x="3175793" y="5084192"/>
                        <a:ext cx="1944688" cy="755650"/>
                      </a:xfrm>
                      <a:prstGeom prst="rect">
                        <a:avLst/>
                      </a:prstGeom>
                      <a:noFill/>
                      <a:ln w="38100">
                        <a:noFill/>
                        <a:miter/>
                      </a:ln>
                    </p:spPr>
                  </p:pic>
                </p:oleObj>
              </mc:Fallback>
            </mc:AlternateContent>
          </a:graphicData>
        </a:graphic>
      </p:graphicFrame>
      <p:sp>
        <p:nvSpPr>
          <p:cNvPr id="4" name="Rectangle 9"/>
          <p:cNvSpPr/>
          <p:nvPr/>
        </p:nvSpPr>
        <p:spPr>
          <a:xfrm>
            <a:off x="539750" y="1344612"/>
            <a:ext cx="8064500" cy="1920875"/>
          </a:xfrm>
          <a:prstGeom prst="rect">
            <a:avLst/>
          </a:prstGeom>
          <a:noFill/>
          <a:ln w="9525">
            <a:noFill/>
          </a:ln>
        </p:spPr>
        <p:txBody>
          <a:bodyPr>
            <a:spAutoFit/>
          </a:bodyPr>
          <a:lstStyle/>
          <a:p>
            <a:r>
              <a:rPr lang="zh-CN" altLang="en-US" sz="2000" b="1" dirty="0">
                <a:latin typeface="Times New Roman" panose="02020603050405020304" pitchFamily="18" charset="0"/>
              </a:rPr>
              <a:t>例 </a:t>
            </a:r>
            <a:r>
              <a:rPr lang="en-US" altLang="zh-CN" sz="2000" b="1" dirty="0">
                <a:latin typeface="Times New Roman" panose="02020603050405020304" pitchFamily="18" charset="0"/>
              </a:rPr>
              <a:t>1</a:t>
            </a:r>
            <a:r>
              <a:rPr lang="en-US" altLang="zh-CN" sz="2000" dirty="0">
                <a:latin typeface="Times New Roman" panose="02020603050405020304" pitchFamily="18" charset="0"/>
              </a:rPr>
              <a:t>  </a:t>
            </a:r>
            <a:r>
              <a:rPr lang="zh-CN" altLang="en-US" sz="2000" dirty="0">
                <a:latin typeface="Times New Roman" panose="02020603050405020304" pitchFamily="18" charset="0"/>
              </a:rPr>
              <a:t>设一放大器以简单并联振荡回路为负载</a:t>
            </a:r>
            <a:r>
              <a:rPr lang="en-US" altLang="zh-CN" sz="2000" dirty="0">
                <a:latin typeface="Times New Roman" panose="02020603050405020304" pitchFamily="18" charset="0"/>
              </a:rPr>
              <a:t>, </a:t>
            </a:r>
            <a:r>
              <a:rPr lang="zh-CN" altLang="en-US" sz="2000" dirty="0">
                <a:latin typeface="Times New Roman" panose="02020603050405020304" pitchFamily="18" charset="0"/>
              </a:rPr>
              <a:t>信号中心频率</a:t>
            </a:r>
            <a:r>
              <a:rPr lang="en-US" altLang="zh-CN" sz="2000" i="1" dirty="0">
                <a:latin typeface="Times New Roman" panose="02020603050405020304" pitchFamily="18" charset="0"/>
              </a:rPr>
              <a:t>f</a:t>
            </a:r>
            <a:r>
              <a:rPr lang="en-US" altLang="zh-CN" sz="2000" dirty="0">
                <a:latin typeface="Times New Roman" panose="02020603050405020304" pitchFamily="18" charset="0"/>
              </a:rPr>
              <a:t>s=10MHz, </a:t>
            </a:r>
            <a:r>
              <a:rPr lang="zh-CN" altLang="en-US" sz="2000" dirty="0">
                <a:latin typeface="Times New Roman" panose="02020603050405020304" pitchFamily="18" charset="0"/>
              </a:rPr>
              <a:t>回路电容</a:t>
            </a:r>
            <a:r>
              <a:rPr lang="en-US" altLang="zh-CN" sz="2000" i="1" dirty="0">
                <a:latin typeface="Times New Roman" panose="02020603050405020304" pitchFamily="18" charset="0"/>
              </a:rPr>
              <a:t>C</a:t>
            </a:r>
            <a:r>
              <a:rPr lang="en-US" altLang="zh-CN" sz="2000" dirty="0">
                <a:latin typeface="Times New Roman" panose="02020603050405020304" pitchFamily="18" charset="0"/>
              </a:rPr>
              <a:t>=50 pF, </a:t>
            </a:r>
            <a:endParaRPr lang="en-US" altLang="zh-CN" sz="2000" dirty="0">
              <a:latin typeface="Times New Roman" panose="02020603050405020304" pitchFamily="18" charset="0"/>
            </a:endParaRPr>
          </a:p>
          <a:p>
            <a:r>
              <a:rPr lang="en-US" altLang="zh-CN" sz="2000" dirty="0">
                <a:latin typeface="Times New Roman" panose="02020603050405020304" pitchFamily="18" charset="0"/>
              </a:rPr>
              <a:t>              (1) </a:t>
            </a:r>
            <a:r>
              <a:rPr lang="zh-CN" altLang="en-US" sz="2000" dirty="0">
                <a:latin typeface="Times New Roman" panose="02020603050405020304" pitchFamily="18" charset="0"/>
              </a:rPr>
              <a:t>试计算所需的线圈电感值。</a:t>
            </a:r>
            <a:endParaRPr lang="zh-CN" altLang="en-US" sz="2000" dirty="0">
              <a:latin typeface="Times New Roman" panose="02020603050405020304" pitchFamily="18" charset="0"/>
            </a:endParaRPr>
          </a:p>
          <a:p>
            <a:r>
              <a:rPr lang="zh-CN" altLang="en-US" sz="2000" dirty="0">
                <a:latin typeface="Times New Roman" panose="02020603050405020304" pitchFamily="18" charset="0"/>
              </a:rPr>
              <a:t>              </a:t>
            </a:r>
            <a:r>
              <a:rPr lang="en-US" altLang="zh-CN" sz="2000" dirty="0">
                <a:latin typeface="Times New Roman" panose="02020603050405020304" pitchFamily="18" charset="0"/>
              </a:rPr>
              <a:t>(2) </a:t>
            </a:r>
            <a:r>
              <a:rPr lang="zh-CN" altLang="en-US" sz="2000" dirty="0">
                <a:latin typeface="Times New Roman" panose="02020603050405020304" pitchFamily="18" charset="0"/>
              </a:rPr>
              <a:t>若线圈品质因数为</a:t>
            </a:r>
            <a:r>
              <a:rPr lang="en-US" altLang="zh-CN" sz="2000" i="1" dirty="0">
                <a:latin typeface="Times New Roman" panose="02020603050405020304" pitchFamily="18" charset="0"/>
              </a:rPr>
              <a:t>Q</a:t>
            </a:r>
            <a:r>
              <a:rPr lang="en-US" altLang="zh-CN" sz="2000" dirty="0">
                <a:latin typeface="Times New Roman" panose="02020603050405020304" pitchFamily="18" charset="0"/>
              </a:rPr>
              <a:t>=100, </a:t>
            </a:r>
            <a:r>
              <a:rPr lang="zh-CN" altLang="en-US" sz="2000" dirty="0">
                <a:latin typeface="Times New Roman" panose="02020603050405020304" pitchFamily="18" charset="0"/>
              </a:rPr>
              <a:t>试计算回路谐振电阻及回路带宽。 </a:t>
            </a:r>
            <a:endParaRPr lang="zh-CN" altLang="en-US" sz="2000" dirty="0">
              <a:latin typeface="Times New Roman" panose="02020603050405020304" pitchFamily="18" charset="0"/>
            </a:endParaRPr>
          </a:p>
          <a:p>
            <a:r>
              <a:rPr lang="zh-CN" altLang="en-US" sz="2000" dirty="0">
                <a:latin typeface="Times New Roman" panose="02020603050405020304" pitchFamily="18" charset="0"/>
              </a:rPr>
              <a:t>              </a:t>
            </a:r>
            <a:r>
              <a:rPr lang="en-US" altLang="zh-CN" sz="2000" dirty="0">
                <a:latin typeface="Times New Roman" panose="02020603050405020304" pitchFamily="18" charset="0"/>
              </a:rPr>
              <a:t>(3) </a:t>
            </a:r>
            <a:r>
              <a:rPr lang="zh-CN" altLang="en-US" sz="2000" dirty="0">
                <a:latin typeface="Times New Roman" panose="02020603050405020304" pitchFamily="18" charset="0"/>
              </a:rPr>
              <a:t>若放大器所需的带宽</a:t>
            </a:r>
            <a:r>
              <a:rPr lang="en-US" altLang="zh-CN" sz="2000" i="1" dirty="0">
                <a:latin typeface="Times New Roman" panose="02020603050405020304" pitchFamily="18" charset="0"/>
              </a:rPr>
              <a:t>B</a:t>
            </a:r>
            <a:r>
              <a:rPr lang="en-US" altLang="zh-CN" sz="2000" dirty="0">
                <a:latin typeface="Times New Roman" panose="02020603050405020304" pitchFamily="18" charset="0"/>
              </a:rPr>
              <a:t>=0.5 MHz, </a:t>
            </a:r>
            <a:r>
              <a:rPr lang="zh-CN" altLang="en-US" sz="2000" dirty="0">
                <a:latin typeface="Times New Roman" panose="02020603050405020304" pitchFamily="18" charset="0"/>
              </a:rPr>
              <a:t>则应在回路上并联多大电阻才能满足放大器所需带宽要求</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p:txBody>
      </p:sp>
      <p:grpSp>
        <p:nvGrpSpPr>
          <p:cNvPr id="11272" name="Group 40"/>
          <p:cNvGrpSpPr/>
          <p:nvPr/>
        </p:nvGrpSpPr>
        <p:grpSpPr>
          <a:xfrm>
            <a:off x="1979613" y="388938"/>
            <a:ext cx="5334000" cy="519113"/>
            <a:chOff x="1287" y="432"/>
            <a:chExt cx="3360" cy="327"/>
          </a:xfrm>
        </p:grpSpPr>
        <p:sp>
          <p:nvSpPr>
            <p:cNvPr id="11280" name="Rectangle 41"/>
            <p:cNvSpPr/>
            <p:nvPr/>
          </p:nvSpPr>
          <p:spPr>
            <a:xfrm>
              <a:off x="1287" y="43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11281" name="Line 42"/>
            <p:cNvSpPr/>
            <p:nvPr/>
          </p:nvSpPr>
          <p:spPr>
            <a:xfrm>
              <a:off x="1469" y="749"/>
              <a:ext cx="3024" cy="0"/>
            </a:xfrm>
            <a:prstGeom prst="line">
              <a:avLst/>
            </a:prstGeom>
            <a:ln w="57150" cap="flat" cmpd="tri">
              <a:solidFill>
                <a:srgbClr val="FF00FF"/>
              </a:solidFill>
              <a:prstDash val="solid"/>
              <a:headEnd type="none" w="sm" len="sm"/>
              <a:tailEnd type="none" w="sm" len="sm"/>
            </a:ln>
          </p:spPr>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74793"/>
                                        </p:tgtEl>
                                        <p:attrNameLst>
                                          <p:attrName>style.visibility</p:attrName>
                                        </p:attrNameLst>
                                      </p:cBhvr>
                                      <p:to>
                                        <p:strVal val="visible"/>
                                      </p:to>
                                    </p:set>
                                    <p:animEffect transition="in" filter="box(in)">
                                      <p:cBhvr>
                                        <p:cTn id="7" dur="500"/>
                                        <p:tgtEl>
                                          <p:spTgt spid="37479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74799"/>
                                        </p:tgtEl>
                                        <p:attrNameLst>
                                          <p:attrName>style.visibility</p:attrName>
                                        </p:attrNameLst>
                                      </p:cBhvr>
                                      <p:to>
                                        <p:strVal val="visible"/>
                                      </p:to>
                                    </p:set>
                                    <p:animEffect transition="in" filter="wipe(left)">
                                      <p:cBhvr>
                                        <p:cTn id="12" dur="500"/>
                                        <p:tgtEl>
                                          <p:spTgt spid="37479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74801"/>
                                        </p:tgtEl>
                                        <p:attrNameLst>
                                          <p:attrName>style.visibility</p:attrName>
                                        </p:attrNameLst>
                                      </p:cBhvr>
                                      <p:to>
                                        <p:strVal val="visible"/>
                                      </p:to>
                                    </p:set>
                                    <p:animEffect transition="in" filter="wipe(left)">
                                      <p:cBhvr>
                                        <p:cTn id="17" dur="500"/>
                                        <p:tgtEl>
                                          <p:spTgt spid="374801"/>
                                        </p:tgtEl>
                                      </p:cBhvr>
                                    </p:animEffect>
                                  </p:childTnLst>
                                </p:cTn>
                              </p:par>
                              <p:par>
                                <p:cTn id="18" presetID="22" presetClass="entr" presetSubtype="8" fill="hold" nodeType="withEffect">
                                  <p:stCondLst>
                                    <p:cond delay="0"/>
                                  </p:stCondLst>
                                  <p:childTnLst>
                                    <p:set>
                                      <p:cBhvr>
                                        <p:cTn id="19" dur="1" fill="hold">
                                          <p:stCondLst>
                                            <p:cond delay="0"/>
                                          </p:stCondLst>
                                        </p:cTn>
                                        <p:tgtEl>
                                          <p:spTgt spid="374802"/>
                                        </p:tgtEl>
                                        <p:attrNameLst>
                                          <p:attrName>style.visibility</p:attrName>
                                        </p:attrNameLst>
                                      </p:cBhvr>
                                      <p:to>
                                        <p:strVal val="visible"/>
                                      </p:to>
                                    </p:set>
                                    <p:animEffect transition="in" filter="wipe(left)">
                                      <p:cBhvr>
                                        <p:cTn id="20" dur="500"/>
                                        <p:tgtEl>
                                          <p:spTgt spid="3748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793" grpId="0"/>
      <p:bldP spid="37480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6" name="Text Box 8"/>
          <p:cNvSpPr txBox="1"/>
          <p:nvPr/>
        </p:nvSpPr>
        <p:spPr>
          <a:xfrm>
            <a:off x="144463" y="908050"/>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sp>
        <p:nvSpPr>
          <p:cNvPr id="375817" name="Text Box 9"/>
          <p:cNvSpPr txBox="1"/>
          <p:nvPr/>
        </p:nvSpPr>
        <p:spPr>
          <a:xfrm>
            <a:off x="611366" y="4251056"/>
            <a:ext cx="3352800" cy="398780"/>
          </a:xfrm>
          <a:prstGeom prst="rect">
            <a:avLst/>
          </a:prstGeom>
          <a:noFill/>
          <a:ln w="9525">
            <a:noFill/>
          </a:ln>
        </p:spPr>
        <p:txBody>
          <a:bodyPr>
            <a:spAutoFit/>
          </a:bodyPr>
          <a:lstStyle/>
          <a:p>
            <a:pPr algn="just">
              <a:spcBef>
                <a:spcPct val="50000"/>
              </a:spcBef>
            </a:pPr>
            <a:r>
              <a:rPr lang="zh-CN" altLang="en-US" sz="2000" dirty="0">
                <a:latin typeface="Times New Roman" panose="02020603050405020304" pitchFamily="18" charset="0"/>
              </a:rPr>
              <a:t>回路总电阻为</a:t>
            </a:r>
            <a:endParaRPr lang="zh-CN" altLang="en-US" sz="2000" dirty="0">
              <a:latin typeface="Times New Roman" panose="02020603050405020304" pitchFamily="18" charset="0"/>
            </a:endParaRPr>
          </a:p>
        </p:txBody>
      </p:sp>
      <p:graphicFrame>
        <p:nvGraphicFramePr>
          <p:cNvPr id="375818" name="Object 10"/>
          <p:cNvGraphicFramePr/>
          <p:nvPr/>
        </p:nvGraphicFramePr>
        <p:xfrm>
          <a:off x="1654175" y="4683125"/>
          <a:ext cx="5553075" cy="690880"/>
        </p:xfrm>
        <a:graphic>
          <a:graphicData uri="http://schemas.openxmlformats.org/presentationml/2006/ole">
            <mc:AlternateContent xmlns:mc="http://schemas.openxmlformats.org/markup-compatibility/2006">
              <mc:Choice xmlns:v="urn:schemas-microsoft-com:vml" Requires="v">
                <p:oleObj spid="_x0000_s2" name="" r:id="rId1" imgW="3338830" imgH="431800" progId="Equation.DSMT4">
                  <p:embed/>
                </p:oleObj>
              </mc:Choice>
              <mc:Fallback>
                <p:oleObj name="" r:id="rId1" imgW="3338830" imgH="431800" progId="Equation.DSMT4">
                  <p:embed/>
                  <p:pic>
                    <p:nvPicPr>
                      <p:cNvPr id="0" name="图片 3110"/>
                      <p:cNvPicPr/>
                      <p:nvPr/>
                    </p:nvPicPr>
                    <p:blipFill>
                      <a:blip r:embed="rId2"/>
                      <a:stretch>
                        <a:fillRect/>
                      </a:stretch>
                    </p:blipFill>
                    <p:spPr>
                      <a:xfrm>
                        <a:off x="1654175" y="4683125"/>
                        <a:ext cx="5553075" cy="690880"/>
                      </a:xfrm>
                      <a:prstGeom prst="rect">
                        <a:avLst/>
                      </a:prstGeom>
                      <a:noFill/>
                      <a:ln w="38100">
                        <a:noFill/>
                        <a:miter/>
                      </a:ln>
                    </p:spPr>
                  </p:pic>
                </p:oleObj>
              </mc:Fallback>
            </mc:AlternateContent>
          </a:graphicData>
        </a:graphic>
      </p:graphicFrame>
      <p:sp>
        <p:nvSpPr>
          <p:cNvPr id="375819" name="Text Box 11"/>
          <p:cNvSpPr txBox="1"/>
          <p:nvPr/>
        </p:nvSpPr>
        <p:spPr>
          <a:xfrm>
            <a:off x="1187629" y="6049983"/>
            <a:ext cx="5257800" cy="398780"/>
          </a:xfrm>
          <a:prstGeom prst="rect">
            <a:avLst/>
          </a:prstGeom>
          <a:noFill/>
          <a:ln w="9525">
            <a:noFill/>
          </a:ln>
        </p:spPr>
        <p:txBody>
          <a:bodyPr>
            <a:spAutoFit/>
          </a:bodyPr>
          <a:lstStyle/>
          <a:p>
            <a:pPr>
              <a:spcBef>
                <a:spcPct val="50000"/>
              </a:spcBef>
            </a:pPr>
            <a:r>
              <a:rPr lang="en-US" altLang="zh-CN" sz="2000" dirty="0">
                <a:latin typeface="Times New Roman" panose="02020603050405020304" pitchFamily="18" charset="0"/>
              </a:rPr>
              <a:t>   </a:t>
            </a:r>
            <a:r>
              <a:rPr lang="zh-CN" altLang="en-US" sz="2000" dirty="0">
                <a:latin typeface="Times New Roman" panose="02020603050405020304" pitchFamily="18" charset="0"/>
              </a:rPr>
              <a:t>需要在回路上并联</a:t>
            </a:r>
            <a:r>
              <a:rPr lang="en-US" altLang="zh-CN" sz="2000" dirty="0">
                <a:latin typeface="Times New Roman" panose="02020603050405020304" pitchFamily="18" charset="0"/>
              </a:rPr>
              <a:t>7.97 kΩ</a:t>
            </a:r>
            <a:r>
              <a:rPr lang="zh-CN" altLang="en-US" sz="2000" dirty="0">
                <a:latin typeface="Times New Roman" panose="02020603050405020304" pitchFamily="18" charset="0"/>
              </a:rPr>
              <a:t>的电阻。 </a:t>
            </a:r>
            <a:endParaRPr lang="zh-CN" altLang="en-US" sz="2000" dirty="0">
              <a:latin typeface="Times New Roman" panose="02020603050405020304" pitchFamily="18" charset="0"/>
            </a:endParaRPr>
          </a:p>
        </p:txBody>
      </p:sp>
      <p:sp>
        <p:nvSpPr>
          <p:cNvPr id="375821" name="Rectangle 13"/>
          <p:cNvSpPr/>
          <p:nvPr/>
        </p:nvSpPr>
        <p:spPr>
          <a:xfrm>
            <a:off x="579546" y="2768860"/>
            <a:ext cx="8064500" cy="706755"/>
          </a:xfrm>
          <a:prstGeom prst="rect">
            <a:avLst/>
          </a:prstGeom>
          <a:noFill/>
          <a:ln w="9525">
            <a:noFill/>
          </a:ln>
        </p:spPr>
        <p:txBody>
          <a:bodyPr>
            <a:spAutoFit/>
          </a:bodyPr>
          <a:lstStyle/>
          <a:p>
            <a:pPr>
              <a:spcBef>
                <a:spcPct val="50000"/>
              </a:spcBef>
            </a:pPr>
            <a:r>
              <a:rPr lang="zh-CN" altLang="en-US" sz="2000" dirty="0">
                <a:latin typeface="Times New Roman" panose="02020603050405020304" pitchFamily="18" charset="0"/>
              </a:rPr>
              <a:t>设回路上并联电阻为</a:t>
            </a:r>
            <a:r>
              <a:rPr lang="en-US" altLang="zh-CN" sz="2000" i="1" dirty="0">
                <a:latin typeface="Times New Roman" panose="02020603050405020304" pitchFamily="18" charset="0"/>
              </a:rPr>
              <a:t>R</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 </a:t>
            </a:r>
            <a:r>
              <a:rPr lang="zh-CN" altLang="en-US" sz="2000" dirty="0">
                <a:latin typeface="Times New Roman" panose="02020603050405020304" pitchFamily="18" charset="0"/>
              </a:rPr>
              <a:t>并联后的总电阻为</a:t>
            </a:r>
            <a:r>
              <a:rPr lang="en-US" altLang="zh-CN" sz="2000" i="1" dirty="0">
                <a:latin typeface="Times New Roman" panose="02020603050405020304" pitchFamily="18" charset="0"/>
              </a:rPr>
              <a:t>R</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a:t>
            </a:r>
            <a:r>
              <a:rPr lang="en-US" altLang="zh-CN" sz="2000" i="1" dirty="0">
                <a:latin typeface="Times New Roman" panose="02020603050405020304" pitchFamily="18" charset="0"/>
              </a:rPr>
              <a:t>R</a:t>
            </a:r>
            <a:r>
              <a:rPr lang="en-US" altLang="zh-CN" sz="2000" baseline="-25000" dirty="0">
                <a:latin typeface="Times New Roman" panose="02020603050405020304" pitchFamily="18" charset="0"/>
              </a:rPr>
              <a:t>0</a:t>
            </a:r>
            <a:r>
              <a:rPr lang="en-US" altLang="zh-CN" sz="2000" dirty="0">
                <a:latin typeface="Times New Roman" panose="02020603050405020304" pitchFamily="18" charset="0"/>
              </a:rPr>
              <a:t>, </a:t>
            </a:r>
            <a:r>
              <a:rPr lang="zh-CN" altLang="en-US" sz="2000" dirty="0">
                <a:latin typeface="Times New Roman" panose="02020603050405020304" pitchFamily="18" charset="0"/>
              </a:rPr>
              <a:t>总的回路有载品质因数为</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L</a:t>
            </a:r>
            <a:r>
              <a:rPr lang="zh-CN" altLang="en-US" sz="2000" dirty="0">
                <a:latin typeface="Times New Roman" panose="02020603050405020304" pitchFamily="18" charset="0"/>
              </a:rPr>
              <a:t>。 由带宽公式</a:t>
            </a:r>
            <a:r>
              <a:rPr lang="en-US" altLang="zh-CN" sz="2000" dirty="0">
                <a:latin typeface="Times New Roman" panose="02020603050405020304" pitchFamily="18" charset="0"/>
              </a:rPr>
              <a:t>, </a:t>
            </a:r>
            <a:r>
              <a:rPr lang="zh-CN" altLang="en-US" sz="2000" dirty="0">
                <a:latin typeface="Times New Roman" panose="02020603050405020304" pitchFamily="18" charset="0"/>
              </a:rPr>
              <a:t>有</a:t>
            </a:r>
            <a:endParaRPr lang="zh-CN" altLang="en-US" sz="2000" dirty="0">
              <a:latin typeface="Times New Roman" panose="02020603050405020304" pitchFamily="18" charset="0"/>
            </a:endParaRPr>
          </a:p>
        </p:txBody>
      </p:sp>
      <p:grpSp>
        <p:nvGrpSpPr>
          <p:cNvPr id="7" name="组合 6"/>
          <p:cNvGrpSpPr/>
          <p:nvPr/>
        </p:nvGrpSpPr>
        <p:grpSpPr>
          <a:xfrm>
            <a:off x="611505" y="3747135"/>
            <a:ext cx="4648200" cy="414020"/>
            <a:chOff x="509" y="6081"/>
            <a:chExt cx="7320" cy="652"/>
          </a:xfrm>
        </p:grpSpPr>
        <p:graphicFrame>
          <p:nvGraphicFramePr>
            <p:cNvPr id="375822" name="Object 14"/>
            <p:cNvGraphicFramePr/>
            <p:nvPr/>
          </p:nvGraphicFramePr>
          <p:xfrm>
            <a:off x="5952" y="6081"/>
            <a:ext cx="1143" cy="652"/>
          </p:xfrm>
          <a:graphic>
            <a:graphicData uri="http://schemas.openxmlformats.org/presentationml/2006/ole">
              <mc:AlternateContent xmlns:mc="http://schemas.openxmlformats.org/markup-compatibility/2006">
                <mc:Choice xmlns:v="urn:schemas-microsoft-com:vml" Requires="v">
                  <p:oleObj spid="_x0000_s3" name="" r:id="rId3" imgW="520700" imgH="228600" progId="Equation.DSMT4">
                    <p:embed/>
                  </p:oleObj>
                </mc:Choice>
                <mc:Fallback>
                  <p:oleObj name="" r:id="rId3" imgW="520700" imgH="228600" progId="Equation.DSMT4">
                    <p:embed/>
                    <p:pic>
                      <p:nvPicPr>
                        <p:cNvPr id="0" name="图片 3112"/>
                        <p:cNvPicPr/>
                        <p:nvPr/>
                      </p:nvPicPr>
                      <p:blipFill>
                        <a:blip r:embed="rId4"/>
                        <a:stretch>
                          <a:fillRect/>
                        </a:stretch>
                      </p:blipFill>
                      <p:spPr>
                        <a:xfrm>
                          <a:off x="5952" y="6081"/>
                          <a:ext cx="1143" cy="652"/>
                        </a:xfrm>
                        <a:prstGeom prst="rect">
                          <a:avLst/>
                        </a:prstGeom>
                        <a:noFill/>
                        <a:ln w="38100">
                          <a:noFill/>
                          <a:miter/>
                        </a:ln>
                      </p:spPr>
                    </p:pic>
                  </p:oleObj>
                </mc:Fallback>
              </mc:AlternateContent>
            </a:graphicData>
          </a:graphic>
        </p:graphicFrame>
        <p:sp>
          <p:nvSpPr>
            <p:cNvPr id="375823" name="Text Box 15"/>
            <p:cNvSpPr txBox="1"/>
            <p:nvPr/>
          </p:nvSpPr>
          <p:spPr>
            <a:xfrm>
              <a:off x="509" y="6081"/>
              <a:ext cx="7320" cy="628"/>
            </a:xfrm>
            <a:prstGeom prst="rect">
              <a:avLst/>
            </a:prstGeom>
            <a:noFill/>
            <a:ln w="9525">
              <a:noFill/>
            </a:ln>
          </p:spPr>
          <p:txBody>
            <a:bodyPr>
              <a:spAutoFit/>
            </a:bodyPr>
            <a:lstStyle/>
            <a:p>
              <a:pPr algn="just">
                <a:spcBef>
                  <a:spcPct val="50000"/>
                </a:spcBef>
              </a:pPr>
              <a:r>
                <a:rPr lang="zh-CN" altLang="en-US" sz="2000" dirty="0">
                  <a:latin typeface="Times New Roman" panose="02020603050405020304" pitchFamily="18" charset="0"/>
                </a:rPr>
                <a:t>此时要求的带宽</a:t>
              </a:r>
              <a:r>
                <a:rPr lang="en-US" altLang="zh-CN" sz="2000" i="1" dirty="0">
                  <a:latin typeface="Times New Roman" panose="02020603050405020304" pitchFamily="18" charset="0"/>
                </a:rPr>
                <a:t>B</a:t>
              </a:r>
              <a:r>
                <a:rPr lang="en-US" altLang="zh-CN" sz="2000" dirty="0">
                  <a:latin typeface="Times New Roman" panose="02020603050405020304" pitchFamily="18" charset="0"/>
                </a:rPr>
                <a:t>=0.5 MHz, </a:t>
              </a:r>
              <a:r>
                <a:rPr lang="zh-CN" altLang="en-US" sz="2000" dirty="0">
                  <a:latin typeface="Times New Roman" panose="02020603050405020304" pitchFamily="18" charset="0"/>
                </a:rPr>
                <a:t>故</a:t>
              </a:r>
              <a:endParaRPr lang="zh-CN" altLang="en-US" sz="2000" dirty="0">
                <a:latin typeface="Times New Roman" panose="02020603050405020304" pitchFamily="18" charset="0"/>
              </a:endParaRPr>
            </a:p>
          </p:txBody>
        </p:sp>
      </p:grpSp>
      <p:graphicFrame>
        <p:nvGraphicFramePr>
          <p:cNvPr id="375824" name="Object 16"/>
          <p:cNvGraphicFramePr/>
          <p:nvPr/>
        </p:nvGraphicFramePr>
        <p:xfrm>
          <a:off x="3636189" y="3194627"/>
          <a:ext cx="863600" cy="638175"/>
        </p:xfrm>
        <a:graphic>
          <a:graphicData uri="http://schemas.openxmlformats.org/presentationml/2006/ole">
            <mc:AlternateContent xmlns:mc="http://schemas.openxmlformats.org/markup-compatibility/2006">
              <mc:Choice xmlns:v="urn:schemas-microsoft-com:vml" Requires="v">
                <p:oleObj spid="_x0000_s4" name="" r:id="rId5" imgW="533400" imgH="393700" progId="Equation.DSMT4">
                  <p:embed/>
                </p:oleObj>
              </mc:Choice>
              <mc:Fallback>
                <p:oleObj name="" r:id="rId5" imgW="533400" imgH="393700" progId="Equation.DSMT4">
                  <p:embed/>
                  <p:pic>
                    <p:nvPicPr>
                      <p:cNvPr id="0" name="图片 3113"/>
                      <p:cNvPicPr/>
                      <p:nvPr/>
                    </p:nvPicPr>
                    <p:blipFill>
                      <a:blip r:embed="rId6"/>
                      <a:stretch>
                        <a:fillRect/>
                      </a:stretch>
                    </p:blipFill>
                    <p:spPr>
                      <a:xfrm>
                        <a:off x="3636189" y="3194627"/>
                        <a:ext cx="863600" cy="638175"/>
                      </a:xfrm>
                      <a:prstGeom prst="rect">
                        <a:avLst/>
                      </a:prstGeom>
                      <a:noFill/>
                      <a:ln w="38100">
                        <a:noFill/>
                        <a:miter/>
                      </a:ln>
                    </p:spPr>
                  </p:pic>
                </p:oleObj>
              </mc:Fallback>
            </mc:AlternateContent>
          </a:graphicData>
        </a:graphic>
      </p:graphicFrame>
      <p:graphicFrame>
        <p:nvGraphicFramePr>
          <p:cNvPr id="375825" name="Object 17"/>
          <p:cNvGraphicFramePr/>
          <p:nvPr/>
        </p:nvGraphicFramePr>
        <p:xfrm>
          <a:off x="1691640" y="5407025"/>
          <a:ext cx="2322195" cy="643255"/>
        </p:xfrm>
        <a:graphic>
          <a:graphicData uri="http://schemas.openxmlformats.org/presentationml/2006/ole">
            <mc:AlternateContent xmlns:mc="http://schemas.openxmlformats.org/markup-compatibility/2006">
              <mc:Choice xmlns:v="urn:schemas-microsoft-com:vml" Requires="v">
                <p:oleObj spid="_x0000_s5" name="" r:id="rId7" imgW="1536065" imgH="431800" progId="Equation.DSMT4">
                  <p:embed/>
                </p:oleObj>
              </mc:Choice>
              <mc:Fallback>
                <p:oleObj name="" r:id="rId7" imgW="1536065" imgH="431800" progId="Equation.DSMT4">
                  <p:embed/>
                  <p:pic>
                    <p:nvPicPr>
                      <p:cNvPr id="0" name="图片 3106"/>
                      <p:cNvPicPr/>
                      <p:nvPr/>
                    </p:nvPicPr>
                    <p:blipFill>
                      <a:blip r:embed="rId8"/>
                      <a:stretch>
                        <a:fillRect/>
                      </a:stretch>
                    </p:blipFill>
                    <p:spPr>
                      <a:xfrm>
                        <a:off x="1691640" y="5407025"/>
                        <a:ext cx="2322195" cy="643255"/>
                      </a:xfrm>
                      <a:prstGeom prst="rect">
                        <a:avLst/>
                      </a:prstGeom>
                      <a:noFill/>
                      <a:ln w="38100">
                        <a:noFill/>
                        <a:miter/>
                      </a:ln>
                    </p:spPr>
                  </p:pic>
                </p:oleObj>
              </mc:Fallback>
            </mc:AlternateContent>
          </a:graphicData>
        </a:graphic>
      </p:graphicFrame>
      <p:sp>
        <p:nvSpPr>
          <p:cNvPr id="6" name="Rectangle 9"/>
          <p:cNvSpPr/>
          <p:nvPr/>
        </p:nvSpPr>
        <p:spPr>
          <a:xfrm>
            <a:off x="579546" y="1299047"/>
            <a:ext cx="8064500" cy="1322070"/>
          </a:xfrm>
          <a:prstGeom prst="rect">
            <a:avLst/>
          </a:prstGeom>
          <a:noFill/>
          <a:ln w="9525">
            <a:noFill/>
          </a:ln>
        </p:spPr>
        <p:txBody>
          <a:bodyPr>
            <a:spAutoFit/>
          </a:bodyPr>
          <a:lstStyle/>
          <a:p>
            <a:r>
              <a:rPr lang="zh-CN" altLang="en-US" sz="2000" b="1" dirty="0">
                <a:latin typeface="Times New Roman" panose="02020603050405020304" pitchFamily="18" charset="0"/>
              </a:rPr>
              <a:t>例 </a:t>
            </a:r>
            <a:r>
              <a:rPr lang="en-US" altLang="zh-CN" sz="2000" b="1" dirty="0">
                <a:latin typeface="Times New Roman" panose="02020603050405020304" pitchFamily="18" charset="0"/>
              </a:rPr>
              <a:t>1</a:t>
            </a:r>
            <a:r>
              <a:rPr lang="en-US" altLang="zh-CN" sz="2000" dirty="0">
                <a:latin typeface="Times New Roman" panose="02020603050405020304" pitchFamily="18" charset="0"/>
              </a:rPr>
              <a:t>  </a:t>
            </a:r>
            <a:r>
              <a:rPr lang="zh-CN" altLang="en-US" sz="2000" dirty="0">
                <a:latin typeface="Times New Roman" panose="02020603050405020304" pitchFamily="18" charset="0"/>
              </a:rPr>
              <a:t>设一放大器以简单并联振荡回路为负载</a:t>
            </a:r>
            <a:r>
              <a:rPr lang="en-US" altLang="zh-CN" sz="2000" dirty="0">
                <a:latin typeface="Times New Roman" panose="02020603050405020304" pitchFamily="18" charset="0"/>
              </a:rPr>
              <a:t>, </a:t>
            </a:r>
            <a:r>
              <a:rPr lang="zh-CN" altLang="en-US" sz="2000" dirty="0">
                <a:latin typeface="Times New Roman" panose="02020603050405020304" pitchFamily="18" charset="0"/>
              </a:rPr>
              <a:t>信号中心频率</a:t>
            </a:r>
            <a:r>
              <a:rPr lang="en-US" altLang="zh-CN" sz="2000" i="1" dirty="0">
                <a:latin typeface="Times New Roman" panose="02020603050405020304" pitchFamily="18" charset="0"/>
              </a:rPr>
              <a:t>f</a:t>
            </a:r>
            <a:r>
              <a:rPr lang="en-US" altLang="zh-CN" sz="2000" baseline="-25000" dirty="0">
                <a:latin typeface="Times New Roman" panose="02020603050405020304" pitchFamily="18" charset="0"/>
              </a:rPr>
              <a:t>0</a:t>
            </a:r>
            <a:r>
              <a:rPr lang="en-US" altLang="zh-CN" sz="2000" dirty="0">
                <a:latin typeface="Times New Roman" panose="02020603050405020304" pitchFamily="18" charset="0"/>
              </a:rPr>
              <a:t>=10MHz, </a:t>
            </a:r>
            <a:r>
              <a:rPr lang="zh-CN" altLang="en-US" sz="2000" dirty="0">
                <a:latin typeface="Times New Roman" panose="02020603050405020304" pitchFamily="18" charset="0"/>
              </a:rPr>
              <a:t>回路电容</a:t>
            </a:r>
            <a:r>
              <a:rPr lang="en-US" altLang="zh-CN" sz="2000" i="1" dirty="0">
                <a:latin typeface="Times New Roman" panose="02020603050405020304" pitchFamily="18" charset="0"/>
              </a:rPr>
              <a:t>C</a:t>
            </a:r>
            <a:r>
              <a:rPr lang="en-US" altLang="zh-CN" sz="2000" dirty="0">
                <a:latin typeface="Times New Roman" panose="02020603050405020304" pitchFamily="18" charset="0"/>
              </a:rPr>
              <a:t>=50 pF, </a:t>
            </a:r>
            <a:endParaRPr lang="en-US" altLang="zh-CN" sz="2000" dirty="0">
              <a:latin typeface="Times New Roman" panose="02020603050405020304" pitchFamily="18" charset="0"/>
            </a:endParaRPr>
          </a:p>
          <a:p>
            <a:r>
              <a:rPr lang="zh-CN" altLang="en-US" sz="2000" dirty="0">
                <a:latin typeface="Times New Roman" panose="02020603050405020304" pitchFamily="18" charset="0"/>
              </a:rPr>
              <a:t>    </a:t>
            </a:r>
            <a:r>
              <a:rPr lang="en-US" altLang="zh-CN" sz="2000" dirty="0">
                <a:latin typeface="Times New Roman" panose="02020603050405020304" pitchFamily="18" charset="0"/>
              </a:rPr>
              <a:t>(3) </a:t>
            </a:r>
            <a:r>
              <a:rPr lang="zh-CN" altLang="en-US" sz="2000" dirty="0">
                <a:latin typeface="Times New Roman" panose="02020603050405020304" pitchFamily="18" charset="0"/>
              </a:rPr>
              <a:t>若放大器所需的带宽</a:t>
            </a:r>
            <a:r>
              <a:rPr lang="en-US" altLang="zh-CN" sz="2000" i="1" dirty="0">
                <a:latin typeface="Times New Roman" panose="02020603050405020304" pitchFamily="18" charset="0"/>
              </a:rPr>
              <a:t>B</a:t>
            </a:r>
            <a:r>
              <a:rPr lang="en-US" altLang="zh-CN" sz="2000" dirty="0">
                <a:latin typeface="Times New Roman" panose="02020603050405020304" pitchFamily="18" charset="0"/>
              </a:rPr>
              <a:t>=0.5 MHz, </a:t>
            </a:r>
            <a:r>
              <a:rPr lang="zh-CN" altLang="en-US" sz="2000" dirty="0">
                <a:latin typeface="Times New Roman" panose="02020603050405020304" pitchFamily="18" charset="0"/>
              </a:rPr>
              <a:t>则应在回路上并联多大电阻才能满足放大器所需带宽要求</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p:txBody>
      </p:sp>
      <p:grpSp>
        <p:nvGrpSpPr>
          <p:cNvPr id="11272" name="Group 40"/>
          <p:cNvGrpSpPr/>
          <p:nvPr/>
        </p:nvGrpSpPr>
        <p:grpSpPr>
          <a:xfrm>
            <a:off x="1979613" y="388938"/>
            <a:ext cx="5334000" cy="519113"/>
            <a:chOff x="1287" y="432"/>
            <a:chExt cx="3360" cy="327"/>
          </a:xfrm>
        </p:grpSpPr>
        <p:sp>
          <p:nvSpPr>
            <p:cNvPr id="11280" name="Rectangle 41"/>
            <p:cNvSpPr/>
            <p:nvPr/>
          </p:nvSpPr>
          <p:spPr>
            <a:xfrm>
              <a:off x="1287" y="43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11281" name="Line 42"/>
            <p:cNvSpPr/>
            <p:nvPr/>
          </p:nvSpPr>
          <p:spPr>
            <a:xfrm>
              <a:off x="1469" y="749"/>
              <a:ext cx="3024" cy="0"/>
            </a:xfrm>
            <a:prstGeom prst="line">
              <a:avLst/>
            </a:prstGeom>
            <a:ln w="57150" cap="flat" cmpd="tri">
              <a:solidFill>
                <a:srgbClr val="FF00FF"/>
              </a:solidFill>
              <a:prstDash val="solid"/>
              <a:headEnd type="none" w="sm" len="sm"/>
              <a:tailEnd type="none" w="sm" len="sm"/>
            </a:ln>
          </p:spPr>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5821"/>
                                        </p:tgtEl>
                                        <p:attrNameLst>
                                          <p:attrName>style.visibility</p:attrName>
                                        </p:attrNameLst>
                                      </p:cBhvr>
                                      <p:to>
                                        <p:strVal val="visible"/>
                                      </p:to>
                                    </p:set>
                                    <p:animEffect transition="in" filter="wipe(left)">
                                      <p:cBhvr>
                                        <p:cTn id="7" dur="500"/>
                                        <p:tgtEl>
                                          <p:spTgt spid="37582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75824"/>
                                        </p:tgtEl>
                                        <p:attrNameLst>
                                          <p:attrName>style.visibility</p:attrName>
                                        </p:attrNameLst>
                                      </p:cBhvr>
                                      <p:to>
                                        <p:strVal val="visible"/>
                                      </p:to>
                                    </p:set>
                                    <p:animEffect transition="in" filter="box(in)">
                                      <p:cBhvr>
                                        <p:cTn id="12" dur="500"/>
                                        <p:tgtEl>
                                          <p:spTgt spid="37582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375817"/>
                                        </p:tgtEl>
                                        <p:attrNameLst>
                                          <p:attrName>style.visibility</p:attrName>
                                        </p:attrNameLst>
                                      </p:cBhvr>
                                      <p:to>
                                        <p:strVal val="visible"/>
                                      </p:to>
                                    </p:set>
                                    <p:anim calcmode="lin" valueType="num">
                                      <p:cBhvr additive="base">
                                        <p:cTn id="17" dur="500" fill="hold"/>
                                        <p:tgtEl>
                                          <p:spTgt spid="375817"/>
                                        </p:tgtEl>
                                        <p:attrNameLst>
                                          <p:attrName>ppt_x</p:attrName>
                                        </p:attrNameLst>
                                      </p:cBhvr>
                                      <p:tavLst>
                                        <p:tav tm="0">
                                          <p:val>
                                            <p:strVal val="0-#ppt_w/2"/>
                                          </p:val>
                                        </p:tav>
                                        <p:tav tm="100000">
                                          <p:val>
                                            <p:strVal val="#ppt_x"/>
                                          </p:val>
                                        </p:tav>
                                      </p:tavLst>
                                    </p:anim>
                                    <p:anim calcmode="lin" valueType="num">
                                      <p:cBhvr additive="base">
                                        <p:cTn id="18" dur="500" fill="hold"/>
                                        <p:tgtEl>
                                          <p:spTgt spid="375817"/>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375818"/>
                                        </p:tgtEl>
                                        <p:attrNameLst>
                                          <p:attrName>style.visibility</p:attrName>
                                        </p:attrNameLst>
                                      </p:cBhvr>
                                      <p:to>
                                        <p:strVal val="visible"/>
                                      </p:to>
                                    </p:set>
                                    <p:anim calcmode="lin" valueType="num">
                                      <p:cBhvr additive="base">
                                        <p:cTn id="23" dur="500" fill="hold"/>
                                        <p:tgtEl>
                                          <p:spTgt spid="375818"/>
                                        </p:tgtEl>
                                        <p:attrNameLst>
                                          <p:attrName>ppt_x</p:attrName>
                                        </p:attrNameLst>
                                      </p:cBhvr>
                                      <p:tavLst>
                                        <p:tav tm="0">
                                          <p:val>
                                            <p:strVal val="1+#ppt_w/2"/>
                                          </p:val>
                                        </p:tav>
                                        <p:tav tm="100000">
                                          <p:val>
                                            <p:strVal val="#ppt_x"/>
                                          </p:val>
                                        </p:tav>
                                      </p:tavLst>
                                    </p:anim>
                                    <p:anim calcmode="lin" valueType="num">
                                      <p:cBhvr additive="base">
                                        <p:cTn id="24" dur="500" fill="hold"/>
                                        <p:tgtEl>
                                          <p:spTgt spid="375818"/>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375825"/>
                                        </p:tgtEl>
                                        <p:attrNameLst>
                                          <p:attrName>style.visibility</p:attrName>
                                        </p:attrNameLst>
                                      </p:cBhvr>
                                      <p:to>
                                        <p:strVal val="visible"/>
                                      </p:to>
                                    </p:set>
                                    <p:animEffect transition="in" filter="wipe(left)">
                                      <p:cBhvr>
                                        <p:cTn id="29" dur="500"/>
                                        <p:tgtEl>
                                          <p:spTgt spid="375825"/>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grpId="0" nodeType="clickEffect">
                                  <p:stCondLst>
                                    <p:cond delay="0"/>
                                  </p:stCondLst>
                                  <p:childTnLst>
                                    <p:set>
                                      <p:cBhvr>
                                        <p:cTn id="33" dur="1" fill="hold">
                                          <p:stCondLst>
                                            <p:cond delay="0"/>
                                          </p:stCondLst>
                                        </p:cTn>
                                        <p:tgtEl>
                                          <p:spTgt spid="375819"/>
                                        </p:tgtEl>
                                        <p:attrNameLst>
                                          <p:attrName>style.visibility</p:attrName>
                                        </p:attrNameLst>
                                      </p:cBhvr>
                                      <p:to>
                                        <p:strVal val="visible"/>
                                      </p:to>
                                    </p:set>
                                    <p:animEffect transition="in" filter="box(in)">
                                      <p:cBhvr>
                                        <p:cTn id="34" dur="500"/>
                                        <p:tgtEl>
                                          <p:spTgt spid="3758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7" grpId="0"/>
      <p:bldP spid="375819" grpId="0"/>
      <p:bldP spid="37582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2" name="Text Box 8"/>
          <p:cNvSpPr txBox="1"/>
          <p:nvPr/>
        </p:nvSpPr>
        <p:spPr>
          <a:xfrm>
            <a:off x="611188" y="1320800"/>
            <a:ext cx="6126480" cy="460375"/>
          </a:xfrm>
          <a:prstGeom prst="rect">
            <a:avLst/>
          </a:prstGeom>
          <a:noFill/>
          <a:ln w="9525">
            <a:noFill/>
          </a:ln>
        </p:spPr>
        <p:txBody>
          <a:bodyPr wrap="none">
            <a:spAutoFit/>
          </a:bodyPr>
          <a:lstStyle/>
          <a:p>
            <a:r>
              <a:rPr lang="zh-CN" altLang="en-US" sz="2400" dirty="0">
                <a:solidFill>
                  <a:schemeClr val="accent2"/>
                </a:solidFill>
                <a:latin typeface="Times New Roman" panose="02020603050405020304" pitchFamily="18" charset="0"/>
              </a:rPr>
              <a:t>（</a:t>
            </a:r>
            <a:r>
              <a:rPr lang="en-US" altLang="zh-CN" sz="2400" dirty="0">
                <a:solidFill>
                  <a:schemeClr val="accent2"/>
                </a:solidFill>
                <a:latin typeface="Times New Roman" panose="02020603050405020304" pitchFamily="18" charset="0"/>
              </a:rPr>
              <a:t>3</a:t>
            </a:r>
            <a:r>
              <a:rPr lang="zh-CN" altLang="en-US" sz="2400" dirty="0">
                <a:solidFill>
                  <a:schemeClr val="accent2"/>
                </a:solidFill>
                <a:latin typeface="Times New Roman" panose="02020603050405020304" pitchFamily="18" charset="0"/>
              </a:rPr>
              <a:t>）抽头并联振荡回路（阻抗变换网络）</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376841" name="Text Box 9"/>
          <p:cNvSpPr txBox="1"/>
          <p:nvPr/>
        </p:nvSpPr>
        <p:spPr>
          <a:xfrm>
            <a:off x="539750" y="1773238"/>
            <a:ext cx="8012113" cy="706755"/>
          </a:xfrm>
          <a:prstGeom prst="rect">
            <a:avLst/>
          </a:prstGeom>
          <a:noFill/>
          <a:ln w="9525">
            <a:noFill/>
          </a:ln>
        </p:spPr>
        <p:txBody>
          <a:bodyPr>
            <a:spAutoFit/>
          </a:bodyPr>
          <a:lstStyle/>
          <a:p>
            <a:r>
              <a:rPr lang="zh-CN" altLang="en-US" sz="2000" dirty="0">
                <a:latin typeface="Times New Roman" panose="02020603050405020304" pitchFamily="18" charset="0"/>
              </a:rPr>
              <a:t>激励源或负载与回路电感或电容</a:t>
            </a:r>
            <a:r>
              <a:rPr lang="zh-CN" altLang="en-US" sz="2000" dirty="0">
                <a:solidFill>
                  <a:srgbClr val="FF0000"/>
                </a:solidFill>
                <a:latin typeface="Times New Roman" panose="02020603050405020304" pitchFamily="18" charset="0"/>
              </a:rPr>
              <a:t>部分连接</a:t>
            </a:r>
            <a:r>
              <a:rPr lang="zh-CN" altLang="en-US" sz="2000" dirty="0">
                <a:latin typeface="Times New Roman" panose="02020603050405020304" pitchFamily="18" charset="0"/>
              </a:rPr>
              <a:t>的并联振荡回路称为抽头并联</a:t>
            </a:r>
            <a:r>
              <a:rPr lang="zh-CN" altLang="en-US" sz="2000" dirty="0">
                <a:sym typeface="+mn-ea"/>
              </a:rPr>
              <a:t>振</a:t>
            </a:r>
            <a:r>
              <a:rPr lang="zh-CN" altLang="en-US" sz="2000" dirty="0">
                <a:latin typeface="Times New Roman" panose="02020603050405020304" pitchFamily="18" charset="0"/>
              </a:rPr>
              <a:t>荡回路。</a:t>
            </a:r>
            <a:endParaRPr lang="zh-CN" altLang="en-US" sz="2000" dirty="0">
              <a:latin typeface="Times New Roman" panose="02020603050405020304" pitchFamily="18" charset="0"/>
            </a:endParaRPr>
          </a:p>
        </p:txBody>
      </p:sp>
      <p:pic>
        <p:nvPicPr>
          <p:cNvPr id="376844" name="Picture 12"/>
          <p:cNvPicPr>
            <a:picLocks noChangeAspect="1"/>
          </p:cNvPicPr>
          <p:nvPr/>
        </p:nvPicPr>
        <p:blipFill>
          <a:blip r:embed="rId1"/>
          <a:stretch>
            <a:fillRect/>
          </a:stretch>
        </p:blipFill>
        <p:spPr>
          <a:xfrm>
            <a:off x="2916238" y="2492375"/>
            <a:ext cx="1943100" cy="1819275"/>
          </a:xfrm>
          <a:prstGeom prst="rect">
            <a:avLst/>
          </a:prstGeom>
          <a:noFill/>
          <a:ln w="9525">
            <a:noFill/>
          </a:ln>
        </p:spPr>
      </p:pic>
      <p:pic>
        <p:nvPicPr>
          <p:cNvPr id="376845" name="Picture 13"/>
          <p:cNvPicPr>
            <a:picLocks noChangeAspect="1"/>
          </p:cNvPicPr>
          <p:nvPr/>
        </p:nvPicPr>
        <p:blipFill>
          <a:blip r:embed="rId2"/>
          <a:stretch>
            <a:fillRect/>
          </a:stretch>
        </p:blipFill>
        <p:spPr>
          <a:xfrm>
            <a:off x="684213" y="2492375"/>
            <a:ext cx="1857375" cy="1800225"/>
          </a:xfrm>
          <a:prstGeom prst="rect">
            <a:avLst/>
          </a:prstGeom>
          <a:noFill/>
          <a:ln w="9525">
            <a:noFill/>
          </a:ln>
        </p:spPr>
      </p:pic>
      <p:pic>
        <p:nvPicPr>
          <p:cNvPr id="376846" name="Picture 14"/>
          <p:cNvPicPr>
            <a:picLocks noChangeAspect="1"/>
          </p:cNvPicPr>
          <p:nvPr/>
        </p:nvPicPr>
        <p:blipFill>
          <a:blip r:embed="rId3"/>
          <a:stretch>
            <a:fillRect/>
          </a:stretch>
        </p:blipFill>
        <p:spPr>
          <a:xfrm>
            <a:off x="5219700" y="2349500"/>
            <a:ext cx="1943100" cy="1809750"/>
          </a:xfrm>
          <a:prstGeom prst="rect">
            <a:avLst/>
          </a:prstGeom>
          <a:noFill/>
          <a:ln w="9525">
            <a:noFill/>
          </a:ln>
        </p:spPr>
      </p:pic>
      <p:pic>
        <p:nvPicPr>
          <p:cNvPr id="376847" name="Picture 15"/>
          <p:cNvPicPr>
            <a:picLocks noChangeAspect="1"/>
          </p:cNvPicPr>
          <p:nvPr/>
        </p:nvPicPr>
        <p:blipFill>
          <a:blip r:embed="rId4"/>
          <a:stretch>
            <a:fillRect/>
          </a:stretch>
        </p:blipFill>
        <p:spPr>
          <a:xfrm>
            <a:off x="971550" y="4437063"/>
            <a:ext cx="2038350" cy="1628775"/>
          </a:xfrm>
          <a:prstGeom prst="rect">
            <a:avLst/>
          </a:prstGeom>
          <a:noFill/>
          <a:ln w="9525">
            <a:noFill/>
          </a:ln>
        </p:spPr>
      </p:pic>
      <p:pic>
        <p:nvPicPr>
          <p:cNvPr id="376848" name="Picture 16"/>
          <p:cNvPicPr>
            <a:picLocks noChangeAspect="1"/>
          </p:cNvPicPr>
          <p:nvPr/>
        </p:nvPicPr>
        <p:blipFill>
          <a:blip r:embed="rId5"/>
          <a:stretch>
            <a:fillRect/>
          </a:stretch>
        </p:blipFill>
        <p:spPr>
          <a:xfrm>
            <a:off x="3203575" y="4508500"/>
            <a:ext cx="2000250" cy="1600200"/>
          </a:xfrm>
          <a:prstGeom prst="rect">
            <a:avLst/>
          </a:prstGeom>
          <a:noFill/>
          <a:ln w="9525">
            <a:noFill/>
          </a:ln>
        </p:spPr>
      </p:pic>
      <p:sp>
        <p:nvSpPr>
          <p:cNvPr id="376849" name="Text Box 17"/>
          <p:cNvSpPr txBox="1"/>
          <p:nvPr/>
        </p:nvSpPr>
        <p:spPr>
          <a:xfrm>
            <a:off x="5580380" y="4491355"/>
            <a:ext cx="2618740" cy="1322070"/>
          </a:xfrm>
          <a:prstGeom prst="rect">
            <a:avLst/>
          </a:prstGeom>
          <a:solidFill>
            <a:schemeClr val="accent1">
              <a:lumMod val="20000"/>
              <a:lumOff val="80000"/>
            </a:schemeClr>
          </a:solidFill>
          <a:ln w="9525">
            <a:noFill/>
          </a:ln>
        </p:spPr>
        <p:txBody>
          <a:bodyPr wrap="square">
            <a:spAutoFit/>
          </a:bodyPr>
          <a:lstStyle/>
          <a:p>
            <a:pPr>
              <a:spcBef>
                <a:spcPct val="50000"/>
              </a:spcBef>
            </a:pPr>
            <a:r>
              <a:rPr lang="zh-CN" altLang="en-US" sz="2000" dirty="0">
                <a:solidFill>
                  <a:schemeClr val="tx1"/>
                </a:solidFill>
                <a:latin typeface="Times New Roman" panose="02020603050405020304" pitchFamily="18" charset="0"/>
              </a:rPr>
              <a:t>通过改变抽头位置或电容分压比可以实现回路与信号源的阻抗匹配或阻抗变换。</a:t>
            </a:r>
            <a:endParaRPr lang="zh-CN" altLang="en-US" sz="2000" dirty="0">
              <a:solidFill>
                <a:schemeClr val="tx1"/>
              </a:solidFill>
              <a:latin typeface="Times New Roman" panose="02020603050405020304" pitchFamily="18" charset="0"/>
            </a:endParaRPr>
          </a:p>
        </p:txBody>
      </p:sp>
      <p:sp>
        <p:nvSpPr>
          <p:cNvPr id="376850" name="Rectangle 18"/>
          <p:cNvSpPr/>
          <p:nvPr/>
        </p:nvSpPr>
        <p:spPr>
          <a:xfrm>
            <a:off x="1619250" y="6145213"/>
            <a:ext cx="5731510" cy="460375"/>
          </a:xfrm>
          <a:prstGeom prst="rect">
            <a:avLst/>
          </a:prstGeom>
          <a:noFill/>
          <a:ln w="9525">
            <a:noFill/>
          </a:ln>
        </p:spPr>
        <p:txBody>
          <a:bodyPr wrap="none">
            <a:spAutoFit/>
          </a:bodyPr>
          <a:lstStyle/>
          <a:p>
            <a:r>
              <a:rPr lang="zh-CN" altLang="en-US" sz="2000" dirty="0">
                <a:latin typeface="Times New Roman" panose="02020603050405020304" pitchFamily="18" charset="0"/>
              </a:rPr>
              <a:t>几种常见抽头振荡回路，</a:t>
            </a:r>
            <a:r>
              <a:rPr lang="zh-CN" altLang="en-US" sz="2400" b="1" dirty="0">
                <a:solidFill>
                  <a:srgbClr val="FF0066"/>
                </a:solidFill>
                <a:latin typeface="Times New Roman" panose="02020603050405020304" pitchFamily="18" charset="0"/>
              </a:rPr>
              <a:t>电感分压、电容分压</a:t>
            </a:r>
            <a:endParaRPr lang="zh-CN" altLang="en-US" sz="2000" b="1" dirty="0">
              <a:solidFill>
                <a:srgbClr val="FF0000"/>
              </a:solidFill>
              <a:latin typeface="Times New Roman" panose="02020603050405020304" pitchFamily="18" charset="0"/>
            </a:endParaRPr>
          </a:p>
        </p:txBody>
      </p:sp>
      <p:sp>
        <p:nvSpPr>
          <p:cNvPr id="22536" name="Text Box 8"/>
          <p:cNvSpPr txBox="1"/>
          <p:nvPr/>
        </p:nvSpPr>
        <p:spPr>
          <a:xfrm>
            <a:off x="144463" y="908050"/>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grpSp>
        <p:nvGrpSpPr>
          <p:cNvPr id="11272" name="Group 40"/>
          <p:cNvGrpSpPr/>
          <p:nvPr/>
        </p:nvGrpSpPr>
        <p:grpSpPr>
          <a:xfrm>
            <a:off x="1979613" y="388938"/>
            <a:ext cx="5334000" cy="519113"/>
            <a:chOff x="1287" y="432"/>
            <a:chExt cx="3360" cy="327"/>
          </a:xfrm>
        </p:grpSpPr>
        <p:sp>
          <p:nvSpPr>
            <p:cNvPr id="11280" name="Rectangle 41"/>
            <p:cNvSpPr/>
            <p:nvPr/>
          </p:nvSpPr>
          <p:spPr>
            <a:xfrm>
              <a:off x="1287" y="43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11281" name="Line 42"/>
            <p:cNvSpPr/>
            <p:nvPr/>
          </p:nvSpPr>
          <p:spPr>
            <a:xfrm>
              <a:off x="1469" y="749"/>
              <a:ext cx="3024" cy="0"/>
            </a:xfrm>
            <a:prstGeom prst="line">
              <a:avLst/>
            </a:prstGeom>
            <a:ln w="57150" cap="flat" cmpd="tri">
              <a:solidFill>
                <a:srgbClr val="FF00FF"/>
              </a:solidFill>
              <a:prstDash val="solid"/>
              <a:headEnd type="none" w="sm" len="sm"/>
              <a:tailEnd type="none" w="sm" len="sm"/>
            </a:ln>
          </p:spPr>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7865" name="Object 9"/>
          <p:cNvGraphicFramePr/>
          <p:nvPr/>
        </p:nvGraphicFramePr>
        <p:xfrm>
          <a:off x="2843531" y="2708910"/>
          <a:ext cx="3227070" cy="690245"/>
        </p:xfrm>
        <a:graphic>
          <a:graphicData uri="http://schemas.openxmlformats.org/presentationml/2006/ole">
            <mc:AlternateContent xmlns:mc="http://schemas.openxmlformats.org/markup-compatibility/2006">
              <mc:Choice xmlns:v="urn:schemas-microsoft-com:vml" Requires="v">
                <p:oleObj spid="_x0000_s2" name="" r:id="rId1" imgW="1422400" imgH="444500" progId="Equation.DSMT4">
                  <p:embed/>
                </p:oleObj>
              </mc:Choice>
              <mc:Fallback>
                <p:oleObj name="" r:id="rId1" imgW="1422400" imgH="444500" progId="Equation.DSMT4">
                  <p:embed/>
                  <p:pic>
                    <p:nvPicPr>
                      <p:cNvPr id="0" name="图片 3116"/>
                      <p:cNvPicPr/>
                      <p:nvPr/>
                    </p:nvPicPr>
                    <p:blipFill>
                      <a:blip r:embed="rId2"/>
                      <a:stretch>
                        <a:fillRect/>
                      </a:stretch>
                    </p:blipFill>
                    <p:spPr>
                      <a:xfrm>
                        <a:off x="2843531" y="2708910"/>
                        <a:ext cx="3227070" cy="690245"/>
                      </a:xfrm>
                      <a:prstGeom prst="rect">
                        <a:avLst/>
                      </a:prstGeom>
                      <a:solidFill>
                        <a:schemeClr val="accent1">
                          <a:lumMod val="20000"/>
                          <a:lumOff val="80000"/>
                        </a:schemeClr>
                      </a:solidFill>
                      <a:ln w="38100">
                        <a:noFill/>
                        <a:miter/>
                      </a:ln>
                    </p:spPr>
                  </p:pic>
                </p:oleObj>
              </mc:Fallback>
            </mc:AlternateContent>
          </a:graphicData>
        </a:graphic>
      </p:graphicFrame>
      <p:sp>
        <p:nvSpPr>
          <p:cNvPr id="377866" name="Text Box 10"/>
          <p:cNvSpPr txBox="1"/>
          <p:nvPr/>
        </p:nvSpPr>
        <p:spPr>
          <a:xfrm>
            <a:off x="611188" y="1825625"/>
            <a:ext cx="8085137" cy="829945"/>
          </a:xfrm>
          <a:prstGeom prst="rect">
            <a:avLst/>
          </a:prstGeom>
          <a:noFill/>
          <a:ln w="9525">
            <a:noFill/>
          </a:ln>
        </p:spPr>
        <p:txBody>
          <a:bodyPr>
            <a:spAutoFit/>
          </a:bodyPr>
          <a:lstStyle/>
          <a:p>
            <a:r>
              <a:rPr lang="zh-CN" altLang="en-US" dirty="0">
                <a:latin typeface="Times New Roman" panose="02020603050405020304" pitchFamily="18" charset="0"/>
              </a:rPr>
              <a:t>定义：</a:t>
            </a:r>
            <a:r>
              <a:rPr lang="zh-CN" altLang="en-US" dirty="0">
                <a:solidFill>
                  <a:srgbClr val="FF0066"/>
                </a:solidFill>
                <a:latin typeface="Times New Roman" panose="02020603050405020304" pitchFamily="18" charset="0"/>
              </a:rPr>
              <a:t>接入系数</a:t>
            </a:r>
            <a:r>
              <a:rPr lang="zh-CN" altLang="en-US" dirty="0">
                <a:latin typeface="Times New Roman" panose="02020603050405020304" pitchFamily="18" charset="0"/>
              </a:rPr>
              <a:t>，与外电路相连的那部分电抗与回路参与分压的同性质总电抗之比，即</a:t>
            </a:r>
            <a:endParaRPr lang="zh-CN" altLang="en-US" dirty="0">
              <a:latin typeface="Times New Roman" panose="02020603050405020304" pitchFamily="18" charset="0"/>
            </a:endParaRPr>
          </a:p>
        </p:txBody>
      </p:sp>
      <p:sp>
        <p:nvSpPr>
          <p:cNvPr id="377867" name="Text Box 11"/>
          <p:cNvSpPr txBox="1"/>
          <p:nvPr/>
        </p:nvSpPr>
        <p:spPr>
          <a:xfrm>
            <a:off x="6240780" y="2722245"/>
            <a:ext cx="2431415" cy="706755"/>
          </a:xfrm>
          <a:prstGeom prst="rect">
            <a:avLst/>
          </a:prstGeom>
          <a:noFill/>
          <a:ln w="9525">
            <a:noFill/>
          </a:ln>
        </p:spPr>
        <p:txBody>
          <a:bodyPr wrap="square">
            <a:spAutoFit/>
          </a:bodyPr>
          <a:lstStyle/>
          <a:p>
            <a:r>
              <a:rPr lang="zh-CN" altLang="en-US" sz="2000" dirty="0">
                <a:latin typeface="Times New Roman" panose="02020603050405020304" pitchFamily="18" charset="0"/>
              </a:rPr>
              <a:t>接入系数也称为</a:t>
            </a:r>
            <a:r>
              <a:rPr lang="zh-CN" altLang="en-US" sz="2000" dirty="0">
                <a:solidFill>
                  <a:srgbClr val="FF0066"/>
                </a:solidFill>
                <a:latin typeface="Times New Roman" panose="02020603050405020304" pitchFamily="18" charset="0"/>
              </a:rPr>
              <a:t>电压比或变比。</a:t>
            </a:r>
            <a:endParaRPr lang="zh-CN" altLang="en-US" sz="2000" dirty="0">
              <a:solidFill>
                <a:srgbClr val="FF0066"/>
              </a:solidFill>
              <a:latin typeface="Times New Roman" panose="02020603050405020304" pitchFamily="18" charset="0"/>
            </a:endParaRPr>
          </a:p>
        </p:txBody>
      </p:sp>
      <p:sp>
        <p:nvSpPr>
          <p:cNvPr id="377869" name="Text Box 13"/>
          <p:cNvSpPr txBox="1"/>
          <p:nvPr/>
        </p:nvSpPr>
        <p:spPr>
          <a:xfrm>
            <a:off x="2843530" y="3429000"/>
            <a:ext cx="2170430" cy="922020"/>
          </a:xfrm>
          <a:prstGeom prst="rect">
            <a:avLst/>
          </a:prstGeom>
          <a:noFill/>
          <a:ln w="9525">
            <a:noFill/>
          </a:ln>
        </p:spPr>
        <p:txBody>
          <a:bodyPr wrap="square">
            <a:spAutoFit/>
          </a:bodyPr>
          <a:lstStyle/>
          <a:p>
            <a:r>
              <a:rPr lang="zh-CN" altLang="en-US" sz="1800" dirty="0">
                <a:latin typeface="Times New Roman" panose="02020603050405020304" pitchFamily="18" charset="0"/>
              </a:rPr>
              <a:t>假设谐振时，输入端呈现的电阻为</a:t>
            </a:r>
            <a:r>
              <a:rPr lang="en-US" altLang="zh-CN" sz="1800" dirty="0">
                <a:latin typeface="Times New Roman" panose="02020603050405020304" pitchFamily="18" charset="0"/>
              </a:rPr>
              <a:t>R</a:t>
            </a:r>
            <a:r>
              <a:rPr lang="zh-CN" altLang="en-US" sz="1800" dirty="0">
                <a:latin typeface="Times New Roman" panose="02020603050405020304" pitchFamily="18" charset="0"/>
              </a:rPr>
              <a:t>，由功率相等的关系</a:t>
            </a:r>
            <a:endParaRPr lang="zh-CN" altLang="en-US" sz="1800" dirty="0">
              <a:latin typeface="Times New Roman" panose="02020603050405020304" pitchFamily="18" charset="0"/>
            </a:endParaRPr>
          </a:p>
        </p:txBody>
      </p:sp>
      <p:graphicFrame>
        <p:nvGraphicFramePr>
          <p:cNvPr id="377871" name="Object 15"/>
          <p:cNvGraphicFramePr/>
          <p:nvPr/>
        </p:nvGraphicFramePr>
        <p:xfrm>
          <a:off x="5064284" y="3613626"/>
          <a:ext cx="2494915" cy="728345"/>
        </p:xfrm>
        <a:graphic>
          <a:graphicData uri="http://schemas.openxmlformats.org/presentationml/2006/ole">
            <mc:AlternateContent xmlns:mc="http://schemas.openxmlformats.org/markup-compatibility/2006">
              <mc:Choice xmlns:v="urn:schemas-microsoft-com:vml" Requires="v">
                <p:oleObj spid="_x0000_s3" name="" r:id="rId3" imgW="1562100" imgH="457200" progId="Equation.DSMT4">
                  <p:embed/>
                </p:oleObj>
              </mc:Choice>
              <mc:Fallback>
                <p:oleObj name="" r:id="rId3" imgW="1562100" imgH="457200" progId="Equation.DSMT4">
                  <p:embed/>
                  <p:pic>
                    <p:nvPicPr>
                      <p:cNvPr id="0" name="图片 3107"/>
                      <p:cNvPicPr/>
                      <p:nvPr/>
                    </p:nvPicPr>
                    <p:blipFill>
                      <a:blip r:embed="rId4"/>
                      <a:stretch>
                        <a:fillRect/>
                      </a:stretch>
                    </p:blipFill>
                    <p:spPr>
                      <a:xfrm>
                        <a:off x="5064284" y="3613626"/>
                        <a:ext cx="2494915" cy="728345"/>
                      </a:xfrm>
                      <a:prstGeom prst="rect">
                        <a:avLst/>
                      </a:prstGeom>
                      <a:noFill/>
                      <a:ln w="38100">
                        <a:noFill/>
                        <a:miter/>
                      </a:ln>
                    </p:spPr>
                  </p:pic>
                </p:oleObj>
              </mc:Fallback>
            </mc:AlternateContent>
          </a:graphicData>
        </a:graphic>
      </p:graphicFrame>
      <p:grpSp>
        <p:nvGrpSpPr>
          <p:cNvPr id="5" name="Group 24"/>
          <p:cNvGrpSpPr/>
          <p:nvPr/>
        </p:nvGrpSpPr>
        <p:grpSpPr>
          <a:xfrm>
            <a:off x="539750" y="2781300"/>
            <a:ext cx="2303463" cy="2178050"/>
            <a:chOff x="340" y="1752"/>
            <a:chExt cx="1451" cy="1372"/>
          </a:xfrm>
        </p:grpSpPr>
        <p:graphicFrame>
          <p:nvGraphicFramePr>
            <p:cNvPr id="23560" name="Object 12"/>
            <p:cNvGraphicFramePr/>
            <p:nvPr/>
          </p:nvGraphicFramePr>
          <p:xfrm>
            <a:off x="340" y="1752"/>
            <a:ext cx="1451" cy="1372"/>
          </p:xfrm>
          <a:graphic>
            <a:graphicData uri="http://schemas.openxmlformats.org/presentationml/2006/ole">
              <mc:AlternateContent xmlns:mc="http://schemas.openxmlformats.org/markup-compatibility/2006">
                <mc:Choice xmlns:v="urn:schemas-microsoft-com:vml" Requires="v">
                  <p:oleObj spid="_x0000_s4" name="" r:id="rId5" imgW="1219200" imgH="1156335" progId="Visio.Drawing.6">
                    <p:embed/>
                  </p:oleObj>
                </mc:Choice>
                <mc:Fallback>
                  <p:oleObj name="" r:id="rId5" imgW="1219200" imgH="1156335" progId="Visio.Drawing.6">
                    <p:embed/>
                    <p:pic>
                      <p:nvPicPr>
                        <p:cNvPr id="0" name="图片 3105"/>
                        <p:cNvPicPr/>
                        <p:nvPr/>
                      </p:nvPicPr>
                      <p:blipFill>
                        <a:blip r:embed="rId6"/>
                        <a:stretch>
                          <a:fillRect/>
                        </a:stretch>
                      </p:blipFill>
                      <p:spPr>
                        <a:xfrm>
                          <a:off x="340" y="1752"/>
                          <a:ext cx="1451" cy="1372"/>
                        </a:xfrm>
                        <a:prstGeom prst="rect">
                          <a:avLst/>
                        </a:prstGeom>
                        <a:noFill/>
                        <a:ln w="38100">
                          <a:noFill/>
                          <a:miter/>
                        </a:ln>
                      </p:spPr>
                    </p:pic>
                  </p:oleObj>
                </mc:Fallback>
              </mc:AlternateContent>
            </a:graphicData>
          </a:graphic>
        </p:graphicFrame>
        <p:graphicFrame>
          <p:nvGraphicFramePr>
            <p:cNvPr id="23561" name="Object 17"/>
            <p:cNvGraphicFramePr/>
            <p:nvPr/>
          </p:nvGraphicFramePr>
          <p:xfrm>
            <a:off x="871" y="2614"/>
            <a:ext cx="163" cy="226"/>
          </p:xfrm>
          <a:graphic>
            <a:graphicData uri="http://schemas.openxmlformats.org/presentationml/2006/ole">
              <mc:AlternateContent xmlns:mc="http://schemas.openxmlformats.org/markup-compatibility/2006">
                <mc:Choice xmlns:v="urn:schemas-microsoft-com:vml" Requires="v">
                  <p:oleObj spid="_x0000_s6" name="" r:id="rId7" imgW="165100" imgH="228600" progId="Equation.DSMT4">
                    <p:embed/>
                  </p:oleObj>
                </mc:Choice>
                <mc:Fallback>
                  <p:oleObj name="" r:id="rId7" imgW="165100" imgH="228600" progId="Equation.DSMT4">
                    <p:embed/>
                    <p:pic>
                      <p:nvPicPr>
                        <p:cNvPr id="0" name="图片 3114"/>
                        <p:cNvPicPr/>
                        <p:nvPr/>
                      </p:nvPicPr>
                      <p:blipFill>
                        <a:blip r:embed="rId8"/>
                        <a:stretch>
                          <a:fillRect/>
                        </a:stretch>
                      </p:blipFill>
                      <p:spPr>
                        <a:xfrm>
                          <a:off x="871" y="2614"/>
                          <a:ext cx="163" cy="226"/>
                        </a:xfrm>
                        <a:prstGeom prst="rect">
                          <a:avLst/>
                        </a:prstGeom>
                        <a:noFill/>
                        <a:ln w="38100">
                          <a:noFill/>
                          <a:miter/>
                        </a:ln>
                      </p:spPr>
                    </p:pic>
                  </p:oleObj>
                </mc:Fallback>
              </mc:AlternateContent>
            </a:graphicData>
          </a:graphic>
        </p:graphicFrame>
      </p:grpSp>
      <p:sp>
        <p:nvSpPr>
          <p:cNvPr id="377874" name="Text Box 18"/>
          <p:cNvSpPr txBox="1"/>
          <p:nvPr/>
        </p:nvSpPr>
        <p:spPr>
          <a:xfrm>
            <a:off x="395605" y="5336858"/>
            <a:ext cx="3994150" cy="396875"/>
          </a:xfrm>
          <a:prstGeom prst="rect">
            <a:avLst/>
          </a:prstGeom>
          <a:noFill/>
          <a:ln w="9525">
            <a:noFill/>
          </a:ln>
        </p:spPr>
        <p:txBody>
          <a:bodyPr wrap="none">
            <a:spAutoFit/>
          </a:bodyPr>
          <a:lstStyle/>
          <a:p>
            <a:r>
              <a:rPr lang="zh-CN" altLang="en-US" sz="2000" dirty="0">
                <a:latin typeface="Times New Roman" panose="02020603050405020304" pitchFamily="18" charset="0"/>
              </a:rPr>
              <a:t>接入系数用元件参数表示，则为：</a:t>
            </a:r>
            <a:endParaRPr lang="zh-CN" altLang="en-US" sz="2000" dirty="0">
              <a:latin typeface="Times New Roman" panose="02020603050405020304" pitchFamily="18" charset="0"/>
            </a:endParaRPr>
          </a:p>
        </p:txBody>
      </p:sp>
      <p:graphicFrame>
        <p:nvGraphicFramePr>
          <p:cNvPr id="377875" name="Object 19"/>
          <p:cNvGraphicFramePr/>
          <p:nvPr/>
        </p:nvGraphicFramePr>
        <p:xfrm>
          <a:off x="4283710" y="5213350"/>
          <a:ext cx="1798320" cy="570865"/>
        </p:xfrm>
        <a:graphic>
          <a:graphicData uri="http://schemas.openxmlformats.org/presentationml/2006/ole">
            <mc:AlternateContent xmlns:mc="http://schemas.openxmlformats.org/markup-compatibility/2006">
              <mc:Choice xmlns:v="urn:schemas-microsoft-com:vml" Requires="v">
                <p:oleObj spid="_x0000_s7" name="" r:id="rId9" imgW="1015365" imgH="342900" progId="Equation.DSMT4">
                  <p:embed/>
                </p:oleObj>
              </mc:Choice>
              <mc:Fallback>
                <p:oleObj name="" r:id="rId9" imgW="1015365" imgH="342900" progId="Equation.DSMT4">
                  <p:embed/>
                  <p:pic>
                    <p:nvPicPr>
                      <p:cNvPr id="0" name="图片 3108"/>
                      <p:cNvPicPr/>
                      <p:nvPr/>
                    </p:nvPicPr>
                    <p:blipFill>
                      <a:blip r:embed="rId10"/>
                      <a:stretch>
                        <a:fillRect/>
                      </a:stretch>
                    </p:blipFill>
                    <p:spPr>
                      <a:xfrm>
                        <a:off x="4283710" y="5213350"/>
                        <a:ext cx="1798320" cy="570865"/>
                      </a:xfrm>
                      <a:prstGeom prst="rect">
                        <a:avLst/>
                      </a:prstGeom>
                      <a:noFill/>
                      <a:ln w="38100">
                        <a:noFill/>
                        <a:miter/>
                      </a:ln>
                    </p:spPr>
                  </p:pic>
                </p:oleObj>
              </mc:Fallback>
            </mc:AlternateContent>
          </a:graphicData>
        </a:graphic>
      </p:graphicFrame>
      <p:graphicFrame>
        <p:nvGraphicFramePr>
          <p:cNvPr id="377876" name="Object 20"/>
          <p:cNvGraphicFramePr/>
          <p:nvPr/>
        </p:nvGraphicFramePr>
        <p:xfrm>
          <a:off x="4355465" y="5986145"/>
          <a:ext cx="1737995" cy="622300"/>
        </p:xfrm>
        <a:graphic>
          <a:graphicData uri="http://schemas.openxmlformats.org/presentationml/2006/ole">
            <mc:AlternateContent xmlns:mc="http://schemas.openxmlformats.org/markup-compatibility/2006">
              <mc:Choice xmlns:v="urn:schemas-microsoft-com:vml" Requires="v">
                <p:oleObj spid="_x0000_s8" name="" r:id="rId11" imgW="951865" imgH="342900" progId="Equation.DSMT4">
                  <p:embed/>
                </p:oleObj>
              </mc:Choice>
              <mc:Fallback>
                <p:oleObj name="" r:id="rId11" imgW="951865" imgH="342900" progId="Equation.DSMT4">
                  <p:embed/>
                  <p:pic>
                    <p:nvPicPr>
                      <p:cNvPr id="0" name="图片 3117"/>
                      <p:cNvPicPr/>
                      <p:nvPr/>
                    </p:nvPicPr>
                    <p:blipFill>
                      <a:blip r:embed="rId12"/>
                      <a:stretch>
                        <a:fillRect/>
                      </a:stretch>
                    </p:blipFill>
                    <p:spPr>
                      <a:xfrm>
                        <a:off x="4355465" y="5986145"/>
                        <a:ext cx="1737995" cy="622300"/>
                      </a:xfrm>
                      <a:prstGeom prst="rect">
                        <a:avLst/>
                      </a:prstGeom>
                      <a:noFill/>
                      <a:ln w="38100">
                        <a:noFill/>
                        <a:miter/>
                      </a:ln>
                    </p:spPr>
                  </p:pic>
                </p:oleObj>
              </mc:Fallback>
            </mc:AlternateContent>
          </a:graphicData>
        </a:graphic>
      </p:graphicFrame>
      <p:sp>
        <p:nvSpPr>
          <p:cNvPr id="377877" name="Text Box 21"/>
          <p:cNvSpPr txBox="1"/>
          <p:nvPr/>
        </p:nvSpPr>
        <p:spPr>
          <a:xfrm>
            <a:off x="6155690" y="5327015"/>
            <a:ext cx="1708150" cy="457200"/>
          </a:xfrm>
          <a:prstGeom prst="rect">
            <a:avLst/>
          </a:prstGeom>
          <a:noFill/>
          <a:ln w="9525">
            <a:noFill/>
          </a:ln>
        </p:spPr>
        <p:txBody>
          <a:bodyPr wrap="none">
            <a:spAutoFit/>
          </a:bodyPr>
          <a:lstStyle/>
          <a:p>
            <a:r>
              <a:rPr lang="zh-CN" altLang="en-US" dirty="0">
                <a:latin typeface="Times New Roman" panose="02020603050405020304" pitchFamily="18" charset="0"/>
              </a:rPr>
              <a:t>不考虑互感</a:t>
            </a:r>
            <a:endParaRPr lang="zh-CN" altLang="en-US" dirty="0">
              <a:latin typeface="Times New Roman" panose="02020603050405020304" pitchFamily="18" charset="0"/>
            </a:endParaRPr>
          </a:p>
        </p:txBody>
      </p:sp>
      <p:sp>
        <p:nvSpPr>
          <p:cNvPr id="377878" name="Text Box 22"/>
          <p:cNvSpPr txBox="1"/>
          <p:nvPr/>
        </p:nvSpPr>
        <p:spPr>
          <a:xfrm>
            <a:off x="6155690" y="5986145"/>
            <a:ext cx="1403350" cy="457200"/>
          </a:xfrm>
          <a:prstGeom prst="rect">
            <a:avLst/>
          </a:prstGeom>
          <a:noFill/>
          <a:ln w="9525">
            <a:noFill/>
          </a:ln>
        </p:spPr>
        <p:txBody>
          <a:bodyPr wrap="none">
            <a:spAutoFit/>
          </a:bodyPr>
          <a:lstStyle/>
          <a:p>
            <a:r>
              <a:rPr lang="zh-CN" altLang="en-US" dirty="0">
                <a:latin typeface="Times New Roman" panose="02020603050405020304" pitchFamily="18" charset="0"/>
              </a:rPr>
              <a:t>考虑互感</a:t>
            </a:r>
            <a:endParaRPr lang="zh-CN" altLang="en-US" dirty="0">
              <a:latin typeface="Times New Roman" panose="02020603050405020304" pitchFamily="18" charset="0"/>
            </a:endParaRPr>
          </a:p>
        </p:txBody>
      </p:sp>
      <p:graphicFrame>
        <p:nvGraphicFramePr>
          <p:cNvPr id="377879" name="Object 23"/>
          <p:cNvGraphicFramePr/>
          <p:nvPr/>
        </p:nvGraphicFramePr>
        <p:xfrm>
          <a:off x="4528186" y="4437539"/>
          <a:ext cx="3345815" cy="794385"/>
        </p:xfrm>
        <a:graphic>
          <a:graphicData uri="http://schemas.openxmlformats.org/presentationml/2006/ole">
            <mc:AlternateContent xmlns:mc="http://schemas.openxmlformats.org/markup-compatibility/2006">
              <mc:Choice xmlns:v="urn:schemas-microsoft-com:vml" Requires="v">
                <p:oleObj spid="_x0000_s9" name="" r:id="rId13" imgW="2032000" imgH="482600" progId="Equation.DSMT4">
                  <p:embed/>
                </p:oleObj>
              </mc:Choice>
              <mc:Fallback>
                <p:oleObj name="" r:id="rId13" imgW="2032000" imgH="482600" progId="Equation.DSMT4">
                  <p:embed/>
                  <p:pic>
                    <p:nvPicPr>
                      <p:cNvPr id="0" name="图片 3109"/>
                      <p:cNvPicPr/>
                      <p:nvPr/>
                    </p:nvPicPr>
                    <p:blipFill>
                      <a:blip r:embed="rId14"/>
                      <a:stretch>
                        <a:fillRect/>
                      </a:stretch>
                    </p:blipFill>
                    <p:spPr>
                      <a:xfrm>
                        <a:off x="4528186" y="4437539"/>
                        <a:ext cx="3345815" cy="794385"/>
                      </a:xfrm>
                      <a:prstGeom prst="rect">
                        <a:avLst/>
                      </a:prstGeom>
                      <a:noFill/>
                      <a:ln w="38100">
                        <a:noFill/>
                        <a:miter/>
                      </a:ln>
                    </p:spPr>
                  </p:pic>
                </p:oleObj>
              </mc:Fallback>
            </mc:AlternateContent>
          </a:graphicData>
        </a:graphic>
      </p:graphicFrame>
      <p:sp>
        <p:nvSpPr>
          <p:cNvPr id="22536" name="Text Box 8"/>
          <p:cNvSpPr txBox="1"/>
          <p:nvPr/>
        </p:nvSpPr>
        <p:spPr>
          <a:xfrm>
            <a:off x="144463" y="908050"/>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sp>
        <p:nvSpPr>
          <p:cNvPr id="78852" name="Text Box 8"/>
          <p:cNvSpPr txBox="1"/>
          <p:nvPr/>
        </p:nvSpPr>
        <p:spPr>
          <a:xfrm>
            <a:off x="611188" y="1320800"/>
            <a:ext cx="6126480" cy="460375"/>
          </a:xfrm>
          <a:prstGeom prst="rect">
            <a:avLst/>
          </a:prstGeom>
          <a:noFill/>
          <a:ln w="9525">
            <a:noFill/>
          </a:ln>
        </p:spPr>
        <p:txBody>
          <a:bodyPr wrap="none">
            <a:spAutoFit/>
          </a:bodyPr>
          <a:lstStyle/>
          <a:p>
            <a:r>
              <a:rPr lang="zh-CN" altLang="en-US" sz="2400" dirty="0">
                <a:solidFill>
                  <a:schemeClr val="accent2"/>
                </a:solidFill>
                <a:latin typeface="Times New Roman" panose="02020603050405020304" pitchFamily="18" charset="0"/>
              </a:rPr>
              <a:t>（</a:t>
            </a:r>
            <a:r>
              <a:rPr lang="en-US" altLang="zh-CN" sz="2400" dirty="0">
                <a:solidFill>
                  <a:schemeClr val="accent2"/>
                </a:solidFill>
                <a:latin typeface="Times New Roman" panose="02020603050405020304" pitchFamily="18" charset="0"/>
              </a:rPr>
              <a:t>3</a:t>
            </a:r>
            <a:r>
              <a:rPr lang="zh-CN" altLang="en-US" sz="2400" dirty="0">
                <a:solidFill>
                  <a:schemeClr val="accent2"/>
                </a:solidFill>
                <a:latin typeface="Times New Roman" panose="02020603050405020304" pitchFamily="18" charset="0"/>
              </a:rPr>
              <a:t>）抽头并联振荡回路（阻抗变换网络）</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nvGrpSpPr>
          <p:cNvPr id="11272" name="Group 40"/>
          <p:cNvGrpSpPr/>
          <p:nvPr/>
        </p:nvGrpSpPr>
        <p:grpSpPr>
          <a:xfrm>
            <a:off x="1979613" y="388938"/>
            <a:ext cx="5334000" cy="519113"/>
            <a:chOff x="1287" y="432"/>
            <a:chExt cx="3360" cy="327"/>
          </a:xfrm>
        </p:grpSpPr>
        <p:sp>
          <p:nvSpPr>
            <p:cNvPr id="11280" name="Rectangle 41"/>
            <p:cNvSpPr/>
            <p:nvPr/>
          </p:nvSpPr>
          <p:spPr>
            <a:xfrm>
              <a:off x="1287" y="43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11281" name="Line 42"/>
            <p:cNvSpPr/>
            <p:nvPr/>
          </p:nvSpPr>
          <p:spPr>
            <a:xfrm>
              <a:off x="1469" y="749"/>
              <a:ext cx="3024" cy="0"/>
            </a:xfrm>
            <a:prstGeom prst="line">
              <a:avLst/>
            </a:prstGeom>
            <a:ln w="57150" cap="flat" cmpd="tri">
              <a:solidFill>
                <a:srgbClr val="FF00FF"/>
              </a:solidFill>
              <a:prstDash val="solid"/>
              <a:headEnd type="none" w="sm" len="sm"/>
              <a:tailEnd type="none" w="sm" len="sm"/>
            </a:ln>
          </p:spPr>
        </p:sp>
      </p:grpSp>
      <p:pic>
        <p:nvPicPr>
          <p:cNvPr id="13" name="图片 12"/>
          <p:cNvPicPr>
            <a:picLocks noChangeAspect="1"/>
          </p:cNvPicPr>
          <p:nvPr/>
        </p:nvPicPr>
        <p:blipFill>
          <a:blip r:embed="rId15"/>
          <a:srcRect t="26111"/>
          <a:stretch>
            <a:fillRect/>
          </a:stretch>
        </p:blipFill>
        <p:spPr>
          <a:xfrm>
            <a:off x="35560" y="3860800"/>
            <a:ext cx="438150" cy="760095"/>
          </a:xfrm>
          <a:prstGeom prst="rect">
            <a:avLst/>
          </a:prstGeom>
        </p:spPr>
      </p:pic>
      <p:sp>
        <p:nvSpPr>
          <p:cNvPr id="14" name="右箭头 13"/>
          <p:cNvSpPr/>
          <p:nvPr/>
        </p:nvSpPr>
        <p:spPr>
          <a:xfrm>
            <a:off x="4116070" y="4676140"/>
            <a:ext cx="360045" cy="288290"/>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8889" name="Object 9"/>
          <p:cNvGraphicFramePr/>
          <p:nvPr/>
        </p:nvGraphicFramePr>
        <p:xfrm>
          <a:off x="2268220" y="1628775"/>
          <a:ext cx="6781800" cy="1822450"/>
        </p:xfrm>
        <a:graphic>
          <a:graphicData uri="http://schemas.openxmlformats.org/presentationml/2006/ole">
            <mc:AlternateContent xmlns:mc="http://schemas.openxmlformats.org/markup-compatibility/2006">
              <mc:Choice xmlns:v="urn:schemas-microsoft-com:vml" Requires="v">
                <p:oleObj spid="_x0000_s2" name="" r:id="rId1" imgW="3618230" imgH="972185" progId="Visio.Drawing.4">
                  <p:embed/>
                </p:oleObj>
              </mc:Choice>
              <mc:Fallback>
                <p:oleObj name="" r:id="rId1" imgW="3618230" imgH="972185" progId="Visio.Drawing.4">
                  <p:embed/>
                  <p:pic>
                    <p:nvPicPr>
                      <p:cNvPr id="0" name="图片 3199"/>
                      <p:cNvPicPr/>
                      <p:nvPr/>
                    </p:nvPicPr>
                    <p:blipFill>
                      <a:blip r:embed="rId2"/>
                      <a:stretch>
                        <a:fillRect/>
                      </a:stretch>
                    </p:blipFill>
                    <p:spPr>
                      <a:xfrm>
                        <a:off x="2268220" y="1628775"/>
                        <a:ext cx="6781800" cy="1822450"/>
                      </a:xfrm>
                      <a:prstGeom prst="rect">
                        <a:avLst/>
                      </a:prstGeom>
                      <a:noFill/>
                      <a:ln w="38100">
                        <a:noFill/>
                        <a:miter/>
                      </a:ln>
                    </p:spPr>
                  </p:pic>
                </p:oleObj>
              </mc:Fallback>
            </mc:AlternateContent>
          </a:graphicData>
        </a:graphic>
      </p:graphicFrame>
      <p:sp>
        <p:nvSpPr>
          <p:cNvPr id="378890" name="Text Box 10"/>
          <p:cNvSpPr txBox="1"/>
          <p:nvPr/>
        </p:nvSpPr>
        <p:spPr>
          <a:xfrm>
            <a:off x="539750" y="3500755"/>
            <a:ext cx="3473450" cy="460375"/>
          </a:xfrm>
          <a:prstGeom prst="rect">
            <a:avLst/>
          </a:prstGeom>
          <a:noFill/>
          <a:ln w="9525">
            <a:noFill/>
          </a:ln>
        </p:spPr>
        <p:txBody>
          <a:bodyPr wrap="square">
            <a:spAutoFit/>
          </a:bodyPr>
          <a:lstStyle/>
          <a:p>
            <a:r>
              <a:rPr lang="zh-CN" altLang="en-US" dirty="0">
                <a:latin typeface="Times New Roman" panose="02020603050405020304" pitchFamily="18" charset="0"/>
              </a:rPr>
              <a:t>同样根据功率相等，有</a:t>
            </a:r>
            <a:endParaRPr lang="zh-CN" altLang="en-US" dirty="0">
              <a:latin typeface="Times New Roman" panose="02020603050405020304" pitchFamily="18" charset="0"/>
            </a:endParaRPr>
          </a:p>
        </p:txBody>
      </p:sp>
      <p:graphicFrame>
        <p:nvGraphicFramePr>
          <p:cNvPr id="378891" name="Object 11"/>
          <p:cNvGraphicFramePr/>
          <p:nvPr/>
        </p:nvGraphicFramePr>
        <p:xfrm>
          <a:off x="3968750" y="3423285"/>
          <a:ext cx="2590800" cy="666750"/>
        </p:xfrm>
        <a:graphic>
          <a:graphicData uri="http://schemas.openxmlformats.org/presentationml/2006/ole">
            <mc:AlternateContent xmlns:mc="http://schemas.openxmlformats.org/markup-compatibility/2006">
              <mc:Choice xmlns:v="urn:schemas-microsoft-com:vml" Requires="v">
                <p:oleObj spid="_x0000_s3" name="" r:id="rId3" imgW="1675765" imgH="431800" progId="Equation.DSMT4">
                  <p:embed/>
                </p:oleObj>
              </mc:Choice>
              <mc:Fallback>
                <p:oleObj name="" r:id="rId3" imgW="1675765" imgH="431800" progId="Equation.DSMT4">
                  <p:embed/>
                  <p:pic>
                    <p:nvPicPr>
                      <p:cNvPr id="0" name="图片 3203"/>
                      <p:cNvPicPr/>
                      <p:nvPr/>
                    </p:nvPicPr>
                    <p:blipFill>
                      <a:blip r:embed="rId4"/>
                      <a:stretch>
                        <a:fillRect/>
                      </a:stretch>
                    </p:blipFill>
                    <p:spPr>
                      <a:xfrm>
                        <a:off x="3968750" y="3423285"/>
                        <a:ext cx="2590800" cy="666750"/>
                      </a:xfrm>
                      <a:prstGeom prst="rect">
                        <a:avLst/>
                      </a:prstGeom>
                      <a:noFill/>
                      <a:ln w="38100">
                        <a:noFill/>
                        <a:miter/>
                      </a:ln>
                    </p:spPr>
                  </p:pic>
                </p:oleObj>
              </mc:Fallback>
            </mc:AlternateContent>
          </a:graphicData>
        </a:graphic>
      </p:graphicFrame>
      <p:grpSp>
        <p:nvGrpSpPr>
          <p:cNvPr id="4" name="Group 28"/>
          <p:cNvGrpSpPr/>
          <p:nvPr/>
        </p:nvGrpSpPr>
        <p:grpSpPr>
          <a:xfrm>
            <a:off x="2195195" y="3961130"/>
            <a:ext cx="3609975" cy="490538"/>
            <a:chOff x="748" y="2070"/>
            <a:chExt cx="2274" cy="309"/>
          </a:xfrm>
        </p:grpSpPr>
        <p:sp>
          <p:nvSpPr>
            <p:cNvPr id="25623" name="Text Box 12"/>
            <p:cNvSpPr txBox="1"/>
            <p:nvPr/>
          </p:nvSpPr>
          <p:spPr>
            <a:xfrm>
              <a:off x="748" y="2070"/>
              <a:ext cx="691" cy="290"/>
            </a:xfrm>
            <a:prstGeom prst="rect">
              <a:avLst/>
            </a:prstGeom>
            <a:noFill/>
            <a:ln w="9525">
              <a:noFill/>
            </a:ln>
          </p:spPr>
          <p:txBody>
            <a:bodyPr wrap="none">
              <a:spAutoFit/>
            </a:bodyPr>
            <a:lstStyle/>
            <a:p>
              <a:r>
                <a:rPr lang="zh-CN" altLang="en-US" dirty="0">
                  <a:latin typeface="Times New Roman" panose="02020603050405020304" pitchFamily="18" charset="0"/>
                </a:rPr>
                <a:t>则有：</a:t>
              </a:r>
              <a:endParaRPr lang="zh-CN" altLang="en-US" dirty="0">
                <a:latin typeface="Times New Roman" panose="02020603050405020304" pitchFamily="18" charset="0"/>
              </a:endParaRPr>
            </a:p>
          </p:txBody>
        </p:sp>
        <p:graphicFrame>
          <p:nvGraphicFramePr>
            <p:cNvPr id="25609" name="Object 13"/>
            <p:cNvGraphicFramePr/>
            <p:nvPr/>
          </p:nvGraphicFramePr>
          <p:xfrm>
            <a:off x="1338" y="2101"/>
            <a:ext cx="1684" cy="278"/>
          </p:xfrm>
          <a:graphic>
            <a:graphicData uri="http://schemas.openxmlformats.org/presentationml/2006/ole">
              <mc:AlternateContent xmlns:mc="http://schemas.openxmlformats.org/markup-compatibility/2006">
                <mc:Choice xmlns:v="urn:schemas-microsoft-com:vml" Requires="v">
                  <p:oleObj spid="_x0000_s5" name="" r:id="rId5" imgW="1384300" imgH="228600" progId="Equation.DSMT4">
                    <p:embed/>
                  </p:oleObj>
                </mc:Choice>
                <mc:Fallback>
                  <p:oleObj name="" r:id="rId5" imgW="1384300" imgH="228600" progId="Equation.DSMT4">
                    <p:embed/>
                    <p:pic>
                      <p:nvPicPr>
                        <p:cNvPr id="0" name="图片 3213"/>
                        <p:cNvPicPr/>
                        <p:nvPr/>
                      </p:nvPicPr>
                      <p:blipFill>
                        <a:blip r:embed="rId6"/>
                        <a:stretch>
                          <a:fillRect/>
                        </a:stretch>
                      </p:blipFill>
                      <p:spPr>
                        <a:xfrm>
                          <a:off x="1338" y="2101"/>
                          <a:ext cx="1684" cy="278"/>
                        </a:xfrm>
                        <a:prstGeom prst="rect">
                          <a:avLst/>
                        </a:prstGeom>
                        <a:noFill/>
                        <a:ln w="38100">
                          <a:noFill/>
                          <a:miter/>
                        </a:ln>
                      </p:spPr>
                    </p:pic>
                  </p:oleObj>
                </mc:Fallback>
              </mc:AlternateContent>
            </a:graphicData>
          </a:graphic>
        </p:graphicFrame>
      </p:grpSp>
      <p:graphicFrame>
        <p:nvGraphicFramePr>
          <p:cNvPr id="378897" name="Object 17"/>
          <p:cNvGraphicFramePr/>
          <p:nvPr/>
        </p:nvGraphicFramePr>
        <p:xfrm>
          <a:off x="3002915" y="5085080"/>
          <a:ext cx="1551940" cy="796925"/>
        </p:xfrm>
        <a:graphic>
          <a:graphicData uri="http://schemas.openxmlformats.org/presentationml/2006/ole">
            <mc:AlternateContent xmlns:mc="http://schemas.openxmlformats.org/markup-compatibility/2006">
              <mc:Choice xmlns:v="urn:schemas-microsoft-com:vml" Requires="v">
                <p:oleObj spid="_x0000_s6" name="" r:id="rId7" imgW="888365" imgH="431800" progId="Equation.DSMT4">
                  <p:embed/>
                </p:oleObj>
              </mc:Choice>
              <mc:Fallback>
                <p:oleObj name="" r:id="rId7" imgW="888365" imgH="431800" progId="Equation.DSMT4">
                  <p:embed/>
                  <p:pic>
                    <p:nvPicPr>
                      <p:cNvPr id="0" name="图片 3215"/>
                      <p:cNvPicPr/>
                      <p:nvPr/>
                    </p:nvPicPr>
                    <p:blipFill>
                      <a:blip r:embed="rId8"/>
                      <a:stretch>
                        <a:fillRect/>
                      </a:stretch>
                    </p:blipFill>
                    <p:spPr>
                      <a:xfrm>
                        <a:off x="3002915" y="5085080"/>
                        <a:ext cx="1551940" cy="796925"/>
                      </a:xfrm>
                      <a:prstGeom prst="rect">
                        <a:avLst/>
                      </a:prstGeom>
                      <a:noFill/>
                      <a:ln w="38100">
                        <a:noFill/>
                        <a:miter/>
                      </a:ln>
                    </p:spPr>
                  </p:pic>
                </p:oleObj>
              </mc:Fallback>
            </mc:AlternateContent>
          </a:graphicData>
        </a:graphic>
      </p:graphicFrame>
      <p:graphicFrame>
        <p:nvGraphicFramePr>
          <p:cNvPr id="378898" name="Object 18"/>
          <p:cNvGraphicFramePr/>
          <p:nvPr/>
        </p:nvGraphicFramePr>
        <p:xfrm>
          <a:off x="683578" y="5073015"/>
          <a:ext cx="1836737" cy="1533525"/>
        </p:xfrm>
        <a:graphic>
          <a:graphicData uri="http://schemas.openxmlformats.org/presentationml/2006/ole">
            <mc:AlternateContent xmlns:mc="http://schemas.openxmlformats.org/markup-compatibility/2006">
              <mc:Choice xmlns:v="urn:schemas-microsoft-com:vml" Requires="v">
                <p:oleObj spid="_x0000_s7" name="" r:id="rId9" imgW="1002665" imgH="837565" progId="Equation.DSMT4">
                  <p:embed/>
                </p:oleObj>
              </mc:Choice>
              <mc:Fallback>
                <p:oleObj name="" r:id="rId9" imgW="1002665" imgH="837565" progId="Equation.DSMT4">
                  <p:embed/>
                  <p:pic>
                    <p:nvPicPr>
                      <p:cNvPr id="0" name="图片 3212"/>
                      <p:cNvPicPr/>
                      <p:nvPr/>
                    </p:nvPicPr>
                    <p:blipFill>
                      <a:blip r:embed="rId10"/>
                      <a:stretch>
                        <a:fillRect/>
                      </a:stretch>
                    </p:blipFill>
                    <p:spPr>
                      <a:xfrm>
                        <a:off x="683578" y="5073015"/>
                        <a:ext cx="1836737" cy="1533525"/>
                      </a:xfrm>
                      <a:prstGeom prst="rect">
                        <a:avLst/>
                      </a:prstGeom>
                      <a:noFill/>
                      <a:ln w="38100">
                        <a:noFill/>
                        <a:miter/>
                      </a:ln>
                    </p:spPr>
                  </p:pic>
                </p:oleObj>
              </mc:Fallback>
            </mc:AlternateContent>
          </a:graphicData>
        </a:graphic>
      </p:graphicFrame>
      <p:graphicFrame>
        <p:nvGraphicFramePr>
          <p:cNvPr id="378901" name="Object 21"/>
          <p:cNvGraphicFramePr/>
          <p:nvPr/>
        </p:nvGraphicFramePr>
        <p:xfrm>
          <a:off x="5013008" y="5720398"/>
          <a:ext cx="1295400" cy="485775"/>
        </p:xfrm>
        <a:graphic>
          <a:graphicData uri="http://schemas.openxmlformats.org/presentationml/2006/ole">
            <mc:AlternateContent xmlns:mc="http://schemas.openxmlformats.org/markup-compatibility/2006">
              <mc:Choice xmlns:v="urn:schemas-microsoft-com:vml" Requires="v">
                <p:oleObj spid="_x0000_s8" name="" r:id="rId11" imgW="609600" imgH="228600" progId="Equation.DSMT4">
                  <p:embed/>
                </p:oleObj>
              </mc:Choice>
              <mc:Fallback>
                <p:oleObj name="" r:id="rId11" imgW="609600" imgH="228600" progId="Equation.DSMT4">
                  <p:embed/>
                  <p:pic>
                    <p:nvPicPr>
                      <p:cNvPr id="0" name="图片 3204"/>
                      <p:cNvPicPr/>
                      <p:nvPr/>
                    </p:nvPicPr>
                    <p:blipFill>
                      <a:blip r:embed="rId12"/>
                      <a:stretch>
                        <a:fillRect/>
                      </a:stretch>
                    </p:blipFill>
                    <p:spPr>
                      <a:xfrm>
                        <a:off x="5013008" y="5720398"/>
                        <a:ext cx="1295400" cy="485775"/>
                      </a:xfrm>
                      <a:prstGeom prst="rect">
                        <a:avLst/>
                      </a:prstGeom>
                      <a:noFill/>
                      <a:ln w="38100">
                        <a:noFill/>
                        <a:miter/>
                      </a:ln>
                    </p:spPr>
                  </p:pic>
                </p:oleObj>
              </mc:Fallback>
            </mc:AlternateContent>
          </a:graphicData>
        </a:graphic>
      </p:graphicFrame>
      <p:grpSp>
        <p:nvGrpSpPr>
          <p:cNvPr id="9" name="Group 22"/>
          <p:cNvGrpSpPr/>
          <p:nvPr/>
        </p:nvGrpSpPr>
        <p:grpSpPr>
          <a:xfrm>
            <a:off x="2897188" y="5864861"/>
            <a:ext cx="1557338" cy="806450"/>
            <a:chOff x="2052" y="3649"/>
            <a:chExt cx="981" cy="508"/>
          </a:xfrm>
        </p:grpSpPr>
        <p:sp>
          <p:nvSpPr>
            <p:cNvPr id="25622" name="Text Box 23"/>
            <p:cNvSpPr txBox="1"/>
            <p:nvPr/>
          </p:nvSpPr>
          <p:spPr>
            <a:xfrm>
              <a:off x="2052" y="3785"/>
              <a:ext cx="308" cy="288"/>
            </a:xfrm>
            <a:prstGeom prst="rect">
              <a:avLst/>
            </a:prstGeom>
            <a:noFill/>
            <a:ln w="9525">
              <a:noFill/>
            </a:ln>
          </p:spPr>
          <p:txBody>
            <a:bodyPr wrap="none">
              <a:spAutoFit/>
            </a:bodyPr>
            <a:lstStyle/>
            <a:p>
              <a:r>
                <a:rPr lang="zh-CN" altLang="en-US" dirty="0">
                  <a:latin typeface="Times New Roman" panose="02020603050405020304" pitchFamily="18" charset="0"/>
                </a:rPr>
                <a:t>又</a:t>
              </a:r>
              <a:endParaRPr lang="zh-CN" altLang="en-US" dirty="0">
                <a:latin typeface="Times New Roman" panose="02020603050405020304" pitchFamily="18" charset="0"/>
              </a:endParaRPr>
            </a:p>
          </p:txBody>
        </p:sp>
        <p:graphicFrame>
          <p:nvGraphicFramePr>
            <p:cNvPr id="25608" name="Object 24"/>
            <p:cNvGraphicFramePr/>
            <p:nvPr/>
          </p:nvGraphicFramePr>
          <p:xfrm>
            <a:off x="2404" y="3649"/>
            <a:ext cx="629" cy="508"/>
          </p:xfrm>
          <a:graphic>
            <a:graphicData uri="http://schemas.openxmlformats.org/presentationml/2006/ole">
              <mc:AlternateContent xmlns:mc="http://schemas.openxmlformats.org/markup-compatibility/2006">
                <mc:Choice xmlns:v="urn:schemas-microsoft-com:vml" Requires="v">
                  <p:oleObj spid="_x0000_s10" name="" r:id="rId13" imgW="520700" imgH="431800" progId="Equation.DSMT4">
                    <p:embed/>
                  </p:oleObj>
                </mc:Choice>
                <mc:Fallback>
                  <p:oleObj name="" r:id="rId13" imgW="520700" imgH="431800" progId="Equation.DSMT4">
                    <p:embed/>
                    <p:pic>
                      <p:nvPicPr>
                        <p:cNvPr id="0" name="图片 3211"/>
                        <p:cNvPicPr/>
                        <p:nvPr/>
                      </p:nvPicPr>
                      <p:blipFill>
                        <a:blip r:embed="rId14"/>
                        <a:stretch>
                          <a:fillRect/>
                        </a:stretch>
                      </p:blipFill>
                      <p:spPr>
                        <a:xfrm>
                          <a:off x="2404" y="3649"/>
                          <a:ext cx="629" cy="508"/>
                        </a:xfrm>
                        <a:prstGeom prst="rect">
                          <a:avLst/>
                        </a:prstGeom>
                        <a:noFill/>
                        <a:ln w="38100">
                          <a:noFill/>
                          <a:miter/>
                        </a:ln>
                      </p:spPr>
                    </p:pic>
                  </p:oleObj>
                </mc:Fallback>
              </mc:AlternateContent>
            </a:graphicData>
          </a:graphic>
        </p:graphicFrame>
      </p:grpSp>
      <p:grpSp>
        <p:nvGrpSpPr>
          <p:cNvPr id="11" name="Group 25"/>
          <p:cNvGrpSpPr/>
          <p:nvPr/>
        </p:nvGrpSpPr>
        <p:grpSpPr>
          <a:xfrm>
            <a:off x="539433" y="4490085"/>
            <a:ext cx="8624887" cy="701675"/>
            <a:chOff x="327" y="2614"/>
            <a:chExt cx="5433" cy="442"/>
          </a:xfrm>
        </p:grpSpPr>
        <p:sp>
          <p:nvSpPr>
            <p:cNvPr id="25621" name="Text Box 16"/>
            <p:cNvSpPr txBox="1"/>
            <p:nvPr/>
          </p:nvSpPr>
          <p:spPr>
            <a:xfrm>
              <a:off x="327" y="2614"/>
              <a:ext cx="5433" cy="442"/>
            </a:xfrm>
            <a:prstGeom prst="rect">
              <a:avLst/>
            </a:prstGeom>
            <a:noFill/>
            <a:ln w="9525">
              <a:noFill/>
            </a:ln>
          </p:spPr>
          <p:txBody>
            <a:bodyPr>
              <a:spAutoFit/>
            </a:bodyPr>
            <a:lstStyle/>
            <a:p>
              <a:r>
                <a:rPr lang="zh-CN" altLang="en-US" sz="2000" dirty="0">
                  <a:latin typeface="Times New Roman" panose="02020603050405020304" pitchFamily="18" charset="0"/>
                </a:rPr>
                <a:t>因为激励端电压</a:t>
              </a:r>
              <a:r>
                <a:rPr lang="en-US" altLang="zh-CN" sz="2000" i="1" dirty="0">
                  <a:latin typeface="Times New Roman" panose="02020603050405020304" pitchFamily="18" charset="0"/>
                </a:rPr>
                <a:t>U</a:t>
              </a:r>
              <a:r>
                <a:rPr lang="zh-CN" altLang="en-US" sz="2000" dirty="0">
                  <a:latin typeface="Times New Roman" panose="02020603050405020304" pitchFamily="18" charset="0"/>
                </a:rPr>
                <a:t>小于回路两端电压        ，从功率等效的角度，回路要得到同样功率，抽头端的电流比起不抽头回路要更大些，则由</a:t>
              </a:r>
              <a:endParaRPr lang="zh-CN" altLang="en-US" sz="2000" dirty="0">
                <a:latin typeface="Times New Roman" panose="02020603050405020304" pitchFamily="18" charset="0"/>
              </a:endParaRPr>
            </a:p>
          </p:txBody>
        </p:sp>
        <p:graphicFrame>
          <p:nvGraphicFramePr>
            <p:cNvPr id="25607" name="Object 15"/>
            <p:cNvGraphicFramePr/>
            <p:nvPr/>
          </p:nvGraphicFramePr>
          <p:xfrm>
            <a:off x="2925" y="2614"/>
            <a:ext cx="212" cy="223"/>
          </p:xfrm>
          <a:graphic>
            <a:graphicData uri="http://schemas.openxmlformats.org/presentationml/2006/ole">
              <mc:AlternateContent xmlns:mc="http://schemas.openxmlformats.org/markup-compatibility/2006">
                <mc:Choice xmlns:v="urn:schemas-microsoft-com:vml" Requires="v">
                  <p:oleObj spid="_x0000_s12" name="" r:id="rId15" imgW="215900" imgH="228600" progId="Equation.DSMT4">
                    <p:embed/>
                  </p:oleObj>
                </mc:Choice>
                <mc:Fallback>
                  <p:oleObj name="" r:id="rId15" imgW="215900" imgH="228600" progId="Equation.DSMT4">
                    <p:embed/>
                    <p:pic>
                      <p:nvPicPr>
                        <p:cNvPr id="0" name="图片 3209"/>
                        <p:cNvPicPr/>
                        <p:nvPr/>
                      </p:nvPicPr>
                      <p:blipFill>
                        <a:blip r:embed="rId16"/>
                        <a:stretch>
                          <a:fillRect/>
                        </a:stretch>
                      </p:blipFill>
                      <p:spPr>
                        <a:xfrm>
                          <a:off x="2925" y="2614"/>
                          <a:ext cx="212" cy="223"/>
                        </a:xfrm>
                        <a:prstGeom prst="rect">
                          <a:avLst/>
                        </a:prstGeom>
                        <a:noFill/>
                        <a:ln w="38100">
                          <a:noFill/>
                          <a:miter/>
                        </a:ln>
                      </p:spPr>
                    </p:pic>
                  </p:oleObj>
                </mc:Fallback>
              </mc:AlternateContent>
            </a:graphicData>
          </a:graphic>
        </p:graphicFrame>
      </p:grpSp>
      <p:sp>
        <p:nvSpPr>
          <p:cNvPr id="378906" name="Rectangle 26"/>
          <p:cNvSpPr/>
          <p:nvPr/>
        </p:nvSpPr>
        <p:spPr>
          <a:xfrm>
            <a:off x="755650" y="1844675"/>
            <a:ext cx="2012950" cy="457200"/>
          </a:xfrm>
          <a:prstGeom prst="rect">
            <a:avLst/>
          </a:prstGeom>
          <a:noFill/>
          <a:ln w="9525">
            <a:noFill/>
          </a:ln>
        </p:spPr>
        <p:txBody>
          <a:bodyPr wrap="none">
            <a:spAutoFit/>
          </a:bodyPr>
          <a:lstStyle/>
          <a:p>
            <a:r>
              <a:rPr lang="zh-CN" altLang="en-US" dirty="0">
                <a:solidFill>
                  <a:srgbClr val="FF00FF"/>
                </a:solidFill>
                <a:latin typeface="Times New Roman" panose="02020603050405020304" pitchFamily="18" charset="0"/>
              </a:rPr>
              <a:t>电源的折合</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378907" name="Text Box 27"/>
          <p:cNvSpPr txBox="1"/>
          <p:nvPr/>
        </p:nvSpPr>
        <p:spPr>
          <a:xfrm>
            <a:off x="6371908" y="5336223"/>
            <a:ext cx="2720975" cy="1014730"/>
          </a:xfrm>
          <a:prstGeom prst="rect">
            <a:avLst/>
          </a:prstGeom>
          <a:noFill/>
          <a:ln w="9525">
            <a:noFill/>
          </a:ln>
        </p:spPr>
        <p:txBody>
          <a:bodyPr>
            <a:spAutoFit/>
          </a:bodyPr>
          <a:lstStyle/>
          <a:p>
            <a:r>
              <a:rPr lang="zh-CN" altLang="en-US" sz="2000" dirty="0">
                <a:solidFill>
                  <a:srgbClr val="FF00FF"/>
                </a:solidFill>
                <a:latin typeface="Times New Roman" panose="02020603050405020304" pitchFamily="18" charset="0"/>
              </a:rPr>
              <a:t>这时，谐振时回路电流</a:t>
            </a:r>
            <a:r>
              <a:rPr lang="en-US" altLang="zh-CN" sz="2000" i="1" dirty="0">
                <a:solidFill>
                  <a:srgbClr val="FF00FF"/>
                </a:solidFill>
                <a:latin typeface="Times New Roman" panose="02020603050405020304" pitchFamily="18" charset="0"/>
              </a:rPr>
              <a:t>I</a:t>
            </a:r>
            <a:r>
              <a:rPr lang="en-US" altLang="zh-CN" sz="2000" i="1" baseline="-25000" dirty="0">
                <a:solidFill>
                  <a:srgbClr val="FF00FF"/>
                </a:solidFill>
                <a:latin typeface="Times New Roman" panose="02020603050405020304" pitchFamily="18" charset="0"/>
              </a:rPr>
              <a:t>L</a:t>
            </a:r>
            <a:r>
              <a:rPr lang="zh-CN" altLang="en-US" sz="2000" dirty="0">
                <a:solidFill>
                  <a:srgbClr val="FF00FF"/>
                </a:solidFill>
                <a:latin typeface="Times New Roman" panose="02020603050405020304" pitchFamily="18" charset="0"/>
              </a:rPr>
              <a:t>，</a:t>
            </a:r>
            <a:r>
              <a:rPr lang="en-US" altLang="zh-CN" sz="2000" i="1" dirty="0">
                <a:solidFill>
                  <a:srgbClr val="FF00FF"/>
                </a:solidFill>
                <a:latin typeface="Times New Roman" panose="02020603050405020304" pitchFamily="18" charset="0"/>
              </a:rPr>
              <a:t>I</a:t>
            </a:r>
            <a:r>
              <a:rPr lang="en-US" altLang="zh-CN" sz="2000" i="1" baseline="-25000" dirty="0">
                <a:solidFill>
                  <a:srgbClr val="FF00FF"/>
                </a:solidFill>
                <a:latin typeface="Times New Roman" panose="02020603050405020304" pitchFamily="18" charset="0"/>
              </a:rPr>
              <a:t>C</a:t>
            </a:r>
            <a:r>
              <a:rPr lang="zh-CN" altLang="en-US" sz="2000" dirty="0">
                <a:solidFill>
                  <a:srgbClr val="FF00FF"/>
                </a:solidFill>
                <a:latin typeface="Times New Roman" panose="02020603050405020304" pitchFamily="18" charset="0"/>
              </a:rPr>
              <a:t>与</a:t>
            </a:r>
            <a:r>
              <a:rPr lang="en-US" altLang="zh-CN" sz="2000" i="1" dirty="0">
                <a:solidFill>
                  <a:srgbClr val="FF00FF"/>
                </a:solidFill>
                <a:latin typeface="Times New Roman" panose="02020603050405020304" pitchFamily="18" charset="0"/>
              </a:rPr>
              <a:t>I</a:t>
            </a:r>
            <a:r>
              <a:rPr lang="zh-CN" altLang="en-US" sz="2000" dirty="0">
                <a:solidFill>
                  <a:srgbClr val="FF00FF"/>
                </a:solidFill>
                <a:latin typeface="Times New Roman" panose="02020603050405020304" pitchFamily="18" charset="0"/>
              </a:rPr>
              <a:t>的比值将不再是</a:t>
            </a:r>
            <a:r>
              <a:rPr lang="en-US" altLang="zh-CN" sz="2000" i="1" dirty="0">
                <a:solidFill>
                  <a:srgbClr val="FF00FF"/>
                </a:solidFill>
                <a:latin typeface="Times New Roman" panose="02020603050405020304" pitchFamily="18" charset="0"/>
              </a:rPr>
              <a:t>Q</a:t>
            </a:r>
            <a:r>
              <a:rPr lang="en-US" altLang="zh-CN" sz="2000" dirty="0">
                <a:solidFill>
                  <a:srgbClr val="FF00FF"/>
                </a:solidFill>
                <a:latin typeface="Times New Roman" panose="02020603050405020304" pitchFamily="18" charset="0"/>
              </a:rPr>
              <a:t>,</a:t>
            </a:r>
            <a:r>
              <a:rPr lang="zh-CN" altLang="en-US" sz="2000" dirty="0">
                <a:solidFill>
                  <a:srgbClr val="FF00FF"/>
                </a:solidFill>
                <a:latin typeface="Times New Roman" panose="02020603050405020304" pitchFamily="18" charset="0"/>
              </a:rPr>
              <a:t>而小于</a:t>
            </a:r>
            <a:r>
              <a:rPr lang="en-US" altLang="zh-CN" sz="2000" i="1" dirty="0">
                <a:solidFill>
                  <a:srgbClr val="FF00FF"/>
                </a:solidFill>
                <a:latin typeface="Times New Roman" panose="02020603050405020304" pitchFamily="18" charset="0"/>
              </a:rPr>
              <a:t>Q</a:t>
            </a:r>
            <a:endParaRPr lang="en-US" altLang="zh-CN" sz="2000" i="1" dirty="0">
              <a:solidFill>
                <a:srgbClr val="FF00FF"/>
              </a:solidFill>
              <a:latin typeface="Times New Roman" panose="02020603050405020304" pitchFamily="18" charset="0"/>
            </a:endParaRPr>
          </a:p>
        </p:txBody>
      </p:sp>
      <p:sp>
        <p:nvSpPr>
          <p:cNvPr id="22536" name="Text Box 8"/>
          <p:cNvSpPr txBox="1"/>
          <p:nvPr/>
        </p:nvSpPr>
        <p:spPr>
          <a:xfrm>
            <a:off x="144463" y="908050"/>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sp>
        <p:nvSpPr>
          <p:cNvPr id="19" name="右箭头 18"/>
          <p:cNvSpPr/>
          <p:nvPr/>
        </p:nvSpPr>
        <p:spPr>
          <a:xfrm>
            <a:off x="2681605" y="5865495"/>
            <a:ext cx="215900" cy="215900"/>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3" name="右箭头 12"/>
          <p:cNvSpPr/>
          <p:nvPr/>
        </p:nvSpPr>
        <p:spPr>
          <a:xfrm>
            <a:off x="4659630" y="5864860"/>
            <a:ext cx="215900" cy="215900"/>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78852" name="Text Box 8"/>
          <p:cNvSpPr txBox="1"/>
          <p:nvPr/>
        </p:nvSpPr>
        <p:spPr>
          <a:xfrm>
            <a:off x="611188" y="1320800"/>
            <a:ext cx="6126480" cy="460375"/>
          </a:xfrm>
          <a:prstGeom prst="rect">
            <a:avLst/>
          </a:prstGeom>
          <a:noFill/>
          <a:ln w="9525">
            <a:noFill/>
          </a:ln>
        </p:spPr>
        <p:txBody>
          <a:bodyPr wrap="none">
            <a:spAutoFit/>
          </a:bodyPr>
          <a:lstStyle/>
          <a:p>
            <a:r>
              <a:rPr lang="zh-CN" altLang="en-US" sz="2400" dirty="0">
                <a:solidFill>
                  <a:schemeClr val="accent2"/>
                </a:solidFill>
                <a:latin typeface="Times New Roman" panose="02020603050405020304" pitchFamily="18" charset="0"/>
              </a:rPr>
              <a:t>（</a:t>
            </a:r>
            <a:r>
              <a:rPr lang="en-US" altLang="zh-CN" sz="2400" dirty="0">
                <a:solidFill>
                  <a:schemeClr val="accent2"/>
                </a:solidFill>
                <a:latin typeface="Times New Roman" panose="02020603050405020304" pitchFamily="18" charset="0"/>
              </a:rPr>
              <a:t>3</a:t>
            </a:r>
            <a:r>
              <a:rPr lang="zh-CN" altLang="en-US" sz="2400" dirty="0">
                <a:solidFill>
                  <a:schemeClr val="accent2"/>
                </a:solidFill>
                <a:latin typeface="Times New Roman" panose="02020603050405020304" pitchFamily="18" charset="0"/>
              </a:rPr>
              <a:t>）抽头并联振荡回路（阻抗变换网络）</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nvGrpSpPr>
          <p:cNvPr id="11272" name="Group 40"/>
          <p:cNvGrpSpPr/>
          <p:nvPr/>
        </p:nvGrpSpPr>
        <p:grpSpPr>
          <a:xfrm>
            <a:off x="1979613" y="388938"/>
            <a:ext cx="5334000" cy="519113"/>
            <a:chOff x="1287" y="432"/>
            <a:chExt cx="3360" cy="327"/>
          </a:xfrm>
        </p:grpSpPr>
        <p:sp>
          <p:nvSpPr>
            <p:cNvPr id="11280" name="Rectangle 41"/>
            <p:cNvSpPr/>
            <p:nvPr/>
          </p:nvSpPr>
          <p:spPr>
            <a:xfrm>
              <a:off x="1287" y="43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11281" name="Line 42"/>
            <p:cNvSpPr/>
            <p:nvPr/>
          </p:nvSpPr>
          <p:spPr>
            <a:xfrm>
              <a:off x="1469" y="749"/>
              <a:ext cx="3024" cy="0"/>
            </a:xfrm>
            <a:prstGeom prst="line">
              <a:avLst/>
            </a:prstGeom>
            <a:ln w="57150" cap="flat" cmpd="tri">
              <a:solidFill>
                <a:srgbClr val="FF00FF"/>
              </a:solidFill>
              <a:prstDash val="solid"/>
              <a:headEnd type="none" w="sm" len="sm"/>
              <a:tailEnd type="none" w="sm" len="sm"/>
            </a:ln>
          </p:spPr>
        </p:sp>
      </p:grpSp>
      <p:sp>
        <p:nvSpPr>
          <p:cNvPr id="14" name="文本框 13"/>
          <p:cNvSpPr txBox="1"/>
          <p:nvPr/>
        </p:nvSpPr>
        <p:spPr>
          <a:xfrm>
            <a:off x="3505200" y="2193925"/>
            <a:ext cx="418465" cy="368300"/>
          </a:xfrm>
          <a:prstGeom prst="rect">
            <a:avLst/>
          </a:prstGeom>
          <a:noFill/>
        </p:spPr>
        <p:txBody>
          <a:bodyPr wrap="square" rtlCol="0">
            <a:spAutoFit/>
          </a:bodyPr>
          <a:lstStyle/>
          <a:p>
            <a:r>
              <a:rPr lang="en-US" altLang="zh-CN" sz="1800" i="1"/>
              <a:t>U</a:t>
            </a:r>
            <a:endParaRPr lang="en-US" altLang="zh-CN" sz="1800" i="1"/>
          </a:p>
        </p:txBody>
      </p:sp>
      <p:sp>
        <p:nvSpPr>
          <p:cNvPr id="15" name="文本框 14"/>
          <p:cNvSpPr txBox="1"/>
          <p:nvPr/>
        </p:nvSpPr>
        <p:spPr>
          <a:xfrm>
            <a:off x="6732270" y="1844675"/>
            <a:ext cx="510540" cy="368300"/>
          </a:xfrm>
          <a:prstGeom prst="rect">
            <a:avLst/>
          </a:prstGeom>
          <a:noFill/>
        </p:spPr>
        <p:txBody>
          <a:bodyPr wrap="square" rtlCol="0">
            <a:spAutoFit/>
          </a:bodyPr>
          <a:lstStyle/>
          <a:p>
            <a:r>
              <a:rPr lang="en-US" altLang="zh-CN" sz="1800" i="1"/>
              <a:t>U</a:t>
            </a:r>
            <a:r>
              <a:rPr lang="en-US" altLang="zh-CN" sz="1800" i="1" baseline="-25000"/>
              <a:t>T</a:t>
            </a:r>
            <a:endParaRPr lang="en-US" altLang="zh-CN" sz="1800" i="1" baseline="-2500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4" name="Rectangle 9"/>
          <p:cNvSpPr/>
          <p:nvPr/>
        </p:nvSpPr>
        <p:spPr>
          <a:xfrm>
            <a:off x="539750" y="1916113"/>
            <a:ext cx="8024813" cy="706755"/>
          </a:xfrm>
          <a:prstGeom prst="rect">
            <a:avLst/>
          </a:prstGeom>
          <a:noFill/>
          <a:ln w="9525">
            <a:noFill/>
          </a:ln>
        </p:spPr>
        <p:txBody>
          <a:bodyPr>
            <a:spAutoFit/>
          </a:bodyPr>
          <a:lstStyle/>
          <a:p>
            <a:r>
              <a:rPr lang="zh-CN" altLang="en-US" sz="2000" b="1" dirty="0">
                <a:latin typeface="Times New Roman" panose="02020603050405020304" pitchFamily="18" charset="0"/>
              </a:rPr>
              <a:t>例 </a:t>
            </a:r>
            <a:r>
              <a:rPr lang="en-US" altLang="zh-CN" sz="2000" b="1" dirty="0">
                <a:latin typeface="Times New Roman" panose="02020603050405020304" pitchFamily="18" charset="0"/>
              </a:rPr>
              <a:t>2</a:t>
            </a:r>
            <a:r>
              <a:rPr lang="en-US" altLang="zh-CN" sz="2000" dirty="0">
                <a:latin typeface="Times New Roman" panose="02020603050405020304" pitchFamily="18" charset="0"/>
              </a:rPr>
              <a:t> </a:t>
            </a:r>
            <a:r>
              <a:rPr lang="zh-CN" altLang="en-US" sz="2000" dirty="0">
                <a:latin typeface="Times New Roman" panose="02020603050405020304" pitchFamily="18" charset="0"/>
              </a:rPr>
              <a:t>如图所示， 抽头回路有电流源激励</a:t>
            </a:r>
            <a:r>
              <a:rPr lang="en-US" altLang="zh-CN" sz="2000" dirty="0">
                <a:latin typeface="Times New Roman" panose="02020603050405020304" pitchFamily="18" charset="0"/>
              </a:rPr>
              <a:t>, </a:t>
            </a:r>
            <a:r>
              <a:rPr lang="zh-CN" altLang="en-US" sz="2000" dirty="0">
                <a:latin typeface="Times New Roman" panose="02020603050405020304" pitchFamily="18" charset="0"/>
              </a:rPr>
              <a:t>忽略回路本身的固有损耗</a:t>
            </a:r>
            <a:r>
              <a:rPr lang="en-US" altLang="zh-CN" sz="2000" dirty="0">
                <a:latin typeface="Times New Roman" panose="02020603050405020304" pitchFamily="18" charset="0"/>
              </a:rPr>
              <a:t>, </a:t>
            </a:r>
            <a:r>
              <a:rPr lang="zh-CN" altLang="en-US" sz="2000" dirty="0">
                <a:latin typeface="Times New Roman" panose="02020603050405020304" pitchFamily="18" charset="0"/>
              </a:rPr>
              <a:t>试求回路两端电压</a:t>
            </a:r>
            <a:r>
              <a:rPr lang="en-US" altLang="zh-CN" sz="2000" i="1" dirty="0">
                <a:latin typeface="Times New Roman" panose="02020603050405020304" pitchFamily="18" charset="0"/>
              </a:rPr>
              <a:t>u</a:t>
            </a:r>
            <a:r>
              <a:rPr lang="en-US" altLang="zh-CN" sz="2000" dirty="0">
                <a:latin typeface="Times New Roman" panose="02020603050405020304" pitchFamily="18" charset="0"/>
              </a:rPr>
              <a:t>(</a:t>
            </a:r>
            <a:r>
              <a:rPr lang="en-US" altLang="zh-CN" sz="2000" i="1" dirty="0">
                <a:latin typeface="Times New Roman" panose="02020603050405020304" pitchFamily="18" charset="0"/>
              </a:rPr>
              <a:t>t</a:t>
            </a:r>
            <a:r>
              <a:rPr lang="en-US" altLang="zh-CN" sz="2000" dirty="0">
                <a:latin typeface="Times New Roman" panose="02020603050405020304" pitchFamily="18" charset="0"/>
              </a:rPr>
              <a:t>)</a:t>
            </a:r>
            <a:r>
              <a:rPr lang="zh-CN" altLang="en-US" sz="2000" dirty="0">
                <a:latin typeface="Times New Roman" panose="02020603050405020304" pitchFamily="18" charset="0"/>
              </a:rPr>
              <a:t>的表示式及回路带宽。</a:t>
            </a:r>
            <a:endParaRPr lang="zh-CN" altLang="en-US" sz="2000" dirty="0">
              <a:latin typeface="Times New Roman" panose="02020603050405020304" pitchFamily="18" charset="0"/>
            </a:endParaRPr>
          </a:p>
        </p:txBody>
      </p:sp>
      <p:graphicFrame>
        <p:nvGraphicFramePr>
          <p:cNvPr id="26626" name="Object 10"/>
          <p:cNvGraphicFramePr/>
          <p:nvPr/>
        </p:nvGraphicFramePr>
        <p:xfrm>
          <a:off x="4211638" y="2420938"/>
          <a:ext cx="4608512" cy="1755775"/>
        </p:xfrm>
        <a:graphic>
          <a:graphicData uri="http://schemas.openxmlformats.org/presentationml/2006/ole">
            <mc:AlternateContent xmlns:mc="http://schemas.openxmlformats.org/markup-compatibility/2006">
              <mc:Choice xmlns:v="urn:schemas-microsoft-com:vml" Requires="v">
                <p:oleObj spid="_x0000_s2" name="" r:id="rId1" imgW="2549525" imgH="972185" progId="Visio.Drawing.4">
                  <p:embed/>
                </p:oleObj>
              </mc:Choice>
              <mc:Fallback>
                <p:oleObj name="" r:id="rId1" imgW="2549525" imgH="972185" progId="Visio.Drawing.4">
                  <p:embed/>
                  <p:pic>
                    <p:nvPicPr>
                      <p:cNvPr id="0" name="图片 3216"/>
                      <p:cNvPicPr/>
                      <p:nvPr/>
                    </p:nvPicPr>
                    <p:blipFill>
                      <a:blip r:embed="rId2"/>
                      <a:stretch>
                        <a:fillRect/>
                      </a:stretch>
                    </p:blipFill>
                    <p:spPr>
                      <a:xfrm>
                        <a:off x="4211638" y="2420938"/>
                        <a:ext cx="4608512" cy="1755775"/>
                      </a:xfrm>
                      <a:prstGeom prst="rect">
                        <a:avLst/>
                      </a:prstGeom>
                      <a:noFill/>
                      <a:ln w="38100">
                        <a:noFill/>
                        <a:miter/>
                      </a:ln>
                    </p:spPr>
                  </p:pic>
                </p:oleObj>
              </mc:Fallback>
            </mc:AlternateContent>
          </a:graphicData>
        </a:graphic>
      </p:graphicFrame>
      <p:sp>
        <p:nvSpPr>
          <p:cNvPr id="380941" name="Rectangle 13"/>
          <p:cNvSpPr/>
          <p:nvPr/>
        </p:nvSpPr>
        <p:spPr>
          <a:xfrm>
            <a:off x="323850" y="2781300"/>
            <a:ext cx="3455988" cy="1360488"/>
          </a:xfrm>
          <a:prstGeom prst="rect">
            <a:avLst/>
          </a:prstGeom>
          <a:noFill/>
          <a:ln w="9525">
            <a:noFill/>
          </a:ln>
        </p:spPr>
        <p:txBody>
          <a:bodyPr>
            <a:spAutoFit/>
          </a:bodyPr>
          <a:lstStyle/>
          <a:p>
            <a:pPr>
              <a:lnSpc>
                <a:spcPct val="130000"/>
              </a:lnSpc>
              <a:spcBef>
                <a:spcPct val="20000"/>
              </a:spcBef>
            </a:pPr>
            <a:r>
              <a:rPr lang="en-US" altLang="zh-CN" dirty="0">
                <a:latin typeface="Times New Roman" panose="02020603050405020304" pitchFamily="18" charset="0"/>
              </a:rPr>
              <a:t> </a:t>
            </a:r>
            <a:r>
              <a:rPr lang="zh-CN" altLang="en-US" sz="2000" b="1" dirty="0">
                <a:latin typeface="Times New Roman" panose="02020603050405020304" pitchFamily="18" charset="0"/>
              </a:rPr>
              <a:t>解</a:t>
            </a:r>
            <a:r>
              <a:rPr lang="zh-CN" altLang="en-US" sz="2000" dirty="0">
                <a:latin typeface="Times New Roman" panose="02020603050405020304" pitchFamily="18" charset="0"/>
              </a:rPr>
              <a:t>  由于忽略了回路本身的固有损耗</a:t>
            </a:r>
            <a:r>
              <a:rPr lang="en-US" altLang="zh-CN" sz="2000" dirty="0">
                <a:latin typeface="Times New Roman" panose="02020603050405020304" pitchFamily="18" charset="0"/>
              </a:rPr>
              <a:t>, </a:t>
            </a:r>
            <a:r>
              <a:rPr lang="zh-CN" altLang="en-US" sz="2000" dirty="0">
                <a:latin typeface="Times New Roman" panose="02020603050405020304" pitchFamily="18" charset="0"/>
              </a:rPr>
              <a:t>因此可以认为</a:t>
            </a:r>
            <a:r>
              <a:rPr lang="en-US" altLang="zh-CN" sz="2000" i="1" dirty="0">
                <a:latin typeface="Times New Roman" panose="02020603050405020304" pitchFamily="18" charset="0"/>
              </a:rPr>
              <a:t>Q</a:t>
            </a:r>
            <a:r>
              <a:rPr lang="en-US" altLang="zh-CN" sz="2000" dirty="0">
                <a:latin typeface="Times New Roman" panose="02020603050405020304" pitchFamily="18" charset="0"/>
              </a:rPr>
              <a:t>→∞</a:t>
            </a:r>
            <a:r>
              <a:rPr lang="zh-CN" altLang="en-US" sz="2000" dirty="0">
                <a:latin typeface="Times New Roman" panose="02020603050405020304" pitchFamily="18" charset="0"/>
              </a:rPr>
              <a:t>。 由图可知</a:t>
            </a:r>
            <a:r>
              <a:rPr lang="en-US" altLang="zh-CN" sz="2000" dirty="0">
                <a:latin typeface="Times New Roman" panose="02020603050405020304" pitchFamily="18" charset="0"/>
              </a:rPr>
              <a:t>, </a:t>
            </a:r>
            <a:r>
              <a:rPr lang="zh-CN" altLang="en-US" sz="2000" dirty="0">
                <a:latin typeface="Times New Roman" panose="02020603050405020304" pitchFamily="18" charset="0"/>
              </a:rPr>
              <a:t>回路电容为</a:t>
            </a:r>
            <a:endParaRPr lang="zh-CN" altLang="en-US" sz="2000" dirty="0">
              <a:latin typeface="Times New Roman" panose="02020603050405020304" pitchFamily="18" charset="0"/>
            </a:endParaRPr>
          </a:p>
        </p:txBody>
      </p:sp>
      <p:graphicFrame>
        <p:nvGraphicFramePr>
          <p:cNvPr id="380942" name="Object 14"/>
          <p:cNvGraphicFramePr/>
          <p:nvPr/>
        </p:nvGraphicFramePr>
        <p:xfrm>
          <a:off x="2484438" y="4149725"/>
          <a:ext cx="2163762" cy="657225"/>
        </p:xfrm>
        <a:graphic>
          <a:graphicData uri="http://schemas.openxmlformats.org/presentationml/2006/ole">
            <mc:AlternateContent xmlns:mc="http://schemas.openxmlformats.org/markup-compatibility/2006">
              <mc:Choice xmlns:v="urn:schemas-microsoft-com:vml" Requires="v">
                <p:oleObj spid="_x0000_s3" name="" r:id="rId3" imgW="1421765" imgH="431800" progId="Equation.3">
                  <p:embed/>
                </p:oleObj>
              </mc:Choice>
              <mc:Fallback>
                <p:oleObj name="" r:id="rId3" imgW="1421765" imgH="431800" progId="Equation.3">
                  <p:embed/>
                  <p:pic>
                    <p:nvPicPr>
                      <p:cNvPr id="0" name="图片 3208"/>
                      <p:cNvPicPr/>
                      <p:nvPr/>
                    </p:nvPicPr>
                    <p:blipFill>
                      <a:blip r:embed="rId4"/>
                      <a:stretch>
                        <a:fillRect/>
                      </a:stretch>
                    </p:blipFill>
                    <p:spPr>
                      <a:xfrm>
                        <a:off x="2484438" y="4149725"/>
                        <a:ext cx="2163762" cy="657225"/>
                      </a:xfrm>
                      <a:prstGeom prst="rect">
                        <a:avLst/>
                      </a:prstGeom>
                      <a:noFill/>
                      <a:ln w="38100">
                        <a:noFill/>
                        <a:miter/>
                      </a:ln>
                    </p:spPr>
                  </p:pic>
                </p:oleObj>
              </mc:Fallback>
            </mc:AlternateContent>
          </a:graphicData>
        </a:graphic>
      </p:graphicFrame>
      <p:sp>
        <p:nvSpPr>
          <p:cNvPr id="380943" name="Text Box 15"/>
          <p:cNvSpPr txBox="1"/>
          <p:nvPr/>
        </p:nvSpPr>
        <p:spPr>
          <a:xfrm>
            <a:off x="250825" y="4868863"/>
            <a:ext cx="1993900" cy="457200"/>
          </a:xfrm>
          <a:prstGeom prst="rect">
            <a:avLst/>
          </a:prstGeom>
          <a:noFill/>
          <a:ln w="9525">
            <a:noFill/>
          </a:ln>
        </p:spPr>
        <p:txBody>
          <a:bodyPr>
            <a:spAutoFit/>
          </a:bodyPr>
          <a:lstStyle/>
          <a:p>
            <a:pPr>
              <a:spcBef>
                <a:spcPct val="50000"/>
              </a:spcBef>
            </a:pPr>
            <a:r>
              <a:rPr lang="en-US" altLang="zh-CN" dirty="0">
                <a:latin typeface="Times New Roman" panose="02020603050405020304" pitchFamily="18" charset="0"/>
              </a:rPr>
              <a:t> </a:t>
            </a:r>
            <a:r>
              <a:rPr lang="zh-CN" altLang="en-US" sz="2000" dirty="0">
                <a:latin typeface="Times New Roman" panose="02020603050405020304" pitchFamily="18" charset="0"/>
              </a:rPr>
              <a:t>谐振角频率为 </a:t>
            </a:r>
            <a:endParaRPr lang="zh-CN" altLang="en-US" sz="2000" dirty="0">
              <a:latin typeface="Times New Roman" panose="02020603050405020304" pitchFamily="18" charset="0"/>
            </a:endParaRPr>
          </a:p>
        </p:txBody>
      </p:sp>
      <p:graphicFrame>
        <p:nvGraphicFramePr>
          <p:cNvPr id="380944" name="Object 16"/>
          <p:cNvGraphicFramePr/>
          <p:nvPr/>
        </p:nvGraphicFramePr>
        <p:xfrm>
          <a:off x="2411413" y="4797425"/>
          <a:ext cx="2374900" cy="688975"/>
        </p:xfrm>
        <a:graphic>
          <a:graphicData uri="http://schemas.openxmlformats.org/presentationml/2006/ole">
            <mc:AlternateContent xmlns:mc="http://schemas.openxmlformats.org/markup-compatibility/2006">
              <mc:Choice xmlns:v="urn:schemas-microsoft-com:vml" Requires="v">
                <p:oleObj spid="_x0000_s4" name="" r:id="rId5" imgW="1447800" imgH="419100" progId="Equation.3">
                  <p:embed/>
                </p:oleObj>
              </mc:Choice>
              <mc:Fallback>
                <p:oleObj name="" r:id="rId5" imgW="1447800" imgH="419100" progId="Equation.3">
                  <p:embed/>
                  <p:pic>
                    <p:nvPicPr>
                      <p:cNvPr id="0" name="图片 3217"/>
                      <p:cNvPicPr/>
                      <p:nvPr/>
                    </p:nvPicPr>
                    <p:blipFill>
                      <a:blip r:embed="rId6"/>
                      <a:stretch>
                        <a:fillRect/>
                      </a:stretch>
                    </p:blipFill>
                    <p:spPr>
                      <a:xfrm>
                        <a:off x="2411413" y="4797425"/>
                        <a:ext cx="2374900" cy="688975"/>
                      </a:xfrm>
                      <a:prstGeom prst="rect">
                        <a:avLst/>
                      </a:prstGeom>
                      <a:noFill/>
                      <a:ln w="38100">
                        <a:noFill/>
                        <a:miter/>
                      </a:ln>
                    </p:spPr>
                  </p:pic>
                </p:oleObj>
              </mc:Fallback>
            </mc:AlternateContent>
          </a:graphicData>
        </a:graphic>
      </p:graphicFrame>
      <p:sp>
        <p:nvSpPr>
          <p:cNvPr id="380945" name="Text Box 17"/>
          <p:cNvSpPr txBox="1"/>
          <p:nvPr/>
        </p:nvSpPr>
        <p:spPr>
          <a:xfrm>
            <a:off x="5003800" y="4941888"/>
            <a:ext cx="2303463" cy="396875"/>
          </a:xfrm>
          <a:prstGeom prst="rect">
            <a:avLst/>
          </a:prstGeom>
          <a:noFill/>
          <a:ln w="9525">
            <a:noFill/>
          </a:ln>
        </p:spPr>
        <p:txBody>
          <a:bodyPr>
            <a:spAutoFit/>
          </a:bodyPr>
          <a:lstStyle/>
          <a:p>
            <a:pPr algn="just">
              <a:spcBef>
                <a:spcPct val="50000"/>
              </a:spcBef>
            </a:pPr>
            <a:r>
              <a:rPr lang="zh-CN" altLang="en-US" sz="2000" dirty="0">
                <a:latin typeface="Times New Roman" panose="02020603050405020304" pitchFamily="18" charset="0"/>
              </a:rPr>
              <a:t>电阻</a:t>
            </a:r>
            <a:r>
              <a:rPr lang="en-US" altLang="zh-CN" sz="2000" i="1" dirty="0">
                <a:latin typeface="Times New Roman" panose="02020603050405020304" pitchFamily="18" charset="0"/>
              </a:rPr>
              <a:t>R</a:t>
            </a:r>
            <a:r>
              <a:rPr lang="en-US" altLang="zh-CN" sz="2000" baseline="-25000" dirty="0">
                <a:latin typeface="Times New Roman" panose="02020603050405020304" pitchFamily="18" charset="0"/>
              </a:rPr>
              <a:t>1</a:t>
            </a:r>
            <a:r>
              <a:rPr lang="zh-CN" altLang="en-US" sz="2000" dirty="0">
                <a:latin typeface="Times New Roman" panose="02020603050405020304" pitchFamily="18" charset="0"/>
              </a:rPr>
              <a:t>的接入系数</a:t>
            </a:r>
            <a:endParaRPr lang="zh-CN" altLang="en-US" sz="2000" dirty="0">
              <a:latin typeface="Times New Roman" panose="02020603050405020304" pitchFamily="18" charset="0"/>
            </a:endParaRPr>
          </a:p>
        </p:txBody>
      </p:sp>
      <p:graphicFrame>
        <p:nvGraphicFramePr>
          <p:cNvPr id="380946" name="Object 18"/>
          <p:cNvGraphicFramePr/>
          <p:nvPr/>
        </p:nvGraphicFramePr>
        <p:xfrm>
          <a:off x="3563938" y="5661025"/>
          <a:ext cx="2111375" cy="727075"/>
        </p:xfrm>
        <a:graphic>
          <a:graphicData uri="http://schemas.openxmlformats.org/presentationml/2006/ole">
            <mc:AlternateContent xmlns:mc="http://schemas.openxmlformats.org/markup-compatibility/2006">
              <mc:Choice xmlns:v="urn:schemas-microsoft-com:vml" Requires="v">
                <p:oleObj spid="_x0000_s5" name="" r:id="rId7" imgW="1219200" imgH="419100" progId="Equation.DSMT4">
                  <p:embed/>
                </p:oleObj>
              </mc:Choice>
              <mc:Fallback>
                <p:oleObj name="" r:id="rId7" imgW="1219200" imgH="419100" progId="Equation.DSMT4">
                  <p:embed/>
                  <p:pic>
                    <p:nvPicPr>
                      <p:cNvPr id="0" name="图片 3201"/>
                      <p:cNvPicPr/>
                      <p:nvPr/>
                    </p:nvPicPr>
                    <p:blipFill>
                      <a:blip r:embed="rId8"/>
                      <a:stretch>
                        <a:fillRect/>
                      </a:stretch>
                    </p:blipFill>
                    <p:spPr>
                      <a:xfrm>
                        <a:off x="3563938" y="5661025"/>
                        <a:ext cx="2111375" cy="727075"/>
                      </a:xfrm>
                      <a:prstGeom prst="rect">
                        <a:avLst/>
                      </a:prstGeom>
                      <a:noFill/>
                      <a:ln w="38100">
                        <a:noFill/>
                        <a:miter/>
                      </a:ln>
                    </p:spPr>
                  </p:pic>
                </p:oleObj>
              </mc:Fallback>
            </mc:AlternateContent>
          </a:graphicData>
        </a:graphic>
      </p:graphicFrame>
      <p:sp>
        <p:nvSpPr>
          <p:cNvPr id="380947" name="Text Box 19"/>
          <p:cNvSpPr txBox="1"/>
          <p:nvPr/>
        </p:nvSpPr>
        <p:spPr>
          <a:xfrm>
            <a:off x="323850" y="5734050"/>
            <a:ext cx="3168650" cy="457200"/>
          </a:xfrm>
          <a:prstGeom prst="rect">
            <a:avLst/>
          </a:prstGeom>
          <a:noFill/>
          <a:ln w="9525">
            <a:noFill/>
          </a:ln>
        </p:spPr>
        <p:txBody>
          <a:bodyPr>
            <a:spAutoFit/>
          </a:bodyPr>
          <a:lstStyle/>
          <a:p>
            <a:pPr>
              <a:spcBef>
                <a:spcPct val="50000"/>
              </a:spcBef>
            </a:pPr>
            <a:r>
              <a:rPr lang="zh-CN" altLang="en-US" sz="2000" dirty="0">
                <a:latin typeface="Times New Roman" panose="02020603050405020304" pitchFamily="18" charset="0"/>
              </a:rPr>
              <a:t>等效到回路两端的电阻为</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graphicFrame>
        <p:nvGraphicFramePr>
          <p:cNvPr id="380948" name="Object 20"/>
          <p:cNvGraphicFramePr/>
          <p:nvPr/>
        </p:nvGraphicFramePr>
        <p:xfrm>
          <a:off x="7308850" y="4797425"/>
          <a:ext cx="1655763" cy="647700"/>
        </p:xfrm>
        <a:graphic>
          <a:graphicData uri="http://schemas.openxmlformats.org/presentationml/2006/ole">
            <mc:AlternateContent xmlns:mc="http://schemas.openxmlformats.org/markup-compatibility/2006">
              <mc:Choice xmlns:v="urn:schemas-microsoft-com:vml" Requires="v">
                <p:oleObj spid="_x0000_s6" name="" r:id="rId9" imgW="1104265" imgH="431800" progId="Equation.DSMT4">
                  <p:embed/>
                </p:oleObj>
              </mc:Choice>
              <mc:Fallback>
                <p:oleObj name="" r:id="rId9" imgW="1104265" imgH="431800" progId="Equation.DSMT4">
                  <p:embed/>
                  <p:pic>
                    <p:nvPicPr>
                      <p:cNvPr id="0" name="图片 3207"/>
                      <p:cNvPicPr/>
                      <p:nvPr/>
                    </p:nvPicPr>
                    <p:blipFill>
                      <a:blip r:embed="rId10"/>
                      <a:stretch>
                        <a:fillRect/>
                      </a:stretch>
                    </p:blipFill>
                    <p:spPr>
                      <a:xfrm>
                        <a:off x="7308850" y="4797425"/>
                        <a:ext cx="1655763" cy="647700"/>
                      </a:xfrm>
                      <a:prstGeom prst="rect">
                        <a:avLst/>
                      </a:prstGeom>
                      <a:noFill/>
                      <a:ln w="38100">
                        <a:noFill/>
                        <a:miter/>
                      </a:ln>
                    </p:spPr>
                  </p:pic>
                </p:oleObj>
              </mc:Fallback>
            </mc:AlternateContent>
          </a:graphicData>
        </a:graphic>
      </p:graphicFrame>
      <p:sp>
        <p:nvSpPr>
          <p:cNvPr id="22536" name="Text Box 8"/>
          <p:cNvSpPr txBox="1"/>
          <p:nvPr/>
        </p:nvSpPr>
        <p:spPr>
          <a:xfrm>
            <a:off x="144463" y="908050"/>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sp>
        <p:nvSpPr>
          <p:cNvPr id="78852" name="Text Box 8"/>
          <p:cNvSpPr txBox="1"/>
          <p:nvPr/>
        </p:nvSpPr>
        <p:spPr>
          <a:xfrm>
            <a:off x="611188" y="1320800"/>
            <a:ext cx="6126480" cy="460375"/>
          </a:xfrm>
          <a:prstGeom prst="rect">
            <a:avLst/>
          </a:prstGeom>
          <a:noFill/>
          <a:ln w="9525">
            <a:noFill/>
          </a:ln>
        </p:spPr>
        <p:txBody>
          <a:bodyPr wrap="none">
            <a:spAutoFit/>
          </a:bodyPr>
          <a:lstStyle/>
          <a:p>
            <a:r>
              <a:rPr lang="zh-CN" altLang="en-US" sz="2400" dirty="0">
                <a:solidFill>
                  <a:schemeClr val="accent2"/>
                </a:solidFill>
                <a:latin typeface="Times New Roman" panose="02020603050405020304" pitchFamily="18" charset="0"/>
              </a:rPr>
              <a:t>（</a:t>
            </a:r>
            <a:r>
              <a:rPr lang="en-US" altLang="zh-CN" sz="2400" dirty="0">
                <a:solidFill>
                  <a:schemeClr val="accent2"/>
                </a:solidFill>
                <a:latin typeface="Times New Roman" panose="02020603050405020304" pitchFamily="18" charset="0"/>
              </a:rPr>
              <a:t>3</a:t>
            </a:r>
            <a:r>
              <a:rPr lang="zh-CN" altLang="en-US" sz="2400" dirty="0">
                <a:solidFill>
                  <a:schemeClr val="accent2"/>
                </a:solidFill>
                <a:latin typeface="Times New Roman" panose="02020603050405020304" pitchFamily="18" charset="0"/>
              </a:rPr>
              <a:t>）抽头并联振荡回路（阻抗变换网络）</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nvGrpSpPr>
          <p:cNvPr id="11272" name="Group 40"/>
          <p:cNvGrpSpPr/>
          <p:nvPr/>
        </p:nvGrpSpPr>
        <p:grpSpPr>
          <a:xfrm>
            <a:off x="1979613" y="388938"/>
            <a:ext cx="5334000" cy="519113"/>
            <a:chOff x="1287" y="432"/>
            <a:chExt cx="3360" cy="327"/>
          </a:xfrm>
        </p:grpSpPr>
        <p:sp>
          <p:nvSpPr>
            <p:cNvPr id="11280" name="Rectangle 41"/>
            <p:cNvSpPr/>
            <p:nvPr/>
          </p:nvSpPr>
          <p:spPr>
            <a:xfrm>
              <a:off x="1287" y="43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11281" name="Line 42"/>
            <p:cNvSpPr/>
            <p:nvPr/>
          </p:nvSpPr>
          <p:spPr>
            <a:xfrm>
              <a:off x="1469" y="749"/>
              <a:ext cx="3024" cy="0"/>
            </a:xfrm>
            <a:prstGeom prst="line">
              <a:avLst/>
            </a:prstGeom>
            <a:ln w="57150" cap="flat" cmpd="tri">
              <a:solidFill>
                <a:srgbClr val="FF00FF"/>
              </a:solidFill>
              <a:prstDash val="solid"/>
              <a:headEnd type="none" w="sm" len="sm"/>
              <a:tailEnd type="none" w="sm" len="sm"/>
            </a:ln>
          </p:spPr>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0941"/>
                                        </p:tgtEl>
                                        <p:attrNameLst>
                                          <p:attrName>style.visibility</p:attrName>
                                        </p:attrNameLst>
                                      </p:cBhvr>
                                      <p:to>
                                        <p:strVal val="visible"/>
                                      </p:to>
                                    </p:set>
                                    <p:animEffect transition="in" filter="wipe(left)">
                                      <p:cBhvr>
                                        <p:cTn id="7" dur="500"/>
                                        <p:tgtEl>
                                          <p:spTgt spid="3809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80942"/>
                                        </p:tgtEl>
                                        <p:attrNameLst>
                                          <p:attrName>style.visibility</p:attrName>
                                        </p:attrNameLst>
                                      </p:cBhvr>
                                      <p:to>
                                        <p:strVal val="visible"/>
                                      </p:to>
                                    </p:set>
                                    <p:animEffect transition="in" filter="wipe(left)">
                                      <p:cBhvr>
                                        <p:cTn id="12" dur="500"/>
                                        <p:tgtEl>
                                          <p:spTgt spid="38094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80943"/>
                                        </p:tgtEl>
                                        <p:attrNameLst>
                                          <p:attrName>style.visibility</p:attrName>
                                        </p:attrNameLst>
                                      </p:cBhvr>
                                      <p:to>
                                        <p:strVal val="visible"/>
                                      </p:to>
                                    </p:set>
                                    <p:animEffect transition="in" filter="wipe(left)">
                                      <p:cBhvr>
                                        <p:cTn id="17" dur="500"/>
                                        <p:tgtEl>
                                          <p:spTgt spid="38094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80944"/>
                                        </p:tgtEl>
                                        <p:attrNameLst>
                                          <p:attrName>style.visibility</p:attrName>
                                        </p:attrNameLst>
                                      </p:cBhvr>
                                      <p:to>
                                        <p:strVal val="visible"/>
                                      </p:to>
                                    </p:set>
                                    <p:animEffect transition="in" filter="wipe(left)">
                                      <p:cBhvr>
                                        <p:cTn id="22" dur="500"/>
                                        <p:tgtEl>
                                          <p:spTgt spid="38094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80945"/>
                                        </p:tgtEl>
                                        <p:attrNameLst>
                                          <p:attrName>style.visibility</p:attrName>
                                        </p:attrNameLst>
                                      </p:cBhvr>
                                      <p:to>
                                        <p:strVal val="visible"/>
                                      </p:to>
                                    </p:set>
                                    <p:animEffect transition="in" filter="wipe(left)">
                                      <p:cBhvr>
                                        <p:cTn id="27" dur="500"/>
                                        <p:tgtEl>
                                          <p:spTgt spid="380945"/>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nodeType="clickEffect">
                                  <p:stCondLst>
                                    <p:cond delay="0"/>
                                  </p:stCondLst>
                                  <p:childTnLst>
                                    <p:set>
                                      <p:cBhvr>
                                        <p:cTn id="31" dur="1" fill="hold">
                                          <p:stCondLst>
                                            <p:cond delay="0"/>
                                          </p:stCondLst>
                                        </p:cTn>
                                        <p:tgtEl>
                                          <p:spTgt spid="380948"/>
                                        </p:tgtEl>
                                        <p:attrNameLst>
                                          <p:attrName>style.visibility</p:attrName>
                                        </p:attrNameLst>
                                      </p:cBhvr>
                                      <p:to>
                                        <p:strVal val="visible"/>
                                      </p:to>
                                    </p:set>
                                    <p:anim calcmode="lin" valueType="num">
                                      <p:cBhvr additive="base">
                                        <p:cTn id="32" dur="500" fill="hold"/>
                                        <p:tgtEl>
                                          <p:spTgt spid="380948"/>
                                        </p:tgtEl>
                                        <p:attrNameLst>
                                          <p:attrName>ppt_x</p:attrName>
                                        </p:attrNameLst>
                                      </p:cBhvr>
                                      <p:tavLst>
                                        <p:tav tm="0">
                                          <p:val>
                                            <p:strVal val="1+#ppt_w/2"/>
                                          </p:val>
                                        </p:tav>
                                        <p:tav tm="100000">
                                          <p:val>
                                            <p:strVal val="#ppt_x"/>
                                          </p:val>
                                        </p:tav>
                                      </p:tavLst>
                                    </p:anim>
                                    <p:anim calcmode="lin" valueType="num">
                                      <p:cBhvr additive="base">
                                        <p:cTn id="33" dur="500" fill="hold"/>
                                        <p:tgtEl>
                                          <p:spTgt spid="380948"/>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380947"/>
                                        </p:tgtEl>
                                        <p:attrNameLst>
                                          <p:attrName>style.visibility</p:attrName>
                                        </p:attrNameLst>
                                      </p:cBhvr>
                                      <p:to>
                                        <p:strVal val="visible"/>
                                      </p:to>
                                    </p:set>
                                    <p:anim calcmode="lin" valueType="num">
                                      <p:cBhvr additive="base">
                                        <p:cTn id="38" dur="500" fill="hold"/>
                                        <p:tgtEl>
                                          <p:spTgt spid="380947"/>
                                        </p:tgtEl>
                                        <p:attrNameLst>
                                          <p:attrName>ppt_x</p:attrName>
                                        </p:attrNameLst>
                                      </p:cBhvr>
                                      <p:tavLst>
                                        <p:tav tm="0">
                                          <p:val>
                                            <p:strVal val="0-#ppt_w/2"/>
                                          </p:val>
                                        </p:tav>
                                        <p:tav tm="100000">
                                          <p:val>
                                            <p:strVal val="#ppt_x"/>
                                          </p:val>
                                        </p:tav>
                                      </p:tavLst>
                                    </p:anim>
                                    <p:anim calcmode="lin" valueType="num">
                                      <p:cBhvr additive="base">
                                        <p:cTn id="39" dur="500" fill="hold"/>
                                        <p:tgtEl>
                                          <p:spTgt spid="380947"/>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2" fill="hold" nodeType="clickEffect">
                                  <p:stCondLst>
                                    <p:cond delay="0"/>
                                  </p:stCondLst>
                                  <p:childTnLst>
                                    <p:set>
                                      <p:cBhvr>
                                        <p:cTn id="43" dur="1" fill="hold">
                                          <p:stCondLst>
                                            <p:cond delay="0"/>
                                          </p:stCondLst>
                                        </p:cTn>
                                        <p:tgtEl>
                                          <p:spTgt spid="380946"/>
                                        </p:tgtEl>
                                        <p:attrNameLst>
                                          <p:attrName>style.visibility</p:attrName>
                                        </p:attrNameLst>
                                      </p:cBhvr>
                                      <p:to>
                                        <p:strVal val="visible"/>
                                      </p:to>
                                    </p:set>
                                    <p:anim calcmode="lin" valueType="num">
                                      <p:cBhvr additive="base">
                                        <p:cTn id="44" dur="500" fill="hold"/>
                                        <p:tgtEl>
                                          <p:spTgt spid="380946"/>
                                        </p:tgtEl>
                                        <p:attrNameLst>
                                          <p:attrName>ppt_x</p:attrName>
                                        </p:attrNameLst>
                                      </p:cBhvr>
                                      <p:tavLst>
                                        <p:tav tm="0">
                                          <p:val>
                                            <p:strVal val="1+#ppt_w/2"/>
                                          </p:val>
                                        </p:tav>
                                        <p:tav tm="100000">
                                          <p:val>
                                            <p:strVal val="#ppt_x"/>
                                          </p:val>
                                        </p:tav>
                                      </p:tavLst>
                                    </p:anim>
                                    <p:anim calcmode="lin" valueType="num">
                                      <p:cBhvr additive="base">
                                        <p:cTn id="45" dur="500" fill="hold"/>
                                        <p:tgtEl>
                                          <p:spTgt spid="3809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0941" grpId="0"/>
      <p:bldP spid="380943" grpId="0"/>
      <p:bldP spid="380945" grpId="0"/>
      <p:bldP spid="38094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4" name="Text Box 9"/>
          <p:cNvSpPr txBox="1"/>
          <p:nvPr/>
        </p:nvSpPr>
        <p:spPr>
          <a:xfrm>
            <a:off x="612140" y="1772920"/>
            <a:ext cx="7787640" cy="829945"/>
          </a:xfrm>
          <a:prstGeom prst="rect">
            <a:avLst/>
          </a:prstGeom>
          <a:noFill/>
          <a:ln w="9525">
            <a:noFill/>
          </a:ln>
        </p:spPr>
        <p:txBody>
          <a:bodyPr wrap="square">
            <a:spAutoFit/>
          </a:bodyPr>
          <a:lstStyle/>
          <a:p>
            <a:r>
              <a:rPr lang="zh-CN" altLang="en-US" dirty="0">
                <a:latin typeface="Times New Roman" panose="02020603050405020304" pitchFamily="18" charset="0"/>
              </a:rPr>
              <a:t>前面分析的是回路谐振时，阻抗之间的变换关系，对于</a:t>
            </a:r>
            <a:r>
              <a:rPr lang="zh-CN" altLang="en-US" dirty="0">
                <a:solidFill>
                  <a:srgbClr val="FF00FF"/>
                </a:solidFill>
                <a:latin typeface="Times New Roman" panose="02020603050405020304" pitchFamily="18" charset="0"/>
              </a:rPr>
              <a:t>非谐振回路</a:t>
            </a:r>
            <a:r>
              <a:rPr lang="zh-CN" altLang="en-US" dirty="0">
                <a:latin typeface="Times New Roman" panose="02020603050405020304" pitchFamily="18" charset="0"/>
              </a:rPr>
              <a:t>，接入系数的概念同样适用，此时</a:t>
            </a:r>
            <a:endParaRPr lang="zh-CN" altLang="en-US" dirty="0">
              <a:latin typeface="Times New Roman" panose="02020603050405020304" pitchFamily="18" charset="0"/>
            </a:endParaRPr>
          </a:p>
        </p:txBody>
      </p:sp>
      <p:graphicFrame>
        <p:nvGraphicFramePr>
          <p:cNvPr id="24578" name="Object 10"/>
          <p:cNvGraphicFramePr/>
          <p:nvPr/>
        </p:nvGraphicFramePr>
        <p:xfrm>
          <a:off x="2928620" y="2642870"/>
          <a:ext cx="2594610" cy="1137920"/>
        </p:xfrm>
        <a:graphic>
          <a:graphicData uri="http://schemas.openxmlformats.org/presentationml/2006/ole">
            <mc:AlternateContent xmlns:mc="http://schemas.openxmlformats.org/markup-compatibility/2006">
              <mc:Choice xmlns:v="urn:schemas-microsoft-com:vml" Requires="v">
                <p:oleObj spid="_x0000_s2" name="" r:id="rId1" imgW="1523365" imgH="635000" progId="Equation.DSMT4">
                  <p:embed/>
                </p:oleObj>
              </mc:Choice>
              <mc:Fallback>
                <p:oleObj name="" r:id="rId1" imgW="1523365" imgH="635000" progId="Equation.DSMT4">
                  <p:embed/>
                  <p:pic>
                    <p:nvPicPr>
                      <p:cNvPr id="0" name="图片 3202"/>
                      <p:cNvPicPr/>
                      <p:nvPr/>
                    </p:nvPicPr>
                    <p:blipFill>
                      <a:blip r:embed="rId2"/>
                      <a:stretch>
                        <a:fillRect/>
                      </a:stretch>
                    </p:blipFill>
                    <p:spPr>
                      <a:xfrm>
                        <a:off x="2928620" y="2642870"/>
                        <a:ext cx="2594610" cy="1137920"/>
                      </a:xfrm>
                      <a:prstGeom prst="rect">
                        <a:avLst/>
                      </a:prstGeom>
                      <a:noFill/>
                      <a:ln w="38100">
                        <a:noFill/>
                        <a:miter/>
                      </a:ln>
                    </p:spPr>
                  </p:pic>
                </p:oleObj>
              </mc:Fallback>
            </mc:AlternateContent>
          </a:graphicData>
        </a:graphic>
      </p:graphicFrame>
      <p:graphicFrame>
        <p:nvGraphicFramePr>
          <p:cNvPr id="24579" name="Object 11"/>
          <p:cNvGraphicFramePr/>
          <p:nvPr/>
        </p:nvGraphicFramePr>
        <p:xfrm>
          <a:off x="684213" y="4064953"/>
          <a:ext cx="1728787" cy="1646237"/>
        </p:xfrm>
        <a:graphic>
          <a:graphicData uri="http://schemas.openxmlformats.org/presentationml/2006/ole">
            <mc:AlternateContent xmlns:mc="http://schemas.openxmlformats.org/markup-compatibility/2006">
              <mc:Choice xmlns:v="urn:schemas-microsoft-com:vml" Requires="v">
                <p:oleObj spid="_x0000_s3" name="" r:id="rId3" imgW="1219200" imgH="1165225" progId="Visio.Drawing.6">
                  <p:embed/>
                </p:oleObj>
              </mc:Choice>
              <mc:Fallback>
                <p:oleObj name="" r:id="rId3" imgW="1219200" imgH="1165225" progId="Visio.Drawing.6">
                  <p:embed/>
                  <p:pic>
                    <p:nvPicPr>
                      <p:cNvPr id="0" name="图片 3218"/>
                      <p:cNvPicPr/>
                      <p:nvPr/>
                    </p:nvPicPr>
                    <p:blipFill>
                      <a:blip r:embed="rId4"/>
                      <a:stretch>
                        <a:fillRect/>
                      </a:stretch>
                    </p:blipFill>
                    <p:spPr>
                      <a:xfrm>
                        <a:off x="684213" y="4064953"/>
                        <a:ext cx="1728787" cy="1646237"/>
                      </a:xfrm>
                      <a:prstGeom prst="rect">
                        <a:avLst/>
                      </a:prstGeom>
                      <a:noFill/>
                      <a:ln w="38100">
                        <a:noFill/>
                        <a:miter/>
                      </a:ln>
                    </p:spPr>
                  </p:pic>
                </p:oleObj>
              </mc:Fallback>
            </mc:AlternateContent>
          </a:graphicData>
        </a:graphic>
      </p:graphicFrame>
      <p:graphicFrame>
        <p:nvGraphicFramePr>
          <p:cNvPr id="24580" name="Object 12"/>
          <p:cNvGraphicFramePr/>
          <p:nvPr/>
        </p:nvGraphicFramePr>
        <p:xfrm>
          <a:off x="3780155" y="3957320"/>
          <a:ext cx="3214370" cy="1404620"/>
        </p:xfrm>
        <a:graphic>
          <a:graphicData uri="http://schemas.openxmlformats.org/presentationml/2006/ole">
            <mc:AlternateContent xmlns:mc="http://schemas.openxmlformats.org/markup-compatibility/2006">
              <mc:Choice xmlns:v="urn:schemas-microsoft-com:vml" Requires="v">
                <p:oleObj spid="_x0000_s4" name="" r:id="rId5" imgW="1993900" imgH="838200" progId="Equation.3">
                  <p:embed/>
                </p:oleObj>
              </mc:Choice>
              <mc:Fallback>
                <p:oleObj name="" r:id="rId5" imgW="1993900" imgH="838200" progId="Equation.3">
                  <p:embed/>
                  <p:pic>
                    <p:nvPicPr>
                      <p:cNvPr id="0" name="图片 3214"/>
                      <p:cNvPicPr/>
                      <p:nvPr/>
                    </p:nvPicPr>
                    <p:blipFill>
                      <a:blip r:embed="rId6"/>
                      <a:stretch>
                        <a:fillRect/>
                      </a:stretch>
                    </p:blipFill>
                    <p:spPr>
                      <a:xfrm>
                        <a:off x="3780155" y="3957320"/>
                        <a:ext cx="3214370" cy="1404620"/>
                      </a:xfrm>
                      <a:prstGeom prst="rect">
                        <a:avLst/>
                      </a:prstGeom>
                      <a:solidFill>
                        <a:schemeClr val="accent1">
                          <a:lumMod val="20000"/>
                          <a:lumOff val="80000"/>
                        </a:schemeClr>
                      </a:solidFill>
                      <a:ln w="38100">
                        <a:solidFill>
                          <a:schemeClr val="accent1">
                            <a:lumMod val="20000"/>
                            <a:lumOff val="80000"/>
                          </a:schemeClr>
                        </a:solidFill>
                        <a:miter/>
                      </a:ln>
                    </p:spPr>
                  </p:pic>
                </p:oleObj>
              </mc:Fallback>
            </mc:AlternateContent>
          </a:graphicData>
        </a:graphic>
      </p:graphicFrame>
      <p:sp>
        <p:nvSpPr>
          <p:cNvPr id="24585" name="Text Box 13"/>
          <p:cNvSpPr txBox="1"/>
          <p:nvPr/>
        </p:nvSpPr>
        <p:spPr>
          <a:xfrm>
            <a:off x="684213" y="3560128"/>
            <a:ext cx="1962150" cy="396875"/>
          </a:xfrm>
          <a:prstGeom prst="rect">
            <a:avLst/>
          </a:prstGeom>
          <a:noFill/>
          <a:ln w="9525">
            <a:noFill/>
          </a:ln>
        </p:spPr>
        <p:txBody>
          <a:bodyPr wrap="none">
            <a:spAutoFit/>
          </a:bodyPr>
          <a:lstStyle/>
          <a:p>
            <a:r>
              <a:rPr lang="zh-CN" altLang="en-US" sz="2000" dirty="0">
                <a:solidFill>
                  <a:srgbClr val="FF00FF"/>
                </a:solidFill>
                <a:latin typeface="Times New Roman" panose="02020603050405020304" pitchFamily="18" charset="0"/>
              </a:rPr>
              <a:t>电容部分接入</a:t>
            </a:r>
            <a:r>
              <a:rPr lang="zh-CN" altLang="en-US" sz="2000" dirty="0">
                <a:latin typeface="Times New Roman" panose="02020603050405020304" pitchFamily="18" charset="0"/>
              </a:rPr>
              <a:t>：</a:t>
            </a:r>
            <a:endParaRPr lang="zh-CN" altLang="en-US" sz="2000" dirty="0">
              <a:latin typeface="Times New Roman" panose="02020603050405020304" pitchFamily="18" charset="0"/>
            </a:endParaRPr>
          </a:p>
        </p:txBody>
      </p:sp>
      <p:sp>
        <p:nvSpPr>
          <p:cNvPr id="24586" name="Text Box 14"/>
          <p:cNvSpPr txBox="1"/>
          <p:nvPr/>
        </p:nvSpPr>
        <p:spPr>
          <a:xfrm>
            <a:off x="2555875" y="4496753"/>
            <a:ext cx="1200150" cy="396875"/>
          </a:xfrm>
          <a:prstGeom prst="rect">
            <a:avLst/>
          </a:prstGeom>
          <a:noFill/>
          <a:ln w="9525">
            <a:noFill/>
          </a:ln>
        </p:spPr>
        <p:txBody>
          <a:bodyPr wrap="none">
            <a:spAutoFit/>
          </a:bodyPr>
          <a:lstStyle/>
          <a:p>
            <a:r>
              <a:rPr lang="zh-CN" altLang="en-US" sz="2000" dirty="0">
                <a:latin typeface="Times New Roman" panose="02020603050405020304" pitchFamily="18" charset="0"/>
              </a:rPr>
              <a:t>接入系数</a:t>
            </a:r>
            <a:endParaRPr lang="zh-CN" altLang="en-US" sz="2000" dirty="0">
              <a:latin typeface="Times New Roman" panose="02020603050405020304" pitchFamily="18" charset="0"/>
            </a:endParaRPr>
          </a:p>
        </p:txBody>
      </p:sp>
      <p:sp>
        <p:nvSpPr>
          <p:cNvPr id="22536" name="Text Box 8"/>
          <p:cNvSpPr txBox="1"/>
          <p:nvPr/>
        </p:nvSpPr>
        <p:spPr>
          <a:xfrm>
            <a:off x="144463" y="908050"/>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sp>
        <p:nvSpPr>
          <p:cNvPr id="78852" name="Text Box 8"/>
          <p:cNvSpPr txBox="1"/>
          <p:nvPr/>
        </p:nvSpPr>
        <p:spPr>
          <a:xfrm>
            <a:off x="611188" y="1320800"/>
            <a:ext cx="6126480" cy="460375"/>
          </a:xfrm>
          <a:prstGeom prst="rect">
            <a:avLst/>
          </a:prstGeom>
          <a:noFill/>
          <a:ln w="9525">
            <a:noFill/>
          </a:ln>
        </p:spPr>
        <p:txBody>
          <a:bodyPr wrap="none">
            <a:spAutoFit/>
          </a:bodyPr>
          <a:lstStyle/>
          <a:p>
            <a:r>
              <a:rPr lang="zh-CN" altLang="en-US" sz="2400" dirty="0">
                <a:solidFill>
                  <a:schemeClr val="accent2"/>
                </a:solidFill>
                <a:latin typeface="Times New Roman" panose="02020603050405020304" pitchFamily="18" charset="0"/>
              </a:rPr>
              <a:t>（</a:t>
            </a:r>
            <a:r>
              <a:rPr lang="en-US" altLang="zh-CN" sz="2400" dirty="0">
                <a:solidFill>
                  <a:schemeClr val="accent2"/>
                </a:solidFill>
                <a:latin typeface="Times New Roman" panose="02020603050405020304" pitchFamily="18" charset="0"/>
              </a:rPr>
              <a:t>3</a:t>
            </a:r>
            <a:r>
              <a:rPr lang="zh-CN" altLang="en-US" sz="2400" dirty="0">
                <a:solidFill>
                  <a:schemeClr val="accent2"/>
                </a:solidFill>
                <a:latin typeface="Times New Roman" panose="02020603050405020304" pitchFamily="18" charset="0"/>
              </a:rPr>
              <a:t>）抽头并联振荡回路（阻抗变换网络）</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nvGrpSpPr>
          <p:cNvPr id="11272" name="Group 40"/>
          <p:cNvGrpSpPr/>
          <p:nvPr/>
        </p:nvGrpSpPr>
        <p:grpSpPr>
          <a:xfrm>
            <a:off x="1979613" y="388938"/>
            <a:ext cx="5334000" cy="519113"/>
            <a:chOff x="1287" y="432"/>
            <a:chExt cx="3360" cy="327"/>
          </a:xfrm>
        </p:grpSpPr>
        <p:sp>
          <p:nvSpPr>
            <p:cNvPr id="11280" name="Rectangle 41"/>
            <p:cNvSpPr/>
            <p:nvPr/>
          </p:nvSpPr>
          <p:spPr>
            <a:xfrm>
              <a:off x="1287" y="43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11281" name="Line 42"/>
            <p:cNvSpPr/>
            <p:nvPr/>
          </p:nvSpPr>
          <p:spPr>
            <a:xfrm>
              <a:off x="1469" y="749"/>
              <a:ext cx="3024" cy="0"/>
            </a:xfrm>
            <a:prstGeom prst="line">
              <a:avLst/>
            </a:prstGeom>
            <a:ln w="57150" cap="flat" cmpd="tri">
              <a:solidFill>
                <a:srgbClr val="FF00FF"/>
              </a:solidFill>
              <a:prstDash val="solid"/>
              <a:headEnd type="none" w="sm" len="sm"/>
              <a:tailEnd type="none" w="sm" len="sm"/>
            </a:ln>
          </p:spPr>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6" name="Text Box 7"/>
          <p:cNvSpPr txBox="1"/>
          <p:nvPr/>
        </p:nvSpPr>
        <p:spPr>
          <a:xfrm>
            <a:off x="468313" y="908050"/>
            <a:ext cx="2343150" cy="396875"/>
          </a:xfrm>
          <a:prstGeom prst="rect">
            <a:avLst/>
          </a:prstGeom>
          <a:noFill/>
          <a:ln w="9525">
            <a:noFill/>
          </a:ln>
        </p:spPr>
        <p:txBody>
          <a:bodyPr wrap="none">
            <a:spAutoFit/>
          </a:bodyPr>
          <a:lstStyle/>
          <a:p>
            <a:r>
              <a:rPr lang="en-US" altLang="zh-CN" sz="2000" b="1" dirty="0">
                <a:latin typeface="Times New Roman" panose="02020603050405020304" pitchFamily="18" charset="0"/>
              </a:rPr>
              <a:t>  </a:t>
            </a:r>
            <a:r>
              <a:rPr lang="zh-CN" altLang="en-US" sz="2000" b="1" dirty="0">
                <a:solidFill>
                  <a:srgbClr val="FF0066"/>
                </a:solidFill>
                <a:latin typeface="Times New Roman" panose="02020603050405020304" pitchFamily="18" charset="0"/>
              </a:rPr>
              <a:t>一、高频震荡回路</a:t>
            </a:r>
            <a:endParaRPr lang="zh-CN" altLang="en-US" sz="2000" b="1" dirty="0">
              <a:solidFill>
                <a:srgbClr val="FF0066"/>
              </a:solidFill>
              <a:latin typeface="Times New Roman" panose="02020603050405020304" pitchFamily="18" charset="0"/>
            </a:endParaRPr>
          </a:p>
        </p:txBody>
      </p:sp>
      <p:sp>
        <p:nvSpPr>
          <p:cNvPr id="382985" name="Rectangle 9"/>
          <p:cNvSpPr/>
          <p:nvPr/>
        </p:nvSpPr>
        <p:spPr>
          <a:xfrm>
            <a:off x="684213" y="1656080"/>
            <a:ext cx="6970395" cy="491490"/>
          </a:xfrm>
          <a:prstGeom prst="rect">
            <a:avLst/>
          </a:prstGeom>
          <a:noFill/>
          <a:ln w="9525">
            <a:noFill/>
          </a:ln>
        </p:spPr>
        <p:txBody>
          <a:bodyPr wrap="none">
            <a:spAutoFit/>
          </a:bodyPr>
          <a:lstStyle/>
          <a:p>
            <a:pPr>
              <a:lnSpc>
                <a:spcPct val="130000"/>
              </a:lnSpc>
              <a:spcBef>
                <a:spcPct val="20000"/>
              </a:spcBef>
            </a:pPr>
            <a:r>
              <a:rPr lang="zh-CN" altLang="en-US" sz="2000" dirty="0">
                <a:latin typeface="Times New Roman" panose="02020603050405020304" pitchFamily="18" charset="0"/>
              </a:rPr>
              <a:t>电路参数如图所示，求如图端电压、回路有载</a:t>
            </a:r>
            <a:r>
              <a:rPr lang="en-US" altLang="zh-CN" sz="2000" dirty="0">
                <a:latin typeface="Times New Roman" panose="02020603050405020304" pitchFamily="18" charset="0"/>
              </a:rPr>
              <a:t>Q</a:t>
            </a:r>
            <a:r>
              <a:rPr lang="zh-CN" altLang="en-US" sz="2000" dirty="0">
                <a:latin typeface="Times New Roman" panose="02020603050405020304" pitchFamily="18" charset="0"/>
              </a:rPr>
              <a:t>值，及</a:t>
            </a:r>
            <a:r>
              <a:rPr lang="zh-CN" altLang="en-US" sz="2000" dirty="0">
                <a:latin typeface="Times New Roman" panose="02020603050405020304" pitchFamily="18" charset="0"/>
              </a:rPr>
              <a:t>带宽。</a:t>
            </a:r>
            <a:endParaRPr lang="zh-CN" altLang="en-US" sz="2000" dirty="0">
              <a:latin typeface="Times New Roman" panose="02020603050405020304" pitchFamily="18" charset="0"/>
            </a:endParaRPr>
          </a:p>
        </p:txBody>
      </p:sp>
      <p:graphicFrame>
        <p:nvGraphicFramePr>
          <p:cNvPr id="27654" name="Object 17"/>
          <p:cNvGraphicFramePr/>
          <p:nvPr/>
        </p:nvGraphicFramePr>
        <p:xfrm>
          <a:off x="2123440" y="2421255"/>
          <a:ext cx="4895850" cy="1865313"/>
        </p:xfrm>
        <a:graphic>
          <a:graphicData uri="http://schemas.openxmlformats.org/presentationml/2006/ole">
            <mc:AlternateContent xmlns:mc="http://schemas.openxmlformats.org/markup-compatibility/2006">
              <mc:Choice xmlns:v="urn:schemas-microsoft-com:vml" Requires="v">
                <p:oleObj spid="_x0000_s6" name="" r:id="rId1" imgW="2549525" imgH="972185" progId="Visio.Drawing.4">
                  <p:embed/>
                </p:oleObj>
              </mc:Choice>
              <mc:Fallback>
                <p:oleObj name="" r:id="rId1" imgW="2549525" imgH="972185" progId="Visio.Drawing.4">
                  <p:embed/>
                  <p:pic>
                    <p:nvPicPr>
                      <p:cNvPr id="0" name="图片 3200"/>
                      <p:cNvPicPr/>
                      <p:nvPr/>
                    </p:nvPicPr>
                    <p:blipFill>
                      <a:blip r:embed="rId2"/>
                      <a:stretch>
                        <a:fillRect/>
                      </a:stretch>
                    </p:blipFill>
                    <p:spPr>
                      <a:xfrm>
                        <a:off x="2123440" y="2421255"/>
                        <a:ext cx="4895850" cy="1865313"/>
                      </a:xfrm>
                      <a:prstGeom prst="rect">
                        <a:avLst/>
                      </a:prstGeom>
                      <a:noFill/>
                      <a:ln w="38100">
                        <a:noFill/>
                        <a:miter/>
                      </a:ln>
                    </p:spPr>
                  </p:pic>
                </p:oleObj>
              </mc:Fallback>
            </mc:AlternateContent>
          </a:graphicData>
        </a:graphic>
      </p:graphicFrame>
      <p:sp>
        <p:nvSpPr>
          <p:cNvPr id="78852" name="Text Box 8"/>
          <p:cNvSpPr txBox="1"/>
          <p:nvPr/>
        </p:nvSpPr>
        <p:spPr>
          <a:xfrm>
            <a:off x="611188" y="1320800"/>
            <a:ext cx="6126480" cy="460375"/>
          </a:xfrm>
          <a:prstGeom prst="rect">
            <a:avLst/>
          </a:prstGeom>
          <a:noFill/>
          <a:ln w="9525">
            <a:noFill/>
          </a:ln>
        </p:spPr>
        <p:txBody>
          <a:bodyPr wrap="none">
            <a:spAutoFit/>
          </a:bodyPr>
          <a:lstStyle/>
          <a:p>
            <a:r>
              <a:rPr lang="zh-CN" altLang="en-US" sz="2400" dirty="0">
                <a:solidFill>
                  <a:schemeClr val="accent2"/>
                </a:solidFill>
                <a:latin typeface="Times New Roman" panose="02020603050405020304" pitchFamily="18" charset="0"/>
              </a:rPr>
              <a:t>（</a:t>
            </a:r>
            <a:r>
              <a:rPr lang="en-US" altLang="zh-CN" sz="2400" dirty="0">
                <a:solidFill>
                  <a:schemeClr val="accent2"/>
                </a:solidFill>
                <a:latin typeface="Times New Roman" panose="02020603050405020304" pitchFamily="18" charset="0"/>
              </a:rPr>
              <a:t>3</a:t>
            </a:r>
            <a:r>
              <a:rPr lang="zh-CN" altLang="en-US" sz="2400" dirty="0">
                <a:solidFill>
                  <a:schemeClr val="accent2"/>
                </a:solidFill>
                <a:latin typeface="Times New Roman" panose="02020603050405020304" pitchFamily="18" charset="0"/>
              </a:rPr>
              <a:t>）抽头并联振荡回路（阻抗变换网络）</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nvGrpSpPr>
          <p:cNvPr id="11272" name="Group 40"/>
          <p:cNvGrpSpPr/>
          <p:nvPr/>
        </p:nvGrpSpPr>
        <p:grpSpPr>
          <a:xfrm>
            <a:off x="1979613" y="388938"/>
            <a:ext cx="5334000" cy="519113"/>
            <a:chOff x="1287" y="432"/>
            <a:chExt cx="3360" cy="327"/>
          </a:xfrm>
        </p:grpSpPr>
        <p:sp>
          <p:nvSpPr>
            <p:cNvPr id="11280" name="Rectangle 41"/>
            <p:cNvSpPr/>
            <p:nvPr/>
          </p:nvSpPr>
          <p:spPr>
            <a:xfrm>
              <a:off x="1287" y="43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11281" name="Line 42"/>
            <p:cNvSpPr/>
            <p:nvPr/>
          </p:nvSpPr>
          <p:spPr>
            <a:xfrm>
              <a:off x="1469" y="749"/>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2985"/>
                                        </p:tgtEl>
                                        <p:attrNameLst>
                                          <p:attrName>style.visibility</p:attrName>
                                        </p:attrNameLst>
                                      </p:cBhvr>
                                      <p:to>
                                        <p:strVal val="visible"/>
                                      </p:to>
                                    </p:set>
                                    <p:animEffect transition="in" filter="wipe(left)">
                                      <p:cBhvr>
                                        <p:cTn id="7" dur="500"/>
                                        <p:tgtEl>
                                          <p:spTgt spid="3829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98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6" name="Text Box 7"/>
          <p:cNvSpPr txBox="1"/>
          <p:nvPr/>
        </p:nvSpPr>
        <p:spPr>
          <a:xfrm>
            <a:off x="468313" y="908050"/>
            <a:ext cx="2343150" cy="396875"/>
          </a:xfrm>
          <a:prstGeom prst="rect">
            <a:avLst/>
          </a:prstGeom>
          <a:noFill/>
          <a:ln w="9525">
            <a:noFill/>
          </a:ln>
        </p:spPr>
        <p:txBody>
          <a:bodyPr wrap="none">
            <a:spAutoFit/>
          </a:bodyPr>
          <a:lstStyle/>
          <a:p>
            <a:r>
              <a:rPr lang="en-US" altLang="zh-CN" sz="2000" b="1" dirty="0">
                <a:latin typeface="Times New Roman" panose="02020603050405020304" pitchFamily="18" charset="0"/>
              </a:rPr>
              <a:t>  </a:t>
            </a:r>
            <a:r>
              <a:rPr lang="zh-CN" altLang="en-US" sz="2000" b="1" dirty="0">
                <a:solidFill>
                  <a:srgbClr val="FF0066"/>
                </a:solidFill>
                <a:latin typeface="Times New Roman" panose="02020603050405020304" pitchFamily="18" charset="0"/>
              </a:rPr>
              <a:t>一、高频震荡回路</a:t>
            </a:r>
            <a:endParaRPr lang="zh-CN" altLang="en-US" sz="2000" b="1" dirty="0">
              <a:solidFill>
                <a:srgbClr val="FF0066"/>
              </a:solidFill>
              <a:latin typeface="Times New Roman" panose="02020603050405020304" pitchFamily="18" charset="0"/>
            </a:endParaRPr>
          </a:p>
        </p:txBody>
      </p:sp>
      <p:sp>
        <p:nvSpPr>
          <p:cNvPr id="382985" name="Rectangle 9"/>
          <p:cNvSpPr/>
          <p:nvPr/>
        </p:nvSpPr>
        <p:spPr>
          <a:xfrm>
            <a:off x="684213" y="1628775"/>
            <a:ext cx="5905500" cy="566738"/>
          </a:xfrm>
          <a:prstGeom prst="rect">
            <a:avLst/>
          </a:prstGeom>
          <a:noFill/>
          <a:ln w="9525">
            <a:noFill/>
          </a:ln>
        </p:spPr>
        <p:txBody>
          <a:bodyPr wrap="none">
            <a:spAutoFit/>
          </a:bodyPr>
          <a:lstStyle/>
          <a:p>
            <a:pPr>
              <a:lnSpc>
                <a:spcPct val="130000"/>
              </a:lnSpc>
              <a:spcBef>
                <a:spcPct val="20000"/>
              </a:spcBef>
            </a:pPr>
            <a:r>
              <a:rPr lang="en-US" altLang="zh-CN" sz="2000" dirty="0">
                <a:latin typeface="Times New Roman" panose="02020603050405020304" pitchFamily="18" charset="0"/>
              </a:rPr>
              <a:t> </a:t>
            </a:r>
            <a:r>
              <a:rPr lang="zh-CN" altLang="en-US" sz="2000" dirty="0">
                <a:latin typeface="Times New Roman" panose="02020603050405020304" pitchFamily="18" charset="0"/>
              </a:rPr>
              <a:t>回路两端电压</a:t>
            </a:r>
            <a:r>
              <a:rPr lang="en-US" altLang="zh-CN" sz="2000" i="1" dirty="0">
                <a:latin typeface="Times New Roman" panose="02020603050405020304" pitchFamily="18" charset="0"/>
              </a:rPr>
              <a:t>u</a:t>
            </a:r>
            <a:r>
              <a:rPr lang="en-US" altLang="zh-CN" sz="2000" dirty="0">
                <a:latin typeface="Times New Roman" panose="02020603050405020304" pitchFamily="18" charset="0"/>
              </a:rPr>
              <a:t>(</a:t>
            </a:r>
            <a:r>
              <a:rPr lang="en-US" altLang="zh-CN" sz="2000" i="1" dirty="0">
                <a:latin typeface="Times New Roman" panose="02020603050405020304" pitchFamily="18" charset="0"/>
              </a:rPr>
              <a:t>t</a:t>
            </a:r>
            <a:r>
              <a:rPr lang="en-US" altLang="zh-CN" sz="2000" dirty="0">
                <a:latin typeface="Times New Roman" panose="02020603050405020304" pitchFamily="18" charset="0"/>
              </a:rPr>
              <a:t>)</a:t>
            </a:r>
            <a:r>
              <a:rPr lang="zh-CN" altLang="en-US" sz="2000" dirty="0">
                <a:latin typeface="Times New Roman" panose="02020603050405020304" pitchFamily="18" charset="0"/>
              </a:rPr>
              <a:t>与</a:t>
            </a:r>
            <a:r>
              <a:rPr lang="en-US" altLang="zh-CN" sz="2000" i="1" dirty="0">
                <a:latin typeface="Times New Roman" panose="02020603050405020304" pitchFamily="18" charset="0"/>
              </a:rPr>
              <a:t>i</a:t>
            </a:r>
            <a:r>
              <a:rPr lang="en-US" altLang="zh-CN" sz="2000" dirty="0">
                <a:latin typeface="Times New Roman" panose="02020603050405020304" pitchFamily="18" charset="0"/>
              </a:rPr>
              <a:t>(</a:t>
            </a:r>
            <a:r>
              <a:rPr lang="en-US" altLang="zh-CN" sz="2000" i="1" dirty="0">
                <a:latin typeface="Times New Roman" panose="02020603050405020304" pitchFamily="18" charset="0"/>
              </a:rPr>
              <a:t>t</a:t>
            </a:r>
            <a:r>
              <a:rPr lang="en-US" altLang="zh-CN" sz="2000" dirty="0">
                <a:latin typeface="Times New Roman" panose="02020603050405020304" pitchFamily="18" charset="0"/>
              </a:rPr>
              <a:t>)</a:t>
            </a:r>
            <a:r>
              <a:rPr lang="zh-CN" altLang="en-US" sz="2000" dirty="0">
                <a:latin typeface="Times New Roman" panose="02020603050405020304" pitchFamily="18" charset="0"/>
              </a:rPr>
              <a:t>同相</a:t>
            </a:r>
            <a:r>
              <a:rPr lang="en-US" altLang="zh-CN" sz="2000" dirty="0">
                <a:latin typeface="Times New Roman" panose="02020603050405020304" pitchFamily="18" charset="0"/>
              </a:rPr>
              <a:t>, </a:t>
            </a:r>
            <a:r>
              <a:rPr lang="zh-CN" altLang="en-US" sz="2000" dirty="0">
                <a:latin typeface="Times New Roman" panose="02020603050405020304" pitchFamily="18" charset="0"/>
              </a:rPr>
              <a:t>电压振幅</a:t>
            </a:r>
            <a:r>
              <a:rPr lang="en-US" altLang="zh-CN" sz="2000" i="1" dirty="0">
                <a:latin typeface="Times New Roman" panose="02020603050405020304" pitchFamily="18" charset="0"/>
              </a:rPr>
              <a:t>U</a:t>
            </a:r>
            <a:r>
              <a:rPr lang="en-US" altLang="zh-CN" sz="2000" dirty="0">
                <a:latin typeface="Times New Roman" panose="02020603050405020304" pitchFamily="18" charset="0"/>
              </a:rPr>
              <a:t>=</a:t>
            </a:r>
            <a:r>
              <a:rPr lang="en-US" altLang="zh-CN" sz="2000" i="1" dirty="0">
                <a:latin typeface="Times New Roman" panose="02020603050405020304" pitchFamily="18" charset="0"/>
              </a:rPr>
              <a:t>I</a:t>
            </a:r>
            <a:r>
              <a:rPr lang="en-US" altLang="zh-CN" sz="2000" dirty="0">
                <a:latin typeface="Times New Roman" panose="02020603050405020304" pitchFamily="18" charset="0"/>
              </a:rPr>
              <a:t>R=2 V, </a:t>
            </a:r>
            <a:r>
              <a:rPr lang="zh-CN" altLang="en-US" sz="2000" dirty="0">
                <a:latin typeface="Times New Roman" panose="02020603050405020304" pitchFamily="18" charset="0"/>
              </a:rPr>
              <a:t>故</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graphicFrame>
        <p:nvGraphicFramePr>
          <p:cNvPr id="382986" name="Object 10"/>
          <p:cNvGraphicFramePr/>
          <p:nvPr/>
        </p:nvGraphicFramePr>
        <p:xfrm>
          <a:off x="1331913" y="2276475"/>
          <a:ext cx="2160587" cy="447675"/>
        </p:xfrm>
        <a:graphic>
          <a:graphicData uri="http://schemas.openxmlformats.org/presentationml/2006/ole">
            <mc:AlternateContent xmlns:mc="http://schemas.openxmlformats.org/markup-compatibility/2006">
              <mc:Choice xmlns:v="urn:schemas-microsoft-com:vml" Requires="v">
                <p:oleObj spid="_x0000_s2" name="" r:id="rId1" imgW="1104900" imgH="228600" progId="Equation.DSMT4">
                  <p:embed/>
                </p:oleObj>
              </mc:Choice>
              <mc:Fallback>
                <p:oleObj name="" r:id="rId1" imgW="1104900" imgH="228600" progId="Equation.DSMT4">
                  <p:embed/>
                  <p:pic>
                    <p:nvPicPr>
                      <p:cNvPr id="0" name="图片 3205"/>
                      <p:cNvPicPr/>
                      <p:nvPr/>
                    </p:nvPicPr>
                    <p:blipFill>
                      <a:blip r:embed="rId2"/>
                      <a:stretch>
                        <a:fillRect/>
                      </a:stretch>
                    </p:blipFill>
                    <p:spPr>
                      <a:xfrm>
                        <a:off x="1331913" y="2276475"/>
                        <a:ext cx="2160587" cy="447675"/>
                      </a:xfrm>
                      <a:prstGeom prst="rect">
                        <a:avLst/>
                      </a:prstGeom>
                      <a:noFill/>
                      <a:ln w="38100">
                        <a:noFill/>
                        <a:miter/>
                      </a:ln>
                    </p:spPr>
                  </p:pic>
                </p:oleObj>
              </mc:Fallback>
            </mc:AlternateContent>
          </a:graphicData>
        </a:graphic>
      </p:graphicFrame>
      <p:sp>
        <p:nvSpPr>
          <p:cNvPr id="382987" name="Text Box 11"/>
          <p:cNvSpPr txBox="1"/>
          <p:nvPr/>
        </p:nvSpPr>
        <p:spPr>
          <a:xfrm>
            <a:off x="684213" y="2852738"/>
            <a:ext cx="1905000" cy="396875"/>
          </a:xfrm>
          <a:prstGeom prst="rect">
            <a:avLst/>
          </a:prstGeom>
          <a:noFill/>
          <a:ln w="9525">
            <a:noFill/>
          </a:ln>
        </p:spPr>
        <p:txBody>
          <a:bodyPr>
            <a:spAutoFit/>
          </a:bodyPr>
          <a:lstStyle/>
          <a:p>
            <a:pPr>
              <a:spcBef>
                <a:spcPct val="50000"/>
              </a:spcBef>
            </a:pPr>
            <a:r>
              <a:rPr lang="zh-CN" altLang="en-US" sz="2000" dirty="0">
                <a:latin typeface="Times New Roman" panose="02020603050405020304" pitchFamily="18" charset="0"/>
              </a:rPr>
              <a:t>输出电压为 </a:t>
            </a:r>
            <a:endParaRPr lang="zh-CN" altLang="en-US" sz="2000" dirty="0">
              <a:latin typeface="Times New Roman" panose="02020603050405020304" pitchFamily="18" charset="0"/>
            </a:endParaRPr>
          </a:p>
        </p:txBody>
      </p:sp>
      <p:sp>
        <p:nvSpPr>
          <p:cNvPr id="382988" name="Text Box 12"/>
          <p:cNvSpPr txBox="1"/>
          <p:nvPr/>
        </p:nvSpPr>
        <p:spPr>
          <a:xfrm>
            <a:off x="611188" y="3789363"/>
            <a:ext cx="3048000" cy="457200"/>
          </a:xfrm>
          <a:prstGeom prst="rect">
            <a:avLst/>
          </a:prstGeom>
          <a:noFill/>
          <a:ln w="9525">
            <a:noFill/>
          </a:ln>
        </p:spPr>
        <p:txBody>
          <a:bodyPr>
            <a:spAutoFit/>
          </a:bodyPr>
          <a:lstStyle/>
          <a:p>
            <a:pPr>
              <a:spcBef>
                <a:spcPct val="50000"/>
              </a:spcBef>
            </a:pPr>
            <a:r>
              <a:rPr lang="en-US" altLang="zh-CN" dirty="0">
                <a:latin typeface="Times New Roman" panose="02020603050405020304" pitchFamily="18" charset="0"/>
              </a:rPr>
              <a:t> </a:t>
            </a:r>
            <a:r>
              <a:rPr lang="zh-CN" altLang="en-US" sz="2000" dirty="0">
                <a:latin typeface="Times New Roman" panose="02020603050405020304" pitchFamily="18" charset="0"/>
              </a:rPr>
              <a:t>回路有载品质因数</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sp>
        <p:nvSpPr>
          <p:cNvPr id="382989" name="Text Box 13"/>
          <p:cNvSpPr txBox="1"/>
          <p:nvPr/>
        </p:nvSpPr>
        <p:spPr>
          <a:xfrm>
            <a:off x="827088" y="5157788"/>
            <a:ext cx="1296987" cy="457200"/>
          </a:xfrm>
          <a:prstGeom prst="rect">
            <a:avLst/>
          </a:prstGeom>
          <a:noFill/>
          <a:ln w="9525">
            <a:noFill/>
          </a:ln>
        </p:spPr>
        <p:txBody>
          <a:bodyPr>
            <a:spAutoFit/>
          </a:bodyPr>
          <a:lstStyle/>
          <a:p>
            <a:pPr>
              <a:spcBef>
                <a:spcPct val="50000"/>
              </a:spcBef>
            </a:pPr>
            <a:r>
              <a:rPr lang="zh-CN" altLang="en-US" sz="2000" dirty="0">
                <a:latin typeface="Times New Roman" panose="02020603050405020304" pitchFamily="18" charset="0"/>
              </a:rPr>
              <a:t>回路带宽</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graphicFrame>
        <p:nvGraphicFramePr>
          <p:cNvPr id="382990" name="Object 14"/>
          <p:cNvGraphicFramePr/>
          <p:nvPr/>
        </p:nvGraphicFramePr>
        <p:xfrm>
          <a:off x="1187450" y="3284538"/>
          <a:ext cx="2640013" cy="414337"/>
        </p:xfrm>
        <a:graphic>
          <a:graphicData uri="http://schemas.openxmlformats.org/presentationml/2006/ole">
            <mc:AlternateContent xmlns:mc="http://schemas.openxmlformats.org/markup-compatibility/2006">
              <mc:Choice xmlns:v="urn:schemas-microsoft-com:vml" Requires="v">
                <p:oleObj spid="_x0000_s3" name="" r:id="rId3" imgW="1536065" imgH="241300" progId="Equation.DSMT4">
                  <p:embed/>
                </p:oleObj>
              </mc:Choice>
              <mc:Fallback>
                <p:oleObj name="" r:id="rId3" imgW="1536065" imgH="241300" progId="Equation.DSMT4">
                  <p:embed/>
                  <p:pic>
                    <p:nvPicPr>
                      <p:cNvPr id="0" name="图片 3206"/>
                      <p:cNvPicPr/>
                      <p:nvPr/>
                    </p:nvPicPr>
                    <p:blipFill>
                      <a:blip r:embed="rId4"/>
                      <a:stretch>
                        <a:fillRect/>
                      </a:stretch>
                    </p:blipFill>
                    <p:spPr>
                      <a:xfrm>
                        <a:off x="1187450" y="3284538"/>
                        <a:ext cx="2640013" cy="414337"/>
                      </a:xfrm>
                      <a:prstGeom prst="rect">
                        <a:avLst/>
                      </a:prstGeom>
                      <a:noFill/>
                      <a:ln w="38100">
                        <a:noFill/>
                        <a:miter/>
                      </a:ln>
                    </p:spPr>
                  </p:pic>
                </p:oleObj>
              </mc:Fallback>
            </mc:AlternateContent>
          </a:graphicData>
        </a:graphic>
      </p:graphicFrame>
      <p:graphicFrame>
        <p:nvGraphicFramePr>
          <p:cNvPr id="382991" name="Object 15"/>
          <p:cNvGraphicFramePr/>
          <p:nvPr/>
        </p:nvGraphicFramePr>
        <p:xfrm>
          <a:off x="1258888" y="4292600"/>
          <a:ext cx="2151062" cy="652463"/>
        </p:xfrm>
        <a:graphic>
          <a:graphicData uri="http://schemas.openxmlformats.org/presentationml/2006/ole">
            <mc:AlternateContent xmlns:mc="http://schemas.openxmlformats.org/markup-compatibility/2006">
              <mc:Choice xmlns:v="urn:schemas-microsoft-com:vml" Requires="v">
                <p:oleObj spid="_x0000_s4" name="" r:id="rId5" imgW="1421765" imgH="431800" progId="Equation.DSMT4">
                  <p:embed/>
                </p:oleObj>
              </mc:Choice>
              <mc:Fallback>
                <p:oleObj name="" r:id="rId5" imgW="1421765" imgH="431800" progId="Equation.DSMT4">
                  <p:embed/>
                  <p:pic>
                    <p:nvPicPr>
                      <p:cNvPr id="0" name="图片 3210"/>
                      <p:cNvPicPr/>
                      <p:nvPr/>
                    </p:nvPicPr>
                    <p:blipFill>
                      <a:blip r:embed="rId6"/>
                      <a:stretch>
                        <a:fillRect/>
                      </a:stretch>
                    </p:blipFill>
                    <p:spPr>
                      <a:xfrm>
                        <a:off x="1258888" y="4292600"/>
                        <a:ext cx="2151062" cy="652463"/>
                      </a:xfrm>
                      <a:prstGeom prst="rect">
                        <a:avLst/>
                      </a:prstGeom>
                      <a:noFill/>
                      <a:ln w="38100">
                        <a:noFill/>
                        <a:miter/>
                      </a:ln>
                    </p:spPr>
                  </p:pic>
                </p:oleObj>
              </mc:Fallback>
            </mc:AlternateContent>
          </a:graphicData>
        </a:graphic>
      </p:graphicFrame>
      <p:graphicFrame>
        <p:nvGraphicFramePr>
          <p:cNvPr id="382992" name="Object 16"/>
          <p:cNvGraphicFramePr/>
          <p:nvPr/>
        </p:nvGraphicFramePr>
        <p:xfrm>
          <a:off x="2051050" y="5013325"/>
          <a:ext cx="2665413" cy="809625"/>
        </p:xfrm>
        <a:graphic>
          <a:graphicData uri="http://schemas.openxmlformats.org/presentationml/2006/ole">
            <mc:AlternateContent xmlns:mc="http://schemas.openxmlformats.org/markup-compatibility/2006">
              <mc:Choice xmlns:v="urn:schemas-microsoft-com:vml" Requires="v">
                <p:oleObj spid="_x0000_s5" name="" r:id="rId7" imgW="1421765" imgH="431800" progId="Equation.DSMT4">
                  <p:embed/>
                </p:oleObj>
              </mc:Choice>
              <mc:Fallback>
                <p:oleObj name="" r:id="rId7" imgW="1421765" imgH="431800" progId="Equation.DSMT4">
                  <p:embed/>
                  <p:pic>
                    <p:nvPicPr>
                      <p:cNvPr id="0" name="图片 3198"/>
                      <p:cNvPicPr/>
                      <p:nvPr/>
                    </p:nvPicPr>
                    <p:blipFill>
                      <a:blip r:embed="rId8"/>
                      <a:stretch>
                        <a:fillRect/>
                      </a:stretch>
                    </p:blipFill>
                    <p:spPr>
                      <a:xfrm>
                        <a:off x="2051050" y="5013325"/>
                        <a:ext cx="2665413" cy="809625"/>
                      </a:xfrm>
                      <a:prstGeom prst="rect">
                        <a:avLst/>
                      </a:prstGeom>
                      <a:noFill/>
                      <a:ln w="38100">
                        <a:noFill/>
                        <a:miter/>
                      </a:ln>
                    </p:spPr>
                  </p:pic>
                </p:oleObj>
              </mc:Fallback>
            </mc:AlternateContent>
          </a:graphicData>
        </a:graphic>
      </p:graphicFrame>
      <p:graphicFrame>
        <p:nvGraphicFramePr>
          <p:cNvPr id="27654" name="Object 17"/>
          <p:cNvGraphicFramePr/>
          <p:nvPr/>
        </p:nvGraphicFramePr>
        <p:xfrm>
          <a:off x="3924300" y="2527300"/>
          <a:ext cx="4895850" cy="1865313"/>
        </p:xfrm>
        <a:graphic>
          <a:graphicData uri="http://schemas.openxmlformats.org/presentationml/2006/ole">
            <mc:AlternateContent xmlns:mc="http://schemas.openxmlformats.org/markup-compatibility/2006">
              <mc:Choice xmlns:v="urn:schemas-microsoft-com:vml" Requires="v">
                <p:oleObj spid="_x0000_s6" name="" r:id="rId9" imgW="2549525" imgH="972185" progId="Visio.Drawing.4">
                  <p:embed/>
                </p:oleObj>
              </mc:Choice>
              <mc:Fallback>
                <p:oleObj name="" r:id="rId9" imgW="2549525" imgH="972185" progId="Visio.Drawing.4">
                  <p:embed/>
                  <p:pic>
                    <p:nvPicPr>
                      <p:cNvPr id="0" name="图片 3200"/>
                      <p:cNvPicPr/>
                      <p:nvPr/>
                    </p:nvPicPr>
                    <p:blipFill>
                      <a:blip r:embed="rId10"/>
                      <a:stretch>
                        <a:fillRect/>
                      </a:stretch>
                    </p:blipFill>
                    <p:spPr>
                      <a:xfrm>
                        <a:off x="3924300" y="2527300"/>
                        <a:ext cx="4895850" cy="1865313"/>
                      </a:xfrm>
                      <a:prstGeom prst="rect">
                        <a:avLst/>
                      </a:prstGeom>
                      <a:noFill/>
                      <a:ln w="38100">
                        <a:noFill/>
                        <a:miter/>
                      </a:ln>
                    </p:spPr>
                  </p:pic>
                </p:oleObj>
              </mc:Fallback>
            </mc:AlternateContent>
          </a:graphicData>
        </a:graphic>
      </p:graphicFrame>
      <p:sp>
        <p:nvSpPr>
          <p:cNvPr id="78852" name="Text Box 8"/>
          <p:cNvSpPr txBox="1"/>
          <p:nvPr/>
        </p:nvSpPr>
        <p:spPr>
          <a:xfrm>
            <a:off x="611188" y="1320800"/>
            <a:ext cx="6126480" cy="460375"/>
          </a:xfrm>
          <a:prstGeom prst="rect">
            <a:avLst/>
          </a:prstGeom>
          <a:noFill/>
          <a:ln w="9525">
            <a:noFill/>
          </a:ln>
        </p:spPr>
        <p:txBody>
          <a:bodyPr wrap="none">
            <a:spAutoFit/>
          </a:bodyPr>
          <a:lstStyle/>
          <a:p>
            <a:r>
              <a:rPr lang="zh-CN" altLang="en-US" sz="2400" dirty="0">
                <a:solidFill>
                  <a:schemeClr val="accent2"/>
                </a:solidFill>
                <a:latin typeface="Times New Roman" panose="02020603050405020304" pitchFamily="18" charset="0"/>
              </a:rPr>
              <a:t>（</a:t>
            </a:r>
            <a:r>
              <a:rPr lang="en-US" altLang="zh-CN" sz="2400" dirty="0">
                <a:solidFill>
                  <a:schemeClr val="accent2"/>
                </a:solidFill>
                <a:latin typeface="Times New Roman" panose="02020603050405020304" pitchFamily="18" charset="0"/>
              </a:rPr>
              <a:t>3</a:t>
            </a:r>
            <a:r>
              <a:rPr lang="zh-CN" altLang="en-US" sz="2400" dirty="0">
                <a:solidFill>
                  <a:schemeClr val="accent2"/>
                </a:solidFill>
                <a:latin typeface="Times New Roman" panose="02020603050405020304" pitchFamily="18" charset="0"/>
              </a:rPr>
              <a:t>）抽头并联振荡回路（阻抗变换网络）</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nvGrpSpPr>
          <p:cNvPr id="11272" name="Group 40"/>
          <p:cNvGrpSpPr/>
          <p:nvPr/>
        </p:nvGrpSpPr>
        <p:grpSpPr>
          <a:xfrm>
            <a:off x="1979613" y="388938"/>
            <a:ext cx="5334000" cy="519113"/>
            <a:chOff x="1287" y="432"/>
            <a:chExt cx="3360" cy="327"/>
          </a:xfrm>
        </p:grpSpPr>
        <p:sp>
          <p:nvSpPr>
            <p:cNvPr id="11280" name="Rectangle 41"/>
            <p:cNvSpPr/>
            <p:nvPr/>
          </p:nvSpPr>
          <p:spPr>
            <a:xfrm>
              <a:off x="1287" y="43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11281" name="Line 42"/>
            <p:cNvSpPr/>
            <p:nvPr/>
          </p:nvSpPr>
          <p:spPr>
            <a:xfrm>
              <a:off x="1469" y="749"/>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2985"/>
                                        </p:tgtEl>
                                        <p:attrNameLst>
                                          <p:attrName>style.visibility</p:attrName>
                                        </p:attrNameLst>
                                      </p:cBhvr>
                                      <p:to>
                                        <p:strVal val="visible"/>
                                      </p:to>
                                    </p:set>
                                    <p:animEffect transition="in" filter="wipe(left)">
                                      <p:cBhvr>
                                        <p:cTn id="7" dur="500"/>
                                        <p:tgtEl>
                                          <p:spTgt spid="38298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82986"/>
                                        </p:tgtEl>
                                        <p:attrNameLst>
                                          <p:attrName>style.visibility</p:attrName>
                                        </p:attrNameLst>
                                      </p:cBhvr>
                                      <p:to>
                                        <p:strVal val="visible"/>
                                      </p:to>
                                    </p:set>
                                    <p:anim calcmode="lin" valueType="num">
                                      <p:cBhvr additive="base">
                                        <p:cTn id="12" dur="500" fill="hold"/>
                                        <p:tgtEl>
                                          <p:spTgt spid="382986"/>
                                        </p:tgtEl>
                                        <p:attrNameLst>
                                          <p:attrName>ppt_x</p:attrName>
                                        </p:attrNameLst>
                                      </p:cBhvr>
                                      <p:tavLst>
                                        <p:tav tm="0">
                                          <p:val>
                                            <p:strVal val="#ppt_x"/>
                                          </p:val>
                                        </p:tav>
                                        <p:tav tm="100000">
                                          <p:val>
                                            <p:strVal val="#ppt_x"/>
                                          </p:val>
                                        </p:tav>
                                      </p:tavLst>
                                    </p:anim>
                                    <p:anim calcmode="lin" valueType="num">
                                      <p:cBhvr additive="base">
                                        <p:cTn id="13" dur="500" fill="hold"/>
                                        <p:tgtEl>
                                          <p:spTgt spid="38298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382987"/>
                                        </p:tgtEl>
                                        <p:attrNameLst>
                                          <p:attrName>style.visibility</p:attrName>
                                        </p:attrNameLst>
                                      </p:cBhvr>
                                      <p:to>
                                        <p:strVal val="visible"/>
                                      </p:to>
                                    </p:set>
                                    <p:anim calcmode="lin" valueType="num">
                                      <p:cBhvr additive="base">
                                        <p:cTn id="18" dur="500" fill="hold"/>
                                        <p:tgtEl>
                                          <p:spTgt spid="382987"/>
                                        </p:tgtEl>
                                        <p:attrNameLst>
                                          <p:attrName>ppt_x</p:attrName>
                                        </p:attrNameLst>
                                      </p:cBhvr>
                                      <p:tavLst>
                                        <p:tav tm="0">
                                          <p:val>
                                            <p:strVal val="0-#ppt_w/2"/>
                                          </p:val>
                                        </p:tav>
                                        <p:tav tm="100000">
                                          <p:val>
                                            <p:strVal val="#ppt_x"/>
                                          </p:val>
                                        </p:tav>
                                      </p:tavLst>
                                    </p:anim>
                                    <p:anim calcmode="lin" valueType="num">
                                      <p:cBhvr additive="base">
                                        <p:cTn id="19" dur="500" fill="hold"/>
                                        <p:tgtEl>
                                          <p:spTgt spid="382987"/>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382990"/>
                                        </p:tgtEl>
                                        <p:attrNameLst>
                                          <p:attrName>style.visibility</p:attrName>
                                        </p:attrNameLst>
                                      </p:cBhvr>
                                      <p:to>
                                        <p:strVal val="visible"/>
                                      </p:to>
                                    </p:set>
                                    <p:anim calcmode="lin" valueType="num">
                                      <p:cBhvr additive="base">
                                        <p:cTn id="24" dur="500" fill="hold"/>
                                        <p:tgtEl>
                                          <p:spTgt spid="382990"/>
                                        </p:tgtEl>
                                        <p:attrNameLst>
                                          <p:attrName>ppt_x</p:attrName>
                                        </p:attrNameLst>
                                      </p:cBhvr>
                                      <p:tavLst>
                                        <p:tav tm="0">
                                          <p:val>
                                            <p:strVal val="0-#ppt_w/2"/>
                                          </p:val>
                                        </p:tav>
                                        <p:tav tm="100000">
                                          <p:val>
                                            <p:strVal val="#ppt_x"/>
                                          </p:val>
                                        </p:tav>
                                      </p:tavLst>
                                    </p:anim>
                                    <p:anim calcmode="lin" valueType="num">
                                      <p:cBhvr additive="base">
                                        <p:cTn id="25" dur="500" fill="hold"/>
                                        <p:tgtEl>
                                          <p:spTgt spid="382990"/>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382988"/>
                                        </p:tgtEl>
                                        <p:attrNameLst>
                                          <p:attrName>style.visibility</p:attrName>
                                        </p:attrNameLst>
                                      </p:cBhvr>
                                      <p:to>
                                        <p:strVal val="visible"/>
                                      </p:to>
                                    </p:set>
                                    <p:animEffect transition="in" filter="wipe(left)">
                                      <p:cBhvr>
                                        <p:cTn id="30" dur="500"/>
                                        <p:tgtEl>
                                          <p:spTgt spid="382988"/>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82991"/>
                                        </p:tgtEl>
                                        <p:attrNameLst>
                                          <p:attrName>style.visibility</p:attrName>
                                        </p:attrNameLst>
                                      </p:cBhvr>
                                      <p:to>
                                        <p:strVal val="visible"/>
                                      </p:to>
                                    </p:set>
                                    <p:anim calcmode="lin" valueType="num">
                                      <p:cBhvr additive="base">
                                        <p:cTn id="35" dur="500" fill="hold"/>
                                        <p:tgtEl>
                                          <p:spTgt spid="382991"/>
                                        </p:tgtEl>
                                        <p:attrNameLst>
                                          <p:attrName>ppt_x</p:attrName>
                                        </p:attrNameLst>
                                      </p:cBhvr>
                                      <p:tavLst>
                                        <p:tav tm="0">
                                          <p:val>
                                            <p:strVal val="#ppt_x"/>
                                          </p:val>
                                        </p:tav>
                                        <p:tav tm="100000">
                                          <p:val>
                                            <p:strVal val="#ppt_x"/>
                                          </p:val>
                                        </p:tav>
                                      </p:tavLst>
                                    </p:anim>
                                    <p:anim calcmode="lin" valueType="num">
                                      <p:cBhvr additive="base">
                                        <p:cTn id="36" dur="500" fill="hold"/>
                                        <p:tgtEl>
                                          <p:spTgt spid="382991"/>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382989"/>
                                        </p:tgtEl>
                                        <p:attrNameLst>
                                          <p:attrName>style.visibility</p:attrName>
                                        </p:attrNameLst>
                                      </p:cBhvr>
                                      <p:to>
                                        <p:strVal val="visible"/>
                                      </p:to>
                                    </p:set>
                                    <p:animEffect transition="in" filter="wipe(left)">
                                      <p:cBhvr>
                                        <p:cTn id="41" dur="500"/>
                                        <p:tgtEl>
                                          <p:spTgt spid="382989"/>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382992"/>
                                        </p:tgtEl>
                                        <p:attrNameLst>
                                          <p:attrName>style.visibility</p:attrName>
                                        </p:attrNameLst>
                                      </p:cBhvr>
                                      <p:to>
                                        <p:strVal val="visible"/>
                                      </p:to>
                                    </p:set>
                                    <p:anim calcmode="lin" valueType="num">
                                      <p:cBhvr additive="base">
                                        <p:cTn id="46" dur="500" fill="hold"/>
                                        <p:tgtEl>
                                          <p:spTgt spid="382992"/>
                                        </p:tgtEl>
                                        <p:attrNameLst>
                                          <p:attrName>ppt_x</p:attrName>
                                        </p:attrNameLst>
                                      </p:cBhvr>
                                      <p:tavLst>
                                        <p:tav tm="0">
                                          <p:val>
                                            <p:strVal val="#ppt_x"/>
                                          </p:val>
                                        </p:tav>
                                        <p:tav tm="100000">
                                          <p:val>
                                            <p:strVal val="#ppt_x"/>
                                          </p:val>
                                        </p:tav>
                                      </p:tavLst>
                                    </p:anim>
                                    <p:anim calcmode="lin" valueType="num">
                                      <p:cBhvr additive="base">
                                        <p:cTn id="47" dur="500" fill="hold"/>
                                        <p:tgtEl>
                                          <p:spTgt spid="3829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985" grpId="0"/>
      <p:bldP spid="382987" grpId="0"/>
      <p:bldP spid="382988" grpId="0"/>
      <p:bldP spid="38298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82" name="Group 4"/>
          <p:cNvGrpSpPr/>
          <p:nvPr/>
        </p:nvGrpSpPr>
        <p:grpSpPr>
          <a:xfrm>
            <a:off x="1764030" y="332740"/>
            <a:ext cx="5334000" cy="546100"/>
            <a:chOff x="1378" y="410"/>
            <a:chExt cx="3360" cy="344"/>
          </a:xfrm>
        </p:grpSpPr>
        <p:sp>
          <p:nvSpPr>
            <p:cNvPr id="28695" name="Rectangle 5"/>
            <p:cNvSpPr/>
            <p:nvPr/>
          </p:nvSpPr>
          <p:spPr>
            <a:xfrm>
              <a:off x="1378" y="410"/>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28696" name="Line 6"/>
            <p:cNvSpPr/>
            <p:nvPr/>
          </p:nvSpPr>
          <p:spPr>
            <a:xfrm>
              <a:off x="1474" y="754"/>
              <a:ext cx="3024" cy="0"/>
            </a:xfrm>
            <a:prstGeom prst="line">
              <a:avLst/>
            </a:prstGeom>
            <a:ln w="57150" cap="flat" cmpd="tri">
              <a:solidFill>
                <a:srgbClr val="FF00FF"/>
              </a:solidFill>
              <a:prstDash val="solid"/>
              <a:headEnd type="none" w="sm" len="sm"/>
              <a:tailEnd type="none" w="sm" len="sm"/>
            </a:ln>
          </p:spPr>
        </p:sp>
      </p:grpSp>
      <p:sp>
        <p:nvSpPr>
          <p:cNvPr id="384009" name="Text Box 9"/>
          <p:cNvSpPr txBox="1"/>
          <p:nvPr/>
        </p:nvSpPr>
        <p:spPr>
          <a:xfrm>
            <a:off x="395288" y="2853690"/>
            <a:ext cx="7167880" cy="706755"/>
          </a:xfrm>
          <a:prstGeom prst="rect">
            <a:avLst/>
          </a:prstGeom>
          <a:noFill/>
          <a:ln w="9525">
            <a:noFill/>
          </a:ln>
        </p:spPr>
        <p:txBody>
          <a:bodyPr wrap="none">
            <a:spAutoFit/>
          </a:bodyPr>
          <a:lstStyle/>
          <a:p>
            <a:r>
              <a:rPr lang="zh-CN" altLang="en-US" sz="2000" dirty="0">
                <a:solidFill>
                  <a:srgbClr val="FF0066"/>
                </a:solidFill>
                <a:latin typeface="Times New Roman" panose="02020603050405020304" pitchFamily="18" charset="0"/>
              </a:rPr>
              <a:t>作用</a:t>
            </a:r>
            <a:r>
              <a:rPr lang="zh-CN" altLang="en-US" sz="2000" dirty="0">
                <a:latin typeface="Times New Roman" panose="02020603050405020304" pitchFamily="18" charset="0"/>
              </a:rPr>
              <a:t>：</a:t>
            </a:r>
            <a:r>
              <a:rPr lang="zh-CN" altLang="en-US" sz="2000" dirty="0">
                <a:latin typeface="Times New Roman" panose="02020603050405020304" pitchFamily="18" charset="0"/>
                <a:sym typeface="Wingdings" panose="05000000000000000000" pitchFamily="2" charset="2"/>
              </a:rPr>
              <a:t>（</a:t>
            </a:r>
            <a:r>
              <a:rPr lang="en-US" altLang="zh-CN" sz="2000" dirty="0">
                <a:latin typeface="Times New Roman" panose="02020603050405020304" pitchFamily="18" charset="0"/>
                <a:sym typeface="Wingdings" panose="05000000000000000000" pitchFamily="2" charset="2"/>
              </a:rPr>
              <a:t>1</a:t>
            </a:r>
            <a:r>
              <a:rPr lang="zh-CN" altLang="en-US" sz="2000" dirty="0">
                <a:latin typeface="Times New Roman" panose="02020603050405020304" pitchFamily="18" charset="0"/>
                <a:sym typeface="Wingdings" panose="05000000000000000000" pitchFamily="2" charset="2"/>
              </a:rPr>
              <a:t>）阻抗变换，完成高频信号的传输</a:t>
            </a:r>
            <a:endParaRPr lang="zh-CN" altLang="en-US" sz="2000" dirty="0">
              <a:latin typeface="Times New Roman" panose="02020603050405020304" pitchFamily="18" charset="0"/>
              <a:sym typeface="Wingdings" panose="05000000000000000000" pitchFamily="2" charset="2"/>
            </a:endParaRPr>
          </a:p>
          <a:p>
            <a:r>
              <a:rPr lang="zh-CN" altLang="en-US" sz="2000" dirty="0">
                <a:latin typeface="Times New Roman" panose="02020603050405020304" pitchFamily="18" charset="0"/>
                <a:sym typeface="Wingdings" panose="05000000000000000000" pitchFamily="2" charset="2"/>
              </a:rPr>
              <a:t>            （</a:t>
            </a:r>
            <a:r>
              <a:rPr lang="en-US" altLang="zh-CN" sz="2000" dirty="0">
                <a:latin typeface="Times New Roman" panose="02020603050405020304" pitchFamily="18" charset="0"/>
                <a:sym typeface="Wingdings" panose="05000000000000000000" pitchFamily="2" charset="2"/>
              </a:rPr>
              <a:t>2</a:t>
            </a:r>
            <a:r>
              <a:rPr lang="zh-CN" altLang="en-US" sz="2000" dirty="0">
                <a:latin typeface="Times New Roman" panose="02020603050405020304" pitchFamily="18" charset="0"/>
                <a:sym typeface="Wingdings" panose="05000000000000000000" pitchFamily="2" charset="2"/>
              </a:rPr>
              <a:t>）选频滤波。形成比简单振荡回路更好的频率特性。</a:t>
            </a:r>
            <a:endParaRPr lang="zh-CN" altLang="en-US" sz="2000" dirty="0">
              <a:latin typeface="Times New Roman" panose="02020603050405020304" pitchFamily="18" charset="0"/>
            </a:endParaRPr>
          </a:p>
        </p:txBody>
      </p:sp>
      <p:sp>
        <p:nvSpPr>
          <p:cNvPr id="384010" name="Text Box 10"/>
          <p:cNvSpPr txBox="1"/>
          <p:nvPr/>
        </p:nvSpPr>
        <p:spPr>
          <a:xfrm>
            <a:off x="395288" y="1772603"/>
            <a:ext cx="8301037" cy="1014730"/>
          </a:xfrm>
          <a:prstGeom prst="rect">
            <a:avLst/>
          </a:prstGeom>
          <a:noFill/>
          <a:ln w="9525">
            <a:noFill/>
          </a:ln>
        </p:spPr>
        <p:txBody>
          <a:bodyPr>
            <a:spAutoFit/>
          </a:bodyPr>
          <a:lstStyle/>
          <a:p>
            <a:r>
              <a:rPr lang="zh-CN" altLang="en-US" sz="2000" dirty="0">
                <a:latin typeface="Times New Roman" panose="02020603050405020304" pitchFamily="18" charset="0"/>
              </a:rPr>
              <a:t>简单振荡回路具有一定的选频能力，结构简单，但是其选择性差，矩形系数太大。因此在高频电路中，经常用到两个互相耦合的振荡回路，称为</a:t>
            </a:r>
            <a:r>
              <a:rPr lang="zh-CN" altLang="en-US" sz="2000" dirty="0">
                <a:solidFill>
                  <a:srgbClr val="FF0066"/>
                </a:solidFill>
                <a:latin typeface="Times New Roman" panose="02020603050405020304" pitchFamily="18" charset="0"/>
              </a:rPr>
              <a:t>双调谐回路</a:t>
            </a:r>
            <a:r>
              <a:rPr lang="zh-CN" altLang="en-US" sz="2000" dirty="0">
                <a:latin typeface="Times New Roman" panose="02020603050405020304" pitchFamily="18" charset="0"/>
              </a:rPr>
              <a:t>。</a:t>
            </a:r>
            <a:endParaRPr lang="zh-CN" altLang="en-US" sz="2000" dirty="0">
              <a:latin typeface="Times New Roman" panose="02020603050405020304" pitchFamily="18" charset="0"/>
            </a:endParaRPr>
          </a:p>
        </p:txBody>
      </p:sp>
      <p:grpSp>
        <p:nvGrpSpPr>
          <p:cNvPr id="3" name="Group 11"/>
          <p:cNvGrpSpPr/>
          <p:nvPr/>
        </p:nvGrpSpPr>
        <p:grpSpPr>
          <a:xfrm>
            <a:off x="468313" y="3933190"/>
            <a:ext cx="2952750" cy="2603500"/>
            <a:chOff x="340" y="2205"/>
            <a:chExt cx="1860" cy="1640"/>
          </a:xfrm>
        </p:grpSpPr>
        <p:graphicFrame>
          <p:nvGraphicFramePr>
            <p:cNvPr id="28681" name="Object 12"/>
            <p:cNvGraphicFramePr/>
            <p:nvPr/>
          </p:nvGraphicFramePr>
          <p:xfrm>
            <a:off x="340" y="2205"/>
            <a:ext cx="1860" cy="1389"/>
          </p:xfrm>
          <a:graphic>
            <a:graphicData uri="http://schemas.openxmlformats.org/presentationml/2006/ole">
              <mc:AlternateContent xmlns:mc="http://schemas.openxmlformats.org/markup-compatibility/2006">
                <mc:Choice xmlns:v="urn:schemas-microsoft-com:vml" Requires="v">
                  <p:oleObj spid="_x0000_s2" name="" r:id="rId1" imgW="1774825" imgH="1326515" progId="Visio.Drawing.6">
                    <p:embed/>
                  </p:oleObj>
                </mc:Choice>
                <mc:Fallback>
                  <p:oleObj name="" r:id="rId1" imgW="1774825" imgH="1326515" progId="Visio.Drawing.6">
                    <p:embed/>
                    <p:pic>
                      <p:nvPicPr>
                        <p:cNvPr id="0" name="图片 3240"/>
                        <p:cNvPicPr/>
                        <p:nvPr/>
                      </p:nvPicPr>
                      <p:blipFill>
                        <a:blip r:embed="rId2"/>
                        <a:stretch>
                          <a:fillRect/>
                        </a:stretch>
                      </p:blipFill>
                      <p:spPr>
                        <a:xfrm>
                          <a:off x="340" y="2205"/>
                          <a:ext cx="1860" cy="1389"/>
                        </a:xfrm>
                        <a:prstGeom prst="rect">
                          <a:avLst/>
                        </a:prstGeom>
                        <a:noFill/>
                        <a:ln w="38100">
                          <a:noFill/>
                          <a:miter/>
                        </a:ln>
                      </p:spPr>
                    </p:pic>
                  </p:oleObj>
                </mc:Fallback>
              </mc:AlternateContent>
            </a:graphicData>
          </a:graphic>
        </p:graphicFrame>
        <p:sp>
          <p:nvSpPr>
            <p:cNvPr id="28694" name="Text Box 13"/>
            <p:cNvSpPr txBox="1"/>
            <p:nvPr/>
          </p:nvSpPr>
          <p:spPr>
            <a:xfrm>
              <a:off x="675" y="3595"/>
              <a:ext cx="1076" cy="250"/>
            </a:xfrm>
            <a:prstGeom prst="rect">
              <a:avLst/>
            </a:prstGeom>
            <a:noFill/>
            <a:ln w="9525">
              <a:noFill/>
            </a:ln>
          </p:spPr>
          <p:txBody>
            <a:bodyPr wrap="none">
              <a:spAutoFit/>
            </a:bodyPr>
            <a:lstStyle/>
            <a:p>
              <a:r>
                <a:rPr lang="zh-CN" altLang="en-US" sz="2000" dirty="0">
                  <a:latin typeface="Times New Roman" panose="02020603050405020304" pitchFamily="18" charset="0"/>
                </a:rPr>
                <a:t>电感耦合回路</a:t>
              </a:r>
              <a:endParaRPr lang="zh-CN" altLang="en-US" sz="2000" dirty="0">
                <a:latin typeface="Times New Roman" panose="02020603050405020304" pitchFamily="18" charset="0"/>
              </a:endParaRPr>
            </a:p>
          </p:txBody>
        </p:sp>
      </p:grpSp>
      <p:graphicFrame>
        <p:nvGraphicFramePr>
          <p:cNvPr id="384014" name="Object 14"/>
          <p:cNvGraphicFramePr/>
          <p:nvPr/>
        </p:nvGraphicFramePr>
        <p:xfrm>
          <a:off x="611188" y="3573145"/>
          <a:ext cx="647700" cy="650875"/>
        </p:xfrm>
        <a:graphic>
          <a:graphicData uri="http://schemas.openxmlformats.org/presentationml/2006/ole">
            <mc:AlternateContent xmlns:mc="http://schemas.openxmlformats.org/markup-compatibility/2006">
              <mc:Choice xmlns:v="urn:schemas-microsoft-com:vml" Requires="v">
                <p:oleObj spid="_x0000_s4" name="" r:id="rId3" imgW="618490" imgH="618490" progId="Visio.Drawing.6">
                  <p:embed/>
                </p:oleObj>
              </mc:Choice>
              <mc:Fallback>
                <p:oleObj name="" r:id="rId3" imgW="618490" imgH="618490" progId="Visio.Drawing.6">
                  <p:embed/>
                  <p:pic>
                    <p:nvPicPr>
                      <p:cNvPr id="0" name="图片 3226"/>
                      <p:cNvPicPr/>
                      <p:nvPr/>
                    </p:nvPicPr>
                    <p:blipFill>
                      <a:blip r:embed="rId4"/>
                      <a:stretch>
                        <a:fillRect/>
                      </a:stretch>
                    </p:blipFill>
                    <p:spPr>
                      <a:xfrm>
                        <a:off x="611188" y="3573145"/>
                        <a:ext cx="647700" cy="650875"/>
                      </a:xfrm>
                      <a:prstGeom prst="rect">
                        <a:avLst/>
                      </a:prstGeom>
                      <a:noFill/>
                      <a:ln w="38100">
                        <a:noFill/>
                        <a:miter/>
                      </a:ln>
                    </p:spPr>
                  </p:pic>
                </p:oleObj>
              </mc:Fallback>
            </mc:AlternateContent>
          </a:graphicData>
        </a:graphic>
      </p:graphicFrame>
      <p:graphicFrame>
        <p:nvGraphicFramePr>
          <p:cNvPr id="384015" name="Object 15"/>
          <p:cNvGraphicFramePr/>
          <p:nvPr/>
        </p:nvGraphicFramePr>
        <p:xfrm>
          <a:off x="2555558" y="3645535"/>
          <a:ext cx="647700" cy="650875"/>
        </p:xfrm>
        <a:graphic>
          <a:graphicData uri="http://schemas.openxmlformats.org/presentationml/2006/ole">
            <mc:AlternateContent xmlns:mc="http://schemas.openxmlformats.org/markup-compatibility/2006">
              <mc:Choice xmlns:v="urn:schemas-microsoft-com:vml" Requires="v">
                <p:oleObj spid="_x0000_s5" name="" r:id="rId5" imgW="618490" imgH="618490" progId="Visio.Drawing.6">
                  <p:embed/>
                </p:oleObj>
              </mc:Choice>
              <mc:Fallback>
                <p:oleObj name="" r:id="rId5" imgW="618490" imgH="618490" progId="Visio.Drawing.6">
                  <p:embed/>
                  <p:pic>
                    <p:nvPicPr>
                      <p:cNvPr id="0" name="图片 3227"/>
                      <p:cNvPicPr/>
                      <p:nvPr/>
                    </p:nvPicPr>
                    <p:blipFill>
                      <a:blip r:embed="rId6"/>
                      <a:stretch>
                        <a:fillRect/>
                      </a:stretch>
                    </p:blipFill>
                    <p:spPr>
                      <a:xfrm>
                        <a:off x="2555558" y="3645535"/>
                        <a:ext cx="647700" cy="650875"/>
                      </a:xfrm>
                      <a:prstGeom prst="rect">
                        <a:avLst/>
                      </a:prstGeom>
                      <a:noFill/>
                      <a:ln w="38100">
                        <a:noFill/>
                        <a:miter/>
                      </a:ln>
                    </p:spPr>
                  </p:pic>
                </p:oleObj>
              </mc:Fallback>
            </mc:AlternateContent>
          </a:graphicData>
        </a:graphic>
      </p:graphicFrame>
      <p:grpSp>
        <p:nvGrpSpPr>
          <p:cNvPr id="6" name="Group 16"/>
          <p:cNvGrpSpPr/>
          <p:nvPr/>
        </p:nvGrpSpPr>
        <p:grpSpPr>
          <a:xfrm>
            <a:off x="3614738" y="3597275"/>
            <a:ext cx="4356100" cy="482600"/>
            <a:chOff x="2323" y="1933"/>
            <a:chExt cx="2744" cy="304"/>
          </a:xfrm>
        </p:grpSpPr>
        <p:graphicFrame>
          <p:nvGraphicFramePr>
            <p:cNvPr id="28680" name="Object 17"/>
            <p:cNvGraphicFramePr/>
            <p:nvPr/>
          </p:nvGraphicFramePr>
          <p:xfrm>
            <a:off x="3651" y="1950"/>
            <a:ext cx="1416" cy="287"/>
          </p:xfrm>
          <a:graphic>
            <a:graphicData uri="http://schemas.openxmlformats.org/presentationml/2006/ole">
              <mc:AlternateContent xmlns:mc="http://schemas.openxmlformats.org/markup-compatibility/2006">
                <mc:Choice xmlns:v="urn:schemas-microsoft-com:vml" Requires="v">
                  <p:oleObj spid="_x0000_s7" name="" r:id="rId7" imgW="1129665" imgH="228600" progId="Equation.DSMT4">
                    <p:embed/>
                  </p:oleObj>
                </mc:Choice>
                <mc:Fallback>
                  <p:oleObj name="" r:id="rId7" imgW="1129665" imgH="228600" progId="Equation.DSMT4">
                    <p:embed/>
                    <p:pic>
                      <p:nvPicPr>
                        <p:cNvPr id="0" name="图片 3228"/>
                        <p:cNvPicPr/>
                        <p:nvPr/>
                      </p:nvPicPr>
                      <p:blipFill>
                        <a:blip r:embed="rId8"/>
                        <a:stretch>
                          <a:fillRect/>
                        </a:stretch>
                      </p:blipFill>
                      <p:spPr>
                        <a:xfrm>
                          <a:off x="3651" y="1950"/>
                          <a:ext cx="1416" cy="287"/>
                        </a:xfrm>
                        <a:prstGeom prst="rect">
                          <a:avLst/>
                        </a:prstGeom>
                        <a:noFill/>
                        <a:ln w="38100">
                          <a:noFill/>
                          <a:miter/>
                        </a:ln>
                      </p:spPr>
                    </p:pic>
                  </p:oleObj>
                </mc:Fallback>
              </mc:AlternateContent>
            </a:graphicData>
          </a:graphic>
        </p:graphicFrame>
        <p:sp>
          <p:nvSpPr>
            <p:cNvPr id="28693" name="Text Box 18"/>
            <p:cNvSpPr txBox="1"/>
            <p:nvPr/>
          </p:nvSpPr>
          <p:spPr>
            <a:xfrm>
              <a:off x="2323" y="1933"/>
              <a:ext cx="1430" cy="290"/>
            </a:xfrm>
            <a:prstGeom prst="rect">
              <a:avLst/>
            </a:prstGeom>
            <a:noFill/>
            <a:ln w="9525">
              <a:noFill/>
            </a:ln>
          </p:spPr>
          <p:txBody>
            <a:bodyPr wrap="none">
              <a:spAutoFit/>
            </a:bodyPr>
            <a:lstStyle/>
            <a:p>
              <a:r>
                <a:rPr lang="zh-CN" altLang="en-US" sz="2000" dirty="0">
                  <a:latin typeface="Times New Roman" panose="02020603050405020304" pitchFamily="18" charset="0"/>
                </a:rPr>
                <a:t>回路</a:t>
              </a:r>
              <a:r>
                <a:rPr lang="zh-CN" altLang="en-US" sz="2000" b="1" dirty="0">
                  <a:solidFill>
                    <a:srgbClr val="FF0000"/>
                  </a:solidFill>
                  <a:latin typeface="Times New Roman" panose="02020603050405020304" pitchFamily="18" charset="0"/>
                </a:rPr>
                <a:t>耦合阻抗</a:t>
              </a:r>
              <a:r>
                <a:rPr lang="zh-CN" altLang="en-US" sz="2000" dirty="0">
                  <a:latin typeface="Times New Roman" panose="02020603050405020304" pitchFamily="18" charset="0"/>
                </a:rPr>
                <a:t>为</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grpSp>
        <p:nvGrpSpPr>
          <p:cNvPr id="8" name="Group 27"/>
          <p:cNvGrpSpPr/>
          <p:nvPr/>
        </p:nvGrpSpPr>
        <p:grpSpPr>
          <a:xfrm>
            <a:off x="3635375" y="4149090"/>
            <a:ext cx="5184775" cy="1076325"/>
            <a:chOff x="2290" y="2432"/>
            <a:chExt cx="3266" cy="678"/>
          </a:xfrm>
        </p:grpSpPr>
        <p:sp>
          <p:nvSpPr>
            <p:cNvPr id="28692" name="Text Box 20"/>
            <p:cNvSpPr txBox="1"/>
            <p:nvPr/>
          </p:nvSpPr>
          <p:spPr>
            <a:xfrm>
              <a:off x="2290" y="2432"/>
              <a:ext cx="3266" cy="678"/>
            </a:xfrm>
            <a:prstGeom prst="rect">
              <a:avLst/>
            </a:prstGeom>
            <a:noFill/>
            <a:ln w="9525">
              <a:noFill/>
            </a:ln>
          </p:spPr>
          <p:txBody>
            <a:bodyPr>
              <a:spAutoFit/>
            </a:bodyPr>
            <a:lstStyle/>
            <a:p>
              <a:r>
                <a:rPr lang="zh-CN" altLang="en-US" sz="2000" dirty="0">
                  <a:latin typeface="Times New Roman" panose="02020603050405020304" pitchFamily="18" charset="0"/>
                </a:rPr>
                <a:t>定义</a:t>
              </a:r>
              <a:r>
                <a:rPr lang="zh-CN" altLang="en-US" sz="2000" b="1" dirty="0">
                  <a:solidFill>
                    <a:srgbClr val="FF0066"/>
                  </a:solidFill>
                  <a:latin typeface="Times New Roman" panose="02020603050405020304" pitchFamily="18" charset="0"/>
                </a:rPr>
                <a:t>耦合系数</a:t>
              </a:r>
              <a:r>
                <a:rPr lang="en-US" altLang="zh-CN" sz="2000" b="1" i="1" dirty="0">
                  <a:solidFill>
                    <a:srgbClr val="FF0066"/>
                  </a:solidFill>
                  <a:latin typeface="Times New Roman" panose="02020603050405020304" pitchFamily="18" charset="0"/>
                </a:rPr>
                <a:t>k</a:t>
              </a:r>
              <a:r>
                <a:rPr lang="zh-CN" altLang="en-US" sz="2000" b="1" dirty="0">
                  <a:solidFill>
                    <a:schemeClr val="accent2"/>
                  </a:solidFill>
                  <a:latin typeface="Times New Roman" panose="02020603050405020304" pitchFamily="18" charset="0"/>
                </a:rPr>
                <a:t>（反映两回路的相对耦合程度）</a:t>
              </a:r>
              <a:r>
                <a:rPr lang="zh-CN" altLang="en-US" sz="2000" dirty="0">
                  <a:latin typeface="Times New Roman" panose="02020603050405020304" pitchFamily="18" charset="0"/>
                </a:rPr>
                <a:t>为      与初次级中跟     同性质两电抗的几何平均值之比</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aphicFrame>
          <p:nvGraphicFramePr>
            <p:cNvPr id="28678" name="Object 21"/>
            <p:cNvGraphicFramePr/>
            <p:nvPr/>
          </p:nvGraphicFramePr>
          <p:xfrm>
            <a:off x="3696" y="2657"/>
            <a:ext cx="234" cy="222"/>
          </p:xfrm>
          <a:graphic>
            <a:graphicData uri="http://schemas.openxmlformats.org/presentationml/2006/ole">
              <mc:AlternateContent xmlns:mc="http://schemas.openxmlformats.org/markup-compatibility/2006">
                <mc:Choice xmlns:v="urn:schemas-microsoft-com:vml" Requires="v">
                  <p:oleObj spid="_x0000_s9" name="" r:id="rId9" imgW="241300" imgH="228600" progId="Equation.DSMT4">
                    <p:embed/>
                  </p:oleObj>
                </mc:Choice>
                <mc:Fallback>
                  <p:oleObj name="" r:id="rId9" imgW="241300" imgH="228600" progId="Equation.DSMT4">
                    <p:embed/>
                    <p:pic>
                      <p:nvPicPr>
                        <p:cNvPr id="0" name="图片 3236"/>
                        <p:cNvPicPr/>
                        <p:nvPr/>
                      </p:nvPicPr>
                      <p:blipFill>
                        <a:blip r:embed="rId10"/>
                        <a:stretch>
                          <a:fillRect/>
                        </a:stretch>
                      </p:blipFill>
                      <p:spPr>
                        <a:xfrm>
                          <a:off x="3696" y="2657"/>
                          <a:ext cx="234" cy="222"/>
                        </a:xfrm>
                        <a:prstGeom prst="rect">
                          <a:avLst/>
                        </a:prstGeom>
                        <a:noFill/>
                        <a:ln w="38100">
                          <a:noFill/>
                          <a:miter/>
                        </a:ln>
                      </p:spPr>
                    </p:pic>
                  </p:oleObj>
                </mc:Fallback>
              </mc:AlternateContent>
            </a:graphicData>
          </a:graphic>
        </p:graphicFrame>
        <p:graphicFrame>
          <p:nvGraphicFramePr>
            <p:cNvPr id="28679" name="Object 22"/>
            <p:cNvGraphicFramePr/>
            <p:nvPr/>
          </p:nvGraphicFramePr>
          <p:xfrm>
            <a:off x="2517" y="2659"/>
            <a:ext cx="235" cy="223"/>
          </p:xfrm>
          <a:graphic>
            <a:graphicData uri="http://schemas.openxmlformats.org/presentationml/2006/ole">
              <mc:AlternateContent xmlns:mc="http://schemas.openxmlformats.org/markup-compatibility/2006">
                <mc:Choice xmlns:v="urn:schemas-microsoft-com:vml" Requires="v">
                  <p:oleObj spid="_x0000_s10" name="" r:id="rId11" imgW="241300" imgH="228600" progId="Equation.DSMT4">
                    <p:embed/>
                  </p:oleObj>
                </mc:Choice>
                <mc:Fallback>
                  <p:oleObj name="" r:id="rId11" imgW="241300" imgH="228600" progId="Equation.DSMT4">
                    <p:embed/>
                    <p:pic>
                      <p:nvPicPr>
                        <p:cNvPr id="0" name="图片 3235"/>
                        <p:cNvPicPr/>
                        <p:nvPr/>
                      </p:nvPicPr>
                      <p:blipFill>
                        <a:blip r:embed="rId10"/>
                        <a:stretch>
                          <a:fillRect/>
                        </a:stretch>
                      </p:blipFill>
                      <p:spPr>
                        <a:xfrm>
                          <a:off x="2517" y="2659"/>
                          <a:ext cx="235" cy="223"/>
                        </a:xfrm>
                        <a:prstGeom prst="rect">
                          <a:avLst/>
                        </a:prstGeom>
                        <a:noFill/>
                        <a:ln w="38100">
                          <a:noFill/>
                          <a:miter/>
                        </a:ln>
                      </p:spPr>
                    </p:pic>
                  </p:oleObj>
                </mc:Fallback>
              </mc:AlternateContent>
            </a:graphicData>
          </a:graphic>
        </p:graphicFrame>
      </p:grpSp>
      <p:grpSp>
        <p:nvGrpSpPr>
          <p:cNvPr id="11" name="Group 23"/>
          <p:cNvGrpSpPr/>
          <p:nvPr/>
        </p:nvGrpSpPr>
        <p:grpSpPr>
          <a:xfrm>
            <a:off x="3996055" y="5310823"/>
            <a:ext cx="4151313" cy="839787"/>
            <a:chOff x="2517" y="3339"/>
            <a:chExt cx="2615" cy="529"/>
          </a:xfrm>
        </p:grpSpPr>
        <p:graphicFrame>
          <p:nvGraphicFramePr>
            <p:cNvPr id="28677" name="Object 25"/>
            <p:cNvGraphicFramePr/>
            <p:nvPr/>
          </p:nvGraphicFramePr>
          <p:xfrm>
            <a:off x="3560" y="3339"/>
            <a:ext cx="1572" cy="529"/>
          </p:xfrm>
          <a:graphic>
            <a:graphicData uri="http://schemas.openxmlformats.org/presentationml/2006/ole">
              <mc:AlternateContent xmlns:mc="http://schemas.openxmlformats.org/markup-compatibility/2006">
                <mc:Choice xmlns:v="urn:schemas-microsoft-com:vml" Requires="v">
                  <p:oleObj spid="_x0000_s12" name="" r:id="rId12" imgW="1397000" imgH="469900" progId="Equation.DSMT4">
                    <p:embed/>
                  </p:oleObj>
                </mc:Choice>
                <mc:Fallback>
                  <p:oleObj name="" r:id="rId12" imgW="1397000" imgH="469900" progId="Equation.DSMT4">
                    <p:embed/>
                    <p:pic>
                      <p:nvPicPr>
                        <p:cNvPr id="0" name="图片 3225"/>
                        <p:cNvPicPr/>
                        <p:nvPr/>
                      </p:nvPicPr>
                      <p:blipFill>
                        <a:blip r:embed="rId13"/>
                        <a:stretch>
                          <a:fillRect/>
                        </a:stretch>
                      </p:blipFill>
                      <p:spPr>
                        <a:xfrm>
                          <a:off x="3560" y="3339"/>
                          <a:ext cx="1572" cy="529"/>
                        </a:xfrm>
                        <a:prstGeom prst="rect">
                          <a:avLst/>
                        </a:prstGeom>
                        <a:noFill/>
                        <a:ln w="38100">
                          <a:noFill/>
                          <a:miter/>
                        </a:ln>
                      </p:spPr>
                    </p:pic>
                  </p:oleObj>
                </mc:Fallback>
              </mc:AlternateContent>
            </a:graphicData>
          </a:graphic>
        </p:graphicFrame>
        <p:sp>
          <p:nvSpPr>
            <p:cNvPr id="28691" name="Text Box 26"/>
            <p:cNvSpPr txBox="1"/>
            <p:nvPr/>
          </p:nvSpPr>
          <p:spPr>
            <a:xfrm>
              <a:off x="2517" y="3430"/>
              <a:ext cx="948" cy="288"/>
            </a:xfrm>
            <a:prstGeom prst="rect">
              <a:avLst/>
            </a:prstGeom>
            <a:noFill/>
            <a:ln w="9525">
              <a:noFill/>
            </a:ln>
          </p:spPr>
          <p:txBody>
            <a:bodyPr wrap="none">
              <a:spAutoFit/>
            </a:bodyPr>
            <a:lstStyle/>
            <a:p>
              <a:r>
                <a:rPr lang="zh-CN" altLang="en-US" sz="2000" dirty="0">
                  <a:latin typeface="Times New Roman" panose="02020603050405020304" pitchFamily="18" charset="0"/>
                </a:rPr>
                <a:t>耦合系数</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sp>
        <p:nvSpPr>
          <p:cNvPr id="22536" name="Text Box 8"/>
          <p:cNvSpPr txBox="1"/>
          <p:nvPr/>
        </p:nvSpPr>
        <p:spPr>
          <a:xfrm>
            <a:off x="144463" y="908050"/>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sp>
        <p:nvSpPr>
          <p:cNvPr id="78852" name="Text Box 8"/>
          <p:cNvSpPr txBox="1"/>
          <p:nvPr/>
        </p:nvSpPr>
        <p:spPr>
          <a:xfrm>
            <a:off x="468313" y="1341120"/>
            <a:ext cx="3078480" cy="460375"/>
          </a:xfrm>
          <a:prstGeom prst="rect">
            <a:avLst/>
          </a:prstGeom>
          <a:noFill/>
          <a:ln w="9525">
            <a:noFill/>
          </a:ln>
        </p:spPr>
        <p:txBody>
          <a:bodyPr wrap="none">
            <a:spAutoFit/>
          </a:bodyPr>
          <a:lstStyle/>
          <a:p>
            <a:r>
              <a:rPr lang="zh-CN" altLang="en-US" sz="2400" dirty="0">
                <a:solidFill>
                  <a:schemeClr val="accent2"/>
                </a:solidFill>
                <a:latin typeface="Times New Roman" panose="02020603050405020304" pitchFamily="18" charset="0"/>
              </a:rPr>
              <a:t>（</a:t>
            </a:r>
            <a:r>
              <a:rPr lang="en-US" altLang="zh-CN" sz="2400" dirty="0">
                <a:solidFill>
                  <a:schemeClr val="accent2"/>
                </a:solidFill>
                <a:latin typeface="Times New Roman" panose="02020603050405020304" pitchFamily="18" charset="0"/>
              </a:rPr>
              <a:t>4</a:t>
            </a:r>
            <a:r>
              <a:rPr lang="zh-CN" altLang="en-US" sz="2400" dirty="0">
                <a:solidFill>
                  <a:schemeClr val="accent2"/>
                </a:solidFill>
                <a:latin typeface="Times New Roman" panose="02020603050405020304" pitchFamily="18" charset="0"/>
              </a:rPr>
              <a:t>）耦合谐振回路</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Tree>
  </p:cSld>
  <p:clrMapOvr>
    <a:masterClrMapping/>
  </p:clrMapOvr>
  <p:transition spd="med">
    <p:zo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34" name="Text Box 10"/>
          <p:cNvSpPr txBox="1"/>
          <p:nvPr/>
        </p:nvSpPr>
        <p:spPr>
          <a:xfrm>
            <a:off x="454025" y="5195253"/>
            <a:ext cx="6010275" cy="457200"/>
          </a:xfrm>
          <a:prstGeom prst="rect">
            <a:avLst/>
          </a:prstGeom>
          <a:noFill/>
          <a:ln w="9525">
            <a:noFill/>
          </a:ln>
        </p:spPr>
        <p:txBody>
          <a:bodyPr wrap="none">
            <a:spAutoFit/>
          </a:bodyPr>
          <a:lstStyle/>
          <a:p>
            <a:r>
              <a:rPr lang="zh-CN" altLang="en-US" sz="2000" dirty="0">
                <a:latin typeface="Times New Roman" panose="02020603050405020304" pitchFamily="18" charset="0"/>
              </a:rPr>
              <a:t>次级回路对初级回路的作用可用</a:t>
            </a:r>
            <a:r>
              <a:rPr lang="zh-CN" altLang="en-US" sz="2000" dirty="0">
                <a:solidFill>
                  <a:srgbClr val="FF0066"/>
                </a:solidFill>
                <a:latin typeface="Times New Roman" panose="02020603050405020304" pitchFamily="18" charset="0"/>
              </a:rPr>
              <a:t>反映阻抗</a:t>
            </a:r>
            <a:r>
              <a:rPr lang="en-US" altLang="zh-CN" sz="2000" i="1" dirty="0">
                <a:solidFill>
                  <a:srgbClr val="FF0066"/>
                </a:solidFill>
                <a:latin typeface="Times New Roman" panose="02020603050405020304" pitchFamily="18" charset="0"/>
              </a:rPr>
              <a:t>Z</a:t>
            </a:r>
            <a:r>
              <a:rPr lang="en-US" altLang="zh-CN" sz="2000" i="1" baseline="-25000" dirty="0">
                <a:solidFill>
                  <a:srgbClr val="FF0066"/>
                </a:solidFill>
                <a:latin typeface="Times New Roman" panose="02020603050405020304" pitchFamily="18" charset="0"/>
              </a:rPr>
              <a:t>f</a:t>
            </a:r>
            <a:r>
              <a:rPr lang="zh-CN" altLang="en-US" sz="2000" dirty="0">
                <a:latin typeface="Times New Roman" panose="02020603050405020304" pitchFamily="18" charset="0"/>
              </a:rPr>
              <a:t>来表示</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nvGrpSpPr>
          <p:cNvPr id="3" name="Group 36"/>
          <p:cNvGrpSpPr/>
          <p:nvPr/>
        </p:nvGrpSpPr>
        <p:grpSpPr>
          <a:xfrm>
            <a:off x="453708" y="4058285"/>
            <a:ext cx="6889688" cy="460761"/>
            <a:chOff x="249" y="2432"/>
            <a:chExt cx="4340" cy="290"/>
          </a:xfrm>
        </p:grpSpPr>
        <p:grpSp>
          <p:nvGrpSpPr>
            <p:cNvPr id="29720" name="Group 34"/>
            <p:cNvGrpSpPr/>
            <p:nvPr/>
          </p:nvGrpSpPr>
          <p:grpSpPr>
            <a:xfrm>
              <a:off x="249" y="2432"/>
              <a:ext cx="2140" cy="287"/>
              <a:chOff x="249" y="2568"/>
              <a:chExt cx="2140" cy="287"/>
            </a:xfrm>
          </p:grpSpPr>
          <p:graphicFrame>
            <p:nvGraphicFramePr>
              <p:cNvPr id="29706" name="Object 13"/>
              <p:cNvGraphicFramePr/>
              <p:nvPr/>
            </p:nvGraphicFramePr>
            <p:xfrm>
              <a:off x="1391" y="2592"/>
              <a:ext cx="998" cy="258"/>
            </p:xfrm>
            <a:graphic>
              <a:graphicData uri="http://schemas.openxmlformats.org/presentationml/2006/ole">
                <mc:AlternateContent xmlns:mc="http://schemas.openxmlformats.org/markup-compatibility/2006">
                  <mc:Choice xmlns:v="urn:schemas-microsoft-com:vml" Requires="v">
                    <p:oleObj spid="_x0000_s2" name="" r:id="rId1" imgW="964565" imgH="241300" progId="Equation.DSMT4">
                      <p:embed/>
                    </p:oleObj>
                  </mc:Choice>
                  <mc:Fallback>
                    <p:oleObj name="" r:id="rId1" imgW="964565" imgH="241300" progId="Equation.DSMT4">
                      <p:embed/>
                      <p:pic>
                        <p:nvPicPr>
                          <p:cNvPr id="0" name="图片 3238"/>
                          <p:cNvPicPr/>
                          <p:nvPr/>
                        </p:nvPicPr>
                        <p:blipFill>
                          <a:blip r:embed="rId2"/>
                          <a:stretch>
                            <a:fillRect/>
                          </a:stretch>
                        </p:blipFill>
                        <p:spPr>
                          <a:xfrm>
                            <a:off x="1391" y="2592"/>
                            <a:ext cx="998" cy="258"/>
                          </a:xfrm>
                          <a:prstGeom prst="rect">
                            <a:avLst/>
                          </a:prstGeom>
                          <a:noFill/>
                          <a:ln w="38100">
                            <a:noFill/>
                            <a:miter/>
                          </a:ln>
                        </p:spPr>
                      </p:pic>
                    </p:oleObj>
                  </mc:Fallback>
                </mc:AlternateContent>
              </a:graphicData>
            </a:graphic>
          </p:graphicFrame>
          <p:sp>
            <p:nvSpPr>
              <p:cNvPr id="29723" name="Text Box 14"/>
              <p:cNvSpPr txBox="1"/>
              <p:nvPr/>
            </p:nvSpPr>
            <p:spPr>
              <a:xfrm>
                <a:off x="249" y="2568"/>
                <a:ext cx="1268" cy="287"/>
              </a:xfrm>
              <a:prstGeom prst="rect">
                <a:avLst/>
              </a:prstGeom>
              <a:noFill/>
              <a:ln w="9525">
                <a:noFill/>
              </a:ln>
            </p:spPr>
            <p:txBody>
              <a:bodyPr wrap="none">
                <a:spAutoFit/>
              </a:bodyPr>
              <a:lstStyle/>
              <a:p>
                <a:r>
                  <a:rPr lang="zh-CN" altLang="en-US" sz="2000" dirty="0">
                    <a:latin typeface="Times New Roman" panose="02020603050405020304" pitchFamily="18" charset="0"/>
                  </a:rPr>
                  <a:t>次级回路电流</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grpSp>
          <p:nvGrpSpPr>
            <p:cNvPr id="29721" name="Group 15"/>
            <p:cNvGrpSpPr/>
            <p:nvPr/>
          </p:nvGrpSpPr>
          <p:grpSpPr>
            <a:xfrm>
              <a:off x="2480" y="2432"/>
              <a:ext cx="2109" cy="290"/>
              <a:chOff x="2299" y="3607"/>
              <a:chExt cx="2108" cy="281"/>
            </a:xfrm>
          </p:grpSpPr>
          <p:sp>
            <p:nvSpPr>
              <p:cNvPr id="29722" name="Text Box 16"/>
              <p:cNvSpPr txBox="1"/>
              <p:nvPr/>
            </p:nvSpPr>
            <p:spPr>
              <a:xfrm>
                <a:off x="2299" y="3607"/>
                <a:ext cx="2108" cy="281"/>
              </a:xfrm>
              <a:prstGeom prst="rect">
                <a:avLst/>
              </a:prstGeom>
              <a:noFill/>
              <a:ln w="9525">
                <a:noFill/>
              </a:ln>
            </p:spPr>
            <p:txBody>
              <a:bodyPr>
                <a:spAutoFit/>
              </a:bodyPr>
              <a:lstStyle/>
              <a:p>
                <a:r>
                  <a:rPr lang="en-US" altLang="zh-CN" sz="2000" dirty="0">
                    <a:latin typeface="Times New Roman" panose="02020603050405020304" pitchFamily="18" charset="0"/>
                  </a:rPr>
                  <a:t>      </a:t>
                </a:r>
                <a:r>
                  <a:rPr lang="zh-CN" altLang="en-US" sz="2000" dirty="0">
                    <a:latin typeface="Times New Roman" panose="02020603050405020304" pitchFamily="18" charset="0"/>
                  </a:rPr>
                  <a:t>是次级回路的串联阻抗</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aphicFrame>
            <p:nvGraphicFramePr>
              <p:cNvPr id="29705" name="Object 17"/>
              <p:cNvGraphicFramePr/>
              <p:nvPr/>
            </p:nvGraphicFramePr>
            <p:xfrm>
              <a:off x="2404" y="3634"/>
              <a:ext cx="212" cy="254"/>
            </p:xfrm>
            <a:graphic>
              <a:graphicData uri="http://schemas.openxmlformats.org/presentationml/2006/ole">
                <mc:AlternateContent xmlns:mc="http://schemas.openxmlformats.org/markup-compatibility/2006">
                  <mc:Choice xmlns:v="urn:schemas-microsoft-com:vml" Requires="v">
                    <p:oleObj spid="_x0000_s4" name="" r:id="rId3" imgW="190500" imgH="228600" progId="Equation.DSMT4">
                      <p:embed/>
                    </p:oleObj>
                  </mc:Choice>
                  <mc:Fallback>
                    <p:oleObj name="" r:id="rId3" imgW="190500" imgH="228600" progId="Equation.DSMT4">
                      <p:embed/>
                      <p:pic>
                        <p:nvPicPr>
                          <p:cNvPr id="0" name="图片 3229"/>
                          <p:cNvPicPr/>
                          <p:nvPr/>
                        </p:nvPicPr>
                        <p:blipFill>
                          <a:blip r:embed="rId4"/>
                          <a:stretch>
                            <a:fillRect/>
                          </a:stretch>
                        </p:blipFill>
                        <p:spPr>
                          <a:xfrm>
                            <a:off x="2404" y="3634"/>
                            <a:ext cx="212" cy="254"/>
                          </a:xfrm>
                          <a:prstGeom prst="rect">
                            <a:avLst/>
                          </a:prstGeom>
                          <a:noFill/>
                          <a:ln w="38100">
                            <a:noFill/>
                            <a:miter/>
                          </a:ln>
                        </p:spPr>
                      </p:pic>
                    </p:oleObj>
                  </mc:Fallback>
                </mc:AlternateContent>
              </a:graphicData>
            </a:graphic>
          </p:graphicFrame>
        </p:grpSp>
      </p:grpSp>
      <p:grpSp>
        <p:nvGrpSpPr>
          <p:cNvPr id="6" name="Group 18"/>
          <p:cNvGrpSpPr/>
          <p:nvPr/>
        </p:nvGrpSpPr>
        <p:grpSpPr>
          <a:xfrm>
            <a:off x="539115" y="4628515"/>
            <a:ext cx="3384550" cy="427038"/>
            <a:chOff x="3107" y="1507"/>
            <a:chExt cx="2132" cy="269"/>
          </a:xfrm>
        </p:grpSpPr>
        <p:sp>
          <p:nvSpPr>
            <p:cNvPr id="29719" name="Text Box 19"/>
            <p:cNvSpPr txBox="1"/>
            <p:nvPr/>
          </p:nvSpPr>
          <p:spPr>
            <a:xfrm>
              <a:off x="3198" y="1525"/>
              <a:ext cx="1555" cy="251"/>
            </a:xfrm>
            <a:prstGeom prst="rect">
              <a:avLst/>
            </a:prstGeom>
            <a:noFill/>
            <a:ln w="9525">
              <a:noFill/>
            </a:ln>
          </p:spPr>
          <p:txBody>
            <a:bodyPr wrap="none">
              <a:spAutoFit/>
            </a:bodyPr>
            <a:lstStyle/>
            <a:p>
              <a:r>
                <a:rPr lang="zh-CN" altLang="en-US" sz="2000" dirty="0">
                  <a:latin typeface="Times New Roman" panose="02020603050405020304" pitchFamily="18" charset="0"/>
                </a:rPr>
                <a:t>在初级的反映电势为</a:t>
              </a:r>
              <a:endParaRPr lang="zh-CN" altLang="en-US" sz="2000" dirty="0">
                <a:latin typeface="Times New Roman" panose="02020603050405020304" pitchFamily="18" charset="0"/>
              </a:endParaRPr>
            </a:p>
          </p:txBody>
        </p:sp>
        <p:graphicFrame>
          <p:nvGraphicFramePr>
            <p:cNvPr id="29703" name="Object 20"/>
            <p:cNvGraphicFramePr/>
            <p:nvPr/>
          </p:nvGraphicFramePr>
          <p:xfrm>
            <a:off x="4717" y="1507"/>
            <a:ext cx="522" cy="268"/>
          </p:xfrm>
          <a:graphic>
            <a:graphicData uri="http://schemas.openxmlformats.org/presentationml/2006/ole">
              <mc:AlternateContent xmlns:mc="http://schemas.openxmlformats.org/markup-compatibility/2006">
                <mc:Choice xmlns:v="urn:schemas-microsoft-com:vml" Requires="v">
                  <p:oleObj spid="_x0000_s5" name="" r:id="rId5" imgW="457200" imgH="241300" progId="Equation.DSMT4">
                    <p:embed/>
                  </p:oleObj>
                </mc:Choice>
                <mc:Fallback>
                  <p:oleObj name="" r:id="rId5" imgW="457200" imgH="241300" progId="Equation.DSMT4">
                    <p:embed/>
                    <p:pic>
                      <p:nvPicPr>
                        <p:cNvPr id="0" name="图片 3219"/>
                        <p:cNvPicPr/>
                        <p:nvPr/>
                      </p:nvPicPr>
                      <p:blipFill>
                        <a:blip r:embed="rId6"/>
                        <a:stretch>
                          <a:fillRect/>
                        </a:stretch>
                      </p:blipFill>
                      <p:spPr>
                        <a:xfrm>
                          <a:off x="4717" y="1507"/>
                          <a:ext cx="522" cy="268"/>
                        </a:xfrm>
                        <a:prstGeom prst="rect">
                          <a:avLst/>
                        </a:prstGeom>
                        <a:noFill/>
                        <a:ln w="38100">
                          <a:noFill/>
                          <a:miter/>
                        </a:ln>
                      </p:spPr>
                    </p:pic>
                  </p:oleObj>
                </mc:Fallback>
              </mc:AlternateContent>
            </a:graphicData>
          </a:graphic>
        </p:graphicFrame>
        <p:graphicFrame>
          <p:nvGraphicFramePr>
            <p:cNvPr id="29704" name="Object 21"/>
            <p:cNvGraphicFramePr/>
            <p:nvPr/>
          </p:nvGraphicFramePr>
          <p:xfrm>
            <a:off x="3107" y="1524"/>
            <a:ext cx="144" cy="251"/>
          </p:xfrm>
          <a:graphic>
            <a:graphicData uri="http://schemas.openxmlformats.org/presentationml/2006/ole">
              <mc:AlternateContent xmlns:mc="http://schemas.openxmlformats.org/markup-compatibility/2006">
                <mc:Choice xmlns:v="urn:schemas-microsoft-com:vml" Requires="v">
                  <p:oleObj spid="_x0000_s7" name="" r:id="rId7" imgW="152400" imgH="241300" progId="Equation.DSMT4">
                    <p:embed/>
                  </p:oleObj>
                </mc:Choice>
                <mc:Fallback>
                  <p:oleObj name="" r:id="rId7" imgW="152400" imgH="241300" progId="Equation.DSMT4">
                    <p:embed/>
                    <p:pic>
                      <p:nvPicPr>
                        <p:cNvPr id="0" name="图片 3233"/>
                        <p:cNvPicPr/>
                        <p:nvPr/>
                      </p:nvPicPr>
                      <p:blipFill>
                        <a:blip r:embed="rId8"/>
                        <a:stretch>
                          <a:fillRect/>
                        </a:stretch>
                      </p:blipFill>
                      <p:spPr>
                        <a:xfrm>
                          <a:off x="3107" y="1524"/>
                          <a:ext cx="144" cy="251"/>
                        </a:xfrm>
                        <a:prstGeom prst="rect">
                          <a:avLst/>
                        </a:prstGeom>
                        <a:noFill/>
                        <a:ln w="38100">
                          <a:noFill/>
                          <a:miter/>
                        </a:ln>
                      </p:spPr>
                    </p:pic>
                  </p:oleObj>
                </mc:Fallback>
              </mc:AlternateContent>
            </a:graphicData>
          </a:graphic>
        </p:graphicFrame>
      </p:grpSp>
      <p:grpSp>
        <p:nvGrpSpPr>
          <p:cNvPr id="8" name="Group 35"/>
          <p:cNvGrpSpPr/>
          <p:nvPr/>
        </p:nvGrpSpPr>
        <p:grpSpPr>
          <a:xfrm>
            <a:off x="453708" y="3501073"/>
            <a:ext cx="6048375" cy="503237"/>
            <a:chOff x="295" y="2115"/>
            <a:chExt cx="3810" cy="317"/>
          </a:xfrm>
        </p:grpSpPr>
        <p:graphicFrame>
          <p:nvGraphicFramePr>
            <p:cNvPr id="29701" name="Object 25"/>
            <p:cNvGraphicFramePr/>
            <p:nvPr/>
          </p:nvGraphicFramePr>
          <p:xfrm>
            <a:off x="1292" y="2115"/>
            <a:ext cx="184" cy="317"/>
          </p:xfrm>
          <a:graphic>
            <a:graphicData uri="http://schemas.openxmlformats.org/presentationml/2006/ole">
              <mc:AlternateContent xmlns:mc="http://schemas.openxmlformats.org/markup-compatibility/2006">
                <mc:Choice xmlns:v="urn:schemas-microsoft-com:vml" Requires="v">
                  <p:oleObj spid="_x0000_s9" name="" r:id="rId9" imgW="139700" imgH="241300" progId="Equation.DSMT4">
                    <p:embed/>
                  </p:oleObj>
                </mc:Choice>
                <mc:Fallback>
                  <p:oleObj name="" r:id="rId9" imgW="139700" imgH="241300" progId="Equation.DSMT4">
                    <p:embed/>
                    <p:pic>
                      <p:nvPicPr>
                        <p:cNvPr id="0" name="图片 3230"/>
                        <p:cNvPicPr/>
                        <p:nvPr/>
                      </p:nvPicPr>
                      <p:blipFill>
                        <a:blip r:embed="rId10"/>
                        <a:stretch>
                          <a:fillRect/>
                        </a:stretch>
                      </p:blipFill>
                      <p:spPr>
                        <a:xfrm>
                          <a:off x="1292" y="2115"/>
                          <a:ext cx="184" cy="317"/>
                        </a:xfrm>
                        <a:prstGeom prst="rect">
                          <a:avLst/>
                        </a:prstGeom>
                        <a:noFill/>
                        <a:ln w="38100">
                          <a:noFill/>
                          <a:miter/>
                        </a:ln>
                      </p:spPr>
                    </p:pic>
                  </p:oleObj>
                </mc:Fallback>
              </mc:AlternateContent>
            </a:graphicData>
          </a:graphic>
        </p:graphicFrame>
        <p:sp>
          <p:nvSpPr>
            <p:cNvPr id="29718" name="Text Box 24"/>
            <p:cNvSpPr txBox="1"/>
            <p:nvPr/>
          </p:nvSpPr>
          <p:spPr>
            <a:xfrm>
              <a:off x="295" y="2160"/>
              <a:ext cx="3810" cy="250"/>
            </a:xfrm>
            <a:prstGeom prst="rect">
              <a:avLst/>
            </a:prstGeom>
            <a:noFill/>
            <a:ln w="9525">
              <a:noFill/>
            </a:ln>
          </p:spPr>
          <p:txBody>
            <a:bodyPr>
              <a:spAutoFit/>
            </a:bodyPr>
            <a:lstStyle/>
            <a:p>
              <a:r>
                <a:rPr lang="zh-CN" altLang="en-US" sz="2000" dirty="0">
                  <a:latin typeface="Times New Roman" panose="02020603050405020304" pitchFamily="18" charset="0"/>
                </a:rPr>
                <a:t>初级回路电流    在次级回路中产生的感应电势</a:t>
              </a:r>
              <a:endParaRPr lang="zh-CN" altLang="en-US" sz="2000" dirty="0">
                <a:latin typeface="Times New Roman" panose="02020603050405020304" pitchFamily="18" charset="0"/>
              </a:endParaRPr>
            </a:p>
          </p:txBody>
        </p:sp>
        <p:graphicFrame>
          <p:nvGraphicFramePr>
            <p:cNvPr id="29702" name="Object 23"/>
            <p:cNvGraphicFramePr/>
            <p:nvPr/>
          </p:nvGraphicFramePr>
          <p:xfrm>
            <a:off x="3524" y="2160"/>
            <a:ext cx="478" cy="240"/>
          </p:xfrm>
          <a:graphic>
            <a:graphicData uri="http://schemas.openxmlformats.org/presentationml/2006/ole">
              <mc:AlternateContent xmlns:mc="http://schemas.openxmlformats.org/markup-compatibility/2006">
                <mc:Choice xmlns:v="urn:schemas-microsoft-com:vml" Requires="v">
                  <p:oleObj spid="_x0000_s10" name="" r:id="rId11" imgW="444500" imgH="241300" progId="Equation.DSMT4">
                    <p:embed/>
                  </p:oleObj>
                </mc:Choice>
                <mc:Fallback>
                  <p:oleObj name="" r:id="rId11" imgW="444500" imgH="241300" progId="Equation.DSMT4">
                    <p:embed/>
                    <p:pic>
                      <p:nvPicPr>
                        <p:cNvPr id="0" name="图片 3231"/>
                        <p:cNvPicPr/>
                        <p:nvPr/>
                      </p:nvPicPr>
                      <p:blipFill>
                        <a:blip r:embed="rId12"/>
                        <a:stretch>
                          <a:fillRect/>
                        </a:stretch>
                      </p:blipFill>
                      <p:spPr>
                        <a:xfrm>
                          <a:off x="3524" y="2160"/>
                          <a:ext cx="478" cy="240"/>
                        </a:xfrm>
                        <a:prstGeom prst="rect">
                          <a:avLst/>
                        </a:prstGeom>
                        <a:noFill/>
                        <a:ln w="38100">
                          <a:noFill/>
                          <a:miter/>
                        </a:ln>
                      </p:spPr>
                    </p:pic>
                  </p:oleObj>
                </mc:Fallback>
              </mc:AlternateContent>
            </a:graphicData>
          </a:graphic>
        </p:graphicFrame>
      </p:grpSp>
      <p:grpSp>
        <p:nvGrpSpPr>
          <p:cNvPr id="29714" name="Group 26"/>
          <p:cNvGrpSpPr/>
          <p:nvPr/>
        </p:nvGrpSpPr>
        <p:grpSpPr>
          <a:xfrm>
            <a:off x="5363528" y="1065213"/>
            <a:ext cx="2952750" cy="2270125"/>
            <a:chOff x="340" y="2205"/>
            <a:chExt cx="1860" cy="1430"/>
          </a:xfrm>
        </p:grpSpPr>
        <p:graphicFrame>
          <p:nvGraphicFramePr>
            <p:cNvPr id="29700" name="Object 27"/>
            <p:cNvGraphicFramePr/>
            <p:nvPr/>
          </p:nvGraphicFramePr>
          <p:xfrm>
            <a:off x="340" y="2205"/>
            <a:ext cx="1860" cy="1389"/>
          </p:xfrm>
          <a:graphic>
            <a:graphicData uri="http://schemas.openxmlformats.org/presentationml/2006/ole">
              <mc:AlternateContent xmlns:mc="http://schemas.openxmlformats.org/markup-compatibility/2006">
                <mc:Choice xmlns:v="urn:schemas-microsoft-com:vml" Requires="v">
                  <p:oleObj spid="_x0000_s11" name="" r:id="rId13" imgW="1774825" imgH="1326515" progId="Visio.Drawing.6">
                    <p:embed/>
                  </p:oleObj>
                </mc:Choice>
                <mc:Fallback>
                  <p:oleObj name="" r:id="rId13" imgW="1774825" imgH="1326515" progId="Visio.Drawing.6">
                    <p:embed/>
                    <p:pic>
                      <p:nvPicPr>
                        <p:cNvPr id="0" name="图片 3239"/>
                        <p:cNvPicPr/>
                        <p:nvPr/>
                      </p:nvPicPr>
                      <p:blipFill>
                        <a:blip r:embed="rId14"/>
                        <a:stretch>
                          <a:fillRect/>
                        </a:stretch>
                      </p:blipFill>
                      <p:spPr>
                        <a:xfrm>
                          <a:off x="340" y="2205"/>
                          <a:ext cx="1860" cy="1389"/>
                        </a:xfrm>
                        <a:prstGeom prst="rect">
                          <a:avLst/>
                        </a:prstGeom>
                        <a:noFill/>
                        <a:ln w="38100">
                          <a:noFill/>
                          <a:miter/>
                        </a:ln>
                      </p:spPr>
                    </p:pic>
                  </p:oleObj>
                </mc:Fallback>
              </mc:AlternateContent>
            </a:graphicData>
          </a:graphic>
        </p:graphicFrame>
        <p:sp>
          <p:nvSpPr>
            <p:cNvPr id="29717" name="Text Box 28"/>
            <p:cNvSpPr txBox="1"/>
            <p:nvPr/>
          </p:nvSpPr>
          <p:spPr>
            <a:xfrm>
              <a:off x="749" y="3385"/>
              <a:ext cx="1076" cy="250"/>
            </a:xfrm>
            <a:prstGeom prst="rect">
              <a:avLst/>
            </a:prstGeom>
            <a:solidFill>
              <a:schemeClr val="bg1"/>
            </a:solidFill>
            <a:ln w="9525">
              <a:noFill/>
            </a:ln>
          </p:spPr>
          <p:txBody>
            <a:bodyPr wrap="none">
              <a:spAutoFit/>
            </a:bodyPr>
            <a:lstStyle/>
            <a:p>
              <a:r>
                <a:rPr lang="zh-CN" altLang="en-US" sz="2000" dirty="0">
                  <a:solidFill>
                    <a:schemeClr val="tx1"/>
                  </a:solidFill>
                  <a:latin typeface="Times New Roman" panose="02020603050405020304" pitchFamily="18" charset="0"/>
                </a:rPr>
                <a:t>电感耦合回路</a:t>
              </a:r>
              <a:endParaRPr lang="zh-CN" altLang="en-US" sz="2000" dirty="0">
                <a:solidFill>
                  <a:schemeClr val="tx1"/>
                </a:solidFill>
                <a:latin typeface="Times New Roman" panose="02020603050405020304" pitchFamily="18" charset="0"/>
              </a:endParaRPr>
            </a:p>
          </p:txBody>
        </p:sp>
      </p:grpSp>
      <p:grpSp>
        <p:nvGrpSpPr>
          <p:cNvPr id="12" name="Group 31"/>
          <p:cNvGrpSpPr/>
          <p:nvPr/>
        </p:nvGrpSpPr>
        <p:grpSpPr>
          <a:xfrm>
            <a:off x="971550" y="1267778"/>
            <a:ext cx="3816350" cy="2054225"/>
            <a:chOff x="1066" y="709"/>
            <a:chExt cx="2404" cy="1294"/>
          </a:xfrm>
        </p:grpSpPr>
        <p:graphicFrame>
          <p:nvGraphicFramePr>
            <p:cNvPr id="29699" name="Object 9"/>
            <p:cNvGraphicFramePr/>
            <p:nvPr/>
          </p:nvGraphicFramePr>
          <p:xfrm>
            <a:off x="1066" y="709"/>
            <a:ext cx="2404" cy="1105"/>
          </p:xfrm>
          <a:graphic>
            <a:graphicData uri="http://schemas.openxmlformats.org/presentationml/2006/ole">
              <mc:AlternateContent xmlns:mc="http://schemas.openxmlformats.org/markup-compatibility/2006">
                <mc:Choice xmlns:v="urn:schemas-microsoft-com:vml" Requires="v">
                  <p:oleObj spid="_x0000_s13" name="" r:id="rId15" imgW="2205355" imgH="1084580" progId="Visio.Drawing.11">
                    <p:embed/>
                  </p:oleObj>
                </mc:Choice>
                <mc:Fallback>
                  <p:oleObj name="" r:id="rId15" imgW="2205355" imgH="1084580" progId="Visio.Drawing.11">
                    <p:embed/>
                    <p:pic>
                      <p:nvPicPr>
                        <p:cNvPr id="0" name="图片 3224"/>
                        <p:cNvPicPr/>
                        <p:nvPr/>
                      </p:nvPicPr>
                      <p:blipFill>
                        <a:blip r:embed="rId16"/>
                        <a:stretch>
                          <a:fillRect/>
                        </a:stretch>
                      </p:blipFill>
                      <p:spPr>
                        <a:xfrm>
                          <a:off x="1066" y="709"/>
                          <a:ext cx="2404" cy="1105"/>
                        </a:xfrm>
                        <a:prstGeom prst="rect">
                          <a:avLst/>
                        </a:prstGeom>
                        <a:noFill/>
                        <a:ln w="38100">
                          <a:noFill/>
                          <a:miter/>
                        </a:ln>
                      </p:spPr>
                    </p:pic>
                  </p:oleObj>
                </mc:Fallback>
              </mc:AlternateContent>
            </a:graphicData>
          </a:graphic>
        </p:graphicFrame>
        <p:sp>
          <p:nvSpPr>
            <p:cNvPr id="29716" name="Text Box 30"/>
            <p:cNvSpPr txBox="1"/>
            <p:nvPr/>
          </p:nvSpPr>
          <p:spPr>
            <a:xfrm>
              <a:off x="1837" y="1753"/>
              <a:ext cx="756" cy="250"/>
            </a:xfrm>
            <a:prstGeom prst="rect">
              <a:avLst/>
            </a:prstGeom>
            <a:noFill/>
            <a:ln w="9525">
              <a:noFill/>
            </a:ln>
          </p:spPr>
          <p:txBody>
            <a:bodyPr wrap="none">
              <a:spAutoFit/>
            </a:bodyPr>
            <a:lstStyle/>
            <a:p>
              <a:r>
                <a:rPr lang="zh-CN" altLang="en-US" sz="2000" dirty="0">
                  <a:latin typeface="Times New Roman" panose="02020603050405020304" pitchFamily="18" charset="0"/>
                </a:rPr>
                <a:t>等效回路</a:t>
              </a:r>
              <a:endParaRPr lang="zh-CN" altLang="en-US" sz="2000" dirty="0">
                <a:latin typeface="Times New Roman" panose="02020603050405020304" pitchFamily="18" charset="0"/>
              </a:endParaRPr>
            </a:p>
          </p:txBody>
        </p:sp>
      </p:grpSp>
      <p:graphicFrame>
        <p:nvGraphicFramePr>
          <p:cNvPr id="385057" name="Object 33"/>
          <p:cNvGraphicFramePr/>
          <p:nvPr/>
        </p:nvGraphicFramePr>
        <p:xfrm>
          <a:off x="1570355" y="5708650"/>
          <a:ext cx="5732145" cy="859790"/>
        </p:xfrm>
        <a:graphic>
          <a:graphicData uri="http://schemas.openxmlformats.org/presentationml/2006/ole">
            <mc:AlternateContent xmlns:mc="http://schemas.openxmlformats.org/markup-compatibility/2006">
              <mc:Choice xmlns:v="urn:schemas-microsoft-com:vml" Requires="v">
                <p:oleObj spid="_x0000_s14" name="" r:id="rId17" imgW="3162300" imgH="457200" progId="Equation.DSMT4">
                  <p:embed/>
                </p:oleObj>
              </mc:Choice>
              <mc:Fallback>
                <p:oleObj name="" r:id="rId17" imgW="3162300" imgH="457200" progId="Equation.DSMT4">
                  <p:embed/>
                  <p:pic>
                    <p:nvPicPr>
                      <p:cNvPr id="0" name="图片 3237"/>
                      <p:cNvPicPr/>
                      <p:nvPr/>
                    </p:nvPicPr>
                    <p:blipFill>
                      <a:blip r:embed="rId18"/>
                      <a:stretch>
                        <a:fillRect/>
                      </a:stretch>
                    </p:blipFill>
                    <p:spPr>
                      <a:xfrm>
                        <a:off x="1570355" y="5708650"/>
                        <a:ext cx="5732145" cy="859790"/>
                      </a:xfrm>
                      <a:prstGeom prst="rect">
                        <a:avLst/>
                      </a:prstGeom>
                      <a:noFill/>
                      <a:ln w="38100">
                        <a:noFill/>
                        <a:miter/>
                      </a:ln>
                    </p:spPr>
                  </p:pic>
                </p:oleObj>
              </mc:Fallback>
            </mc:AlternateContent>
          </a:graphicData>
        </a:graphic>
      </p:graphicFrame>
      <p:sp>
        <p:nvSpPr>
          <p:cNvPr id="22536" name="Text Box 8"/>
          <p:cNvSpPr txBox="1"/>
          <p:nvPr/>
        </p:nvSpPr>
        <p:spPr>
          <a:xfrm>
            <a:off x="144463" y="447675"/>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sp>
        <p:nvSpPr>
          <p:cNvPr id="78852" name="Text Box 8"/>
          <p:cNvSpPr txBox="1"/>
          <p:nvPr/>
        </p:nvSpPr>
        <p:spPr>
          <a:xfrm>
            <a:off x="484823" y="836930"/>
            <a:ext cx="3078480" cy="460375"/>
          </a:xfrm>
          <a:prstGeom prst="rect">
            <a:avLst/>
          </a:prstGeom>
          <a:noFill/>
          <a:ln w="9525">
            <a:noFill/>
          </a:ln>
        </p:spPr>
        <p:txBody>
          <a:bodyPr wrap="none">
            <a:spAutoFit/>
          </a:bodyPr>
          <a:lstStyle/>
          <a:p>
            <a:r>
              <a:rPr lang="zh-CN" altLang="en-US" sz="2400" dirty="0">
                <a:solidFill>
                  <a:schemeClr val="accent2"/>
                </a:solidFill>
                <a:latin typeface="Times New Roman" panose="02020603050405020304" pitchFamily="18" charset="0"/>
              </a:rPr>
              <a:t>（</a:t>
            </a:r>
            <a:r>
              <a:rPr lang="en-US" altLang="zh-CN" sz="2400" dirty="0">
                <a:solidFill>
                  <a:schemeClr val="accent2"/>
                </a:solidFill>
                <a:latin typeface="Times New Roman" panose="02020603050405020304" pitchFamily="18" charset="0"/>
              </a:rPr>
              <a:t>4</a:t>
            </a:r>
            <a:r>
              <a:rPr lang="zh-CN" altLang="en-US" sz="2400" dirty="0">
                <a:solidFill>
                  <a:schemeClr val="accent2"/>
                </a:solidFill>
                <a:latin typeface="Times New Roman" panose="02020603050405020304" pitchFamily="18" charset="0"/>
              </a:rPr>
              <a:t>）耦合谐振回路</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Tree>
  </p:cSld>
  <p:clrMapOvr>
    <a:masterClrMapping/>
  </p:clrMapOvr>
  <p:transition spd="med">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4"/>
          <p:cNvGrpSpPr/>
          <p:nvPr/>
        </p:nvGrpSpPr>
        <p:grpSpPr>
          <a:xfrm>
            <a:off x="682943" y="1845310"/>
            <a:ext cx="4303713" cy="782638"/>
            <a:chOff x="305" y="1286"/>
            <a:chExt cx="2711" cy="493"/>
          </a:xfrm>
        </p:grpSpPr>
        <p:sp>
          <p:nvSpPr>
            <p:cNvPr id="30748" name="Text Box 10"/>
            <p:cNvSpPr txBox="1"/>
            <p:nvPr/>
          </p:nvSpPr>
          <p:spPr>
            <a:xfrm>
              <a:off x="305" y="1286"/>
              <a:ext cx="1236" cy="250"/>
            </a:xfrm>
            <a:prstGeom prst="rect">
              <a:avLst/>
            </a:prstGeom>
            <a:noFill/>
            <a:ln w="9525">
              <a:noFill/>
            </a:ln>
          </p:spPr>
          <p:txBody>
            <a:bodyPr wrap="none">
              <a:spAutoFit/>
            </a:bodyPr>
            <a:lstStyle/>
            <a:p>
              <a:r>
                <a:rPr lang="zh-CN" altLang="en-US" sz="2000" dirty="0">
                  <a:latin typeface="Times New Roman" panose="02020603050405020304" pitchFamily="18" charset="0"/>
                </a:rPr>
                <a:t>假设两回路中，</a:t>
              </a:r>
              <a:endParaRPr lang="zh-CN" altLang="en-US" sz="2000" dirty="0">
                <a:latin typeface="Times New Roman" panose="02020603050405020304" pitchFamily="18" charset="0"/>
              </a:endParaRPr>
            </a:p>
          </p:txBody>
        </p:sp>
        <p:graphicFrame>
          <p:nvGraphicFramePr>
            <p:cNvPr id="30728" name="Object 11"/>
            <p:cNvGraphicFramePr/>
            <p:nvPr/>
          </p:nvGraphicFramePr>
          <p:xfrm>
            <a:off x="340" y="1558"/>
            <a:ext cx="2676" cy="221"/>
          </p:xfrm>
          <a:graphic>
            <a:graphicData uri="http://schemas.openxmlformats.org/presentationml/2006/ole">
              <mc:AlternateContent xmlns:mc="http://schemas.openxmlformats.org/markup-compatibility/2006">
                <mc:Choice xmlns:v="urn:schemas-microsoft-com:vml" Requires="v">
                  <p:oleObj spid="_x0000_s2" name="" r:id="rId1" imgW="2349500" imgH="228600" progId="Equation.DSMT4">
                    <p:embed/>
                  </p:oleObj>
                </mc:Choice>
                <mc:Fallback>
                  <p:oleObj name="" r:id="rId1" imgW="2349500" imgH="228600" progId="Equation.DSMT4">
                    <p:embed/>
                    <p:pic>
                      <p:nvPicPr>
                        <p:cNvPr id="0" name="图片 3220"/>
                        <p:cNvPicPr/>
                        <p:nvPr/>
                      </p:nvPicPr>
                      <p:blipFill>
                        <a:blip r:embed="rId2"/>
                        <a:stretch>
                          <a:fillRect/>
                        </a:stretch>
                      </p:blipFill>
                      <p:spPr>
                        <a:xfrm>
                          <a:off x="340" y="1558"/>
                          <a:ext cx="2676" cy="221"/>
                        </a:xfrm>
                        <a:prstGeom prst="rect">
                          <a:avLst/>
                        </a:prstGeom>
                        <a:noFill/>
                        <a:ln w="38100">
                          <a:noFill/>
                          <a:miter/>
                        </a:ln>
                      </p:spPr>
                    </p:pic>
                  </p:oleObj>
                </mc:Fallback>
              </mc:AlternateContent>
            </a:graphicData>
          </a:graphic>
        </p:graphicFrame>
      </p:grpSp>
      <p:grpSp>
        <p:nvGrpSpPr>
          <p:cNvPr id="4" name="Group 12"/>
          <p:cNvGrpSpPr/>
          <p:nvPr/>
        </p:nvGrpSpPr>
        <p:grpSpPr>
          <a:xfrm>
            <a:off x="539902" y="2718753"/>
            <a:ext cx="5342103" cy="1042712"/>
            <a:chOff x="457" y="3385"/>
            <a:chExt cx="3557" cy="795"/>
          </a:xfrm>
        </p:grpSpPr>
        <p:sp>
          <p:nvSpPr>
            <p:cNvPr id="30746" name="Text Box 13"/>
            <p:cNvSpPr txBox="1"/>
            <p:nvPr/>
          </p:nvSpPr>
          <p:spPr>
            <a:xfrm>
              <a:off x="457" y="3472"/>
              <a:ext cx="1465" cy="302"/>
            </a:xfrm>
            <a:prstGeom prst="rect">
              <a:avLst/>
            </a:prstGeom>
            <a:noFill/>
            <a:ln w="9525">
              <a:noFill/>
            </a:ln>
          </p:spPr>
          <p:txBody>
            <a:bodyPr wrap="none">
              <a:spAutoFit/>
            </a:bodyPr>
            <a:lstStyle/>
            <a:p>
              <a:r>
                <a:rPr lang="zh-CN" altLang="en-US" sz="2000" dirty="0">
                  <a:solidFill>
                    <a:schemeClr val="accent2"/>
                  </a:solidFill>
                  <a:latin typeface="Times New Roman" panose="02020603050405020304" pitchFamily="18" charset="0"/>
                </a:rPr>
                <a:t>定义</a:t>
              </a:r>
              <a:r>
                <a:rPr lang="en-US" altLang="zh-CN" sz="2000" dirty="0">
                  <a:latin typeface="Times New Roman" panose="02020603050405020304" pitchFamily="18" charset="0"/>
                  <a:sym typeface="Wingdings" panose="05000000000000000000" pitchFamily="2" charset="2"/>
                </a:rPr>
                <a:t>: (1) </a:t>
              </a:r>
              <a:r>
                <a:rPr lang="zh-CN" altLang="en-US" sz="2000" dirty="0">
                  <a:solidFill>
                    <a:srgbClr val="FF0066"/>
                  </a:solidFill>
                  <a:latin typeface="Times New Roman" panose="02020603050405020304" pitchFamily="18" charset="0"/>
                </a:rPr>
                <a:t>广义失谐</a:t>
              </a:r>
              <a:endParaRPr lang="zh-CN" altLang="en-US" sz="2000" dirty="0">
                <a:solidFill>
                  <a:srgbClr val="FF0066"/>
                </a:solidFill>
                <a:latin typeface="Times New Roman" panose="02020603050405020304" pitchFamily="18" charset="0"/>
              </a:endParaRPr>
            </a:p>
          </p:txBody>
        </p:sp>
        <p:graphicFrame>
          <p:nvGraphicFramePr>
            <p:cNvPr id="30726" name="Object 14"/>
            <p:cNvGraphicFramePr/>
            <p:nvPr/>
          </p:nvGraphicFramePr>
          <p:xfrm>
            <a:off x="2109" y="3385"/>
            <a:ext cx="1905" cy="469"/>
          </p:xfrm>
          <a:graphic>
            <a:graphicData uri="http://schemas.openxmlformats.org/presentationml/2006/ole">
              <mc:AlternateContent xmlns:mc="http://schemas.openxmlformats.org/markup-compatibility/2006">
                <mc:Choice xmlns:v="urn:schemas-microsoft-com:vml" Requires="v">
                  <p:oleObj spid="_x0000_s5" name="" r:id="rId3" imgW="1751965" imgH="431800" progId="Equation.DSMT4">
                    <p:embed/>
                  </p:oleObj>
                </mc:Choice>
                <mc:Fallback>
                  <p:oleObj name="" r:id="rId3" imgW="1751965" imgH="431800" progId="Equation.DSMT4">
                    <p:embed/>
                    <p:pic>
                      <p:nvPicPr>
                        <p:cNvPr id="0" name="图片 3232"/>
                        <p:cNvPicPr/>
                        <p:nvPr/>
                      </p:nvPicPr>
                      <p:blipFill>
                        <a:blip r:embed="rId4"/>
                        <a:stretch>
                          <a:fillRect/>
                        </a:stretch>
                      </p:blipFill>
                      <p:spPr>
                        <a:xfrm>
                          <a:off x="2109" y="3385"/>
                          <a:ext cx="1905" cy="469"/>
                        </a:xfrm>
                        <a:prstGeom prst="rect">
                          <a:avLst/>
                        </a:prstGeom>
                        <a:noFill/>
                        <a:ln w="38100">
                          <a:noFill/>
                          <a:miter/>
                        </a:ln>
                      </p:spPr>
                    </p:pic>
                  </p:oleObj>
                </mc:Fallback>
              </mc:AlternateContent>
            </a:graphicData>
          </a:graphic>
        </p:graphicFrame>
        <p:sp>
          <p:nvSpPr>
            <p:cNvPr id="30747" name="Text Box 15"/>
            <p:cNvSpPr txBox="1"/>
            <p:nvPr/>
          </p:nvSpPr>
          <p:spPr>
            <a:xfrm>
              <a:off x="884" y="3876"/>
              <a:ext cx="1041" cy="304"/>
            </a:xfrm>
            <a:prstGeom prst="rect">
              <a:avLst/>
            </a:prstGeom>
            <a:noFill/>
            <a:ln w="9525">
              <a:noFill/>
            </a:ln>
          </p:spPr>
          <p:txBody>
            <a:bodyPr wrap="none">
              <a:spAutoFit/>
            </a:bodyPr>
            <a:lstStyle/>
            <a:p>
              <a:r>
                <a:rPr lang="en-US" altLang="zh-CN" sz="2000" dirty="0">
                  <a:latin typeface="Times New Roman" panose="02020603050405020304" pitchFamily="18" charset="0"/>
                </a:rPr>
                <a:t>(2) </a:t>
              </a:r>
              <a:r>
                <a:rPr lang="zh-CN" altLang="en-US" sz="2000" b="1" dirty="0">
                  <a:solidFill>
                    <a:srgbClr val="FF0066"/>
                  </a:solidFill>
                  <a:latin typeface="Times New Roman" panose="02020603050405020304" pitchFamily="18" charset="0"/>
                </a:rPr>
                <a:t>耦合因子</a:t>
              </a:r>
              <a:endParaRPr lang="zh-CN" altLang="en-US" sz="2000" b="1" dirty="0">
                <a:solidFill>
                  <a:srgbClr val="FF0066"/>
                </a:solidFill>
                <a:latin typeface="Times New Roman" panose="02020603050405020304" pitchFamily="18" charset="0"/>
              </a:endParaRPr>
            </a:p>
          </p:txBody>
        </p:sp>
        <p:graphicFrame>
          <p:nvGraphicFramePr>
            <p:cNvPr id="30727" name="Object 16"/>
            <p:cNvGraphicFramePr/>
            <p:nvPr/>
          </p:nvGraphicFramePr>
          <p:xfrm>
            <a:off x="2335" y="3884"/>
            <a:ext cx="681" cy="286"/>
          </p:xfrm>
          <a:graphic>
            <a:graphicData uri="http://schemas.openxmlformats.org/presentationml/2006/ole">
              <mc:AlternateContent xmlns:mc="http://schemas.openxmlformats.org/markup-compatibility/2006">
                <mc:Choice xmlns:v="urn:schemas-microsoft-com:vml" Requires="v">
                  <p:oleObj spid="_x0000_s6" name="" r:id="rId5" imgW="482600" imgH="203200" progId="Equation.DSMT4">
                    <p:embed/>
                  </p:oleObj>
                </mc:Choice>
                <mc:Fallback>
                  <p:oleObj name="" r:id="rId5" imgW="482600" imgH="203200" progId="Equation.DSMT4">
                    <p:embed/>
                    <p:pic>
                      <p:nvPicPr>
                        <p:cNvPr id="0" name="图片 3234"/>
                        <p:cNvPicPr/>
                        <p:nvPr/>
                      </p:nvPicPr>
                      <p:blipFill>
                        <a:blip r:embed="rId6"/>
                        <a:stretch>
                          <a:fillRect/>
                        </a:stretch>
                      </p:blipFill>
                      <p:spPr>
                        <a:xfrm>
                          <a:off x="2335" y="3884"/>
                          <a:ext cx="681" cy="286"/>
                        </a:xfrm>
                        <a:prstGeom prst="rect">
                          <a:avLst/>
                        </a:prstGeom>
                        <a:noFill/>
                        <a:ln w="38100">
                          <a:noFill/>
                          <a:miter/>
                        </a:ln>
                      </p:spPr>
                    </p:pic>
                  </p:oleObj>
                </mc:Fallback>
              </mc:AlternateContent>
            </a:graphicData>
          </a:graphic>
        </p:graphicFrame>
      </p:grpSp>
      <p:grpSp>
        <p:nvGrpSpPr>
          <p:cNvPr id="30734" name="Group 32"/>
          <p:cNvGrpSpPr/>
          <p:nvPr/>
        </p:nvGrpSpPr>
        <p:grpSpPr>
          <a:xfrm>
            <a:off x="5148263" y="1268413"/>
            <a:ext cx="3816350" cy="2105025"/>
            <a:chOff x="2880" y="845"/>
            <a:chExt cx="2404" cy="1326"/>
          </a:xfrm>
        </p:grpSpPr>
        <p:graphicFrame>
          <p:nvGraphicFramePr>
            <p:cNvPr id="30725" name="Object 18"/>
            <p:cNvGraphicFramePr/>
            <p:nvPr/>
          </p:nvGraphicFramePr>
          <p:xfrm>
            <a:off x="2880" y="845"/>
            <a:ext cx="2404" cy="1105"/>
          </p:xfrm>
          <a:graphic>
            <a:graphicData uri="http://schemas.openxmlformats.org/presentationml/2006/ole">
              <mc:AlternateContent xmlns:mc="http://schemas.openxmlformats.org/markup-compatibility/2006">
                <mc:Choice xmlns:v="urn:schemas-microsoft-com:vml" Requires="v">
                  <p:oleObj spid="_x0000_s7" name="" r:id="rId7" imgW="2321560" imgH="1075690" progId="Visio.Drawing.6">
                    <p:embed/>
                  </p:oleObj>
                </mc:Choice>
                <mc:Fallback>
                  <p:oleObj name="" r:id="rId7" imgW="2321560" imgH="1075690" progId="Visio.Drawing.6">
                    <p:embed/>
                    <p:pic>
                      <p:nvPicPr>
                        <p:cNvPr id="0" name="图片 3221"/>
                        <p:cNvPicPr/>
                        <p:nvPr/>
                      </p:nvPicPr>
                      <p:blipFill>
                        <a:blip r:embed="rId8"/>
                        <a:stretch>
                          <a:fillRect/>
                        </a:stretch>
                      </p:blipFill>
                      <p:spPr>
                        <a:xfrm>
                          <a:off x="2880" y="845"/>
                          <a:ext cx="2404" cy="1105"/>
                        </a:xfrm>
                        <a:prstGeom prst="rect">
                          <a:avLst/>
                        </a:prstGeom>
                        <a:noFill/>
                        <a:ln w="38100">
                          <a:noFill/>
                          <a:miter/>
                        </a:ln>
                      </p:spPr>
                    </p:pic>
                  </p:oleObj>
                </mc:Fallback>
              </mc:AlternateContent>
            </a:graphicData>
          </a:graphic>
        </p:graphicFrame>
        <p:sp>
          <p:nvSpPr>
            <p:cNvPr id="30745" name="Text Box 19"/>
            <p:cNvSpPr txBox="1"/>
            <p:nvPr/>
          </p:nvSpPr>
          <p:spPr>
            <a:xfrm>
              <a:off x="3923" y="1921"/>
              <a:ext cx="756" cy="250"/>
            </a:xfrm>
            <a:prstGeom prst="rect">
              <a:avLst/>
            </a:prstGeom>
            <a:noFill/>
            <a:ln w="9525">
              <a:noFill/>
            </a:ln>
          </p:spPr>
          <p:txBody>
            <a:bodyPr wrap="none">
              <a:spAutoFit/>
            </a:bodyPr>
            <a:lstStyle/>
            <a:p>
              <a:r>
                <a:rPr lang="zh-CN" altLang="en-US" sz="2000" dirty="0">
                  <a:latin typeface="Times New Roman" panose="02020603050405020304" pitchFamily="18" charset="0"/>
                </a:rPr>
                <a:t>等效回路</a:t>
              </a:r>
              <a:endParaRPr lang="zh-CN" altLang="en-US" sz="2000" dirty="0">
                <a:latin typeface="Times New Roman" panose="02020603050405020304" pitchFamily="18" charset="0"/>
              </a:endParaRPr>
            </a:p>
          </p:txBody>
        </p:sp>
      </p:grpSp>
      <p:grpSp>
        <p:nvGrpSpPr>
          <p:cNvPr id="8" name="Group 36"/>
          <p:cNvGrpSpPr/>
          <p:nvPr/>
        </p:nvGrpSpPr>
        <p:grpSpPr>
          <a:xfrm>
            <a:off x="466725" y="3836671"/>
            <a:ext cx="5740400" cy="798512"/>
            <a:chOff x="294" y="2506"/>
            <a:chExt cx="3616" cy="503"/>
          </a:xfrm>
        </p:grpSpPr>
        <p:grpSp>
          <p:nvGrpSpPr>
            <p:cNvPr id="30742" name="Group 35"/>
            <p:cNvGrpSpPr/>
            <p:nvPr/>
          </p:nvGrpSpPr>
          <p:grpSpPr>
            <a:xfrm>
              <a:off x="294" y="2506"/>
              <a:ext cx="3180" cy="503"/>
              <a:chOff x="294" y="2506"/>
              <a:chExt cx="3180" cy="503"/>
            </a:xfrm>
          </p:grpSpPr>
          <p:sp>
            <p:nvSpPr>
              <p:cNvPr id="30744" name="Text Box 21"/>
              <p:cNvSpPr txBox="1"/>
              <p:nvPr/>
            </p:nvSpPr>
            <p:spPr>
              <a:xfrm>
                <a:off x="294" y="2633"/>
                <a:ext cx="2540" cy="250"/>
              </a:xfrm>
              <a:prstGeom prst="rect">
                <a:avLst/>
              </a:prstGeom>
              <a:noFill/>
              <a:ln w="9525">
                <a:noFill/>
              </a:ln>
            </p:spPr>
            <p:txBody>
              <a:bodyPr>
                <a:spAutoFit/>
              </a:bodyPr>
              <a:lstStyle/>
              <a:p>
                <a:pPr>
                  <a:spcBef>
                    <a:spcPct val="50000"/>
                  </a:spcBef>
                </a:pPr>
                <a:r>
                  <a:rPr lang="en-US" altLang="zh-CN" sz="2000" dirty="0">
                    <a:latin typeface="Times New Roman" panose="02020603050405020304" pitchFamily="18" charset="0"/>
                  </a:rPr>
                  <a:t> </a:t>
                </a:r>
                <a:r>
                  <a:rPr lang="zh-CN" altLang="en-US" sz="2000" dirty="0">
                    <a:latin typeface="Times New Roman" panose="02020603050405020304" pitchFamily="18" charset="0"/>
                  </a:rPr>
                  <a:t>初次级串联阻抗可分别表示为 </a:t>
                </a:r>
                <a:endParaRPr lang="zh-CN" altLang="en-US" sz="2000" dirty="0">
                  <a:latin typeface="Times New Roman" panose="02020603050405020304" pitchFamily="18" charset="0"/>
                </a:endParaRPr>
              </a:p>
            </p:txBody>
          </p:sp>
          <p:graphicFrame>
            <p:nvGraphicFramePr>
              <p:cNvPr id="30724" name="Object 22"/>
              <p:cNvGraphicFramePr/>
              <p:nvPr/>
            </p:nvGraphicFramePr>
            <p:xfrm>
              <a:off x="2517" y="2506"/>
              <a:ext cx="957" cy="503"/>
            </p:xfrm>
            <a:graphic>
              <a:graphicData uri="http://schemas.openxmlformats.org/presentationml/2006/ole">
                <mc:AlternateContent xmlns:mc="http://schemas.openxmlformats.org/markup-compatibility/2006">
                  <mc:Choice xmlns:v="urn:schemas-microsoft-com:vml" Requires="v">
                    <p:oleObj spid="_x0000_s9" name="" r:id="rId9" imgW="914400" imgH="457200" progId="Equation.DSMT4">
                      <p:embed/>
                    </p:oleObj>
                  </mc:Choice>
                  <mc:Fallback>
                    <p:oleObj name="" r:id="rId9" imgW="914400" imgH="457200" progId="Equation.DSMT4">
                      <p:embed/>
                      <p:pic>
                        <p:nvPicPr>
                          <p:cNvPr id="0" name="图片 3222"/>
                          <p:cNvPicPr/>
                          <p:nvPr/>
                        </p:nvPicPr>
                        <p:blipFill>
                          <a:blip r:embed="rId10"/>
                          <a:stretch>
                            <a:fillRect/>
                          </a:stretch>
                        </p:blipFill>
                        <p:spPr>
                          <a:xfrm>
                            <a:off x="2517" y="2506"/>
                            <a:ext cx="957" cy="503"/>
                          </a:xfrm>
                          <a:prstGeom prst="rect">
                            <a:avLst/>
                          </a:prstGeom>
                          <a:noFill/>
                          <a:ln w="38100">
                            <a:noFill/>
                            <a:miter/>
                          </a:ln>
                        </p:spPr>
                      </p:pic>
                    </p:oleObj>
                  </mc:Fallback>
                </mc:AlternateContent>
              </a:graphicData>
            </a:graphic>
          </p:graphicFrame>
        </p:grpSp>
        <p:sp>
          <p:nvSpPr>
            <p:cNvPr id="30743" name="Text Box 23"/>
            <p:cNvSpPr txBox="1"/>
            <p:nvPr/>
          </p:nvSpPr>
          <p:spPr>
            <a:xfrm>
              <a:off x="3469" y="2633"/>
              <a:ext cx="441" cy="290"/>
            </a:xfrm>
            <a:prstGeom prst="rect">
              <a:avLst/>
            </a:prstGeom>
            <a:noFill/>
            <a:ln w="9525">
              <a:noFill/>
            </a:ln>
          </p:spPr>
          <p:txBody>
            <a:bodyPr wrap="square">
              <a:spAutoFit/>
            </a:bodyPr>
            <a:lstStyle/>
            <a:p>
              <a:r>
                <a:rPr lang="zh-CN" altLang="en-US" dirty="0">
                  <a:latin typeface="Times New Roman" panose="02020603050405020304" pitchFamily="18" charset="0"/>
                </a:rPr>
                <a:t>（</a:t>
              </a:r>
              <a:r>
                <a:rPr lang="en-US" altLang="zh-CN" dirty="0">
                  <a:latin typeface="Times New Roman" panose="02020603050405020304" pitchFamily="18" charset="0"/>
                </a:rPr>
                <a:t>1</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grpSp>
        <p:nvGrpSpPr>
          <p:cNvPr id="10" name="Group 24"/>
          <p:cNvGrpSpPr/>
          <p:nvPr/>
        </p:nvGrpSpPr>
        <p:grpSpPr>
          <a:xfrm>
            <a:off x="539750" y="4713288"/>
            <a:ext cx="4833938" cy="487363"/>
            <a:chOff x="2109" y="1162"/>
            <a:chExt cx="3045" cy="307"/>
          </a:xfrm>
        </p:grpSpPr>
        <p:graphicFrame>
          <p:nvGraphicFramePr>
            <p:cNvPr id="30723" name="Object 25"/>
            <p:cNvGraphicFramePr/>
            <p:nvPr/>
          </p:nvGraphicFramePr>
          <p:xfrm>
            <a:off x="3102" y="1215"/>
            <a:ext cx="878" cy="254"/>
          </p:xfrm>
          <a:graphic>
            <a:graphicData uri="http://schemas.openxmlformats.org/presentationml/2006/ole">
              <mc:AlternateContent xmlns:mc="http://schemas.openxmlformats.org/markup-compatibility/2006">
                <mc:Choice xmlns:v="urn:schemas-microsoft-com:vml" Requires="v">
                  <p:oleObj spid="_x0000_s11" name="" r:id="rId11" imgW="711200" imgH="228600" progId="Equation.DSMT4">
                    <p:embed/>
                  </p:oleObj>
                </mc:Choice>
                <mc:Fallback>
                  <p:oleObj name="" r:id="rId11" imgW="711200" imgH="228600" progId="Equation.DSMT4">
                    <p:embed/>
                    <p:pic>
                      <p:nvPicPr>
                        <p:cNvPr id="0" name="图片 3223"/>
                        <p:cNvPicPr/>
                        <p:nvPr/>
                      </p:nvPicPr>
                      <p:blipFill>
                        <a:blip r:embed="rId12"/>
                        <a:stretch>
                          <a:fillRect/>
                        </a:stretch>
                      </p:blipFill>
                      <p:spPr>
                        <a:xfrm>
                          <a:off x="3102" y="1215"/>
                          <a:ext cx="878" cy="254"/>
                        </a:xfrm>
                        <a:prstGeom prst="rect">
                          <a:avLst/>
                        </a:prstGeom>
                        <a:noFill/>
                        <a:ln w="38100">
                          <a:noFill/>
                          <a:miter/>
                        </a:ln>
                      </p:spPr>
                    </p:pic>
                  </p:oleObj>
                </mc:Fallback>
              </mc:AlternateContent>
            </a:graphicData>
          </a:graphic>
        </p:graphicFrame>
        <p:sp>
          <p:nvSpPr>
            <p:cNvPr id="30740" name="Text Box 26"/>
            <p:cNvSpPr txBox="1"/>
            <p:nvPr/>
          </p:nvSpPr>
          <p:spPr>
            <a:xfrm>
              <a:off x="2109" y="1162"/>
              <a:ext cx="1108" cy="288"/>
            </a:xfrm>
            <a:prstGeom prst="rect">
              <a:avLst/>
            </a:prstGeom>
            <a:noFill/>
            <a:ln w="9525">
              <a:noFill/>
            </a:ln>
          </p:spPr>
          <p:txBody>
            <a:bodyPr wrap="none">
              <a:spAutoFit/>
            </a:bodyPr>
            <a:lstStyle/>
            <a:p>
              <a:r>
                <a:rPr lang="zh-CN" altLang="en-US" sz="2000" dirty="0">
                  <a:latin typeface="Times New Roman" panose="02020603050405020304" pitchFamily="18" charset="0"/>
                </a:rPr>
                <a:t>耦合阻抗为</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30741" name="Text Box 27"/>
            <p:cNvSpPr txBox="1"/>
            <p:nvPr/>
          </p:nvSpPr>
          <p:spPr>
            <a:xfrm>
              <a:off x="4558" y="1162"/>
              <a:ext cx="596" cy="288"/>
            </a:xfrm>
            <a:prstGeom prst="rect">
              <a:avLst/>
            </a:prstGeom>
            <a:noFill/>
            <a:ln w="9525">
              <a:noFill/>
            </a:ln>
          </p:spPr>
          <p:txBody>
            <a:bodyPr wrap="none">
              <a:spAutoFit/>
            </a:bodyPr>
            <a:lstStyle/>
            <a:p>
              <a:r>
                <a:rPr lang="zh-CN" altLang="en-US" dirty="0">
                  <a:latin typeface="Times New Roman" panose="02020603050405020304" pitchFamily="18" charset="0"/>
                </a:rPr>
                <a:t>（</a:t>
              </a:r>
              <a:r>
                <a:rPr lang="en-US" altLang="zh-CN" dirty="0">
                  <a:latin typeface="Times New Roman" panose="02020603050405020304" pitchFamily="18" charset="0"/>
                </a:rPr>
                <a:t>2</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grpSp>
        <p:nvGrpSpPr>
          <p:cNvPr id="12" name="Group 28"/>
          <p:cNvGrpSpPr/>
          <p:nvPr/>
        </p:nvGrpSpPr>
        <p:grpSpPr>
          <a:xfrm>
            <a:off x="539751" y="5085398"/>
            <a:ext cx="6499225" cy="1076325"/>
            <a:chOff x="690" y="1461"/>
            <a:chExt cx="4094" cy="678"/>
          </a:xfrm>
        </p:grpSpPr>
        <p:sp>
          <p:nvSpPr>
            <p:cNvPr id="30738" name="Text Box 29"/>
            <p:cNvSpPr txBox="1"/>
            <p:nvPr/>
          </p:nvSpPr>
          <p:spPr>
            <a:xfrm>
              <a:off x="690" y="1720"/>
              <a:ext cx="948" cy="288"/>
            </a:xfrm>
            <a:prstGeom prst="rect">
              <a:avLst/>
            </a:prstGeom>
            <a:noFill/>
            <a:ln w="9525">
              <a:noFill/>
            </a:ln>
          </p:spPr>
          <p:txBody>
            <a:bodyPr wrap="none">
              <a:spAutoFit/>
            </a:bodyPr>
            <a:lstStyle/>
            <a:p>
              <a:r>
                <a:rPr lang="zh-CN" altLang="en-US" sz="2000" dirty="0">
                  <a:latin typeface="Times New Roman" panose="02020603050405020304" pitchFamily="18" charset="0"/>
                </a:rPr>
                <a:t>转移阻抗</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aphicFrame>
          <p:nvGraphicFramePr>
            <p:cNvPr id="30722" name="Object 30"/>
            <p:cNvGraphicFramePr/>
            <p:nvPr/>
          </p:nvGraphicFramePr>
          <p:xfrm>
            <a:off x="1506" y="1461"/>
            <a:ext cx="2487" cy="678"/>
          </p:xfrm>
          <a:graphic>
            <a:graphicData uri="http://schemas.openxmlformats.org/presentationml/2006/ole">
              <mc:AlternateContent xmlns:mc="http://schemas.openxmlformats.org/markup-compatibility/2006">
                <mc:Choice xmlns:v="urn:schemas-microsoft-com:vml" Requires="v">
                  <p:oleObj spid="_x0000_s13" name="" r:id="rId13" imgW="2222500" imgH="647700" progId="Equation.DSMT4">
                    <p:embed/>
                  </p:oleObj>
                </mc:Choice>
                <mc:Fallback>
                  <p:oleObj name="" r:id="rId13" imgW="2222500" imgH="647700" progId="Equation.DSMT4">
                    <p:embed/>
                    <p:pic>
                      <p:nvPicPr>
                        <p:cNvPr id="0" name="图片 3258"/>
                        <p:cNvPicPr/>
                        <p:nvPr/>
                      </p:nvPicPr>
                      <p:blipFill>
                        <a:blip r:embed="rId14"/>
                        <a:stretch>
                          <a:fillRect/>
                        </a:stretch>
                      </p:blipFill>
                      <p:spPr>
                        <a:xfrm>
                          <a:off x="1506" y="1461"/>
                          <a:ext cx="2487" cy="678"/>
                        </a:xfrm>
                        <a:prstGeom prst="rect">
                          <a:avLst/>
                        </a:prstGeom>
                        <a:noFill/>
                        <a:ln w="38100">
                          <a:noFill/>
                          <a:miter/>
                        </a:ln>
                      </p:spPr>
                    </p:pic>
                  </p:oleObj>
                </mc:Fallback>
              </mc:AlternateContent>
            </a:graphicData>
          </a:graphic>
        </p:graphicFrame>
        <p:sp>
          <p:nvSpPr>
            <p:cNvPr id="30739" name="Text Box 31"/>
            <p:cNvSpPr txBox="1"/>
            <p:nvPr/>
          </p:nvSpPr>
          <p:spPr>
            <a:xfrm>
              <a:off x="4188" y="1824"/>
              <a:ext cx="596" cy="288"/>
            </a:xfrm>
            <a:prstGeom prst="rect">
              <a:avLst/>
            </a:prstGeom>
            <a:noFill/>
            <a:ln w="9525">
              <a:noFill/>
            </a:ln>
          </p:spPr>
          <p:txBody>
            <a:bodyPr wrap="none">
              <a:spAutoFit/>
            </a:bodyPr>
            <a:lstStyle/>
            <a:p>
              <a:r>
                <a:rPr lang="zh-CN" altLang="en-US" dirty="0">
                  <a:latin typeface="Times New Roman" panose="02020603050405020304" pitchFamily="18" charset="0"/>
                </a:rPr>
                <a:t>（</a:t>
              </a:r>
              <a:r>
                <a:rPr lang="en-US" altLang="zh-CN" dirty="0">
                  <a:latin typeface="Times New Roman" panose="02020603050405020304" pitchFamily="18" charset="0"/>
                </a:rPr>
                <a:t>3</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sp>
        <p:nvSpPr>
          <p:cNvPr id="22536" name="Text Box 8"/>
          <p:cNvSpPr txBox="1"/>
          <p:nvPr/>
        </p:nvSpPr>
        <p:spPr>
          <a:xfrm>
            <a:off x="144463" y="908050"/>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sp>
        <p:nvSpPr>
          <p:cNvPr id="78852" name="Text Box 8"/>
          <p:cNvSpPr txBox="1"/>
          <p:nvPr/>
        </p:nvSpPr>
        <p:spPr>
          <a:xfrm>
            <a:off x="484823" y="1324610"/>
            <a:ext cx="3078480" cy="460375"/>
          </a:xfrm>
          <a:prstGeom prst="rect">
            <a:avLst/>
          </a:prstGeom>
          <a:noFill/>
          <a:ln w="9525">
            <a:noFill/>
          </a:ln>
        </p:spPr>
        <p:txBody>
          <a:bodyPr wrap="none">
            <a:spAutoFit/>
          </a:bodyPr>
          <a:lstStyle/>
          <a:p>
            <a:r>
              <a:rPr lang="zh-CN" altLang="en-US" sz="2400" dirty="0">
                <a:solidFill>
                  <a:schemeClr val="accent2"/>
                </a:solidFill>
                <a:latin typeface="Times New Roman" panose="02020603050405020304" pitchFamily="18" charset="0"/>
              </a:rPr>
              <a:t>（</a:t>
            </a:r>
            <a:r>
              <a:rPr lang="en-US" altLang="zh-CN" sz="2400" dirty="0">
                <a:solidFill>
                  <a:schemeClr val="accent2"/>
                </a:solidFill>
                <a:latin typeface="Times New Roman" panose="02020603050405020304" pitchFamily="18" charset="0"/>
              </a:rPr>
              <a:t>4</a:t>
            </a:r>
            <a:r>
              <a:rPr lang="zh-CN" altLang="en-US" sz="2400" dirty="0">
                <a:solidFill>
                  <a:schemeClr val="accent2"/>
                </a:solidFill>
                <a:latin typeface="Times New Roman" panose="02020603050405020304" pitchFamily="18" charset="0"/>
              </a:rPr>
              <a:t>）耦合谐振回路</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nvGrpSpPr>
          <p:cNvPr id="11272" name="Group 40"/>
          <p:cNvGrpSpPr/>
          <p:nvPr/>
        </p:nvGrpSpPr>
        <p:grpSpPr>
          <a:xfrm>
            <a:off x="1979613" y="388938"/>
            <a:ext cx="5334000" cy="519113"/>
            <a:chOff x="1287" y="432"/>
            <a:chExt cx="3360" cy="327"/>
          </a:xfrm>
        </p:grpSpPr>
        <p:sp>
          <p:nvSpPr>
            <p:cNvPr id="11280" name="Rectangle 41"/>
            <p:cNvSpPr/>
            <p:nvPr/>
          </p:nvSpPr>
          <p:spPr>
            <a:xfrm>
              <a:off x="1287" y="43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11281" name="Line 42"/>
            <p:cNvSpPr/>
            <p:nvPr/>
          </p:nvSpPr>
          <p:spPr>
            <a:xfrm>
              <a:off x="1469" y="749"/>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746" name="Object 6"/>
          <p:cNvGraphicFramePr>
            <a:graphicFrameLocks noGrp="1"/>
          </p:cNvGraphicFramePr>
          <p:nvPr>
            <p:ph sz="quarter" idx="1"/>
          </p:nvPr>
        </p:nvGraphicFramePr>
        <p:xfrm>
          <a:off x="4572000" y="1052513"/>
          <a:ext cx="3708400" cy="1944687"/>
        </p:xfrm>
        <a:graphic>
          <a:graphicData uri="http://schemas.openxmlformats.org/presentationml/2006/ole">
            <mc:AlternateContent xmlns:mc="http://schemas.openxmlformats.org/markup-compatibility/2006">
              <mc:Choice xmlns:v="urn:schemas-microsoft-com:vml" Requires="v">
                <p:oleObj spid="_x0000_s2" name="" r:id="rId1" imgW="2321560" imgH="1075690" progId="Visio.Drawing.6">
                  <p:embed/>
                </p:oleObj>
              </mc:Choice>
              <mc:Fallback>
                <p:oleObj name="" r:id="rId1" imgW="2321560" imgH="1075690" progId="Visio.Drawing.6">
                  <p:embed/>
                  <p:pic>
                    <p:nvPicPr>
                      <p:cNvPr id="0" name="图片 3259"/>
                      <p:cNvPicPr/>
                      <p:nvPr/>
                    </p:nvPicPr>
                    <p:blipFill>
                      <a:blip r:embed="rId2"/>
                      <a:stretch>
                        <a:fillRect/>
                      </a:stretch>
                    </p:blipFill>
                    <p:spPr>
                      <a:xfrm>
                        <a:off x="4572000" y="1052513"/>
                        <a:ext cx="3708400" cy="1944687"/>
                      </a:xfrm>
                      <a:prstGeom prst="rect">
                        <a:avLst/>
                      </a:prstGeom>
                      <a:noFill/>
                      <a:ln w="38100">
                        <a:noFill/>
                        <a:miter/>
                      </a:ln>
                    </p:spPr>
                  </p:pic>
                </p:oleObj>
              </mc:Fallback>
            </mc:AlternateContent>
          </a:graphicData>
        </a:graphic>
      </p:graphicFrame>
      <p:grpSp>
        <p:nvGrpSpPr>
          <p:cNvPr id="3" name="Group 36"/>
          <p:cNvGrpSpPr/>
          <p:nvPr/>
        </p:nvGrpSpPr>
        <p:grpSpPr>
          <a:xfrm>
            <a:off x="755650" y="2770188"/>
            <a:ext cx="4557713" cy="457200"/>
            <a:chOff x="826" y="2334"/>
            <a:chExt cx="2871" cy="288"/>
          </a:xfrm>
        </p:grpSpPr>
        <p:sp>
          <p:nvSpPr>
            <p:cNvPr id="31765" name="Text Box 21"/>
            <p:cNvSpPr txBox="1"/>
            <p:nvPr/>
          </p:nvSpPr>
          <p:spPr>
            <a:xfrm>
              <a:off x="826" y="2341"/>
              <a:ext cx="275" cy="251"/>
            </a:xfrm>
            <a:prstGeom prst="rect">
              <a:avLst/>
            </a:prstGeom>
            <a:noFill/>
            <a:ln w="9525">
              <a:noFill/>
            </a:ln>
          </p:spPr>
          <p:txBody>
            <a:bodyPr wrap="none">
              <a:spAutoFit/>
            </a:bodyPr>
            <a:lstStyle/>
            <a:p>
              <a:r>
                <a:rPr lang="zh-CN" altLang="en-US" sz="2000" dirty="0">
                  <a:latin typeface="Times New Roman" panose="02020603050405020304" pitchFamily="18" charset="0"/>
                </a:rPr>
                <a:t>而</a:t>
              </a:r>
              <a:endParaRPr lang="zh-CN" altLang="en-US" sz="2000" dirty="0">
                <a:latin typeface="Times New Roman" panose="02020603050405020304" pitchFamily="18" charset="0"/>
              </a:endParaRPr>
            </a:p>
          </p:txBody>
        </p:sp>
        <p:graphicFrame>
          <p:nvGraphicFramePr>
            <p:cNvPr id="31750" name="Object 22"/>
            <p:cNvGraphicFramePr/>
            <p:nvPr/>
          </p:nvGraphicFramePr>
          <p:xfrm>
            <a:off x="1053" y="2334"/>
            <a:ext cx="2081" cy="281"/>
          </p:xfrm>
          <a:graphic>
            <a:graphicData uri="http://schemas.openxmlformats.org/presentationml/2006/ole">
              <mc:AlternateContent xmlns:mc="http://schemas.openxmlformats.org/markup-compatibility/2006">
                <mc:Choice xmlns:v="urn:schemas-microsoft-com:vml" Requires="v">
                  <p:oleObj spid="_x0000_s4" name="" r:id="rId3" imgW="1650365" imgH="241300" progId="Equation.DSMT4">
                    <p:embed/>
                  </p:oleObj>
                </mc:Choice>
                <mc:Fallback>
                  <p:oleObj name="" r:id="rId3" imgW="1650365" imgH="241300" progId="Equation.DSMT4">
                    <p:embed/>
                    <p:pic>
                      <p:nvPicPr>
                        <p:cNvPr id="0" name="图片 3260"/>
                        <p:cNvPicPr/>
                        <p:nvPr/>
                      </p:nvPicPr>
                      <p:blipFill>
                        <a:blip r:embed="rId4"/>
                        <a:stretch>
                          <a:fillRect/>
                        </a:stretch>
                      </p:blipFill>
                      <p:spPr>
                        <a:xfrm>
                          <a:off x="1053" y="2334"/>
                          <a:ext cx="2081" cy="281"/>
                        </a:xfrm>
                        <a:prstGeom prst="rect">
                          <a:avLst/>
                        </a:prstGeom>
                        <a:noFill/>
                        <a:ln w="38100">
                          <a:noFill/>
                          <a:miter/>
                        </a:ln>
                      </p:spPr>
                    </p:pic>
                  </p:oleObj>
                </mc:Fallback>
              </mc:AlternateContent>
            </a:graphicData>
          </a:graphic>
        </p:graphicFrame>
        <p:sp>
          <p:nvSpPr>
            <p:cNvPr id="31766" name="Text Box 28"/>
            <p:cNvSpPr txBox="1"/>
            <p:nvPr/>
          </p:nvSpPr>
          <p:spPr>
            <a:xfrm>
              <a:off x="3101" y="2334"/>
              <a:ext cx="596" cy="288"/>
            </a:xfrm>
            <a:prstGeom prst="rect">
              <a:avLst/>
            </a:prstGeom>
            <a:noFill/>
            <a:ln w="9525">
              <a:noFill/>
            </a:ln>
          </p:spPr>
          <p:txBody>
            <a:bodyPr wrap="none">
              <a:spAutoFit/>
            </a:bodyPr>
            <a:lstStyle/>
            <a:p>
              <a:r>
                <a:rPr lang="zh-CN" altLang="en-US" dirty="0">
                  <a:latin typeface="Times New Roman" panose="02020603050405020304" pitchFamily="18" charset="0"/>
                </a:rPr>
                <a:t>（</a:t>
              </a:r>
              <a:r>
                <a:rPr lang="en-US" altLang="zh-CN" dirty="0">
                  <a:latin typeface="Times New Roman" panose="02020603050405020304" pitchFamily="18" charset="0"/>
                </a:rPr>
                <a:t>4</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grpSp>
        <p:nvGrpSpPr>
          <p:cNvPr id="5" name="Group 62"/>
          <p:cNvGrpSpPr/>
          <p:nvPr/>
        </p:nvGrpSpPr>
        <p:grpSpPr>
          <a:xfrm>
            <a:off x="714375" y="3298508"/>
            <a:ext cx="7715250" cy="803275"/>
            <a:chOff x="340" y="2205"/>
            <a:chExt cx="4860" cy="506"/>
          </a:xfrm>
        </p:grpSpPr>
        <p:sp>
          <p:nvSpPr>
            <p:cNvPr id="31762" name="Text Box 23"/>
            <p:cNvSpPr txBox="1"/>
            <p:nvPr/>
          </p:nvSpPr>
          <p:spPr>
            <a:xfrm>
              <a:off x="340" y="2296"/>
              <a:ext cx="2228" cy="288"/>
            </a:xfrm>
            <a:prstGeom prst="rect">
              <a:avLst/>
            </a:prstGeom>
            <a:noFill/>
            <a:ln w="9525">
              <a:noFill/>
            </a:ln>
          </p:spPr>
          <p:txBody>
            <a:bodyPr wrap="none">
              <a:spAutoFit/>
            </a:bodyPr>
            <a:lstStyle/>
            <a:p>
              <a:r>
                <a:rPr lang="zh-CN" altLang="en-US" sz="2000" dirty="0">
                  <a:latin typeface="Times New Roman" panose="02020603050405020304" pitchFamily="18" charset="0"/>
                </a:rPr>
                <a:t>考虑次级的反映阻抗时，有</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nvGrpSpPr>
            <p:cNvPr id="31763" name="Group 61"/>
            <p:cNvGrpSpPr/>
            <p:nvPr/>
          </p:nvGrpSpPr>
          <p:grpSpPr>
            <a:xfrm>
              <a:off x="2562" y="2205"/>
              <a:ext cx="2638" cy="506"/>
              <a:chOff x="2562" y="2205"/>
              <a:chExt cx="2638" cy="506"/>
            </a:xfrm>
          </p:grpSpPr>
          <p:graphicFrame>
            <p:nvGraphicFramePr>
              <p:cNvPr id="31749" name="Object 24"/>
              <p:cNvGraphicFramePr/>
              <p:nvPr/>
            </p:nvGraphicFramePr>
            <p:xfrm>
              <a:off x="2562" y="2205"/>
              <a:ext cx="1996" cy="506"/>
            </p:xfrm>
            <a:graphic>
              <a:graphicData uri="http://schemas.openxmlformats.org/presentationml/2006/ole">
                <mc:AlternateContent xmlns:mc="http://schemas.openxmlformats.org/markup-compatibility/2006">
                  <mc:Choice xmlns:v="urn:schemas-microsoft-com:vml" Requires="v">
                    <p:oleObj spid="_x0000_s6" name="" r:id="rId5" imgW="1803400" imgH="457200" progId="Equation.DSMT4">
                      <p:embed/>
                    </p:oleObj>
                  </mc:Choice>
                  <mc:Fallback>
                    <p:oleObj name="" r:id="rId5" imgW="1803400" imgH="457200" progId="Equation.DSMT4">
                      <p:embed/>
                      <p:pic>
                        <p:nvPicPr>
                          <p:cNvPr id="0" name="图片 3250"/>
                          <p:cNvPicPr/>
                          <p:nvPr/>
                        </p:nvPicPr>
                        <p:blipFill>
                          <a:blip r:embed="rId6"/>
                          <a:stretch>
                            <a:fillRect/>
                          </a:stretch>
                        </p:blipFill>
                        <p:spPr>
                          <a:xfrm>
                            <a:off x="2562" y="2205"/>
                            <a:ext cx="1996" cy="506"/>
                          </a:xfrm>
                          <a:prstGeom prst="rect">
                            <a:avLst/>
                          </a:prstGeom>
                          <a:noFill/>
                          <a:ln w="38100">
                            <a:noFill/>
                            <a:miter/>
                          </a:ln>
                        </p:spPr>
                      </p:pic>
                    </p:oleObj>
                  </mc:Fallback>
                </mc:AlternateContent>
              </a:graphicData>
            </a:graphic>
          </p:graphicFrame>
          <p:sp>
            <p:nvSpPr>
              <p:cNvPr id="31764" name="Text Box 29"/>
              <p:cNvSpPr txBox="1"/>
              <p:nvPr/>
            </p:nvSpPr>
            <p:spPr>
              <a:xfrm>
                <a:off x="4604" y="2296"/>
                <a:ext cx="596" cy="288"/>
              </a:xfrm>
              <a:prstGeom prst="rect">
                <a:avLst/>
              </a:prstGeom>
              <a:noFill/>
              <a:ln w="9525">
                <a:noFill/>
              </a:ln>
            </p:spPr>
            <p:txBody>
              <a:bodyPr wrap="none">
                <a:spAutoFit/>
              </a:bodyPr>
              <a:lstStyle/>
              <a:p>
                <a:r>
                  <a:rPr lang="zh-CN" altLang="en-US" dirty="0">
                    <a:latin typeface="Times New Roman" panose="02020603050405020304" pitchFamily="18" charset="0"/>
                  </a:rPr>
                  <a:t>（</a:t>
                </a:r>
                <a:r>
                  <a:rPr lang="en-US" altLang="zh-CN" dirty="0">
                    <a:latin typeface="Times New Roman" panose="02020603050405020304" pitchFamily="18" charset="0"/>
                  </a:rPr>
                  <a:t>5</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grpSp>
      <p:grpSp>
        <p:nvGrpSpPr>
          <p:cNvPr id="7" name="Group 38"/>
          <p:cNvGrpSpPr/>
          <p:nvPr/>
        </p:nvGrpSpPr>
        <p:grpSpPr>
          <a:xfrm>
            <a:off x="714058" y="4005580"/>
            <a:ext cx="6459538" cy="1181100"/>
            <a:chOff x="690" y="3216"/>
            <a:chExt cx="4069" cy="744"/>
          </a:xfrm>
        </p:grpSpPr>
        <p:sp>
          <p:nvSpPr>
            <p:cNvPr id="31760" name="Text Box 30"/>
            <p:cNvSpPr txBox="1"/>
            <p:nvPr/>
          </p:nvSpPr>
          <p:spPr>
            <a:xfrm>
              <a:off x="690" y="3216"/>
              <a:ext cx="3715" cy="251"/>
            </a:xfrm>
            <a:prstGeom prst="rect">
              <a:avLst/>
            </a:prstGeom>
            <a:noFill/>
            <a:ln w="9525">
              <a:noFill/>
            </a:ln>
          </p:spPr>
          <p:txBody>
            <a:bodyPr wrap="none">
              <a:spAutoFit/>
            </a:bodyPr>
            <a:lstStyle/>
            <a:p>
              <a:r>
                <a:rPr lang="zh-CN" altLang="en-US" sz="2000" dirty="0">
                  <a:latin typeface="Times New Roman" panose="02020603050405020304" pitchFamily="18" charset="0"/>
                </a:rPr>
                <a:t>将（</a:t>
              </a:r>
              <a:r>
                <a:rPr lang="en-US" altLang="zh-CN" sz="2000" dirty="0">
                  <a:latin typeface="Times New Roman" panose="02020603050405020304" pitchFamily="18" charset="0"/>
                </a:rPr>
                <a:t>4</a:t>
              </a:r>
              <a:r>
                <a:rPr lang="zh-CN" altLang="en-US" sz="2000" dirty="0">
                  <a:latin typeface="Times New Roman" panose="02020603050405020304" pitchFamily="18" charset="0"/>
                </a:rPr>
                <a:t>、</a:t>
              </a:r>
              <a:r>
                <a:rPr lang="en-US" altLang="zh-CN" sz="2000" dirty="0">
                  <a:latin typeface="Times New Roman" panose="02020603050405020304" pitchFamily="18" charset="0"/>
                </a:rPr>
                <a:t>5</a:t>
              </a:r>
              <a:r>
                <a:rPr lang="zh-CN" altLang="en-US" sz="2000" dirty="0">
                  <a:latin typeface="Times New Roman" panose="02020603050405020304" pitchFamily="18" charset="0"/>
                </a:rPr>
                <a:t>）式代入（</a:t>
              </a:r>
              <a:r>
                <a:rPr lang="en-US" altLang="zh-CN" sz="2000" dirty="0">
                  <a:latin typeface="Times New Roman" panose="02020603050405020304" pitchFamily="18" charset="0"/>
                </a:rPr>
                <a:t>3</a:t>
              </a:r>
              <a:r>
                <a:rPr lang="zh-CN" altLang="en-US" sz="2000" dirty="0">
                  <a:latin typeface="Times New Roman" panose="02020603050405020304" pitchFamily="18" charset="0"/>
                </a:rPr>
                <a:t>），并化简，得到转移阻抗：</a:t>
              </a:r>
              <a:endParaRPr lang="zh-CN" altLang="en-US" sz="2000" dirty="0">
                <a:latin typeface="Times New Roman" panose="02020603050405020304" pitchFamily="18" charset="0"/>
              </a:endParaRPr>
            </a:p>
          </p:txBody>
        </p:sp>
        <p:graphicFrame>
          <p:nvGraphicFramePr>
            <p:cNvPr id="31748" name="Object 31"/>
            <p:cNvGraphicFramePr/>
            <p:nvPr/>
          </p:nvGraphicFramePr>
          <p:xfrm>
            <a:off x="1816" y="3488"/>
            <a:ext cx="2302" cy="472"/>
          </p:xfrm>
          <a:graphic>
            <a:graphicData uri="http://schemas.openxmlformats.org/presentationml/2006/ole">
              <mc:AlternateContent xmlns:mc="http://schemas.openxmlformats.org/markup-compatibility/2006">
                <mc:Choice xmlns:v="urn:schemas-microsoft-com:vml" Requires="v">
                  <p:oleObj spid="_x0000_s8" name="" r:id="rId7" imgW="1905000" imgH="431800" progId="Equation.DSMT4">
                    <p:embed/>
                  </p:oleObj>
                </mc:Choice>
                <mc:Fallback>
                  <p:oleObj name="" r:id="rId7" imgW="1905000" imgH="431800" progId="Equation.DSMT4">
                    <p:embed/>
                    <p:pic>
                      <p:nvPicPr>
                        <p:cNvPr id="0" name="图片 3246"/>
                        <p:cNvPicPr/>
                        <p:nvPr/>
                      </p:nvPicPr>
                      <p:blipFill>
                        <a:blip r:embed="rId8"/>
                        <a:stretch>
                          <a:fillRect/>
                        </a:stretch>
                      </p:blipFill>
                      <p:spPr>
                        <a:xfrm>
                          <a:off x="1816" y="3488"/>
                          <a:ext cx="2302" cy="472"/>
                        </a:xfrm>
                        <a:prstGeom prst="rect">
                          <a:avLst/>
                        </a:prstGeom>
                        <a:noFill/>
                        <a:ln w="38100">
                          <a:noFill/>
                          <a:miter/>
                        </a:ln>
                      </p:spPr>
                    </p:pic>
                  </p:oleObj>
                </mc:Fallback>
              </mc:AlternateContent>
            </a:graphicData>
          </a:graphic>
        </p:graphicFrame>
        <p:sp>
          <p:nvSpPr>
            <p:cNvPr id="31761" name="Text Box 32"/>
            <p:cNvSpPr txBox="1"/>
            <p:nvPr/>
          </p:nvSpPr>
          <p:spPr>
            <a:xfrm>
              <a:off x="4163" y="3580"/>
              <a:ext cx="596" cy="288"/>
            </a:xfrm>
            <a:prstGeom prst="rect">
              <a:avLst/>
            </a:prstGeom>
            <a:noFill/>
            <a:ln w="9525">
              <a:noFill/>
            </a:ln>
          </p:spPr>
          <p:txBody>
            <a:bodyPr wrap="none">
              <a:spAutoFit/>
            </a:bodyPr>
            <a:lstStyle/>
            <a:p>
              <a:r>
                <a:rPr lang="zh-CN" altLang="en-US" dirty="0">
                  <a:latin typeface="Times New Roman" panose="02020603050405020304" pitchFamily="18" charset="0"/>
                </a:rPr>
                <a:t>（</a:t>
              </a:r>
              <a:r>
                <a:rPr lang="en-US" altLang="zh-CN" dirty="0">
                  <a:latin typeface="Times New Roman" panose="02020603050405020304" pitchFamily="18" charset="0"/>
                </a:rPr>
                <a:t>6</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graphicFrame>
        <p:nvGraphicFramePr>
          <p:cNvPr id="31747" name="Object 53"/>
          <p:cNvGraphicFramePr/>
          <p:nvPr/>
        </p:nvGraphicFramePr>
        <p:xfrm>
          <a:off x="827088" y="1773238"/>
          <a:ext cx="2790825" cy="844550"/>
        </p:xfrm>
        <a:graphic>
          <a:graphicData uri="http://schemas.openxmlformats.org/presentationml/2006/ole">
            <mc:AlternateContent xmlns:mc="http://schemas.openxmlformats.org/markup-compatibility/2006">
              <mc:Choice xmlns:v="urn:schemas-microsoft-com:vml" Requires="v">
                <p:oleObj spid="_x0000_s9" name="" r:id="rId9" imgW="1511300" imgH="457200" progId="Equation.DSMT4">
                  <p:embed/>
                </p:oleObj>
              </mc:Choice>
              <mc:Fallback>
                <p:oleObj name="" r:id="rId9" imgW="1511300" imgH="457200" progId="Equation.DSMT4">
                  <p:embed/>
                  <p:pic>
                    <p:nvPicPr>
                      <p:cNvPr id="0" name="图片 3251"/>
                      <p:cNvPicPr/>
                      <p:nvPr/>
                    </p:nvPicPr>
                    <p:blipFill>
                      <a:blip r:embed="rId10"/>
                      <a:stretch>
                        <a:fillRect/>
                      </a:stretch>
                    </p:blipFill>
                    <p:spPr>
                      <a:xfrm>
                        <a:off x="827088" y="1773238"/>
                        <a:ext cx="2790825" cy="844550"/>
                      </a:xfrm>
                      <a:prstGeom prst="rect">
                        <a:avLst/>
                      </a:prstGeom>
                      <a:noFill/>
                      <a:ln w="38100">
                        <a:noFill/>
                        <a:miter/>
                      </a:ln>
                    </p:spPr>
                  </p:pic>
                </p:oleObj>
              </mc:Fallback>
            </mc:AlternateContent>
          </a:graphicData>
        </a:graphic>
      </p:graphicFrame>
      <p:sp>
        <p:nvSpPr>
          <p:cNvPr id="31757" name="Text Box 54"/>
          <p:cNvSpPr txBox="1"/>
          <p:nvPr/>
        </p:nvSpPr>
        <p:spPr>
          <a:xfrm>
            <a:off x="6156325" y="2224088"/>
            <a:ext cx="946150" cy="457200"/>
          </a:xfrm>
          <a:prstGeom prst="rect">
            <a:avLst/>
          </a:prstGeom>
          <a:noFill/>
          <a:ln w="9525">
            <a:noFill/>
          </a:ln>
        </p:spPr>
        <p:txBody>
          <a:bodyPr wrap="none">
            <a:spAutoFit/>
          </a:bodyPr>
          <a:lstStyle/>
          <a:p>
            <a:r>
              <a:rPr lang="zh-CN" altLang="en-US" dirty="0">
                <a:latin typeface="Times New Roman" panose="02020603050405020304" pitchFamily="18" charset="0"/>
              </a:rPr>
              <a:t>（</a:t>
            </a:r>
            <a:r>
              <a:rPr lang="en-US" altLang="zh-CN" dirty="0">
                <a:latin typeface="Times New Roman" panose="02020603050405020304" pitchFamily="18" charset="0"/>
              </a:rPr>
              <a:t>3</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22536" name="Text Box 8"/>
          <p:cNvSpPr txBox="1"/>
          <p:nvPr/>
        </p:nvSpPr>
        <p:spPr>
          <a:xfrm>
            <a:off x="179388" y="463550"/>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graphicFrame>
        <p:nvGraphicFramePr>
          <p:cNvPr id="390153" name="Object 9"/>
          <p:cNvGraphicFramePr/>
          <p:nvPr/>
        </p:nvGraphicFramePr>
        <p:xfrm>
          <a:off x="2501900" y="5360670"/>
          <a:ext cx="3706495" cy="909320"/>
        </p:xfrm>
        <a:graphic>
          <a:graphicData uri="http://schemas.openxmlformats.org/presentationml/2006/ole">
            <mc:AlternateContent xmlns:mc="http://schemas.openxmlformats.org/markup-compatibility/2006">
              <mc:Choice xmlns:v="urn:schemas-microsoft-com:vml" Requires="v">
                <p:oleObj spid="_x0000_s10" name="" r:id="rId11" imgW="2070100" imgH="469900" progId="Equation.DSMT4">
                  <p:embed/>
                </p:oleObj>
              </mc:Choice>
              <mc:Fallback>
                <p:oleObj name="" r:id="rId11" imgW="2070100" imgH="469900" progId="Equation.DSMT4">
                  <p:embed/>
                  <p:pic>
                    <p:nvPicPr>
                      <p:cNvPr id="0" name="图片 3252"/>
                      <p:cNvPicPr/>
                      <p:nvPr/>
                    </p:nvPicPr>
                    <p:blipFill>
                      <a:blip r:embed="rId12"/>
                      <a:stretch>
                        <a:fillRect/>
                      </a:stretch>
                    </p:blipFill>
                    <p:spPr>
                      <a:xfrm>
                        <a:off x="2501900" y="5360670"/>
                        <a:ext cx="3706495" cy="909320"/>
                      </a:xfrm>
                      <a:prstGeom prst="rect">
                        <a:avLst/>
                      </a:prstGeom>
                      <a:noFill/>
                      <a:ln w="38100">
                        <a:noFill/>
                        <a:miter/>
                      </a:ln>
                    </p:spPr>
                  </p:pic>
                </p:oleObj>
              </mc:Fallback>
            </mc:AlternateContent>
          </a:graphicData>
        </a:graphic>
      </p:graphicFrame>
      <p:sp>
        <p:nvSpPr>
          <p:cNvPr id="78852" name="Text Box 8"/>
          <p:cNvSpPr txBox="1"/>
          <p:nvPr/>
        </p:nvSpPr>
        <p:spPr>
          <a:xfrm>
            <a:off x="484823" y="908685"/>
            <a:ext cx="3078480" cy="460375"/>
          </a:xfrm>
          <a:prstGeom prst="rect">
            <a:avLst/>
          </a:prstGeom>
          <a:noFill/>
          <a:ln w="9525">
            <a:noFill/>
          </a:ln>
        </p:spPr>
        <p:txBody>
          <a:bodyPr wrap="none">
            <a:spAutoFit/>
          </a:bodyPr>
          <a:lstStyle/>
          <a:p>
            <a:r>
              <a:rPr lang="zh-CN" altLang="en-US" sz="2400" dirty="0">
                <a:solidFill>
                  <a:schemeClr val="accent2"/>
                </a:solidFill>
                <a:latin typeface="Times New Roman" panose="02020603050405020304" pitchFamily="18" charset="0"/>
              </a:rPr>
              <a:t>（</a:t>
            </a:r>
            <a:r>
              <a:rPr lang="en-US" altLang="zh-CN" sz="2400" dirty="0">
                <a:solidFill>
                  <a:schemeClr val="accent2"/>
                </a:solidFill>
                <a:latin typeface="Times New Roman" panose="02020603050405020304" pitchFamily="18" charset="0"/>
              </a:rPr>
              <a:t>4</a:t>
            </a:r>
            <a:r>
              <a:rPr lang="zh-CN" altLang="en-US" sz="2400" dirty="0">
                <a:solidFill>
                  <a:schemeClr val="accent2"/>
                </a:solidFill>
                <a:latin typeface="Times New Roman" panose="02020603050405020304" pitchFamily="18" charset="0"/>
              </a:rPr>
              <a:t>）耦合谐振回路</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Tree>
  </p:cSld>
  <p:clrMapOvr>
    <a:masterClrMapping/>
  </p:clrMapOvr>
  <p:transition spd="med">
    <p:zo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0153" name="Object 9"/>
          <p:cNvGraphicFramePr/>
          <p:nvPr/>
        </p:nvGraphicFramePr>
        <p:xfrm>
          <a:off x="2301875" y="1316038"/>
          <a:ext cx="3313113" cy="752475"/>
        </p:xfrm>
        <a:graphic>
          <a:graphicData uri="http://schemas.openxmlformats.org/presentationml/2006/ole">
            <mc:AlternateContent xmlns:mc="http://schemas.openxmlformats.org/markup-compatibility/2006">
              <mc:Choice xmlns:v="urn:schemas-microsoft-com:vml" Requires="v">
                <p:oleObj spid="_x0000_s2" name="" r:id="rId1" imgW="2070100" imgH="469900" progId="Equation.DSMT4">
                  <p:embed/>
                </p:oleObj>
              </mc:Choice>
              <mc:Fallback>
                <p:oleObj name="" r:id="rId1" imgW="2070100" imgH="469900" progId="Equation.DSMT4">
                  <p:embed/>
                  <p:pic>
                    <p:nvPicPr>
                      <p:cNvPr id="0" name="图片 3252"/>
                      <p:cNvPicPr/>
                      <p:nvPr/>
                    </p:nvPicPr>
                    <p:blipFill>
                      <a:blip r:embed="rId2"/>
                      <a:stretch>
                        <a:fillRect/>
                      </a:stretch>
                    </p:blipFill>
                    <p:spPr>
                      <a:xfrm>
                        <a:off x="2301875" y="1316038"/>
                        <a:ext cx="3313113" cy="752475"/>
                      </a:xfrm>
                      <a:prstGeom prst="rect">
                        <a:avLst/>
                      </a:prstGeom>
                      <a:noFill/>
                      <a:ln w="38100">
                        <a:noFill/>
                        <a:miter/>
                      </a:ln>
                    </p:spPr>
                  </p:pic>
                </p:oleObj>
              </mc:Fallback>
            </mc:AlternateContent>
          </a:graphicData>
        </a:graphic>
      </p:graphicFrame>
      <p:grpSp>
        <p:nvGrpSpPr>
          <p:cNvPr id="3" name="Group 14"/>
          <p:cNvGrpSpPr/>
          <p:nvPr/>
        </p:nvGrpSpPr>
        <p:grpSpPr>
          <a:xfrm>
            <a:off x="539750" y="2112963"/>
            <a:ext cx="8301038" cy="431800"/>
            <a:chOff x="340" y="1331"/>
            <a:chExt cx="5229" cy="272"/>
          </a:xfrm>
        </p:grpSpPr>
        <p:sp>
          <p:nvSpPr>
            <p:cNvPr id="32794" name="Text Box 11"/>
            <p:cNvSpPr txBox="1"/>
            <p:nvPr/>
          </p:nvSpPr>
          <p:spPr>
            <a:xfrm>
              <a:off x="340" y="1344"/>
              <a:ext cx="5229" cy="250"/>
            </a:xfrm>
            <a:prstGeom prst="rect">
              <a:avLst/>
            </a:prstGeom>
            <a:noFill/>
            <a:ln w="9525">
              <a:noFill/>
            </a:ln>
          </p:spPr>
          <p:txBody>
            <a:bodyPr>
              <a:spAutoFit/>
            </a:bodyPr>
            <a:lstStyle/>
            <a:p>
              <a:r>
                <a:rPr lang="zh-CN" altLang="en-US" sz="2000" dirty="0">
                  <a:latin typeface="Times New Roman" panose="02020603050405020304" pitchFamily="18" charset="0"/>
                </a:rPr>
                <a:t>以   为变量，对上式求极值，即对上式关于    求导，并令导数为</a:t>
              </a:r>
              <a:r>
                <a:rPr lang="en-US" altLang="zh-CN" sz="2000" dirty="0">
                  <a:latin typeface="Times New Roman" panose="02020603050405020304" pitchFamily="18" charset="0"/>
                </a:rPr>
                <a:t>0</a:t>
              </a:r>
              <a:r>
                <a:rPr lang="zh-CN" altLang="en-US" sz="2000" dirty="0">
                  <a:latin typeface="Times New Roman" panose="02020603050405020304" pitchFamily="18" charset="0"/>
                </a:rPr>
                <a:t>，则有：</a:t>
              </a:r>
              <a:endParaRPr lang="zh-CN" altLang="en-US" sz="2000" dirty="0">
                <a:latin typeface="Times New Roman" panose="02020603050405020304" pitchFamily="18" charset="0"/>
              </a:endParaRPr>
            </a:p>
          </p:txBody>
        </p:sp>
        <p:graphicFrame>
          <p:nvGraphicFramePr>
            <p:cNvPr id="32781" name="Object 12"/>
            <p:cNvGraphicFramePr/>
            <p:nvPr/>
          </p:nvGraphicFramePr>
          <p:xfrm>
            <a:off x="512" y="1331"/>
            <a:ext cx="166" cy="265"/>
          </p:xfrm>
          <a:graphic>
            <a:graphicData uri="http://schemas.openxmlformats.org/presentationml/2006/ole">
              <mc:AlternateContent xmlns:mc="http://schemas.openxmlformats.org/markup-compatibility/2006">
                <mc:Choice xmlns:v="urn:schemas-microsoft-com:vml" Requires="v">
                  <p:oleObj spid="_x0000_s4" name="" r:id="rId3" imgW="127000" imgH="202565" progId="Equation.DSMT4">
                    <p:embed/>
                  </p:oleObj>
                </mc:Choice>
                <mc:Fallback>
                  <p:oleObj name="" r:id="rId3" imgW="127000" imgH="202565" progId="Equation.DSMT4">
                    <p:embed/>
                    <p:pic>
                      <p:nvPicPr>
                        <p:cNvPr id="0" name="图片 3245"/>
                        <p:cNvPicPr/>
                        <p:nvPr/>
                      </p:nvPicPr>
                      <p:blipFill>
                        <a:blip r:embed="rId4"/>
                        <a:stretch>
                          <a:fillRect/>
                        </a:stretch>
                      </p:blipFill>
                      <p:spPr>
                        <a:xfrm>
                          <a:off x="512" y="1331"/>
                          <a:ext cx="166" cy="265"/>
                        </a:xfrm>
                        <a:prstGeom prst="rect">
                          <a:avLst/>
                        </a:prstGeom>
                        <a:noFill/>
                        <a:ln w="38100">
                          <a:noFill/>
                          <a:miter/>
                        </a:ln>
                      </p:spPr>
                    </p:pic>
                  </p:oleObj>
                </mc:Fallback>
              </mc:AlternateContent>
            </a:graphicData>
          </a:graphic>
        </p:graphicFrame>
        <p:graphicFrame>
          <p:nvGraphicFramePr>
            <p:cNvPr id="32782" name="Object 13"/>
            <p:cNvGraphicFramePr/>
            <p:nvPr/>
          </p:nvGraphicFramePr>
          <p:xfrm>
            <a:off x="3369" y="1331"/>
            <a:ext cx="170" cy="272"/>
          </p:xfrm>
          <a:graphic>
            <a:graphicData uri="http://schemas.openxmlformats.org/presentationml/2006/ole">
              <mc:AlternateContent xmlns:mc="http://schemas.openxmlformats.org/markup-compatibility/2006">
                <mc:Choice xmlns:v="urn:schemas-microsoft-com:vml" Requires="v">
                  <p:oleObj spid="_x0000_s5" name="" r:id="rId5" imgW="127000" imgH="202565" progId="Equation.DSMT4">
                    <p:embed/>
                  </p:oleObj>
                </mc:Choice>
                <mc:Fallback>
                  <p:oleObj name="" r:id="rId5" imgW="127000" imgH="202565" progId="Equation.DSMT4">
                    <p:embed/>
                    <p:pic>
                      <p:nvPicPr>
                        <p:cNvPr id="0" name="图片 3243"/>
                        <p:cNvPicPr/>
                        <p:nvPr/>
                      </p:nvPicPr>
                      <p:blipFill>
                        <a:blip r:embed="rId6"/>
                        <a:stretch>
                          <a:fillRect/>
                        </a:stretch>
                      </p:blipFill>
                      <p:spPr>
                        <a:xfrm>
                          <a:off x="3369" y="1331"/>
                          <a:ext cx="170" cy="272"/>
                        </a:xfrm>
                        <a:prstGeom prst="rect">
                          <a:avLst/>
                        </a:prstGeom>
                        <a:noFill/>
                        <a:ln w="38100">
                          <a:noFill/>
                          <a:miter/>
                        </a:ln>
                      </p:spPr>
                    </p:pic>
                  </p:oleObj>
                </mc:Fallback>
              </mc:AlternateContent>
            </a:graphicData>
          </a:graphic>
        </p:graphicFrame>
      </p:grpSp>
      <p:graphicFrame>
        <p:nvGraphicFramePr>
          <p:cNvPr id="390159" name="Object 15"/>
          <p:cNvGraphicFramePr/>
          <p:nvPr/>
        </p:nvGraphicFramePr>
        <p:xfrm>
          <a:off x="2916238" y="2636838"/>
          <a:ext cx="2951162" cy="442912"/>
        </p:xfrm>
        <a:graphic>
          <a:graphicData uri="http://schemas.openxmlformats.org/presentationml/2006/ole">
            <mc:AlternateContent xmlns:mc="http://schemas.openxmlformats.org/markup-compatibility/2006">
              <mc:Choice xmlns:v="urn:schemas-microsoft-com:vml" Requires="v">
                <p:oleObj spid="_x0000_s6" name="" r:id="rId7" imgW="1524000" imgH="228600" progId="Equation.DSMT4">
                  <p:embed/>
                </p:oleObj>
              </mc:Choice>
              <mc:Fallback>
                <p:oleObj name="" r:id="rId7" imgW="1524000" imgH="228600" progId="Equation.DSMT4">
                  <p:embed/>
                  <p:pic>
                    <p:nvPicPr>
                      <p:cNvPr id="0" name="图片 3264"/>
                      <p:cNvPicPr/>
                      <p:nvPr/>
                    </p:nvPicPr>
                    <p:blipFill>
                      <a:blip r:embed="rId8"/>
                      <a:stretch>
                        <a:fillRect/>
                      </a:stretch>
                    </p:blipFill>
                    <p:spPr>
                      <a:xfrm>
                        <a:off x="2916238" y="2636838"/>
                        <a:ext cx="2951162" cy="442912"/>
                      </a:xfrm>
                      <a:prstGeom prst="rect">
                        <a:avLst/>
                      </a:prstGeom>
                      <a:noFill/>
                      <a:ln w="38100">
                        <a:noFill/>
                        <a:miter/>
                      </a:ln>
                    </p:spPr>
                  </p:pic>
                </p:oleObj>
              </mc:Fallback>
            </mc:AlternateContent>
          </a:graphicData>
        </a:graphic>
      </p:graphicFrame>
      <p:grpSp>
        <p:nvGrpSpPr>
          <p:cNvPr id="7" name="Group 24"/>
          <p:cNvGrpSpPr/>
          <p:nvPr/>
        </p:nvGrpSpPr>
        <p:grpSpPr>
          <a:xfrm>
            <a:off x="484188" y="4618038"/>
            <a:ext cx="5792787" cy="755650"/>
            <a:chOff x="519" y="2508"/>
            <a:chExt cx="3649" cy="476"/>
          </a:xfrm>
        </p:grpSpPr>
        <p:sp>
          <p:nvSpPr>
            <p:cNvPr id="32793" name="Text Box 25"/>
            <p:cNvSpPr txBox="1"/>
            <p:nvPr/>
          </p:nvSpPr>
          <p:spPr>
            <a:xfrm>
              <a:off x="519" y="2593"/>
              <a:ext cx="2515" cy="251"/>
            </a:xfrm>
            <a:prstGeom prst="rect">
              <a:avLst/>
            </a:prstGeom>
            <a:noFill/>
            <a:ln w="9525">
              <a:noFill/>
            </a:ln>
          </p:spPr>
          <p:txBody>
            <a:bodyPr wrap="none">
              <a:spAutoFit/>
            </a:bodyPr>
            <a:lstStyle/>
            <a:p>
              <a:r>
                <a:rPr lang="zh-CN" altLang="en-US" sz="2000" dirty="0">
                  <a:latin typeface="Times New Roman" panose="02020603050405020304" pitchFamily="18" charset="0"/>
                </a:rPr>
                <a:t>又                 </a:t>
              </a:r>
              <a:r>
                <a:rPr lang="en-US" altLang="zh-CN" sz="2000" dirty="0">
                  <a:latin typeface="Times New Roman" panose="02020603050405020304" pitchFamily="18" charset="0"/>
                </a:rPr>
                <a:t>   </a:t>
              </a:r>
              <a:r>
                <a:rPr lang="zh-CN" altLang="en-US" sz="2000" dirty="0">
                  <a:latin typeface="Times New Roman" panose="02020603050405020304" pitchFamily="18" charset="0"/>
                </a:rPr>
                <a:t>，故        的最大值为</a:t>
              </a:r>
              <a:endParaRPr lang="zh-CN" altLang="en-US" sz="2000" dirty="0">
                <a:latin typeface="Times New Roman" panose="02020603050405020304" pitchFamily="18" charset="0"/>
              </a:endParaRPr>
            </a:p>
          </p:txBody>
        </p:sp>
        <p:graphicFrame>
          <p:nvGraphicFramePr>
            <p:cNvPr id="32778" name="Object 26"/>
            <p:cNvGraphicFramePr/>
            <p:nvPr/>
          </p:nvGraphicFramePr>
          <p:xfrm>
            <a:off x="748" y="2523"/>
            <a:ext cx="772" cy="364"/>
          </p:xfrm>
          <a:graphic>
            <a:graphicData uri="http://schemas.openxmlformats.org/presentationml/2006/ole">
              <mc:AlternateContent xmlns:mc="http://schemas.openxmlformats.org/markup-compatibility/2006">
                <mc:Choice xmlns:v="urn:schemas-microsoft-com:vml" Requires="v">
                  <p:oleObj spid="_x0000_s8" name="" r:id="rId9" imgW="889000" imgH="419100" progId="Equation.DSMT4">
                    <p:embed/>
                  </p:oleObj>
                </mc:Choice>
                <mc:Fallback>
                  <p:oleObj name="" r:id="rId9" imgW="889000" imgH="419100" progId="Equation.DSMT4">
                    <p:embed/>
                    <p:pic>
                      <p:nvPicPr>
                        <p:cNvPr id="0" name="图片 3263"/>
                        <p:cNvPicPr/>
                        <p:nvPr/>
                      </p:nvPicPr>
                      <p:blipFill>
                        <a:blip r:embed="rId10"/>
                        <a:stretch>
                          <a:fillRect/>
                        </a:stretch>
                      </p:blipFill>
                      <p:spPr>
                        <a:xfrm>
                          <a:off x="748" y="2523"/>
                          <a:ext cx="772" cy="364"/>
                        </a:xfrm>
                        <a:prstGeom prst="rect">
                          <a:avLst/>
                        </a:prstGeom>
                        <a:noFill/>
                        <a:ln w="38100">
                          <a:noFill/>
                          <a:miter/>
                        </a:ln>
                      </p:spPr>
                    </p:pic>
                  </p:oleObj>
                </mc:Fallback>
              </mc:AlternateContent>
            </a:graphicData>
          </a:graphic>
        </p:graphicFrame>
        <p:graphicFrame>
          <p:nvGraphicFramePr>
            <p:cNvPr id="32779" name="Object 27"/>
            <p:cNvGraphicFramePr/>
            <p:nvPr/>
          </p:nvGraphicFramePr>
          <p:xfrm>
            <a:off x="1846" y="2593"/>
            <a:ext cx="363" cy="242"/>
          </p:xfrm>
          <a:graphic>
            <a:graphicData uri="http://schemas.openxmlformats.org/presentationml/2006/ole">
              <mc:AlternateContent xmlns:mc="http://schemas.openxmlformats.org/markup-compatibility/2006">
                <mc:Choice xmlns:v="urn:schemas-microsoft-com:vml" Requires="v">
                  <p:oleObj spid="_x0000_s9" name="" r:id="rId11" imgW="342900" imgH="228600" progId="Equation.DSMT4">
                    <p:embed/>
                  </p:oleObj>
                </mc:Choice>
                <mc:Fallback>
                  <p:oleObj name="" r:id="rId11" imgW="342900" imgH="228600" progId="Equation.DSMT4">
                    <p:embed/>
                    <p:pic>
                      <p:nvPicPr>
                        <p:cNvPr id="0" name="图片 3247"/>
                        <p:cNvPicPr/>
                        <p:nvPr/>
                      </p:nvPicPr>
                      <p:blipFill>
                        <a:blip r:embed="rId12"/>
                        <a:stretch>
                          <a:fillRect/>
                        </a:stretch>
                      </p:blipFill>
                      <p:spPr>
                        <a:xfrm>
                          <a:off x="1846" y="2593"/>
                          <a:ext cx="363" cy="242"/>
                        </a:xfrm>
                        <a:prstGeom prst="rect">
                          <a:avLst/>
                        </a:prstGeom>
                        <a:noFill/>
                        <a:ln w="38100">
                          <a:noFill/>
                          <a:miter/>
                        </a:ln>
                      </p:spPr>
                    </p:pic>
                  </p:oleObj>
                </mc:Fallback>
              </mc:AlternateContent>
            </a:graphicData>
          </a:graphic>
        </p:graphicFrame>
        <p:graphicFrame>
          <p:nvGraphicFramePr>
            <p:cNvPr id="32780" name="Object 28"/>
            <p:cNvGraphicFramePr/>
            <p:nvPr/>
          </p:nvGraphicFramePr>
          <p:xfrm>
            <a:off x="3034" y="2508"/>
            <a:ext cx="1134" cy="476"/>
          </p:xfrm>
          <a:graphic>
            <a:graphicData uri="http://schemas.openxmlformats.org/presentationml/2006/ole">
              <mc:AlternateContent xmlns:mc="http://schemas.openxmlformats.org/markup-compatibility/2006">
                <mc:Choice xmlns:v="urn:schemas-microsoft-com:vml" Requires="v">
                  <p:oleObj spid="_x0000_s10" name="" r:id="rId13" imgW="1028065" imgH="431800" progId="Equation.DSMT4">
                    <p:embed/>
                  </p:oleObj>
                </mc:Choice>
                <mc:Fallback>
                  <p:oleObj name="" r:id="rId13" imgW="1028065" imgH="431800" progId="Equation.DSMT4">
                    <p:embed/>
                    <p:pic>
                      <p:nvPicPr>
                        <p:cNvPr id="0" name="图片 3242"/>
                        <p:cNvPicPr/>
                        <p:nvPr/>
                      </p:nvPicPr>
                      <p:blipFill>
                        <a:blip r:embed="rId14"/>
                        <a:stretch>
                          <a:fillRect/>
                        </a:stretch>
                      </p:blipFill>
                      <p:spPr>
                        <a:xfrm>
                          <a:off x="3034" y="2508"/>
                          <a:ext cx="1134" cy="476"/>
                        </a:xfrm>
                        <a:prstGeom prst="rect">
                          <a:avLst/>
                        </a:prstGeom>
                        <a:noFill/>
                        <a:ln w="38100">
                          <a:noFill/>
                          <a:miter/>
                        </a:ln>
                      </p:spPr>
                    </p:pic>
                  </p:oleObj>
                </mc:Fallback>
              </mc:AlternateContent>
            </a:graphicData>
          </a:graphic>
        </p:graphicFrame>
      </p:grpSp>
      <p:grpSp>
        <p:nvGrpSpPr>
          <p:cNvPr id="11" name="Group 34"/>
          <p:cNvGrpSpPr/>
          <p:nvPr/>
        </p:nvGrpSpPr>
        <p:grpSpPr>
          <a:xfrm>
            <a:off x="467360" y="3919855"/>
            <a:ext cx="8029575" cy="628650"/>
            <a:chOff x="204" y="2478"/>
            <a:chExt cx="5058" cy="396"/>
          </a:xfrm>
        </p:grpSpPr>
        <p:sp>
          <p:nvSpPr>
            <p:cNvPr id="32792" name="Text Box 21"/>
            <p:cNvSpPr txBox="1"/>
            <p:nvPr/>
          </p:nvSpPr>
          <p:spPr>
            <a:xfrm>
              <a:off x="204" y="2518"/>
              <a:ext cx="5058" cy="288"/>
            </a:xfrm>
            <a:prstGeom prst="rect">
              <a:avLst/>
            </a:prstGeom>
            <a:noFill/>
            <a:ln w="9525">
              <a:noFill/>
            </a:ln>
          </p:spPr>
          <p:txBody>
            <a:bodyPr wrap="none">
              <a:spAutoFit/>
            </a:bodyPr>
            <a:lstStyle/>
            <a:p>
              <a:r>
                <a:rPr lang="zh-CN" altLang="en-US" sz="2000" dirty="0">
                  <a:latin typeface="Times New Roman" panose="02020603050405020304" pitchFamily="18" charset="0"/>
                </a:rPr>
                <a:t>当</a:t>
              </a:r>
              <a:r>
                <a:rPr lang="en-US" altLang="zh-CN" sz="2000" dirty="0">
                  <a:latin typeface="Times New Roman" panose="02020603050405020304" pitchFamily="18" charset="0"/>
                </a:rPr>
                <a:t>A&gt;1</a:t>
              </a:r>
              <a:r>
                <a:rPr lang="zh-CN" altLang="en-US" sz="2000" dirty="0">
                  <a:latin typeface="Times New Roman" panose="02020603050405020304" pitchFamily="18" charset="0"/>
                </a:rPr>
                <a:t>时，则在                   处有两个极大值</a:t>
              </a:r>
              <a:r>
                <a:rPr lang="zh-CN" altLang="en-US" dirty="0">
                  <a:latin typeface="Times New Roman" panose="02020603050405020304" pitchFamily="18" charset="0"/>
                </a:rPr>
                <a:t>          ，</a:t>
              </a:r>
              <a:r>
                <a:rPr lang="zh-CN" altLang="en-US" sz="2000" dirty="0">
                  <a:solidFill>
                    <a:srgbClr val="FF00FF"/>
                  </a:solidFill>
                  <a:latin typeface="Times New Roman" panose="02020603050405020304" pitchFamily="18" charset="0"/>
                </a:rPr>
                <a:t>在         处有凹点</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graphicFrame>
          <p:nvGraphicFramePr>
            <p:cNvPr id="32775" name="Object 22"/>
            <p:cNvGraphicFramePr/>
            <p:nvPr/>
          </p:nvGraphicFramePr>
          <p:xfrm>
            <a:off x="1338" y="2552"/>
            <a:ext cx="771" cy="249"/>
          </p:xfrm>
          <a:graphic>
            <a:graphicData uri="http://schemas.openxmlformats.org/presentationml/2006/ole">
              <mc:AlternateContent xmlns:mc="http://schemas.openxmlformats.org/markup-compatibility/2006">
                <mc:Choice xmlns:v="urn:schemas-microsoft-com:vml" Requires="v">
                  <p:oleObj spid="_x0000_s12" name="" r:id="rId15" imgW="824230" imgH="266065" progId="Equation.DSMT4">
                    <p:embed/>
                  </p:oleObj>
                </mc:Choice>
                <mc:Fallback>
                  <p:oleObj name="" r:id="rId15" imgW="824230" imgH="266065" progId="Equation.DSMT4">
                    <p:embed/>
                    <p:pic>
                      <p:nvPicPr>
                        <p:cNvPr id="0" name="图片 3249"/>
                        <p:cNvPicPr/>
                        <p:nvPr/>
                      </p:nvPicPr>
                      <p:blipFill>
                        <a:blip r:embed="rId16"/>
                        <a:stretch>
                          <a:fillRect/>
                        </a:stretch>
                      </p:blipFill>
                      <p:spPr>
                        <a:xfrm>
                          <a:off x="1338" y="2552"/>
                          <a:ext cx="771" cy="249"/>
                        </a:xfrm>
                        <a:prstGeom prst="rect">
                          <a:avLst/>
                        </a:prstGeom>
                        <a:noFill/>
                        <a:ln w="38100">
                          <a:noFill/>
                          <a:miter/>
                        </a:ln>
                      </p:spPr>
                    </p:pic>
                  </p:oleObj>
                </mc:Fallback>
              </mc:AlternateContent>
            </a:graphicData>
          </a:graphic>
        </p:graphicFrame>
        <p:graphicFrame>
          <p:nvGraphicFramePr>
            <p:cNvPr id="32776" name="Object 23"/>
            <p:cNvGraphicFramePr/>
            <p:nvPr/>
          </p:nvGraphicFramePr>
          <p:xfrm>
            <a:off x="3243" y="2478"/>
            <a:ext cx="408" cy="396"/>
          </p:xfrm>
          <a:graphic>
            <a:graphicData uri="http://schemas.openxmlformats.org/presentationml/2006/ole">
              <mc:AlternateContent xmlns:mc="http://schemas.openxmlformats.org/markup-compatibility/2006">
                <mc:Choice xmlns:v="urn:schemas-microsoft-com:vml" Requires="v">
                  <p:oleObj spid="_x0000_s13" name="" r:id="rId17" imgW="444500" imgH="431800" progId="Equation.DSMT4">
                    <p:embed/>
                  </p:oleObj>
                </mc:Choice>
                <mc:Fallback>
                  <p:oleObj name="" r:id="rId17" imgW="444500" imgH="431800" progId="Equation.DSMT4">
                    <p:embed/>
                    <p:pic>
                      <p:nvPicPr>
                        <p:cNvPr id="0" name="图片 3262"/>
                        <p:cNvPicPr/>
                        <p:nvPr/>
                      </p:nvPicPr>
                      <p:blipFill>
                        <a:blip r:embed="rId18"/>
                        <a:stretch>
                          <a:fillRect/>
                        </a:stretch>
                      </p:blipFill>
                      <p:spPr>
                        <a:xfrm>
                          <a:off x="3243" y="2478"/>
                          <a:ext cx="408" cy="396"/>
                        </a:xfrm>
                        <a:prstGeom prst="rect">
                          <a:avLst/>
                        </a:prstGeom>
                        <a:noFill/>
                        <a:ln w="38100">
                          <a:noFill/>
                          <a:miter/>
                        </a:ln>
                      </p:spPr>
                    </p:pic>
                  </p:oleObj>
                </mc:Fallback>
              </mc:AlternateContent>
            </a:graphicData>
          </a:graphic>
        </p:graphicFrame>
        <p:graphicFrame>
          <p:nvGraphicFramePr>
            <p:cNvPr id="32777" name="Object 29"/>
            <p:cNvGraphicFramePr/>
            <p:nvPr/>
          </p:nvGraphicFramePr>
          <p:xfrm>
            <a:off x="4059" y="2585"/>
            <a:ext cx="499" cy="228"/>
          </p:xfrm>
          <a:graphic>
            <a:graphicData uri="http://schemas.openxmlformats.org/presentationml/2006/ole">
              <mc:AlternateContent xmlns:mc="http://schemas.openxmlformats.org/markup-compatibility/2006">
                <mc:Choice xmlns:v="urn:schemas-microsoft-com:vml" Requires="v">
                  <p:oleObj spid="_x0000_s14" name="" r:id="rId19" imgW="443865" imgH="203200" progId="Equation.DSMT4">
                    <p:embed/>
                  </p:oleObj>
                </mc:Choice>
                <mc:Fallback>
                  <p:oleObj name="" r:id="rId19" imgW="443865" imgH="203200" progId="Equation.DSMT4">
                    <p:embed/>
                    <p:pic>
                      <p:nvPicPr>
                        <p:cNvPr id="0" name="图片 3255"/>
                        <p:cNvPicPr/>
                        <p:nvPr/>
                      </p:nvPicPr>
                      <p:blipFill>
                        <a:blip r:embed="rId20"/>
                        <a:stretch>
                          <a:fillRect/>
                        </a:stretch>
                      </p:blipFill>
                      <p:spPr>
                        <a:xfrm>
                          <a:off x="4059" y="2585"/>
                          <a:ext cx="499" cy="228"/>
                        </a:xfrm>
                        <a:prstGeom prst="rect">
                          <a:avLst/>
                        </a:prstGeom>
                        <a:noFill/>
                        <a:ln w="38100">
                          <a:noFill/>
                          <a:miter/>
                        </a:ln>
                      </p:spPr>
                    </p:pic>
                  </p:oleObj>
                </mc:Fallback>
              </mc:AlternateContent>
            </a:graphicData>
          </a:graphic>
        </p:graphicFrame>
      </p:grpSp>
      <p:sp>
        <p:nvSpPr>
          <p:cNvPr id="390174" name="Text Box 30"/>
          <p:cNvSpPr txBox="1"/>
          <p:nvPr/>
        </p:nvSpPr>
        <p:spPr>
          <a:xfrm>
            <a:off x="468313" y="5568950"/>
            <a:ext cx="2978150" cy="396875"/>
          </a:xfrm>
          <a:prstGeom prst="rect">
            <a:avLst/>
          </a:prstGeom>
          <a:noFill/>
          <a:ln w="9525">
            <a:noFill/>
          </a:ln>
        </p:spPr>
        <p:txBody>
          <a:bodyPr wrap="none">
            <a:spAutoFit/>
          </a:bodyPr>
          <a:lstStyle/>
          <a:p>
            <a:r>
              <a:rPr lang="zh-CN" altLang="en-US" sz="2000" dirty="0">
                <a:latin typeface="Times New Roman" panose="02020603050405020304" pitchFamily="18" charset="0"/>
              </a:rPr>
              <a:t>归一化转移阻抗特性为：</a:t>
            </a:r>
            <a:endParaRPr lang="zh-CN" altLang="en-US" sz="2000" dirty="0">
              <a:latin typeface="Times New Roman" panose="02020603050405020304" pitchFamily="18" charset="0"/>
            </a:endParaRPr>
          </a:p>
        </p:txBody>
      </p:sp>
      <p:graphicFrame>
        <p:nvGraphicFramePr>
          <p:cNvPr id="390176" name="Object 32"/>
          <p:cNvGraphicFramePr/>
          <p:nvPr/>
        </p:nvGraphicFramePr>
        <p:xfrm>
          <a:off x="3563938" y="5373688"/>
          <a:ext cx="3482975" cy="887412"/>
        </p:xfrm>
        <a:graphic>
          <a:graphicData uri="http://schemas.openxmlformats.org/presentationml/2006/ole">
            <mc:AlternateContent xmlns:mc="http://schemas.openxmlformats.org/markup-compatibility/2006">
              <mc:Choice xmlns:v="urn:schemas-microsoft-com:vml" Requires="v">
                <p:oleObj spid="_x0000_s15" name="" r:id="rId21" imgW="1942465" imgH="495300" progId="Equation.DSMT4">
                  <p:embed/>
                </p:oleObj>
              </mc:Choice>
              <mc:Fallback>
                <p:oleObj name="" r:id="rId21" imgW="1942465" imgH="495300" progId="Equation.DSMT4">
                  <p:embed/>
                  <p:pic>
                    <p:nvPicPr>
                      <p:cNvPr id="0" name="图片 3248"/>
                      <p:cNvPicPr/>
                      <p:nvPr/>
                    </p:nvPicPr>
                    <p:blipFill>
                      <a:blip r:embed="rId22"/>
                      <a:stretch>
                        <a:fillRect/>
                      </a:stretch>
                    </p:blipFill>
                    <p:spPr>
                      <a:xfrm>
                        <a:off x="3563938" y="5373688"/>
                        <a:ext cx="3482975" cy="887412"/>
                      </a:xfrm>
                      <a:prstGeom prst="rect">
                        <a:avLst/>
                      </a:prstGeom>
                      <a:noFill/>
                      <a:ln w="38100">
                        <a:noFill/>
                        <a:miter/>
                      </a:ln>
                    </p:spPr>
                  </p:pic>
                </p:oleObj>
              </mc:Fallback>
            </mc:AlternateContent>
          </a:graphicData>
        </a:graphic>
      </p:graphicFrame>
      <p:grpSp>
        <p:nvGrpSpPr>
          <p:cNvPr id="16" name="Group 35"/>
          <p:cNvGrpSpPr/>
          <p:nvPr/>
        </p:nvGrpSpPr>
        <p:grpSpPr>
          <a:xfrm>
            <a:off x="468313" y="3141663"/>
            <a:ext cx="5184775" cy="639762"/>
            <a:chOff x="385" y="1979"/>
            <a:chExt cx="3266" cy="403"/>
          </a:xfrm>
        </p:grpSpPr>
        <p:sp>
          <p:nvSpPr>
            <p:cNvPr id="32791" name="Text Box 18"/>
            <p:cNvSpPr txBox="1"/>
            <p:nvPr/>
          </p:nvSpPr>
          <p:spPr>
            <a:xfrm>
              <a:off x="385" y="2024"/>
              <a:ext cx="2882" cy="288"/>
            </a:xfrm>
            <a:prstGeom prst="rect">
              <a:avLst/>
            </a:prstGeom>
            <a:noFill/>
            <a:ln w="9525">
              <a:noFill/>
            </a:ln>
          </p:spPr>
          <p:txBody>
            <a:bodyPr wrap="none">
              <a:spAutoFit/>
            </a:bodyPr>
            <a:lstStyle/>
            <a:p>
              <a:r>
                <a:rPr lang="zh-CN" altLang="en-US" sz="2000" dirty="0">
                  <a:latin typeface="Times New Roman" panose="02020603050405020304" pitchFamily="18" charset="0"/>
                </a:rPr>
                <a:t>故当</a:t>
              </a:r>
              <a:r>
                <a:rPr lang="en-US" altLang="zh-CN" sz="2000" dirty="0">
                  <a:latin typeface="Times New Roman" panose="02020603050405020304" pitchFamily="18" charset="0"/>
                </a:rPr>
                <a:t>A&lt;1</a:t>
              </a:r>
              <a:r>
                <a:rPr lang="zh-CN" altLang="en-US" sz="2000" dirty="0">
                  <a:latin typeface="Times New Roman" panose="02020603050405020304" pitchFamily="18" charset="0"/>
                </a:rPr>
                <a:t>时，在          处有极大值</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graphicFrame>
          <p:nvGraphicFramePr>
            <p:cNvPr id="32773" name="Object 19"/>
            <p:cNvGraphicFramePr/>
            <p:nvPr/>
          </p:nvGraphicFramePr>
          <p:xfrm>
            <a:off x="2880" y="1979"/>
            <a:ext cx="771" cy="403"/>
          </p:xfrm>
          <a:graphic>
            <a:graphicData uri="http://schemas.openxmlformats.org/presentationml/2006/ole">
              <mc:AlternateContent xmlns:mc="http://schemas.openxmlformats.org/markup-compatibility/2006">
                <mc:Choice xmlns:v="urn:schemas-microsoft-com:vml" Requires="v">
                  <p:oleObj spid="_x0000_s17" name="" r:id="rId23" imgW="824865" imgH="431800" progId="Equation.DSMT4">
                    <p:embed/>
                  </p:oleObj>
                </mc:Choice>
                <mc:Fallback>
                  <p:oleObj name="" r:id="rId23" imgW="824865" imgH="431800" progId="Equation.DSMT4">
                    <p:embed/>
                    <p:pic>
                      <p:nvPicPr>
                        <p:cNvPr id="0" name="图片 3244"/>
                        <p:cNvPicPr/>
                        <p:nvPr/>
                      </p:nvPicPr>
                      <p:blipFill>
                        <a:blip r:embed="rId24"/>
                        <a:stretch>
                          <a:fillRect/>
                        </a:stretch>
                      </p:blipFill>
                      <p:spPr>
                        <a:xfrm>
                          <a:off x="2880" y="1979"/>
                          <a:ext cx="771" cy="403"/>
                        </a:xfrm>
                        <a:prstGeom prst="rect">
                          <a:avLst/>
                        </a:prstGeom>
                        <a:noFill/>
                        <a:ln w="38100">
                          <a:noFill/>
                          <a:miter/>
                        </a:ln>
                      </p:spPr>
                    </p:pic>
                  </p:oleObj>
                </mc:Fallback>
              </mc:AlternateContent>
            </a:graphicData>
          </a:graphic>
        </p:graphicFrame>
        <p:graphicFrame>
          <p:nvGraphicFramePr>
            <p:cNvPr id="32774" name="Object 17"/>
            <p:cNvGraphicFramePr/>
            <p:nvPr/>
          </p:nvGraphicFramePr>
          <p:xfrm>
            <a:off x="1519" y="2069"/>
            <a:ext cx="424" cy="212"/>
          </p:xfrm>
          <a:graphic>
            <a:graphicData uri="http://schemas.openxmlformats.org/presentationml/2006/ole">
              <mc:AlternateContent xmlns:mc="http://schemas.openxmlformats.org/markup-compatibility/2006">
                <mc:Choice xmlns:v="urn:schemas-microsoft-com:vml" Requires="v">
                  <p:oleObj spid="_x0000_s18" name="" r:id="rId25" imgW="405765" imgH="203200" progId="Equation.DSMT4">
                    <p:embed/>
                  </p:oleObj>
                </mc:Choice>
                <mc:Fallback>
                  <p:oleObj name="" r:id="rId25" imgW="405765" imgH="203200" progId="Equation.DSMT4">
                    <p:embed/>
                    <p:pic>
                      <p:nvPicPr>
                        <p:cNvPr id="0" name="图片 3253"/>
                        <p:cNvPicPr/>
                        <p:nvPr/>
                      </p:nvPicPr>
                      <p:blipFill>
                        <a:blip r:embed="rId26"/>
                        <a:stretch>
                          <a:fillRect/>
                        </a:stretch>
                      </p:blipFill>
                      <p:spPr>
                        <a:xfrm>
                          <a:off x="1519" y="2069"/>
                          <a:ext cx="424" cy="212"/>
                        </a:xfrm>
                        <a:prstGeom prst="rect">
                          <a:avLst/>
                        </a:prstGeom>
                        <a:noFill/>
                        <a:ln w="38100">
                          <a:noFill/>
                          <a:miter/>
                        </a:ln>
                      </p:spPr>
                    </p:pic>
                  </p:oleObj>
                </mc:Fallback>
              </mc:AlternateContent>
            </a:graphicData>
          </a:graphic>
        </p:graphicFrame>
      </p:grpSp>
      <p:sp>
        <p:nvSpPr>
          <p:cNvPr id="22536" name="Text Box 8"/>
          <p:cNvSpPr txBox="1"/>
          <p:nvPr/>
        </p:nvSpPr>
        <p:spPr>
          <a:xfrm>
            <a:off x="107633" y="476885"/>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sp>
        <p:nvSpPr>
          <p:cNvPr id="78852" name="Text Box 8"/>
          <p:cNvSpPr txBox="1"/>
          <p:nvPr/>
        </p:nvSpPr>
        <p:spPr>
          <a:xfrm>
            <a:off x="484823" y="836930"/>
            <a:ext cx="3078480" cy="460375"/>
          </a:xfrm>
          <a:prstGeom prst="rect">
            <a:avLst/>
          </a:prstGeom>
          <a:noFill/>
          <a:ln w="9525">
            <a:noFill/>
          </a:ln>
        </p:spPr>
        <p:txBody>
          <a:bodyPr wrap="none">
            <a:spAutoFit/>
          </a:bodyPr>
          <a:lstStyle/>
          <a:p>
            <a:r>
              <a:rPr lang="zh-CN" altLang="en-US" sz="2400" dirty="0">
                <a:solidFill>
                  <a:schemeClr val="accent2"/>
                </a:solidFill>
                <a:latin typeface="Times New Roman" panose="02020603050405020304" pitchFamily="18" charset="0"/>
              </a:rPr>
              <a:t>（</a:t>
            </a:r>
            <a:r>
              <a:rPr lang="en-US" altLang="zh-CN" sz="2400" dirty="0">
                <a:solidFill>
                  <a:schemeClr val="accent2"/>
                </a:solidFill>
                <a:latin typeface="Times New Roman" panose="02020603050405020304" pitchFamily="18" charset="0"/>
              </a:rPr>
              <a:t>4</a:t>
            </a:r>
            <a:r>
              <a:rPr lang="zh-CN" altLang="en-US" sz="2400" dirty="0">
                <a:solidFill>
                  <a:schemeClr val="accent2"/>
                </a:solidFill>
                <a:latin typeface="Times New Roman" panose="02020603050405020304" pitchFamily="18" charset="0"/>
              </a:rPr>
              <a:t>）耦合谐振回路</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Tree>
  </p:cSld>
  <p:clrMapOvr>
    <a:masterClrMapping/>
  </p:clrMapOvr>
  <p:transition spd="med">
    <p:zo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9"/>
          <p:cNvGrpSpPr/>
          <p:nvPr/>
        </p:nvGrpSpPr>
        <p:grpSpPr>
          <a:xfrm>
            <a:off x="3995738" y="1125538"/>
            <a:ext cx="4895850" cy="4051300"/>
            <a:chOff x="1837" y="1162"/>
            <a:chExt cx="3629" cy="2966"/>
          </a:xfrm>
        </p:grpSpPr>
        <p:graphicFrame>
          <p:nvGraphicFramePr>
            <p:cNvPr id="33797" name="Object 10"/>
            <p:cNvGraphicFramePr/>
            <p:nvPr/>
          </p:nvGraphicFramePr>
          <p:xfrm>
            <a:off x="1837" y="1162"/>
            <a:ext cx="3629" cy="2590"/>
          </p:xfrm>
          <a:graphic>
            <a:graphicData uri="http://schemas.openxmlformats.org/presentationml/2006/ole">
              <mc:AlternateContent xmlns:mc="http://schemas.openxmlformats.org/markup-compatibility/2006">
                <mc:Choice xmlns:v="urn:schemas-microsoft-com:vml" Requires="v">
                  <p:oleObj spid="_x0000_s2" name="" r:id="rId1" imgW="2371090" imgH="1545590" progId="Visio.Drawing.4">
                    <p:embed/>
                  </p:oleObj>
                </mc:Choice>
                <mc:Fallback>
                  <p:oleObj name="" r:id="rId1" imgW="2371090" imgH="1545590" progId="Visio.Drawing.4">
                    <p:embed/>
                    <p:pic>
                      <p:nvPicPr>
                        <p:cNvPr id="0" name="图片 3254"/>
                        <p:cNvPicPr/>
                        <p:nvPr/>
                      </p:nvPicPr>
                      <p:blipFill>
                        <a:blip r:embed="rId2"/>
                        <a:stretch>
                          <a:fillRect/>
                        </a:stretch>
                      </p:blipFill>
                      <p:spPr>
                        <a:xfrm>
                          <a:off x="1837" y="1162"/>
                          <a:ext cx="3629" cy="2590"/>
                        </a:xfrm>
                        <a:prstGeom prst="rect">
                          <a:avLst/>
                        </a:prstGeom>
                        <a:noFill/>
                        <a:ln w="38100">
                          <a:noFill/>
                          <a:miter/>
                        </a:ln>
                      </p:spPr>
                    </p:pic>
                  </p:oleObj>
                </mc:Fallback>
              </mc:AlternateContent>
            </a:graphicData>
          </a:graphic>
        </p:graphicFrame>
        <p:sp>
          <p:nvSpPr>
            <p:cNvPr id="33805" name="Rectangle 11"/>
            <p:cNvSpPr/>
            <p:nvPr/>
          </p:nvSpPr>
          <p:spPr>
            <a:xfrm>
              <a:off x="2700" y="3793"/>
              <a:ext cx="2075" cy="335"/>
            </a:xfrm>
            <a:prstGeom prst="rect">
              <a:avLst/>
            </a:prstGeom>
            <a:noFill/>
            <a:ln w="9525">
              <a:noFill/>
            </a:ln>
          </p:spPr>
          <p:txBody>
            <a:bodyPr wrap="none">
              <a:spAutoFit/>
            </a:bodyPr>
            <a:lstStyle/>
            <a:p>
              <a:pPr>
                <a:spcBef>
                  <a:spcPct val="50000"/>
                </a:spcBef>
              </a:pPr>
              <a:r>
                <a:rPr lang="en-US" altLang="zh-CN" sz="2000" dirty="0">
                  <a:latin typeface="Times New Roman" panose="02020603050405020304" pitchFamily="18" charset="0"/>
                </a:rPr>
                <a:t>    </a:t>
              </a:r>
              <a:r>
                <a:rPr lang="zh-CN" altLang="en-US" sz="2000" dirty="0">
                  <a:latin typeface="Times New Roman" panose="02020603050405020304" pitchFamily="18" charset="0"/>
                </a:rPr>
                <a:t>耦合回路的频率特性</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grpSp>
      <p:grpSp>
        <p:nvGrpSpPr>
          <p:cNvPr id="4" name="Group 17"/>
          <p:cNvGrpSpPr/>
          <p:nvPr/>
        </p:nvGrpSpPr>
        <p:grpSpPr>
          <a:xfrm>
            <a:off x="611823" y="1484313"/>
            <a:ext cx="3889375" cy="2030413"/>
            <a:chOff x="385" y="1217"/>
            <a:chExt cx="2450" cy="1279"/>
          </a:xfrm>
        </p:grpSpPr>
        <p:sp>
          <p:nvSpPr>
            <p:cNvPr id="33804" name="Text Box 13"/>
            <p:cNvSpPr txBox="1"/>
            <p:nvPr/>
          </p:nvSpPr>
          <p:spPr>
            <a:xfrm>
              <a:off x="385" y="1217"/>
              <a:ext cx="2450" cy="1279"/>
            </a:xfrm>
            <a:prstGeom prst="rect">
              <a:avLst/>
            </a:prstGeom>
            <a:noFill/>
            <a:ln w="9525">
              <a:noFill/>
            </a:ln>
          </p:spPr>
          <p:txBody>
            <a:bodyPr>
              <a:spAutoFit/>
            </a:bodyPr>
            <a:lstStyle/>
            <a:p>
              <a:pPr>
                <a:lnSpc>
                  <a:spcPct val="150000"/>
                </a:lnSpc>
              </a:pPr>
              <a:r>
                <a:rPr lang="zh-CN" altLang="en-US" sz="2000" dirty="0">
                  <a:latin typeface="Times New Roman" panose="02020603050405020304" pitchFamily="18" charset="0"/>
                </a:rPr>
                <a:t>一般当</a:t>
              </a:r>
              <a:r>
                <a:rPr lang="en-US" altLang="zh-CN" sz="2000" dirty="0">
                  <a:solidFill>
                    <a:srgbClr val="FF0066"/>
                  </a:solidFill>
                  <a:latin typeface="Times New Roman" panose="02020603050405020304" pitchFamily="18" charset="0"/>
                </a:rPr>
                <a:t>A=1</a:t>
              </a:r>
              <a:r>
                <a:rPr lang="zh-CN" altLang="en-US" sz="2000" dirty="0">
                  <a:latin typeface="Times New Roman" panose="02020603050405020304" pitchFamily="18" charset="0"/>
                </a:rPr>
                <a:t>时，为</a:t>
              </a:r>
              <a:r>
                <a:rPr lang="zh-CN" altLang="en-US" sz="2000" dirty="0">
                  <a:solidFill>
                    <a:srgbClr val="FF0066"/>
                  </a:solidFill>
                  <a:latin typeface="Times New Roman" panose="02020603050405020304" pitchFamily="18" charset="0"/>
                </a:rPr>
                <a:t>临界耦合</a:t>
              </a:r>
              <a:r>
                <a:rPr lang="zh-CN" altLang="en-US" sz="2000" dirty="0">
                  <a:latin typeface="Times New Roman" panose="02020603050405020304" pitchFamily="18" charset="0"/>
                </a:rPr>
                <a:t>，耦合系数              </a:t>
              </a:r>
              <a:r>
                <a:rPr lang="en-US" altLang="zh-CN" sz="2000" dirty="0">
                  <a:latin typeface="Times New Roman" panose="02020603050405020304" pitchFamily="18" charset="0"/>
                </a:rPr>
                <a:t> </a:t>
              </a:r>
              <a:r>
                <a:rPr lang="zh-CN" altLang="en-US" sz="2000" dirty="0">
                  <a:latin typeface="Times New Roman" panose="02020603050405020304" pitchFamily="18" charset="0"/>
                </a:rPr>
                <a:t>为临界耦合系数；当</a:t>
              </a:r>
              <a:r>
                <a:rPr lang="en-US" altLang="zh-CN" sz="2000" dirty="0">
                  <a:latin typeface="Times New Roman" panose="02020603050405020304" pitchFamily="18" charset="0"/>
                </a:rPr>
                <a:t>A&gt;1</a:t>
              </a:r>
              <a:r>
                <a:rPr lang="zh-CN" altLang="en-US" sz="2000" dirty="0">
                  <a:latin typeface="Times New Roman" panose="02020603050405020304" pitchFamily="18" charset="0"/>
                </a:rPr>
                <a:t>时，为</a:t>
              </a:r>
              <a:r>
                <a:rPr lang="zh-CN" altLang="en-US" sz="2000" dirty="0">
                  <a:solidFill>
                    <a:srgbClr val="FF00FF"/>
                  </a:solidFill>
                  <a:latin typeface="Times New Roman" panose="02020603050405020304" pitchFamily="18" charset="0"/>
                </a:rPr>
                <a:t>过耦合</a:t>
              </a:r>
              <a:r>
                <a:rPr lang="zh-CN" altLang="en-US" sz="2000" dirty="0">
                  <a:latin typeface="Times New Roman" panose="02020603050405020304" pitchFamily="18" charset="0"/>
                </a:rPr>
                <a:t>                  ；当</a:t>
              </a:r>
              <a:r>
                <a:rPr lang="en-US" altLang="zh-CN" sz="2000" dirty="0">
                  <a:latin typeface="Times New Roman" panose="02020603050405020304" pitchFamily="18" charset="0"/>
                </a:rPr>
                <a:t>A&lt;1</a:t>
              </a:r>
              <a:r>
                <a:rPr lang="zh-CN" altLang="en-US" sz="2000" dirty="0">
                  <a:latin typeface="Times New Roman" panose="02020603050405020304" pitchFamily="18" charset="0"/>
                </a:rPr>
                <a:t>时，为</a:t>
              </a:r>
              <a:r>
                <a:rPr lang="zh-CN" altLang="en-US" sz="2000" dirty="0">
                  <a:solidFill>
                    <a:srgbClr val="FF00FF"/>
                  </a:solidFill>
                  <a:latin typeface="Times New Roman" panose="02020603050405020304" pitchFamily="18" charset="0"/>
                </a:rPr>
                <a:t>欠耦合</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aphicFrame>
          <p:nvGraphicFramePr>
            <p:cNvPr id="33794" name="Object 14"/>
            <p:cNvGraphicFramePr/>
            <p:nvPr/>
          </p:nvGraphicFramePr>
          <p:xfrm>
            <a:off x="929" y="1570"/>
            <a:ext cx="635" cy="248"/>
          </p:xfrm>
          <a:graphic>
            <a:graphicData uri="http://schemas.openxmlformats.org/presentationml/2006/ole">
              <mc:AlternateContent xmlns:mc="http://schemas.openxmlformats.org/markup-compatibility/2006">
                <mc:Choice xmlns:v="urn:schemas-microsoft-com:vml" Requires="v">
                  <p:oleObj spid="_x0000_s5" name="" r:id="rId3" imgW="584200" imgH="228600" progId="Equation.DSMT4">
                    <p:embed/>
                  </p:oleObj>
                </mc:Choice>
                <mc:Fallback>
                  <p:oleObj name="" r:id="rId3" imgW="584200" imgH="228600" progId="Equation.DSMT4">
                    <p:embed/>
                    <p:pic>
                      <p:nvPicPr>
                        <p:cNvPr id="0" name="图片 3256"/>
                        <p:cNvPicPr/>
                        <p:nvPr/>
                      </p:nvPicPr>
                      <p:blipFill>
                        <a:blip r:embed="rId4"/>
                        <a:stretch>
                          <a:fillRect/>
                        </a:stretch>
                      </p:blipFill>
                      <p:spPr>
                        <a:xfrm>
                          <a:off x="929" y="1570"/>
                          <a:ext cx="635" cy="248"/>
                        </a:xfrm>
                        <a:prstGeom prst="rect">
                          <a:avLst/>
                        </a:prstGeom>
                        <a:noFill/>
                        <a:ln w="38100">
                          <a:noFill/>
                          <a:miter/>
                        </a:ln>
                      </p:spPr>
                    </p:pic>
                  </p:oleObj>
                </mc:Fallback>
              </mc:AlternateContent>
            </a:graphicData>
          </a:graphic>
        </p:graphicFrame>
        <p:graphicFrame>
          <p:nvGraphicFramePr>
            <p:cNvPr id="33795" name="Object 15"/>
            <p:cNvGraphicFramePr/>
            <p:nvPr/>
          </p:nvGraphicFramePr>
          <p:xfrm>
            <a:off x="1927" y="1838"/>
            <a:ext cx="544" cy="316"/>
          </p:xfrm>
          <a:graphic>
            <a:graphicData uri="http://schemas.openxmlformats.org/presentationml/2006/ole">
              <mc:AlternateContent xmlns:mc="http://schemas.openxmlformats.org/markup-compatibility/2006">
                <mc:Choice xmlns:v="urn:schemas-microsoft-com:vml" Requires="v">
                  <p:oleObj spid="_x0000_s6" name="" r:id="rId5" imgW="393700" imgH="228600" progId="Equation.DSMT4">
                    <p:embed/>
                  </p:oleObj>
                </mc:Choice>
                <mc:Fallback>
                  <p:oleObj name="" r:id="rId5" imgW="393700" imgH="228600" progId="Equation.DSMT4">
                    <p:embed/>
                    <p:pic>
                      <p:nvPicPr>
                        <p:cNvPr id="0" name="图片 3261"/>
                        <p:cNvPicPr/>
                        <p:nvPr/>
                      </p:nvPicPr>
                      <p:blipFill>
                        <a:blip r:embed="rId6"/>
                        <a:stretch>
                          <a:fillRect/>
                        </a:stretch>
                      </p:blipFill>
                      <p:spPr>
                        <a:xfrm>
                          <a:off x="1927" y="1838"/>
                          <a:ext cx="544" cy="316"/>
                        </a:xfrm>
                        <a:prstGeom prst="rect">
                          <a:avLst/>
                        </a:prstGeom>
                        <a:noFill/>
                        <a:ln w="38100">
                          <a:noFill/>
                          <a:miter/>
                        </a:ln>
                      </p:spPr>
                    </p:pic>
                  </p:oleObj>
                </mc:Fallback>
              </mc:AlternateContent>
            </a:graphicData>
          </a:graphic>
        </p:graphicFrame>
        <p:graphicFrame>
          <p:nvGraphicFramePr>
            <p:cNvPr id="33796" name="Object 16"/>
            <p:cNvGraphicFramePr/>
            <p:nvPr/>
          </p:nvGraphicFramePr>
          <p:xfrm>
            <a:off x="1972" y="2154"/>
            <a:ext cx="589" cy="342"/>
          </p:xfrm>
          <a:graphic>
            <a:graphicData uri="http://schemas.openxmlformats.org/presentationml/2006/ole">
              <mc:AlternateContent xmlns:mc="http://schemas.openxmlformats.org/markup-compatibility/2006">
                <mc:Choice xmlns:v="urn:schemas-microsoft-com:vml" Requires="v">
                  <p:oleObj spid="_x0000_s7" name="" r:id="rId7" imgW="393700" imgH="228600" progId="Equation.DSMT4">
                    <p:embed/>
                  </p:oleObj>
                </mc:Choice>
                <mc:Fallback>
                  <p:oleObj name="" r:id="rId7" imgW="393700" imgH="228600" progId="Equation.DSMT4">
                    <p:embed/>
                    <p:pic>
                      <p:nvPicPr>
                        <p:cNvPr id="0" name="图片 3257"/>
                        <p:cNvPicPr/>
                        <p:nvPr/>
                      </p:nvPicPr>
                      <p:blipFill>
                        <a:blip r:embed="rId8"/>
                        <a:stretch>
                          <a:fillRect/>
                        </a:stretch>
                      </p:blipFill>
                      <p:spPr>
                        <a:xfrm>
                          <a:off x="1972" y="2154"/>
                          <a:ext cx="589" cy="342"/>
                        </a:xfrm>
                        <a:prstGeom prst="rect">
                          <a:avLst/>
                        </a:prstGeom>
                        <a:noFill/>
                        <a:ln w="38100">
                          <a:noFill/>
                          <a:miter/>
                        </a:ln>
                      </p:spPr>
                    </p:pic>
                  </p:oleObj>
                </mc:Fallback>
              </mc:AlternateContent>
            </a:graphicData>
          </a:graphic>
        </p:graphicFrame>
      </p:grpSp>
      <p:sp>
        <p:nvSpPr>
          <p:cNvPr id="391186" name="Text Box 18"/>
          <p:cNvSpPr txBox="1"/>
          <p:nvPr/>
        </p:nvSpPr>
        <p:spPr>
          <a:xfrm>
            <a:off x="611823" y="3644900"/>
            <a:ext cx="4175125" cy="1311275"/>
          </a:xfrm>
          <a:prstGeom prst="rect">
            <a:avLst/>
          </a:prstGeom>
          <a:noFill/>
          <a:ln w="9525">
            <a:noFill/>
          </a:ln>
        </p:spPr>
        <p:txBody>
          <a:bodyPr>
            <a:spAutoFit/>
          </a:bodyPr>
          <a:lstStyle/>
          <a:p>
            <a:pPr algn="just"/>
            <a:r>
              <a:rPr lang="zh-CN" altLang="en-US" sz="2000" b="1" dirty="0">
                <a:solidFill>
                  <a:srgbClr val="FF0066"/>
                </a:solidFill>
                <a:latin typeface="Times New Roman" panose="02020603050405020304" pitchFamily="18" charset="0"/>
              </a:rPr>
              <a:t>由图可知：当在欠耦合时，曲线较尖，带宽窄，且其最大值也小，因此一般不工作该状态。当</a:t>
            </a:r>
            <a:r>
              <a:rPr lang="en-US" altLang="zh-CN" sz="2000" b="1" i="1" dirty="0">
                <a:solidFill>
                  <a:srgbClr val="FF0066"/>
                </a:solidFill>
                <a:latin typeface="Times New Roman" panose="02020603050405020304" pitchFamily="18" charset="0"/>
              </a:rPr>
              <a:t>k</a:t>
            </a:r>
            <a:r>
              <a:rPr lang="zh-CN" altLang="en-US" sz="2000" b="1" dirty="0">
                <a:solidFill>
                  <a:srgbClr val="FF0066"/>
                </a:solidFill>
                <a:latin typeface="Times New Roman" panose="02020603050405020304" pitchFamily="18" charset="0"/>
              </a:rPr>
              <a:t>增加至临界耦合时，曲线由单峰向双峰变化。</a:t>
            </a:r>
            <a:endParaRPr lang="zh-CN" altLang="en-US" sz="2000" b="1" dirty="0">
              <a:solidFill>
                <a:srgbClr val="FF0066"/>
              </a:solidFill>
              <a:latin typeface="Times New Roman" panose="02020603050405020304" pitchFamily="18" charset="0"/>
            </a:endParaRPr>
          </a:p>
        </p:txBody>
      </p:sp>
      <p:sp>
        <p:nvSpPr>
          <p:cNvPr id="22536" name="Text Box 8"/>
          <p:cNvSpPr txBox="1"/>
          <p:nvPr/>
        </p:nvSpPr>
        <p:spPr>
          <a:xfrm>
            <a:off x="179388" y="458470"/>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sp>
        <p:nvSpPr>
          <p:cNvPr id="78852" name="Text Box 8"/>
          <p:cNvSpPr txBox="1"/>
          <p:nvPr/>
        </p:nvSpPr>
        <p:spPr>
          <a:xfrm>
            <a:off x="468313" y="981075"/>
            <a:ext cx="3078480" cy="460375"/>
          </a:xfrm>
          <a:prstGeom prst="rect">
            <a:avLst/>
          </a:prstGeom>
          <a:noFill/>
          <a:ln w="9525">
            <a:noFill/>
          </a:ln>
        </p:spPr>
        <p:txBody>
          <a:bodyPr wrap="none">
            <a:spAutoFit/>
          </a:bodyPr>
          <a:lstStyle/>
          <a:p>
            <a:r>
              <a:rPr lang="zh-CN" altLang="en-US" sz="2400" dirty="0">
                <a:solidFill>
                  <a:schemeClr val="accent2"/>
                </a:solidFill>
                <a:latin typeface="Times New Roman" panose="02020603050405020304" pitchFamily="18" charset="0"/>
              </a:rPr>
              <a:t>（</a:t>
            </a:r>
            <a:r>
              <a:rPr lang="en-US" altLang="zh-CN" sz="2400" dirty="0">
                <a:solidFill>
                  <a:schemeClr val="accent2"/>
                </a:solidFill>
                <a:latin typeface="Times New Roman" panose="02020603050405020304" pitchFamily="18" charset="0"/>
              </a:rPr>
              <a:t>4</a:t>
            </a:r>
            <a:r>
              <a:rPr lang="zh-CN" altLang="en-US" sz="2400" dirty="0">
                <a:solidFill>
                  <a:schemeClr val="accent2"/>
                </a:solidFill>
                <a:latin typeface="Times New Roman" panose="02020603050405020304" pitchFamily="18" charset="0"/>
              </a:rPr>
              <a:t>）耦合谐振回路</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Tree>
  </p:cSld>
  <p:clrMapOvr>
    <a:masterClrMapping/>
  </p:clrMapOvr>
  <p:transition spd="med">
    <p:zo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2202" name="Object 10"/>
          <p:cNvGraphicFramePr/>
          <p:nvPr/>
        </p:nvGraphicFramePr>
        <p:xfrm>
          <a:off x="2482850" y="2493963"/>
          <a:ext cx="2016125" cy="984250"/>
        </p:xfrm>
        <a:graphic>
          <a:graphicData uri="http://schemas.openxmlformats.org/presentationml/2006/ole">
            <mc:AlternateContent xmlns:mc="http://schemas.openxmlformats.org/markup-compatibility/2006">
              <mc:Choice xmlns:v="urn:schemas-microsoft-com:vml" Requires="v">
                <p:oleObj spid="_x0000_s2" name="" r:id="rId1" imgW="1231265" imgH="647700" progId="Equation.DSMT4">
                  <p:embed/>
                </p:oleObj>
              </mc:Choice>
              <mc:Fallback>
                <p:oleObj name="" r:id="rId1" imgW="1231265" imgH="647700" progId="Equation.DSMT4">
                  <p:embed/>
                  <p:pic>
                    <p:nvPicPr>
                      <p:cNvPr id="0" name="图片 3268"/>
                      <p:cNvPicPr/>
                      <p:nvPr/>
                    </p:nvPicPr>
                    <p:blipFill>
                      <a:blip r:embed="rId2"/>
                      <a:stretch>
                        <a:fillRect/>
                      </a:stretch>
                    </p:blipFill>
                    <p:spPr>
                      <a:xfrm>
                        <a:off x="2482850" y="2493963"/>
                        <a:ext cx="2016125" cy="984250"/>
                      </a:xfrm>
                      <a:prstGeom prst="rect">
                        <a:avLst/>
                      </a:prstGeom>
                      <a:noFill/>
                      <a:ln w="38100">
                        <a:noFill/>
                        <a:miter/>
                      </a:ln>
                    </p:spPr>
                  </p:pic>
                </p:oleObj>
              </mc:Fallback>
            </mc:AlternateContent>
          </a:graphicData>
        </a:graphic>
      </p:graphicFrame>
      <p:sp>
        <p:nvSpPr>
          <p:cNvPr id="392203" name="Text Box 11"/>
          <p:cNvSpPr txBox="1"/>
          <p:nvPr/>
        </p:nvSpPr>
        <p:spPr>
          <a:xfrm>
            <a:off x="755650" y="1981200"/>
            <a:ext cx="3990975" cy="457200"/>
          </a:xfrm>
          <a:prstGeom prst="rect">
            <a:avLst/>
          </a:prstGeom>
          <a:noFill/>
          <a:ln w="9525">
            <a:noFill/>
          </a:ln>
        </p:spPr>
        <p:txBody>
          <a:bodyPr wrap="none">
            <a:spAutoFit/>
          </a:bodyPr>
          <a:lstStyle/>
          <a:p>
            <a:r>
              <a:rPr lang="zh-CN" altLang="en-US" sz="2000" dirty="0">
                <a:solidFill>
                  <a:schemeClr val="accent2"/>
                </a:solidFill>
                <a:latin typeface="Times New Roman" panose="02020603050405020304" pitchFamily="18" charset="0"/>
              </a:rPr>
              <a:t>临界耦合</a:t>
            </a:r>
            <a:r>
              <a:rPr lang="zh-CN" altLang="en-US" sz="2000" dirty="0">
                <a:latin typeface="Times New Roman" panose="02020603050405020304" pitchFamily="18" charset="0"/>
              </a:rPr>
              <a:t>时，将</a:t>
            </a:r>
            <a:r>
              <a:rPr lang="en-US" altLang="zh-CN" sz="2000" dirty="0">
                <a:latin typeface="Times New Roman" panose="02020603050405020304" pitchFamily="18" charset="0"/>
              </a:rPr>
              <a:t>A=1</a:t>
            </a:r>
            <a:r>
              <a:rPr lang="zh-CN" altLang="en-US" sz="2000" dirty="0">
                <a:latin typeface="Times New Roman" panose="02020603050405020304" pitchFamily="18" charset="0"/>
              </a:rPr>
              <a:t>代入，则有</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nvGrpSpPr>
          <p:cNvPr id="3" name="Group 24"/>
          <p:cNvGrpSpPr/>
          <p:nvPr/>
        </p:nvGrpSpPr>
        <p:grpSpPr>
          <a:xfrm>
            <a:off x="3348038" y="3430588"/>
            <a:ext cx="3887787" cy="728662"/>
            <a:chOff x="2109" y="2161"/>
            <a:chExt cx="2449" cy="459"/>
          </a:xfrm>
        </p:grpSpPr>
        <p:graphicFrame>
          <p:nvGraphicFramePr>
            <p:cNvPr id="34824" name="Object 9"/>
            <p:cNvGraphicFramePr/>
            <p:nvPr/>
          </p:nvGraphicFramePr>
          <p:xfrm>
            <a:off x="3696" y="2161"/>
            <a:ext cx="862" cy="459"/>
          </p:xfrm>
          <a:graphic>
            <a:graphicData uri="http://schemas.openxmlformats.org/presentationml/2006/ole">
              <mc:AlternateContent xmlns:mc="http://schemas.openxmlformats.org/markup-compatibility/2006">
                <mc:Choice xmlns:v="urn:schemas-microsoft-com:vml" Requires="v">
                  <p:oleObj spid="_x0000_s4" name="" r:id="rId3" imgW="787400" imgH="419100" progId="Equation.DSMT4">
                    <p:embed/>
                  </p:oleObj>
                </mc:Choice>
                <mc:Fallback>
                  <p:oleObj name="" r:id="rId3" imgW="787400" imgH="419100" progId="Equation.DSMT4">
                    <p:embed/>
                    <p:pic>
                      <p:nvPicPr>
                        <p:cNvPr id="0" name="图片 3265"/>
                        <p:cNvPicPr/>
                        <p:nvPr/>
                      </p:nvPicPr>
                      <p:blipFill>
                        <a:blip r:embed="rId4"/>
                        <a:stretch>
                          <a:fillRect/>
                        </a:stretch>
                      </p:blipFill>
                      <p:spPr>
                        <a:xfrm>
                          <a:off x="3696" y="2161"/>
                          <a:ext cx="862" cy="459"/>
                        </a:xfrm>
                        <a:prstGeom prst="rect">
                          <a:avLst/>
                        </a:prstGeom>
                        <a:noFill/>
                        <a:ln w="38100">
                          <a:noFill/>
                          <a:miter/>
                        </a:ln>
                      </p:spPr>
                    </p:pic>
                  </p:oleObj>
                </mc:Fallback>
              </mc:AlternateContent>
            </a:graphicData>
          </a:graphic>
        </p:graphicFrame>
        <p:sp>
          <p:nvSpPr>
            <p:cNvPr id="34836" name="Text Box 13"/>
            <p:cNvSpPr txBox="1"/>
            <p:nvPr/>
          </p:nvSpPr>
          <p:spPr>
            <a:xfrm>
              <a:off x="2109" y="2283"/>
              <a:ext cx="1195" cy="251"/>
            </a:xfrm>
            <a:prstGeom prst="rect">
              <a:avLst/>
            </a:prstGeom>
            <a:noFill/>
            <a:ln w="9525">
              <a:noFill/>
            </a:ln>
          </p:spPr>
          <p:txBody>
            <a:bodyPr wrap="none">
              <a:spAutoFit/>
            </a:bodyPr>
            <a:lstStyle/>
            <a:p>
              <a:r>
                <a:rPr lang="en-US" altLang="zh-CN" sz="2000" dirty="0">
                  <a:latin typeface="Times New Roman" panose="02020603050405020304" pitchFamily="18" charset="0"/>
                  <a:sym typeface="Wingdings" panose="05000000000000000000" pitchFamily="2" charset="2"/>
                </a:rPr>
                <a:t>       </a:t>
              </a:r>
              <a:r>
                <a:rPr lang="zh-CN" altLang="en-US" sz="2000" dirty="0">
                  <a:latin typeface="Times New Roman" panose="02020603050405020304" pitchFamily="18" charset="0"/>
                  <a:sym typeface="Wingdings" panose="05000000000000000000" pitchFamily="2" charset="2"/>
                </a:rPr>
                <a:t>回路带宽：</a:t>
              </a:r>
              <a:endParaRPr lang="zh-CN" altLang="en-US" sz="2000" dirty="0">
                <a:latin typeface="Times New Roman" panose="02020603050405020304" pitchFamily="18" charset="0"/>
              </a:endParaRPr>
            </a:p>
          </p:txBody>
        </p:sp>
      </p:grpSp>
      <p:grpSp>
        <p:nvGrpSpPr>
          <p:cNvPr id="5" name="Group 23"/>
          <p:cNvGrpSpPr/>
          <p:nvPr/>
        </p:nvGrpSpPr>
        <p:grpSpPr>
          <a:xfrm>
            <a:off x="900113" y="3357563"/>
            <a:ext cx="2087562" cy="792162"/>
            <a:chOff x="567" y="2115"/>
            <a:chExt cx="1315" cy="499"/>
          </a:xfrm>
        </p:grpSpPr>
        <p:sp>
          <p:nvSpPr>
            <p:cNvPr id="34835" name="Text Box 12"/>
            <p:cNvSpPr txBox="1"/>
            <p:nvPr/>
          </p:nvSpPr>
          <p:spPr>
            <a:xfrm>
              <a:off x="567" y="2296"/>
              <a:ext cx="308" cy="288"/>
            </a:xfrm>
            <a:prstGeom prst="rect">
              <a:avLst/>
            </a:prstGeom>
            <a:noFill/>
            <a:ln w="9525">
              <a:noFill/>
            </a:ln>
          </p:spPr>
          <p:txBody>
            <a:bodyPr wrap="none">
              <a:spAutoFit/>
            </a:bodyPr>
            <a:lstStyle/>
            <a:p>
              <a:r>
                <a:rPr lang="zh-CN" altLang="en-US" dirty="0">
                  <a:latin typeface="Times New Roman" panose="02020603050405020304" pitchFamily="18" charset="0"/>
                </a:rPr>
                <a:t>令</a:t>
              </a:r>
              <a:endParaRPr lang="zh-CN" altLang="en-US" dirty="0">
                <a:latin typeface="Times New Roman" panose="02020603050405020304" pitchFamily="18" charset="0"/>
              </a:endParaRPr>
            </a:p>
          </p:txBody>
        </p:sp>
        <p:graphicFrame>
          <p:nvGraphicFramePr>
            <p:cNvPr id="34823" name="Object 14"/>
            <p:cNvGraphicFramePr/>
            <p:nvPr/>
          </p:nvGraphicFramePr>
          <p:xfrm>
            <a:off x="884" y="2115"/>
            <a:ext cx="998" cy="499"/>
          </p:xfrm>
          <a:graphic>
            <a:graphicData uri="http://schemas.openxmlformats.org/presentationml/2006/ole">
              <mc:AlternateContent xmlns:mc="http://schemas.openxmlformats.org/markup-compatibility/2006">
                <mc:Choice xmlns:v="urn:schemas-microsoft-com:vml" Requires="v">
                  <p:oleObj spid="_x0000_s6" name="" r:id="rId5" imgW="964565" imgH="482600" progId="Equation.DSMT4">
                    <p:embed/>
                  </p:oleObj>
                </mc:Choice>
                <mc:Fallback>
                  <p:oleObj name="" r:id="rId5" imgW="964565" imgH="482600" progId="Equation.DSMT4">
                    <p:embed/>
                    <p:pic>
                      <p:nvPicPr>
                        <p:cNvPr id="0" name="图片 3270"/>
                        <p:cNvPicPr/>
                        <p:nvPr/>
                      </p:nvPicPr>
                      <p:blipFill>
                        <a:blip r:embed="rId6"/>
                        <a:stretch>
                          <a:fillRect/>
                        </a:stretch>
                      </p:blipFill>
                      <p:spPr>
                        <a:xfrm>
                          <a:off x="884" y="2115"/>
                          <a:ext cx="998" cy="499"/>
                        </a:xfrm>
                        <a:prstGeom prst="rect">
                          <a:avLst/>
                        </a:prstGeom>
                        <a:noFill/>
                        <a:ln w="38100">
                          <a:noFill/>
                          <a:miter/>
                        </a:ln>
                      </p:spPr>
                    </p:pic>
                  </p:oleObj>
                </mc:Fallback>
              </mc:AlternateContent>
            </a:graphicData>
          </a:graphic>
        </p:graphicFrame>
      </p:grpSp>
      <p:graphicFrame>
        <p:nvGraphicFramePr>
          <p:cNvPr id="34819" name="Object 15"/>
          <p:cNvGraphicFramePr/>
          <p:nvPr/>
        </p:nvGraphicFramePr>
        <p:xfrm>
          <a:off x="4859338" y="1052513"/>
          <a:ext cx="3482975" cy="887412"/>
        </p:xfrm>
        <a:graphic>
          <a:graphicData uri="http://schemas.openxmlformats.org/presentationml/2006/ole">
            <mc:AlternateContent xmlns:mc="http://schemas.openxmlformats.org/markup-compatibility/2006">
              <mc:Choice xmlns:v="urn:schemas-microsoft-com:vml" Requires="v">
                <p:oleObj spid="_x0000_s7" name="" r:id="rId7" imgW="1942465" imgH="495300" progId="Equation.DSMT4">
                  <p:embed/>
                </p:oleObj>
              </mc:Choice>
              <mc:Fallback>
                <p:oleObj name="" r:id="rId7" imgW="1942465" imgH="495300" progId="Equation.DSMT4">
                  <p:embed/>
                  <p:pic>
                    <p:nvPicPr>
                      <p:cNvPr id="0" name="图片 3269"/>
                      <p:cNvPicPr/>
                      <p:nvPr/>
                    </p:nvPicPr>
                    <p:blipFill>
                      <a:blip r:embed="rId8"/>
                      <a:stretch>
                        <a:fillRect/>
                      </a:stretch>
                    </p:blipFill>
                    <p:spPr>
                      <a:xfrm>
                        <a:off x="4859338" y="1052513"/>
                        <a:ext cx="3482975" cy="887412"/>
                      </a:xfrm>
                      <a:prstGeom prst="rect">
                        <a:avLst/>
                      </a:prstGeom>
                      <a:noFill/>
                      <a:ln w="38100">
                        <a:noFill/>
                        <a:miter/>
                      </a:ln>
                    </p:spPr>
                  </p:pic>
                </p:oleObj>
              </mc:Fallback>
            </mc:AlternateContent>
          </a:graphicData>
        </a:graphic>
      </p:graphicFrame>
      <p:graphicFrame>
        <p:nvGraphicFramePr>
          <p:cNvPr id="392210" name="Object 18"/>
          <p:cNvGraphicFramePr/>
          <p:nvPr/>
        </p:nvGraphicFramePr>
        <p:xfrm>
          <a:off x="5938838" y="4221163"/>
          <a:ext cx="1512887" cy="817562"/>
        </p:xfrm>
        <a:graphic>
          <a:graphicData uri="http://schemas.openxmlformats.org/presentationml/2006/ole">
            <mc:AlternateContent xmlns:mc="http://schemas.openxmlformats.org/markup-compatibility/2006">
              <mc:Choice xmlns:v="urn:schemas-microsoft-com:vml" Requires="v">
                <p:oleObj spid="_x0000_s8" name="" r:id="rId9" imgW="774065" imgH="419100" progId="Equation.DSMT4">
                  <p:embed/>
                </p:oleObj>
              </mc:Choice>
              <mc:Fallback>
                <p:oleObj name="" r:id="rId9" imgW="774065" imgH="419100" progId="Equation.DSMT4">
                  <p:embed/>
                  <p:pic>
                    <p:nvPicPr>
                      <p:cNvPr id="0" name="图片 3273"/>
                      <p:cNvPicPr/>
                      <p:nvPr/>
                    </p:nvPicPr>
                    <p:blipFill>
                      <a:blip r:embed="rId10"/>
                      <a:stretch>
                        <a:fillRect/>
                      </a:stretch>
                    </p:blipFill>
                    <p:spPr>
                      <a:xfrm>
                        <a:off x="5938838" y="4221163"/>
                        <a:ext cx="1512887" cy="817562"/>
                      </a:xfrm>
                      <a:prstGeom prst="rect">
                        <a:avLst/>
                      </a:prstGeom>
                      <a:noFill/>
                      <a:ln w="38100">
                        <a:noFill/>
                        <a:miter/>
                      </a:ln>
                    </p:spPr>
                  </p:pic>
                </p:oleObj>
              </mc:Fallback>
            </mc:AlternateContent>
          </a:graphicData>
        </a:graphic>
      </p:graphicFrame>
      <p:grpSp>
        <p:nvGrpSpPr>
          <p:cNvPr id="9" name="Group 25"/>
          <p:cNvGrpSpPr/>
          <p:nvPr/>
        </p:nvGrpSpPr>
        <p:grpSpPr>
          <a:xfrm>
            <a:off x="900113" y="4225925"/>
            <a:ext cx="1943100" cy="855662"/>
            <a:chOff x="567" y="2662"/>
            <a:chExt cx="1224" cy="539"/>
          </a:xfrm>
        </p:grpSpPr>
        <p:sp>
          <p:nvSpPr>
            <p:cNvPr id="34834" name="Text Box 16"/>
            <p:cNvSpPr txBox="1"/>
            <p:nvPr/>
          </p:nvSpPr>
          <p:spPr>
            <a:xfrm>
              <a:off x="567" y="2750"/>
              <a:ext cx="308" cy="288"/>
            </a:xfrm>
            <a:prstGeom prst="rect">
              <a:avLst/>
            </a:prstGeom>
            <a:noFill/>
            <a:ln w="9525">
              <a:noFill/>
            </a:ln>
          </p:spPr>
          <p:txBody>
            <a:bodyPr wrap="none">
              <a:spAutoFit/>
            </a:bodyPr>
            <a:lstStyle/>
            <a:p>
              <a:r>
                <a:rPr lang="zh-CN" altLang="en-US" dirty="0">
                  <a:latin typeface="Times New Roman" panose="02020603050405020304" pitchFamily="18" charset="0"/>
                </a:rPr>
                <a:t>令</a:t>
              </a:r>
              <a:endParaRPr lang="zh-CN" altLang="en-US" dirty="0">
                <a:latin typeface="Times New Roman" panose="02020603050405020304" pitchFamily="18" charset="0"/>
              </a:endParaRPr>
            </a:p>
          </p:txBody>
        </p:sp>
        <p:graphicFrame>
          <p:nvGraphicFramePr>
            <p:cNvPr id="34822" name="Object 19"/>
            <p:cNvGraphicFramePr/>
            <p:nvPr/>
          </p:nvGraphicFramePr>
          <p:xfrm>
            <a:off x="884" y="2662"/>
            <a:ext cx="907" cy="539"/>
          </p:xfrm>
          <a:graphic>
            <a:graphicData uri="http://schemas.openxmlformats.org/presentationml/2006/ole">
              <mc:AlternateContent xmlns:mc="http://schemas.openxmlformats.org/markup-compatibility/2006">
                <mc:Choice xmlns:v="urn:schemas-microsoft-com:vml" Requires="v">
                  <p:oleObj spid="_x0000_s10" name="" r:id="rId11" imgW="812165" imgH="482600" progId="Equation.DSMT4">
                    <p:embed/>
                  </p:oleObj>
                </mc:Choice>
                <mc:Fallback>
                  <p:oleObj name="" r:id="rId11" imgW="812165" imgH="482600" progId="Equation.DSMT4">
                    <p:embed/>
                    <p:pic>
                      <p:nvPicPr>
                        <p:cNvPr id="0" name="图片 3271"/>
                        <p:cNvPicPr/>
                        <p:nvPr/>
                      </p:nvPicPr>
                      <p:blipFill>
                        <a:blip r:embed="rId12"/>
                        <a:stretch>
                          <a:fillRect/>
                        </a:stretch>
                      </p:blipFill>
                      <p:spPr>
                        <a:xfrm>
                          <a:off x="884" y="2662"/>
                          <a:ext cx="907" cy="539"/>
                        </a:xfrm>
                        <a:prstGeom prst="rect">
                          <a:avLst/>
                        </a:prstGeom>
                        <a:noFill/>
                        <a:ln w="38100">
                          <a:noFill/>
                          <a:miter/>
                        </a:ln>
                      </p:spPr>
                    </p:pic>
                  </p:oleObj>
                </mc:Fallback>
              </mc:AlternateContent>
            </a:graphicData>
          </a:graphic>
        </p:graphicFrame>
      </p:grpSp>
      <p:sp>
        <p:nvSpPr>
          <p:cNvPr id="392213" name="Text Box 21"/>
          <p:cNvSpPr txBox="1"/>
          <p:nvPr/>
        </p:nvSpPr>
        <p:spPr>
          <a:xfrm>
            <a:off x="971550" y="5157788"/>
            <a:ext cx="4146550" cy="457200"/>
          </a:xfrm>
          <a:prstGeom prst="rect">
            <a:avLst/>
          </a:prstGeom>
          <a:noFill/>
          <a:ln w="9525">
            <a:noFill/>
          </a:ln>
        </p:spPr>
        <p:txBody>
          <a:bodyPr wrap="none">
            <a:spAutoFit/>
          </a:bodyPr>
          <a:lstStyle/>
          <a:p>
            <a:r>
              <a:rPr lang="zh-CN" altLang="en-US" dirty="0">
                <a:latin typeface="Times New Roman" panose="02020603050405020304" pitchFamily="18" charset="0"/>
              </a:rPr>
              <a:t>故临界耦合时的</a:t>
            </a:r>
            <a:r>
              <a:rPr lang="zh-CN" altLang="en-US" dirty="0">
                <a:solidFill>
                  <a:srgbClr val="FF0066"/>
                </a:solidFill>
                <a:latin typeface="Times New Roman" panose="02020603050405020304" pitchFamily="18" charset="0"/>
              </a:rPr>
              <a:t>矩形系数</a:t>
            </a:r>
            <a:r>
              <a:rPr lang="zh-CN" altLang="en-US" dirty="0">
                <a:latin typeface="Times New Roman" panose="02020603050405020304" pitchFamily="18" charset="0"/>
              </a:rPr>
              <a:t>为：</a:t>
            </a:r>
            <a:endParaRPr lang="zh-CN" altLang="en-US" dirty="0">
              <a:latin typeface="Times New Roman" panose="02020603050405020304" pitchFamily="18" charset="0"/>
            </a:endParaRPr>
          </a:p>
        </p:txBody>
      </p:sp>
      <p:graphicFrame>
        <p:nvGraphicFramePr>
          <p:cNvPr id="392214" name="Object 22"/>
          <p:cNvGraphicFramePr/>
          <p:nvPr/>
        </p:nvGraphicFramePr>
        <p:xfrm>
          <a:off x="5364163" y="5013325"/>
          <a:ext cx="2449512" cy="935038"/>
        </p:xfrm>
        <a:graphic>
          <a:graphicData uri="http://schemas.openxmlformats.org/presentationml/2006/ole">
            <mc:AlternateContent xmlns:mc="http://schemas.openxmlformats.org/markup-compatibility/2006">
              <mc:Choice xmlns:v="urn:schemas-microsoft-com:vml" Requires="v">
                <p:oleObj spid="_x0000_s11" name="" r:id="rId13" imgW="1129665" imgH="431800" progId="Equation.DSMT4">
                  <p:embed/>
                </p:oleObj>
              </mc:Choice>
              <mc:Fallback>
                <p:oleObj name="" r:id="rId13" imgW="1129665" imgH="431800" progId="Equation.DSMT4">
                  <p:embed/>
                  <p:pic>
                    <p:nvPicPr>
                      <p:cNvPr id="0" name="图片 3267"/>
                      <p:cNvPicPr/>
                      <p:nvPr/>
                    </p:nvPicPr>
                    <p:blipFill>
                      <a:blip r:embed="rId14"/>
                      <a:stretch>
                        <a:fillRect/>
                      </a:stretch>
                    </p:blipFill>
                    <p:spPr>
                      <a:xfrm>
                        <a:off x="5364163" y="5013325"/>
                        <a:ext cx="2449512" cy="935038"/>
                      </a:xfrm>
                      <a:prstGeom prst="rect">
                        <a:avLst/>
                      </a:prstGeom>
                      <a:noFill/>
                      <a:ln w="38100">
                        <a:noFill/>
                        <a:miter/>
                      </a:ln>
                    </p:spPr>
                  </p:pic>
                </p:oleObj>
              </mc:Fallback>
            </mc:AlternateContent>
          </a:graphicData>
        </a:graphic>
      </p:graphicFrame>
      <p:sp>
        <p:nvSpPr>
          <p:cNvPr id="22536" name="Text Box 8"/>
          <p:cNvSpPr txBox="1"/>
          <p:nvPr/>
        </p:nvSpPr>
        <p:spPr>
          <a:xfrm>
            <a:off x="179388" y="476885"/>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sp>
        <p:nvSpPr>
          <p:cNvPr id="78852" name="Text Box 8"/>
          <p:cNvSpPr txBox="1"/>
          <p:nvPr/>
        </p:nvSpPr>
        <p:spPr>
          <a:xfrm>
            <a:off x="468313" y="981075"/>
            <a:ext cx="3078480" cy="460375"/>
          </a:xfrm>
          <a:prstGeom prst="rect">
            <a:avLst/>
          </a:prstGeom>
          <a:noFill/>
          <a:ln w="9525">
            <a:noFill/>
          </a:ln>
        </p:spPr>
        <p:txBody>
          <a:bodyPr wrap="none">
            <a:spAutoFit/>
          </a:bodyPr>
          <a:lstStyle/>
          <a:p>
            <a:r>
              <a:rPr lang="zh-CN" altLang="en-US" sz="2400" dirty="0">
                <a:solidFill>
                  <a:schemeClr val="accent2"/>
                </a:solidFill>
                <a:latin typeface="Times New Roman" panose="02020603050405020304" pitchFamily="18" charset="0"/>
              </a:rPr>
              <a:t>（</a:t>
            </a:r>
            <a:r>
              <a:rPr lang="en-US" altLang="zh-CN" sz="2400" dirty="0">
                <a:solidFill>
                  <a:schemeClr val="accent2"/>
                </a:solidFill>
                <a:latin typeface="Times New Roman" panose="02020603050405020304" pitchFamily="18" charset="0"/>
              </a:rPr>
              <a:t>4</a:t>
            </a:r>
            <a:r>
              <a:rPr lang="zh-CN" altLang="en-US" sz="2400" dirty="0">
                <a:solidFill>
                  <a:schemeClr val="accent2"/>
                </a:solidFill>
                <a:latin typeface="Times New Roman" panose="02020603050405020304" pitchFamily="18" charset="0"/>
              </a:rPr>
              <a:t>）耦合谐振回路</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12" name="右箭头 11"/>
          <p:cNvSpPr/>
          <p:nvPr/>
        </p:nvSpPr>
        <p:spPr>
          <a:xfrm>
            <a:off x="3275965" y="3679190"/>
            <a:ext cx="431800" cy="288290"/>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3" name="右箭头 12"/>
          <p:cNvSpPr/>
          <p:nvPr/>
        </p:nvSpPr>
        <p:spPr>
          <a:xfrm>
            <a:off x="3275965" y="4450080"/>
            <a:ext cx="431800" cy="288290"/>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spd="med">
    <p:zo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20" name="Rectangle 4"/>
          <p:cNvSpPr/>
          <p:nvPr/>
        </p:nvSpPr>
        <p:spPr>
          <a:xfrm>
            <a:off x="755650" y="1504633"/>
            <a:ext cx="7129463" cy="701675"/>
          </a:xfrm>
          <a:prstGeom prst="rect">
            <a:avLst/>
          </a:prstGeom>
          <a:noFill/>
          <a:ln w="9525">
            <a:noFill/>
          </a:ln>
        </p:spPr>
        <p:txBody>
          <a:bodyPr>
            <a:spAutoFit/>
          </a:bodyPr>
          <a:lstStyle/>
          <a:p>
            <a:r>
              <a:rPr lang="zh-CN" altLang="en-US" sz="2000" dirty="0">
                <a:latin typeface="Times New Roman" panose="02020603050405020304" pitchFamily="18" charset="0"/>
              </a:rPr>
              <a:t>当允许频带内有凹陷起伏特性时，可以</a:t>
            </a:r>
            <a:r>
              <a:rPr lang="zh-CN" altLang="en-US" sz="2000" dirty="0">
                <a:solidFill>
                  <a:srgbClr val="FF0066"/>
                </a:solidFill>
                <a:latin typeface="Times New Roman" panose="02020603050405020304" pitchFamily="18" charset="0"/>
              </a:rPr>
              <a:t>采用过耦合状态</a:t>
            </a:r>
            <a:r>
              <a:rPr lang="zh-CN" altLang="en-US" sz="2000" dirty="0">
                <a:latin typeface="Times New Roman" panose="02020603050405020304" pitchFamily="18" charset="0"/>
              </a:rPr>
              <a:t>，它可以得更大的带宽。</a:t>
            </a:r>
            <a:endParaRPr lang="zh-CN" altLang="en-US" sz="2000" dirty="0">
              <a:latin typeface="Times New Roman" panose="02020603050405020304" pitchFamily="18" charset="0"/>
            </a:endParaRPr>
          </a:p>
        </p:txBody>
      </p:sp>
      <p:sp>
        <p:nvSpPr>
          <p:cNvPr id="393221" name="Rectangle 5"/>
          <p:cNvSpPr/>
          <p:nvPr/>
        </p:nvSpPr>
        <p:spPr>
          <a:xfrm>
            <a:off x="755650" y="2297113"/>
            <a:ext cx="7056438" cy="706755"/>
          </a:xfrm>
          <a:prstGeom prst="rect">
            <a:avLst/>
          </a:prstGeom>
          <a:noFill/>
          <a:ln w="9525">
            <a:noFill/>
          </a:ln>
        </p:spPr>
        <p:txBody>
          <a:bodyPr>
            <a:spAutoFit/>
          </a:bodyPr>
          <a:lstStyle/>
          <a:p>
            <a:r>
              <a:rPr lang="zh-CN" altLang="en-US" sz="2000" dirty="0">
                <a:latin typeface="Times New Roman" panose="02020603050405020304" pitchFamily="18" charset="0"/>
              </a:rPr>
              <a:t>但凹陷点的值小于</a:t>
            </a:r>
            <a:r>
              <a:rPr lang="en-US" altLang="zh-CN" sz="2000" dirty="0">
                <a:latin typeface="Times New Roman" panose="02020603050405020304" pitchFamily="18" charset="0"/>
              </a:rPr>
              <a:t>0.707</a:t>
            </a:r>
            <a:r>
              <a:rPr lang="zh-CN" altLang="en-US" sz="2000" dirty="0">
                <a:latin typeface="Times New Roman" panose="02020603050405020304" pitchFamily="18" charset="0"/>
              </a:rPr>
              <a:t>时的过耦合状态没有应用价值，则当</a:t>
            </a:r>
            <a:r>
              <a:rPr lang="zh-CN" altLang="en-US" sz="2000" dirty="0">
                <a:solidFill>
                  <a:srgbClr val="FF0066"/>
                </a:solidFill>
                <a:latin typeface="Times New Roman" panose="02020603050405020304" pitchFamily="18" charset="0"/>
              </a:rPr>
              <a:t>最大凹陷点</a:t>
            </a:r>
            <a:r>
              <a:rPr lang="zh-CN" altLang="en-US" sz="2000" dirty="0">
                <a:latin typeface="Times New Roman" panose="02020603050405020304" pitchFamily="18" charset="0"/>
              </a:rPr>
              <a:t>为</a:t>
            </a:r>
            <a:r>
              <a:rPr lang="en-US" altLang="zh-CN" sz="2000" dirty="0">
                <a:latin typeface="Times New Roman" panose="02020603050405020304" pitchFamily="18" charset="0"/>
              </a:rPr>
              <a:t>0.707</a:t>
            </a:r>
            <a:r>
              <a:rPr lang="zh-CN" altLang="en-US" sz="2000" dirty="0">
                <a:latin typeface="Times New Roman" panose="02020603050405020304" pitchFamily="18" charset="0"/>
              </a:rPr>
              <a:t>时，即</a:t>
            </a:r>
            <a:endParaRPr lang="zh-CN" altLang="en-US" sz="2000" dirty="0">
              <a:latin typeface="Times New Roman" panose="02020603050405020304" pitchFamily="18" charset="0"/>
            </a:endParaRPr>
          </a:p>
        </p:txBody>
      </p:sp>
      <p:graphicFrame>
        <p:nvGraphicFramePr>
          <p:cNvPr id="393222" name="Object 6"/>
          <p:cNvGraphicFramePr/>
          <p:nvPr/>
        </p:nvGraphicFramePr>
        <p:xfrm>
          <a:off x="755650" y="3141663"/>
          <a:ext cx="3025775" cy="865187"/>
        </p:xfrm>
        <a:graphic>
          <a:graphicData uri="http://schemas.openxmlformats.org/presentationml/2006/ole">
            <mc:AlternateContent xmlns:mc="http://schemas.openxmlformats.org/markup-compatibility/2006">
              <mc:Choice xmlns:v="urn:schemas-microsoft-com:vml" Requires="v">
                <p:oleObj spid="_x0000_s2" name="" r:id="rId1" imgW="1688465" imgH="482600" progId="Equation.DSMT4">
                  <p:embed/>
                </p:oleObj>
              </mc:Choice>
              <mc:Fallback>
                <p:oleObj name="" r:id="rId1" imgW="1688465" imgH="482600" progId="Equation.DSMT4">
                  <p:embed/>
                  <p:pic>
                    <p:nvPicPr>
                      <p:cNvPr id="0" name="图片 3272"/>
                      <p:cNvPicPr/>
                      <p:nvPr/>
                    </p:nvPicPr>
                    <p:blipFill>
                      <a:blip r:embed="rId2"/>
                      <a:stretch>
                        <a:fillRect/>
                      </a:stretch>
                    </p:blipFill>
                    <p:spPr>
                      <a:xfrm>
                        <a:off x="755650" y="3141663"/>
                        <a:ext cx="3025775" cy="865187"/>
                      </a:xfrm>
                      <a:prstGeom prst="rect">
                        <a:avLst/>
                      </a:prstGeom>
                      <a:noFill/>
                      <a:ln w="38100">
                        <a:noFill/>
                        <a:miter/>
                      </a:ln>
                    </p:spPr>
                  </p:pic>
                </p:oleObj>
              </mc:Fallback>
            </mc:AlternateContent>
          </a:graphicData>
        </a:graphic>
      </p:graphicFrame>
      <p:graphicFrame>
        <p:nvGraphicFramePr>
          <p:cNvPr id="393224" name="Object 8"/>
          <p:cNvGraphicFramePr/>
          <p:nvPr/>
        </p:nvGraphicFramePr>
        <p:xfrm>
          <a:off x="4643438" y="3357563"/>
          <a:ext cx="3883025" cy="425450"/>
        </p:xfrm>
        <a:graphic>
          <a:graphicData uri="http://schemas.openxmlformats.org/presentationml/2006/ole">
            <mc:AlternateContent xmlns:mc="http://schemas.openxmlformats.org/markup-compatibility/2006">
              <mc:Choice xmlns:v="urn:schemas-microsoft-com:vml" Requires="v">
                <p:oleObj spid="_x0000_s3" name="" r:id="rId3" imgW="2208530" imgH="241300" progId="Equation.DSMT4">
                  <p:embed/>
                </p:oleObj>
              </mc:Choice>
              <mc:Fallback>
                <p:oleObj name="" r:id="rId3" imgW="2208530" imgH="241300" progId="Equation.DSMT4">
                  <p:embed/>
                  <p:pic>
                    <p:nvPicPr>
                      <p:cNvPr id="0" name="图片 3266"/>
                      <p:cNvPicPr/>
                      <p:nvPr/>
                    </p:nvPicPr>
                    <p:blipFill>
                      <a:blip r:embed="rId4"/>
                      <a:stretch>
                        <a:fillRect/>
                      </a:stretch>
                    </p:blipFill>
                    <p:spPr>
                      <a:xfrm>
                        <a:off x="4643438" y="3357563"/>
                        <a:ext cx="3883025" cy="425450"/>
                      </a:xfrm>
                      <a:prstGeom prst="rect">
                        <a:avLst/>
                      </a:prstGeom>
                      <a:noFill/>
                      <a:ln w="38100">
                        <a:noFill/>
                        <a:miter/>
                      </a:ln>
                    </p:spPr>
                  </p:pic>
                </p:oleObj>
              </mc:Fallback>
            </mc:AlternateContent>
          </a:graphicData>
        </a:graphic>
      </p:graphicFrame>
      <p:grpSp>
        <p:nvGrpSpPr>
          <p:cNvPr id="4" name="Group 35"/>
          <p:cNvGrpSpPr/>
          <p:nvPr/>
        </p:nvGrpSpPr>
        <p:grpSpPr>
          <a:xfrm>
            <a:off x="971550" y="3933825"/>
            <a:ext cx="4895850" cy="909638"/>
            <a:chOff x="612" y="2478"/>
            <a:chExt cx="3084" cy="573"/>
          </a:xfrm>
        </p:grpSpPr>
        <p:sp>
          <p:nvSpPr>
            <p:cNvPr id="35860" name="Text Box 14"/>
            <p:cNvSpPr txBox="1"/>
            <p:nvPr/>
          </p:nvSpPr>
          <p:spPr>
            <a:xfrm>
              <a:off x="612" y="2614"/>
              <a:ext cx="308" cy="288"/>
            </a:xfrm>
            <a:prstGeom prst="rect">
              <a:avLst/>
            </a:prstGeom>
            <a:noFill/>
            <a:ln w="9525">
              <a:noFill/>
            </a:ln>
          </p:spPr>
          <p:txBody>
            <a:bodyPr wrap="none">
              <a:spAutoFit/>
            </a:bodyPr>
            <a:lstStyle/>
            <a:p>
              <a:r>
                <a:rPr lang="zh-CN" altLang="en-US" dirty="0">
                  <a:latin typeface="Times New Roman" panose="02020603050405020304" pitchFamily="18" charset="0"/>
                </a:rPr>
                <a:t>令</a:t>
              </a:r>
              <a:endParaRPr lang="zh-CN" altLang="en-US" dirty="0">
                <a:latin typeface="Times New Roman" panose="02020603050405020304" pitchFamily="18" charset="0"/>
              </a:endParaRPr>
            </a:p>
          </p:txBody>
        </p:sp>
        <p:graphicFrame>
          <p:nvGraphicFramePr>
            <p:cNvPr id="35847" name="Object 15"/>
            <p:cNvGraphicFramePr/>
            <p:nvPr/>
          </p:nvGraphicFramePr>
          <p:xfrm>
            <a:off x="1020" y="2478"/>
            <a:ext cx="2676" cy="573"/>
          </p:xfrm>
          <a:graphic>
            <a:graphicData uri="http://schemas.openxmlformats.org/presentationml/2006/ole">
              <mc:AlternateContent xmlns:mc="http://schemas.openxmlformats.org/markup-compatibility/2006">
                <mc:Choice xmlns:v="urn:schemas-microsoft-com:vml" Requires="v">
                  <p:oleObj spid="_x0000_s5" name="" r:id="rId5" imgW="2310130" imgH="495300" progId="Equation.DSMT4">
                    <p:embed/>
                  </p:oleObj>
                </mc:Choice>
                <mc:Fallback>
                  <p:oleObj name="" r:id="rId5" imgW="2310130" imgH="495300" progId="Equation.DSMT4">
                    <p:embed/>
                    <p:pic>
                      <p:nvPicPr>
                        <p:cNvPr id="0" name="图片 3274"/>
                        <p:cNvPicPr/>
                        <p:nvPr/>
                      </p:nvPicPr>
                      <p:blipFill>
                        <a:blip r:embed="rId6"/>
                        <a:stretch>
                          <a:fillRect/>
                        </a:stretch>
                      </p:blipFill>
                      <p:spPr>
                        <a:xfrm>
                          <a:off x="1020" y="2478"/>
                          <a:ext cx="2676" cy="573"/>
                        </a:xfrm>
                        <a:prstGeom prst="rect">
                          <a:avLst/>
                        </a:prstGeom>
                        <a:noFill/>
                        <a:ln w="38100">
                          <a:noFill/>
                          <a:miter/>
                        </a:ln>
                      </p:spPr>
                    </p:pic>
                  </p:oleObj>
                </mc:Fallback>
              </mc:AlternateContent>
            </a:graphicData>
          </a:graphic>
        </p:graphicFrame>
      </p:grpSp>
      <p:graphicFrame>
        <p:nvGraphicFramePr>
          <p:cNvPr id="393232" name="Object 16"/>
          <p:cNvGraphicFramePr/>
          <p:nvPr/>
        </p:nvGraphicFramePr>
        <p:xfrm>
          <a:off x="996950" y="4941888"/>
          <a:ext cx="4479925" cy="576262"/>
        </p:xfrm>
        <a:graphic>
          <a:graphicData uri="http://schemas.openxmlformats.org/presentationml/2006/ole">
            <mc:AlternateContent xmlns:mc="http://schemas.openxmlformats.org/markup-compatibility/2006">
              <mc:Choice xmlns:v="urn:schemas-microsoft-com:vml" Requires="v">
                <p:oleObj spid="_x0000_s6" name="" r:id="rId7" imgW="2171700" imgH="279400" progId="Equation.DSMT4">
                  <p:embed/>
                </p:oleObj>
              </mc:Choice>
              <mc:Fallback>
                <p:oleObj name="" r:id="rId7" imgW="2171700" imgH="279400" progId="Equation.DSMT4">
                  <p:embed/>
                  <p:pic>
                    <p:nvPicPr>
                      <p:cNvPr id="0" name="图片 3275"/>
                      <p:cNvPicPr/>
                      <p:nvPr/>
                    </p:nvPicPr>
                    <p:blipFill>
                      <a:blip r:embed="rId8"/>
                      <a:stretch>
                        <a:fillRect/>
                      </a:stretch>
                    </p:blipFill>
                    <p:spPr>
                      <a:xfrm>
                        <a:off x="996950" y="4941888"/>
                        <a:ext cx="4479925" cy="576262"/>
                      </a:xfrm>
                      <a:prstGeom prst="rect">
                        <a:avLst/>
                      </a:prstGeom>
                      <a:noFill/>
                      <a:ln w="38100">
                        <a:noFill/>
                        <a:miter/>
                      </a:ln>
                    </p:spPr>
                  </p:pic>
                </p:oleObj>
              </mc:Fallback>
            </mc:AlternateContent>
          </a:graphicData>
        </a:graphic>
      </p:graphicFrame>
      <p:grpSp>
        <p:nvGrpSpPr>
          <p:cNvPr id="7" name="Group 36"/>
          <p:cNvGrpSpPr/>
          <p:nvPr/>
        </p:nvGrpSpPr>
        <p:grpSpPr>
          <a:xfrm>
            <a:off x="827088" y="5592763"/>
            <a:ext cx="2376487" cy="884237"/>
            <a:chOff x="521" y="3523"/>
            <a:chExt cx="1497" cy="557"/>
          </a:xfrm>
        </p:grpSpPr>
        <p:graphicFrame>
          <p:nvGraphicFramePr>
            <p:cNvPr id="35846" name="Object 30"/>
            <p:cNvGraphicFramePr/>
            <p:nvPr/>
          </p:nvGraphicFramePr>
          <p:xfrm>
            <a:off x="839" y="3523"/>
            <a:ext cx="1179" cy="557"/>
          </p:xfrm>
          <a:graphic>
            <a:graphicData uri="http://schemas.openxmlformats.org/presentationml/2006/ole">
              <mc:AlternateContent xmlns:mc="http://schemas.openxmlformats.org/markup-compatibility/2006">
                <mc:Choice xmlns:v="urn:schemas-microsoft-com:vml" Requires="v">
                  <p:oleObj spid="_x0000_s8" name="" r:id="rId9" imgW="913765" imgH="431800" progId="Equation.DSMT4">
                    <p:embed/>
                  </p:oleObj>
                </mc:Choice>
                <mc:Fallback>
                  <p:oleObj name="" r:id="rId9" imgW="913765" imgH="431800" progId="Equation.DSMT4">
                    <p:embed/>
                    <p:pic>
                      <p:nvPicPr>
                        <p:cNvPr id="0" name="图片 3190"/>
                        <p:cNvPicPr/>
                        <p:nvPr/>
                      </p:nvPicPr>
                      <p:blipFill>
                        <a:blip r:embed="rId10"/>
                        <a:stretch>
                          <a:fillRect/>
                        </a:stretch>
                      </p:blipFill>
                      <p:spPr>
                        <a:xfrm>
                          <a:off x="839" y="3523"/>
                          <a:ext cx="1179" cy="557"/>
                        </a:xfrm>
                        <a:prstGeom prst="rect">
                          <a:avLst/>
                        </a:prstGeom>
                        <a:noFill/>
                        <a:ln w="38100">
                          <a:noFill/>
                          <a:miter/>
                        </a:ln>
                      </p:spPr>
                    </p:pic>
                  </p:oleObj>
                </mc:Fallback>
              </mc:AlternateContent>
            </a:graphicData>
          </a:graphic>
        </p:graphicFrame>
        <p:sp>
          <p:nvSpPr>
            <p:cNvPr id="35859" name="Text Box 31"/>
            <p:cNvSpPr txBox="1"/>
            <p:nvPr/>
          </p:nvSpPr>
          <p:spPr>
            <a:xfrm>
              <a:off x="521" y="3611"/>
              <a:ext cx="308" cy="288"/>
            </a:xfrm>
            <a:prstGeom prst="rect">
              <a:avLst/>
            </a:prstGeom>
            <a:noFill/>
            <a:ln w="9525">
              <a:noFill/>
            </a:ln>
          </p:spPr>
          <p:txBody>
            <a:bodyPr wrap="none">
              <a:spAutoFit/>
            </a:bodyPr>
            <a:lstStyle/>
            <a:p>
              <a:r>
                <a:rPr lang="zh-CN" altLang="en-US" dirty="0">
                  <a:latin typeface="Times New Roman" panose="02020603050405020304" pitchFamily="18" charset="0"/>
                </a:rPr>
                <a:t>由</a:t>
              </a:r>
              <a:endParaRPr lang="zh-CN" altLang="en-US" dirty="0">
                <a:latin typeface="Times New Roman" panose="02020603050405020304" pitchFamily="18" charset="0"/>
              </a:endParaRPr>
            </a:p>
          </p:txBody>
        </p:sp>
      </p:grpSp>
      <p:grpSp>
        <p:nvGrpSpPr>
          <p:cNvPr id="9" name="Group 32"/>
          <p:cNvGrpSpPr/>
          <p:nvPr/>
        </p:nvGrpSpPr>
        <p:grpSpPr>
          <a:xfrm>
            <a:off x="3851276" y="5773738"/>
            <a:ext cx="3835400" cy="468313"/>
            <a:chOff x="871" y="2457"/>
            <a:chExt cx="2416" cy="295"/>
          </a:xfrm>
        </p:grpSpPr>
        <p:sp>
          <p:nvSpPr>
            <p:cNvPr id="35858" name="Text Box 33"/>
            <p:cNvSpPr txBox="1"/>
            <p:nvPr/>
          </p:nvSpPr>
          <p:spPr>
            <a:xfrm>
              <a:off x="871" y="2460"/>
              <a:ext cx="883" cy="290"/>
            </a:xfrm>
            <a:prstGeom prst="rect">
              <a:avLst/>
            </a:prstGeom>
            <a:noFill/>
            <a:ln w="9525">
              <a:noFill/>
            </a:ln>
          </p:spPr>
          <p:txBody>
            <a:bodyPr wrap="none">
              <a:spAutoFit/>
            </a:bodyPr>
            <a:lstStyle/>
            <a:p>
              <a:r>
                <a:rPr lang="zh-CN" altLang="en-US" dirty="0">
                  <a:latin typeface="Times New Roman" panose="02020603050405020304" pitchFamily="18" charset="0"/>
                </a:rPr>
                <a:t>带宽为：</a:t>
              </a:r>
              <a:endParaRPr lang="zh-CN" altLang="en-US" dirty="0">
                <a:latin typeface="Times New Roman" panose="02020603050405020304" pitchFamily="18" charset="0"/>
              </a:endParaRPr>
            </a:p>
          </p:txBody>
        </p:sp>
        <p:graphicFrame>
          <p:nvGraphicFramePr>
            <p:cNvPr id="35845" name="Object 34"/>
            <p:cNvGraphicFramePr/>
            <p:nvPr/>
          </p:nvGraphicFramePr>
          <p:xfrm>
            <a:off x="1645" y="2457"/>
            <a:ext cx="1642" cy="295"/>
          </p:xfrm>
          <a:graphic>
            <a:graphicData uri="http://schemas.openxmlformats.org/presentationml/2006/ole">
              <mc:AlternateContent xmlns:mc="http://schemas.openxmlformats.org/markup-compatibility/2006">
                <mc:Choice xmlns:v="urn:schemas-microsoft-com:vml" Requires="v">
                  <p:oleObj spid="_x0000_s10" name="" r:id="rId11" imgW="1270000" imgH="228600" progId="Equation.DSMT4">
                    <p:embed/>
                  </p:oleObj>
                </mc:Choice>
                <mc:Fallback>
                  <p:oleObj name="" r:id="rId11" imgW="1270000" imgH="228600" progId="Equation.DSMT4">
                    <p:embed/>
                    <p:pic>
                      <p:nvPicPr>
                        <p:cNvPr id="0" name="图片 3195"/>
                        <p:cNvPicPr/>
                        <p:nvPr/>
                      </p:nvPicPr>
                      <p:blipFill>
                        <a:blip r:embed="rId12"/>
                        <a:stretch>
                          <a:fillRect/>
                        </a:stretch>
                      </p:blipFill>
                      <p:spPr>
                        <a:xfrm>
                          <a:off x="1645" y="2457"/>
                          <a:ext cx="1642" cy="295"/>
                        </a:xfrm>
                        <a:prstGeom prst="rect">
                          <a:avLst/>
                        </a:prstGeom>
                        <a:noFill/>
                        <a:ln w="38100">
                          <a:noFill/>
                          <a:miter/>
                        </a:ln>
                      </p:spPr>
                    </p:pic>
                  </p:oleObj>
                </mc:Fallback>
              </mc:AlternateContent>
            </a:graphicData>
          </a:graphic>
        </p:graphicFrame>
      </p:grpSp>
      <p:sp>
        <p:nvSpPr>
          <p:cNvPr id="22536" name="Text Box 8"/>
          <p:cNvSpPr txBox="1"/>
          <p:nvPr/>
        </p:nvSpPr>
        <p:spPr>
          <a:xfrm>
            <a:off x="107633" y="500380"/>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sp>
        <p:nvSpPr>
          <p:cNvPr id="78852" name="Text Box 8"/>
          <p:cNvSpPr txBox="1"/>
          <p:nvPr/>
        </p:nvSpPr>
        <p:spPr>
          <a:xfrm>
            <a:off x="484823" y="955675"/>
            <a:ext cx="3078480" cy="460375"/>
          </a:xfrm>
          <a:prstGeom prst="rect">
            <a:avLst/>
          </a:prstGeom>
          <a:noFill/>
          <a:ln w="9525">
            <a:noFill/>
          </a:ln>
        </p:spPr>
        <p:txBody>
          <a:bodyPr wrap="none">
            <a:spAutoFit/>
          </a:bodyPr>
          <a:lstStyle/>
          <a:p>
            <a:r>
              <a:rPr lang="zh-CN" altLang="en-US" sz="2400" dirty="0">
                <a:solidFill>
                  <a:schemeClr val="accent2"/>
                </a:solidFill>
                <a:latin typeface="Times New Roman" panose="02020603050405020304" pitchFamily="18" charset="0"/>
              </a:rPr>
              <a:t>（</a:t>
            </a:r>
            <a:r>
              <a:rPr lang="en-US" altLang="zh-CN" sz="2400" dirty="0">
                <a:solidFill>
                  <a:schemeClr val="accent2"/>
                </a:solidFill>
                <a:latin typeface="Times New Roman" panose="02020603050405020304" pitchFamily="18" charset="0"/>
              </a:rPr>
              <a:t>4</a:t>
            </a:r>
            <a:r>
              <a:rPr lang="zh-CN" altLang="en-US" sz="2400" dirty="0">
                <a:solidFill>
                  <a:schemeClr val="accent2"/>
                </a:solidFill>
                <a:latin typeface="Times New Roman" panose="02020603050405020304" pitchFamily="18" charset="0"/>
              </a:rPr>
              <a:t>）耦合谐振回路</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12" name="右箭头 11"/>
          <p:cNvSpPr/>
          <p:nvPr/>
        </p:nvSpPr>
        <p:spPr>
          <a:xfrm>
            <a:off x="3996055" y="3390900"/>
            <a:ext cx="255905" cy="288290"/>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1" name="右箭头 10"/>
          <p:cNvSpPr/>
          <p:nvPr/>
        </p:nvSpPr>
        <p:spPr>
          <a:xfrm>
            <a:off x="775970" y="5157470"/>
            <a:ext cx="220980" cy="288290"/>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3" name="右箭头 12"/>
          <p:cNvSpPr/>
          <p:nvPr/>
        </p:nvSpPr>
        <p:spPr>
          <a:xfrm>
            <a:off x="3585210" y="5877560"/>
            <a:ext cx="266065" cy="288290"/>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spd="med">
    <p:zo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3" name="Text Box 8"/>
          <p:cNvSpPr txBox="1"/>
          <p:nvPr/>
        </p:nvSpPr>
        <p:spPr>
          <a:xfrm>
            <a:off x="697865" y="1268730"/>
            <a:ext cx="4763135" cy="460375"/>
          </a:xfrm>
          <a:prstGeom prst="rect">
            <a:avLst/>
          </a:prstGeom>
          <a:noFill/>
          <a:ln w="9525">
            <a:noFill/>
          </a:ln>
        </p:spPr>
        <p:txBody>
          <a:bodyPr wrap="none">
            <a:spAutoFit/>
          </a:bodyPr>
          <a:lstStyle/>
          <a:p>
            <a:pPr algn="l"/>
            <a:r>
              <a:rPr lang="zh-CN" altLang="en-US" sz="2000" dirty="0">
                <a:solidFill>
                  <a:schemeClr val="accent2"/>
                </a:solidFill>
                <a:sym typeface="+mn-ea"/>
              </a:rPr>
              <a:t>（</a:t>
            </a:r>
            <a:r>
              <a:rPr lang="en-US" altLang="zh-CN" sz="2000" dirty="0">
                <a:solidFill>
                  <a:schemeClr val="accent2"/>
                </a:solidFill>
                <a:sym typeface="+mn-ea"/>
              </a:rPr>
              <a:t>4</a:t>
            </a:r>
            <a:r>
              <a:rPr lang="zh-CN" altLang="en-US" sz="2000" dirty="0">
                <a:solidFill>
                  <a:schemeClr val="accent2"/>
                </a:solidFill>
                <a:sym typeface="+mn-ea"/>
              </a:rPr>
              <a:t>）耦合谐振回路</a:t>
            </a:r>
            <a:r>
              <a:rPr lang="en-US" altLang="zh-CN" sz="2000" dirty="0">
                <a:solidFill>
                  <a:schemeClr val="accent2"/>
                </a:solidFill>
                <a:sym typeface="+mn-ea"/>
              </a:rPr>
              <a:t>-</a:t>
            </a:r>
            <a:r>
              <a:rPr lang="zh-CN" altLang="en-US" sz="2000" dirty="0">
                <a:solidFill>
                  <a:srgbClr val="FF0066"/>
                </a:solidFill>
                <a:latin typeface="Times New Roman" panose="02020603050405020304" pitchFamily="18" charset="0"/>
              </a:rPr>
              <a:t>电容耦合震荡回路</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nvGrpSpPr>
          <p:cNvPr id="3" name="Group 10"/>
          <p:cNvGrpSpPr/>
          <p:nvPr/>
        </p:nvGrpSpPr>
        <p:grpSpPr>
          <a:xfrm>
            <a:off x="755650" y="1628775"/>
            <a:ext cx="2673350" cy="2197100"/>
            <a:chOff x="476" y="346"/>
            <a:chExt cx="1684" cy="1384"/>
          </a:xfrm>
        </p:grpSpPr>
        <p:graphicFrame>
          <p:nvGraphicFramePr>
            <p:cNvPr id="36870" name="Object 11"/>
            <p:cNvGraphicFramePr/>
            <p:nvPr/>
          </p:nvGraphicFramePr>
          <p:xfrm>
            <a:off x="476" y="346"/>
            <a:ext cx="1684" cy="1311"/>
          </p:xfrm>
          <a:graphic>
            <a:graphicData uri="http://schemas.openxmlformats.org/presentationml/2006/ole">
              <mc:AlternateContent xmlns:mc="http://schemas.openxmlformats.org/markup-compatibility/2006">
                <mc:Choice xmlns:v="urn:schemas-microsoft-com:vml" Requires="v">
                  <p:oleObj spid="_x0000_s2" name="" r:id="rId1" imgW="1721485" imgH="1138555" progId="Visio.Drawing.6">
                    <p:embed/>
                  </p:oleObj>
                </mc:Choice>
                <mc:Fallback>
                  <p:oleObj name="" r:id="rId1" imgW="1721485" imgH="1138555" progId="Visio.Drawing.6">
                    <p:embed/>
                    <p:pic>
                      <p:nvPicPr>
                        <p:cNvPr id="0" name="图片 3192"/>
                        <p:cNvPicPr/>
                        <p:nvPr/>
                      </p:nvPicPr>
                      <p:blipFill>
                        <a:blip r:embed="rId2"/>
                        <a:stretch>
                          <a:fillRect/>
                        </a:stretch>
                      </p:blipFill>
                      <p:spPr>
                        <a:xfrm>
                          <a:off x="476" y="346"/>
                          <a:ext cx="1684" cy="1311"/>
                        </a:xfrm>
                        <a:prstGeom prst="rect">
                          <a:avLst/>
                        </a:prstGeom>
                        <a:noFill/>
                        <a:ln w="38100">
                          <a:noFill/>
                          <a:miter/>
                        </a:ln>
                      </p:spPr>
                    </p:pic>
                  </p:oleObj>
                </mc:Fallback>
              </mc:AlternateContent>
            </a:graphicData>
          </a:graphic>
        </p:graphicFrame>
        <p:sp>
          <p:nvSpPr>
            <p:cNvPr id="36883" name="Text Box 12"/>
            <p:cNvSpPr txBox="1"/>
            <p:nvPr/>
          </p:nvSpPr>
          <p:spPr>
            <a:xfrm>
              <a:off x="663" y="1480"/>
              <a:ext cx="1396" cy="250"/>
            </a:xfrm>
            <a:prstGeom prst="rect">
              <a:avLst/>
            </a:prstGeom>
            <a:solidFill>
              <a:schemeClr val="bg1"/>
            </a:solidFill>
            <a:ln w="9525">
              <a:noFill/>
            </a:ln>
          </p:spPr>
          <p:txBody>
            <a:bodyPr wrap="none">
              <a:spAutoFit/>
            </a:bodyPr>
            <a:lstStyle/>
            <a:p>
              <a:r>
                <a:rPr lang="zh-CN" altLang="en-US" sz="2000" dirty="0">
                  <a:latin typeface="Times New Roman" panose="02020603050405020304" pitchFamily="18" charset="0"/>
                </a:rPr>
                <a:t>电容耦合震荡回路</a:t>
              </a:r>
              <a:endParaRPr lang="zh-CN" altLang="en-US" sz="2000" dirty="0">
                <a:latin typeface="Times New Roman" panose="02020603050405020304" pitchFamily="18" charset="0"/>
              </a:endParaRPr>
            </a:p>
          </p:txBody>
        </p:sp>
      </p:grpSp>
      <p:grpSp>
        <p:nvGrpSpPr>
          <p:cNvPr id="4" name="Group 14"/>
          <p:cNvGrpSpPr/>
          <p:nvPr/>
        </p:nvGrpSpPr>
        <p:grpSpPr>
          <a:xfrm>
            <a:off x="4572000" y="1838643"/>
            <a:ext cx="3971925" cy="1987550"/>
            <a:chOff x="3054" y="391"/>
            <a:chExt cx="2502" cy="1252"/>
          </a:xfrm>
        </p:grpSpPr>
        <p:graphicFrame>
          <p:nvGraphicFramePr>
            <p:cNvPr id="36869" name="Object 15"/>
            <p:cNvGraphicFramePr/>
            <p:nvPr/>
          </p:nvGraphicFramePr>
          <p:xfrm>
            <a:off x="3054" y="391"/>
            <a:ext cx="2502" cy="1179"/>
          </p:xfrm>
          <a:graphic>
            <a:graphicData uri="http://schemas.openxmlformats.org/presentationml/2006/ole">
              <mc:AlternateContent xmlns:mc="http://schemas.openxmlformats.org/markup-compatibility/2006">
                <mc:Choice xmlns:v="urn:schemas-microsoft-com:vml" Requires="v">
                  <p:oleObj spid="_x0000_s5" name="" r:id="rId3" imgW="2393315" imgH="968375" progId="Visio.Drawing.6">
                    <p:embed/>
                  </p:oleObj>
                </mc:Choice>
                <mc:Fallback>
                  <p:oleObj name="" r:id="rId3" imgW="2393315" imgH="968375" progId="Visio.Drawing.6">
                    <p:embed/>
                    <p:pic>
                      <p:nvPicPr>
                        <p:cNvPr id="0" name="图片 3187"/>
                        <p:cNvPicPr/>
                        <p:nvPr/>
                      </p:nvPicPr>
                      <p:blipFill>
                        <a:blip r:embed="rId4"/>
                        <a:stretch>
                          <a:fillRect/>
                        </a:stretch>
                      </p:blipFill>
                      <p:spPr>
                        <a:xfrm>
                          <a:off x="3054" y="391"/>
                          <a:ext cx="2502" cy="1179"/>
                        </a:xfrm>
                        <a:prstGeom prst="rect">
                          <a:avLst/>
                        </a:prstGeom>
                        <a:noFill/>
                        <a:ln w="38100">
                          <a:noFill/>
                          <a:miter/>
                        </a:ln>
                      </p:spPr>
                    </p:pic>
                  </p:oleObj>
                </mc:Fallback>
              </mc:AlternateContent>
            </a:graphicData>
          </a:graphic>
        </p:graphicFrame>
        <p:sp>
          <p:nvSpPr>
            <p:cNvPr id="36882" name="Text Box 16"/>
            <p:cNvSpPr txBox="1"/>
            <p:nvPr/>
          </p:nvSpPr>
          <p:spPr>
            <a:xfrm>
              <a:off x="4324" y="1393"/>
              <a:ext cx="756" cy="250"/>
            </a:xfrm>
            <a:prstGeom prst="rect">
              <a:avLst/>
            </a:prstGeom>
            <a:noFill/>
            <a:ln w="9525">
              <a:noFill/>
            </a:ln>
          </p:spPr>
          <p:txBody>
            <a:bodyPr wrap="none">
              <a:spAutoFit/>
            </a:bodyPr>
            <a:lstStyle/>
            <a:p>
              <a:r>
                <a:rPr lang="zh-CN" altLang="en-US" sz="2000" dirty="0">
                  <a:latin typeface="Times New Roman" panose="02020603050405020304" pitchFamily="18" charset="0"/>
                </a:rPr>
                <a:t>等效电路</a:t>
              </a:r>
              <a:endParaRPr lang="zh-CN" altLang="en-US" sz="2000" dirty="0">
                <a:latin typeface="Times New Roman" panose="02020603050405020304" pitchFamily="18" charset="0"/>
              </a:endParaRPr>
            </a:p>
          </p:txBody>
        </p:sp>
      </p:grpSp>
      <p:grpSp>
        <p:nvGrpSpPr>
          <p:cNvPr id="6" name="Group 17"/>
          <p:cNvGrpSpPr/>
          <p:nvPr/>
        </p:nvGrpSpPr>
        <p:grpSpPr>
          <a:xfrm>
            <a:off x="900113" y="3868420"/>
            <a:ext cx="4560887" cy="852488"/>
            <a:chOff x="463" y="2205"/>
            <a:chExt cx="2873" cy="537"/>
          </a:xfrm>
        </p:grpSpPr>
        <p:sp>
          <p:nvSpPr>
            <p:cNvPr id="36881" name="Text Box 18"/>
            <p:cNvSpPr txBox="1"/>
            <p:nvPr/>
          </p:nvSpPr>
          <p:spPr>
            <a:xfrm>
              <a:off x="463" y="2329"/>
              <a:ext cx="916" cy="250"/>
            </a:xfrm>
            <a:prstGeom prst="rect">
              <a:avLst/>
            </a:prstGeom>
            <a:noFill/>
            <a:ln w="9525">
              <a:noFill/>
            </a:ln>
          </p:spPr>
          <p:txBody>
            <a:bodyPr wrap="none">
              <a:spAutoFit/>
            </a:bodyPr>
            <a:lstStyle/>
            <a:p>
              <a:r>
                <a:rPr lang="zh-CN" altLang="en-US" sz="2000" dirty="0">
                  <a:latin typeface="Times New Roman" panose="02020603050405020304" pitchFamily="18" charset="0"/>
                </a:rPr>
                <a:t>耦合系数：</a:t>
              </a:r>
              <a:endParaRPr lang="zh-CN" altLang="en-US" sz="2000" dirty="0">
                <a:latin typeface="Times New Roman" panose="02020603050405020304" pitchFamily="18" charset="0"/>
              </a:endParaRPr>
            </a:p>
          </p:txBody>
        </p:sp>
        <p:graphicFrame>
          <p:nvGraphicFramePr>
            <p:cNvPr id="36868" name="Object 19"/>
            <p:cNvGraphicFramePr/>
            <p:nvPr/>
          </p:nvGraphicFramePr>
          <p:xfrm>
            <a:off x="1516" y="2205"/>
            <a:ext cx="1820" cy="537"/>
          </p:xfrm>
          <a:graphic>
            <a:graphicData uri="http://schemas.openxmlformats.org/presentationml/2006/ole">
              <mc:AlternateContent xmlns:mc="http://schemas.openxmlformats.org/markup-compatibility/2006">
                <mc:Choice xmlns:v="urn:schemas-microsoft-com:vml" Requires="v">
                  <p:oleObj spid="_x0000_s7" name="" r:id="rId5" imgW="1549400" imgH="457200" progId="Equation.DSMT4">
                    <p:embed/>
                  </p:oleObj>
                </mc:Choice>
                <mc:Fallback>
                  <p:oleObj name="" r:id="rId5" imgW="1549400" imgH="457200" progId="Equation.DSMT4">
                    <p:embed/>
                    <p:pic>
                      <p:nvPicPr>
                        <p:cNvPr id="0" name="图片 3197"/>
                        <p:cNvPicPr/>
                        <p:nvPr/>
                      </p:nvPicPr>
                      <p:blipFill>
                        <a:blip r:embed="rId6"/>
                        <a:stretch>
                          <a:fillRect/>
                        </a:stretch>
                      </p:blipFill>
                      <p:spPr>
                        <a:xfrm>
                          <a:off x="1516" y="2205"/>
                          <a:ext cx="1820" cy="537"/>
                        </a:xfrm>
                        <a:prstGeom prst="rect">
                          <a:avLst/>
                        </a:prstGeom>
                        <a:noFill/>
                        <a:ln w="38100">
                          <a:noFill/>
                          <a:miter/>
                        </a:ln>
                      </p:spPr>
                    </p:pic>
                  </p:oleObj>
                </mc:Fallback>
              </mc:AlternateContent>
            </a:graphicData>
          </a:graphic>
        </p:graphicFrame>
      </p:grpSp>
      <p:sp>
        <p:nvSpPr>
          <p:cNvPr id="395285" name="Text Box 21"/>
          <p:cNvSpPr txBox="1"/>
          <p:nvPr/>
        </p:nvSpPr>
        <p:spPr>
          <a:xfrm>
            <a:off x="971868" y="4941253"/>
            <a:ext cx="3486150" cy="396875"/>
          </a:xfrm>
          <a:prstGeom prst="rect">
            <a:avLst/>
          </a:prstGeom>
          <a:noFill/>
          <a:ln w="9525">
            <a:noFill/>
          </a:ln>
        </p:spPr>
        <p:txBody>
          <a:bodyPr wrap="none">
            <a:spAutoFit/>
          </a:bodyPr>
          <a:lstStyle/>
          <a:p>
            <a:r>
              <a:rPr lang="zh-CN" altLang="en-US" sz="2000" dirty="0">
                <a:latin typeface="Times New Roman" panose="02020603050405020304" pitchFamily="18" charset="0"/>
              </a:rPr>
              <a:t>经推导，可得阻抗转移特性：</a:t>
            </a:r>
            <a:endParaRPr lang="zh-CN" altLang="en-US" sz="2000" dirty="0">
              <a:latin typeface="Times New Roman" panose="02020603050405020304" pitchFamily="18" charset="0"/>
            </a:endParaRPr>
          </a:p>
        </p:txBody>
      </p:sp>
      <p:graphicFrame>
        <p:nvGraphicFramePr>
          <p:cNvPr id="395286" name="Object 22"/>
          <p:cNvGraphicFramePr>
            <a:graphicFrameLocks noGrp="1"/>
          </p:cNvGraphicFramePr>
          <p:nvPr>
            <p:ph sz="quarter"/>
          </p:nvPr>
        </p:nvGraphicFramePr>
        <p:xfrm>
          <a:off x="4360863" y="4747895"/>
          <a:ext cx="3744912" cy="787400"/>
        </p:xfrm>
        <a:graphic>
          <a:graphicData uri="http://schemas.openxmlformats.org/presentationml/2006/ole">
            <mc:AlternateContent xmlns:mc="http://schemas.openxmlformats.org/markup-compatibility/2006">
              <mc:Choice xmlns:v="urn:schemas-microsoft-com:vml" Requires="v">
                <p:oleObj spid="_x0000_s8" name="" r:id="rId7" imgW="1993900" imgH="419100" progId="Equation.DSMT4">
                  <p:embed/>
                </p:oleObj>
              </mc:Choice>
              <mc:Fallback>
                <p:oleObj name="" r:id="rId7" imgW="1993900" imgH="419100" progId="Equation.DSMT4">
                  <p:embed/>
                  <p:pic>
                    <p:nvPicPr>
                      <p:cNvPr id="0" name="图片 3194"/>
                      <p:cNvPicPr/>
                      <p:nvPr/>
                    </p:nvPicPr>
                    <p:blipFill>
                      <a:blip r:embed="rId8"/>
                      <a:stretch>
                        <a:fillRect/>
                      </a:stretch>
                    </p:blipFill>
                    <p:spPr>
                      <a:xfrm>
                        <a:off x="4360863" y="4747895"/>
                        <a:ext cx="3744912" cy="787400"/>
                      </a:xfrm>
                      <a:prstGeom prst="rect">
                        <a:avLst/>
                      </a:prstGeom>
                      <a:noFill/>
                      <a:ln w="38100">
                        <a:noFill/>
                        <a:miter/>
                      </a:ln>
                    </p:spPr>
                  </p:pic>
                </p:oleObj>
              </mc:Fallback>
            </mc:AlternateContent>
          </a:graphicData>
        </a:graphic>
      </p:graphicFrame>
      <p:sp>
        <p:nvSpPr>
          <p:cNvPr id="395288" name="Text Box 24"/>
          <p:cNvSpPr txBox="1"/>
          <p:nvPr/>
        </p:nvSpPr>
        <p:spPr>
          <a:xfrm>
            <a:off x="539750" y="5661025"/>
            <a:ext cx="3600450" cy="457200"/>
          </a:xfrm>
          <a:prstGeom prst="rect">
            <a:avLst/>
          </a:prstGeom>
          <a:noFill/>
          <a:ln w="9525">
            <a:noFill/>
          </a:ln>
        </p:spPr>
        <p:txBody>
          <a:bodyPr wrap="none">
            <a:spAutoFit/>
          </a:bodyPr>
          <a:lstStyle/>
          <a:p>
            <a:r>
              <a:rPr lang="en-US" altLang="zh-CN" sz="2000" dirty="0">
                <a:latin typeface="Times New Roman" panose="02020603050405020304" pitchFamily="18" charset="0"/>
              </a:rPr>
              <a:t> </a:t>
            </a:r>
            <a:r>
              <a:rPr lang="zh-CN" altLang="en-US" sz="2000" dirty="0">
                <a:latin typeface="Times New Roman" panose="02020603050405020304" pitchFamily="18" charset="0"/>
              </a:rPr>
              <a:t>对比电感耦合回路阻抗特性</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aphicFrame>
        <p:nvGraphicFramePr>
          <p:cNvPr id="395289" name="Object 25"/>
          <p:cNvGraphicFramePr/>
          <p:nvPr/>
        </p:nvGraphicFramePr>
        <p:xfrm>
          <a:off x="4500563" y="5589588"/>
          <a:ext cx="3816350" cy="847725"/>
        </p:xfrm>
        <a:graphic>
          <a:graphicData uri="http://schemas.openxmlformats.org/presentationml/2006/ole">
            <mc:AlternateContent xmlns:mc="http://schemas.openxmlformats.org/markup-compatibility/2006">
              <mc:Choice xmlns:v="urn:schemas-microsoft-com:vml" Requires="v">
                <p:oleObj spid="_x0000_s9" name="" r:id="rId9" imgW="1942465" imgH="431800" progId="Equation.DSMT4">
                  <p:embed/>
                </p:oleObj>
              </mc:Choice>
              <mc:Fallback>
                <p:oleObj name="" r:id="rId9" imgW="1942465" imgH="431800" progId="Equation.DSMT4">
                  <p:embed/>
                  <p:pic>
                    <p:nvPicPr>
                      <p:cNvPr id="0" name="图片 3193"/>
                      <p:cNvPicPr/>
                      <p:nvPr/>
                    </p:nvPicPr>
                    <p:blipFill>
                      <a:blip r:embed="rId10"/>
                      <a:stretch>
                        <a:fillRect/>
                      </a:stretch>
                    </p:blipFill>
                    <p:spPr>
                      <a:xfrm>
                        <a:off x="4500563" y="5589588"/>
                        <a:ext cx="3816350" cy="847725"/>
                      </a:xfrm>
                      <a:prstGeom prst="rect">
                        <a:avLst/>
                      </a:prstGeom>
                      <a:noFill/>
                      <a:ln w="38100">
                        <a:noFill/>
                        <a:miter/>
                      </a:ln>
                    </p:spPr>
                  </p:pic>
                </p:oleObj>
              </mc:Fallback>
            </mc:AlternateContent>
          </a:graphicData>
        </a:graphic>
      </p:graphicFrame>
      <p:sp>
        <p:nvSpPr>
          <p:cNvPr id="395290" name="Text Box 26"/>
          <p:cNvSpPr txBox="1"/>
          <p:nvPr/>
        </p:nvSpPr>
        <p:spPr>
          <a:xfrm>
            <a:off x="611188" y="5661025"/>
            <a:ext cx="8013700" cy="829945"/>
          </a:xfrm>
          <a:prstGeom prst="rect">
            <a:avLst/>
          </a:prstGeom>
          <a:solidFill>
            <a:schemeClr val="accent1">
              <a:lumMod val="20000"/>
              <a:lumOff val="80000"/>
            </a:schemeClr>
          </a:solidFill>
          <a:ln w="9525">
            <a:noFill/>
          </a:ln>
        </p:spPr>
        <p:txBody>
          <a:bodyPr>
            <a:spAutoFit/>
          </a:bodyPr>
          <a:lstStyle/>
          <a:p>
            <a:r>
              <a:rPr lang="zh-CN" altLang="en-US" dirty="0">
                <a:latin typeface="Times New Roman" panose="02020603050405020304" pitchFamily="18" charset="0"/>
              </a:rPr>
              <a:t>因此电容耦合振荡回路与电感耦合</a:t>
            </a:r>
            <a:r>
              <a:rPr lang="zh-CN" altLang="en-US" dirty="0">
                <a:sym typeface="+mn-ea"/>
              </a:rPr>
              <a:t>振</a:t>
            </a:r>
            <a:r>
              <a:rPr lang="zh-CN" altLang="en-US" dirty="0">
                <a:latin typeface="Times New Roman" panose="02020603050405020304" pitchFamily="18" charset="0"/>
              </a:rPr>
              <a:t>荡回路具有相同的频率特性，前面的分析结果对电容耦合回路也适用。</a:t>
            </a:r>
            <a:endParaRPr lang="zh-CN" altLang="en-US" dirty="0">
              <a:latin typeface="Times New Roman" panose="02020603050405020304" pitchFamily="18" charset="0"/>
            </a:endParaRPr>
          </a:p>
        </p:txBody>
      </p:sp>
      <p:sp>
        <p:nvSpPr>
          <p:cNvPr id="22536" name="Text Box 8"/>
          <p:cNvSpPr txBox="1"/>
          <p:nvPr/>
        </p:nvSpPr>
        <p:spPr>
          <a:xfrm>
            <a:off x="144463" y="908050"/>
            <a:ext cx="2783840" cy="460375"/>
          </a:xfrm>
          <a:prstGeom prst="rect">
            <a:avLst/>
          </a:prstGeom>
          <a:noFill/>
          <a:ln w="9525">
            <a:noFill/>
          </a:ln>
        </p:spPr>
        <p:txBody>
          <a:bodyPr wrap="none">
            <a:spAutoFit/>
          </a:bodyPr>
          <a:lstStyle/>
          <a:p>
            <a:pPr algn="l"/>
            <a:r>
              <a:rPr lang="en-US" altLang="zh-CN" b="1" dirty="0">
                <a:latin typeface="Times New Roman" panose="02020603050405020304" pitchFamily="18" charset="0"/>
              </a:rPr>
              <a:t>  </a:t>
            </a:r>
            <a:r>
              <a:rPr lang="zh-CN" altLang="en-US" b="1" dirty="0">
                <a:solidFill>
                  <a:srgbClr val="FF0066"/>
                </a:solidFill>
                <a:latin typeface="Times New Roman" panose="02020603050405020304" pitchFamily="18" charset="0"/>
              </a:rPr>
              <a:t>一、高频</a:t>
            </a:r>
            <a:r>
              <a:rPr lang="zh-CN" altLang="en-US" b="1" dirty="0">
                <a:solidFill>
                  <a:srgbClr val="FF0066"/>
                </a:solidFill>
                <a:sym typeface="+mn-ea"/>
              </a:rPr>
              <a:t>振荡</a:t>
            </a:r>
            <a:r>
              <a:rPr lang="zh-CN" altLang="en-US" b="1" dirty="0">
                <a:solidFill>
                  <a:srgbClr val="FF0066"/>
                </a:solidFill>
                <a:latin typeface="Times New Roman" panose="02020603050405020304" pitchFamily="18" charset="0"/>
              </a:rPr>
              <a:t>回路</a:t>
            </a:r>
            <a:endParaRPr lang="zh-CN" altLang="en-US" b="1" dirty="0">
              <a:solidFill>
                <a:srgbClr val="FF0066"/>
              </a:solidFill>
              <a:latin typeface="Times New Roman" panose="02020603050405020304" pitchFamily="18" charset="0"/>
            </a:endParaRPr>
          </a:p>
        </p:txBody>
      </p:sp>
      <p:sp>
        <p:nvSpPr>
          <p:cNvPr id="12" name="右箭头 11"/>
          <p:cNvSpPr/>
          <p:nvPr/>
        </p:nvSpPr>
        <p:spPr>
          <a:xfrm>
            <a:off x="3635375" y="2641600"/>
            <a:ext cx="197485" cy="288290"/>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grpSp>
        <p:nvGrpSpPr>
          <p:cNvPr id="11272" name="Group 40"/>
          <p:cNvGrpSpPr/>
          <p:nvPr/>
        </p:nvGrpSpPr>
        <p:grpSpPr>
          <a:xfrm>
            <a:off x="1979613" y="388938"/>
            <a:ext cx="5334000" cy="519113"/>
            <a:chOff x="1287" y="432"/>
            <a:chExt cx="3360" cy="327"/>
          </a:xfrm>
        </p:grpSpPr>
        <p:sp>
          <p:nvSpPr>
            <p:cNvPr id="11280" name="Rectangle 41"/>
            <p:cNvSpPr/>
            <p:nvPr/>
          </p:nvSpPr>
          <p:spPr>
            <a:xfrm>
              <a:off x="1287" y="43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11281" name="Line 42"/>
            <p:cNvSpPr/>
            <p:nvPr/>
          </p:nvSpPr>
          <p:spPr>
            <a:xfrm>
              <a:off x="1469" y="749"/>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95605" y="476885"/>
            <a:ext cx="8408035" cy="1568450"/>
          </a:xfrm>
          <a:prstGeom prst="rect">
            <a:avLst/>
          </a:prstGeom>
          <a:noFill/>
        </p:spPr>
        <p:txBody>
          <a:bodyPr wrap="square" rtlCol="0" anchor="t">
            <a:spAutoFit/>
          </a:bodyPr>
          <a:lstStyle/>
          <a:p>
            <a:pPr eaLnBrk="1" hangingPunct="1">
              <a:spcBef>
                <a:spcPct val="0"/>
              </a:spcBef>
              <a:buFontTx/>
              <a:buNone/>
            </a:pPr>
            <a:r>
              <a:rPr lang="zh-CN" altLang="en-US" dirty="0">
                <a:latin typeface="+mj-lt"/>
                <a:ea typeface="+mj-ea"/>
                <a:cs typeface="+mj-lt"/>
                <a:sym typeface="+mn-ea"/>
              </a:rPr>
              <a:t>例</a:t>
            </a:r>
            <a:r>
              <a:rPr lang="en-US" altLang="zh-CN" dirty="0">
                <a:latin typeface="+mj-lt"/>
                <a:ea typeface="+mj-ea"/>
                <a:cs typeface="+mj-lt"/>
                <a:sym typeface="+mn-ea"/>
              </a:rPr>
              <a:t>3   </a:t>
            </a:r>
            <a:r>
              <a:rPr lang="zh-CN" altLang="en-US" dirty="0">
                <a:latin typeface="+mj-lt"/>
                <a:ea typeface="+mj-ea"/>
                <a:cs typeface="+mj-lt"/>
                <a:sym typeface="+mn-ea"/>
              </a:rPr>
              <a:t>某接收机输入回路的简化电路如图所示。已知</a:t>
            </a:r>
            <a:r>
              <a:rPr lang="en-US" altLang="zh-CN" dirty="0">
                <a:latin typeface="+mj-lt"/>
                <a:ea typeface="+mj-ea"/>
                <a:cs typeface="+mj-lt"/>
                <a:sym typeface="+mn-ea"/>
              </a:rPr>
              <a:t>C</a:t>
            </a:r>
            <a:r>
              <a:rPr lang="en-US" altLang="zh-CN" sz="1200" dirty="0">
                <a:latin typeface="+mj-lt"/>
                <a:ea typeface="+mj-ea"/>
                <a:cs typeface="+mj-lt"/>
                <a:sym typeface="+mn-ea"/>
              </a:rPr>
              <a:t>1</a:t>
            </a:r>
            <a:r>
              <a:rPr lang="en-US" altLang="zh-CN" dirty="0">
                <a:latin typeface="+mj-lt"/>
                <a:ea typeface="+mj-ea"/>
                <a:cs typeface="+mj-lt"/>
                <a:sym typeface="+mn-ea"/>
              </a:rPr>
              <a:t>=5pF</a:t>
            </a:r>
            <a:r>
              <a:rPr lang="zh-CN" altLang="en-US" dirty="0">
                <a:latin typeface="+mj-lt"/>
                <a:ea typeface="+mj-ea"/>
                <a:cs typeface="+mj-lt"/>
                <a:sym typeface="+mn-ea"/>
              </a:rPr>
              <a:t>，</a:t>
            </a:r>
            <a:r>
              <a:rPr lang="en-US" altLang="zh-CN" dirty="0">
                <a:latin typeface="+mj-lt"/>
                <a:ea typeface="+mj-ea"/>
                <a:cs typeface="+mj-lt"/>
                <a:sym typeface="+mn-ea"/>
              </a:rPr>
              <a:t>C</a:t>
            </a:r>
            <a:r>
              <a:rPr lang="en-US" altLang="zh-CN" sz="1200" dirty="0">
                <a:latin typeface="+mj-lt"/>
                <a:ea typeface="+mj-ea"/>
                <a:cs typeface="+mj-lt"/>
                <a:sym typeface="+mn-ea"/>
              </a:rPr>
              <a:t>2</a:t>
            </a:r>
            <a:r>
              <a:rPr lang="en-US" altLang="zh-CN" dirty="0">
                <a:latin typeface="+mj-lt"/>
                <a:ea typeface="+mj-ea"/>
                <a:cs typeface="+mj-lt"/>
                <a:sym typeface="+mn-ea"/>
              </a:rPr>
              <a:t>=15pF</a:t>
            </a:r>
            <a:r>
              <a:rPr lang="zh-CN" altLang="en-US" dirty="0">
                <a:latin typeface="+mj-lt"/>
                <a:ea typeface="+mj-ea"/>
                <a:cs typeface="+mj-lt"/>
                <a:sym typeface="+mn-ea"/>
              </a:rPr>
              <a:t>，</a:t>
            </a:r>
            <a:r>
              <a:rPr lang="en-US" altLang="zh-CN" dirty="0">
                <a:latin typeface="+mj-lt"/>
                <a:ea typeface="+mj-ea"/>
                <a:cs typeface="+mj-lt"/>
                <a:sym typeface="+mn-ea"/>
              </a:rPr>
              <a:t>R</a:t>
            </a:r>
            <a:r>
              <a:rPr lang="en-US" altLang="zh-CN" sz="1200" dirty="0">
                <a:latin typeface="+mj-lt"/>
                <a:ea typeface="+mj-ea"/>
                <a:cs typeface="+mj-lt"/>
                <a:sym typeface="+mn-ea"/>
              </a:rPr>
              <a:t>s</a:t>
            </a:r>
            <a:r>
              <a:rPr lang="en-US" altLang="zh-CN" dirty="0">
                <a:latin typeface="+mj-lt"/>
                <a:ea typeface="+mj-ea"/>
                <a:cs typeface="+mj-lt"/>
                <a:sym typeface="+mn-ea"/>
              </a:rPr>
              <a:t>=75Ω</a:t>
            </a:r>
            <a:r>
              <a:rPr lang="zh-CN" altLang="en-US" dirty="0">
                <a:latin typeface="+mj-lt"/>
                <a:ea typeface="+mj-ea"/>
                <a:cs typeface="+mj-lt"/>
                <a:sym typeface="+mn-ea"/>
              </a:rPr>
              <a:t>，</a:t>
            </a:r>
            <a:r>
              <a:rPr lang="en-US" altLang="zh-CN" dirty="0">
                <a:latin typeface="+mj-lt"/>
                <a:ea typeface="+mj-ea"/>
                <a:cs typeface="+mj-lt"/>
                <a:sym typeface="+mn-ea"/>
              </a:rPr>
              <a:t>R</a:t>
            </a:r>
            <a:r>
              <a:rPr lang="en-US" altLang="zh-CN" sz="1200" dirty="0">
                <a:latin typeface="+mj-lt"/>
                <a:ea typeface="+mj-ea"/>
                <a:cs typeface="+mj-lt"/>
                <a:sym typeface="+mn-ea"/>
              </a:rPr>
              <a:t>L</a:t>
            </a:r>
            <a:r>
              <a:rPr lang="en-US" altLang="zh-CN" dirty="0">
                <a:latin typeface="+mj-lt"/>
                <a:ea typeface="+mj-ea"/>
                <a:cs typeface="+mj-lt"/>
                <a:sym typeface="+mn-ea"/>
              </a:rPr>
              <a:t>=300Ω</a:t>
            </a:r>
            <a:r>
              <a:rPr lang="zh-CN" altLang="en-US" dirty="0">
                <a:latin typeface="+mj-lt"/>
                <a:ea typeface="+mj-ea"/>
                <a:cs typeface="+mj-lt"/>
                <a:sym typeface="+mn-ea"/>
              </a:rPr>
              <a:t>。为了使电路匹配，即负载</a:t>
            </a:r>
            <a:r>
              <a:rPr lang="en-US" altLang="zh-CN" dirty="0">
                <a:latin typeface="+mj-lt"/>
                <a:ea typeface="+mj-ea"/>
                <a:cs typeface="+mj-lt"/>
                <a:sym typeface="+mn-ea"/>
              </a:rPr>
              <a:t>R</a:t>
            </a:r>
            <a:r>
              <a:rPr lang="en-US" altLang="zh-CN" baseline="-25000" dirty="0">
                <a:latin typeface="+mj-lt"/>
                <a:ea typeface="+mj-ea"/>
                <a:cs typeface="+mj-lt"/>
                <a:sym typeface="+mn-ea"/>
              </a:rPr>
              <a:t>L</a:t>
            </a:r>
            <a:r>
              <a:rPr lang="zh-CN" altLang="en-US" dirty="0">
                <a:latin typeface="+mj-lt"/>
                <a:ea typeface="+mj-ea"/>
                <a:cs typeface="+mj-lt"/>
                <a:sym typeface="+mn-ea"/>
              </a:rPr>
              <a:t>等效到</a:t>
            </a:r>
            <a:r>
              <a:rPr lang="en-US" altLang="zh-CN" dirty="0">
                <a:latin typeface="+mj-lt"/>
                <a:ea typeface="+mj-ea"/>
                <a:cs typeface="+mj-lt"/>
                <a:sym typeface="+mn-ea"/>
              </a:rPr>
              <a:t>LC</a:t>
            </a:r>
            <a:r>
              <a:rPr lang="zh-CN" altLang="en-US" dirty="0">
                <a:latin typeface="+mj-lt"/>
                <a:ea typeface="+mj-ea"/>
                <a:cs typeface="+mj-lt"/>
                <a:sym typeface="+mn-ea"/>
              </a:rPr>
              <a:t>回路输入端的电阻</a:t>
            </a:r>
            <a:r>
              <a:rPr lang="en-US" altLang="zh-CN" dirty="0">
                <a:latin typeface="+mj-lt"/>
                <a:ea typeface="+mj-ea"/>
                <a:cs typeface="+mj-lt"/>
                <a:sym typeface="+mn-ea"/>
              </a:rPr>
              <a:t>R</a:t>
            </a:r>
            <a:r>
              <a:rPr lang="en-US" altLang="zh-CN" sz="1200" dirty="0">
                <a:latin typeface="+mj-lt"/>
                <a:ea typeface="+mj-ea"/>
                <a:cs typeface="+mj-lt"/>
                <a:sym typeface="+mn-ea"/>
              </a:rPr>
              <a:t>L</a:t>
            </a:r>
            <a:r>
              <a:rPr lang="en-US" altLang="zh-CN" dirty="0">
                <a:latin typeface="+mj-lt"/>
                <a:ea typeface="+mj-ea"/>
                <a:cs typeface="+mj-lt"/>
                <a:sym typeface="+mn-ea"/>
              </a:rPr>
              <a:t>´ =R</a:t>
            </a:r>
            <a:r>
              <a:rPr lang="en-US" altLang="zh-CN" sz="1200" dirty="0">
                <a:latin typeface="+mj-lt"/>
                <a:ea typeface="+mj-ea"/>
                <a:cs typeface="+mj-lt"/>
                <a:sym typeface="+mn-ea"/>
              </a:rPr>
              <a:t>s</a:t>
            </a:r>
            <a:r>
              <a:rPr lang="zh-CN" altLang="en-US" dirty="0">
                <a:latin typeface="+mj-lt"/>
                <a:ea typeface="+mj-ea"/>
                <a:cs typeface="+mj-lt"/>
                <a:sym typeface="+mn-ea"/>
              </a:rPr>
              <a:t>，线圈初、次级匝数比</a:t>
            </a:r>
            <a:r>
              <a:rPr lang="en-US" altLang="zh-CN" dirty="0">
                <a:latin typeface="+mj-lt"/>
                <a:ea typeface="+mj-ea"/>
                <a:cs typeface="+mj-lt"/>
                <a:sym typeface="+mn-ea"/>
              </a:rPr>
              <a:t>N</a:t>
            </a:r>
            <a:r>
              <a:rPr lang="en-US" altLang="zh-CN" sz="1200" dirty="0">
                <a:latin typeface="+mj-lt"/>
                <a:ea typeface="+mj-ea"/>
                <a:cs typeface="+mj-lt"/>
                <a:sym typeface="+mn-ea"/>
              </a:rPr>
              <a:t>1</a:t>
            </a:r>
            <a:r>
              <a:rPr lang="en-US" altLang="zh-CN" dirty="0">
                <a:latin typeface="+mj-lt"/>
                <a:ea typeface="+mj-ea"/>
                <a:cs typeface="+mj-lt"/>
                <a:sym typeface="+mn-ea"/>
              </a:rPr>
              <a:t>/N</a:t>
            </a:r>
            <a:r>
              <a:rPr lang="en-US" altLang="zh-CN" sz="1200" dirty="0">
                <a:latin typeface="+mj-lt"/>
                <a:ea typeface="+mj-ea"/>
                <a:cs typeface="+mj-lt"/>
                <a:sym typeface="+mn-ea"/>
              </a:rPr>
              <a:t>2</a:t>
            </a:r>
            <a:r>
              <a:rPr lang="zh-CN" altLang="en-US" dirty="0">
                <a:latin typeface="+mj-lt"/>
                <a:ea typeface="+mj-ea"/>
                <a:cs typeface="+mj-lt"/>
                <a:sym typeface="+mn-ea"/>
              </a:rPr>
              <a:t>应该是多少？</a:t>
            </a:r>
            <a:endParaRPr lang="zh-CN" altLang="en-US" dirty="0">
              <a:latin typeface="+mj-lt"/>
              <a:ea typeface="+mj-ea"/>
              <a:cs typeface="+mj-lt"/>
              <a:sym typeface="+mn-ea"/>
            </a:endParaRPr>
          </a:p>
        </p:txBody>
      </p:sp>
      <p:pic>
        <p:nvPicPr>
          <p:cNvPr id="9228" name="Picture 14" descr="p10b"/>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563712" y="1844834"/>
            <a:ext cx="3240087"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9147" name="Text Box 11"/>
          <p:cNvSpPr txBox="1">
            <a:spLocks noChangeArrowheads="1"/>
          </p:cNvSpPr>
          <p:nvPr/>
        </p:nvSpPr>
        <p:spPr bwMode="auto">
          <a:xfrm>
            <a:off x="395605" y="2061210"/>
            <a:ext cx="5192395"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eaLnBrk="1" hangingPunct="1">
              <a:spcBef>
                <a:spcPct val="0"/>
              </a:spcBef>
              <a:buFontTx/>
              <a:buNone/>
            </a:pPr>
            <a:r>
              <a:rPr lang="zh-CN" altLang="en-US" sz="2400" dirty="0">
                <a:latin typeface="+mj-ea"/>
                <a:ea typeface="+mj-ea"/>
              </a:rPr>
              <a:t>解：由图可见，这是自耦变压器电路与电容分压式电路的级联。</a:t>
            </a:r>
            <a:endParaRPr lang="zh-CN" altLang="en-US" sz="2400" dirty="0">
              <a:latin typeface="+mj-ea"/>
              <a:ea typeface="+mj-ea"/>
            </a:endParaRPr>
          </a:p>
        </p:txBody>
      </p:sp>
      <p:sp>
        <p:nvSpPr>
          <p:cNvPr id="219148" name="Text Box 12"/>
          <p:cNvSpPr txBox="1">
            <a:spLocks noChangeArrowheads="1"/>
          </p:cNvSpPr>
          <p:nvPr/>
        </p:nvSpPr>
        <p:spPr bwMode="auto">
          <a:xfrm>
            <a:off x="395288" y="2891314"/>
            <a:ext cx="31318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eaLnBrk="1" hangingPunct="1">
              <a:spcBef>
                <a:spcPct val="0"/>
              </a:spcBef>
              <a:buFontTx/>
              <a:buNone/>
            </a:pPr>
            <a:r>
              <a:rPr lang="en-US" altLang="zh-CN" sz="2400" dirty="0">
                <a:latin typeface="+mj-lt"/>
                <a:ea typeface="+mj-ea"/>
                <a:cs typeface="+mj-lt"/>
              </a:rPr>
              <a:t>R</a:t>
            </a:r>
            <a:r>
              <a:rPr lang="en-US" altLang="zh-CN" sz="2400" baseline="-25000" dirty="0">
                <a:latin typeface="+mj-lt"/>
                <a:ea typeface="+mj-ea"/>
                <a:cs typeface="+mj-lt"/>
              </a:rPr>
              <a:t>L</a:t>
            </a:r>
            <a:r>
              <a:rPr lang="zh-CN" altLang="en-US" sz="2400" dirty="0">
                <a:latin typeface="+mj-lt"/>
                <a:ea typeface="+mj-ea"/>
                <a:cs typeface="+mj-lt"/>
              </a:rPr>
              <a:t>等效到</a:t>
            </a:r>
            <a:r>
              <a:rPr lang="en-US" altLang="zh-CN" sz="2400" dirty="0">
                <a:latin typeface="+mj-lt"/>
                <a:ea typeface="+mj-ea"/>
                <a:cs typeface="+mj-lt"/>
              </a:rPr>
              <a:t>L</a:t>
            </a:r>
            <a:r>
              <a:rPr lang="zh-CN" altLang="en-US" sz="2400" dirty="0">
                <a:latin typeface="+mj-lt"/>
                <a:ea typeface="+mj-ea"/>
                <a:cs typeface="+mj-lt"/>
              </a:rPr>
              <a:t>两端的电阻</a:t>
            </a:r>
            <a:endParaRPr lang="zh-CN" altLang="en-US" sz="2400" dirty="0">
              <a:latin typeface="+mj-lt"/>
              <a:ea typeface="+mj-ea"/>
              <a:cs typeface="+mj-lt"/>
            </a:endParaRPr>
          </a:p>
        </p:txBody>
      </p:sp>
      <p:graphicFrame>
        <p:nvGraphicFramePr>
          <p:cNvPr id="3" name="对象 2"/>
          <p:cNvGraphicFramePr/>
          <p:nvPr/>
        </p:nvGraphicFramePr>
        <p:xfrm>
          <a:off x="611505" y="3392805"/>
          <a:ext cx="4125595" cy="858520"/>
        </p:xfrm>
        <a:graphic>
          <a:graphicData uri="http://schemas.openxmlformats.org/presentationml/2006/ole">
            <mc:AlternateContent xmlns:mc="http://schemas.openxmlformats.org/markup-compatibility/2006">
              <mc:Choice xmlns:v="urn:schemas-microsoft-com:vml" Requires="v">
                <p:oleObj spid="_x0000_s4" name="" r:id="rId2" imgW="4802505" imgH="938530" progId="Equation.DSMT4">
                  <p:embed/>
                </p:oleObj>
              </mc:Choice>
              <mc:Fallback>
                <p:oleObj name="" r:id="rId2" imgW="4802505" imgH="938530" progId="Equation.DSMT4">
                  <p:embed/>
                  <p:pic>
                    <p:nvPicPr>
                      <p:cNvPr id="0" name="图片 3"/>
                      <p:cNvPicPr/>
                      <p:nvPr/>
                    </p:nvPicPr>
                    <p:blipFill>
                      <a:blip r:embed="rId3"/>
                      <a:stretch>
                        <a:fillRect/>
                      </a:stretch>
                    </p:blipFill>
                    <p:spPr>
                      <a:xfrm>
                        <a:off x="611505" y="3392805"/>
                        <a:ext cx="4125595" cy="858520"/>
                      </a:xfrm>
                      <a:prstGeom prst="rect">
                        <a:avLst/>
                      </a:prstGeom>
                    </p:spPr>
                  </p:pic>
                </p:oleObj>
              </mc:Fallback>
            </mc:AlternateContent>
          </a:graphicData>
        </a:graphic>
      </p:graphicFrame>
      <p:sp>
        <p:nvSpPr>
          <p:cNvPr id="220166" name="Text Box 6"/>
          <p:cNvSpPr txBox="1">
            <a:spLocks noChangeArrowheads="1"/>
          </p:cNvSpPr>
          <p:nvPr/>
        </p:nvSpPr>
        <p:spPr bwMode="auto">
          <a:xfrm>
            <a:off x="538480" y="4293235"/>
            <a:ext cx="356806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eaLnBrk="1" hangingPunct="1">
              <a:spcBef>
                <a:spcPct val="0"/>
              </a:spcBef>
              <a:buFontTx/>
              <a:buNone/>
            </a:pPr>
            <a:r>
              <a:rPr lang="en-US" altLang="zh-CN" sz="2400" dirty="0">
                <a:latin typeface="+mj-lt"/>
                <a:ea typeface="+mj-ea"/>
                <a:cs typeface="+mj-lt"/>
              </a:rPr>
              <a:t>R”</a:t>
            </a:r>
            <a:r>
              <a:rPr lang="en-US" altLang="zh-CN" sz="2400" baseline="-25000" dirty="0">
                <a:latin typeface="+mj-lt"/>
                <a:ea typeface="+mj-ea"/>
                <a:cs typeface="+mj-lt"/>
              </a:rPr>
              <a:t>L</a:t>
            </a:r>
            <a:r>
              <a:rPr lang="zh-CN" altLang="en-US" sz="2400" dirty="0">
                <a:latin typeface="+mj-lt"/>
                <a:ea typeface="+mj-ea"/>
                <a:cs typeface="+mj-lt"/>
              </a:rPr>
              <a:t>等效到输入端的电阻</a:t>
            </a:r>
            <a:endParaRPr lang="zh-CN" altLang="en-US" sz="2400" dirty="0">
              <a:latin typeface="+mj-lt"/>
              <a:ea typeface="+mj-ea"/>
              <a:cs typeface="+mj-lt"/>
            </a:endParaRPr>
          </a:p>
        </p:txBody>
      </p:sp>
      <p:graphicFrame>
        <p:nvGraphicFramePr>
          <p:cNvPr id="5" name="对象 4"/>
          <p:cNvGraphicFramePr/>
          <p:nvPr/>
        </p:nvGraphicFramePr>
        <p:xfrm>
          <a:off x="3851910" y="4077335"/>
          <a:ext cx="4476750" cy="904875"/>
        </p:xfrm>
        <a:graphic>
          <a:graphicData uri="http://schemas.openxmlformats.org/presentationml/2006/ole">
            <mc:AlternateContent xmlns:mc="http://schemas.openxmlformats.org/markup-compatibility/2006">
              <mc:Choice xmlns:v="urn:schemas-microsoft-com:vml" Requires="v">
                <p:oleObj spid="_x0000_s6" name="" r:id="rId4" imgW="4766310" imgH="841375" progId="Equation.DSMT4">
                  <p:embed/>
                </p:oleObj>
              </mc:Choice>
              <mc:Fallback>
                <p:oleObj name="" r:id="rId4" imgW="4766310" imgH="841375" progId="Equation.DSMT4">
                  <p:embed/>
                  <p:pic>
                    <p:nvPicPr>
                      <p:cNvPr id="0" name="图片 5"/>
                      <p:cNvPicPr/>
                      <p:nvPr/>
                    </p:nvPicPr>
                    <p:blipFill>
                      <a:blip r:embed="rId5"/>
                      <a:stretch>
                        <a:fillRect/>
                      </a:stretch>
                    </p:blipFill>
                    <p:spPr>
                      <a:xfrm>
                        <a:off x="3851910" y="4077335"/>
                        <a:ext cx="4476750" cy="904875"/>
                      </a:xfrm>
                      <a:prstGeom prst="rect">
                        <a:avLst/>
                      </a:prstGeom>
                    </p:spPr>
                  </p:pic>
                </p:oleObj>
              </mc:Fallback>
            </mc:AlternateContent>
          </a:graphicData>
        </a:graphic>
      </p:graphicFrame>
      <p:sp>
        <p:nvSpPr>
          <p:cNvPr id="10247" name="Text Box 11"/>
          <p:cNvSpPr txBox="1">
            <a:spLocks noChangeArrowheads="1"/>
          </p:cNvSpPr>
          <p:nvPr/>
        </p:nvSpPr>
        <p:spPr bwMode="auto">
          <a:xfrm>
            <a:off x="538480" y="4941570"/>
            <a:ext cx="564134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eaLnBrk="1" hangingPunct="1">
              <a:buClrTx/>
              <a:buSzTx/>
              <a:buFontTx/>
              <a:buNone/>
            </a:pPr>
            <a:r>
              <a:rPr lang="zh-CN" altLang="en-US" sz="2400" dirty="0">
                <a:latin typeface="+mj-ea"/>
                <a:ea typeface="+mj-ea"/>
              </a:rPr>
              <a:t>如要求，      ，则</a:t>
            </a:r>
            <a:endParaRPr lang="zh-CN" altLang="en-US" sz="2400" dirty="0">
              <a:latin typeface="+mj-ea"/>
              <a:ea typeface="+mj-ea"/>
            </a:endParaRPr>
          </a:p>
        </p:txBody>
      </p:sp>
      <p:graphicFrame>
        <p:nvGraphicFramePr>
          <p:cNvPr id="7" name="对象 6"/>
          <p:cNvGraphicFramePr/>
          <p:nvPr/>
        </p:nvGraphicFramePr>
        <p:xfrm>
          <a:off x="1619250" y="4904105"/>
          <a:ext cx="1144270" cy="497840"/>
        </p:xfrm>
        <a:graphic>
          <a:graphicData uri="http://schemas.openxmlformats.org/presentationml/2006/ole">
            <mc:AlternateContent xmlns:mc="http://schemas.openxmlformats.org/markup-compatibility/2006">
              <mc:Choice xmlns:v="urn:schemas-microsoft-com:vml" Requires="v">
                <p:oleObj spid="_x0000_s8" name="" r:id="rId6" imgW="986155" imgH="458470" progId="Equation.DSMT4">
                  <p:embed/>
                </p:oleObj>
              </mc:Choice>
              <mc:Fallback>
                <p:oleObj name="" r:id="rId6" imgW="986155" imgH="458470" progId="Equation.DSMT4">
                  <p:embed/>
                  <p:pic>
                    <p:nvPicPr>
                      <p:cNvPr id="0" name="图片 7"/>
                      <p:cNvPicPr/>
                      <p:nvPr/>
                    </p:nvPicPr>
                    <p:blipFill>
                      <a:blip r:embed="rId7"/>
                      <a:stretch>
                        <a:fillRect/>
                      </a:stretch>
                    </p:blipFill>
                    <p:spPr>
                      <a:xfrm>
                        <a:off x="1619250" y="4904105"/>
                        <a:ext cx="1144270" cy="497840"/>
                      </a:xfrm>
                      <a:prstGeom prst="rect">
                        <a:avLst/>
                      </a:prstGeom>
                    </p:spPr>
                  </p:pic>
                </p:oleObj>
              </mc:Fallback>
            </mc:AlternateContent>
          </a:graphicData>
        </a:graphic>
      </p:graphicFrame>
      <p:graphicFrame>
        <p:nvGraphicFramePr>
          <p:cNvPr id="9" name="对象 8"/>
          <p:cNvGraphicFramePr/>
          <p:nvPr/>
        </p:nvGraphicFramePr>
        <p:xfrm>
          <a:off x="3419475" y="4752975"/>
          <a:ext cx="2472690" cy="913765"/>
        </p:xfrm>
        <a:graphic>
          <a:graphicData uri="http://schemas.openxmlformats.org/presentationml/2006/ole">
            <mc:AlternateContent xmlns:mc="http://schemas.openxmlformats.org/markup-compatibility/2006">
              <mc:Choice xmlns:v="urn:schemas-microsoft-com:vml" Requires="v">
                <p:oleObj spid="_x0000_s10" name="" r:id="rId8" imgW="1763395" imgH="728345" progId="Equation.DSMT4">
                  <p:embed/>
                </p:oleObj>
              </mc:Choice>
              <mc:Fallback>
                <p:oleObj name="" r:id="rId8" imgW="1763395" imgH="728345" progId="Equation.DSMT4">
                  <p:embed/>
                  <p:pic>
                    <p:nvPicPr>
                      <p:cNvPr id="0" name="图片 9"/>
                      <p:cNvPicPr/>
                      <p:nvPr/>
                    </p:nvPicPr>
                    <p:blipFill>
                      <a:blip r:embed="rId9"/>
                      <a:stretch>
                        <a:fillRect/>
                      </a:stretch>
                    </p:blipFill>
                    <p:spPr>
                      <a:xfrm>
                        <a:off x="3419475" y="4752975"/>
                        <a:ext cx="2472690" cy="913765"/>
                      </a:xfrm>
                      <a:prstGeom prst="rect">
                        <a:avLst/>
                      </a:prstGeom>
                    </p:spPr>
                  </p:pic>
                </p:oleObj>
              </mc:Fallback>
            </mc:AlternateContent>
          </a:graphicData>
        </a:graphic>
      </p:graphicFrame>
      <p:graphicFrame>
        <p:nvGraphicFramePr>
          <p:cNvPr id="15" name="对象 14">
            <a:hlinkClick r:id="" action="ppaction://ole?verb=0"/>
          </p:cNvPr>
          <p:cNvGraphicFramePr>
            <a:graphicFrameLocks noChangeAspect="1"/>
          </p:cNvGraphicFramePr>
          <p:nvPr/>
        </p:nvGraphicFramePr>
        <p:xfrm>
          <a:off x="3059430" y="5661660"/>
          <a:ext cx="2706370" cy="929640"/>
        </p:xfrm>
        <a:graphic>
          <a:graphicData uri="http://schemas.openxmlformats.org/presentationml/2006/ole">
            <mc:AlternateContent xmlns:mc="http://schemas.openxmlformats.org/markup-compatibility/2006">
              <mc:Choice xmlns:v="urn:schemas-microsoft-com:vml" Requires="v">
                <p:oleObj spid="_x0000_s11" name="" r:id="rId10" imgW="1346200" imgH="482600" progId="Equation.KSEE3">
                  <p:embed/>
                </p:oleObj>
              </mc:Choice>
              <mc:Fallback>
                <p:oleObj name="" r:id="rId10" imgW="1346200" imgH="482600" progId="Equation.KSEE3">
                  <p:embed/>
                  <p:pic>
                    <p:nvPicPr>
                      <p:cNvPr id="0" name="图片 1024"/>
                      <p:cNvPicPr/>
                      <p:nvPr/>
                    </p:nvPicPr>
                    <p:blipFill>
                      <a:blip r:embed="rId11"/>
                      <a:stretch>
                        <a:fillRect/>
                      </a:stretch>
                    </p:blipFill>
                    <p:spPr>
                      <a:xfrm>
                        <a:off x="3059430" y="5661660"/>
                        <a:ext cx="2706370" cy="929640"/>
                      </a:xfrm>
                      <a:prstGeom prst="rect">
                        <a:avLst/>
                      </a:prstGeom>
                    </p:spPr>
                  </p:pic>
                </p:oleObj>
              </mc:Fallback>
            </mc:AlternateContent>
          </a:graphicData>
        </a:graphic>
      </p:graphicFrame>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914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914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016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24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19147" grpId="0"/>
      <p:bldP spid="219148" grpId="0"/>
      <p:bldP spid="220166" grpId="0"/>
      <p:bldP spid="1024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a:stretch>
            <a:fillRect/>
          </a:stretch>
        </p:blipFill>
        <p:spPr>
          <a:xfrm>
            <a:off x="6012061" y="2061460"/>
            <a:ext cx="2980267" cy="1902178"/>
          </a:xfrm>
          <a:prstGeom prst="rect">
            <a:avLst/>
          </a:prstGeom>
        </p:spPr>
      </p:pic>
      <p:grpSp>
        <p:nvGrpSpPr>
          <p:cNvPr id="25" name="组合 24"/>
          <p:cNvGrpSpPr/>
          <p:nvPr/>
        </p:nvGrpSpPr>
        <p:grpSpPr>
          <a:xfrm>
            <a:off x="258762" y="255270"/>
            <a:ext cx="8585835" cy="2122805"/>
            <a:chOff x="396" y="751"/>
            <a:chExt cx="13521" cy="3343"/>
          </a:xfrm>
        </p:grpSpPr>
        <p:sp>
          <p:nvSpPr>
            <p:cNvPr id="2" name="文本框 1"/>
            <p:cNvSpPr txBox="1"/>
            <p:nvPr/>
          </p:nvSpPr>
          <p:spPr>
            <a:xfrm>
              <a:off x="396" y="751"/>
              <a:ext cx="13521" cy="3343"/>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zh-CN" altLang="en-US" sz="2400" kern="100" dirty="0">
                  <a:latin typeface="Times New Roman" panose="02020603050405020304" pitchFamily="18" charset="0"/>
                  <a:ea typeface="仿宋" panose="02010609060101010101" pitchFamily="49" charset="-122"/>
                  <a:cs typeface="Times New Roman" panose="02020603050405020304" pitchFamily="18" charset="0"/>
                </a:rPr>
                <a:t>例题</a:t>
              </a:r>
              <a:r>
                <a:rPr lang="en-US" altLang="zh-CN" sz="2400" kern="100" dirty="0">
                  <a:latin typeface="Times New Roman" panose="02020603050405020304" pitchFamily="18" charset="0"/>
                  <a:ea typeface="仿宋" panose="02010609060101010101" pitchFamily="49" charset="-122"/>
                  <a:cs typeface="Times New Roman" panose="02020603050405020304" pitchFamily="18" charset="0"/>
                </a:rPr>
                <a:t>4</a:t>
              </a:r>
              <a:r>
                <a:rPr lang="zh-CN" altLang="en-US" sz="2400" kern="100" dirty="0">
                  <a:latin typeface="Times New Roman" panose="02020603050405020304" pitchFamily="18" charset="0"/>
                  <a:ea typeface="仿宋" panose="02010609060101010101" pitchFamily="49" charset="-122"/>
                  <a:cs typeface="Times New Roman" panose="02020603050405020304" pitchFamily="18" charset="0"/>
                </a:rPr>
                <a:t>：</a:t>
              </a:r>
              <a:r>
                <a:rPr lang="en-US" altLang="zh-CN" sz="2400" kern="100" dirty="0">
                  <a:latin typeface="Times New Roman" panose="02020603050405020304" pitchFamily="18" charset="0"/>
                  <a:ea typeface="仿宋" panose="02010609060101010101" pitchFamily="49" charset="-122"/>
                  <a:cs typeface="Times New Roman" panose="02020603050405020304" pitchFamily="18" charset="0"/>
                </a:rPr>
                <a:t> </a:t>
              </a:r>
              <a:r>
                <a:rPr lang="zh-CN" altLang="en-US" sz="2400" kern="100" dirty="0">
                  <a:latin typeface="Times New Roman" panose="02020603050405020304" pitchFamily="18" charset="0"/>
                  <a:ea typeface="仿宋" panose="02010609060101010101" pitchFamily="49" charset="-122"/>
                  <a:cs typeface="Times New Roman" panose="02020603050405020304" pitchFamily="18" charset="0"/>
                </a:rPr>
                <a:t>如图所示并联谐振回路，信号源与负载都为部分接入。已知   </a:t>
              </a:r>
              <a:r>
                <a:rPr lang="en-US" altLang="zh-CN" sz="2400" kern="100" dirty="0">
                  <a:latin typeface="Times New Roman" panose="02020603050405020304" pitchFamily="18" charset="0"/>
                  <a:ea typeface="仿宋" panose="02010609060101010101" pitchFamily="49" charset="-122"/>
                  <a:cs typeface="Times New Roman" panose="02020603050405020304" pitchFamily="18" charset="0"/>
                </a:rPr>
                <a:t>  </a:t>
              </a:r>
              <a:r>
                <a:rPr lang="zh-CN" altLang="en-US" sz="2400" kern="100" dirty="0">
                  <a:latin typeface="Times New Roman" panose="02020603050405020304" pitchFamily="18" charset="0"/>
                  <a:ea typeface="仿宋" panose="02010609060101010101" pitchFamily="49" charset="-122"/>
                  <a:cs typeface="Times New Roman" panose="02020603050405020304" pitchFamily="18" charset="0"/>
                </a:rPr>
                <a:t> 、 </a:t>
              </a:r>
              <a:r>
                <a:rPr lang="en-US" altLang="zh-CN" sz="2400" kern="100" dirty="0">
                  <a:latin typeface="Times New Roman" panose="02020603050405020304" pitchFamily="18" charset="0"/>
                  <a:ea typeface="仿宋" panose="02010609060101010101" pitchFamily="49" charset="-122"/>
                  <a:cs typeface="Times New Roman" panose="02020603050405020304" pitchFamily="18" charset="0"/>
                </a:rPr>
                <a:t>  </a:t>
              </a:r>
              <a:r>
                <a:rPr lang="zh-CN" altLang="en-US" sz="2400" kern="100" dirty="0">
                  <a:latin typeface="Times New Roman" panose="02020603050405020304" pitchFamily="18" charset="0"/>
                  <a:ea typeface="仿宋" panose="02010609060101010101" pitchFamily="49" charset="-122"/>
                  <a:cs typeface="Times New Roman" panose="02020603050405020304" pitchFamily="18" charset="0"/>
                </a:rPr>
                <a:t> ，并知回路参数</a:t>
              </a:r>
              <a:r>
                <a:rPr lang="en-US" altLang="zh-CN" sz="2400" kern="100" dirty="0">
                  <a:latin typeface="Times New Roman" panose="02020603050405020304" pitchFamily="18" charset="0"/>
                  <a:ea typeface="仿宋" panose="02010609060101010101" pitchFamily="49" charset="-122"/>
                  <a:cs typeface="Times New Roman" panose="02020603050405020304" pitchFamily="18" charset="0"/>
                </a:rPr>
                <a:t>L</a:t>
              </a:r>
              <a:r>
                <a:rPr lang="zh-CN" altLang="en-US" sz="2400" kern="100" dirty="0">
                  <a:latin typeface="Times New Roman" panose="02020603050405020304" pitchFamily="18" charset="0"/>
                  <a:ea typeface="仿宋" panose="02010609060101010101" pitchFamily="49" charset="-122"/>
                  <a:cs typeface="Times New Roman" panose="02020603050405020304" pitchFamily="18" charset="0"/>
                </a:rPr>
                <a:t>、</a:t>
              </a:r>
              <a:r>
                <a:rPr lang="en-US" altLang="zh-CN" sz="2400" kern="100" dirty="0">
                  <a:latin typeface="Times New Roman" panose="02020603050405020304" pitchFamily="18" charset="0"/>
                  <a:ea typeface="仿宋" panose="02010609060101010101" pitchFamily="49" charset="-122"/>
                  <a:cs typeface="Times New Roman" panose="02020603050405020304" pitchFamily="18" charset="0"/>
                </a:rPr>
                <a:t>   </a:t>
              </a:r>
              <a:r>
                <a:rPr lang="zh-CN" altLang="en-US" sz="2400" kern="100" dirty="0">
                  <a:latin typeface="Times New Roman" panose="02020603050405020304" pitchFamily="18" charset="0"/>
                  <a:ea typeface="仿宋" panose="02010609060101010101" pitchFamily="49" charset="-122"/>
                  <a:cs typeface="Times New Roman" panose="02020603050405020304" pitchFamily="18" charset="0"/>
                </a:rPr>
                <a:t>、    和空载品质因数     ，求：</a:t>
              </a:r>
              <a:endParaRPr lang="en-US" altLang="zh-CN" sz="2400" kern="100" dirty="0">
                <a:latin typeface="Times New Roman" panose="02020603050405020304" pitchFamily="18" charset="0"/>
                <a:ea typeface="仿宋" panose="02010609060101010101" pitchFamily="49" charset="-122"/>
                <a:cs typeface="Times New Roman" panose="02020603050405020304" pitchFamily="18" charset="0"/>
              </a:endParaRPr>
            </a:p>
            <a:p>
              <a:pPr algn="l">
                <a:lnSpc>
                  <a:spcPct val="150000"/>
                </a:lnSpc>
              </a:pPr>
              <a:r>
                <a:rPr lang="zh-CN" altLang="en-US" sz="2400" kern="100" dirty="0">
                  <a:latin typeface="Times New Roman" panose="02020603050405020304" pitchFamily="18" charset="0"/>
                  <a:ea typeface="仿宋" panose="02010609060101010101" pitchFamily="49" charset="-122"/>
                  <a:cs typeface="Times New Roman" panose="02020603050405020304" pitchFamily="18" charset="0"/>
                </a:rPr>
                <a:t>    </a:t>
              </a:r>
              <a:r>
                <a:rPr lang="en-US" altLang="zh-CN" sz="2400" kern="100" dirty="0">
                  <a:latin typeface="Times New Roman" panose="02020603050405020304" pitchFamily="18" charset="0"/>
                  <a:ea typeface="仿宋" panose="02010609060101010101" pitchFamily="49" charset="-122"/>
                  <a:cs typeface="Times New Roman" panose="02020603050405020304" pitchFamily="18" charset="0"/>
                </a:rPr>
                <a:t>   </a:t>
              </a:r>
              <a:r>
                <a:rPr lang="zh-CN" altLang="en-US" sz="2400" kern="100" dirty="0">
                  <a:latin typeface="Times New Roman" panose="02020603050405020304" pitchFamily="18" charset="0"/>
                  <a:ea typeface="仿宋" panose="02010609060101010101" pitchFamily="49" charset="-122"/>
                  <a:cs typeface="Times New Roman" panose="02020603050405020304" pitchFamily="18" charset="0"/>
                </a:rPr>
                <a:t>和</a:t>
              </a:r>
              <a:r>
                <a:rPr lang="en-US" altLang="zh-CN" sz="2400" kern="100" dirty="0">
                  <a:latin typeface="Times New Roman" panose="02020603050405020304" pitchFamily="18" charset="0"/>
                  <a:ea typeface="仿宋" panose="02010609060101010101" pitchFamily="49" charset="-122"/>
                  <a:cs typeface="Times New Roman" panose="02020603050405020304" pitchFamily="18" charset="0"/>
                </a:rPr>
                <a:t>BW</a:t>
              </a:r>
              <a:endParaRPr lang="en-US" altLang="zh-CN" sz="2400" kern="100" dirty="0">
                <a:latin typeface="Times New Roman" panose="02020603050405020304" pitchFamily="18" charset="0"/>
                <a:ea typeface="仿宋" panose="02010609060101010101" pitchFamily="49" charset="-122"/>
                <a:cs typeface="Times New Roman" panose="02020603050405020304" pitchFamily="18" charset="0"/>
              </a:endParaRPr>
            </a:p>
            <a:p>
              <a:pPr algn="l"/>
              <a:endParaRPr lang="en-US" altLang="zh-CN" sz="2400" kern="100" dirty="0">
                <a:latin typeface="Times New Roman" panose="02020603050405020304" pitchFamily="18" charset="0"/>
                <a:ea typeface="仿宋" panose="02010609060101010101" pitchFamily="49" charset="-122"/>
                <a:cs typeface="Times New Roman" panose="02020603050405020304" pitchFamily="18" charset="0"/>
              </a:endParaRPr>
            </a:p>
          </p:txBody>
        </p:sp>
        <p:pic>
          <p:nvPicPr>
            <p:cNvPr id="26" name="图片 25"/>
            <p:cNvPicPr/>
            <p:nvPr/>
          </p:nvPicPr>
          <p:blipFill>
            <a:blip r:embed="rId2"/>
            <a:stretch>
              <a:fillRect/>
            </a:stretch>
          </p:blipFill>
          <p:spPr>
            <a:xfrm>
              <a:off x="1418" y="1772"/>
              <a:ext cx="849" cy="894"/>
            </a:xfrm>
            <a:prstGeom prst="rect">
              <a:avLst/>
            </a:prstGeom>
          </p:spPr>
        </p:pic>
        <p:pic>
          <p:nvPicPr>
            <p:cNvPr id="3" name="图片 2"/>
            <p:cNvPicPr/>
            <p:nvPr/>
          </p:nvPicPr>
          <p:blipFill>
            <a:blip r:embed="rId3"/>
            <a:stretch>
              <a:fillRect/>
            </a:stretch>
          </p:blipFill>
          <p:spPr>
            <a:xfrm>
              <a:off x="2437" y="1839"/>
              <a:ext cx="900" cy="827"/>
            </a:xfrm>
            <a:prstGeom prst="rect">
              <a:avLst/>
            </a:prstGeom>
          </p:spPr>
        </p:pic>
        <p:pic>
          <p:nvPicPr>
            <p:cNvPr id="4" name="图片 3"/>
            <p:cNvPicPr/>
            <p:nvPr/>
          </p:nvPicPr>
          <p:blipFill>
            <a:blip r:embed="rId4"/>
            <a:stretch>
              <a:fillRect/>
            </a:stretch>
          </p:blipFill>
          <p:spPr>
            <a:xfrm>
              <a:off x="7076" y="1755"/>
              <a:ext cx="802" cy="756"/>
            </a:xfrm>
            <a:prstGeom prst="rect">
              <a:avLst/>
            </a:prstGeom>
          </p:spPr>
        </p:pic>
        <p:pic>
          <p:nvPicPr>
            <p:cNvPr id="5" name="图片 4"/>
            <p:cNvPicPr/>
            <p:nvPr/>
          </p:nvPicPr>
          <p:blipFill>
            <a:blip r:embed="rId5"/>
            <a:stretch>
              <a:fillRect/>
            </a:stretch>
          </p:blipFill>
          <p:spPr>
            <a:xfrm>
              <a:off x="7983" y="1755"/>
              <a:ext cx="798" cy="757"/>
            </a:xfrm>
            <a:prstGeom prst="rect">
              <a:avLst/>
            </a:prstGeom>
          </p:spPr>
        </p:pic>
        <p:pic>
          <p:nvPicPr>
            <p:cNvPr id="6" name="图片 5"/>
            <p:cNvPicPr/>
            <p:nvPr/>
          </p:nvPicPr>
          <p:blipFill>
            <a:blip r:embed="rId6"/>
            <a:stretch>
              <a:fillRect/>
            </a:stretch>
          </p:blipFill>
          <p:spPr>
            <a:xfrm>
              <a:off x="11963" y="1839"/>
              <a:ext cx="831" cy="743"/>
            </a:xfrm>
            <a:prstGeom prst="rect">
              <a:avLst/>
            </a:prstGeom>
          </p:spPr>
        </p:pic>
        <p:pic>
          <p:nvPicPr>
            <p:cNvPr id="7" name="图片 6"/>
            <p:cNvPicPr/>
            <p:nvPr/>
          </p:nvPicPr>
          <p:blipFill>
            <a:blip r:embed="rId7"/>
            <a:stretch>
              <a:fillRect/>
            </a:stretch>
          </p:blipFill>
          <p:spPr>
            <a:xfrm>
              <a:off x="623" y="2599"/>
              <a:ext cx="740" cy="827"/>
            </a:xfrm>
            <a:prstGeom prst="rect">
              <a:avLst/>
            </a:prstGeom>
          </p:spPr>
        </p:pic>
      </p:grpSp>
      <p:pic>
        <p:nvPicPr>
          <p:cNvPr id="8" name="图片 7"/>
          <p:cNvPicPr/>
          <p:nvPr/>
        </p:nvPicPr>
        <p:blipFill>
          <a:blip r:embed="rId8"/>
          <a:stretch>
            <a:fillRect/>
          </a:stretch>
        </p:blipFill>
        <p:spPr>
          <a:xfrm>
            <a:off x="408305" y="1929765"/>
            <a:ext cx="1400175" cy="655320"/>
          </a:xfrm>
          <a:prstGeom prst="rect">
            <a:avLst/>
          </a:prstGeom>
        </p:spPr>
      </p:pic>
      <p:pic>
        <p:nvPicPr>
          <p:cNvPr id="9" name="图片 8"/>
          <p:cNvPicPr/>
          <p:nvPr/>
        </p:nvPicPr>
        <p:blipFill>
          <a:blip r:embed="rId9"/>
          <a:stretch>
            <a:fillRect/>
          </a:stretch>
        </p:blipFill>
        <p:spPr>
          <a:xfrm>
            <a:off x="1992630" y="1958975"/>
            <a:ext cx="2559050" cy="816610"/>
          </a:xfrm>
          <a:prstGeom prst="rect">
            <a:avLst/>
          </a:prstGeom>
        </p:spPr>
      </p:pic>
      <p:graphicFrame>
        <p:nvGraphicFramePr>
          <p:cNvPr id="10" name="对象 9"/>
          <p:cNvGraphicFramePr/>
          <p:nvPr/>
        </p:nvGraphicFramePr>
        <p:xfrm>
          <a:off x="408305" y="2717165"/>
          <a:ext cx="1769110" cy="1042670"/>
        </p:xfrm>
        <a:graphic>
          <a:graphicData uri="http://schemas.openxmlformats.org/presentationml/2006/ole">
            <mc:AlternateContent xmlns:mc="http://schemas.openxmlformats.org/markup-compatibility/2006">
              <mc:Choice xmlns:v="urn:schemas-microsoft-com:vml" Requires="v">
                <p:oleObj spid="_x0000_s12" name="" r:id="rId10" imgW="1769110" imgH="1042670" progId="Equation.DSMT4">
                  <p:embed/>
                </p:oleObj>
              </mc:Choice>
              <mc:Fallback>
                <p:oleObj name="" r:id="rId10" imgW="1769110" imgH="1042670" progId="Equation.DSMT4">
                  <p:embed/>
                  <p:pic>
                    <p:nvPicPr>
                      <p:cNvPr id="0" name="图片 11"/>
                      <p:cNvPicPr/>
                      <p:nvPr/>
                    </p:nvPicPr>
                    <p:blipFill>
                      <a:blip r:embed="rId11"/>
                      <a:stretch>
                        <a:fillRect/>
                      </a:stretch>
                    </p:blipFill>
                    <p:spPr>
                      <a:xfrm>
                        <a:off x="408305" y="2717165"/>
                        <a:ext cx="1769110" cy="1042670"/>
                      </a:xfrm>
                      <a:prstGeom prst="rect">
                        <a:avLst/>
                      </a:prstGeom>
                    </p:spPr>
                  </p:pic>
                </p:oleObj>
              </mc:Fallback>
            </mc:AlternateContent>
          </a:graphicData>
        </a:graphic>
      </p:graphicFrame>
      <p:graphicFrame>
        <p:nvGraphicFramePr>
          <p:cNvPr id="13" name="对象 12"/>
          <p:cNvGraphicFramePr/>
          <p:nvPr/>
        </p:nvGraphicFramePr>
        <p:xfrm>
          <a:off x="2352675" y="2789555"/>
          <a:ext cx="2723515" cy="953135"/>
        </p:xfrm>
        <a:graphic>
          <a:graphicData uri="http://schemas.openxmlformats.org/presentationml/2006/ole">
            <mc:AlternateContent xmlns:mc="http://schemas.openxmlformats.org/markup-compatibility/2006">
              <mc:Choice xmlns:v="urn:schemas-microsoft-com:vml" Requires="v">
                <p:oleObj spid="_x0000_s14" name="" r:id="rId12" imgW="2723515" imgH="953135" progId="Equation.DSMT4">
                  <p:embed/>
                </p:oleObj>
              </mc:Choice>
              <mc:Fallback>
                <p:oleObj name="" r:id="rId12" imgW="2723515" imgH="953135" progId="Equation.DSMT4">
                  <p:embed/>
                  <p:pic>
                    <p:nvPicPr>
                      <p:cNvPr id="0" name="图片 13"/>
                      <p:cNvPicPr/>
                      <p:nvPr/>
                    </p:nvPicPr>
                    <p:blipFill>
                      <a:blip r:embed="rId13"/>
                      <a:stretch>
                        <a:fillRect/>
                      </a:stretch>
                    </p:blipFill>
                    <p:spPr>
                      <a:xfrm>
                        <a:off x="2352675" y="2789555"/>
                        <a:ext cx="2723515" cy="953135"/>
                      </a:xfrm>
                      <a:prstGeom prst="rect">
                        <a:avLst/>
                      </a:prstGeom>
                    </p:spPr>
                  </p:pic>
                </p:oleObj>
              </mc:Fallback>
            </mc:AlternateContent>
          </a:graphicData>
        </a:graphic>
      </p:graphicFrame>
      <p:pic>
        <p:nvPicPr>
          <p:cNvPr id="15" name="图片 14"/>
          <p:cNvPicPr/>
          <p:nvPr/>
        </p:nvPicPr>
        <p:blipFill>
          <a:blip r:embed="rId14"/>
          <a:stretch>
            <a:fillRect/>
          </a:stretch>
        </p:blipFill>
        <p:spPr>
          <a:xfrm>
            <a:off x="357020" y="3983058"/>
            <a:ext cx="1222375" cy="344487"/>
          </a:xfrm>
          <a:prstGeom prst="rect">
            <a:avLst/>
          </a:prstGeom>
        </p:spPr>
      </p:pic>
      <p:pic>
        <p:nvPicPr>
          <p:cNvPr id="16" name="图片 15"/>
          <p:cNvPicPr/>
          <p:nvPr/>
        </p:nvPicPr>
        <p:blipFill>
          <a:blip r:embed="rId15"/>
          <a:stretch>
            <a:fillRect/>
          </a:stretch>
        </p:blipFill>
        <p:spPr>
          <a:xfrm>
            <a:off x="1868517" y="3826076"/>
            <a:ext cx="1147763" cy="652463"/>
          </a:xfrm>
          <a:prstGeom prst="rect">
            <a:avLst/>
          </a:prstGeom>
        </p:spPr>
      </p:pic>
      <p:pic>
        <p:nvPicPr>
          <p:cNvPr id="17" name="图片 16"/>
          <p:cNvPicPr/>
          <p:nvPr/>
        </p:nvPicPr>
        <p:blipFill>
          <a:blip r:embed="rId16"/>
          <a:stretch>
            <a:fillRect/>
          </a:stretch>
        </p:blipFill>
        <p:spPr>
          <a:xfrm>
            <a:off x="3305977" y="3782854"/>
            <a:ext cx="2640013" cy="766762"/>
          </a:xfrm>
          <a:prstGeom prst="rect">
            <a:avLst/>
          </a:prstGeom>
        </p:spPr>
      </p:pic>
      <p:graphicFrame>
        <p:nvGraphicFramePr>
          <p:cNvPr id="18" name="对象 17"/>
          <p:cNvGraphicFramePr/>
          <p:nvPr/>
        </p:nvGraphicFramePr>
        <p:xfrm>
          <a:off x="395605" y="4582795"/>
          <a:ext cx="4359275" cy="1112520"/>
        </p:xfrm>
        <a:graphic>
          <a:graphicData uri="http://schemas.openxmlformats.org/presentationml/2006/ole">
            <mc:AlternateContent xmlns:mc="http://schemas.openxmlformats.org/markup-compatibility/2006">
              <mc:Choice xmlns:v="urn:schemas-microsoft-com:vml" Requires="v">
                <p:oleObj spid="_x0000_s19" name="" r:id="rId17" imgW="4359275" imgH="1112520" progId="Equation.DSMT4">
                  <p:embed/>
                </p:oleObj>
              </mc:Choice>
              <mc:Fallback>
                <p:oleObj name="" r:id="rId17" imgW="4359275" imgH="1112520" progId="Equation.DSMT4">
                  <p:embed/>
                  <p:pic>
                    <p:nvPicPr>
                      <p:cNvPr id="0" name="图片 18"/>
                      <p:cNvPicPr/>
                      <p:nvPr/>
                    </p:nvPicPr>
                    <p:blipFill>
                      <a:blip r:embed="rId18"/>
                      <a:stretch>
                        <a:fillRect/>
                      </a:stretch>
                    </p:blipFill>
                    <p:spPr>
                      <a:xfrm>
                        <a:off x="395605" y="4582795"/>
                        <a:ext cx="4359275" cy="1112520"/>
                      </a:xfrm>
                      <a:prstGeom prst="rect">
                        <a:avLst/>
                      </a:prstGeom>
                    </p:spPr>
                  </p:pic>
                </p:oleObj>
              </mc:Fallback>
            </mc:AlternateContent>
          </a:graphicData>
        </a:graphic>
      </p:graphicFrame>
      <p:graphicFrame>
        <p:nvGraphicFramePr>
          <p:cNvPr id="20" name="对象 19"/>
          <p:cNvGraphicFramePr/>
          <p:nvPr/>
        </p:nvGraphicFramePr>
        <p:xfrm>
          <a:off x="4860290" y="4653280"/>
          <a:ext cx="3797300" cy="1109980"/>
        </p:xfrm>
        <a:graphic>
          <a:graphicData uri="http://schemas.openxmlformats.org/presentationml/2006/ole">
            <mc:AlternateContent xmlns:mc="http://schemas.openxmlformats.org/markup-compatibility/2006">
              <mc:Choice xmlns:v="urn:schemas-microsoft-com:vml" Requires="v">
                <p:oleObj spid="_x0000_s21" name="" r:id="rId19" imgW="3797300" imgH="1109980" progId="Equation.DSMT4">
                  <p:embed/>
                </p:oleObj>
              </mc:Choice>
              <mc:Fallback>
                <p:oleObj name="" r:id="rId19" imgW="3797300" imgH="1109980" progId="Equation.DSMT4">
                  <p:embed/>
                  <p:pic>
                    <p:nvPicPr>
                      <p:cNvPr id="0" name="图片 21"/>
                      <p:cNvPicPr/>
                      <p:nvPr/>
                    </p:nvPicPr>
                    <p:blipFill>
                      <a:blip r:embed="rId20"/>
                      <a:stretch>
                        <a:fillRect/>
                      </a:stretch>
                    </p:blipFill>
                    <p:spPr>
                      <a:xfrm>
                        <a:off x="4860290" y="4653280"/>
                        <a:ext cx="3797300" cy="1109980"/>
                      </a:xfrm>
                      <a:prstGeom prst="rect">
                        <a:avLst/>
                      </a:prstGeom>
                    </p:spPr>
                  </p:pic>
                </p:oleObj>
              </mc:Fallback>
            </mc:AlternateContent>
          </a:graphicData>
        </a:graphic>
      </p:graphicFrame>
      <p:graphicFrame>
        <p:nvGraphicFramePr>
          <p:cNvPr id="23" name="对象 22"/>
          <p:cNvGraphicFramePr/>
          <p:nvPr/>
        </p:nvGraphicFramePr>
        <p:xfrm>
          <a:off x="554355" y="5732780"/>
          <a:ext cx="3776980" cy="961390"/>
        </p:xfrm>
        <a:graphic>
          <a:graphicData uri="http://schemas.openxmlformats.org/presentationml/2006/ole">
            <mc:AlternateContent xmlns:mc="http://schemas.openxmlformats.org/markup-compatibility/2006">
              <mc:Choice xmlns:v="urn:schemas-microsoft-com:vml" Requires="v">
                <p:oleObj spid="_x0000_s22" name="" r:id="rId21" imgW="4508500" imgH="1141730" progId="Equation.DSMT4">
                  <p:embed/>
                </p:oleObj>
              </mc:Choice>
              <mc:Fallback>
                <p:oleObj name="" r:id="rId21" imgW="4508500" imgH="1141730" progId="Equation.DSMT4">
                  <p:embed/>
                  <p:pic>
                    <p:nvPicPr>
                      <p:cNvPr id="0" name="图片 23"/>
                      <p:cNvPicPr/>
                      <p:nvPr/>
                    </p:nvPicPr>
                    <p:blipFill>
                      <a:blip r:embed="rId22"/>
                      <a:stretch>
                        <a:fillRect/>
                      </a:stretch>
                    </p:blipFill>
                    <p:spPr>
                      <a:xfrm>
                        <a:off x="554355" y="5732780"/>
                        <a:ext cx="3776980" cy="961390"/>
                      </a:xfrm>
                      <a:prstGeom prst="rect">
                        <a:avLst/>
                      </a:prstGeom>
                    </p:spPr>
                  </p:pic>
                </p:oleObj>
              </mc:Fallback>
            </mc:AlternateContent>
          </a:graphicData>
        </a:graphic>
      </p:graphicFrame>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87016" y="548680"/>
            <a:ext cx="8389440" cy="1200329"/>
          </a:xfrm>
          <a:prstGeom prst="rect">
            <a:avLst/>
          </a:prstGeom>
          <a:noFill/>
        </p:spPr>
        <p:txBody>
          <a:bodyPr wrap="square" rtlCol="0">
            <a:spAutoFit/>
          </a:bodyPr>
          <a:lstStyle/>
          <a:p>
            <a:r>
              <a:rPr lang="zh-CN" altLang="en-US" dirty="0">
                <a:ea typeface="仿宋" panose="02010609060101010101" pitchFamily="49" charset="-122"/>
                <a:cs typeface="Times New Roman" panose="02020603050405020304" pitchFamily="18" charset="0"/>
              </a:rPr>
              <a:t>例</a:t>
            </a:r>
            <a:r>
              <a:rPr lang="en-US" altLang="zh-CN" dirty="0">
                <a:ea typeface="仿宋" panose="02010609060101010101" pitchFamily="49" charset="-122"/>
                <a:cs typeface="Times New Roman" panose="02020603050405020304" pitchFamily="18" charset="0"/>
              </a:rPr>
              <a:t>5</a:t>
            </a:r>
            <a:r>
              <a:rPr lang="zh-CN" altLang="en-US" dirty="0">
                <a:ea typeface="仿宋" panose="02010609060101010101" pitchFamily="49" charset="-122"/>
                <a:cs typeface="Times New Roman" panose="02020603050405020304" pitchFamily="18" charset="0"/>
              </a:rPr>
              <a:t>：</a:t>
            </a:r>
            <a:r>
              <a:rPr lang="zh-CN" altLang="zh-CN" dirty="0">
                <a:effectLst/>
                <a:latin typeface="Times New Roman" panose="02020603050405020304" pitchFamily="18" charset="0"/>
                <a:ea typeface="仿宋" panose="02010609060101010101" pitchFamily="49" charset="-122"/>
                <a:cs typeface="Times New Roman" panose="02020603050405020304" pitchFamily="18" charset="0"/>
              </a:rPr>
              <a:t>如图所示，已知</a:t>
            </a:r>
            <a:r>
              <a:rPr lang="en-US" altLang="zh-CN" i="1" dirty="0">
                <a:effectLst/>
                <a:latin typeface="Times New Roman" panose="02020603050405020304" pitchFamily="18" charset="0"/>
                <a:ea typeface="仿宋" panose="02010609060101010101" pitchFamily="49" charset="-122"/>
              </a:rPr>
              <a:t>L</a:t>
            </a:r>
            <a:r>
              <a:rPr lang="en-US" altLang="zh-CN" dirty="0">
                <a:effectLst/>
                <a:latin typeface="Times New Roman" panose="02020603050405020304" pitchFamily="18" charset="0"/>
                <a:ea typeface="仿宋" panose="02010609060101010101" pitchFamily="49" charset="-122"/>
              </a:rPr>
              <a:t>=0.8</a:t>
            </a:r>
            <a:r>
              <a:rPr lang="en-US" altLang="zh-CN" dirty="0">
                <a:effectLst/>
                <a:latin typeface="Times New Roman" panose="02020603050405020304" pitchFamily="18" charset="0"/>
                <a:ea typeface="仿宋" panose="02010609060101010101" pitchFamily="49" charset="-122"/>
                <a:cs typeface="Times New Roman" panose="02020603050405020304" pitchFamily="18" charset="0"/>
                <a:sym typeface="Symbol" panose="05050102010706020507" pitchFamily="18" charset="2"/>
              </a:rPr>
              <a:t></a:t>
            </a:r>
            <a:r>
              <a:rPr lang="en-US" altLang="zh-CN" dirty="0">
                <a:effectLst/>
                <a:latin typeface="Times New Roman" panose="02020603050405020304" pitchFamily="18" charset="0"/>
                <a:ea typeface="仿宋" panose="02010609060101010101" pitchFamily="49" charset="-122"/>
              </a:rPr>
              <a:t>H</a:t>
            </a:r>
            <a:r>
              <a:rPr lang="zh-CN" altLang="zh-CN" dirty="0">
                <a:effectLst/>
                <a:latin typeface="Times New Roman" panose="02020603050405020304" pitchFamily="18" charset="0"/>
                <a:ea typeface="仿宋" panose="02010609060101010101" pitchFamily="49" charset="-122"/>
                <a:cs typeface="Times New Roman" panose="02020603050405020304" pitchFamily="18" charset="0"/>
              </a:rPr>
              <a:t>，</a:t>
            </a:r>
            <a:r>
              <a:rPr lang="en-US" altLang="zh-CN" i="1" dirty="0">
                <a:effectLst/>
                <a:latin typeface="Times New Roman" panose="02020603050405020304" pitchFamily="18" charset="0"/>
                <a:ea typeface="仿宋" panose="02010609060101010101" pitchFamily="49" charset="-122"/>
              </a:rPr>
              <a:t>Q</a:t>
            </a:r>
            <a:r>
              <a:rPr lang="en-US" altLang="zh-CN" baseline="-25000" dirty="0">
                <a:effectLst/>
                <a:latin typeface="Times New Roman" panose="02020603050405020304" pitchFamily="18" charset="0"/>
                <a:ea typeface="仿宋" panose="02010609060101010101" pitchFamily="49" charset="-122"/>
              </a:rPr>
              <a:t>0</a:t>
            </a:r>
            <a:r>
              <a:rPr lang="en-US" altLang="zh-CN" dirty="0">
                <a:effectLst/>
                <a:latin typeface="Times New Roman" panose="02020603050405020304" pitchFamily="18" charset="0"/>
                <a:ea typeface="仿宋" panose="02010609060101010101" pitchFamily="49" charset="-122"/>
              </a:rPr>
              <a:t>=100</a:t>
            </a:r>
            <a:r>
              <a:rPr lang="zh-CN" altLang="zh-CN" dirty="0">
                <a:effectLst/>
                <a:latin typeface="Times New Roman" panose="02020603050405020304" pitchFamily="18" charset="0"/>
                <a:ea typeface="仿宋" panose="02010609060101010101" pitchFamily="49" charset="-122"/>
                <a:cs typeface="Times New Roman" panose="02020603050405020304" pitchFamily="18" charset="0"/>
              </a:rPr>
              <a:t>，</a:t>
            </a:r>
            <a:r>
              <a:rPr lang="en-US" altLang="zh-CN" i="1" dirty="0">
                <a:effectLst/>
                <a:latin typeface="Times New Roman" panose="02020603050405020304" pitchFamily="18" charset="0"/>
                <a:ea typeface="仿宋" panose="02010609060101010101" pitchFamily="49" charset="-122"/>
              </a:rPr>
              <a:t>C</a:t>
            </a:r>
            <a:r>
              <a:rPr lang="en-US" altLang="zh-CN" baseline="-25000" dirty="0">
                <a:effectLst/>
                <a:latin typeface="Times New Roman" panose="02020603050405020304" pitchFamily="18" charset="0"/>
                <a:ea typeface="仿宋" panose="02010609060101010101" pitchFamily="49" charset="-122"/>
              </a:rPr>
              <a:t>1</a:t>
            </a:r>
            <a:r>
              <a:rPr lang="en-US" altLang="zh-CN" dirty="0">
                <a:effectLst/>
                <a:latin typeface="Times New Roman" panose="02020603050405020304" pitchFamily="18" charset="0"/>
                <a:ea typeface="仿宋" panose="02010609060101010101" pitchFamily="49" charset="-122"/>
              </a:rPr>
              <a:t>=</a:t>
            </a:r>
            <a:r>
              <a:rPr lang="en-US" altLang="zh-CN" i="1" dirty="0">
                <a:effectLst/>
                <a:latin typeface="Times New Roman" panose="02020603050405020304" pitchFamily="18" charset="0"/>
                <a:ea typeface="仿宋" panose="02010609060101010101" pitchFamily="49" charset="-122"/>
              </a:rPr>
              <a:t>C</a:t>
            </a:r>
            <a:r>
              <a:rPr lang="en-US" altLang="zh-CN" baseline="-25000" dirty="0">
                <a:effectLst/>
                <a:latin typeface="Times New Roman" panose="02020603050405020304" pitchFamily="18" charset="0"/>
                <a:ea typeface="仿宋" panose="02010609060101010101" pitchFamily="49" charset="-122"/>
              </a:rPr>
              <a:t>2</a:t>
            </a:r>
            <a:r>
              <a:rPr lang="en-US" altLang="zh-CN" dirty="0">
                <a:effectLst/>
                <a:latin typeface="Times New Roman" panose="02020603050405020304" pitchFamily="18" charset="0"/>
                <a:ea typeface="仿宋" panose="02010609060101010101" pitchFamily="49" charset="-122"/>
              </a:rPr>
              <a:t>=20pF</a:t>
            </a:r>
            <a:r>
              <a:rPr lang="zh-CN" altLang="zh-CN" dirty="0">
                <a:effectLst/>
                <a:latin typeface="Times New Roman" panose="02020603050405020304" pitchFamily="18" charset="0"/>
                <a:ea typeface="仿宋" panose="02010609060101010101" pitchFamily="49" charset="-122"/>
                <a:cs typeface="Times New Roman" panose="02020603050405020304" pitchFamily="18" charset="0"/>
              </a:rPr>
              <a:t>，</a:t>
            </a:r>
            <a:r>
              <a:rPr lang="en-US" altLang="zh-CN" i="1" dirty="0">
                <a:effectLst/>
                <a:latin typeface="Times New Roman" panose="02020603050405020304" pitchFamily="18" charset="0"/>
                <a:ea typeface="仿宋" panose="02010609060101010101" pitchFamily="49" charset="-122"/>
              </a:rPr>
              <a:t>C</a:t>
            </a:r>
            <a:r>
              <a:rPr lang="en-US" altLang="zh-CN" baseline="-25000" dirty="0">
                <a:effectLst/>
                <a:latin typeface="Times New Roman" panose="02020603050405020304" pitchFamily="18" charset="0"/>
                <a:ea typeface="仿宋" panose="02010609060101010101" pitchFamily="49" charset="-122"/>
              </a:rPr>
              <a:t>1</a:t>
            </a:r>
            <a:r>
              <a:rPr lang="en-US" altLang="zh-CN" dirty="0">
                <a:effectLst/>
                <a:latin typeface="Times New Roman" panose="02020603050405020304" pitchFamily="18" charset="0"/>
                <a:ea typeface="仿宋" panose="02010609060101010101" pitchFamily="49" charset="-122"/>
              </a:rPr>
              <a:t>=5pF</a:t>
            </a:r>
            <a:r>
              <a:rPr lang="zh-CN" altLang="zh-CN" dirty="0">
                <a:effectLst/>
                <a:latin typeface="Times New Roman" panose="02020603050405020304" pitchFamily="18" charset="0"/>
                <a:ea typeface="仿宋" panose="02010609060101010101" pitchFamily="49" charset="-122"/>
                <a:cs typeface="Times New Roman" panose="02020603050405020304" pitchFamily="18" charset="0"/>
              </a:rPr>
              <a:t>，</a:t>
            </a:r>
            <a:r>
              <a:rPr lang="en-US" altLang="zh-CN" i="1" dirty="0">
                <a:effectLst/>
                <a:latin typeface="Times New Roman" panose="02020603050405020304" pitchFamily="18" charset="0"/>
                <a:ea typeface="仿宋" panose="02010609060101010101" pitchFamily="49" charset="-122"/>
              </a:rPr>
              <a:t>R</a:t>
            </a:r>
            <a:r>
              <a:rPr lang="en-US" altLang="zh-CN" dirty="0">
                <a:effectLst/>
                <a:latin typeface="Times New Roman" panose="02020603050405020304" pitchFamily="18" charset="0"/>
                <a:ea typeface="仿宋" panose="02010609060101010101" pitchFamily="49" charset="-122"/>
              </a:rPr>
              <a:t>=10k</a:t>
            </a:r>
            <a:r>
              <a:rPr lang="en-US" altLang="zh-CN" dirty="0">
                <a:effectLst/>
                <a:latin typeface="Times New Roman" panose="02020603050405020304" pitchFamily="18" charset="0"/>
                <a:ea typeface="仿宋" panose="02010609060101010101" pitchFamily="49" charset="-122"/>
                <a:cs typeface="Times New Roman" panose="02020603050405020304" pitchFamily="18" charset="0"/>
                <a:sym typeface="Symbol" panose="05050102010706020507" pitchFamily="18" charset="2"/>
              </a:rPr>
              <a:t></a:t>
            </a:r>
            <a:r>
              <a:rPr lang="zh-CN" altLang="zh-CN" dirty="0">
                <a:effectLst/>
                <a:latin typeface="Times New Roman" panose="02020603050405020304" pitchFamily="18" charset="0"/>
                <a:ea typeface="仿宋" panose="02010609060101010101" pitchFamily="49" charset="-122"/>
                <a:cs typeface="Times New Roman" panose="02020603050405020304" pitchFamily="18" charset="0"/>
              </a:rPr>
              <a:t>，</a:t>
            </a:r>
            <a:r>
              <a:rPr lang="en-US" altLang="zh-CN" i="1" dirty="0">
                <a:effectLst/>
                <a:latin typeface="Times New Roman" panose="02020603050405020304" pitchFamily="18" charset="0"/>
                <a:ea typeface="仿宋" panose="02010609060101010101" pitchFamily="49" charset="-122"/>
              </a:rPr>
              <a:t>C</a:t>
            </a:r>
            <a:r>
              <a:rPr lang="en-US" altLang="zh-CN" baseline="-25000" dirty="0">
                <a:effectLst/>
                <a:latin typeface="Times New Roman" panose="02020603050405020304" pitchFamily="18" charset="0"/>
                <a:ea typeface="仿宋" panose="02010609060101010101" pitchFamily="49" charset="-122"/>
              </a:rPr>
              <a:t>0</a:t>
            </a:r>
            <a:r>
              <a:rPr lang="en-US" altLang="zh-CN" dirty="0">
                <a:effectLst/>
                <a:latin typeface="Times New Roman" panose="02020603050405020304" pitchFamily="18" charset="0"/>
                <a:ea typeface="仿宋" panose="02010609060101010101" pitchFamily="49" charset="-122"/>
              </a:rPr>
              <a:t>=20pF</a:t>
            </a:r>
            <a:r>
              <a:rPr lang="zh-CN" altLang="zh-CN" dirty="0">
                <a:effectLst/>
                <a:latin typeface="Times New Roman" panose="02020603050405020304" pitchFamily="18" charset="0"/>
                <a:ea typeface="仿宋" panose="02010609060101010101" pitchFamily="49" charset="-122"/>
                <a:cs typeface="Times New Roman" panose="02020603050405020304" pitchFamily="18" charset="0"/>
              </a:rPr>
              <a:t>，</a:t>
            </a:r>
            <a:r>
              <a:rPr lang="en-US" altLang="zh-CN" i="1" dirty="0">
                <a:effectLst/>
                <a:latin typeface="Times New Roman" panose="02020603050405020304" pitchFamily="18" charset="0"/>
                <a:ea typeface="仿宋" panose="02010609060101010101" pitchFamily="49" charset="-122"/>
              </a:rPr>
              <a:t>R</a:t>
            </a:r>
            <a:r>
              <a:rPr lang="en-US" altLang="zh-CN" baseline="-25000" dirty="0">
                <a:effectLst/>
                <a:latin typeface="Times New Roman" panose="02020603050405020304" pitchFamily="18" charset="0"/>
                <a:ea typeface="仿宋" panose="02010609060101010101" pitchFamily="49" charset="-122"/>
              </a:rPr>
              <a:t>0</a:t>
            </a:r>
            <a:r>
              <a:rPr lang="en-US" altLang="zh-CN" dirty="0">
                <a:effectLst/>
                <a:latin typeface="Times New Roman" panose="02020603050405020304" pitchFamily="18" charset="0"/>
                <a:ea typeface="仿宋" panose="02010609060101010101" pitchFamily="49" charset="-122"/>
              </a:rPr>
              <a:t>=5k</a:t>
            </a:r>
            <a:r>
              <a:rPr lang="en-US" altLang="zh-CN" dirty="0">
                <a:effectLst/>
                <a:latin typeface="Times New Roman" panose="02020603050405020304" pitchFamily="18" charset="0"/>
                <a:ea typeface="仿宋" panose="02010609060101010101" pitchFamily="49" charset="-122"/>
                <a:cs typeface="Times New Roman" panose="02020603050405020304" pitchFamily="18" charset="0"/>
                <a:sym typeface="Symbol" panose="05050102010706020507" pitchFamily="18" charset="2"/>
              </a:rPr>
              <a:t></a:t>
            </a:r>
            <a:r>
              <a:rPr lang="zh-CN" altLang="zh-CN" dirty="0">
                <a:effectLst/>
                <a:latin typeface="Times New Roman" panose="02020603050405020304" pitchFamily="18" charset="0"/>
                <a:ea typeface="仿宋" panose="02010609060101010101" pitchFamily="49" charset="-122"/>
                <a:cs typeface="Times New Roman" panose="02020603050405020304" pitchFamily="18" charset="0"/>
              </a:rPr>
              <a:t>，计算回路谐振频率，有载</a:t>
            </a:r>
            <a:r>
              <a:rPr lang="en-US" altLang="zh-CN" i="1" dirty="0" err="1">
                <a:effectLst/>
                <a:latin typeface="Times New Roman" panose="02020603050405020304" pitchFamily="18" charset="0"/>
                <a:ea typeface="仿宋" panose="02010609060101010101" pitchFamily="49" charset="-122"/>
              </a:rPr>
              <a:t>Q</a:t>
            </a:r>
            <a:r>
              <a:rPr lang="en-US" altLang="zh-CN" i="1" baseline="-25000" dirty="0" err="1">
                <a:effectLst/>
                <a:latin typeface="Times New Roman" panose="02020603050405020304" pitchFamily="18" charset="0"/>
                <a:ea typeface="仿宋" panose="02010609060101010101" pitchFamily="49" charset="-122"/>
              </a:rPr>
              <a:t>e</a:t>
            </a:r>
            <a:r>
              <a:rPr lang="zh-CN" altLang="zh-CN" dirty="0">
                <a:effectLst/>
                <a:latin typeface="Times New Roman" panose="02020603050405020304" pitchFamily="18" charset="0"/>
                <a:ea typeface="仿宋" panose="02010609060101010101" pitchFamily="49" charset="-122"/>
                <a:cs typeface="Times New Roman" panose="02020603050405020304" pitchFamily="18" charset="0"/>
              </a:rPr>
              <a:t>值和通频带。</a:t>
            </a:r>
            <a:endParaRPr lang="zh-CN" altLang="en-US" sz="3200" dirty="0"/>
          </a:p>
        </p:txBody>
      </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148064" y="1484784"/>
            <a:ext cx="4011315" cy="1944216"/>
          </a:xfrm>
          <a:prstGeom prst="rect">
            <a:avLst/>
          </a:prstGeom>
          <a:noFill/>
          <a:ln>
            <a:noFill/>
          </a:ln>
        </p:spPr>
      </p:pic>
      <p:pic>
        <p:nvPicPr>
          <p:cNvPr id="4" name="图片 3"/>
          <p:cNvPicPr>
            <a:picLocks noChangeAspect="1"/>
          </p:cNvPicPr>
          <p:nvPr/>
        </p:nvPicPr>
        <p:blipFill>
          <a:blip r:embed="rId2"/>
          <a:stretch>
            <a:fillRect/>
          </a:stretch>
        </p:blipFill>
        <p:spPr>
          <a:xfrm>
            <a:off x="1043608" y="1772816"/>
            <a:ext cx="3186467" cy="1834632"/>
          </a:xfrm>
          <a:prstGeom prst="rect">
            <a:avLst/>
          </a:prstGeom>
        </p:spPr>
      </p:pic>
      <p:sp>
        <p:nvSpPr>
          <p:cNvPr id="5" name="Rectangle 2"/>
          <p:cNvSpPr>
            <a:spLocks noChangeArrowheads="1"/>
          </p:cNvSpPr>
          <p:nvPr/>
        </p:nvSpPr>
        <p:spPr bwMode="auto">
          <a:xfrm>
            <a:off x="755576" y="3654478"/>
            <a:ext cx="1157698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6" name="对象 5"/>
          <p:cNvGraphicFramePr>
            <a:graphicFrameLocks noChangeAspect="1"/>
          </p:cNvGraphicFramePr>
          <p:nvPr/>
        </p:nvGraphicFramePr>
        <p:xfrm>
          <a:off x="755576" y="3654479"/>
          <a:ext cx="5096332" cy="836712"/>
        </p:xfrm>
        <a:graphic>
          <a:graphicData uri="http://schemas.openxmlformats.org/presentationml/2006/ole">
            <mc:AlternateContent xmlns:mc="http://schemas.openxmlformats.org/markup-compatibility/2006">
              <mc:Choice xmlns:v="urn:schemas-microsoft-com:vml" Requires="v">
                <p:oleObj spid="_x0000_s7" name="Equation" r:id="rId3" imgW="2870200" imgH="431800" progId="Equation.DSMT4">
                  <p:embed/>
                </p:oleObj>
              </mc:Choice>
              <mc:Fallback>
                <p:oleObj name="Equation" r:id="rId3" imgW="2870200" imgH="431800" progId="Equation.DSMT4">
                  <p:embed/>
                  <p:pic>
                    <p:nvPicPr>
                      <p:cNvPr id="0" name="对象 9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576" y="3654479"/>
                        <a:ext cx="5096332" cy="836712"/>
                      </a:xfrm>
                      <a:prstGeom prst="rect">
                        <a:avLst/>
                      </a:prstGeom>
                      <a:noFill/>
                    </p:spPr>
                  </p:pic>
                </p:oleObj>
              </mc:Fallback>
            </mc:AlternateContent>
          </a:graphicData>
        </a:graphic>
      </p:graphicFrame>
      <p:sp>
        <p:nvSpPr>
          <p:cNvPr id="8" name="Rectangle 4"/>
          <p:cNvSpPr>
            <a:spLocks noChangeArrowheads="1"/>
          </p:cNvSpPr>
          <p:nvPr/>
        </p:nvSpPr>
        <p:spPr bwMode="auto">
          <a:xfrm>
            <a:off x="683568" y="4458150"/>
            <a:ext cx="935594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9" name="对象 8"/>
          <p:cNvGraphicFramePr>
            <a:graphicFrameLocks noChangeAspect="1"/>
          </p:cNvGraphicFramePr>
          <p:nvPr/>
        </p:nvGraphicFramePr>
        <p:xfrm>
          <a:off x="683568" y="4458151"/>
          <a:ext cx="4032448" cy="752916"/>
        </p:xfrm>
        <a:graphic>
          <a:graphicData uri="http://schemas.openxmlformats.org/presentationml/2006/ole">
            <mc:AlternateContent xmlns:mc="http://schemas.openxmlformats.org/markup-compatibility/2006">
              <mc:Choice xmlns:v="urn:schemas-microsoft-com:vml" Requires="v">
                <p:oleObj spid="_x0000_s10" name="Equation" r:id="rId5" imgW="2247900" imgH="393700" progId="Equation.DSMT4">
                  <p:embed/>
                </p:oleObj>
              </mc:Choice>
              <mc:Fallback>
                <p:oleObj name="Equation" r:id="rId5" imgW="2247900" imgH="393700" progId="Equation.DSMT4">
                  <p:embed/>
                  <p:pic>
                    <p:nvPicPr>
                      <p:cNvPr id="0" name="对象 9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3568" y="4458151"/>
                        <a:ext cx="4032448" cy="752916"/>
                      </a:xfrm>
                      <a:prstGeom prst="rect">
                        <a:avLst/>
                      </a:prstGeom>
                      <a:noFill/>
                    </p:spPr>
                  </p:pic>
                </p:oleObj>
              </mc:Fallback>
            </mc:AlternateContent>
          </a:graphicData>
        </a:graphic>
      </p:graphicFrame>
      <p:sp>
        <p:nvSpPr>
          <p:cNvPr id="11" name="Rectangle 6"/>
          <p:cNvSpPr>
            <a:spLocks noChangeArrowheads="1"/>
          </p:cNvSpPr>
          <p:nvPr/>
        </p:nvSpPr>
        <p:spPr bwMode="auto">
          <a:xfrm>
            <a:off x="755575" y="5445224"/>
            <a:ext cx="1077314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12" name="对象 11"/>
          <p:cNvGraphicFramePr>
            <a:graphicFrameLocks noChangeAspect="1"/>
          </p:cNvGraphicFramePr>
          <p:nvPr/>
        </p:nvGraphicFramePr>
        <p:xfrm>
          <a:off x="655674" y="5210958"/>
          <a:ext cx="5656580" cy="836930"/>
        </p:xfrm>
        <a:graphic>
          <a:graphicData uri="http://schemas.openxmlformats.org/presentationml/2006/ole">
            <mc:AlternateContent xmlns:mc="http://schemas.openxmlformats.org/markup-compatibility/2006">
              <mc:Choice xmlns:v="urn:schemas-microsoft-com:vml" Requires="v">
                <p:oleObj spid="_x0000_s13" name="Equation" r:id="rId7" imgW="2679700" imgH="431800" progId="Equation.DSMT4">
                  <p:embed/>
                </p:oleObj>
              </mc:Choice>
              <mc:Fallback>
                <p:oleObj name="Equation" r:id="rId7" imgW="2679700" imgH="431800" progId="Equation.DSMT4">
                  <p:embed/>
                  <p:pic>
                    <p:nvPicPr>
                      <p:cNvPr id="0" name="对象 94"/>
                      <p:cNvPicPr>
                        <a:picLocks noChangeAspect="1" noChangeArrowheads="1"/>
                      </p:cNvPicPr>
                      <p:nvPr/>
                    </p:nvPicPr>
                    <p:blipFill>
                      <a:blip r:embed="rId8"/>
                      <a:srcRect/>
                      <a:stretch>
                        <a:fillRect/>
                      </a:stretch>
                    </p:blipFill>
                    <p:spPr bwMode="auto">
                      <a:xfrm>
                        <a:off x="655674" y="5210958"/>
                        <a:ext cx="5656580" cy="836930"/>
                      </a:xfrm>
                      <a:prstGeom prst="rect">
                        <a:avLst/>
                      </a:prstGeom>
                      <a:noFill/>
                    </p:spPr>
                  </p:pic>
                </p:oleObj>
              </mc:Fallback>
            </mc:AlternateContent>
          </a:graphicData>
        </a:graphic>
      </p:graphicFrame>
      <p:sp>
        <p:nvSpPr>
          <p:cNvPr id="14" name="Rectangle 8"/>
          <p:cNvSpPr>
            <a:spLocks noChangeArrowheads="1"/>
          </p:cNvSpPr>
          <p:nvPr/>
        </p:nvSpPr>
        <p:spPr bwMode="auto">
          <a:xfrm>
            <a:off x="740221" y="5963983"/>
            <a:ext cx="10409322"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17" name="对象 16"/>
          <p:cNvGraphicFramePr>
            <a:graphicFrameLocks noChangeAspect="1"/>
          </p:cNvGraphicFramePr>
          <p:nvPr/>
        </p:nvGraphicFramePr>
        <p:xfrm>
          <a:off x="2700020" y="2698115"/>
          <a:ext cx="391795" cy="401320"/>
        </p:xfrm>
        <a:graphic>
          <a:graphicData uri="http://schemas.openxmlformats.org/presentationml/2006/ole">
            <mc:AlternateContent xmlns:mc="http://schemas.openxmlformats.org/markup-compatibility/2006">
              <mc:Choice xmlns:v="urn:schemas-microsoft-com:vml" Requires="v">
                <p:oleObj spid="_x0000_s15" name="Equation" r:id="rId9" imgW="215900" imgH="241300" progId="Equation.DSMT4">
                  <p:embed/>
                </p:oleObj>
              </mc:Choice>
              <mc:Fallback>
                <p:oleObj name="Equation" r:id="rId9" imgW="215900" imgH="241300" progId="Equation.DSMT4">
                  <p:embed/>
                  <p:pic>
                    <p:nvPicPr>
                      <p:cNvPr id="0" name="对象 94"/>
                      <p:cNvPicPr>
                        <a:picLocks noChangeAspect="1" noChangeArrowheads="1"/>
                      </p:cNvPicPr>
                      <p:nvPr/>
                    </p:nvPicPr>
                    <p:blipFill>
                      <a:blip r:embed="rId10"/>
                      <a:srcRect/>
                      <a:stretch>
                        <a:fillRect/>
                      </a:stretch>
                    </p:blipFill>
                    <p:spPr bwMode="auto">
                      <a:xfrm>
                        <a:off x="2700020" y="2698115"/>
                        <a:ext cx="391795" cy="401320"/>
                      </a:xfrm>
                      <a:prstGeom prst="rect">
                        <a:avLst/>
                      </a:prstGeom>
                      <a:noFill/>
                    </p:spPr>
                  </p:pic>
                </p:oleObj>
              </mc:Fallback>
            </mc:AlternateContent>
          </a:graphicData>
        </a:graphic>
      </p:graphicFrame>
    </p:spTree>
  </p:cSld>
  <p:clrMapOvr>
    <a:masterClrMapping/>
  </p:clrMapOvr>
  <p:transition spd="med">
    <p:zo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827584" y="1700808"/>
            <a:ext cx="935126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3" name="对象 2"/>
          <p:cNvGraphicFramePr>
            <a:graphicFrameLocks noChangeAspect="1"/>
          </p:cNvGraphicFramePr>
          <p:nvPr/>
        </p:nvGraphicFramePr>
        <p:xfrm>
          <a:off x="764848" y="1679357"/>
          <a:ext cx="7249646" cy="404664"/>
        </p:xfrm>
        <a:graphic>
          <a:graphicData uri="http://schemas.openxmlformats.org/presentationml/2006/ole">
            <mc:AlternateContent xmlns:mc="http://schemas.openxmlformats.org/markup-compatibility/2006">
              <mc:Choice xmlns:v="urn:schemas-microsoft-com:vml" Requires="v">
                <p:oleObj spid="_x0000_s4" name="Equation" r:id="rId1" imgW="4291965" imgH="241300" progId="Equation.DSMT4">
                  <p:embed/>
                </p:oleObj>
              </mc:Choice>
              <mc:Fallback>
                <p:oleObj name="Equation" r:id="rId1" imgW="4291965" imgH="241300" progId="Equation.DSMT4">
                  <p:embed/>
                  <p:pic>
                    <p:nvPicPr>
                      <p:cNvPr id="0" name="对象 9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848" y="1679357"/>
                        <a:ext cx="7249646" cy="404664"/>
                      </a:xfrm>
                      <a:prstGeom prst="rect">
                        <a:avLst/>
                      </a:prstGeom>
                      <a:noFill/>
                    </p:spPr>
                  </p:pic>
                </p:oleObj>
              </mc:Fallback>
            </mc:AlternateContent>
          </a:graphicData>
        </a:graphic>
      </p:graphicFrame>
      <p:sp>
        <p:nvSpPr>
          <p:cNvPr id="5" name="Rectangle 4"/>
          <p:cNvSpPr>
            <a:spLocks noChangeArrowheads="1"/>
          </p:cNvSpPr>
          <p:nvPr/>
        </p:nvSpPr>
        <p:spPr bwMode="auto">
          <a:xfrm>
            <a:off x="764848" y="2287585"/>
            <a:ext cx="7971872"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6" name="对象 5"/>
          <p:cNvGraphicFramePr>
            <a:graphicFrameLocks noChangeAspect="1"/>
          </p:cNvGraphicFramePr>
          <p:nvPr/>
        </p:nvGraphicFramePr>
        <p:xfrm>
          <a:off x="764849" y="2287586"/>
          <a:ext cx="4680520" cy="424898"/>
        </p:xfrm>
        <a:graphic>
          <a:graphicData uri="http://schemas.openxmlformats.org/presentationml/2006/ole">
            <mc:AlternateContent xmlns:mc="http://schemas.openxmlformats.org/markup-compatibility/2006">
              <mc:Choice xmlns:v="urn:schemas-microsoft-com:vml" Requires="v">
                <p:oleObj spid="_x0000_s7" name="Equation" r:id="rId3" imgW="2755900" imgH="228600" progId="Equation.DSMT4">
                  <p:embed/>
                </p:oleObj>
              </mc:Choice>
              <mc:Fallback>
                <p:oleObj name="Equation" r:id="rId3" imgW="2755900" imgH="228600" progId="Equation.DSMT4">
                  <p:embed/>
                  <p:pic>
                    <p:nvPicPr>
                      <p:cNvPr id="0" name="对象 10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4849" y="2287586"/>
                        <a:ext cx="4680520" cy="424898"/>
                      </a:xfrm>
                      <a:prstGeom prst="rect">
                        <a:avLst/>
                      </a:prstGeom>
                      <a:noFill/>
                    </p:spPr>
                  </p:pic>
                </p:oleObj>
              </mc:Fallback>
            </mc:AlternateContent>
          </a:graphicData>
        </a:graphic>
      </p:graphicFrame>
      <p:sp>
        <p:nvSpPr>
          <p:cNvPr id="8" name="Rectangle 6"/>
          <p:cNvSpPr>
            <a:spLocks noChangeArrowheads="1"/>
          </p:cNvSpPr>
          <p:nvPr/>
        </p:nvSpPr>
        <p:spPr bwMode="auto">
          <a:xfrm>
            <a:off x="899592" y="2917265"/>
            <a:ext cx="1013690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9" name="对象 8"/>
          <p:cNvGraphicFramePr>
            <a:graphicFrameLocks noChangeAspect="1"/>
          </p:cNvGraphicFramePr>
          <p:nvPr/>
        </p:nvGraphicFramePr>
        <p:xfrm>
          <a:off x="754926" y="2831485"/>
          <a:ext cx="6362433" cy="799767"/>
        </p:xfrm>
        <a:graphic>
          <a:graphicData uri="http://schemas.openxmlformats.org/presentationml/2006/ole">
            <mc:AlternateContent xmlns:mc="http://schemas.openxmlformats.org/markup-compatibility/2006">
              <mc:Choice xmlns:v="urn:schemas-microsoft-com:vml" Requires="v">
                <p:oleObj spid="_x0000_s10" name="Equation" r:id="rId5" imgW="3365500" imgH="457200" progId="Equation.DSMT4">
                  <p:embed/>
                </p:oleObj>
              </mc:Choice>
              <mc:Fallback>
                <p:oleObj name="Equation" r:id="rId5" imgW="3365500" imgH="457200" progId="Equation.DSMT4">
                  <p:embed/>
                  <p:pic>
                    <p:nvPicPr>
                      <p:cNvPr id="0" name="对象 10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4926" y="2831485"/>
                        <a:ext cx="6362433" cy="799767"/>
                      </a:xfrm>
                      <a:prstGeom prst="rect">
                        <a:avLst/>
                      </a:prstGeom>
                      <a:noFill/>
                    </p:spPr>
                  </p:pic>
                </p:oleObj>
              </mc:Fallback>
            </mc:AlternateContent>
          </a:graphicData>
        </a:graphic>
      </p:graphicFrame>
      <p:sp>
        <p:nvSpPr>
          <p:cNvPr id="11" name="Rectangle 8"/>
          <p:cNvSpPr>
            <a:spLocks noChangeArrowheads="1"/>
          </p:cNvSpPr>
          <p:nvPr/>
        </p:nvSpPr>
        <p:spPr bwMode="auto">
          <a:xfrm>
            <a:off x="803721" y="3748585"/>
            <a:ext cx="10619679"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12" name="对象 11"/>
          <p:cNvGraphicFramePr>
            <a:graphicFrameLocks noChangeAspect="1"/>
          </p:cNvGraphicFramePr>
          <p:nvPr/>
        </p:nvGraphicFramePr>
        <p:xfrm>
          <a:off x="740986" y="3727133"/>
          <a:ext cx="2757327" cy="692695"/>
        </p:xfrm>
        <a:graphic>
          <a:graphicData uri="http://schemas.openxmlformats.org/presentationml/2006/ole">
            <mc:AlternateContent xmlns:mc="http://schemas.openxmlformats.org/markup-compatibility/2006">
              <mc:Choice xmlns:v="urn:schemas-microsoft-com:vml" Requires="v">
                <p:oleObj spid="_x0000_s13" name="Equation" r:id="rId7" imgW="1917065" imgH="431800" progId="Equation.DSMT4">
                  <p:embed/>
                </p:oleObj>
              </mc:Choice>
              <mc:Fallback>
                <p:oleObj name="Equation" r:id="rId7" imgW="1917065" imgH="431800" progId="Equation.DSMT4">
                  <p:embed/>
                  <p:pic>
                    <p:nvPicPr>
                      <p:cNvPr id="0" name="对象 10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0986" y="3727133"/>
                        <a:ext cx="2757327" cy="692695"/>
                      </a:xfrm>
                      <a:prstGeom prst="rect">
                        <a:avLst/>
                      </a:prstGeom>
                      <a:noFill/>
                    </p:spPr>
                  </p:pic>
                </p:oleObj>
              </mc:Fallback>
            </mc:AlternateContent>
          </a:graphicData>
        </a:graphic>
      </p:graphicFrame>
      <p:pic>
        <p:nvPicPr>
          <p:cNvPr id="14" name="图片 13"/>
          <p:cNvPicPr>
            <a:picLocks noChangeAspect="1"/>
          </p:cNvPicPr>
          <p:nvPr/>
        </p:nvPicPr>
        <p:blipFill>
          <a:blip r:embed="rId9"/>
          <a:stretch>
            <a:fillRect/>
          </a:stretch>
        </p:blipFill>
        <p:spPr>
          <a:xfrm>
            <a:off x="5442845" y="3747566"/>
            <a:ext cx="3186467" cy="1834632"/>
          </a:xfrm>
          <a:prstGeom prst="rect">
            <a:avLst/>
          </a:prstGeom>
        </p:spPr>
      </p:pic>
      <p:graphicFrame>
        <p:nvGraphicFramePr>
          <p:cNvPr id="15" name="对象 14"/>
          <p:cNvGraphicFramePr>
            <a:graphicFrameLocks noChangeAspect="1"/>
          </p:cNvGraphicFramePr>
          <p:nvPr/>
        </p:nvGraphicFramePr>
        <p:xfrm>
          <a:off x="739586" y="764602"/>
          <a:ext cx="6591806" cy="836709"/>
        </p:xfrm>
        <a:graphic>
          <a:graphicData uri="http://schemas.openxmlformats.org/presentationml/2006/ole">
            <mc:AlternateContent xmlns:mc="http://schemas.openxmlformats.org/markup-compatibility/2006">
              <mc:Choice xmlns:v="urn:schemas-microsoft-com:vml" Requires="v">
                <p:oleObj spid="_x0000_s16" name="Equation" r:id="rId10" imgW="3708400" imgH="457200" progId="Equation.DSMT4">
                  <p:embed/>
                </p:oleObj>
              </mc:Choice>
              <mc:Fallback>
                <p:oleObj name="Equation" r:id="rId10" imgW="3708400" imgH="457200" progId="Equation.DSMT4">
                  <p:embed/>
                  <p:pic>
                    <p:nvPicPr>
                      <p:cNvPr id="0" name="对象 9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9586" y="764602"/>
                        <a:ext cx="6591806" cy="836709"/>
                      </a:xfrm>
                      <a:prstGeom prst="rect">
                        <a:avLst/>
                      </a:prstGeom>
                      <a:noFill/>
                    </p:spPr>
                  </p:pic>
                </p:oleObj>
              </mc:Fallback>
            </mc:AlternateContent>
          </a:graphicData>
        </a:graphic>
      </p:graphicFrame>
    </p:spTree>
  </p:cSld>
  <p:clrMapOvr>
    <a:masterClrMapping/>
  </p:clrMapOvr>
  <p:transition spd="med">
    <p:zo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6"/>
          <p:cNvSpPr txBox="1"/>
          <p:nvPr/>
        </p:nvSpPr>
        <p:spPr>
          <a:xfrm>
            <a:off x="611188" y="1484313"/>
            <a:ext cx="5670550" cy="457200"/>
          </a:xfrm>
          <a:prstGeom prst="rect">
            <a:avLst/>
          </a:prstGeom>
          <a:noFill/>
          <a:ln w="9525">
            <a:noFill/>
          </a:ln>
        </p:spPr>
        <p:txBody>
          <a:bodyPr wrap="none">
            <a:spAutoFit/>
          </a:bodyPr>
          <a:lstStyle/>
          <a:p>
            <a:r>
              <a:rPr lang="zh-CN" altLang="en-US" dirty="0">
                <a:latin typeface="Times New Roman" panose="02020603050405020304" pitchFamily="18" charset="0"/>
              </a:rPr>
              <a:t>二、高频变压器和传输线变压器（自学）</a:t>
            </a:r>
            <a:endParaRPr lang="zh-CN" altLang="en-US" dirty="0">
              <a:latin typeface="Times New Roman" panose="02020603050405020304" pitchFamily="18" charset="0"/>
            </a:endParaRPr>
          </a:p>
        </p:txBody>
      </p:sp>
      <p:grpSp>
        <p:nvGrpSpPr>
          <p:cNvPr id="11272" name="Group 40"/>
          <p:cNvGrpSpPr/>
          <p:nvPr/>
        </p:nvGrpSpPr>
        <p:grpSpPr>
          <a:xfrm>
            <a:off x="1979613" y="388938"/>
            <a:ext cx="5334000" cy="519113"/>
            <a:chOff x="1287" y="432"/>
            <a:chExt cx="3360" cy="327"/>
          </a:xfrm>
        </p:grpSpPr>
        <p:sp>
          <p:nvSpPr>
            <p:cNvPr id="11280" name="Rectangle 41"/>
            <p:cNvSpPr/>
            <p:nvPr/>
          </p:nvSpPr>
          <p:spPr>
            <a:xfrm>
              <a:off x="1287" y="43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11281" name="Line 42"/>
            <p:cNvSpPr/>
            <p:nvPr/>
          </p:nvSpPr>
          <p:spPr>
            <a:xfrm>
              <a:off x="1469" y="749"/>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9" name="Text Box 4"/>
          <p:cNvSpPr txBox="1"/>
          <p:nvPr/>
        </p:nvSpPr>
        <p:spPr>
          <a:xfrm>
            <a:off x="468313" y="835025"/>
            <a:ext cx="3095625" cy="396875"/>
          </a:xfrm>
          <a:prstGeom prst="rect">
            <a:avLst/>
          </a:prstGeom>
          <a:noFill/>
          <a:ln w="9525">
            <a:noFill/>
          </a:ln>
        </p:spPr>
        <p:txBody>
          <a:bodyPr>
            <a:spAutoFit/>
          </a:bodyPr>
          <a:lstStyle/>
          <a:p>
            <a:pPr>
              <a:spcBef>
                <a:spcPct val="50000"/>
              </a:spcBef>
            </a:pPr>
            <a:r>
              <a:rPr lang="zh-CN" altLang="en-US" sz="2000" b="1" dirty="0">
                <a:solidFill>
                  <a:srgbClr val="FF0066"/>
                </a:solidFill>
                <a:latin typeface="Times New Roman" panose="02020603050405020304" pitchFamily="18" charset="0"/>
              </a:rPr>
              <a:t>三、石英晶体谐振器</a:t>
            </a:r>
            <a:endParaRPr lang="zh-CN" altLang="en-US" sz="2000" b="1" dirty="0">
              <a:solidFill>
                <a:srgbClr val="FF0066"/>
              </a:solidFill>
              <a:latin typeface="Times New Roman" panose="02020603050405020304" pitchFamily="18" charset="0"/>
            </a:endParaRPr>
          </a:p>
        </p:txBody>
      </p:sp>
      <p:sp>
        <p:nvSpPr>
          <p:cNvPr id="37900" name="Text Box 5"/>
          <p:cNvSpPr txBox="1"/>
          <p:nvPr/>
        </p:nvSpPr>
        <p:spPr>
          <a:xfrm>
            <a:off x="881063" y="1196658"/>
            <a:ext cx="2698750" cy="457200"/>
          </a:xfrm>
          <a:prstGeom prst="rect">
            <a:avLst/>
          </a:prstGeom>
          <a:noFill/>
          <a:ln w="9525">
            <a:noFill/>
          </a:ln>
        </p:spPr>
        <p:txBody>
          <a:bodyPr wrap="none">
            <a:spAutoFit/>
          </a:bodyPr>
          <a:lstStyle/>
          <a:p>
            <a:r>
              <a:rPr lang="en-US" altLang="zh-CN" dirty="0">
                <a:solidFill>
                  <a:srgbClr val="FF00FF"/>
                </a:solidFill>
                <a:latin typeface="Times New Roman" panose="02020603050405020304" pitchFamily="18" charset="0"/>
              </a:rPr>
              <a:t>1.</a:t>
            </a:r>
            <a:r>
              <a:rPr lang="zh-CN" altLang="en-US" sz="2000" dirty="0">
                <a:solidFill>
                  <a:srgbClr val="FF00FF"/>
                </a:solidFill>
                <a:latin typeface="Times New Roman" panose="02020603050405020304" pitchFamily="18" charset="0"/>
              </a:rPr>
              <a:t>等效电路及阻抗特性</a:t>
            </a:r>
            <a:endParaRPr lang="zh-CN" altLang="en-US" sz="2000" dirty="0">
              <a:solidFill>
                <a:srgbClr val="FF00FF"/>
              </a:solidFill>
              <a:latin typeface="Times New Roman" panose="02020603050405020304" pitchFamily="18" charset="0"/>
            </a:endParaRPr>
          </a:p>
        </p:txBody>
      </p:sp>
      <p:grpSp>
        <p:nvGrpSpPr>
          <p:cNvPr id="37901" name="Group 6"/>
          <p:cNvGrpSpPr/>
          <p:nvPr/>
        </p:nvGrpSpPr>
        <p:grpSpPr>
          <a:xfrm>
            <a:off x="1830388" y="333375"/>
            <a:ext cx="5334000" cy="519113"/>
            <a:chOff x="830" y="456"/>
            <a:chExt cx="3360" cy="327"/>
          </a:xfrm>
        </p:grpSpPr>
        <p:sp>
          <p:nvSpPr>
            <p:cNvPr id="37913" name="Rectangle 7"/>
            <p:cNvSpPr/>
            <p:nvPr/>
          </p:nvSpPr>
          <p:spPr>
            <a:xfrm>
              <a:off x="830" y="456"/>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37914" name="Line 8"/>
            <p:cNvSpPr/>
            <p:nvPr/>
          </p:nvSpPr>
          <p:spPr>
            <a:xfrm>
              <a:off x="969" y="773"/>
              <a:ext cx="3024" cy="0"/>
            </a:xfrm>
            <a:prstGeom prst="line">
              <a:avLst/>
            </a:prstGeom>
            <a:ln w="57150" cap="flat" cmpd="tri">
              <a:solidFill>
                <a:srgbClr val="FF00FF"/>
              </a:solidFill>
              <a:prstDash val="solid"/>
              <a:headEnd type="none" w="sm" len="sm"/>
              <a:tailEnd type="none" w="sm" len="sm"/>
            </a:ln>
          </p:spPr>
        </p:sp>
      </p:grpSp>
      <p:sp>
        <p:nvSpPr>
          <p:cNvPr id="37902" name="Text Box 9"/>
          <p:cNvSpPr txBox="1"/>
          <p:nvPr/>
        </p:nvSpPr>
        <p:spPr>
          <a:xfrm>
            <a:off x="611505" y="1628775"/>
            <a:ext cx="1495425" cy="396875"/>
          </a:xfrm>
          <a:prstGeom prst="rect">
            <a:avLst/>
          </a:prstGeom>
          <a:noFill/>
          <a:ln w="9525">
            <a:noFill/>
          </a:ln>
        </p:spPr>
        <p:txBody>
          <a:bodyPr wrap="none">
            <a:spAutoFit/>
          </a:bodyPr>
          <a:lstStyle/>
          <a:p>
            <a:r>
              <a:rPr lang="en-US" altLang="zh-CN" sz="2000" dirty="0">
                <a:solidFill>
                  <a:schemeClr val="accent2"/>
                </a:solidFill>
                <a:latin typeface="Times New Roman" panose="02020603050405020304" pitchFamily="18" charset="0"/>
              </a:rPr>
              <a:t>(1)</a:t>
            </a:r>
            <a:r>
              <a:rPr lang="zh-CN" altLang="en-US" sz="2000" dirty="0">
                <a:solidFill>
                  <a:schemeClr val="accent2"/>
                </a:solidFill>
                <a:latin typeface="Times New Roman" panose="02020603050405020304" pitchFamily="18" charset="0"/>
              </a:rPr>
              <a:t>等效电路</a:t>
            </a:r>
            <a:endParaRPr lang="zh-CN" altLang="en-US" sz="2000" dirty="0">
              <a:solidFill>
                <a:schemeClr val="accent2"/>
              </a:solidFill>
              <a:latin typeface="Times New Roman" panose="02020603050405020304" pitchFamily="18" charset="0"/>
            </a:endParaRPr>
          </a:p>
        </p:txBody>
      </p:sp>
      <p:grpSp>
        <p:nvGrpSpPr>
          <p:cNvPr id="3" name="Group 11"/>
          <p:cNvGrpSpPr/>
          <p:nvPr/>
        </p:nvGrpSpPr>
        <p:grpSpPr>
          <a:xfrm>
            <a:off x="468313" y="2053273"/>
            <a:ext cx="3255962" cy="2241549"/>
            <a:chOff x="295" y="1071"/>
            <a:chExt cx="2051" cy="1412"/>
          </a:xfrm>
        </p:grpSpPr>
        <p:graphicFrame>
          <p:nvGraphicFramePr>
            <p:cNvPr id="37898" name="Object 12"/>
            <p:cNvGraphicFramePr/>
            <p:nvPr/>
          </p:nvGraphicFramePr>
          <p:xfrm>
            <a:off x="340" y="1071"/>
            <a:ext cx="1996" cy="1180"/>
          </p:xfrm>
          <a:graphic>
            <a:graphicData uri="http://schemas.openxmlformats.org/presentationml/2006/ole">
              <mc:AlternateContent xmlns:mc="http://schemas.openxmlformats.org/markup-compatibility/2006">
                <mc:Choice xmlns:v="urn:schemas-microsoft-com:vml" Requires="v">
                  <p:oleObj spid="_x0000_s2" name="" r:id="rId1" imgW="1461135" imgH="869315" progId="Visio.Drawing.6">
                    <p:embed/>
                  </p:oleObj>
                </mc:Choice>
                <mc:Fallback>
                  <p:oleObj name="" r:id="rId1" imgW="1461135" imgH="869315" progId="Visio.Drawing.6">
                    <p:embed/>
                    <p:pic>
                      <p:nvPicPr>
                        <p:cNvPr id="0" name="图片 3186"/>
                        <p:cNvPicPr/>
                        <p:nvPr/>
                      </p:nvPicPr>
                      <p:blipFill>
                        <a:blip r:embed="rId2"/>
                        <a:stretch>
                          <a:fillRect/>
                        </a:stretch>
                      </p:blipFill>
                      <p:spPr>
                        <a:xfrm>
                          <a:off x="340" y="1071"/>
                          <a:ext cx="1996" cy="1180"/>
                        </a:xfrm>
                        <a:prstGeom prst="rect">
                          <a:avLst/>
                        </a:prstGeom>
                        <a:noFill/>
                        <a:ln w="38100">
                          <a:noFill/>
                          <a:miter/>
                        </a:ln>
                      </p:spPr>
                    </p:pic>
                  </p:oleObj>
                </mc:Fallback>
              </mc:AlternateContent>
            </a:graphicData>
          </a:graphic>
        </p:graphicFrame>
        <p:sp>
          <p:nvSpPr>
            <p:cNvPr id="37912" name="Text Box 13"/>
            <p:cNvSpPr txBox="1"/>
            <p:nvPr/>
          </p:nvSpPr>
          <p:spPr>
            <a:xfrm>
              <a:off x="295" y="2251"/>
              <a:ext cx="2051" cy="232"/>
            </a:xfrm>
            <a:prstGeom prst="rect">
              <a:avLst/>
            </a:prstGeom>
            <a:noFill/>
            <a:ln w="9525">
              <a:noFill/>
            </a:ln>
          </p:spPr>
          <p:txBody>
            <a:bodyPr wrap="none">
              <a:spAutoFit/>
            </a:bodyPr>
            <a:lstStyle/>
            <a:p>
              <a:r>
                <a:rPr lang="zh-CN" altLang="en-US" sz="1800" dirty="0">
                  <a:latin typeface="Times New Roman" panose="02020603050405020304" pitchFamily="18" charset="0"/>
                </a:rPr>
                <a:t>（</a:t>
              </a:r>
              <a:r>
                <a:rPr lang="en-US" altLang="zh-CN" sz="1800" dirty="0">
                  <a:latin typeface="Times New Roman" panose="02020603050405020304" pitchFamily="18" charset="0"/>
                </a:rPr>
                <a:t>a</a:t>
              </a:r>
              <a:r>
                <a:rPr lang="zh-CN" altLang="en-US" sz="1800" dirty="0">
                  <a:latin typeface="Times New Roman" panose="02020603050405020304" pitchFamily="18" charset="0"/>
                </a:rPr>
                <a:t>）基频及各次泛音等效电路</a:t>
              </a:r>
              <a:endParaRPr lang="zh-CN" altLang="en-US" sz="1800" dirty="0">
                <a:latin typeface="Times New Roman" panose="02020603050405020304" pitchFamily="18" charset="0"/>
              </a:endParaRPr>
            </a:p>
          </p:txBody>
        </p:sp>
      </p:grpSp>
      <p:grpSp>
        <p:nvGrpSpPr>
          <p:cNvPr id="5" name="Group 14"/>
          <p:cNvGrpSpPr/>
          <p:nvPr/>
        </p:nvGrpSpPr>
        <p:grpSpPr>
          <a:xfrm>
            <a:off x="4960938" y="1792288"/>
            <a:ext cx="3816350" cy="2509837"/>
            <a:chOff x="3125" y="1038"/>
            <a:chExt cx="2404" cy="1581"/>
          </a:xfrm>
        </p:grpSpPr>
        <p:graphicFrame>
          <p:nvGraphicFramePr>
            <p:cNvPr id="37897" name="Object 15"/>
            <p:cNvGraphicFramePr/>
            <p:nvPr/>
          </p:nvGraphicFramePr>
          <p:xfrm>
            <a:off x="3744" y="1038"/>
            <a:ext cx="995" cy="1359"/>
          </p:xfrm>
          <a:graphic>
            <a:graphicData uri="http://schemas.openxmlformats.org/presentationml/2006/ole">
              <mc:AlternateContent xmlns:mc="http://schemas.openxmlformats.org/markup-compatibility/2006">
                <mc:Choice xmlns:v="urn:schemas-microsoft-com:vml" Requires="v">
                  <p:oleObj spid="_x0000_s4" name="" r:id="rId3" imgW="968375" imgH="1228090" progId="Visio.Drawing.6">
                    <p:embed/>
                  </p:oleObj>
                </mc:Choice>
                <mc:Fallback>
                  <p:oleObj name="" r:id="rId3" imgW="968375" imgH="1228090" progId="Visio.Drawing.6">
                    <p:embed/>
                    <p:pic>
                      <p:nvPicPr>
                        <p:cNvPr id="0" name="图片 3191"/>
                        <p:cNvPicPr/>
                        <p:nvPr/>
                      </p:nvPicPr>
                      <p:blipFill>
                        <a:blip r:embed="rId4"/>
                        <a:stretch>
                          <a:fillRect/>
                        </a:stretch>
                      </p:blipFill>
                      <p:spPr>
                        <a:xfrm>
                          <a:off x="3744" y="1038"/>
                          <a:ext cx="995" cy="1359"/>
                        </a:xfrm>
                        <a:prstGeom prst="rect">
                          <a:avLst/>
                        </a:prstGeom>
                        <a:noFill/>
                        <a:ln w="38100">
                          <a:noFill/>
                          <a:miter/>
                        </a:ln>
                      </p:spPr>
                    </p:pic>
                  </p:oleObj>
                </mc:Fallback>
              </mc:AlternateContent>
            </a:graphicData>
          </a:graphic>
        </p:graphicFrame>
        <p:sp>
          <p:nvSpPr>
            <p:cNvPr id="37910" name="Text Box 16"/>
            <p:cNvSpPr txBox="1"/>
            <p:nvPr/>
          </p:nvSpPr>
          <p:spPr>
            <a:xfrm>
              <a:off x="3125" y="2387"/>
              <a:ext cx="2404" cy="232"/>
            </a:xfrm>
            <a:prstGeom prst="rect">
              <a:avLst/>
            </a:prstGeom>
            <a:noFill/>
            <a:ln w="9525">
              <a:noFill/>
            </a:ln>
          </p:spPr>
          <p:txBody>
            <a:bodyPr>
              <a:spAutoFit/>
            </a:bodyPr>
            <a:lstStyle/>
            <a:p>
              <a:r>
                <a:rPr lang="zh-CN" altLang="en-US" sz="1800" dirty="0">
                  <a:latin typeface="Times New Roman" panose="02020603050405020304" pitchFamily="18" charset="0"/>
                </a:rPr>
                <a:t>（</a:t>
              </a:r>
              <a:r>
                <a:rPr lang="en-US" altLang="zh-CN" sz="1800" dirty="0">
                  <a:latin typeface="Times New Roman" panose="02020603050405020304" pitchFamily="18" charset="0"/>
                </a:rPr>
                <a:t>b</a:t>
              </a:r>
              <a:r>
                <a:rPr lang="zh-CN" altLang="en-US" sz="1800" dirty="0">
                  <a:latin typeface="Times New Roman" panose="02020603050405020304" pitchFamily="18" charset="0"/>
                </a:rPr>
                <a:t>）谐振频率附近的等效电路</a:t>
              </a:r>
              <a:endParaRPr lang="zh-CN" altLang="en-US" sz="1800" dirty="0">
                <a:latin typeface="Times New Roman" panose="02020603050405020304" pitchFamily="18" charset="0"/>
              </a:endParaRPr>
            </a:p>
          </p:txBody>
        </p:sp>
      </p:grpSp>
      <p:sp>
        <p:nvSpPr>
          <p:cNvPr id="396306" name="Text Box 18"/>
          <p:cNvSpPr txBox="1"/>
          <p:nvPr/>
        </p:nvSpPr>
        <p:spPr>
          <a:xfrm>
            <a:off x="323215" y="5159375"/>
            <a:ext cx="3651885" cy="1322070"/>
          </a:xfrm>
          <a:prstGeom prst="rect">
            <a:avLst/>
          </a:prstGeom>
          <a:noFill/>
          <a:ln w="9525">
            <a:noFill/>
          </a:ln>
        </p:spPr>
        <p:txBody>
          <a:bodyPr wrap="square">
            <a:spAutoFit/>
          </a:bodyPr>
          <a:lstStyle/>
          <a:p>
            <a:r>
              <a:rPr lang="zh-CN" altLang="en-US" sz="2000" dirty="0">
                <a:solidFill>
                  <a:schemeClr val="tx1"/>
                </a:solidFill>
                <a:latin typeface="Times New Roman" panose="02020603050405020304" pitchFamily="18" charset="0"/>
              </a:rPr>
              <a:t>由于各次谐振频率相隔较远，互相影响很小，</a:t>
            </a:r>
            <a:r>
              <a:rPr lang="zh-CN" altLang="en-US" sz="2000" dirty="0">
                <a:solidFill>
                  <a:srgbClr val="FF0066"/>
                </a:solidFill>
                <a:latin typeface="Times New Roman" panose="02020603050405020304" pitchFamily="18" charset="0"/>
              </a:rPr>
              <a:t>因此在具体应用中，只需考虑某一频率附近的电路特性</a:t>
            </a:r>
            <a:r>
              <a:rPr lang="zh-CN" altLang="en-US" sz="2000" dirty="0">
                <a:solidFill>
                  <a:schemeClr val="tx1"/>
                </a:solidFill>
                <a:latin typeface="Times New Roman" panose="02020603050405020304" pitchFamily="18" charset="0"/>
              </a:rPr>
              <a:t>，如图（</a:t>
            </a:r>
            <a:r>
              <a:rPr lang="en-US" altLang="zh-CN" sz="2000" dirty="0">
                <a:solidFill>
                  <a:schemeClr val="tx1"/>
                </a:solidFill>
                <a:latin typeface="Times New Roman" panose="02020603050405020304" pitchFamily="18" charset="0"/>
              </a:rPr>
              <a:t>b</a:t>
            </a:r>
            <a:r>
              <a:rPr lang="zh-CN" altLang="en-US" sz="2000" dirty="0">
                <a:solidFill>
                  <a:schemeClr val="tx1"/>
                </a:solidFill>
                <a:latin typeface="Times New Roman" panose="02020603050405020304" pitchFamily="18" charset="0"/>
              </a:rPr>
              <a:t>）所示。</a:t>
            </a:r>
            <a:endParaRPr lang="zh-CN" altLang="en-US" sz="2000" dirty="0">
              <a:solidFill>
                <a:schemeClr val="tx1"/>
              </a:solidFill>
              <a:latin typeface="Times New Roman" panose="02020603050405020304" pitchFamily="18" charset="0"/>
            </a:endParaRPr>
          </a:p>
        </p:txBody>
      </p:sp>
      <p:grpSp>
        <p:nvGrpSpPr>
          <p:cNvPr id="7" name="Group 31"/>
          <p:cNvGrpSpPr/>
          <p:nvPr/>
        </p:nvGrpSpPr>
        <p:grpSpPr>
          <a:xfrm>
            <a:off x="3923348" y="5367021"/>
            <a:ext cx="5156200" cy="1020763"/>
            <a:chOff x="2427" y="1504"/>
            <a:chExt cx="3248" cy="643"/>
          </a:xfrm>
        </p:grpSpPr>
        <p:sp>
          <p:nvSpPr>
            <p:cNvPr id="37909" name="Text Box 20"/>
            <p:cNvSpPr txBox="1"/>
            <p:nvPr/>
          </p:nvSpPr>
          <p:spPr>
            <a:xfrm>
              <a:off x="2427" y="1508"/>
              <a:ext cx="3248" cy="639"/>
            </a:xfrm>
            <a:prstGeom prst="rect">
              <a:avLst/>
            </a:prstGeom>
            <a:noFill/>
            <a:ln w="9525">
              <a:noFill/>
            </a:ln>
          </p:spPr>
          <p:txBody>
            <a:bodyPr wrap="square">
              <a:spAutoFit/>
            </a:bodyPr>
            <a:lstStyle/>
            <a:p>
              <a:r>
                <a:rPr lang="zh-CN" altLang="en-US" sz="2000" dirty="0">
                  <a:latin typeface="Times New Roman" panose="02020603050405020304" pitchFamily="18" charset="0"/>
                </a:rPr>
                <a:t>与通常的谐振回路相比，晶体的参数     、     与一般的电感、电容有很大不同，这里一般     </a:t>
              </a:r>
              <a:endParaRPr lang="zh-CN" altLang="en-US" sz="2000" dirty="0">
                <a:latin typeface="Times New Roman" panose="02020603050405020304" pitchFamily="18" charset="0"/>
              </a:endParaRPr>
            </a:p>
            <a:p>
              <a:r>
                <a:rPr lang="zh-CN" altLang="en-US" sz="2000" dirty="0">
                  <a:latin typeface="Times New Roman" panose="02020603050405020304" pitchFamily="18" charset="0"/>
                </a:rPr>
                <a:t> </a:t>
              </a:r>
              <a:r>
                <a:rPr lang="en-US" altLang="zh-CN" sz="2000" dirty="0">
                  <a:latin typeface="Times New Roman" panose="02020603050405020304" pitchFamily="18" charset="0"/>
                </a:rPr>
                <a:t>    </a:t>
              </a:r>
              <a:r>
                <a:rPr lang="zh-CN" altLang="en-US" sz="2000" dirty="0">
                  <a:solidFill>
                    <a:srgbClr val="FF0066"/>
                  </a:solidFill>
                  <a:latin typeface="Times New Roman" panose="02020603050405020304" pitchFamily="18" charset="0"/>
                </a:rPr>
                <a:t>很大</a:t>
              </a:r>
              <a:r>
                <a:rPr lang="zh-CN" altLang="en-US" sz="2000" dirty="0">
                  <a:latin typeface="Times New Roman" panose="02020603050405020304" pitchFamily="18" charset="0"/>
                </a:rPr>
                <a:t>，  </a:t>
              </a:r>
              <a:r>
                <a:rPr lang="zh-CN" altLang="en-US" sz="2000" dirty="0">
                  <a:solidFill>
                    <a:srgbClr val="FF0066"/>
                  </a:solidFill>
                  <a:latin typeface="Times New Roman" panose="02020603050405020304" pitchFamily="18" charset="0"/>
                </a:rPr>
                <a:t>很小，</a:t>
              </a:r>
              <a:r>
                <a:rPr lang="en-US" altLang="zh-CN" sz="2000" dirty="0">
                  <a:solidFill>
                    <a:srgbClr val="FF0066"/>
                  </a:solidFill>
                  <a:latin typeface="Times New Roman" panose="02020603050405020304" pitchFamily="18" charset="0"/>
                </a:rPr>
                <a:t>              </a:t>
              </a:r>
              <a:r>
                <a:rPr lang="zh-CN" altLang="en-US" sz="2000" dirty="0">
                  <a:solidFill>
                    <a:srgbClr val="FF0066"/>
                  </a:solidFill>
                  <a:latin typeface="Times New Roman" panose="02020603050405020304" pitchFamily="18" charset="0"/>
                </a:rPr>
                <a:t>（如</a:t>
              </a:r>
              <a:r>
                <a:rPr lang="en-US" altLang="zh-CN" sz="2000" dirty="0">
                  <a:solidFill>
                    <a:srgbClr val="FF0066"/>
                  </a:solidFill>
                  <a:latin typeface="Times New Roman" panose="02020603050405020304" pitchFamily="18" charset="0"/>
                </a:rPr>
                <a:t>P38</a:t>
              </a:r>
              <a:r>
                <a:rPr lang="zh-CN" altLang="en-US" sz="2000" dirty="0">
                  <a:solidFill>
                    <a:srgbClr val="FF0066"/>
                  </a:solidFill>
                  <a:latin typeface="Times New Roman" panose="02020603050405020304" pitchFamily="18" charset="0"/>
                </a:rPr>
                <a:t>页</a:t>
              </a:r>
              <a:r>
                <a:rPr lang="en-US" altLang="zh-CN" sz="2000" dirty="0">
                  <a:solidFill>
                    <a:srgbClr val="FF0066"/>
                  </a:solidFill>
                  <a:latin typeface="Times New Roman" panose="02020603050405020304" pitchFamily="18" charset="0"/>
                </a:rPr>
                <a:t>B45</a:t>
              </a:r>
              <a:r>
                <a:rPr lang="zh-CN" altLang="en-US" sz="2000" dirty="0">
                  <a:solidFill>
                    <a:srgbClr val="FF0066"/>
                  </a:solidFill>
                  <a:latin typeface="Times New Roman" panose="02020603050405020304" pitchFamily="18" charset="0"/>
                </a:rPr>
                <a:t>型）</a:t>
              </a:r>
              <a:r>
                <a:rPr lang="zh-CN" altLang="en-US" sz="2000" dirty="0">
                  <a:latin typeface="Times New Roman" panose="02020603050405020304" pitchFamily="18" charset="0"/>
                </a:rPr>
                <a:t>。</a:t>
              </a:r>
              <a:endParaRPr lang="zh-CN" altLang="en-US" sz="2000" dirty="0">
                <a:latin typeface="Times New Roman" panose="02020603050405020304" pitchFamily="18" charset="0"/>
              </a:endParaRPr>
            </a:p>
          </p:txBody>
        </p:sp>
        <p:graphicFrame>
          <p:nvGraphicFramePr>
            <p:cNvPr id="37893" name="Object 21"/>
            <p:cNvGraphicFramePr/>
            <p:nvPr/>
          </p:nvGraphicFramePr>
          <p:xfrm>
            <a:off x="5057" y="1504"/>
            <a:ext cx="200" cy="272"/>
          </p:xfrm>
          <a:graphic>
            <a:graphicData uri="http://schemas.openxmlformats.org/presentationml/2006/ole">
              <mc:AlternateContent xmlns:mc="http://schemas.openxmlformats.org/markup-compatibility/2006">
                <mc:Choice xmlns:v="urn:schemas-microsoft-com:vml" Requires="v">
                  <p:oleObj spid="_x0000_s6" name="" r:id="rId5" imgW="177800" imgH="240665" progId="Equation.DSMT4">
                    <p:embed/>
                  </p:oleObj>
                </mc:Choice>
                <mc:Fallback>
                  <p:oleObj name="" r:id="rId5" imgW="177800" imgH="240665" progId="Equation.DSMT4">
                    <p:embed/>
                    <p:pic>
                      <p:nvPicPr>
                        <p:cNvPr id="0" name="图片 3188"/>
                        <p:cNvPicPr/>
                        <p:nvPr/>
                      </p:nvPicPr>
                      <p:blipFill>
                        <a:blip r:embed="rId6"/>
                        <a:stretch>
                          <a:fillRect/>
                        </a:stretch>
                      </p:blipFill>
                      <p:spPr>
                        <a:xfrm>
                          <a:off x="5057" y="1504"/>
                          <a:ext cx="200" cy="272"/>
                        </a:xfrm>
                        <a:prstGeom prst="rect">
                          <a:avLst/>
                        </a:prstGeom>
                        <a:noFill/>
                        <a:ln w="38100">
                          <a:noFill/>
                          <a:miter/>
                        </a:ln>
                      </p:spPr>
                    </p:pic>
                  </p:oleObj>
                </mc:Fallback>
              </mc:AlternateContent>
            </a:graphicData>
          </a:graphic>
        </p:graphicFrame>
        <p:graphicFrame>
          <p:nvGraphicFramePr>
            <p:cNvPr id="37894" name="Object 22"/>
            <p:cNvGraphicFramePr/>
            <p:nvPr/>
          </p:nvGraphicFramePr>
          <p:xfrm>
            <a:off x="5330" y="1504"/>
            <a:ext cx="214" cy="271"/>
          </p:xfrm>
          <a:graphic>
            <a:graphicData uri="http://schemas.openxmlformats.org/presentationml/2006/ole">
              <mc:AlternateContent xmlns:mc="http://schemas.openxmlformats.org/markup-compatibility/2006">
                <mc:Choice xmlns:v="urn:schemas-microsoft-com:vml" Requires="v">
                  <p:oleObj spid="_x0000_s8" name="" r:id="rId7" imgW="190500" imgH="241300" progId="Equation.DSMT4">
                    <p:embed/>
                  </p:oleObj>
                </mc:Choice>
                <mc:Fallback>
                  <p:oleObj name="" r:id="rId7" imgW="190500" imgH="241300" progId="Equation.DSMT4">
                    <p:embed/>
                    <p:pic>
                      <p:nvPicPr>
                        <p:cNvPr id="0" name="图片 3196"/>
                        <p:cNvPicPr/>
                        <p:nvPr/>
                      </p:nvPicPr>
                      <p:blipFill>
                        <a:blip r:embed="rId8"/>
                        <a:stretch>
                          <a:fillRect/>
                        </a:stretch>
                      </p:blipFill>
                      <p:spPr>
                        <a:xfrm>
                          <a:off x="5330" y="1504"/>
                          <a:ext cx="214" cy="271"/>
                        </a:xfrm>
                        <a:prstGeom prst="rect">
                          <a:avLst/>
                        </a:prstGeom>
                        <a:noFill/>
                        <a:ln w="38100">
                          <a:noFill/>
                          <a:miter/>
                        </a:ln>
                      </p:spPr>
                    </p:pic>
                  </p:oleObj>
                </mc:Fallback>
              </mc:AlternateContent>
            </a:graphicData>
          </a:graphic>
        </p:graphicFrame>
        <p:graphicFrame>
          <p:nvGraphicFramePr>
            <p:cNvPr id="37895" name="Object 23"/>
            <p:cNvGraphicFramePr/>
            <p:nvPr/>
          </p:nvGraphicFramePr>
          <p:xfrm>
            <a:off x="2472" y="1874"/>
            <a:ext cx="227" cy="273"/>
          </p:xfrm>
          <a:graphic>
            <a:graphicData uri="http://schemas.openxmlformats.org/presentationml/2006/ole">
              <mc:AlternateContent xmlns:mc="http://schemas.openxmlformats.org/markup-compatibility/2006">
                <mc:Choice xmlns:v="urn:schemas-microsoft-com:vml" Requires="v">
                  <p:oleObj spid="_x0000_s9" name="" r:id="rId9" imgW="177800" imgH="240665" progId="Equation.DSMT4">
                    <p:embed/>
                  </p:oleObj>
                </mc:Choice>
                <mc:Fallback>
                  <p:oleObj name="" r:id="rId9" imgW="177800" imgH="240665" progId="Equation.DSMT4">
                    <p:embed/>
                    <p:pic>
                      <p:nvPicPr>
                        <p:cNvPr id="0" name="图片 3294"/>
                        <p:cNvPicPr/>
                        <p:nvPr/>
                      </p:nvPicPr>
                      <p:blipFill>
                        <a:blip r:embed="rId10"/>
                        <a:stretch>
                          <a:fillRect/>
                        </a:stretch>
                      </p:blipFill>
                      <p:spPr>
                        <a:xfrm>
                          <a:off x="2472" y="1874"/>
                          <a:ext cx="227" cy="273"/>
                        </a:xfrm>
                        <a:prstGeom prst="rect">
                          <a:avLst/>
                        </a:prstGeom>
                        <a:noFill/>
                        <a:ln w="38100">
                          <a:noFill/>
                          <a:miter/>
                        </a:ln>
                      </p:spPr>
                    </p:pic>
                  </p:oleObj>
                </mc:Fallback>
              </mc:AlternateContent>
            </a:graphicData>
          </a:graphic>
        </p:graphicFrame>
        <p:graphicFrame>
          <p:nvGraphicFramePr>
            <p:cNvPr id="37896" name="Object 24"/>
            <p:cNvGraphicFramePr/>
            <p:nvPr/>
          </p:nvGraphicFramePr>
          <p:xfrm>
            <a:off x="3062" y="1875"/>
            <a:ext cx="215" cy="272"/>
          </p:xfrm>
          <a:graphic>
            <a:graphicData uri="http://schemas.openxmlformats.org/presentationml/2006/ole">
              <mc:AlternateContent xmlns:mc="http://schemas.openxmlformats.org/markup-compatibility/2006">
                <mc:Choice xmlns:v="urn:schemas-microsoft-com:vml" Requires="v">
                  <p:oleObj spid="_x0000_s10" name="" r:id="rId11" imgW="190500" imgH="241300" progId="Equation.DSMT4">
                    <p:embed/>
                  </p:oleObj>
                </mc:Choice>
                <mc:Fallback>
                  <p:oleObj name="" r:id="rId11" imgW="190500" imgH="241300" progId="Equation.DSMT4">
                    <p:embed/>
                    <p:pic>
                      <p:nvPicPr>
                        <p:cNvPr id="0" name="图片 3293"/>
                        <p:cNvPicPr/>
                        <p:nvPr/>
                      </p:nvPicPr>
                      <p:blipFill>
                        <a:blip r:embed="rId12"/>
                        <a:stretch>
                          <a:fillRect/>
                        </a:stretch>
                      </p:blipFill>
                      <p:spPr>
                        <a:xfrm>
                          <a:off x="3062" y="1875"/>
                          <a:ext cx="215" cy="272"/>
                        </a:xfrm>
                        <a:prstGeom prst="rect">
                          <a:avLst/>
                        </a:prstGeom>
                        <a:noFill/>
                        <a:ln w="38100">
                          <a:noFill/>
                          <a:miter/>
                        </a:ln>
                      </p:spPr>
                    </p:pic>
                  </p:oleObj>
                </mc:Fallback>
              </mc:AlternateContent>
            </a:graphicData>
          </a:graphic>
        </p:graphicFrame>
      </p:grpSp>
      <p:grpSp>
        <p:nvGrpSpPr>
          <p:cNvPr id="12" name="Group 29"/>
          <p:cNvGrpSpPr/>
          <p:nvPr/>
        </p:nvGrpSpPr>
        <p:grpSpPr>
          <a:xfrm>
            <a:off x="4499610" y="4302443"/>
            <a:ext cx="4484688" cy="1014413"/>
            <a:chOff x="2608" y="2381"/>
            <a:chExt cx="2825" cy="639"/>
          </a:xfrm>
        </p:grpSpPr>
        <p:sp>
          <p:nvSpPr>
            <p:cNvPr id="37908" name="Text Box 26"/>
            <p:cNvSpPr txBox="1"/>
            <p:nvPr/>
          </p:nvSpPr>
          <p:spPr>
            <a:xfrm>
              <a:off x="2608" y="2381"/>
              <a:ext cx="2825" cy="639"/>
            </a:xfrm>
            <a:prstGeom prst="rect">
              <a:avLst/>
            </a:prstGeom>
            <a:noFill/>
            <a:ln w="9525">
              <a:noFill/>
            </a:ln>
          </p:spPr>
          <p:txBody>
            <a:bodyPr>
              <a:spAutoFit/>
            </a:bodyPr>
            <a:lstStyle/>
            <a:p>
              <a:pPr>
                <a:lnSpc>
                  <a:spcPct val="150000"/>
                </a:lnSpc>
              </a:pPr>
              <a:r>
                <a:rPr lang="zh-CN" altLang="en-US" sz="2000" dirty="0">
                  <a:latin typeface="Times New Roman" panose="02020603050405020304" pitchFamily="18" charset="0"/>
                </a:rPr>
                <a:t>由图可知，晶体有两个谐振频率：串联谐振频率     和并联谐振      频率。</a:t>
              </a:r>
              <a:endParaRPr lang="zh-CN" altLang="en-US" sz="2000" dirty="0">
                <a:latin typeface="Times New Roman" panose="02020603050405020304" pitchFamily="18" charset="0"/>
              </a:endParaRPr>
            </a:p>
          </p:txBody>
        </p:sp>
        <p:graphicFrame>
          <p:nvGraphicFramePr>
            <p:cNvPr id="37891" name="Object 27"/>
            <p:cNvGraphicFramePr/>
            <p:nvPr/>
          </p:nvGraphicFramePr>
          <p:xfrm>
            <a:off x="3470" y="2703"/>
            <a:ext cx="233" cy="317"/>
          </p:xfrm>
          <a:graphic>
            <a:graphicData uri="http://schemas.openxmlformats.org/presentationml/2006/ole">
              <mc:AlternateContent xmlns:mc="http://schemas.openxmlformats.org/markup-compatibility/2006">
                <mc:Choice xmlns:v="urn:schemas-microsoft-com:vml" Requires="v">
                  <p:oleObj spid="_x0000_s11" name="" r:id="rId13" imgW="177800" imgH="240665" progId="Equation.DSMT4">
                    <p:embed/>
                  </p:oleObj>
                </mc:Choice>
                <mc:Fallback>
                  <p:oleObj name="" r:id="rId13" imgW="177800" imgH="240665" progId="Equation.DSMT4">
                    <p:embed/>
                    <p:pic>
                      <p:nvPicPr>
                        <p:cNvPr id="0" name="图片 3278"/>
                        <p:cNvPicPr/>
                        <p:nvPr/>
                      </p:nvPicPr>
                      <p:blipFill>
                        <a:blip r:embed="rId14"/>
                        <a:stretch>
                          <a:fillRect/>
                        </a:stretch>
                      </p:blipFill>
                      <p:spPr>
                        <a:xfrm>
                          <a:off x="3470" y="2703"/>
                          <a:ext cx="233" cy="317"/>
                        </a:xfrm>
                        <a:prstGeom prst="rect">
                          <a:avLst/>
                        </a:prstGeom>
                        <a:noFill/>
                        <a:ln w="38100">
                          <a:noFill/>
                          <a:miter/>
                        </a:ln>
                      </p:spPr>
                    </p:pic>
                  </p:oleObj>
                </mc:Fallback>
              </mc:AlternateContent>
            </a:graphicData>
          </a:graphic>
        </p:graphicFrame>
        <p:graphicFrame>
          <p:nvGraphicFramePr>
            <p:cNvPr id="37892" name="Object 28"/>
            <p:cNvGraphicFramePr/>
            <p:nvPr/>
          </p:nvGraphicFramePr>
          <p:xfrm>
            <a:off x="4468" y="2703"/>
            <a:ext cx="216" cy="299"/>
          </p:xfrm>
          <a:graphic>
            <a:graphicData uri="http://schemas.openxmlformats.org/presentationml/2006/ole">
              <mc:AlternateContent xmlns:mc="http://schemas.openxmlformats.org/markup-compatibility/2006">
                <mc:Choice xmlns:v="urn:schemas-microsoft-com:vml" Requires="v">
                  <p:oleObj spid="_x0000_s13" name="" r:id="rId15" imgW="165100" imgH="228600" progId="Equation.DSMT4">
                    <p:embed/>
                  </p:oleObj>
                </mc:Choice>
                <mc:Fallback>
                  <p:oleObj name="" r:id="rId15" imgW="165100" imgH="228600" progId="Equation.DSMT4">
                    <p:embed/>
                    <p:pic>
                      <p:nvPicPr>
                        <p:cNvPr id="0" name="图片 3279"/>
                        <p:cNvPicPr/>
                        <p:nvPr/>
                      </p:nvPicPr>
                      <p:blipFill>
                        <a:blip r:embed="rId16"/>
                        <a:stretch>
                          <a:fillRect/>
                        </a:stretch>
                      </p:blipFill>
                      <p:spPr>
                        <a:xfrm>
                          <a:off x="4468" y="2703"/>
                          <a:ext cx="216" cy="299"/>
                        </a:xfrm>
                        <a:prstGeom prst="rect">
                          <a:avLst/>
                        </a:prstGeom>
                        <a:noFill/>
                        <a:ln w="38100">
                          <a:noFill/>
                          <a:miter/>
                        </a:ln>
                      </p:spPr>
                    </p:pic>
                  </p:oleObj>
                </mc:Fallback>
              </mc:AlternateContent>
            </a:graphicData>
          </a:graphic>
        </p:graphicFrame>
      </p:grpSp>
      <p:sp>
        <p:nvSpPr>
          <p:cNvPr id="15" name="右箭头 14"/>
          <p:cNvSpPr/>
          <p:nvPr/>
        </p:nvSpPr>
        <p:spPr>
          <a:xfrm>
            <a:off x="4835525" y="2781300"/>
            <a:ext cx="197485" cy="288290"/>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6" name="矩形标注 15"/>
          <p:cNvSpPr/>
          <p:nvPr/>
        </p:nvSpPr>
        <p:spPr>
          <a:xfrm>
            <a:off x="3491865" y="1772920"/>
            <a:ext cx="905510" cy="576580"/>
          </a:xfrm>
          <a:prstGeom prst="wedgeRectCallout">
            <a:avLst>
              <a:gd name="adj1" fmla="val -68443"/>
              <a:gd name="adj2" fmla="val 128303"/>
            </a:avLst>
          </a:prstGeom>
          <a:solidFill>
            <a:schemeClr val="accent1">
              <a:alpha val="34000"/>
            </a:schemeClr>
          </a:solidFill>
          <a:ln w="3175" cap="flat" cmpd="dbl" algn="ctr">
            <a:solidFill>
              <a:schemeClr val="accent1">
                <a:shade val="50000"/>
              </a:schemeClr>
            </a:solidFill>
            <a:prstDash val="solid"/>
            <a:round/>
            <a:headEnd type="none" w="med" len="med"/>
            <a:tailEnd type="none" w="med" len="med"/>
          </a:ln>
        </p:spPr>
        <p:txBody>
          <a:bodyPr vert="horz" wrap="square" lIns="91440" tIns="45720" rIns="91440" bIns="45720" numCol="1" anchor="t" anchorCtr="0" compatLnSpc="1"/>
          <a:lstStyle/>
          <a:p>
            <a:pPr marL="0" marR="0" indent="0" algn="ctr" defTabSz="914400" rtl="0" eaLnBrk="1" fontAlgn="base" latinLnBrk="0" hangingPunct="1">
              <a:lnSpc>
                <a:spcPct val="120000"/>
              </a:lnSpc>
              <a:spcBef>
                <a:spcPct val="0"/>
              </a:spcBef>
              <a:spcAft>
                <a:spcPct val="0"/>
              </a:spcAft>
              <a:buClrTx/>
              <a:buSzTx/>
              <a:buFontTx/>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电介质静电容</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7" name="矩形标注 16"/>
          <p:cNvSpPr/>
          <p:nvPr/>
        </p:nvSpPr>
        <p:spPr>
          <a:xfrm>
            <a:off x="7596505" y="1410335"/>
            <a:ext cx="1316355" cy="944245"/>
          </a:xfrm>
          <a:prstGeom prst="wedgeRectCallout">
            <a:avLst>
              <a:gd name="adj1" fmla="val -55692"/>
              <a:gd name="adj2" fmla="val 119809"/>
            </a:avLst>
          </a:prstGeom>
          <a:solidFill>
            <a:schemeClr val="accent1">
              <a:alpha val="34000"/>
            </a:schemeClr>
          </a:solidFill>
          <a:ln w="3175" cap="flat" cmpd="dbl" algn="ctr">
            <a:solidFill>
              <a:schemeClr val="accent1">
                <a:shade val="50000"/>
              </a:schemeClr>
            </a:solidFill>
            <a:prstDash val="solid"/>
            <a:round/>
            <a:headEnd type="none" w="med" len="med"/>
            <a:tailEnd type="none" w="med" len="med"/>
          </a:ln>
        </p:spPr>
        <p:txBody>
          <a:bodyPr vert="horz" wrap="square" lIns="91440" tIns="45720" rIns="91440" bIns="45720" numCol="1" anchor="t" anchorCtr="0" compatLnSpc="1"/>
          <a:lstStyle/>
          <a:p>
            <a:pPr marL="0" marR="0" indent="0" algn="ctr" defTabSz="914400" rtl="0" eaLnBrk="1" fontAlgn="base" latinLnBrk="0" hangingPunct="1">
              <a:lnSpc>
                <a:spcPct val="120000"/>
              </a:lnSpc>
              <a:spcBef>
                <a:spcPct val="0"/>
              </a:spcBef>
              <a:spcAft>
                <a:spcPct val="0"/>
              </a:spcAft>
              <a:buClrTx/>
              <a:buSzTx/>
              <a:buFontTx/>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机械共振经压电转换而呈现的电参数</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graphicFrame>
        <p:nvGraphicFramePr>
          <p:cNvPr id="18" name="Object 24"/>
          <p:cNvGraphicFramePr/>
          <p:nvPr/>
        </p:nvGraphicFramePr>
        <p:xfrm>
          <a:off x="5849145" y="5949951"/>
          <a:ext cx="978535" cy="431800"/>
        </p:xfrm>
        <a:graphic>
          <a:graphicData uri="http://schemas.openxmlformats.org/presentationml/2006/ole">
            <mc:AlternateContent xmlns:mc="http://schemas.openxmlformats.org/markup-compatibility/2006">
              <mc:Choice xmlns:v="urn:schemas-microsoft-com:vml" Requires="v">
                <p:oleObj spid="_x0000_s14" name="" r:id="rId17" imgW="545465" imgH="241300" progId="Equation.DSMT4">
                  <p:embed/>
                </p:oleObj>
              </mc:Choice>
              <mc:Fallback>
                <p:oleObj name="" r:id="rId17" imgW="545465" imgH="241300" progId="Equation.DSMT4">
                  <p:embed/>
                  <p:pic>
                    <p:nvPicPr>
                      <p:cNvPr id="0" name="图片 3293"/>
                      <p:cNvPicPr/>
                      <p:nvPr/>
                    </p:nvPicPr>
                    <p:blipFill>
                      <a:blip r:embed="rId18"/>
                      <a:stretch>
                        <a:fillRect/>
                      </a:stretch>
                    </p:blipFill>
                    <p:spPr>
                      <a:xfrm>
                        <a:off x="5849145" y="5949951"/>
                        <a:ext cx="978535" cy="431800"/>
                      </a:xfrm>
                      <a:prstGeom prst="rect">
                        <a:avLst/>
                      </a:prstGeom>
                      <a:noFill/>
                      <a:ln w="38100">
                        <a:noFill/>
                        <a:miter/>
                      </a:ln>
                    </p:spPr>
                  </p:pic>
                </p:oleObj>
              </mc:Fallback>
            </mc:AlternateContent>
          </a:graphicData>
        </a:graphic>
      </p:graphicFrame>
    </p:spTree>
  </p:cSld>
  <p:clrMapOvr>
    <a:masterClrMapping/>
  </p:clrMapOvr>
  <p:transition spd="med">
    <p:zo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6"/>
          <p:cNvSpPr txBox="1"/>
          <p:nvPr/>
        </p:nvSpPr>
        <p:spPr>
          <a:xfrm>
            <a:off x="179388" y="908050"/>
            <a:ext cx="3095625" cy="396875"/>
          </a:xfrm>
          <a:prstGeom prst="rect">
            <a:avLst/>
          </a:prstGeom>
          <a:noFill/>
          <a:ln w="9525">
            <a:noFill/>
          </a:ln>
        </p:spPr>
        <p:txBody>
          <a:bodyPr>
            <a:spAutoFit/>
          </a:bodyPr>
          <a:lstStyle/>
          <a:p>
            <a:pPr>
              <a:spcBef>
                <a:spcPct val="50000"/>
              </a:spcBef>
            </a:pPr>
            <a:r>
              <a:rPr lang="zh-CN" altLang="en-US" sz="2000" b="1" dirty="0">
                <a:solidFill>
                  <a:srgbClr val="FF0066"/>
                </a:solidFill>
                <a:latin typeface="Times New Roman" panose="02020603050405020304" pitchFamily="18" charset="0"/>
              </a:rPr>
              <a:t>三、石英晶体谐振器</a:t>
            </a:r>
            <a:endParaRPr lang="zh-CN" altLang="en-US" sz="2000" b="1" dirty="0">
              <a:solidFill>
                <a:srgbClr val="FF0066"/>
              </a:solidFill>
              <a:latin typeface="Times New Roman" panose="02020603050405020304" pitchFamily="18" charset="0"/>
            </a:endParaRPr>
          </a:p>
        </p:txBody>
      </p:sp>
      <p:sp>
        <p:nvSpPr>
          <p:cNvPr id="80899" name="Text Box 7"/>
          <p:cNvSpPr txBox="1"/>
          <p:nvPr/>
        </p:nvSpPr>
        <p:spPr>
          <a:xfrm>
            <a:off x="592138" y="1360488"/>
            <a:ext cx="1708150" cy="457200"/>
          </a:xfrm>
          <a:prstGeom prst="rect">
            <a:avLst/>
          </a:prstGeom>
          <a:noFill/>
          <a:ln w="9525">
            <a:noFill/>
          </a:ln>
        </p:spPr>
        <p:txBody>
          <a:bodyPr wrap="none">
            <a:spAutoFit/>
          </a:bodyPr>
          <a:lstStyle/>
          <a:p>
            <a:r>
              <a:rPr lang="en-US" altLang="zh-CN" dirty="0">
                <a:solidFill>
                  <a:srgbClr val="FF00FF"/>
                </a:solidFill>
                <a:latin typeface="Times New Roman" panose="02020603050405020304" pitchFamily="18" charset="0"/>
              </a:rPr>
              <a:t>1. </a:t>
            </a:r>
            <a:r>
              <a:rPr lang="zh-CN" altLang="en-US" dirty="0">
                <a:solidFill>
                  <a:srgbClr val="FF00FF"/>
                </a:solidFill>
                <a:latin typeface="Times New Roman" panose="02020603050405020304" pitchFamily="18" charset="0"/>
              </a:rPr>
              <a:t>物理特性</a:t>
            </a:r>
            <a:endParaRPr lang="zh-CN" altLang="en-US" dirty="0">
              <a:solidFill>
                <a:srgbClr val="FF00FF"/>
              </a:solidFill>
              <a:latin typeface="Times New Roman" panose="02020603050405020304" pitchFamily="18" charset="0"/>
            </a:endParaRPr>
          </a:p>
        </p:txBody>
      </p:sp>
      <p:sp>
        <p:nvSpPr>
          <p:cNvPr id="45064" name="Text Box 8"/>
          <p:cNvSpPr txBox="1"/>
          <p:nvPr/>
        </p:nvSpPr>
        <p:spPr>
          <a:xfrm>
            <a:off x="663575" y="1773238"/>
            <a:ext cx="8413750" cy="457200"/>
          </a:xfrm>
          <a:prstGeom prst="rect">
            <a:avLst/>
          </a:prstGeom>
          <a:noFill/>
          <a:ln w="9525">
            <a:noFill/>
          </a:ln>
        </p:spPr>
        <p:txBody>
          <a:bodyPr wrap="none">
            <a:spAutoFit/>
          </a:bodyPr>
          <a:lstStyle/>
          <a:p>
            <a:r>
              <a:rPr lang="zh-CN" altLang="en-US" dirty="0">
                <a:latin typeface="Times New Roman" panose="02020603050405020304" pitchFamily="18" charset="0"/>
              </a:rPr>
              <a:t>石英晶体之所以能成为电的谐振器，是由于它具有</a:t>
            </a:r>
            <a:r>
              <a:rPr lang="zh-CN" altLang="en-US" dirty="0">
                <a:solidFill>
                  <a:srgbClr val="FF0066"/>
                </a:solidFill>
                <a:latin typeface="Times New Roman" panose="02020603050405020304" pitchFamily="18" charset="0"/>
              </a:rPr>
              <a:t>压电效应。</a:t>
            </a:r>
            <a:endParaRPr lang="zh-CN" altLang="en-US" dirty="0">
              <a:solidFill>
                <a:srgbClr val="FF0066"/>
              </a:solidFill>
              <a:latin typeface="Times New Roman" panose="02020603050405020304" pitchFamily="18" charset="0"/>
            </a:endParaRPr>
          </a:p>
        </p:txBody>
      </p:sp>
      <p:sp>
        <p:nvSpPr>
          <p:cNvPr id="45065" name="Text Box 9"/>
          <p:cNvSpPr txBox="1"/>
          <p:nvPr/>
        </p:nvSpPr>
        <p:spPr>
          <a:xfrm>
            <a:off x="808038" y="2276475"/>
            <a:ext cx="8012112" cy="1187450"/>
          </a:xfrm>
          <a:prstGeom prst="rect">
            <a:avLst/>
          </a:prstGeom>
          <a:noFill/>
          <a:ln w="9525">
            <a:noFill/>
          </a:ln>
        </p:spPr>
        <p:txBody>
          <a:bodyPr>
            <a:spAutoFit/>
          </a:bodyPr>
          <a:lstStyle/>
          <a:p>
            <a:r>
              <a:rPr lang="en-US" altLang="zh-CN" dirty="0">
                <a:solidFill>
                  <a:srgbClr val="FF0066"/>
                </a:solidFill>
                <a:latin typeface="Times New Roman" panose="02020603050405020304" pitchFamily="18" charset="0"/>
                <a:cs typeface="Times New Roman" panose="02020603050405020304" pitchFamily="18" charset="0"/>
              </a:rPr>
              <a:t>●</a:t>
            </a:r>
            <a:r>
              <a:rPr lang="zh-CN" altLang="en-US" dirty="0">
                <a:solidFill>
                  <a:srgbClr val="FF0066"/>
                </a:solidFill>
                <a:latin typeface="Times New Roman" panose="02020603050405020304" pitchFamily="18" charset="0"/>
              </a:rPr>
              <a:t>压电效应（正压电效应）</a:t>
            </a:r>
            <a:r>
              <a:rPr lang="en-US" altLang="zh-CN" dirty="0">
                <a:latin typeface="Times New Roman" panose="02020603050405020304" pitchFamily="18" charset="0"/>
              </a:rPr>
              <a:t>————</a:t>
            </a:r>
            <a:r>
              <a:rPr lang="zh-CN" altLang="en-US" dirty="0">
                <a:latin typeface="Times New Roman" panose="02020603050405020304" pitchFamily="18" charset="0"/>
              </a:rPr>
              <a:t>当晶体受外力作用（如伸缩、切变、扭曲等）而变形时，就在它对面的表面上产生正负电荷，呈现出电压。</a:t>
            </a:r>
            <a:endParaRPr lang="zh-CN" altLang="en-US" dirty="0">
              <a:latin typeface="Times New Roman" panose="02020603050405020304" pitchFamily="18" charset="0"/>
            </a:endParaRPr>
          </a:p>
        </p:txBody>
      </p:sp>
      <p:sp>
        <p:nvSpPr>
          <p:cNvPr id="45066" name="Text Box 10"/>
          <p:cNvSpPr txBox="1"/>
          <p:nvPr/>
        </p:nvSpPr>
        <p:spPr>
          <a:xfrm>
            <a:off x="879475" y="3449638"/>
            <a:ext cx="8013700" cy="829945"/>
          </a:xfrm>
          <a:prstGeom prst="rect">
            <a:avLst/>
          </a:prstGeom>
          <a:noFill/>
          <a:ln w="9525">
            <a:noFill/>
          </a:ln>
        </p:spPr>
        <p:txBody>
          <a:bodyPr>
            <a:spAutoFit/>
          </a:bodyPr>
          <a:lstStyle/>
          <a:p>
            <a:r>
              <a:rPr lang="en-US" altLang="zh-CN" dirty="0">
                <a:solidFill>
                  <a:srgbClr val="FF0066"/>
                </a:solidFill>
                <a:latin typeface="Times New Roman" panose="02020603050405020304" pitchFamily="18" charset="0"/>
              </a:rPr>
              <a:t>●</a:t>
            </a:r>
            <a:r>
              <a:rPr lang="zh-CN" altLang="en-US" dirty="0">
                <a:solidFill>
                  <a:srgbClr val="FF0066"/>
                </a:solidFill>
                <a:latin typeface="Times New Roman" panose="02020603050405020304" pitchFamily="18" charset="0"/>
              </a:rPr>
              <a:t>负压电效应</a:t>
            </a:r>
            <a:r>
              <a:rPr lang="en-US" altLang="zh-CN" dirty="0">
                <a:latin typeface="Times New Roman" panose="02020603050405020304" pitchFamily="18" charset="0"/>
              </a:rPr>
              <a:t>————</a:t>
            </a:r>
            <a:r>
              <a:rPr lang="zh-CN" altLang="en-US" dirty="0">
                <a:latin typeface="Times New Roman" panose="02020603050405020304" pitchFamily="18" charset="0"/>
              </a:rPr>
              <a:t>当晶体两面加电压时，晶体又会发生机械形变。</a:t>
            </a:r>
            <a:endParaRPr lang="zh-CN" altLang="en-US" dirty="0">
              <a:latin typeface="Times New Roman" panose="02020603050405020304" pitchFamily="18" charset="0"/>
            </a:endParaRPr>
          </a:p>
        </p:txBody>
      </p:sp>
      <p:grpSp>
        <p:nvGrpSpPr>
          <p:cNvPr id="2" name="Group 16"/>
          <p:cNvGrpSpPr/>
          <p:nvPr/>
        </p:nvGrpSpPr>
        <p:grpSpPr>
          <a:xfrm>
            <a:off x="1763713" y="4293235"/>
            <a:ext cx="5741987" cy="460375"/>
            <a:chOff x="1053" y="2840"/>
            <a:chExt cx="3617" cy="290"/>
          </a:xfrm>
        </p:grpSpPr>
        <p:sp>
          <p:nvSpPr>
            <p:cNvPr id="80908" name="Text Box 11"/>
            <p:cNvSpPr txBox="1"/>
            <p:nvPr/>
          </p:nvSpPr>
          <p:spPr>
            <a:xfrm>
              <a:off x="1053" y="2840"/>
              <a:ext cx="883" cy="290"/>
            </a:xfrm>
            <a:prstGeom prst="rect">
              <a:avLst/>
            </a:prstGeom>
            <a:noFill/>
            <a:ln w="9525">
              <a:noFill/>
            </a:ln>
          </p:spPr>
          <p:txBody>
            <a:bodyPr wrap="none">
              <a:spAutoFit/>
            </a:bodyPr>
            <a:lstStyle/>
            <a:p>
              <a:r>
                <a:rPr lang="zh-CN" altLang="en-US" dirty="0">
                  <a:latin typeface="Times New Roman" panose="02020603050405020304" pitchFamily="18" charset="0"/>
                  <a:sym typeface="Wingdings" panose="05000000000000000000" pitchFamily="2" charset="2"/>
                </a:rPr>
                <a:t>交变电压</a:t>
              </a:r>
              <a:endParaRPr lang="zh-CN" altLang="en-US" dirty="0">
                <a:latin typeface="Times New Roman" panose="02020603050405020304" pitchFamily="18" charset="0"/>
              </a:endParaRPr>
            </a:p>
          </p:txBody>
        </p:sp>
        <p:sp>
          <p:nvSpPr>
            <p:cNvPr id="80909" name="Text Box 12"/>
            <p:cNvSpPr txBox="1"/>
            <p:nvPr/>
          </p:nvSpPr>
          <p:spPr>
            <a:xfrm>
              <a:off x="2109" y="2840"/>
              <a:ext cx="1459" cy="290"/>
            </a:xfrm>
            <a:prstGeom prst="rect">
              <a:avLst/>
            </a:prstGeom>
            <a:noFill/>
            <a:ln w="9525">
              <a:noFill/>
            </a:ln>
          </p:spPr>
          <p:txBody>
            <a:bodyPr wrap="none">
              <a:spAutoFit/>
            </a:bodyPr>
            <a:lstStyle/>
            <a:p>
              <a:r>
                <a:rPr lang="zh-CN" altLang="en-US" dirty="0">
                  <a:latin typeface="Times New Roman" panose="02020603050405020304" pitchFamily="18" charset="0"/>
                  <a:sym typeface="Wingdings" panose="05000000000000000000" pitchFamily="2" charset="2"/>
                </a:rPr>
                <a:t>周期性机械震动</a:t>
              </a:r>
              <a:endParaRPr lang="zh-CN" altLang="en-US" dirty="0">
                <a:latin typeface="Times New Roman" panose="02020603050405020304" pitchFamily="18" charset="0"/>
              </a:endParaRPr>
            </a:p>
          </p:txBody>
        </p:sp>
        <p:sp>
          <p:nvSpPr>
            <p:cNvPr id="80910" name="Text Box 13"/>
            <p:cNvSpPr txBox="1"/>
            <p:nvPr/>
          </p:nvSpPr>
          <p:spPr>
            <a:xfrm>
              <a:off x="3787" y="2840"/>
              <a:ext cx="883" cy="290"/>
            </a:xfrm>
            <a:prstGeom prst="rect">
              <a:avLst/>
            </a:prstGeom>
            <a:noFill/>
            <a:ln w="9525">
              <a:noFill/>
            </a:ln>
          </p:spPr>
          <p:txBody>
            <a:bodyPr wrap="none">
              <a:spAutoFit/>
            </a:bodyPr>
            <a:lstStyle/>
            <a:p>
              <a:r>
                <a:rPr lang="zh-CN" altLang="en-US" dirty="0">
                  <a:latin typeface="Times New Roman" panose="02020603050405020304" pitchFamily="18" charset="0"/>
                  <a:sym typeface="Wingdings" panose="05000000000000000000" pitchFamily="2" charset="2"/>
                </a:rPr>
                <a:t>交变电压</a:t>
              </a:r>
              <a:endParaRPr lang="zh-CN" altLang="en-US" dirty="0">
                <a:latin typeface="Times New Roman" panose="02020603050405020304" pitchFamily="18" charset="0"/>
              </a:endParaRPr>
            </a:p>
          </p:txBody>
        </p:sp>
      </p:grpSp>
      <p:sp>
        <p:nvSpPr>
          <p:cNvPr id="45070" name="Text Box 14"/>
          <p:cNvSpPr txBox="1"/>
          <p:nvPr/>
        </p:nvSpPr>
        <p:spPr>
          <a:xfrm>
            <a:off x="700088" y="5084763"/>
            <a:ext cx="8193087" cy="1187450"/>
          </a:xfrm>
          <a:prstGeom prst="rect">
            <a:avLst/>
          </a:prstGeom>
          <a:noFill/>
          <a:ln w="9525">
            <a:noFill/>
          </a:ln>
        </p:spPr>
        <p:txBody>
          <a:bodyPr>
            <a:spAutoFit/>
          </a:bodyPr>
          <a:lstStyle/>
          <a:p>
            <a:r>
              <a:rPr lang="zh-CN" altLang="en-US" dirty="0">
                <a:latin typeface="Times New Roman" panose="02020603050405020304" pitchFamily="18" charset="0"/>
              </a:rPr>
              <a:t>当所加电压频率等于晶体本身固有的机械震荡频率时，压电效应最明显，即产生交变电压与机械振动共振，晶体振荡器正是基于这一原理。</a:t>
            </a:r>
            <a:endParaRPr lang="zh-CN" altLang="en-US" dirty="0">
              <a:latin typeface="Times New Roman" panose="02020603050405020304" pitchFamily="18" charset="0"/>
            </a:endParaRPr>
          </a:p>
        </p:txBody>
      </p:sp>
      <p:sp>
        <p:nvSpPr>
          <p:cNvPr id="12" name="右箭头 11"/>
          <p:cNvSpPr/>
          <p:nvPr/>
        </p:nvSpPr>
        <p:spPr>
          <a:xfrm>
            <a:off x="3242945" y="4365625"/>
            <a:ext cx="197485" cy="288290"/>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3" name="右箭头 2"/>
          <p:cNvSpPr/>
          <p:nvPr/>
        </p:nvSpPr>
        <p:spPr>
          <a:xfrm>
            <a:off x="5831205" y="4379595"/>
            <a:ext cx="197485" cy="288290"/>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grpSp>
        <p:nvGrpSpPr>
          <p:cNvPr id="11272" name="Group 40"/>
          <p:cNvGrpSpPr/>
          <p:nvPr/>
        </p:nvGrpSpPr>
        <p:grpSpPr>
          <a:xfrm>
            <a:off x="1979613" y="388938"/>
            <a:ext cx="5334000" cy="519113"/>
            <a:chOff x="1287" y="432"/>
            <a:chExt cx="3360" cy="327"/>
          </a:xfrm>
        </p:grpSpPr>
        <p:sp>
          <p:nvSpPr>
            <p:cNvPr id="11280" name="Rectangle 41"/>
            <p:cNvSpPr/>
            <p:nvPr/>
          </p:nvSpPr>
          <p:spPr>
            <a:xfrm>
              <a:off x="1287" y="43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11281" name="Line 42"/>
            <p:cNvSpPr/>
            <p:nvPr/>
          </p:nvSpPr>
          <p:spPr>
            <a:xfrm>
              <a:off x="1469" y="749"/>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25" name="Text Box 4"/>
          <p:cNvSpPr txBox="1"/>
          <p:nvPr/>
        </p:nvSpPr>
        <p:spPr>
          <a:xfrm>
            <a:off x="467678" y="981075"/>
            <a:ext cx="3095625" cy="396875"/>
          </a:xfrm>
          <a:prstGeom prst="rect">
            <a:avLst/>
          </a:prstGeom>
          <a:noFill/>
          <a:ln w="9525">
            <a:noFill/>
          </a:ln>
        </p:spPr>
        <p:txBody>
          <a:bodyPr>
            <a:spAutoFit/>
          </a:bodyPr>
          <a:lstStyle/>
          <a:p>
            <a:pPr>
              <a:spcBef>
                <a:spcPct val="50000"/>
              </a:spcBef>
            </a:pPr>
            <a:r>
              <a:rPr lang="zh-CN" altLang="en-US" sz="2000" b="1" dirty="0">
                <a:solidFill>
                  <a:srgbClr val="FF0066"/>
                </a:solidFill>
                <a:latin typeface="Times New Roman" panose="02020603050405020304" pitchFamily="18" charset="0"/>
              </a:rPr>
              <a:t>三、石英晶体谐振器</a:t>
            </a:r>
            <a:endParaRPr lang="zh-CN" altLang="en-US" sz="2000" b="1" dirty="0">
              <a:solidFill>
                <a:srgbClr val="FF0066"/>
              </a:solidFill>
              <a:latin typeface="Times New Roman" panose="02020603050405020304" pitchFamily="18" charset="0"/>
            </a:endParaRPr>
          </a:p>
        </p:txBody>
      </p:sp>
      <p:sp>
        <p:nvSpPr>
          <p:cNvPr id="38926" name="Text Box 5"/>
          <p:cNvSpPr txBox="1"/>
          <p:nvPr/>
        </p:nvSpPr>
        <p:spPr>
          <a:xfrm>
            <a:off x="881063" y="1287463"/>
            <a:ext cx="2698750" cy="457200"/>
          </a:xfrm>
          <a:prstGeom prst="rect">
            <a:avLst/>
          </a:prstGeom>
          <a:noFill/>
          <a:ln w="9525">
            <a:noFill/>
          </a:ln>
        </p:spPr>
        <p:txBody>
          <a:bodyPr wrap="none">
            <a:spAutoFit/>
          </a:bodyPr>
          <a:lstStyle/>
          <a:p>
            <a:r>
              <a:rPr lang="en-US" altLang="zh-CN" dirty="0">
                <a:solidFill>
                  <a:srgbClr val="FF00FF"/>
                </a:solidFill>
                <a:latin typeface="Times New Roman" panose="02020603050405020304" pitchFamily="18" charset="0"/>
              </a:rPr>
              <a:t>1.</a:t>
            </a:r>
            <a:r>
              <a:rPr lang="zh-CN" altLang="en-US" sz="2000" dirty="0">
                <a:solidFill>
                  <a:srgbClr val="FF00FF"/>
                </a:solidFill>
                <a:latin typeface="Times New Roman" panose="02020603050405020304" pitchFamily="18" charset="0"/>
              </a:rPr>
              <a:t>等效电路及阻抗特性</a:t>
            </a:r>
            <a:endParaRPr lang="zh-CN" altLang="en-US" sz="2000" dirty="0">
              <a:solidFill>
                <a:srgbClr val="FF00FF"/>
              </a:solidFill>
              <a:latin typeface="Times New Roman" panose="02020603050405020304" pitchFamily="18" charset="0"/>
            </a:endParaRPr>
          </a:p>
        </p:txBody>
      </p:sp>
      <p:graphicFrame>
        <p:nvGraphicFramePr>
          <p:cNvPr id="397323" name="Object 11"/>
          <p:cNvGraphicFramePr>
            <a:graphicFrameLocks noGrp="1"/>
          </p:cNvGraphicFramePr>
          <p:nvPr>
            <p:ph sz="quarter"/>
          </p:nvPr>
        </p:nvGraphicFramePr>
        <p:xfrm>
          <a:off x="539115" y="2580640"/>
          <a:ext cx="5681345" cy="1255395"/>
        </p:xfrm>
        <a:graphic>
          <a:graphicData uri="http://schemas.openxmlformats.org/presentationml/2006/ole">
            <mc:AlternateContent xmlns:mc="http://schemas.openxmlformats.org/markup-compatibility/2006">
              <mc:Choice xmlns:v="urn:schemas-microsoft-com:vml" Requires="v">
                <p:oleObj spid="_x0000_s2" name="" r:id="rId1" imgW="3352800" imgH="749300" progId="Equation.DSMT4">
                  <p:embed/>
                </p:oleObj>
              </mc:Choice>
              <mc:Fallback>
                <p:oleObj name="" r:id="rId1" imgW="3352800" imgH="749300" progId="Equation.DSMT4">
                  <p:embed/>
                  <p:pic>
                    <p:nvPicPr>
                      <p:cNvPr id="0" name="图片 3298"/>
                      <p:cNvPicPr/>
                      <p:nvPr/>
                    </p:nvPicPr>
                    <p:blipFill>
                      <a:blip r:embed="rId2"/>
                      <a:stretch>
                        <a:fillRect/>
                      </a:stretch>
                    </p:blipFill>
                    <p:spPr>
                      <a:xfrm>
                        <a:off x="539115" y="2580640"/>
                        <a:ext cx="5681345" cy="1255395"/>
                      </a:xfrm>
                      <a:prstGeom prst="rect">
                        <a:avLst/>
                      </a:prstGeom>
                      <a:noFill/>
                      <a:ln w="38100">
                        <a:noFill/>
                        <a:miter/>
                      </a:ln>
                    </p:spPr>
                  </p:pic>
                </p:oleObj>
              </mc:Fallback>
            </mc:AlternateContent>
          </a:graphicData>
        </a:graphic>
      </p:graphicFrame>
      <p:pic>
        <p:nvPicPr>
          <p:cNvPr id="38928" name="Picture 14"/>
          <p:cNvPicPr>
            <a:picLocks noChangeAspect="1"/>
          </p:cNvPicPr>
          <p:nvPr/>
        </p:nvPicPr>
        <p:blipFill>
          <a:blip r:embed="rId3"/>
          <a:stretch>
            <a:fillRect/>
          </a:stretch>
        </p:blipFill>
        <p:spPr>
          <a:xfrm>
            <a:off x="6804025" y="908050"/>
            <a:ext cx="2095500" cy="2590800"/>
          </a:xfrm>
          <a:prstGeom prst="rect">
            <a:avLst/>
          </a:prstGeom>
          <a:noFill/>
          <a:ln w="9525">
            <a:noFill/>
          </a:ln>
        </p:spPr>
      </p:pic>
      <p:grpSp>
        <p:nvGrpSpPr>
          <p:cNvPr id="3" name="Group 20"/>
          <p:cNvGrpSpPr/>
          <p:nvPr/>
        </p:nvGrpSpPr>
        <p:grpSpPr>
          <a:xfrm>
            <a:off x="3995738" y="3357563"/>
            <a:ext cx="4248150" cy="576262"/>
            <a:chOff x="431" y="2750"/>
            <a:chExt cx="2676" cy="363"/>
          </a:xfrm>
        </p:grpSpPr>
        <p:sp>
          <p:nvSpPr>
            <p:cNvPr id="38942" name="Text Box 16"/>
            <p:cNvSpPr txBox="1"/>
            <p:nvPr/>
          </p:nvSpPr>
          <p:spPr>
            <a:xfrm>
              <a:off x="431" y="2795"/>
              <a:ext cx="2676" cy="250"/>
            </a:xfrm>
            <a:prstGeom prst="rect">
              <a:avLst/>
            </a:prstGeom>
            <a:noFill/>
            <a:ln w="9525">
              <a:noFill/>
            </a:ln>
          </p:spPr>
          <p:txBody>
            <a:bodyPr>
              <a:spAutoFit/>
            </a:bodyPr>
            <a:lstStyle/>
            <a:p>
              <a:r>
                <a:rPr lang="zh-CN" altLang="en-US" sz="2000" dirty="0">
                  <a:latin typeface="Times New Roman" panose="02020603050405020304" pitchFamily="18" charset="0"/>
                </a:rPr>
                <a:t>由于               ，      与      非常接近。</a:t>
              </a:r>
              <a:endParaRPr lang="zh-CN" altLang="en-US" sz="2000" dirty="0">
                <a:latin typeface="Times New Roman" panose="02020603050405020304" pitchFamily="18" charset="0"/>
              </a:endParaRPr>
            </a:p>
          </p:txBody>
        </p:sp>
        <p:graphicFrame>
          <p:nvGraphicFramePr>
            <p:cNvPr id="38922" name="Object 17"/>
            <p:cNvGraphicFramePr/>
            <p:nvPr/>
          </p:nvGraphicFramePr>
          <p:xfrm>
            <a:off x="1565" y="2750"/>
            <a:ext cx="267" cy="363"/>
          </p:xfrm>
          <a:graphic>
            <a:graphicData uri="http://schemas.openxmlformats.org/presentationml/2006/ole">
              <mc:AlternateContent xmlns:mc="http://schemas.openxmlformats.org/markup-compatibility/2006">
                <mc:Choice xmlns:v="urn:schemas-microsoft-com:vml" Requires="v">
                  <p:oleObj spid="_x0000_s4" name="" r:id="rId4" imgW="177800" imgH="240665" progId="Equation.DSMT4">
                    <p:embed/>
                  </p:oleObj>
                </mc:Choice>
                <mc:Fallback>
                  <p:oleObj name="" r:id="rId4" imgW="177800" imgH="240665" progId="Equation.DSMT4">
                    <p:embed/>
                    <p:pic>
                      <p:nvPicPr>
                        <p:cNvPr id="0" name="图片 3284"/>
                        <p:cNvPicPr/>
                        <p:nvPr/>
                      </p:nvPicPr>
                      <p:blipFill>
                        <a:blip r:embed="rId5"/>
                        <a:stretch>
                          <a:fillRect/>
                        </a:stretch>
                      </p:blipFill>
                      <p:spPr>
                        <a:xfrm>
                          <a:off x="1565" y="2750"/>
                          <a:ext cx="267" cy="363"/>
                        </a:xfrm>
                        <a:prstGeom prst="rect">
                          <a:avLst/>
                        </a:prstGeom>
                        <a:noFill/>
                        <a:ln w="38100">
                          <a:noFill/>
                          <a:miter/>
                        </a:ln>
                      </p:spPr>
                    </p:pic>
                  </p:oleObj>
                </mc:Fallback>
              </mc:AlternateContent>
            </a:graphicData>
          </a:graphic>
        </p:graphicFrame>
        <p:graphicFrame>
          <p:nvGraphicFramePr>
            <p:cNvPr id="38923" name="Object 18"/>
            <p:cNvGraphicFramePr/>
            <p:nvPr/>
          </p:nvGraphicFramePr>
          <p:xfrm>
            <a:off x="1973" y="2750"/>
            <a:ext cx="229" cy="317"/>
          </p:xfrm>
          <a:graphic>
            <a:graphicData uri="http://schemas.openxmlformats.org/presentationml/2006/ole">
              <mc:AlternateContent xmlns:mc="http://schemas.openxmlformats.org/markup-compatibility/2006">
                <mc:Choice xmlns:v="urn:schemas-microsoft-com:vml" Requires="v">
                  <p:oleObj spid="_x0000_s5" name="" r:id="rId6" imgW="165100" imgH="228600" progId="Equation.DSMT4">
                    <p:embed/>
                  </p:oleObj>
                </mc:Choice>
                <mc:Fallback>
                  <p:oleObj name="" r:id="rId6" imgW="165100" imgH="228600" progId="Equation.DSMT4">
                    <p:embed/>
                    <p:pic>
                      <p:nvPicPr>
                        <p:cNvPr id="0" name="图片 3286"/>
                        <p:cNvPicPr/>
                        <p:nvPr/>
                      </p:nvPicPr>
                      <p:blipFill>
                        <a:blip r:embed="rId7"/>
                        <a:stretch>
                          <a:fillRect/>
                        </a:stretch>
                      </p:blipFill>
                      <p:spPr>
                        <a:xfrm>
                          <a:off x="1973" y="2750"/>
                          <a:ext cx="229" cy="317"/>
                        </a:xfrm>
                        <a:prstGeom prst="rect">
                          <a:avLst/>
                        </a:prstGeom>
                        <a:noFill/>
                        <a:ln w="38100">
                          <a:noFill/>
                          <a:miter/>
                        </a:ln>
                      </p:spPr>
                    </p:pic>
                  </p:oleObj>
                </mc:Fallback>
              </mc:AlternateContent>
            </a:graphicData>
          </a:graphic>
        </p:graphicFrame>
        <p:graphicFrame>
          <p:nvGraphicFramePr>
            <p:cNvPr id="38924" name="Object 19"/>
            <p:cNvGraphicFramePr/>
            <p:nvPr/>
          </p:nvGraphicFramePr>
          <p:xfrm>
            <a:off x="793" y="2795"/>
            <a:ext cx="681" cy="301"/>
          </p:xfrm>
          <a:graphic>
            <a:graphicData uri="http://schemas.openxmlformats.org/presentationml/2006/ole">
              <mc:AlternateContent xmlns:mc="http://schemas.openxmlformats.org/markup-compatibility/2006">
                <mc:Choice xmlns:v="urn:schemas-microsoft-com:vml" Requires="v">
                  <p:oleObj spid="_x0000_s6" name="" r:id="rId8" imgW="546100" imgH="241300" progId="Equation.DSMT4">
                    <p:embed/>
                  </p:oleObj>
                </mc:Choice>
                <mc:Fallback>
                  <p:oleObj name="" r:id="rId8" imgW="546100" imgH="241300" progId="Equation.DSMT4">
                    <p:embed/>
                    <p:pic>
                      <p:nvPicPr>
                        <p:cNvPr id="0" name="图片 3295"/>
                        <p:cNvPicPr/>
                        <p:nvPr/>
                      </p:nvPicPr>
                      <p:blipFill>
                        <a:blip r:embed="rId9"/>
                        <a:stretch>
                          <a:fillRect/>
                        </a:stretch>
                      </p:blipFill>
                      <p:spPr>
                        <a:xfrm>
                          <a:off x="793" y="2795"/>
                          <a:ext cx="681" cy="301"/>
                        </a:xfrm>
                        <a:prstGeom prst="rect">
                          <a:avLst/>
                        </a:prstGeom>
                        <a:noFill/>
                        <a:ln w="38100">
                          <a:noFill/>
                          <a:miter/>
                        </a:ln>
                      </p:spPr>
                    </p:pic>
                  </p:oleObj>
                </mc:Fallback>
              </mc:AlternateContent>
            </a:graphicData>
          </a:graphic>
        </p:graphicFrame>
      </p:grpSp>
      <p:graphicFrame>
        <p:nvGraphicFramePr>
          <p:cNvPr id="397335" name="Object 23"/>
          <p:cNvGraphicFramePr/>
          <p:nvPr/>
        </p:nvGraphicFramePr>
        <p:xfrm>
          <a:off x="3347720" y="3933825"/>
          <a:ext cx="1997075" cy="791845"/>
        </p:xfrm>
        <a:graphic>
          <a:graphicData uri="http://schemas.openxmlformats.org/presentationml/2006/ole">
            <mc:AlternateContent xmlns:mc="http://schemas.openxmlformats.org/markup-compatibility/2006">
              <mc:Choice xmlns:v="urn:schemas-microsoft-com:vml" Requires="v">
                <p:oleObj spid="_x0000_s7" name="" r:id="rId10" imgW="1079500" imgH="457200" progId="Equation.DSMT4">
                  <p:embed/>
                </p:oleObj>
              </mc:Choice>
              <mc:Fallback>
                <p:oleObj name="" r:id="rId10" imgW="1079500" imgH="457200" progId="Equation.DSMT4">
                  <p:embed/>
                  <p:pic>
                    <p:nvPicPr>
                      <p:cNvPr id="0" name="图片 3280"/>
                      <p:cNvPicPr/>
                      <p:nvPr/>
                    </p:nvPicPr>
                    <p:blipFill>
                      <a:blip r:embed="rId11"/>
                      <a:stretch>
                        <a:fillRect/>
                      </a:stretch>
                    </p:blipFill>
                    <p:spPr>
                      <a:xfrm>
                        <a:off x="3347720" y="3933825"/>
                        <a:ext cx="1997075" cy="791845"/>
                      </a:xfrm>
                      <a:prstGeom prst="rect">
                        <a:avLst/>
                      </a:prstGeom>
                      <a:noFill/>
                      <a:ln w="38100">
                        <a:noFill/>
                        <a:miter/>
                      </a:ln>
                    </p:spPr>
                  </p:pic>
                </p:oleObj>
              </mc:Fallback>
            </mc:AlternateContent>
          </a:graphicData>
        </a:graphic>
      </p:graphicFrame>
      <p:grpSp>
        <p:nvGrpSpPr>
          <p:cNvPr id="8" name="Group 34"/>
          <p:cNvGrpSpPr/>
          <p:nvPr/>
        </p:nvGrpSpPr>
        <p:grpSpPr>
          <a:xfrm>
            <a:off x="394970" y="4103370"/>
            <a:ext cx="3028950" cy="498475"/>
            <a:chOff x="204" y="2568"/>
            <a:chExt cx="1908" cy="314"/>
          </a:xfrm>
        </p:grpSpPr>
        <p:sp>
          <p:nvSpPr>
            <p:cNvPr id="38941" name="Text Box 22"/>
            <p:cNvSpPr txBox="1"/>
            <p:nvPr/>
          </p:nvSpPr>
          <p:spPr>
            <a:xfrm>
              <a:off x="204" y="2568"/>
              <a:ext cx="1908" cy="288"/>
            </a:xfrm>
            <a:prstGeom prst="rect">
              <a:avLst/>
            </a:prstGeom>
            <a:noFill/>
            <a:ln w="9525">
              <a:noFill/>
            </a:ln>
          </p:spPr>
          <p:txBody>
            <a:bodyPr wrap="none">
              <a:spAutoFit/>
            </a:bodyPr>
            <a:lstStyle/>
            <a:p>
              <a:r>
                <a:rPr lang="zh-CN" altLang="en-US" sz="2000" dirty="0">
                  <a:latin typeface="Times New Roman" panose="02020603050405020304" pitchFamily="18" charset="0"/>
                </a:rPr>
                <a:t>当                        时，有</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aphicFrame>
          <p:nvGraphicFramePr>
            <p:cNvPr id="38921" name="Object 24"/>
            <p:cNvGraphicFramePr/>
            <p:nvPr/>
          </p:nvGraphicFramePr>
          <p:xfrm>
            <a:off x="476" y="2614"/>
            <a:ext cx="816" cy="268"/>
          </p:xfrm>
          <a:graphic>
            <a:graphicData uri="http://schemas.openxmlformats.org/presentationml/2006/ole">
              <mc:AlternateContent xmlns:mc="http://schemas.openxmlformats.org/markup-compatibility/2006">
                <mc:Choice xmlns:v="urn:schemas-microsoft-com:vml" Requires="v">
                  <p:oleObj spid="_x0000_s9" name="" r:id="rId12" imgW="735965" imgH="241300" progId="Equation.DSMT4">
                    <p:embed/>
                  </p:oleObj>
                </mc:Choice>
                <mc:Fallback>
                  <p:oleObj name="" r:id="rId12" imgW="735965" imgH="241300" progId="Equation.DSMT4">
                    <p:embed/>
                    <p:pic>
                      <p:nvPicPr>
                        <p:cNvPr id="0" name="图片 3285"/>
                        <p:cNvPicPr/>
                        <p:nvPr/>
                      </p:nvPicPr>
                      <p:blipFill>
                        <a:blip r:embed="rId13"/>
                        <a:stretch>
                          <a:fillRect/>
                        </a:stretch>
                      </p:blipFill>
                      <p:spPr>
                        <a:xfrm>
                          <a:off x="476" y="2614"/>
                          <a:ext cx="816" cy="268"/>
                        </a:xfrm>
                        <a:prstGeom prst="rect">
                          <a:avLst/>
                        </a:prstGeom>
                        <a:noFill/>
                        <a:ln w="38100">
                          <a:noFill/>
                          <a:miter/>
                        </a:ln>
                      </p:spPr>
                    </p:pic>
                  </p:oleObj>
                </mc:Fallback>
              </mc:AlternateContent>
            </a:graphicData>
          </a:graphic>
        </p:graphicFrame>
      </p:grpSp>
      <p:grpSp>
        <p:nvGrpSpPr>
          <p:cNvPr id="10" name="Group 25"/>
          <p:cNvGrpSpPr/>
          <p:nvPr/>
        </p:nvGrpSpPr>
        <p:grpSpPr>
          <a:xfrm>
            <a:off x="394018" y="4990783"/>
            <a:ext cx="3957637" cy="815975"/>
            <a:chOff x="295" y="2749"/>
            <a:chExt cx="2493" cy="514"/>
          </a:xfrm>
        </p:grpSpPr>
        <p:graphicFrame>
          <p:nvGraphicFramePr>
            <p:cNvPr id="38920" name="Object 26"/>
            <p:cNvGraphicFramePr/>
            <p:nvPr/>
          </p:nvGraphicFramePr>
          <p:xfrm>
            <a:off x="1338" y="2749"/>
            <a:ext cx="1450" cy="514"/>
          </p:xfrm>
          <a:graphic>
            <a:graphicData uri="http://schemas.openxmlformats.org/presentationml/2006/ole">
              <mc:AlternateContent xmlns:mc="http://schemas.openxmlformats.org/markup-compatibility/2006">
                <mc:Choice xmlns:v="urn:schemas-microsoft-com:vml" Requires="v">
                  <p:oleObj spid="_x0000_s11" name="" r:id="rId14" imgW="1257300" imgH="469900" progId="Equation.DSMT4">
                    <p:embed/>
                  </p:oleObj>
                </mc:Choice>
                <mc:Fallback>
                  <p:oleObj name="" r:id="rId14" imgW="1257300" imgH="469900" progId="Equation.DSMT4">
                    <p:embed/>
                    <p:pic>
                      <p:nvPicPr>
                        <p:cNvPr id="0" name="图片 3276"/>
                        <p:cNvPicPr/>
                        <p:nvPr/>
                      </p:nvPicPr>
                      <p:blipFill>
                        <a:blip r:embed="rId15"/>
                        <a:stretch>
                          <a:fillRect/>
                        </a:stretch>
                      </p:blipFill>
                      <p:spPr>
                        <a:xfrm>
                          <a:off x="1338" y="2749"/>
                          <a:ext cx="1450" cy="514"/>
                        </a:xfrm>
                        <a:prstGeom prst="rect">
                          <a:avLst/>
                        </a:prstGeom>
                        <a:noFill/>
                        <a:ln w="38100">
                          <a:noFill/>
                          <a:miter/>
                        </a:ln>
                      </p:spPr>
                    </p:pic>
                  </p:oleObj>
                </mc:Fallback>
              </mc:AlternateContent>
            </a:graphicData>
          </a:graphic>
        </p:graphicFrame>
        <p:sp>
          <p:nvSpPr>
            <p:cNvPr id="38940" name="Rectangle 27"/>
            <p:cNvSpPr/>
            <p:nvPr/>
          </p:nvSpPr>
          <p:spPr>
            <a:xfrm>
              <a:off x="295" y="2840"/>
              <a:ext cx="1108" cy="288"/>
            </a:xfrm>
            <a:prstGeom prst="rect">
              <a:avLst/>
            </a:prstGeom>
            <a:noFill/>
            <a:ln w="9525">
              <a:noFill/>
            </a:ln>
          </p:spPr>
          <p:txBody>
            <a:bodyPr wrap="none">
              <a:spAutoFit/>
            </a:bodyPr>
            <a:lstStyle/>
            <a:p>
              <a:r>
                <a:rPr lang="zh-CN" altLang="en-US" sz="2000" dirty="0">
                  <a:latin typeface="Times New Roman" panose="02020603050405020304" pitchFamily="18" charset="0"/>
                </a:rPr>
                <a:t>相对频差为</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grpSp>
        <p:nvGrpSpPr>
          <p:cNvPr id="12" name="Group 40"/>
          <p:cNvGrpSpPr/>
          <p:nvPr/>
        </p:nvGrpSpPr>
        <p:grpSpPr>
          <a:xfrm>
            <a:off x="4570413" y="4941570"/>
            <a:ext cx="3776663" cy="823913"/>
            <a:chOff x="3243" y="2944"/>
            <a:chExt cx="2379" cy="519"/>
          </a:xfrm>
        </p:grpSpPr>
        <p:sp>
          <p:nvSpPr>
            <p:cNvPr id="38939" name="Text Box 29"/>
            <p:cNvSpPr txBox="1"/>
            <p:nvPr/>
          </p:nvSpPr>
          <p:spPr>
            <a:xfrm>
              <a:off x="3243" y="3067"/>
              <a:ext cx="948" cy="288"/>
            </a:xfrm>
            <a:prstGeom prst="rect">
              <a:avLst/>
            </a:prstGeom>
            <a:noFill/>
            <a:ln w="9525">
              <a:noFill/>
            </a:ln>
          </p:spPr>
          <p:txBody>
            <a:bodyPr wrap="none">
              <a:spAutoFit/>
            </a:bodyPr>
            <a:lstStyle/>
            <a:p>
              <a:r>
                <a:rPr lang="zh-CN" altLang="en-US" sz="2000" b="1" dirty="0">
                  <a:solidFill>
                    <a:srgbClr val="FF0066"/>
                  </a:solidFill>
                  <a:latin typeface="Times New Roman" panose="02020603050405020304" pitchFamily="18" charset="0"/>
                </a:rPr>
                <a:t>接入系数</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aphicFrame>
          <p:nvGraphicFramePr>
            <p:cNvPr id="38919" name="Object 30"/>
            <p:cNvGraphicFramePr/>
            <p:nvPr/>
          </p:nvGraphicFramePr>
          <p:xfrm>
            <a:off x="4150" y="2944"/>
            <a:ext cx="1472" cy="519"/>
          </p:xfrm>
          <a:graphic>
            <a:graphicData uri="http://schemas.openxmlformats.org/presentationml/2006/ole">
              <mc:AlternateContent xmlns:mc="http://schemas.openxmlformats.org/markup-compatibility/2006">
                <mc:Choice xmlns:v="urn:schemas-microsoft-com:vml" Requires="v">
                  <p:oleObj spid="_x0000_s13" name="" r:id="rId16" imgW="1397000" imgH="469900" progId="Equation.DSMT4">
                    <p:embed/>
                  </p:oleObj>
                </mc:Choice>
                <mc:Fallback>
                  <p:oleObj name="" r:id="rId16" imgW="1397000" imgH="469900" progId="Equation.DSMT4">
                    <p:embed/>
                    <p:pic>
                      <p:nvPicPr>
                        <p:cNvPr id="0" name="图片 3282"/>
                        <p:cNvPicPr/>
                        <p:nvPr/>
                      </p:nvPicPr>
                      <p:blipFill>
                        <a:blip r:embed="rId17"/>
                        <a:stretch>
                          <a:fillRect/>
                        </a:stretch>
                      </p:blipFill>
                      <p:spPr>
                        <a:xfrm>
                          <a:off x="4150" y="2944"/>
                          <a:ext cx="1472" cy="519"/>
                        </a:xfrm>
                        <a:prstGeom prst="rect">
                          <a:avLst/>
                        </a:prstGeom>
                        <a:noFill/>
                        <a:ln w="38100">
                          <a:noFill/>
                          <a:miter/>
                        </a:ln>
                      </p:spPr>
                    </p:pic>
                  </p:oleObj>
                </mc:Fallback>
              </mc:AlternateContent>
            </a:graphicData>
          </a:graphic>
        </p:graphicFrame>
      </p:grpSp>
      <p:sp>
        <p:nvSpPr>
          <p:cNvPr id="38933" name="Text Box 35"/>
          <p:cNvSpPr txBox="1"/>
          <p:nvPr/>
        </p:nvSpPr>
        <p:spPr>
          <a:xfrm>
            <a:off x="3975100" y="5942013"/>
            <a:ext cx="184150" cy="457200"/>
          </a:xfrm>
          <a:prstGeom prst="rect">
            <a:avLst/>
          </a:prstGeom>
          <a:noFill/>
          <a:ln w="9525">
            <a:noFill/>
          </a:ln>
        </p:spPr>
        <p:txBody>
          <a:bodyPr wrap="none">
            <a:spAutoFit/>
          </a:bodyPr>
          <a:lstStyle/>
          <a:p>
            <a:endParaRPr lang="zh-CN" altLang="zh-CN" dirty="0">
              <a:latin typeface="Times New Roman" panose="02020603050405020304" pitchFamily="18" charset="0"/>
            </a:endParaRPr>
          </a:p>
        </p:txBody>
      </p:sp>
      <p:grpSp>
        <p:nvGrpSpPr>
          <p:cNvPr id="14" name="Group 37"/>
          <p:cNvGrpSpPr/>
          <p:nvPr/>
        </p:nvGrpSpPr>
        <p:grpSpPr>
          <a:xfrm>
            <a:off x="611188" y="5857876"/>
            <a:ext cx="3313112" cy="749300"/>
            <a:chOff x="385" y="3558"/>
            <a:chExt cx="2087" cy="472"/>
          </a:xfrm>
        </p:grpSpPr>
        <p:grpSp>
          <p:nvGrpSpPr>
            <p:cNvPr id="38937" name="Group 31"/>
            <p:cNvGrpSpPr/>
            <p:nvPr/>
          </p:nvGrpSpPr>
          <p:grpSpPr>
            <a:xfrm>
              <a:off x="385" y="3558"/>
              <a:ext cx="1558" cy="472"/>
              <a:chOff x="2880" y="3345"/>
              <a:chExt cx="1558" cy="472"/>
            </a:xfrm>
          </p:grpSpPr>
          <p:sp>
            <p:nvSpPr>
              <p:cNvPr id="38938" name="Text Box 32"/>
              <p:cNvSpPr txBox="1"/>
              <p:nvPr/>
            </p:nvSpPr>
            <p:spPr>
              <a:xfrm>
                <a:off x="2880" y="3430"/>
                <a:ext cx="948" cy="288"/>
              </a:xfrm>
              <a:prstGeom prst="rect">
                <a:avLst/>
              </a:prstGeom>
              <a:noFill/>
              <a:ln w="9525">
                <a:noFill/>
              </a:ln>
            </p:spPr>
            <p:txBody>
              <a:bodyPr wrap="none">
                <a:spAutoFit/>
              </a:bodyPr>
              <a:lstStyle/>
              <a:p>
                <a:r>
                  <a:rPr lang="zh-CN" altLang="en-US" sz="2000" dirty="0">
                    <a:solidFill>
                      <a:srgbClr val="FF0066"/>
                    </a:solidFill>
                    <a:latin typeface="Times New Roman" panose="02020603050405020304" pitchFamily="18" charset="0"/>
                  </a:rPr>
                  <a:t>品质因素</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aphicFrame>
            <p:nvGraphicFramePr>
              <p:cNvPr id="38918" name="Object 33"/>
              <p:cNvGraphicFramePr/>
              <p:nvPr/>
            </p:nvGraphicFramePr>
            <p:xfrm>
              <a:off x="3697" y="3345"/>
              <a:ext cx="741" cy="472"/>
            </p:xfrm>
            <a:graphic>
              <a:graphicData uri="http://schemas.openxmlformats.org/presentationml/2006/ole">
                <mc:AlternateContent xmlns:mc="http://schemas.openxmlformats.org/markup-compatibility/2006">
                  <mc:Choice xmlns:v="urn:schemas-microsoft-com:vml" Requires="v">
                    <p:oleObj spid="_x0000_s15" name="" r:id="rId18" imgW="685800" imgH="469900" progId="Equation.DSMT4">
                      <p:embed/>
                    </p:oleObj>
                  </mc:Choice>
                  <mc:Fallback>
                    <p:oleObj name="" r:id="rId18" imgW="685800" imgH="469900" progId="Equation.DSMT4">
                      <p:embed/>
                      <p:pic>
                        <p:nvPicPr>
                          <p:cNvPr id="0" name="图片 3297"/>
                          <p:cNvPicPr/>
                          <p:nvPr/>
                        </p:nvPicPr>
                        <p:blipFill>
                          <a:blip r:embed="rId19"/>
                          <a:stretch>
                            <a:fillRect/>
                          </a:stretch>
                        </p:blipFill>
                        <p:spPr>
                          <a:xfrm>
                            <a:off x="3697" y="3345"/>
                            <a:ext cx="741" cy="472"/>
                          </a:xfrm>
                          <a:prstGeom prst="rect">
                            <a:avLst/>
                          </a:prstGeom>
                          <a:noFill/>
                          <a:ln w="38100">
                            <a:noFill/>
                            <a:miter/>
                          </a:ln>
                        </p:spPr>
                      </p:pic>
                    </p:oleObj>
                  </mc:Fallback>
                </mc:AlternateContent>
              </a:graphicData>
            </a:graphic>
          </p:graphicFrame>
        </p:grpSp>
        <p:graphicFrame>
          <p:nvGraphicFramePr>
            <p:cNvPr id="38917" name="Object 36"/>
            <p:cNvGraphicFramePr/>
            <p:nvPr/>
          </p:nvGraphicFramePr>
          <p:xfrm>
            <a:off x="2018" y="3661"/>
            <a:ext cx="454" cy="270"/>
          </p:xfrm>
          <a:graphic>
            <a:graphicData uri="http://schemas.openxmlformats.org/presentationml/2006/ole">
              <mc:AlternateContent xmlns:mc="http://schemas.openxmlformats.org/markup-compatibility/2006">
                <mc:Choice xmlns:v="urn:schemas-microsoft-com:vml" Requires="v">
                  <p:oleObj spid="_x0000_s16" name="" r:id="rId20" imgW="342900" imgH="203200" progId="Equation.DSMT4">
                    <p:embed/>
                  </p:oleObj>
                </mc:Choice>
                <mc:Fallback>
                  <p:oleObj name="" r:id="rId20" imgW="342900" imgH="203200" progId="Equation.DSMT4">
                    <p:embed/>
                    <p:pic>
                      <p:nvPicPr>
                        <p:cNvPr id="0" name="图片 3281"/>
                        <p:cNvPicPr/>
                        <p:nvPr/>
                      </p:nvPicPr>
                      <p:blipFill>
                        <a:blip r:embed="rId21"/>
                        <a:stretch>
                          <a:fillRect/>
                        </a:stretch>
                      </p:blipFill>
                      <p:spPr>
                        <a:xfrm>
                          <a:off x="2018" y="3661"/>
                          <a:ext cx="454" cy="270"/>
                        </a:xfrm>
                        <a:prstGeom prst="rect">
                          <a:avLst/>
                        </a:prstGeom>
                        <a:noFill/>
                        <a:ln w="38100">
                          <a:noFill/>
                          <a:miter/>
                        </a:ln>
                      </p:spPr>
                    </p:pic>
                  </p:oleObj>
                </mc:Fallback>
              </mc:AlternateContent>
            </a:graphicData>
          </a:graphic>
        </p:graphicFrame>
      </p:grpSp>
      <p:grpSp>
        <p:nvGrpSpPr>
          <p:cNvPr id="17" name="Group 39"/>
          <p:cNvGrpSpPr/>
          <p:nvPr/>
        </p:nvGrpSpPr>
        <p:grpSpPr>
          <a:xfrm>
            <a:off x="395288" y="1744663"/>
            <a:ext cx="3579813" cy="858837"/>
            <a:chOff x="249" y="1099"/>
            <a:chExt cx="2255" cy="541"/>
          </a:xfrm>
        </p:grpSpPr>
        <p:graphicFrame>
          <p:nvGraphicFramePr>
            <p:cNvPr id="38916" name="Object 12"/>
            <p:cNvGraphicFramePr/>
            <p:nvPr/>
          </p:nvGraphicFramePr>
          <p:xfrm>
            <a:off x="1338" y="1099"/>
            <a:ext cx="1166" cy="541"/>
          </p:xfrm>
          <a:graphic>
            <a:graphicData uri="http://schemas.openxmlformats.org/presentationml/2006/ole">
              <mc:AlternateContent xmlns:mc="http://schemas.openxmlformats.org/markup-compatibility/2006">
                <mc:Choice xmlns:v="urn:schemas-microsoft-com:vml" Requires="v">
                  <p:oleObj spid="_x0000_s18" name="" r:id="rId22" imgW="951865" imgH="469900" progId="Equation.DSMT4">
                    <p:embed/>
                  </p:oleObj>
                </mc:Choice>
                <mc:Fallback>
                  <p:oleObj name="" r:id="rId22" imgW="951865" imgH="469900" progId="Equation.DSMT4">
                    <p:embed/>
                    <p:pic>
                      <p:nvPicPr>
                        <p:cNvPr id="0" name="图片 3296"/>
                        <p:cNvPicPr/>
                        <p:nvPr/>
                      </p:nvPicPr>
                      <p:blipFill>
                        <a:blip r:embed="rId23"/>
                        <a:stretch>
                          <a:fillRect/>
                        </a:stretch>
                      </p:blipFill>
                      <p:spPr>
                        <a:xfrm>
                          <a:off x="1338" y="1099"/>
                          <a:ext cx="1166" cy="541"/>
                        </a:xfrm>
                        <a:prstGeom prst="rect">
                          <a:avLst/>
                        </a:prstGeom>
                        <a:noFill/>
                        <a:ln w="38100">
                          <a:noFill/>
                          <a:miter/>
                        </a:ln>
                      </p:spPr>
                    </p:pic>
                  </p:oleObj>
                </mc:Fallback>
              </mc:AlternateContent>
            </a:graphicData>
          </a:graphic>
        </p:graphicFrame>
        <p:sp>
          <p:nvSpPr>
            <p:cNvPr id="38936" name="Text Box 38"/>
            <p:cNvSpPr txBox="1"/>
            <p:nvPr/>
          </p:nvSpPr>
          <p:spPr>
            <a:xfrm>
              <a:off x="249" y="1207"/>
              <a:ext cx="1236" cy="250"/>
            </a:xfrm>
            <a:prstGeom prst="rect">
              <a:avLst/>
            </a:prstGeom>
            <a:noFill/>
            <a:ln w="9525">
              <a:noFill/>
            </a:ln>
          </p:spPr>
          <p:txBody>
            <a:bodyPr wrap="none">
              <a:spAutoFit/>
            </a:bodyPr>
            <a:lstStyle/>
            <a:p>
              <a:r>
                <a:rPr lang="zh-CN" altLang="en-US" sz="2000" dirty="0">
                  <a:latin typeface="Times New Roman" panose="02020603050405020304" pitchFamily="18" charset="0"/>
                </a:rPr>
                <a:t>串联谐振频率：</a:t>
              </a:r>
              <a:endParaRPr lang="zh-CN" altLang="en-US" sz="2000" dirty="0">
                <a:latin typeface="Times New Roman" panose="02020603050405020304" pitchFamily="18" charset="0"/>
              </a:endParaRPr>
            </a:p>
          </p:txBody>
        </p:sp>
      </p:grpSp>
      <p:grpSp>
        <p:nvGrpSpPr>
          <p:cNvPr id="11272" name="Group 40"/>
          <p:cNvGrpSpPr/>
          <p:nvPr/>
        </p:nvGrpSpPr>
        <p:grpSpPr>
          <a:xfrm>
            <a:off x="1979613" y="388938"/>
            <a:ext cx="5334000" cy="519113"/>
            <a:chOff x="1287" y="432"/>
            <a:chExt cx="3360" cy="327"/>
          </a:xfrm>
        </p:grpSpPr>
        <p:sp>
          <p:nvSpPr>
            <p:cNvPr id="11280" name="Rectangle 41"/>
            <p:cNvSpPr/>
            <p:nvPr/>
          </p:nvSpPr>
          <p:spPr>
            <a:xfrm>
              <a:off x="1287" y="43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11281" name="Line 42"/>
            <p:cNvSpPr/>
            <p:nvPr/>
          </p:nvSpPr>
          <p:spPr>
            <a:xfrm>
              <a:off x="1469" y="749"/>
              <a:ext cx="3024" cy="0"/>
            </a:xfrm>
            <a:prstGeom prst="line">
              <a:avLst/>
            </a:prstGeom>
            <a:ln w="57150" cap="flat" cmpd="tri">
              <a:solidFill>
                <a:srgbClr val="FF00FF"/>
              </a:solidFill>
              <a:prstDash val="solid"/>
              <a:headEnd type="none" w="sm" len="sm"/>
              <a:tailEnd type="none" w="sm" len="sm"/>
            </a:ln>
          </p:spPr>
        </p:sp>
      </p:grpSp>
      <p:graphicFrame>
        <p:nvGraphicFramePr>
          <p:cNvPr id="19" name="Object 23"/>
          <p:cNvGraphicFramePr/>
          <p:nvPr/>
        </p:nvGraphicFramePr>
        <p:xfrm>
          <a:off x="5652135" y="3933190"/>
          <a:ext cx="1997075" cy="791845"/>
        </p:xfrm>
        <a:graphic>
          <a:graphicData uri="http://schemas.openxmlformats.org/presentationml/2006/ole">
            <mc:AlternateContent xmlns:mc="http://schemas.openxmlformats.org/markup-compatibility/2006">
              <mc:Choice xmlns:v="urn:schemas-microsoft-com:vml" Requires="v">
                <p:oleObj spid="_x0000_s20" name="" r:id="rId24" imgW="1079500" imgH="457200" progId="Equation.DSMT4">
                  <p:embed/>
                </p:oleObj>
              </mc:Choice>
              <mc:Fallback>
                <p:oleObj name="" r:id="rId24" imgW="1079500" imgH="457200" progId="Equation.DSMT4">
                  <p:embed/>
                  <p:pic>
                    <p:nvPicPr>
                      <p:cNvPr id="0" name="图片 3280"/>
                      <p:cNvPicPr/>
                      <p:nvPr/>
                    </p:nvPicPr>
                    <p:blipFill>
                      <a:blip r:embed="rId25"/>
                      <a:stretch>
                        <a:fillRect/>
                      </a:stretch>
                    </p:blipFill>
                    <p:spPr>
                      <a:xfrm>
                        <a:off x="5652135" y="3933190"/>
                        <a:ext cx="1997075" cy="791845"/>
                      </a:xfrm>
                      <a:prstGeom prst="rect">
                        <a:avLst/>
                      </a:prstGeom>
                      <a:noFill/>
                      <a:ln w="38100">
                        <a:noFill/>
                        <a:miter/>
                      </a:ln>
                    </p:spPr>
                  </p:pic>
                </p:oleObj>
              </mc:Fallback>
            </mc:AlternateContent>
          </a:graphicData>
        </a:graphic>
      </p:graphicFrame>
      <p:sp>
        <p:nvSpPr>
          <p:cNvPr id="21" name="右箭头 20"/>
          <p:cNvSpPr/>
          <p:nvPr/>
        </p:nvSpPr>
        <p:spPr>
          <a:xfrm>
            <a:off x="5364480" y="4149090"/>
            <a:ext cx="215900" cy="360045"/>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spd="med">
    <p:zo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Text Box 4"/>
          <p:cNvSpPr txBox="1"/>
          <p:nvPr/>
        </p:nvSpPr>
        <p:spPr>
          <a:xfrm>
            <a:off x="468313" y="835025"/>
            <a:ext cx="3095625" cy="396875"/>
          </a:xfrm>
          <a:prstGeom prst="rect">
            <a:avLst/>
          </a:prstGeom>
          <a:noFill/>
          <a:ln w="9525">
            <a:noFill/>
          </a:ln>
        </p:spPr>
        <p:txBody>
          <a:bodyPr>
            <a:spAutoFit/>
          </a:bodyPr>
          <a:lstStyle/>
          <a:p>
            <a:pPr>
              <a:spcBef>
                <a:spcPct val="50000"/>
              </a:spcBef>
            </a:pPr>
            <a:r>
              <a:rPr lang="zh-CN" altLang="en-US" sz="2000" b="1" dirty="0">
                <a:solidFill>
                  <a:srgbClr val="FF0066"/>
                </a:solidFill>
                <a:latin typeface="Times New Roman" panose="02020603050405020304" pitchFamily="18" charset="0"/>
              </a:rPr>
              <a:t>三、石英晶体谐振器</a:t>
            </a:r>
            <a:endParaRPr lang="zh-CN" altLang="en-US" sz="2000" b="1" dirty="0">
              <a:solidFill>
                <a:srgbClr val="FF0066"/>
              </a:solidFill>
              <a:latin typeface="Times New Roman" panose="02020603050405020304" pitchFamily="18" charset="0"/>
            </a:endParaRPr>
          </a:p>
        </p:txBody>
      </p:sp>
      <p:sp>
        <p:nvSpPr>
          <p:cNvPr id="39941" name="Text Box 5"/>
          <p:cNvSpPr txBox="1"/>
          <p:nvPr/>
        </p:nvSpPr>
        <p:spPr>
          <a:xfrm>
            <a:off x="881063" y="1287463"/>
            <a:ext cx="2698750" cy="457200"/>
          </a:xfrm>
          <a:prstGeom prst="rect">
            <a:avLst/>
          </a:prstGeom>
          <a:noFill/>
          <a:ln w="9525">
            <a:noFill/>
          </a:ln>
        </p:spPr>
        <p:txBody>
          <a:bodyPr wrap="none">
            <a:spAutoFit/>
          </a:bodyPr>
          <a:lstStyle/>
          <a:p>
            <a:r>
              <a:rPr lang="en-US" altLang="zh-CN" dirty="0">
                <a:solidFill>
                  <a:srgbClr val="FF00FF"/>
                </a:solidFill>
                <a:latin typeface="Times New Roman" panose="02020603050405020304" pitchFamily="18" charset="0"/>
              </a:rPr>
              <a:t>1.</a:t>
            </a:r>
            <a:r>
              <a:rPr lang="zh-CN" altLang="en-US" sz="2000" dirty="0">
                <a:solidFill>
                  <a:srgbClr val="FF00FF"/>
                </a:solidFill>
                <a:latin typeface="Times New Roman" panose="02020603050405020304" pitchFamily="18" charset="0"/>
              </a:rPr>
              <a:t>等效电路及阻抗特性</a:t>
            </a:r>
            <a:endParaRPr lang="zh-CN" altLang="en-US" sz="2000" dirty="0">
              <a:solidFill>
                <a:srgbClr val="FF00FF"/>
              </a:solidFill>
              <a:latin typeface="Times New Roman" panose="02020603050405020304" pitchFamily="18" charset="0"/>
            </a:endParaRPr>
          </a:p>
        </p:txBody>
      </p:sp>
      <p:pic>
        <p:nvPicPr>
          <p:cNvPr id="39943" name="Picture 9"/>
          <p:cNvPicPr>
            <a:picLocks noChangeAspect="1"/>
          </p:cNvPicPr>
          <p:nvPr/>
        </p:nvPicPr>
        <p:blipFill>
          <a:blip r:embed="rId1"/>
          <a:stretch>
            <a:fillRect/>
          </a:stretch>
        </p:blipFill>
        <p:spPr>
          <a:xfrm>
            <a:off x="6300788" y="1484313"/>
            <a:ext cx="2095500" cy="2590800"/>
          </a:xfrm>
          <a:prstGeom prst="rect">
            <a:avLst/>
          </a:prstGeom>
          <a:noFill/>
          <a:ln w="9525">
            <a:noFill/>
          </a:ln>
        </p:spPr>
      </p:pic>
      <p:sp>
        <p:nvSpPr>
          <p:cNvPr id="398346" name="Rectangle 10"/>
          <p:cNvSpPr/>
          <p:nvPr/>
        </p:nvSpPr>
        <p:spPr>
          <a:xfrm>
            <a:off x="395288" y="1844675"/>
            <a:ext cx="3562350" cy="457200"/>
          </a:xfrm>
          <a:prstGeom prst="rect">
            <a:avLst/>
          </a:prstGeom>
          <a:noFill/>
          <a:ln w="9525">
            <a:noFill/>
          </a:ln>
        </p:spPr>
        <p:txBody>
          <a:bodyPr wrap="none">
            <a:spAutoFit/>
          </a:bodyPr>
          <a:lstStyle/>
          <a:p>
            <a:pPr>
              <a:spcBef>
                <a:spcPct val="50000"/>
              </a:spcBef>
            </a:pPr>
            <a:r>
              <a:rPr lang="zh-CN" altLang="en-US" sz="2000" dirty="0">
                <a:latin typeface="Times New Roman" panose="02020603050405020304" pitchFamily="18" charset="0"/>
              </a:rPr>
              <a:t>等效电路阻抗的一般表示式为</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graphicFrame>
        <p:nvGraphicFramePr>
          <p:cNvPr id="398348" name="Object 12"/>
          <p:cNvGraphicFramePr/>
          <p:nvPr/>
        </p:nvGraphicFramePr>
        <p:xfrm>
          <a:off x="1042988" y="2276475"/>
          <a:ext cx="4535487" cy="1782763"/>
        </p:xfrm>
        <a:graphic>
          <a:graphicData uri="http://schemas.openxmlformats.org/presentationml/2006/ole">
            <mc:AlternateContent xmlns:mc="http://schemas.openxmlformats.org/markup-compatibility/2006">
              <mc:Choice xmlns:v="urn:schemas-microsoft-com:vml" Requires="v">
                <p:oleObj spid="_x0000_s2" name="" r:id="rId2" imgW="2195830" imgH="862965" progId="Equation.DSMT4">
                  <p:embed/>
                </p:oleObj>
              </mc:Choice>
              <mc:Fallback>
                <p:oleObj name="" r:id="rId2" imgW="2195830" imgH="862965" progId="Equation.DSMT4">
                  <p:embed/>
                  <p:pic>
                    <p:nvPicPr>
                      <p:cNvPr id="0" name="图片 3277"/>
                      <p:cNvPicPr/>
                      <p:nvPr/>
                    </p:nvPicPr>
                    <p:blipFill>
                      <a:blip r:embed="rId3"/>
                      <a:stretch>
                        <a:fillRect/>
                      </a:stretch>
                    </p:blipFill>
                    <p:spPr>
                      <a:xfrm>
                        <a:off x="1042988" y="2276475"/>
                        <a:ext cx="4535487" cy="1782763"/>
                      </a:xfrm>
                      <a:prstGeom prst="rect">
                        <a:avLst/>
                      </a:prstGeom>
                      <a:noFill/>
                      <a:ln w="38100">
                        <a:noFill/>
                        <a:miter/>
                      </a:ln>
                    </p:spPr>
                  </p:pic>
                </p:oleObj>
              </mc:Fallback>
            </mc:AlternateContent>
          </a:graphicData>
        </a:graphic>
      </p:graphicFrame>
      <p:sp>
        <p:nvSpPr>
          <p:cNvPr id="398351" name="Text Box 15"/>
          <p:cNvSpPr txBox="1"/>
          <p:nvPr/>
        </p:nvSpPr>
        <p:spPr>
          <a:xfrm>
            <a:off x="323850" y="4149725"/>
            <a:ext cx="4114800" cy="396875"/>
          </a:xfrm>
          <a:prstGeom prst="rect">
            <a:avLst/>
          </a:prstGeom>
          <a:noFill/>
          <a:ln w="9525">
            <a:noFill/>
          </a:ln>
        </p:spPr>
        <p:txBody>
          <a:bodyPr>
            <a:spAutoFit/>
          </a:bodyPr>
          <a:lstStyle/>
          <a:p>
            <a:pPr>
              <a:spcBef>
                <a:spcPct val="50000"/>
              </a:spcBef>
            </a:pPr>
            <a:r>
              <a:rPr lang="zh-CN" altLang="en-US" sz="2000" dirty="0">
                <a:latin typeface="Times New Roman" panose="02020603050405020304" pitchFamily="18" charset="0"/>
              </a:rPr>
              <a:t>在忽略</a:t>
            </a:r>
            <a:r>
              <a:rPr lang="en-US" altLang="zh-CN" sz="2000" i="1" dirty="0">
                <a:latin typeface="Times New Roman" panose="02020603050405020304" pitchFamily="18" charset="0"/>
              </a:rPr>
              <a:t>r</a:t>
            </a:r>
            <a:r>
              <a:rPr lang="en-US" altLang="zh-CN" sz="2000" baseline="-25000" dirty="0">
                <a:latin typeface="Times New Roman" panose="02020603050405020304" pitchFamily="18" charset="0"/>
              </a:rPr>
              <a:t>q</a:t>
            </a:r>
            <a:r>
              <a:rPr lang="zh-CN" altLang="en-US" sz="2000" dirty="0">
                <a:latin typeface="Times New Roman" panose="02020603050405020304" pitchFamily="18" charset="0"/>
              </a:rPr>
              <a:t>后</a:t>
            </a:r>
            <a:r>
              <a:rPr lang="en-US" altLang="zh-CN" sz="2000" dirty="0">
                <a:latin typeface="Times New Roman" panose="02020603050405020304" pitchFamily="18" charset="0"/>
              </a:rPr>
              <a:t>, </a:t>
            </a:r>
            <a:r>
              <a:rPr lang="zh-CN" altLang="en-US" sz="2000" dirty="0">
                <a:latin typeface="Times New Roman" panose="02020603050405020304" pitchFamily="18" charset="0"/>
              </a:rPr>
              <a:t>上式可化简为 </a:t>
            </a:r>
            <a:endParaRPr lang="zh-CN" altLang="en-US" sz="2000" dirty="0">
              <a:latin typeface="Times New Roman" panose="02020603050405020304" pitchFamily="18" charset="0"/>
            </a:endParaRPr>
          </a:p>
        </p:txBody>
      </p:sp>
      <p:graphicFrame>
        <p:nvGraphicFramePr>
          <p:cNvPr id="398352" name="Object 16"/>
          <p:cNvGraphicFramePr/>
          <p:nvPr/>
        </p:nvGraphicFramePr>
        <p:xfrm>
          <a:off x="2281238" y="4556125"/>
          <a:ext cx="3429000" cy="1739900"/>
        </p:xfrm>
        <a:graphic>
          <a:graphicData uri="http://schemas.openxmlformats.org/presentationml/2006/ole">
            <mc:AlternateContent xmlns:mc="http://schemas.openxmlformats.org/markup-compatibility/2006">
              <mc:Choice xmlns:v="urn:schemas-microsoft-com:vml" Requires="v">
                <p:oleObj spid="_x0000_s3" name="" r:id="rId4" imgW="1625600" imgH="825500" progId="Equation.DSMT4">
                  <p:embed/>
                </p:oleObj>
              </mc:Choice>
              <mc:Fallback>
                <p:oleObj name="" r:id="rId4" imgW="1625600" imgH="825500" progId="Equation.DSMT4">
                  <p:embed/>
                  <p:pic>
                    <p:nvPicPr>
                      <p:cNvPr id="0" name="图片 3289"/>
                      <p:cNvPicPr/>
                      <p:nvPr/>
                    </p:nvPicPr>
                    <p:blipFill>
                      <a:blip r:embed="rId5"/>
                      <a:stretch>
                        <a:fillRect/>
                      </a:stretch>
                    </p:blipFill>
                    <p:spPr>
                      <a:xfrm>
                        <a:off x="2281238" y="4556125"/>
                        <a:ext cx="3429000" cy="1739900"/>
                      </a:xfrm>
                      <a:prstGeom prst="rect">
                        <a:avLst/>
                      </a:prstGeom>
                      <a:noFill/>
                      <a:ln w="38100">
                        <a:noFill/>
                        <a:miter/>
                      </a:ln>
                    </p:spPr>
                  </p:pic>
                </p:oleObj>
              </mc:Fallback>
            </mc:AlternateContent>
          </a:graphicData>
        </a:graphic>
      </p:graphicFrame>
      <p:grpSp>
        <p:nvGrpSpPr>
          <p:cNvPr id="11272" name="Group 40"/>
          <p:cNvGrpSpPr/>
          <p:nvPr/>
        </p:nvGrpSpPr>
        <p:grpSpPr>
          <a:xfrm>
            <a:off x="1979613" y="388938"/>
            <a:ext cx="5334000" cy="519113"/>
            <a:chOff x="1287" y="432"/>
            <a:chExt cx="3360" cy="327"/>
          </a:xfrm>
        </p:grpSpPr>
        <p:sp>
          <p:nvSpPr>
            <p:cNvPr id="11280" name="Rectangle 41"/>
            <p:cNvSpPr/>
            <p:nvPr/>
          </p:nvSpPr>
          <p:spPr>
            <a:xfrm>
              <a:off x="1287" y="43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11281" name="Line 42"/>
            <p:cNvSpPr/>
            <p:nvPr/>
          </p:nvSpPr>
          <p:spPr>
            <a:xfrm>
              <a:off x="1469" y="749"/>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8" name="Text Box 4"/>
          <p:cNvSpPr txBox="1"/>
          <p:nvPr/>
        </p:nvSpPr>
        <p:spPr>
          <a:xfrm>
            <a:off x="468313" y="835025"/>
            <a:ext cx="3095625" cy="396875"/>
          </a:xfrm>
          <a:prstGeom prst="rect">
            <a:avLst/>
          </a:prstGeom>
          <a:noFill/>
          <a:ln w="9525">
            <a:noFill/>
          </a:ln>
        </p:spPr>
        <p:txBody>
          <a:bodyPr>
            <a:spAutoFit/>
          </a:bodyPr>
          <a:lstStyle/>
          <a:p>
            <a:pPr>
              <a:spcBef>
                <a:spcPct val="50000"/>
              </a:spcBef>
            </a:pPr>
            <a:r>
              <a:rPr lang="zh-CN" altLang="en-US" sz="2000" b="1" dirty="0">
                <a:solidFill>
                  <a:srgbClr val="FF0066"/>
                </a:solidFill>
                <a:latin typeface="Times New Roman" panose="02020603050405020304" pitchFamily="18" charset="0"/>
              </a:rPr>
              <a:t>三、石英晶体谐振器</a:t>
            </a:r>
            <a:endParaRPr lang="zh-CN" altLang="en-US" sz="2000" b="1" dirty="0">
              <a:solidFill>
                <a:srgbClr val="FF0066"/>
              </a:solidFill>
              <a:latin typeface="Times New Roman" panose="02020603050405020304" pitchFamily="18" charset="0"/>
            </a:endParaRPr>
          </a:p>
        </p:txBody>
      </p:sp>
      <p:sp>
        <p:nvSpPr>
          <p:cNvPr id="40969" name="Text Box 5"/>
          <p:cNvSpPr txBox="1"/>
          <p:nvPr/>
        </p:nvSpPr>
        <p:spPr>
          <a:xfrm>
            <a:off x="323850" y="1268413"/>
            <a:ext cx="2698750" cy="457200"/>
          </a:xfrm>
          <a:prstGeom prst="rect">
            <a:avLst/>
          </a:prstGeom>
          <a:noFill/>
          <a:ln w="9525">
            <a:noFill/>
          </a:ln>
        </p:spPr>
        <p:txBody>
          <a:bodyPr wrap="none">
            <a:spAutoFit/>
          </a:bodyPr>
          <a:lstStyle/>
          <a:p>
            <a:r>
              <a:rPr lang="en-US" altLang="zh-CN" dirty="0">
                <a:solidFill>
                  <a:srgbClr val="FF00FF"/>
                </a:solidFill>
                <a:latin typeface="Times New Roman" panose="02020603050405020304" pitchFamily="18" charset="0"/>
              </a:rPr>
              <a:t>1.</a:t>
            </a:r>
            <a:r>
              <a:rPr lang="zh-CN" altLang="en-US" sz="2000" dirty="0">
                <a:solidFill>
                  <a:srgbClr val="FF00FF"/>
                </a:solidFill>
                <a:latin typeface="Times New Roman" panose="02020603050405020304" pitchFamily="18" charset="0"/>
              </a:rPr>
              <a:t>等效电路及阻抗特性</a:t>
            </a:r>
            <a:endParaRPr lang="zh-CN" altLang="en-US" sz="2000" dirty="0">
              <a:solidFill>
                <a:srgbClr val="FF00FF"/>
              </a:solidFill>
              <a:latin typeface="Times New Roman" panose="02020603050405020304" pitchFamily="18" charset="0"/>
            </a:endParaRPr>
          </a:p>
        </p:txBody>
      </p:sp>
      <p:pic>
        <p:nvPicPr>
          <p:cNvPr id="399369" name="Picture 9"/>
          <p:cNvPicPr>
            <a:picLocks noChangeAspect="1"/>
          </p:cNvPicPr>
          <p:nvPr/>
        </p:nvPicPr>
        <p:blipFill>
          <a:blip r:embed="rId1"/>
          <a:stretch>
            <a:fillRect/>
          </a:stretch>
        </p:blipFill>
        <p:spPr>
          <a:xfrm>
            <a:off x="161608" y="1826260"/>
            <a:ext cx="3762375" cy="3076575"/>
          </a:xfrm>
          <a:prstGeom prst="rect">
            <a:avLst/>
          </a:prstGeom>
          <a:noFill/>
          <a:ln w="9525">
            <a:noFill/>
          </a:ln>
        </p:spPr>
      </p:pic>
      <p:graphicFrame>
        <p:nvGraphicFramePr>
          <p:cNvPr id="399370" name="Object 10"/>
          <p:cNvGraphicFramePr/>
          <p:nvPr/>
        </p:nvGraphicFramePr>
        <p:xfrm>
          <a:off x="539115" y="5792470"/>
          <a:ext cx="3326765" cy="568960"/>
        </p:xfrm>
        <a:graphic>
          <a:graphicData uri="http://schemas.openxmlformats.org/presentationml/2006/ole">
            <mc:AlternateContent xmlns:mc="http://schemas.openxmlformats.org/markup-compatibility/2006">
              <mc:Choice xmlns:v="urn:schemas-microsoft-com:vml" Requires="v">
                <p:oleObj spid="_x0000_s2" name="" r:id="rId2" imgW="2120265" imgH="444500" progId="Equation.DSMT4">
                  <p:embed/>
                </p:oleObj>
              </mc:Choice>
              <mc:Fallback>
                <p:oleObj name="" r:id="rId2" imgW="2120265" imgH="444500" progId="Equation.DSMT4">
                  <p:embed/>
                  <p:pic>
                    <p:nvPicPr>
                      <p:cNvPr id="0" name="图片 3283"/>
                      <p:cNvPicPr/>
                      <p:nvPr/>
                    </p:nvPicPr>
                    <p:blipFill>
                      <a:blip r:embed="rId3"/>
                      <a:stretch>
                        <a:fillRect/>
                      </a:stretch>
                    </p:blipFill>
                    <p:spPr>
                      <a:xfrm>
                        <a:off x="539115" y="5792470"/>
                        <a:ext cx="3326765" cy="568960"/>
                      </a:xfrm>
                      <a:prstGeom prst="rect">
                        <a:avLst/>
                      </a:prstGeom>
                      <a:noFill/>
                      <a:ln w="38100">
                        <a:noFill/>
                        <a:miter/>
                      </a:ln>
                    </p:spPr>
                  </p:pic>
                </p:oleObj>
              </mc:Fallback>
            </mc:AlternateContent>
          </a:graphicData>
        </a:graphic>
      </p:graphicFrame>
      <p:grpSp>
        <p:nvGrpSpPr>
          <p:cNvPr id="3" name="Group 21"/>
          <p:cNvGrpSpPr/>
          <p:nvPr/>
        </p:nvGrpSpPr>
        <p:grpSpPr>
          <a:xfrm>
            <a:off x="4229735" y="2205355"/>
            <a:ext cx="4578350" cy="2552700"/>
            <a:chOff x="3052" y="1389"/>
            <a:chExt cx="2708" cy="1608"/>
          </a:xfrm>
        </p:grpSpPr>
        <p:sp>
          <p:nvSpPr>
            <p:cNvPr id="40976" name="Text Box 17"/>
            <p:cNvSpPr txBox="1"/>
            <p:nvPr/>
          </p:nvSpPr>
          <p:spPr>
            <a:xfrm>
              <a:off x="3052" y="1389"/>
              <a:ext cx="2708" cy="1608"/>
            </a:xfrm>
            <a:prstGeom prst="rect">
              <a:avLst/>
            </a:prstGeom>
            <a:noFill/>
            <a:ln w="9525">
              <a:noFill/>
            </a:ln>
          </p:spPr>
          <p:txBody>
            <a:bodyPr>
              <a:spAutoFit/>
            </a:bodyPr>
            <a:lstStyle/>
            <a:p>
              <a:r>
                <a:rPr lang="zh-CN" altLang="en-US" sz="2000" dirty="0">
                  <a:solidFill>
                    <a:srgbClr val="FF0066"/>
                  </a:solidFill>
                  <a:latin typeface="Times New Roman" panose="02020603050405020304" pitchFamily="18" charset="0"/>
                </a:rPr>
                <a:t>晶体振荡器的特点</a:t>
              </a:r>
              <a:r>
                <a:rPr lang="zh-CN" altLang="en-US" sz="2000" dirty="0">
                  <a:latin typeface="Times New Roman" panose="02020603050405020304" pitchFamily="18" charset="0"/>
                </a:rPr>
                <a:t>：</a:t>
              </a:r>
              <a:endParaRPr lang="zh-CN" altLang="en-US" sz="2000" dirty="0">
                <a:latin typeface="Times New Roman" panose="02020603050405020304" pitchFamily="18" charset="0"/>
              </a:endParaRPr>
            </a:p>
            <a:p>
              <a:r>
                <a:rPr lang="zh-CN" altLang="en-US" sz="2000" dirty="0">
                  <a:latin typeface="Times New Roman" panose="02020603050405020304" pitchFamily="18" charset="0"/>
                </a:rPr>
                <a:t>（</a:t>
              </a:r>
              <a:r>
                <a:rPr lang="en-US" altLang="zh-CN" sz="2000" dirty="0">
                  <a:latin typeface="Times New Roman" panose="02020603050405020304" pitchFamily="18" charset="0"/>
                </a:rPr>
                <a:t>1</a:t>
              </a:r>
              <a:r>
                <a:rPr lang="zh-CN" altLang="en-US" sz="2000" dirty="0">
                  <a:latin typeface="Times New Roman" panose="02020603050405020304" pitchFamily="18" charset="0"/>
                </a:rPr>
                <a:t>）晶体的谐振频率            很稳定，</a:t>
              </a:r>
              <a:r>
                <a:rPr lang="zh-CN" altLang="en-US" sz="2000" b="1" dirty="0">
                  <a:solidFill>
                    <a:srgbClr val="FF0000"/>
                  </a:solidFill>
                  <a:latin typeface="Times New Roman" panose="02020603050405020304" pitchFamily="18" charset="0"/>
                </a:rPr>
                <a:t>因为晶体参数由其尺寸决定</a:t>
              </a:r>
              <a:r>
                <a:rPr lang="zh-CN" altLang="en-US" sz="2000" dirty="0">
                  <a:latin typeface="Times New Roman" panose="02020603050405020304" pitchFamily="18" charset="0"/>
                </a:rPr>
                <a:t>，受外界因素影响小；</a:t>
              </a:r>
              <a:endParaRPr lang="zh-CN" altLang="en-US" sz="2000" dirty="0">
                <a:latin typeface="Times New Roman" panose="02020603050405020304" pitchFamily="18" charset="0"/>
              </a:endParaRPr>
            </a:p>
            <a:p>
              <a:r>
                <a:rPr lang="zh-CN" altLang="en-US" sz="2000" dirty="0">
                  <a:latin typeface="Times New Roman" panose="02020603050405020304" pitchFamily="18" charset="0"/>
                </a:rPr>
                <a:t>（</a:t>
              </a:r>
              <a:r>
                <a:rPr lang="en-US" altLang="zh-CN" sz="2000" dirty="0">
                  <a:latin typeface="Times New Roman" panose="02020603050405020304" pitchFamily="18" charset="0"/>
                </a:rPr>
                <a:t>2</a:t>
              </a:r>
              <a:r>
                <a:rPr lang="zh-CN" altLang="en-US" sz="2000" dirty="0">
                  <a:latin typeface="Times New Roman" panose="02020603050405020304" pitchFamily="18" charset="0"/>
                </a:rPr>
                <a:t>）品质因素很大；</a:t>
              </a:r>
              <a:endParaRPr lang="zh-CN" altLang="en-US" sz="2000" dirty="0">
                <a:latin typeface="Times New Roman" panose="02020603050405020304" pitchFamily="18" charset="0"/>
              </a:endParaRPr>
            </a:p>
            <a:p>
              <a:r>
                <a:rPr lang="zh-CN" altLang="en-US" sz="2000" dirty="0">
                  <a:latin typeface="Times New Roman" panose="02020603050405020304" pitchFamily="18" charset="0"/>
                </a:rPr>
                <a:t>（</a:t>
              </a:r>
              <a:r>
                <a:rPr lang="en-US" altLang="zh-CN" sz="2000" dirty="0">
                  <a:latin typeface="Times New Roman" panose="02020603050405020304" pitchFamily="18" charset="0"/>
                </a:rPr>
                <a:t>3</a:t>
              </a:r>
              <a:r>
                <a:rPr lang="zh-CN" altLang="en-US" sz="2000" dirty="0">
                  <a:latin typeface="Times New Roman" panose="02020603050405020304" pitchFamily="18" charset="0"/>
                </a:rPr>
                <a:t>）接入系数很小</a:t>
              </a:r>
              <a:endParaRPr lang="zh-CN" altLang="en-US" sz="2000" dirty="0">
                <a:latin typeface="Times New Roman" panose="02020603050405020304" pitchFamily="18" charset="0"/>
              </a:endParaRPr>
            </a:p>
            <a:p>
              <a:r>
                <a:rPr lang="zh-CN" altLang="en-US" sz="2000" dirty="0">
                  <a:latin typeface="Times New Roman" panose="02020603050405020304" pitchFamily="18" charset="0"/>
                </a:rPr>
                <a:t>（</a:t>
              </a:r>
              <a:r>
                <a:rPr lang="en-US" altLang="zh-CN" sz="2000" dirty="0">
                  <a:latin typeface="Times New Roman" panose="02020603050405020304" pitchFamily="18" charset="0"/>
                </a:rPr>
                <a:t>4</a:t>
              </a:r>
              <a:r>
                <a:rPr lang="zh-CN" altLang="en-US" sz="2000" dirty="0">
                  <a:latin typeface="Times New Roman" panose="02020603050405020304" pitchFamily="18" charset="0"/>
                </a:rPr>
                <a:t>）晶体在工作频率附近阻抗变化率很大，有很高的并联谐振阻抗。</a:t>
              </a:r>
              <a:endParaRPr lang="zh-CN" altLang="en-US" sz="2000" dirty="0">
                <a:latin typeface="Times New Roman" panose="02020603050405020304" pitchFamily="18" charset="0"/>
              </a:endParaRPr>
            </a:p>
          </p:txBody>
        </p:sp>
        <p:graphicFrame>
          <p:nvGraphicFramePr>
            <p:cNvPr id="40967" name="Object 18"/>
            <p:cNvGraphicFramePr/>
            <p:nvPr/>
          </p:nvGraphicFramePr>
          <p:xfrm>
            <a:off x="4532" y="1570"/>
            <a:ext cx="408" cy="235"/>
          </p:xfrm>
          <a:graphic>
            <a:graphicData uri="http://schemas.openxmlformats.org/presentationml/2006/ole">
              <mc:AlternateContent xmlns:mc="http://schemas.openxmlformats.org/markup-compatibility/2006">
                <mc:Choice xmlns:v="urn:schemas-microsoft-com:vml" Requires="v">
                  <p:oleObj spid="_x0000_s4" name="" r:id="rId4" imgW="419100" imgH="241300" progId="Equation.DSMT4">
                    <p:embed/>
                  </p:oleObj>
                </mc:Choice>
                <mc:Fallback>
                  <p:oleObj name="" r:id="rId4" imgW="419100" imgH="241300" progId="Equation.DSMT4">
                    <p:embed/>
                    <p:pic>
                      <p:nvPicPr>
                        <p:cNvPr id="0" name="图片 3290"/>
                        <p:cNvPicPr/>
                        <p:nvPr/>
                      </p:nvPicPr>
                      <p:blipFill>
                        <a:blip r:embed="rId5"/>
                        <a:stretch>
                          <a:fillRect/>
                        </a:stretch>
                      </p:blipFill>
                      <p:spPr>
                        <a:xfrm>
                          <a:off x="4532" y="1570"/>
                          <a:ext cx="408" cy="235"/>
                        </a:xfrm>
                        <a:prstGeom prst="rect">
                          <a:avLst/>
                        </a:prstGeom>
                        <a:noFill/>
                        <a:ln w="38100">
                          <a:noFill/>
                          <a:miter/>
                        </a:ln>
                      </p:spPr>
                    </p:pic>
                  </p:oleObj>
                </mc:Fallback>
              </mc:AlternateContent>
            </a:graphicData>
          </a:graphic>
        </p:graphicFrame>
      </p:grpSp>
      <p:sp>
        <p:nvSpPr>
          <p:cNvPr id="399379" name="Text Box 19"/>
          <p:cNvSpPr txBox="1"/>
          <p:nvPr/>
        </p:nvSpPr>
        <p:spPr>
          <a:xfrm>
            <a:off x="4859338" y="5084763"/>
            <a:ext cx="3997325" cy="706755"/>
          </a:xfrm>
          <a:prstGeom prst="rect">
            <a:avLst/>
          </a:prstGeom>
          <a:noFill/>
          <a:ln w="9525">
            <a:noFill/>
          </a:ln>
        </p:spPr>
        <p:txBody>
          <a:bodyPr>
            <a:spAutoFit/>
          </a:bodyPr>
          <a:lstStyle/>
          <a:p>
            <a:r>
              <a:rPr lang="zh-CN" altLang="en-US" sz="2000" dirty="0">
                <a:solidFill>
                  <a:srgbClr val="FF0066"/>
                </a:solidFill>
                <a:latin typeface="Times New Roman" panose="02020603050405020304" pitchFamily="18" charset="0"/>
              </a:rPr>
              <a:t>应用：</a:t>
            </a:r>
            <a:r>
              <a:rPr lang="zh-CN" altLang="en-US" sz="2000" dirty="0">
                <a:latin typeface="Times New Roman" panose="02020603050405020304" pitchFamily="18" charset="0"/>
              </a:rPr>
              <a:t>除了可作振荡器的</a:t>
            </a:r>
            <a:r>
              <a:rPr lang="zh-CN" altLang="en-US" sz="2000" dirty="0">
                <a:solidFill>
                  <a:srgbClr val="FF0066"/>
                </a:solidFill>
                <a:latin typeface="Times New Roman" panose="02020603050405020304" pitchFamily="18" charset="0"/>
              </a:rPr>
              <a:t>振荡回路</a:t>
            </a:r>
            <a:r>
              <a:rPr lang="zh-CN" altLang="en-US" sz="2000" dirty="0">
                <a:latin typeface="Times New Roman" panose="02020603050405020304" pitchFamily="18" charset="0"/>
              </a:rPr>
              <a:t>外，还可以</a:t>
            </a:r>
            <a:r>
              <a:rPr lang="zh-CN" altLang="en-US" sz="2000" dirty="0">
                <a:solidFill>
                  <a:srgbClr val="FF0066"/>
                </a:solidFill>
                <a:latin typeface="Times New Roman" panose="02020603050405020304" pitchFamily="18" charset="0"/>
              </a:rPr>
              <a:t>频率窄带滤波器</a:t>
            </a:r>
            <a:endParaRPr lang="zh-CN" altLang="en-US" sz="2000" dirty="0">
              <a:solidFill>
                <a:srgbClr val="FF0066"/>
              </a:solidFill>
              <a:latin typeface="Times New Roman" panose="02020603050405020304" pitchFamily="18" charset="0"/>
            </a:endParaRPr>
          </a:p>
        </p:txBody>
      </p:sp>
      <p:grpSp>
        <p:nvGrpSpPr>
          <p:cNvPr id="5" name="Group 20"/>
          <p:cNvGrpSpPr/>
          <p:nvPr/>
        </p:nvGrpSpPr>
        <p:grpSpPr>
          <a:xfrm>
            <a:off x="4643438" y="1268413"/>
            <a:ext cx="4249737" cy="814387"/>
            <a:chOff x="2925" y="709"/>
            <a:chExt cx="2677" cy="513"/>
          </a:xfrm>
        </p:grpSpPr>
        <p:sp>
          <p:nvSpPr>
            <p:cNvPr id="40975" name="Text Box 14"/>
            <p:cNvSpPr txBox="1"/>
            <p:nvPr/>
          </p:nvSpPr>
          <p:spPr>
            <a:xfrm>
              <a:off x="2925" y="709"/>
              <a:ext cx="2677" cy="480"/>
            </a:xfrm>
            <a:prstGeom prst="rect">
              <a:avLst/>
            </a:prstGeom>
            <a:noFill/>
            <a:ln w="9525">
              <a:noFill/>
            </a:ln>
          </p:spPr>
          <p:txBody>
            <a:bodyPr>
              <a:spAutoFit/>
            </a:bodyPr>
            <a:lstStyle/>
            <a:p>
              <a:r>
                <a:rPr lang="zh-CN" altLang="en-US" sz="2000" dirty="0">
                  <a:latin typeface="Times New Roman" panose="02020603050405020304" pitchFamily="18" charset="0"/>
                </a:rPr>
                <a:t>当            或          时，回路呈容性；  当                      时，回路呈感性。</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graphicFrame>
          <p:nvGraphicFramePr>
            <p:cNvPr id="40964" name="Object 13"/>
            <p:cNvGraphicFramePr/>
            <p:nvPr/>
          </p:nvGraphicFramePr>
          <p:xfrm>
            <a:off x="3107" y="709"/>
            <a:ext cx="499" cy="279"/>
          </p:xfrm>
          <a:graphic>
            <a:graphicData uri="http://schemas.openxmlformats.org/presentationml/2006/ole">
              <mc:AlternateContent xmlns:mc="http://schemas.openxmlformats.org/markup-compatibility/2006">
                <mc:Choice xmlns:v="urn:schemas-microsoft-com:vml" Requires="v">
                  <p:oleObj spid="_x0000_s6" name="" r:id="rId6" imgW="431800" imgH="241300" progId="Equation.DSMT4">
                    <p:embed/>
                  </p:oleObj>
                </mc:Choice>
                <mc:Fallback>
                  <p:oleObj name="" r:id="rId6" imgW="431800" imgH="241300" progId="Equation.DSMT4">
                    <p:embed/>
                    <p:pic>
                      <p:nvPicPr>
                        <p:cNvPr id="0" name="图片 3287"/>
                        <p:cNvPicPr/>
                        <p:nvPr/>
                      </p:nvPicPr>
                      <p:blipFill>
                        <a:blip r:embed="rId7"/>
                        <a:stretch>
                          <a:fillRect/>
                        </a:stretch>
                      </p:blipFill>
                      <p:spPr>
                        <a:xfrm>
                          <a:off x="3107" y="709"/>
                          <a:ext cx="499" cy="279"/>
                        </a:xfrm>
                        <a:prstGeom prst="rect">
                          <a:avLst/>
                        </a:prstGeom>
                        <a:noFill/>
                        <a:ln w="38100">
                          <a:noFill/>
                          <a:miter/>
                        </a:ln>
                      </p:spPr>
                    </p:pic>
                  </p:oleObj>
                </mc:Fallback>
              </mc:AlternateContent>
            </a:graphicData>
          </a:graphic>
        </p:graphicFrame>
        <p:graphicFrame>
          <p:nvGraphicFramePr>
            <p:cNvPr id="40965" name="Object 12"/>
            <p:cNvGraphicFramePr/>
            <p:nvPr/>
          </p:nvGraphicFramePr>
          <p:xfrm>
            <a:off x="3742" y="709"/>
            <a:ext cx="454" cy="240"/>
          </p:xfrm>
          <a:graphic>
            <a:graphicData uri="http://schemas.openxmlformats.org/presentationml/2006/ole">
              <mc:AlternateContent xmlns:mc="http://schemas.openxmlformats.org/markup-compatibility/2006">
                <mc:Choice xmlns:v="urn:schemas-microsoft-com:vml" Requires="v">
                  <p:oleObj spid="_x0000_s7" name="" r:id="rId8" imgW="431800" imgH="228600" progId="Equation.DSMT4">
                    <p:embed/>
                  </p:oleObj>
                </mc:Choice>
                <mc:Fallback>
                  <p:oleObj name="" r:id="rId8" imgW="431800" imgH="228600" progId="Equation.DSMT4">
                    <p:embed/>
                    <p:pic>
                      <p:nvPicPr>
                        <p:cNvPr id="0" name="图片 3288"/>
                        <p:cNvPicPr/>
                        <p:nvPr/>
                      </p:nvPicPr>
                      <p:blipFill>
                        <a:blip r:embed="rId9"/>
                        <a:stretch>
                          <a:fillRect/>
                        </a:stretch>
                      </p:blipFill>
                      <p:spPr>
                        <a:xfrm>
                          <a:off x="3742" y="709"/>
                          <a:ext cx="454" cy="240"/>
                        </a:xfrm>
                        <a:prstGeom prst="rect">
                          <a:avLst/>
                        </a:prstGeom>
                        <a:noFill/>
                        <a:ln w="38100">
                          <a:noFill/>
                          <a:miter/>
                        </a:ln>
                      </p:spPr>
                    </p:pic>
                  </p:oleObj>
                </mc:Fallback>
              </mc:AlternateContent>
            </a:graphicData>
          </a:graphic>
        </p:graphicFrame>
        <p:graphicFrame>
          <p:nvGraphicFramePr>
            <p:cNvPr id="40966" name="Object 15"/>
            <p:cNvGraphicFramePr/>
            <p:nvPr/>
          </p:nvGraphicFramePr>
          <p:xfrm>
            <a:off x="3152" y="935"/>
            <a:ext cx="862" cy="287"/>
          </p:xfrm>
          <a:graphic>
            <a:graphicData uri="http://schemas.openxmlformats.org/presentationml/2006/ole">
              <mc:AlternateContent xmlns:mc="http://schemas.openxmlformats.org/markup-compatibility/2006">
                <mc:Choice xmlns:v="urn:schemas-microsoft-com:vml" Requires="v">
                  <p:oleObj spid="_x0000_s8" name="" r:id="rId10" imgW="723900" imgH="241300" progId="Equation.DSMT4">
                    <p:embed/>
                  </p:oleObj>
                </mc:Choice>
                <mc:Fallback>
                  <p:oleObj name="" r:id="rId10" imgW="723900" imgH="241300" progId="Equation.DSMT4">
                    <p:embed/>
                    <p:pic>
                      <p:nvPicPr>
                        <p:cNvPr id="0" name="图片 3291"/>
                        <p:cNvPicPr/>
                        <p:nvPr/>
                      </p:nvPicPr>
                      <p:blipFill>
                        <a:blip r:embed="rId11"/>
                        <a:stretch>
                          <a:fillRect/>
                        </a:stretch>
                      </p:blipFill>
                      <p:spPr>
                        <a:xfrm>
                          <a:off x="3152" y="935"/>
                          <a:ext cx="862" cy="287"/>
                        </a:xfrm>
                        <a:prstGeom prst="rect">
                          <a:avLst/>
                        </a:prstGeom>
                        <a:noFill/>
                        <a:ln w="38100">
                          <a:noFill/>
                          <a:miter/>
                        </a:ln>
                      </p:spPr>
                    </p:pic>
                  </p:oleObj>
                </mc:Fallback>
              </mc:AlternateContent>
            </a:graphicData>
          </a:graphic>
        </p:graphicFrame>
      </p:grpSp>
      <p:graphicFrame>
        <p:nvGraphicFramePr>
          <p:cNvPr id="399382" name="Object 22"/>
          <p:cNvGraphicFramePr/>
          <p:nvPr/>
        </p:nvGraphicFramePr>
        <p:xfrm>
          <a:off x="588645" y="4509135"/>
          <a:ext cx="2975610" cy="1283970"/>
        </p:xfrm>
        <a:graphic>
          <a:graphicData uri="http://schemas.openxmlformats.org/presentationml/2006/ole">
            <mc:AlternateContent xmlns:mc="http://schemas.openxmlformats.org/markup-compatibility/2006">
              <mc:Choice xmlns:v="urn:schemas-microsoft-com:vml" Requires="v">
                <p:oleObj spid="_x0000_s9" name="" r:id="rId12" imgW="1637665" imgH="799465" progId="Equation.3">
                  <p:embed/>
                </p:oleObj>
              </mc:Choice>
              <mc:Fallback>
                <p:oleObj name="" r:id="rId12" imgW="1637665" imgH="799465" progId="Equation.3">
                  <p:embed/>
                  <p:pic>
                    <p:nvPicPr>
                      <p:cNvPr id="0" name="图片 3292"/>
                      <p:cNvPicPr/>
                      <p:nvPr/>
                    </p:nvPicPr>
                    <p:blipFill>
                      <a:blip r:embed="rId13"/>
                      <a:stretch>
                        <a:fillRect/>
                      </a:stretch>
                    </p:blipFill>
                    <p:spPr>
                      <a:xfrm>
                        <a:off x="588645" y="4509135"/>
                        <a:ext cx="2975610" cy="1283970"/>
                      </a:xfrm>
                      <a:prstGeom prst="rect">
                        <a:avLst/>
                      </a:prstGeom>
                      <a:noFill/>
                      <a:ln w="38100">
                        <a:noFill/>
                        <a:miter/>
                      </a:ln>
                    </p:spPr>
                  </p:pic>
                </p:oleObj>
              </mc:Fallback>
            </mc:AlternateContent>
          </a:graphicData>
        </a:graphic>
      </p:graphicFrame>
      <p:grpSp>
        <p:nvGrpSpPr>
          <p:cNvPr id="11272" name="Group 40"/>
          <p:cNvGrpSpPr/>
          <p:nvPr/>
        </p:nvGrpSpPr>
        <p:grpSpPr>
          <a:xfrm>
            <a:off x="1979613" y="388938"/>
            <a:ext cx="5334000" cy="519113"/>
            <a:chOff x="1287" y="432"/>
            <a:chExt cx="3360" cy="327"/>
          </a:xfrm>
        </p:grpSpPr>
        <p:sp>
          <p:nvSpPr>
            <p:cNvPr id="11280" name="Rectangle 41"/>
            <p:cNvSpPr/>
            <p:nvPr/>
          </p:nvSpPr>
          <p:spPr>
            <a:xfrm>
              <a:off x="1287" y="43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11281" name="Line 42"/>
            <p:cNvSpPr/>
            <p:nvPr/>
          </p:nvSpPr>
          <p:spPr>
            <a:xfrm>
              <a:off x="1469" y="749"/>
              <a:ext cx="3024" cy="0"/>
            </a:xfrm>
            <a:prstGeom prst="line">
              <a:avLst/>
            </a:prstGeom>
            <a:ln w="57150" cap="flat" cmpd="tri">
              <a:solidFill>
                <a:srgbClr val="FF00FF"/>
              </a:solidFill>
              <a:prstDash val="solid"/>
              <a:headEnd type="none" w="sm" len="sm"/>
              <a:tailEnd type="none" w="sm" len="sm"/>
            </a:ln>
          </p:spPr>
        </p:sp>
      </p:grpSp>
      <p:sp>
        <p:nvSpPr>
          <p:cNvPr id="16" name="矩形标注 15"/>
          <p:cNvSpPr/>
          <p:nvPr/>
        </p:nvSpPr>
        <p:spPr>
          <a:xfrm>
            <a:off x="2268220" y="2205355"/>
            <a:ext cx="1388110" cy="576580"/>
          </a:xfrm>
          <a:prstGeom prst="wedgeRectCallout">
            <a:avLst>
              <a:gd name="adj1" fmla="val -68443"/>
              <a:gd name="adj2" fmla="val 128303"/>
            </a:avLst>
          </a:prstGeom>
          <a:solidFill>
            <a:schemeClr val="accent1">
              <a:alpha val="34000"/>
            </a:schemeClr>
          </a:solidFill>
          <a:ln w="3175" cap="flat" cmpd="dbl" algn="ctr">
            <a:solidFill>
              <a:schemeClr val="accent1">
                <a:shade val="50000"/>
              </a:schemeClr>
            </a:solidFill>
            <a:prstDash val="solid"/>
            <a:round/>
            <a:headEnd type="none" w="med" len="med"/>
            <a:tailEnd type="none" w="med" len="med"/>
          </a:ln>
        </p:spPr>
        <p:txBody>
          <a:bodyPr vert="horz" wrap="square" lIns="91440" tIns="45720" rIns="91440" bIns="45720" numCol="1" anchor="t" anchorCtr="0" compatLnSpc="1"/>
          <a:lstStyle/>
          <a:p>
            <a:pPr marL="0" marR="0" indent="0" algn="ctr" defTabSz="914400" rtl="0" eaLnBrk="1" fontAlgn="base" latinLnBrk="0" hangingPunct="1">
              <a:lnSpc>
                <a:spcPct val="120000"/>
              </a:lnSpc>
              <a:spcBef>
                <a:spcPct val="0"/>
              </a:spcBef>
              <a:spcAft>
                <a:spcPct val="0"/>
              </a:spcAft>
              <a:buClrTx/>
              <a:buSzTx/>
              <a:buFontTx/>
              <a:buNone/>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谐振频率处阻抗变化率大</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spd="med">
    <p:zo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4"/>
          <p:cNvSpPr txBox="1"/>
          <p:nvPr/>
        </p:nvSpPr>
        <p:spPr>
          <a:xfrm>
            <a:off x="950913" y="981075"/>
            <a:ext cx="2317750" cy="457200"/>
          </a:xfrm>
          <a:prstGeom prst="rect">
            <a:avLst/>
          </a:prstGeom>
          <a:noFill/>
          <a:ln w="9525">
            <a:noFill/>
          </a:ln>
        </p:spPr>
        <p:txBody>
          <a:bodyPr wrap="none">
            <a:spAutoFit/>
          </a:bodyPr>
          <a:lstStyle/>
          <a:p>
            <a:r>
              <a:rPr lang="zh-CN" altLang="en-US" dirty="0">
                <a:solidFill>
                  <a:srgbClr val="FF0066"/>
                </a:solidFill>
                <a:latin typeface="Times New Roman" panose="02020603050405020304" pitchFamily="18" charset="0"/>
              </a:rPr>
              <a:t>四、集中滤波器</a:t>
            </a:r>
            <a:endParaRPr lang="zh-CN" altLang="en-US" dirty="0">
              <a:solidFill>
                <a:srgbClr val="FF0066"/>
              </a:solidFill>
              <a:latin typeface="Times New Roman" panose="02020603050405020304" pitchFamily="18" charset="0"/>
            </a:endParaRPr>
          </a:p>
        </p:txBody>
      </p:sp>
      <p:sp>
        <p:nvSpPr>
          <p:cNvPr id="270341" name="Text Box 5"/>
          <p:cNvSpPr txBox="1"/>
          <p:nvPr/>
        </p:nvSpPr>
        <p:spPr>
          <a:xfrm>
            <a:off x="808038" y="1700213"/>
            <a:ext cx="7867650" cy="1187450"/>
          </a:xfrm>
          <a:prstGeom prst="rect">
            <a:avLst/>
          </a:prstGeom>
          <a:noFill/>
          <a:ln w="9525">
            <a:noFill/>
          </a:ln>
        </p:spPr>
        <p:txBody>
          <a:bodyPr>
            <a:spAutoFit/>
          </a:bodyPr>
          <a:lstStyle/>
          <a:p>
            <a:r>
              <a:rPr lang="zh-CN" altLang="en-US" dirty="0">
                <a:latin typeface="Times New Roman" panose="02020603050405020304" pitchFamily="18" charset="0"/>
              </a:rPr>
              <a:t>随着电子技术的发展，高增益、宽频带的高频集成放大器和其他高频处理模块越来越多，应用越来月广泛。因此用集中滤波器作选频电路也已成为大势所趋。</a:t>
            </a:r>
            <a:endParaRPr lang="zh-CN" altLang="en-US" dirty="0">
              <a:latin typeface="Times New Roman" panose="02020603050405020304" pitchFamily="18" charset="0"/>
            </a:endParaRPr>
          </a:p>
        </p:txBody>
      </p:sp>
      <p:sp>
        <p:nvSpPr>
          <p:cNvPr id="270342" name="Text Box 6"/>
          <p:cNvSpPr txBox="1"/>
          <p:nvPr/>
        </p:nvSpPr>
        <p:spPr>
          <a:xfrm>
            <a:off x="827088" y="2997200"/>
            <a:ext cx="7869237" cy="1187450"/>
          </a:xfrm>
          <a:prstGeom prst="rect">
            <a:avLst/>
          </a:prstGeom>
          <a:noFill/>
          <a:ln w="9525">
            <a:noFill/>
          </a:ln>
        </p:spPr>
        <p:txBody>
          <a:bodyPr>
            <a:spAutoFit/>
          </a:bodyPr>
          <a:lstStyle/>
          <a:p>
            <a:r>
              <a:rPr lang="zh-CN" altLang="en-US" dirty="0">
                <a:solidFill>
                  <a:srgbClr val="FF0066"/>
                </a:solidFill>
                <a:latin typeface="Times New Roman" panose="02020603050405020304" pitchFamily="18" charset="0"/>
              </a:rPr>
              <a:t>作用</a:t>
            </a:r>
            <a:r>
              <a:rPr lang="zh-CN" altLang="en-US" dirty="0">
                <a:latin typeface="Times New Roman" panose="02020603050405020304" pitchFamily="18" charset="0"/>
              </a:rPr>
              <a:t>：采用集中选频滤波器，不仅有利于电路和设备的微型化，便于大量生产，而且可以提高电路和系统的稳定性，改善系统性能。</a:t>
            </a:r>
            <a:endParaRPr lang="zh-CN" altLang="en-US" dirty="0">
              <a:latin typeface="Times New Roman" panose="02020603050405020304" pitchFamily="18" charset="0"/>
            </a:endParaRPr>
          </a:p>
        </p:txBody>
      </p:sp>
      <p:sp>
        <p:nvSpPr>
          <p:cNvPr id="270343" name="Text Box 7"/>
          <p:cNvSpPr txBox="1"/>
          <p:nvPr/>
        </p:nvSpPr>
        <p:spPr>
          <a:xfrm>
            <a:off x="900113" y="4508500"/>
            <a:ext cx="7632700" cy="1198880"/>
          </a:xfrm>
          <a:prstGeom prst="rect">
            <a:avLst/>
          </a:prstGeom>
          <a:noFill/>
          <a:ln w="9525">
            <a:noFill/>
          </a:ln>
        </p:spPr>
        <p:txBody>
          <a:bodyPr>
            <a:spAutoFit/>
          </a:bodyPr>
          <a:lstStyle/>
          <a:p>
            <a:r>
              <a:rPr lang="zh-CN" altLang="en-US" dirty="0">
                <a:solidFill>
                  <a:srgbClr val="FF0066"/>
                </a:solidFill>
                <a:latin typeface="Times New Roman" panose="02020603050405020304" pitchFamily="18" charset="0"/>
              </a:rPr>
              <a:t>种类</a:t>
            </a:r>
            <a:r>
              <a:rPr lang="zh-CN" altLang="en-US" dirty="0">
                <a:latin typeface="Times New Roman" panose="02020603050405020304" pitchFamily="18" charset="0"/>
              </a:rPr>
              <a:t>：高频电路中常用的集中滤波器主要有（</a:t>
            </a:r>
            <a:r>
              <a:rPr lang="en-US" altLang="zh-CN" dirty="0">
                <a:latin typeface="Times New Roman" panose="02020603050405020304" pitchFamily="18" charset="0"/>
              </a:rPr>
              <a:t>1</a:t>
            </a:r>
            <a:r>
              <a:rPr lang="zh-CN" altLang="en-US" dirty="0">
                <a:latin typeface="Times New Roman" panose="02020603050405020304" pitchFamily="18" charset="0"/>
              </a:rPr>
              <a:t>）</a:t>
            </a:r>
            <a:r>
              <a:rPr lang="en-US" altLang="zh-CN" dirty="0">
                <a:latin typeface="Times New Roman" panose="02020603050405020304" pitchFamily="18" charset="0"/>
              </a:rPr>
              <a:t>LC</a:t>
            </a:r>
            <a:r>
              <a:rPr lang="zh-CN" altLang="en-US" dirty="0">
                <a:latin typeface="Times New Roman" panose="02020603050405020304" pitchFamily="18" charset="0"/>
              </a:rPr>
              <a:t>式集中选频滤波器，（</a:t>
            </a:r>
            <a:r>
              <a:rPr lang="en-US" altLang="zh-CN" dirty="0">
                <a:latin typeface="Times New Roman" panose="02020603050405020304" pitchFamily="18" charset="0"/>
              </a:rPr>
              <a:t>2</a:t>
            </a:r>
            <a:r>
              <a:rPr lang="zh-CN" altLang="en-US" dirty="0">
                <a:latin typeface="Times New Roman" panose="02020603050405020304" pitchFamily="18" charset="0"/>
              </a:rPr>
              <a:t>）晶体滤波器，（</a:t>
            </a:r>
            <a:r>
              <a:rPr lang="en-US" altLang="zh-CN" dirty="0">
                <a:latin typeface="Times New Roman" panose="02020603050405020304" pitchFamily="18" charset="0"/>
              </a:rPr>
              <a:t>3</a:t>
            </a:r>
            <a:r>
              <a:rPr lang="zh-CN" altLang="en-US" dirty="0">
                <a:latin typeface="Times New Roman" panose="02020603050405020304" pitchFamily="18" charset="0"/>
              </a:rPr>
              <a:t>）陶瓷滤波器和（</a:t>
            </a:r>
            <a:r>
              <a:rPr lang="en-US" altLang="zh-CN" dirty="0">
                <a:latin typeface="Times New Roman" panose="02020603050405020304" pitchFamily="18" charset="0"/>
              </a:rPr>
              <a:t>4</a:t>
            </a:r>
            <a:r>
              <a:rPr lang="zh-CN" altLang="en-US" dirty="0">
                <a:latin typeface="Times New Roman" panose="02020603050405020304" pitchFamily="18" charset="0"/>
              </a:rPr>
              <a:t>）声表面波滤波器。</a:t>
            </a:r>
            <a:endParaRPr lang="zh-CN" altLang="en-US" dirty="0">
              <a:latin typeface="Times New Roman" panose="02020603050405020304" pitchFamily="18" charset="0"/>
            </a:endParaRPr>
          </a:p>
        </p:txBody>
      </p:sp>
      <p:grpSp>
        <p:nvGrpSpPr>
          <p:cNvPr id="11272" name="Group 40"/>
          <p:cNvGrpSpPr/>
          <p:nvPr/>
        </p:nvGrpSpPr>
        <p:grpSpPr>
          <a:xfrm>
            <a:off x="1979613" y="388938"/>
            <a:ext cx="5334000" cy="519113"/>
            <a:chOff x="1287" y="432"/>
            <a:chExt cx="3360" cy="327"/>
          </a:xfrm>
        </p:grpSpPr>
        <p:sp>
          <p:nvSpPr>
            <p:cNvPr id="11280" name="Rectangle 41"/>
            <p:cNvSpPr/>
            <p:nvPr/>
          </p:nvSpPr>
          <p:spPr>
            <a:xfrm>
              <a:off x="1287" y="43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11281" name="Line 42"/>
            <p:cNvSpPr/>
            <p:nvPr/>
          </p:nvSpPr>
          <p:spPr>
            <a:xfrm>
              <a:off x="1469" y="749"/>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5"/>
          <p:cNvGrpSpPr/>
          <p:nvPr/>
        </p:nvGrpSpPr>
        <p:grpSpPr>
          <a:xfrm>
            <a:off x="3563938" y="2565400"/>
            <a:ext cx="4876800" cy="1693863"/>
            <a:chOff x="2200" y="1525"/>
            <a:chExt cx="3072" cy="1067"/>
          </a:xfrm>
        </p:grpSpPr>
        <p:graphicFrame>
          <p:nvGraphicFramePr>
            <p:cNvPr id="41986" name="Object 4"/>
            <p:cNvGraphicFramePr/>
            <p:nvPr/>
          </p:nvGraphicFramePr>
          <p:xfrm>
            <a:off x="2200" y="1525"/>
            <a:ext cx="3072" cy="862"/>
          </p:xfrm>
          <a:graphic>
            <a:graphicData uri="http://schemas.openxmlformats.org/presentationml/2006/ole">
              <mc:AlternateContent xmlns:mc="http://schemas.openxmlformats.org/markup-compatibility/2006">
                <mc:Choice xmlns:v="urn:schemas-microsoft-com:vml" Requires="v">
                  <p:oleObj spid="_x0000_s3" name="" r:id="rId1" imgW="2753995" imgH="772795" progId="Visio.Drawing.4">
                    <p:embed/>
                  </p:oleObj>
                </mc:Choice>
                <mc:Fallback>
                  <p:oleObj name="" r:id="rId1" imgW="2753995" imgH="772795" progId="Visio.Drawing.4">
                    <p:embed/>
                    <p:pic>
                      <p:nvPicPr>
                        <p:cNvPr id="0" name="图片 3303"/>
                        <p:cNvPicPr/>
                        <p:nvPr/>
                      </p:nvPicPr>
                      <p:blipFill>
                        <a:blip r:embed="rId2"/>
                        <a:stretch>
                          <a:fillRect/>
                        </a:stretch>
                      </p:blipFill>
                      <p:spPr>
                        <a:xfrm>
                          <a:off x="2200" y="1525"/>
                          <a:ext cx="3072" cy="862"/>
                        </a:xfrm>
                        <a:prstGeom prst="rect">
                          <a:avLst/>
                        </a:prstGeom>
                        <a:noFill/>
                        <a:ln w="38100">
                          <a:noFill/>
                          <a:miter/>
                        </a:ln>
                      </p:spPr>
                    </p:pic>
                  </p:oleObj>
                </mc:Fallback>
              </mc:AlternateContent>
            </a:graphicData>
          </a:graphic>
        </p:graphicFrame>
        <p:sp>
          <p:nvSpPr>
            <p:cNvPr id="41998" name="Text Box 5"/>
            <p:cNvSpPr txBox="1"/>
            <p:nvPr/>
          </p:nvSpPr>
          <p:spPr>
            <a:xfrm>
              <a:off x="3066" y="2341"/>
              <a:ext cx="1340" cy="251"/>
            </a:xfrm>
            <a:prstGeom prst="rect">
              <a:avLst/>
            </a:prstGeom>
            <a:noFill/>
            <a:ln w="9525">
              <a:noFill/>
            </a:ln>
          </p:spPr>
          <p:txBody>
            <a:bodyPr wrap="square">
              <a:spAutoFit/>
            </a:bodyPr>
            <a:lstStyle/>
            <a:p>
              <a:pPr>
                <a:spcBef>
                  <a:spcPct val="50000"/>
                </a:spcBef>
              </a:pPr>
              <a:r>
                <a:rPr lang="en-US" altLang="zh-CN" sz="2000" dirty="0">
                  <a:latin typeface="Times New Roman" panose="02020603050405020304" pitchFamily="18" charset="0"/>
                </a:rPr>
                <a:t>  T</a:t>
              </a:r>
              <a:r>
                <a:rPr lang="zh-CN" altLang="en-US" sz="2000" dirty="0">
                  <a:latin typeface="Times New Roman" panose="02020603050405020304" pitchFamily="18" charset="0"/>
                </a:rPr>
                <a:t>型和</a:t>
              </a:r>
              <a:r>
                <a:rPr lang="en-US" altLang="zh-CN" sz="2000" dirty="0">
                  <a:latin typeface="Times New Roman" panose="02020603050405020304" pitchFamily="18" charset="0"/>
                </a:rPr>
                <a:t>Π</a:t>
              </a:r>
              <a:r>
                <a:rPr lang="zh-CN" altLang="en-US" sz="2000" dirty="0">
                  <a:latin typeface="Times New Roman" panose="02020603050405020304" pitchFamily="18" charset="0"/>
                </a:rPr>
                <a:t>型网络 </a:t>
              </a:r>
              <a:endParaRPr lang="zh-CN" altLang="en-US" sz="2000" dirty="0">
                <a:latin typeface="Times New Roman" panose="02020603050405020304" pitchFamily="18" charset="0"/>
              </a:endParaRPr>
            </a:p>
          </p:txBody>
        </p:sp>
      </p:grpSp>
      <p:sp>
        <p:nvSpPr>
          <p:cNvPr id="41988" name="Text Box 9"/>
          <p:cNvSpPr txBox="1"/>
          <p:nvPr/>
        </p:nvSpPr>
        <p:spPr>
          <a:xfrm>
            <a:off x="684213" y="1125538"/>
            <a:ext cx="2542540" cy="570865"/>
          </a:xfrm>
          <a:prstGeom prst="rect">
            <a:avLst/>
          </a:prstGeom>
          <a:noFill/>
          <a:ln w="9525">
            <a:noFill/>
          </a:ln>
        </p:spPr>
        <p:txBody>
          <a:bodyPr wrap="none">
            <a:spAutoFit/>
          </a:bodyPr>
          <a:lstStyle/>
          <a:p>
            <a:pPr>
              <a:lnSpc>
                <a:spcPct val="130000"/>
              </a:lnSpc>
              <a:spcBef>
                <a:spcPct val="20000"/>
              </a:spcBef>
            </a:pPr>
            <a:r>
              <a:rPr lang="en-US" altLang="zh-CN" sz="2000" b="1" dirty="0">
                <a:solidFill>
                  <a:schemeClr val="accent2"/>
                </a:solidFill>
                <a:latin typeface="Times New Roman" panose="02020603050405020304" pitchFamily="18" charset="0"/>
              </a:rPr>
              <a:t>（1） </a:t>
            </a:r>
            <a:r>
              <a:rPr lang="zh-CN" altLang="en-US" sz="2000" b="1" dirty="0">
                <a:solidFill>
                  <a:schemeClr val="accent2"/>
                </a:solidFill>
                <a:latin typeface="Times New Roman" panose="02020603050405020304" pitchFamily="18" charset="0"/>
              </a:rPr>
              <a:t>高频衰减器</a:t>
            </a:r>
            <a:r>
              <a:rPr lang="zh-CN" altLang="en-US" b="1" dirty="0">
                <a:latin typeface="Times New Roman" panose="02020603050405020304" pitchFamily="18" charset="0"/>
              </a:rPr>
              <a:t> </a:t>
            </a:r>
            <a:endParaRPr lang="zh-CN" altLang="en-US" b="1" dirty="0">
              <a:latin typeface="Times New Roman" panose="02020603050405020304" pitchFamily="18" charset="0"/>
            </a:endParaRPr>
          </a:p>
        </p:txBody>
      </p:sp>
      <p:sp>
        <p:nvSpPr>
          <p:cNvPr id="41989" name="Text Box 11"/>
          <p:cNvSpPr txBox="1"/>
          <p:nvPr/>
        </p:nvSpPr>
        <p:spPr>
          <a:xfrm>
            <a:off x="611188" y="885825"/>
            <a:ext cx="4394200" cy="398780"/>
          </a:xfrm>
          <a:prstGeom prst="rect">
            <a:avLst/>
          </a:prstGeom>
          <a:noFill/>
          <a:ln w="9525">
            <a:noFill/>
          </a:ln>
        </p:spPr>
        <p:txBody>
          <a:bodyPr wrap="none">
            <a:spAutoFit/>
          </a:bodyPr>
          <a:lstStyle/>
          <a:p>
            <a:r>
              <a:rPr lang="zh-CN" altLang="en-US" sz="2000" b="1" dirty="0">
                <a:solidFill>
                  <a:srgbClr val="FF0066"/>
                </a:solidFill>
                <a:latin typeface="Times New Roman" panose="02020603050405020304" pitchFamily="18" charset="0"/>
              </a:rPr>
              <a:t>五</a:t>
            </a:r>
            <a:r>
              <a:rPr lang="en-US" altLang="zh-CN" sz="2000" b="1" dirty="0">
                <a:solidFill>
                  <a:srgbClr val="FF0066"/>
                </a:solidFill>
                <a:latin typeface="Times New Roman" panose="02020603050405020304" pitchFamily="18" charset="0"/>
              </a:rPr>
              <a:t>. </a:t>
            </a:r>
            <a:r>
              <a:rPr lang="zh-CN" altLang="en-US" sz="2000" b="1" dirty="0">
                <a:solidFill>
                  <a:srgbClr val="FF0066"/>
                </a:solidFill>
                <a:latin typeface="Times New Roman" panose="02020603050405020304" pitchFamily="18" charset="0"/>
              </a:rPr>
              <a:t>衰减器与匹配器（选频匹配网络）</a:t>
            </a:r>
            <a:endParaRPr lang="zh-CN" altLang="en-US" sz="2000" b="1" dirty="0">
              <a:solidFill>
                <a:srgbClr val="FF0066"/>
              </a:solidFill>
              <a:latin typeface="Times New Roman" panose="02020603050405020304" pitchFamily="18" charset="0"/>
            </a:endParaRPr>
          </a:p>
        </p:txBody>
      </p:sp>
      <p:sp>
        <p:nvSpPr>
          <p:cNvPr id="52236" name="Text Box 12"/>
          <p:cNvSpPr txBox="1"/>
          <p:nvPr/>
        </p:nvSpPr>
        <p:spPr>
          <a:xfrm>
            <a:off x="684213" y="1593215"/>
            <a:ext cx="6280150" cy="396875"/>
          </a:xfrm>
          <a:prstGeom prst="rect">
            <a:avLst/>
          </a:prstGeom>
          <a:noFill/>
          <a:ln w="9525">
            <a:noFill/>
          </a:ln>
        </p:spPr>
        <p:txBody>
          <a:bodyPr wrap="none">
            <a:spAutoFit/>
          </a:bodyPr>
          <a:lstStyle/>
          <a:p>
            <a:r>
              <a:rPr lang="zh-CN" altLang="en-US" sz="2000" dirty="0">
                <a:latin typeface="Times New Roman" panose="02020603050405020304" pitchFamily="18" charset="0"/>
              </a:rPr>
              <a:t>作用：通过高频衰减器可以</a:t>
            </a:r>
            <a:r>
              <a:rPr lang="zh-CN" altLang="en-US" sz="2000" dirty="0">
                <a:solidFill>
                  <a:srgbClr val="FF0066"/>
                </a:solidFill>
                <a:latin typeface="Times New Roman" panose="02020603050405020304" pitchFamily="18" charset="0"/>
              </a:rPr>
              <a:t>调整传输通路上的信号电平</a:t>
            </a:r>
            <a:endParaRPr lang="zh-CN" altLang="en-US" sz="2000" dirty="0">
              <a:solidFill>
                <a:srgbClr val="FF0066"/>
              </a:solidFill>
              <a:latin typeface="Times New Roman" panose="02020603050405020304" pitchFamily="18" charset="0"/>
            </a:endParaRPr>
          </a:p>
        </p:txBody>
      </p:sp>
      <p:sp>
        <p:nvSpPr>
          <p:cNvPr id="52237" name="Text Box 13"/>
          <p:cNvSpPr txBox="1"/>
          <p:nvPr/>
        </p:nvSpPr>
        <p:spPr>
          <a:xfrm>
            <a:off x="663575" y="2061210"/>
            <a:ext cx="5516880" cy="398780"/>
          </a:xfrm>
          <a:prstGeom prst="rect">
            <a:avLst/>
          </a:prstGeom>
          <a:noFill/>
          <a:ln w="9525">
            <a:noFill/>
          </a:ln>
        </p:spPr>
        <p:txBody>
          <a:bodyPr wrap="none">
            <a:spAutoFit/>
          </a:bodyPr>
          <a:lstStyle/>
          <a:p>
            <a:r>
              <a:rPr lang="zh-CN" altLang="en-US" sz="2000" dirty="0">
                <a:latin typeface="Times New Roman" panose="02020603050405020304" pitchFamily="18" charset="0"/>
              </a:rPr>
              <a:t>分类：固定衰减器、可变衰减器（程控衰减器）</a:t>
            </a:r>
            <a:endParaRPr lang="zh-CN" altLang="en-US" sz="2000" dirty="0">
              <a:latin typeface="Times New Roman" panose="02020603050405020304" pitchFamily="18" charset="0"/>
            </a:endParaRPr>
          </a:p>
        </p:txBody>
      </p:sp>
      <p:sp>
        <p:nvSpPr>
          <p:cNvPr id="52238" name="Text Box 14"/>
          <p:cNvSpPr txBox="1"/>
          <p:nvPr/>
        </p:nvSpPr>
        <p:spPr>
          <a:xfrm>
            <a:off x="827723" y="2741930"/>
            <a:ext cx="2736850" cy="1006475"/>
          </a:xfrm>
          <a:prstGeom prst="rect">
            <a:avLst/>
          </a:prstGeom>
          <a:noFill/>
          <a:ln w="9525">
            <a:noFill/>
          </a:ln>
        </p:spPr>
        <p:txBody>
          <a:bodyPr>
            <a:spAutoFit/>
          </a:bodyPr>
          <a:lstStyle/>
          <a:p>
            <a:pPr>
              <a:spcBef>
                <a:spcPct val="50000"/>
              </a:spcBef>
            </a:pPr>
            <a:r>
              <a:rPr lang="zh-CN" altLang="en-US" sz="2000" dirty="0">
                <a:latin typeface="Times New Roman" panose="02020603050405020304" pitchFamily="18" charset="0"/>
              </a:rPr>
              <a:t>常见的固定衰减器有：</a:t>
            </a:r>
            <a:r>
              <a:rPr lang="en-US" altLang="zh-CN" sz="2000" dirty="0">
                <a:latin typeface="Times New Roman" panose="02020603050405020304" pitchFamily="18" charset="0"/>
              </a:rPr>
              <a:t>T</a:t>
            </a:r>
            <a:r>
              <a:rPr lang="zh-CN" altLang="en-US" sz="2000" dirty="0">
                <a:latin typeface="Times New Roman" panose="02020603050405020304" pitchFamily="18" charset="0"/>
              </a:rPr>
              <a:t>型，</a:t>
            </a:r>
            <a:r>
              <a:rPr lang="el-GR" altLang="zh-CN" sz="2000" dirty="0">
                <a:latin typeface="宋体" panose="02010600030101010101" pitchFamily="2" charset="-122"/>
              </a:rPr>
              <a:t>Π</a:t>
            </a:r>
            <a:r>
              <a:rPr lang="zh-CN" altLang="el-GR" sz="2000" dirty="0">
                <a:latin typeface="宋体" panose="02010600030101010101" pitchFamily="2" charset="-122"/>
              </a:rPr>
              <a:t>型，</a:t>
            </a:r>
            <a:r>
              <a:rPr lang="el-GR" altLang="zh-CN" sz="2000" dirty="0">
                <a:latin typeface="宋体" panose="02010600030101010101" pitchFamily="2" charset="-122"/>
              </a:rPr>
              <a:t>O</a:t>
            </a:r>
            <a:r>
              <a:rPr lang="zh-CN" altLang="el-GR" sz="2000" dirty="0">
                <a:latin typeface="宋体" panose="02010600030101010101" pitchFamily="2" charset="-122"/>
              </a:rPr>
              <a:t>型，</a:t>
            </a:r>
            <a:r>
              <a:rPr lang="el-GR" altLang="zh-CN" sz="2000" dirty="0">
                <a:latin typeface="宋体" panose="02010600030101010101" pitchFamily="2" charset="-122"/>
              </a:rPr>
              <a:t>L</a:t>
            </a:r>
            <a:r>
              <a:rPr lang="zh-CN" altLang="el-GR" sz="2000" dirty="0">
                <a:latin typeface="宋体" panose="02010600030101010101" pitchFamily="2" charset="-122"/>
              </a:rPr>
              <a:t>型衰减器等，如图所示。</a:t>
            </a:r>
            <a:endParaRPr lang="el-GR" altLang="zh-CN" sz="2000" dirty="0">
              <a:latin typeface="宋体" panose="02010600030101010101" pitchFamily="2" charset="-122"/>
            </a:endParaRPr>
          </a:p>
        </p:txBody>
      </p:sp>
      <p:sp>
        <p:nvSpPr>
          <p:cNvPr id="52240" name="Text Box 16"/>
          <p:cNvSpPr txBox="1"/>
          <p:nvPr/>
        </p:nvSpPr>
        <p:spPr>
          <a:xfrm>
            <a:off x="612140" y="4005263"/>
            <a:ext cx="2096770" cy="398780"/>
          </a:xfrm>
          <a:prstGeom prst="rect">
            <a:avLst/>
          </a:prstGeom>
          <a:noFill/>
          <a:ln w="9525">
            <a:noFill/>
          </a:ln>
        </p:spPr>
        <p:txBody>
          <a:bodyPr wrap="none">
            <a:spAutoFit/>
          </a:bodyPr>
          <a:lstStyle/>
          <a:p>
            <a:r>
              <a:rPr lang="zh-CN" altLang="en-US" sz="2000" b="1" dirty="0">
                <a:solidFill>
                  <a:schemeClr val="accent2"/>
                </a:solidFill>
                <a:latin typeface="Times New Roman" panose="02020603050405020304" pitchFamily="18" charset="0"/>
              </a:rPr>
              <a:t>（</a:t>
            </a:r>
            <a:r>
              <a:rPr lang="en-US" altLang="zh-CN" sz="2000" b="1" dirty="0">
                <a:solidFill>
                  <a:schemeClr val="accent2"/>
                </a:solidFill>
                <a:latin typeface="Times New Roman" panose="02020603050405020304" pitchFamily="18" charset="0"/>
              </a:rPr>
              <a:t>2</a:t>
            </a:r>
            <a:r>
              <a:rPr lang="zh-CN" altLang="en-US" sz="2000" b="1" dirty="0">
                <a:solidFill>
                  <a:schemeClr val="accent2"/>
                </a:solidFill>
                <a:latin typeface="Times New Roman" panose="02020603050405020304" pitchFamily="18" charset="0"/>
              </a:rPr>
              <a:t>）高频匹配器</a:t>
            </a:r>
            <a:endParaRPr lang="zh-CN" altLang="en-US" sz="2000" b="1" dirty="0">
              <a:solidFill>
                <a:schemeClr val="accent2"/>
              </a:solidFill>
              <a:latin typeface="Times New Roman" panose="02020603050405020304" pitchFamily="18" charset="0"/>
            </a:endParaRPr>
          </a:p>
        </p:txBody>
      </p:sp>
      <p:sp>
        <p:nvSpPr>
          <p:cNvPr id="52241" name="Text Box 17"/>
          <p:cNvSpPr txBox="1"/>
          <p:nvPr/>
        </p:nvSpPr>
        <p:spPr>
          <a:xfrm>
            <a:off x="684213" y="4509135"/>
            <a:ext cx="6069012" cy="1014730"/>
          </a:xfrm>
          <a:prstGeom prst="rect">
            <a:avLst/>
          </a:prstGeom>
          <a:noFill/>
          <a:ln w="9525">
            <a:noFill/>
          </a:ln>
        </p:spPr>
        <p:txBody>
          <a:bodyPr>
            <a:spAutoFit/>
          </a:bodyPr>
          <a:lstStyle/>
          <a:p>
            <a:r>
              <a:rPr lang="zh-CN" altLang="en-US" sz="2000" dirty="0">
                <a:latin typeface="Times New Roman" panose="02020603050405020304" pitchFamily="18" charset="0"/>
              </a:rPr>
              <a:t>如果需要相连接的两部分高频电路阻抗匹配，则可以直接相连。但是如果阻抗不匹配，就需要用高频匹配器或阻抗变换器来连接。</a:t>
            </a:r>
            <a:endParaRPr lang="zh-CN" altLang="en-US" sz="2000" dirty="0">
              <a:latin typeface="Times New Roman" panose="02020603050405020304" pitchFamily="18" charset="0"/>
            </a:endParaRPr>
          </a:p>
        </p:txBody>
      </p:sp>
      <p:grpSp>
        <p:nvGrpSpPr>
          <p:cNvPr id="41995" name="Group 18"/>
          <p:cNvGrpSpPr/>
          <p:nvPr/>
        </p:nvGrpSpPr>
        <p:grpSpPr>
          <a:xfrm>
            <a:off x="1763713" y="346710"/>
            <a:ext cx="5334000" cy="546100"/>
            <a:chOff x="1378" y="410"/>
            <a:chExt cx="3360" cy="344"/>
          </a:xfrm>
        </p:grpSpPr>
        <p:sp>
          <p:nvSpPr>
            <p:cNvPr id="41996" name="Rectangle 19"/>
            <p:cNvSpPr/>
            <p:nvPr/>
          </p:nvSpPr>
          <p:spPr>
            <a:xfrm>
              <a:off x="1378" y="410"/>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2.2  </a:t>
              </a:r>
              <a:r>
                <a:rPr lang="zh-CN" altLang="en-US" sz="2800" b="1" dirty="0">
                  <a:solidFill>
                    <a:schemeClr val="accent2"/>
                  </a:solidFill>
                  <a:latin typeface="Times New Roman" panose="02020603050405020304" pitchFamily="18" charset="0"/>
                </a:rPr>
                <a:t>高频电路中的基本电路</a:t>
              </a:r>
              <a:endParaRPr lang="zh-CN" altLang="en-US" sz="2800" b="1" dirty="0">
                <a:solidFill>
                  <a:schemeClr val="accent2"/>
                </a:solidFill>
                <a:latin typeface="Times New Roman" panose="02020603050405020304" pitchFamily="18" charset="0"/>
              </a:endParaRPr>
            </a:p>
          </p:txBody>
        </p:sp>
        <p:sp>
          <p:nvSpPr>
            <p:cNvPr id="41997" name="Line 20"/>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9" name="Text Box 11"/>
          <p:cNvSpPr txBox="1"/>
          <p:nvPr/>
        </p:nvSpPr>
        <p:spPr>
          <a:xfrm>
            <a:off x="323533" y="476885"/>
            <a:ext cx="5232400" cy="460375"/>
          </a:xfrm>
          <a:prstGeom prst="rect">
            <a:avLst/>
          </a:prstGeom>
          <a:noFill/>
          <a:ln w="9525">
            <a:noFill/>
          </a:ln>
        </p:spPr>
        <p:txBody>
          <a:bodyPr wrap="none">
            <a:spAutoFit/>
          </a:bodyPr>
          <a:lstStyle/>
          <a:p>
            <a:r>
              <a:rPr lang="zh-CN" altLang="en-US" b="1" dirty="0">
                <a:solidFill>
                  <a:srgbClr val="FF0066"/>
                </a:solidFill>
                <a:latin typeface="Times New Roman" panose="02020603050405020304" pitchFamily="18" charset="0"/>
              </a:rPr>
              <a:t>五</a:t>
            </a:r>
            <a:r>
              <a:rPr lang="en-US" altLang="zh-CN" b="1" dirty="0">
                <a:solidFill>
                  <a:srgbClr val="FF0066"/>
                </a:solidFill>
                <a:latin typeface="Times New Roman" panose="02020603050405020304" pitchFamily="18" charset="0"/>
              </a:rPr>
              <a:t>. </a:t>
            </a:r>
            <a:r>
              <a:rPr lang="zh-CN" altLang="en-US" b="1" dirty="0">
                <a:solidFill>
                  <a:srgbClr val="FF0066"/>
                </a:solidFill>
                <a:latin typeface="Times New Roman" panose="02020603050405020304" pitchFamily="18" charset="0"/>
              </a:rPr>
              <a:t>衰减器与匹配器（选频匹配网络）</a:t>
            </a:r>
            <a:endParaRPr lang="zh-CN" altLang="en-US" b="1" dirty="0">
              <a:solidFill>
                <a:srgbClr val="FF0066"/>
              </a:solidFill>
              <a:latin typeface="Times New Roman" panose="02020603050405020304" pitchFamily="18" charset="0"/>
            </a:endParaRPr>
          </a:p>
        </p:txBody>
      </p:sp>
      <p:sp>
        <p:nvSpPr>
          <p:cNvPr id="52240" name="Text Box 16"/>
          <p:cNvSpPr txBox="1"/>
          <p:nvPr/>
        </p:nvSpPr>
        <p:spPr>
          <a:xfrm>
            <a:off x="323850" y="944563"/>
            <a:ext cx="4823460" cy="460375"/>
          </a:xfrm>
          <a:prstGeom prst="rect">
            <a:avLst/>
          </a:prstGeom>
          <a:noFill/>
          <a:ln w="9525">
            <a:noFill/>
          </a:ln>
        </p:spPr>
        <p:txBody>
          <a:bodyPr wrap="none">
            <a:spAutoFit/>
          </a:bodyPr>
          <a:lstStyle/>
          <a:p>
            <a:pPr algn="l"/>
            <a:r>
              <a:rPr lang="zh-CN" altLang="en-US" b="1" dirty="0">
                <a:solidFill>
                  <a:schemeClr val="accent2"/>
                </a:solidFill>
                <a:latin typeface="Times New Roman" panose="02020603050405020304" pitchFamily="18" charset="0"/>
              </a:rPr>
              <a:t>（</a:t>
            </a:r>
            <a:r>
              <a:rPr lang="en-US" altLang="zh-CN" b="1" dirty="0">
                <a:solidFill>
                  <a:schemeClr val="accent2"/>
                </a:solidFill>
                <a:latin typeface="Times New Roman" panose="02020603050405020304" pitchFamily="18" charset="0"/>
              </a:rPr>
              <a:t>2</a:t>
            </a:r>
            <a:r>
              <a:rPr lang="zh-CN" altLang="en-US" b="1" dirty="0">
                <a:solidFill>
                  <a:schemeClr val="accent2"/>
                </a:solidFill>
                <a:latin typeface="Times New Roman" panose="02020603050405020304" pitchFamily="18" charset="0"/>
              </a:rPr>
              <a:t>）高频匹配器（</a:t>
            </a:r>
            <a:r>
              <a:rPr lang="zh-CN" altLang="en-US" b="1" dirty="0">
                <a:solidFill>
                  <a:schemeClr val="accent2"/>
                </a:solidFill>
                <a:sym typeface="+mn-ea"/>
              </a:rPr>
              <a:t>L型匹配网络</a:t>
            </a:r>
            <a:r>
              <a:rPr lang="zh-CN" altLang="en-US" b="1" dirty="0">
                <a:solidFill>
                  <a:schemeClr val="accent2"/>
                </a:solidFill>
                <a:latin typeface="Times New Roman" panose="02020603050405020304" pitchFamily="18" charset="0"/>
              </a:rPr>
              <a:t>）</a:t>
            </a:r>
            <a:endParaRPr lang="zh-CN" altLang="en-US" b="1" dirty="0">
              <a:solidFill>
                <a:schemeClr val="accent2"/>
              </a:solidFill>
              <a:latin typeface="Times New Roman" panose="02020603050405020304" pitchFamily="18" charset="0"/>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rcRect b="21978"/>
          <a:stretch>
            <a:fillRect/>
          </a:stretch>
        </p:blipFill>
        <p:spPr>
          <a:xfrm>
            <a:off x="6228080" y="908685"/>
            <a:ext cx="2420620" cy="1508125"/>
          </a:xfrm>
          <a:prstGeom prst="rect">
            <a:avLst/>
          </a:prstGeom>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rcRect b="23479"/>
          <a:stretch>
            <a:fillRect/>
          </a:stretch>
        </p:blipFill>
        <p:spPr>
          <a:xfrm>
            <a:off x="6228080" y="2708910"/>
            <a:ext cx="2345690" cy="1293495"/>
          </a:xfrm>
          <a:prstGeom prst="rect">
            <a:avLst/>
          </a:prstGeom>
        </p:spPr>
      </p:pic>
      <p:pic>
        <p:nvPicPr>
          <p:cNvPr id="2" name="图片 1"/>
          <p:cNvPicPr>
            <a:picLocks noChangeAspect="1" noChangeArrowheads="1"/>
          </p:cNvPicPr>
          <p:nvPr/>
        </p:nvPicPr>
        <p:blipFill>
          <a:blip r:embed="rId3"/>
          <a:srcRect/>
          <a:stretch>
            <a:fillRect/>
          </a:stretch>
        </p:blipFill>
        <p:spPr bwMode="auto">
          <a:xfrm>
            <a:off x="1691367" y="2768642"/>
            <a:ext cx="265906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p:cNvPicPr>
            <a:picLocks noChangeAspect="1" noChangeArrowheads="1"/>
          </p:cNvPicPr>
          <p:nvPr/>
        </p:nvPicPr>
        <p:blipFill>
          <a:blip r:embed="rId4"/>
          <a:srcRect/>
          <a:stretch>
            <a:fillRect/>
          </a:stretch>
        </p:blipFill>
        <p:spPr bwMode="auto">
          <a:xfrm>
            <a:off x="3333795" y="3360443"/>
            <a:ext cx="198755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p:cNvPicPr>
            <a:picLocks noChangeAspect="1" noChangeArrowheads="1"/>
          </p:cNvPicPr>
          <p:nvPr/>
        </p:nvPicPr>
        <p:blipFill>
          <a:blip r:embed="rId5"/>
          <a:srcRect/>
          <a:stretch>
            <a:fillRect/>
          </a:stretch>
        </p:blipFill>
        <p:spPr bwMode="auto">
          <a:xfrm>
            <a:off x="1558355" y="4006122"/>
            <a:ext cx="1909763"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p:cNvPicPr>
            <a:picLocks noChangeAspect="1" noChangeArrowheads="1"/>
          </p:cNvPicPr>
          <p:nvPr/>
        </p:nvPicPr>
        <p:blipFill>
          <a:blip r:embed="rId6"/>
          <a:srcRect/>
          <a:stretch>
            <a:fillRect/>
          </a:stretch>
        </p:blipFill>
        <p:spPr bwMode="auto">
          <a:xfrm>
            <a:off x="3059813" y="4624467"/>
            <a:ext cx="1136650"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p:cNvPicPr>
            <a:picLocks noChangeAspect="1" noChangeArrowheads="1"/>
          </p:cNvPicPr>
          <p:nvPr/>
        </p:nvPicPr>
        <p:blipFill>
          <a:blip r:embed="rId7"/>
          <a:srcRect/>
          <a:stretch>
            <a:fillRect/>
          </a:stretch>
        </p:blipFill>
        <p:spPr bwMode="auto">
          <a:xfrm>
            <a:off x="940252" y="4573667"/>
            <a:ext cx="1600200"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9"/>
          <p:cNvPicPr>
            <a:picLocks noChangeAspect="1" noChangeArrowheads="1"/>
          </p:cNvPicPr>
          <p:nvPr/>
        </p:nvPicPr>
        <p:blipFill>
          <a:blip r:embed="rId8"/>
          <a:srcRect/>
          <a:stretch>
            <a:fillRect/>
          </a:stretch>
        </p:blipFill>
        <p:spPr bwMode="auto">
          <a:xfrm>
            <a:off x="864687" y="5736509"/>
            <a:ext cx="3332162"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10"/>
          <p:cNvPicPr>
            <a:picLocks noChangeAspect="1" noChangeArrowheads="1"/>
          </p:cNvPicPr>
          <p:nvPr/>
        </p:nvPicPr>
        <p:blipFill>
          <a:blip r:embed="rId9"/>
          <a:srcRect/>
          <a:stretch>
            <a:fillRect/>
          </a:stretch>
        </p:blipFill>
        <p:spPr bwMode="auto">
          <a:xfrm>
            <a:off x="4716210" y="5561092"/>
            <a:ext cx="3719513"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 Box 6"/>
          <p:cNvSpPr txBox="1">
            <a:spLocks noChangeArrowheads="1"/>
          </p:cNvSpPr>
          <p:nvPr/>
        </p:nvSpPr>
        <p:spPr bwMode="auto">
          <a:xfrm>
            <a:off x="684199" y="2792483"/>
            <a:ext cx="1021080" cy="429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200" b="0" dirty="0">
                <a:latin typeface="+mj-ea"/>
                <a:ea typeface="+mj-ea"/>
              </a:rPr>
              <a:t>谐振时</a:t>
            </a:r>
            <a:endParaRPr lang="zh-CN" altLang="en-US" sz="2200" b="0" dirty="0">
              <a:latin typeface="+mj-ea"/>
              <a:ea typeface="+mj-ea"/>
            </a:endParaRPr>
          </a:p>
        </p:txBody>
      </p:sp>
      <p:sp>
        <p:nvSpPr>
          <p:cNvPr id="12" name="文本框 11"/>
          <p:cNvSpPr txBox="1"/>
          <p:nvPr/>
        </p:nvSpPr>
        <p:spPr>
          <a:xfrm>
            <a:off x="683895" y="1412875"/>
            <a:ext cx="4253230" cy="8299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latin typeface="+mj-ea"/>
                <a:ea typeface="+mj-ea"/>
                <a:cs typeface="+mj-ea"/>
                <a:sym typeface="Symbol" panose="05050102010706020507" pitchFamily="18" charset="2"/>
              </a:rPr>
              <a:t>L</a:t>
            </a:r>
            <a:r>
              <a:rPr lang="zh-CN" altLang="en-US" sz="2400" dirty="0">
                <a:latin typeface="+mj-ea"/>
                <a:ea typeface="+mj-ea"/>
                <a:cs typeface="+mj-ea"/>
              </a:rPr>
              <a:t>型匹配网络简单，由两个异性质的电抗元件组成。</a:t>
            </a:r>
            <a:endParaRPr lang="zh-CN" altLang="en-US" sz="2400" dirty="0">
              <a:latin typeface="+mj-ea"/>
              <a:ea typeface="+mj-ea"/>
              <a:cs typeface="+mj-ea"/>
            </a:endParaRPr>
          </a:p>
        </p:txBody>
      </p:sp>
      <p:sp>
        <p:nvSpPr>
          <p:cNvPr id="13" name="Text Box 6"/>
          <p:cNvSpPr txBox="1">
            <a:spLocks noChangeArrowheads="1"/>
          </p:cNvSpPr>
          <p:nvPr/>
        </p:nvSpPr>
        <p:spPr bwMode="auto">
          <a:xfrm>
            <a:off x="484050" y="2303051"/>
            <a:ext cx="4113530" cy="429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200" b="1" dirty="0">
                <a:solidFill>
                  <a:srgbClr val="FF0000"/>
                </a:solidFill>
                <a:latin typeface="+mj-ea"/>
                <a:ea typeface="+mj-ea"/>
                <a:cs typeface="+mj-ea"/>
              </a:rPr>
              <a:t>形式</a:t>
            </a:r>
            <a:r>
              <a:rPr lang="en-US" altLang="zh-CN" sz="2200" b="1" dirty="0">
                <a:solidFill>
                  <a:srgbClr val="FF0000"/>
                </a:solidFill>
                <a:latin typeface="+mj-ea"/>
                <a:ea typeface="+mj-ea"/>
                <a:cs typeface="+mj-ea"/>
              </a:rPr>
              <a:t>1:</a:t>
            </a:r>
            <a:r>
              <a:rPr lang="zh-CN" altLang="en-US" sz="2200" b="1" dirty="0">
                <a:solidFill>
                  <a:srgbClr val="FF0000"/>
                </a:solidFill>
                <a:latin typeface="+mj-ea"/>
                <a:ea typeface="+mj-ea"/>
                <a:cs typeface="+mj-ea"/>
              </a:rPr>
              <a:t>电抗元件与负载电阻串联</a:t>
            </a:r>
            <a:endParaRPr lang="zh-CN" altLang="en-US" sz="2200" b="1" dirty="0">
              <a:solidFill>
                <a:srgbClr val="FF0000"/>
              </a:solidFill>
              <a:latin typeface="+mj-ea"/>
              <a:ea typeface="+mj-ea"/>
              <a:cs typeface="+mj-ea"/>
            </a:endParaRPr>
          </a:p>
        </p:txBody>
      </p:sp>
      <p:sp>
        <p:nvSpPr>
          <p:cNvPr id="14" name="Text Box 6"/>
          <p:cNvSpPr txBox="1">
            <a:spLocks noChangeArrowheads="1"/>
          </p:cNvSpPr>
          <p:nvPr/>
        </p:nvSpPr>
        <p:spPr bwMode="auto">
          <a:xfrm>
            <a:off x="684038" y="3399000"/>
            <a:ext cx="2723824"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200" b="0" dirty="0">
                <a:latin typeface="+mj-ea"/>
                <a:ea typeface="+mj-ea"/>
              </a:rPr>
              <a:t>根据串并转换公式：</a:t>
            </a:r>
            <a:endParaRPr lang="zh-CN" altLang="en-US" sz="2200" b="0" dirty="0">
              <a:latin typeface="+mj-ea"/>
              <a:ea typeface="+mj-ea"/>
            </a:endParaRPr>
          </a:p>
        </p:txBody>
      </p:sp>
      <p:sp>
        <p:nvSpPr>
          <p:cNvPr id="15" name="Text Box 6"/>
          <p:cNvSpPr txBox="1">
            <a:spLocks noChangeArrowheads="1"/>
          </p:cNvSpPr>
          <p:nvPr/>
        </p:nvSpPr>
        <p:spPr bwMode="auto">
          <a:xfrm>
            <a:off x="684038" y="4018852"/>
            <a:ext cx="103105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200" b="0" dirty="0">
                <a:latin typeface="+mj-ea"/>
                <a:ea typeface="+mj-ea"/>
              </a:rPr>
              <a:t>故有：</a:t>
            </a:r>
            <a:endParaRPr lang="zh-CN" altLang="en-US" sz="2200" b="0" dirty="0">
              <a:latin typeface="+mj-ea"/>
              <a:ea typeface="+mj-ea"/>
            </a:endParaRPr>
          </a:p>
        </p:txBody>
      </p:sp>
      <p:sp>
        <p:nvSpPr>
          <p:cNvPr id="16" name="Text Box 6"/>
          <p:cNvSpPr txBox="1">
            <a:spLocks noChangeArrowheads="1"/>
          </p:cNvSpPr>
          <p:nvPr/>
        </p:nvSpPr>
        <p:spPr bwMode="auto">
          <a:xfrm>
            <a:off x="3683102" y="4018851"/>
            <a:ext cx="103105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200" b="0" dirty="0">
                <a:latin typeface="+mj-ea"/>
                <a:ea typeface="+mj-ea"/>
              </a:rPr>
              <a:t>很明显</a:t>
            </a:r>
            <a:endParaRPr lang="zh-CN" altLang="en-US" sz="2200" b="0" dirty="0">
              <a:latin typeface="+mj-ea"/>
              <a:ea typeface="+mj-ea"/>
            </a:endParaRPr>
          </a:p>
        </p:txBody>
      </p:sp>
      <mc:AlternateContent xmlns:mc="http://schemas.openxmlformats.org/markup-compatibility/2006">
        <mc:Choice xmlns:a14="http://schemas.microsoft.com/office/drawing/2010/main" Requires="a14">
          <p:sp>
            <p:nvSpPr>
              <p:cNvPr id="19" name="文本框 18"/>
              <p:cNvSpPr txBox="1"/>
              <p:nvPr/>
            </p:nvSpPr>
            <p:spPr>
              <a:xfrm>
                <a:off x="4664972" y="4049628"/>
                <a:ext cx="1129412" cy="369332"/>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r>
                            <a:rPr kumimoji="1" lang="en-US" altLang="zh-CN" sz="2400" b="0" i="1" smtClean="0">
                              <a:latin typeface="Cambria Math" panose="02040503050406030204" pitchFamily="18" charset="0"/>
                            </a:rPr>
                            <m:t>𝑅</m:t>
                          </m:r>
                        </m:e>
                        <m:sub>
                          <m:r>
                            <a:rPr kumimoji="1" lang="en-US" altLang="zh-CN" sz="2400" b="0" i="1" smtClean="0">
                              <a:latin typeface="Cambria Math" panose="02040503050406030204" pitchFamily="18" charset="0"/>
                            </a:rPr>
                            <m:t>1</m:t>
                          </m:r>
                        </m:sub>
                      </m:sSub>
                      <m:r>
                        <a:rPr kumimoji="1" lang="en-US" altLang="zh-CN" sz="2400" b="0" i="1" smtClean="0">
                          <a:latin typeface="Cambria Math" panose="02040503050406030204" pitchFamily="18" charset="0"/>
                        </a:rPr>
                        <m:t>&gt;</m:t>
                      </m:r>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𝑅</m:t>
                          </m:r>
                        </m:e>
                        <m:sub>
                          <m:r>
                            <a:rPr kumimoji="1" lang="en-US" altLang="zh-CN" sz="2400" b="0" i="1" smtClean="0">
                              <a:latin typeface="Cambria Math" panose="02040503050406030204" pitchFamily="18" charset="0"/>
                            </a:rPr>
                            <m:t>2</m:t>
                          </m:r>
                        </m:sub>
                      </m:sSub>
                    </m:oMath>
                  </m:oMathPara>
                </a14:m>
                <a:endParaRPr kumimoji="1" lang="zh-CN" altLang="en-US" sz="2400" dirty="0"/>
              </a:p>
            </p:txBody>
          </p:sp>
        </mc:Choice>
        <mc:Fallback>
          <p:sp>
            <p:nvSpPr>
              <p:cNvPr id="19" name="文本框 18"/>
              <p:cNvSpPr txBox="1">
                <a:spLocks noRot="1" noChangeAspect="1" noMove="1" noResize="1" noEditPoints="1" noAdjustHandles="1" noChangeArrowheads="1" noChangeShapeType="1" noTextEdit="1"/>
              </p:cNvSpPr>
              <p:nvPr/>
            </p:nvSpPr>
            <p:spPr>
              <a:xfrm>
                <a:off x="4664972" y="4049628"/>
                <a:ext cx="1129412" cy="369332"/>
              </a:xfrm>
              <a:prstGeom prst="rect">
                <a:avLst/>
              </a:prstGeom>
              <a:blipFill rotWithShape="1">
                <a:blip r:embed="rId10"/>
                <a:stretch>
                  <a:fillRect l="-23" t="-63" r="-4778" b="171"/>
                </a:stretch>
              </a:blipFill>
            </p:spPr>
            <p:txBody>
              <a:bodyPr/>
              <a:lstStyle/>
              <a:p>
                <a:r>
                  <a:rPr lang="zh-CN" altLang="en-US">
                    <a:noFill/>
                  </a:rPr>
                  <a:t> </a:t>
                </a:r>
              </a:p>
            </p:txBody>
          </p:sp>
        </mc:Fallback>
      </mc:AlternateContent>
    </p:spTree>
  </p:cSld>
  <p:clrMapOvr>
    <a:masterClrMapping/>
  </p:clrMapOvr>
  <p:transition spd="med">
    <p:zo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Box 6"/>
          <p:cNvSpPr txBox="1">
            <a:spLocks noChangeArrowheads="1"/>
          </p:cNvSpPr>
          <p:nvPr/>
        </p:nvSpPr>
        <p:spPr bwMode="auto">
          <a:xfrm>
            <a:off x="545553" y="2058141"/>
            <a:ext cx="1300480" cy="429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200" dirty="0">
                <a:latin typeface="+mj-ea"/>
                <a:ea typeface="+mj-ea"/>
              </a:rPr>
              <a:t>谐振时：</a:t>
            </a:r>
            <a:endParaRPr lang="zh-CN" altLang="en-US" sz="2200" dirty="0">
              <a:latin typeface="+mj-ea"/>
              <a:ea typeface="+mj-ea"/>
            </a:endParaRPr>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rcRect b="22567"/>
          <a:stretch>
            <a:fillRect/>
          </a:stretch>
        </p:blipFill>
        <p:spPr>
          <a:xfrm>
            <a:off x="6660515" y="2428240"/>
            <a:ext cx="2443480" cy="1440180"/>
          </a:xfrm>
          <a:prstGeom prst="rect">
            <a:avLst/>
          </a:prstGeom>
        </p:spPr>
      </p:pic>
      <p:pic>
        <p:nvPicPr>
          <p:cNvPr id="12" name="图片 11"/>
          <p:cNvPicPr>
            <a:picLocks noChangeAspect="1"/>
          </p:cNvPicPr>
          <p:nvPr/>
        </p:nvPicPr>
        <p:blipFill>
          <a:blip r:embed="rId2">
            <a:extLst>
              <a:ext uri="{28A0092B-C50C-407E-A947-70E740481C1C}">
                <a14:useLocalDpi xmlns:a14="http://schemas.microsoft.com/office/drawing/2010/main" val="0"/>
              </a:ext>
            </a:extLst>
          </a:blip>
          <a:srcRect b="23790"/>
          <a:stretch>
            <a:fillRect/>
          </a:stretch>
        </p:blipFill>
        <p:spPr>
          <a:xfrm>
            <a:off x="6489700" y="549275"/>
            <a:ext cx="2614295" cy="1539875"/>
          </a:xfrm>
          <a:prstGeom prst="rect">
            <a:avLst/>
          </a:prstGeom>
        </p:spPr>
      </p:pic>
      <p:pic>
        <p:nvPicPr>
          <p:cNvPr id="2" name="图片 1"/>
          <p:cNvPicPr>
            <a:picLocks noChangeAspect="1" noChangeArrowheads="1"/>
          </p:cNvPicPr>
          <p:nvPr/>
        </p:nvPicPr>
        <p:blipFill>
          <a:blip r:embed="rId3"/>
          <a:srcRect/>
          <a:stretch>
            <a:fillRect/>
          </a:stretch>
        </p:blipFill>
        <p:spPr bwMode="auto">
          <a:xfrm>
            <a:off x="1763188" y="2060995"/>
            <a:ext cx="25812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p:cNvPicPr>
            <a:picLocks noChangeAspect="1" noChangeArrowheads="1"/>
          </p:cNvPicPr>
          <p:nvPr/>
        </p:nvPicPr>
        <p:blipFill>
          <a:blip r:embed="rId4"/>
          <a:srcRect/>
          <a:stretch>
            <a:fillRect/>
          </a:stretch>
        </p:blipFill>
        <p:spPr bwMode="auto">
          <a:xfrm>
            <a:off x="2852213" y="2488077"/>
            <a:ext cx="1806575"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p:cNvPicPr>
            <a:picLocks noChangeAspect="1" noChangeArrowheads="1"/>
          </p:cNvPicPr>
          <p:nvPr/>
        </p:nvPicPr>
        <p:blipFill>
          <a:blip r:embed="rId5"/>
          <a:srcRect/>
          <a:stretch>
            <a:fillRect/>
          </a:stretch>
        </p:blipFill>
        <p:spPr bwMode="auto">
          <a:xfrm>
            <a:off x="1086877" y="3278669"/>
            <a:ext cx="1600200"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p:cNvPicPr>
            <a:picLocks noChangeAspect="1" noChangeArrowheads="1"/>
          </p:cNvPicPr>
          <p:nvPr/>
        </p:nvPicPr>
        <p:blipFill>
          <a:blip r:embed="rId6"/>
          <a:srcRect/>
          <a:stretch>
            <a:fillRect/>
          </a:stretch>
        </p:blipFill>
        <p:spPr bwMode="auto">
          <a:xfrm>
            <a:off x="2123197" y="4051191"/>
            <a:ext cx="1135063" cy="909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p:cNvPicPr>
            <a:picLocks noChangeAspect="1" noChangeArrowheads="1"/>
          </p:cNvPicPr>
          <p:nvPr/>
        </p:nvPicPr>
        <p:blipFill>
          <a:blip r:embed="rId7"/>
          <a:srcRect/>
          <a:stretch>
            <a:fillRect/>
          </a:stretch>
        </p:blipFill>
        <p:spPr bwMode="auto">
          <a:xfrm>
            <a:off x="3563371" y="4869389"/>
            <a:ext cx="2863850"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p:cNvPicPr>
            <a:picLocks noChangeAspect="1" noChangeArrowheads="1"/>
          </p:cNvPicPr>
          <p:nvPr/>
        </p:nvPicPr>
        <p:blipFill>
          <a:blip r:embed="rId8"/>
          <a:srcRect/>
          <a:stretch>
            <a:fillRect/>
          </a:stretch>
        </p:blipFill>
        <p:spPr bwMode="auto">
          <a:xfrm>
            <a:off x="3592217" y="4232721"/>
            <a:ext cx="3998913"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文本框 26"/>
          <p:cNvSpPr txBox="1"/>
          <p:nvPr/>
        </p:nvSpPr>
        <p:spPr>
          <a:xfrm>
            <a:off x="899795" y="5856605"/>
            <a:ext cx="7626350" cy="829945"/>
          </a:xfrm>
          <a:prstGeom prst="rect">
            <a:avLst/>
          </a:prstGeom>
          <a:solidFill>
            <a:schemeClr val="accent1">
              <a:lumMod val="20000"/>
              <a:lumOff val="80000"/>
            </a:schemeClr>
          </a:solid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solidFill>
                  <a:srgbClr val="FF0000"/>
                </a:solidFill>
                <a:latin typeface="+mj-ea"/>
                <a:ea typeface="+mj-ea"/>
                <a:cs typeface="+mj-ea"/>
              </a:rPr>
              <a:t>总结：</a:t>
            </a:r>
            <a:r>
              <a:rPr lang="en-US" altLang="zh-CN" sz="2400" b="1" dirty="0">
                <a:solidFill>
                  <a:srgbClr val="FF0000"/>
                </a:solidFill>
                <a:latin typeface="+mj-ea"/>
                <a:ea typeface="+mj-ea"/>
                <a:cs typeface="+mj-ea"/>
              </a:rPr>
              <a:t>LC</a:t>
            </a:r>
            <a:r>
              <a:rPr lang="zh-CN" altLang="en-US" sz="2400" b="1" dirty="0">
                <a:solidFill>
                  <a:srgbClr val="FF0000"/>
                </a:solidFill>
                <a:latin typeface="+mj-ea"/>
                <a:ea typeface="+mj-ea"/>
                <a:cs typeface="+mj-ea"/>
              </a:rPr>
              <a:t>型适用于两端阻抗差异大，电感端串接低阻，</a:t>
            </a:r>
            <a:r>
              <a:rPr lang="zh-CN" altLang="en-US" sz="2400" b="1" dirty="0">
                <a:solidFill>
                  <a:srgbClr val="FF0000"/>
                </a:solidFill>
                <a:latin typeface="+mj-ea"/>
                <a:ea typeface="+mj-ea"/>
                <a:cs typeface="+mj-ea"/>
                <a:sym typeface="Symbol" panose="05050102010706020507" pitchFamily="18" charset="2"/>
              </a:rPr>
              <a:t>电容端并接高阻</a:t>
            </a:r>
            <a:endParaRPr lang="zh-CN" altLang="en-US" sz="3200" b="1" dirty="0">
              <a:solidFill>
                <a:srgbClr val="FF0000"/>
              </a:solidFill>
              <a:latin typeface="+mj-ea"/>
              <a:ea typeface="+mj-ea"/>
              <a:cs typeface="+mj-ea"/>
            </a:endParaRPr>
          </a:p>
        </p:txBody>
      </p:sp>
      <p:sp>
        <p:nvSpPr>
          <p:cNvPr id="10" name="Text Box 6"/>
          <p:cNvSpPr txBox="1">
            <a:spLocks noChangeArrowheads="1"/>
          </p:cNvSpPr>
          <p:nvPr/>
        </p:nvSpPr>
        <p:spPr bwMode="auto">
          <a:xfrm>
            <a:off x="545592" y="1558981"/>
            <a:ext cx="4113530" cy="429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200" b="1" dirty="0">
                <a:solidFill>
                  <a:srgbClr val="FF0000"/>
                </a:solidFill>
                <a:latin typeface="+mj-ea"/>
                <a:ea typeface="+mj-ea"/>
                <a:cs typeface="+mj-ea"/>
              </a:rPr>
              <a:t>形式</a:t>
            </a:r>
            <a:r>
              <a:rPr lang="en-US" altLang="zh-CN" sz="2200" b="1" dirty="0">
                <a:solidFill>
                  <a:srgbClr val="FF0000"/>
                </a:solidFill>
                <a:latin typeface="+mj-ea"/>
                <a:ea typeface="+mj-ea"/>
                <a:cs typeface="+mj-ea"/>
              </a:rPr>
              <a:t>2:</a:t>
            </a:r>
            <a:r>
              <a:rPr lang="zh-CN" altLang="en-US" sz="2200" b="1" dirty="0">
                <a:solidFill>
                  <a:srgbClr val="FF0000"/>
                </a:solidFill>
                <a:latin typeface="+mj-ea"/>
                <a:ea typeface="+mj-ea"/>
                <a:cs typeface="+mj-ea"/>
              </a:rPr>
              <a:t>电抗元件与负载电阻串联</a:t>
            </a:r>
            <a:endParaRPr lang="zh-CN" altLang="en-US" sz="2200" b="1" dirty="0">
              <a:solidFill>
                <a:srgbClr val="FF0000"/>
              </a:solidFill>
              <a:latin typeface="+mj-ea"/>
              <a:ea typeface="+mj-ea"/>
              <a:cs typeface="+mj-ea"/>
            </a:endParaRPr>
          </a:p>
        </p:txBody>
      </p:sp>
      <p:sp>
        <p:nvSpPr>
          <p:cNvPr id="11" name="Text Box 6"/>
          <p:cNvSpPr txBox="1">
            <a:spLocks noChangeArrowheads="1"/>
          </p:cNvSpPr>
          <p:nvPr/>
        </p:nvSpPr>
        <p:spPr bwMode="auto">
          <a:xfrm>
            <a:off x="4683339" y="2702696"/>
            <a:ext cx="103105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200" b="0" dirty="0">
                <a:latin typeface="+mj-ea"/>
                <a:ea typeface="+mj-ea"/>
              </a:rPr>
              <a:t>很明显</a:t>
            </a:r>
            <a:endParaRPr lang="zh-CN" altLang="en-US" sz="2200" b="0" dirty="0">
              <a:latin typeface="+mj-ea"/>
              <a:ea typeface="+mj-ea"/>
            </a:endParaRPr>
          </a:p>
        </p:txBody>
      </p:sp>
      <mc:AlternateContent xmlns:mc="http://schemas.openxmlformats.org/markup-compatibility/2006">
        <mc:Choice xmlns:a14="http://schemas.microsoft.com/office/drawing/2010/main" Requires="a14">
          <p:sp>
            <p:nvSpPr>
              <p:cNvPr id="13" name="文本框 12"/>
              <p:cNvSpPr txBox="1"/>
              <p:nvPr/>
            </p:nvSpPr>
            <p:spPr>
              <a:xfrm>
                <a:off x="5665209" y="2733473"/>
                <a:ext cx="1129412" cy="369332"/>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ea typeface="+mj-ea"/>
                              <a:cs typeface="Cambria Math" panose="02040503050406030204" pitchFamily="18" charset="0"/>
                            </a:rPr>
                          </m:ctrlPr>
                        </m:sSubPr>
                        <m:e>
                          <m:r>
                            <a:rPr kumimoji="1" lang="en-US" altLang="zh-CN" sz="2400" b="0" i="1" smtClean="0">
                              <a:latin typeface="Cambria Math" panose="02040503050406030204" pitchFamily="18" charset="0"/>
                              <a:ea typeface="+mj-ea"/>
                              <a:cs typeface="Cambria Math" panose="02040503050406030204" pitchFamily="18" charset="0"/>
                            </a:rPr>
                            <m:t>𝑅</m:t>
                          </m:r>
                        </m:e>
                        <m:sub>
                          <m:r>
                            <a:rPr kumimoji="1" lang="en-US" altLang="zh-CN" sz="2400" b="0" i="1" smtClean="0">
                              <a:latin typeface="Cambria Math" panose="02040503050406030204" pitchFamily="18" charset="0"/>
                              <a:ea typeface="MS Mincho" charset="0"/>
                              <a:cs typeface="Cambria Math" panose="02040503050406030204" pitchFamily="18" charset="0"/>
                            </a:rPr>
                            <m:t>1</m:t>
                          </m:r>
                        </m:sub>
                      </m:sSub>
                      <m:r>
                        <a:rPr kumimoji="1" lang="en-US" altLang="zh-CN" sz="2400" b="0" i="1" smtClean="0">
                          <a:latin typeface="Cambria Math" panose="02040503050406030204" pitchFamily="18" charset="0"/>
                          <a:ea typeface="MS Mincho" charset="0"/>
                          <a:cs typeface="Cambria Math" panose="02040503050406030204" pitchFamily="18" charset="0"/>
                        </a:rPr>
                        <m:t>&lt;</m:t>
                      </m:r>
                      <m:sSub>
                        <m:sSubPr>
                          <m:ctrlPr>
                            <a:rPr kumimoji="1" lang="en-US" altLang="zh-CN" sz="2400" b="0" i="1" smtClean="0">
                              <a:latin typeface="Cambria Math" panose="02040503050406030204" pitchFamily="18" charset="0"/>
                              <a:ea typeface="+mj-ea"/>
                              <a:cs typeface="Cambria Math" panose="02040503050406030204" pitchFamily="18" charset="0"/>
                            </a:rPr>
                          </m:ctrlPr>
                        </m:sSubPr>
                        <m:e>
                          <m:r>
                            <a:rPr kumimoji="1" lang="en-US" altLang="zh-CN" sz="2400" b="0" i="1" smtClean="0">
                              <a:latin typeface="Cambria Math" panose="02040503050406030204" pitchFamily="18" charset="0"/>
                              <a:ea typeface="+mj-ea"/>
                              <a:cs typeface="Cambria Math" panose="02040503050406030204" pitchFamily="18" charset="0"/>
                            </a:rPr>
                            <m:t>𝑅</m:t>
                          </m:r>
                        </m:e>
                        <m:sub>
                          <m:r>
                            <a:rPr kumimoji="1" lang="en-US" altLang="zh-CN" sz="2400" b="0" i="1" smtClean="0">
                              <a:latin typeface="Cambria Math" panose="02040503050406030204" pitchFamily="18" charset="0"/>
                              <a:ea typeface="MS Mincho" charset="0"/>
                              <a:cs typeface="Cambria Math" panose="02040503050406030204" pitchFamily="18" charset="0"/>
                            </a:rPr>
                            <m:t>2</m:t>
                          </m:r>
                        </m:sub>
                      </m:sSub>
                    </m:oMath>
                  </m:oMathPara>
                </a14:m>
                <a:endParaRPr kumimoji="1" lang="zh-CN" altLang="en-US" sz="2400" dirty="0">
                  <a:latin typeface="+mj-ea"/>
                  <a:ea typeface="+mj-ea"/>
                  <a:cs typeface="+mj-ea"/>
                </a:endParaRPr>
              </a:p>
            </p:txBody>
          </p:sp>
        </mc:Choice>
        <mc:Fallback>
          <p:sp>
            <p:nvSpPr>
              <p:cNvPr id="13" name="文本框 12"/>
              <p:cNvSpPr txBox="1">
                <a:spLocks noRot="1" noChangeAspect="1" noMove="1" noResize="1" noEditPoints="1" noAdjustHandles="1" noChangeArrowheads="1" noChangeShapeType="1" noTextEdit="1"/>
              </p:cNvSpPr>
              <p:nvPr/>
            </p:nvSpPr>
            <p:spPr>
              <a:xfrm>
                <a:off x="5665209" y="2733473"/>
                <a:ext cx="1129412" cy="369332"/>
              </a:xfrm>
              <a:prstGeom prst="rect">
                <a:avLst/>
              </a:prstGeom>
              <a:blipFill rotWithShape="1">
                <a:blip r:embed="rId9"/>
                <a:stretch>
                  <a:fillRect l="-33" t="-117" r="-10784" b="53"/>
                </a:stretch>
              </a:blipFill>
            </p:spPr>
            <p:txBody>
              <a:bodyPr/>
              <a:lstStyle/>
              <a:p>
                <a:r>
                  <a:rPr lang="zh-CN" altLang="en-US">
                    <a:noFill/>
                  </a:rPr>
                  <a:t> </a:t>
                </a:r>
              </a:p>
            </p:txBody>
          </p:sp>
        </mc:Fallback>
      </mc:AlternateContent>
      <p:sp>
        <p:nvSpPr>
          <p:cNvPr id="41989" name="Text Box 11"/>
          <p:cNvSpPr txBox="1"/>
          <p:nvPr/>
        </p:nvSpPr>
        <p:spPr>
          <a:xfrm>
            <a:off x="323533" y="512445"/>
            <a:ext cx="5232400" cy="460375"/>
          </a:xfrm>
          <a:prstGeom prst="rect">
            <a:avLst/>
          </a:prstGeom>
          <a:noFill/>
          <a:ln w="9525">
            <a:noFill/>
          </a:ln>
        </p:spPr>
        <p:txBody>
          <a:bodyPr wrap="none">
            <a:spAutoFit/>
          </a:bodyPr>
          <a:lstStyle/>
          <a:p>
            <a:r>
              <a:rPr lang="zh-CN" altLang="en-US" b="1" dirty="0">
                <a:solidFill>
                  <a:srgbClr val="FF0066"/>
                </a:solidFill>
                <a:latin typeface="Times New Roman" panose="02020603050405020304" pitchFamily="18" charset="0"/>
              </a:rPr>
              <a:t>五</a:t>
            </a:r>
            <a:r>
              <a:rPr lang="en-US" altLang="zh-CN" b="1" dirty="0">
                <a:solidFill>
                  <a:srgbClr val="FF0066"/>
                </a:solidFill>
                <a:latin typeface="Times New Roman" panose="02020603050405020304" pitchFamily="18" charset="0"/>
              </a:rPr>
              <a:t>. </a:t>
            </a:r>
            <a:r>
              <a:rPr lang="zh-CN" altLang="en-US" b="1" dirty="0">
                <a:solidFill>
                  <a:srgbClr val="FF0066"/>
                </a:solidFill>
                <a:latin typeface="Times New Roman" panose="02020603050405020304" pitchFamily="18" charset="0"/>
              </a:rPr>
              <a:t>衰减器与匹配器（选频匹配网络）</a:t>
            </a:r>
            <a:endParaRPr lang="zh-CN" altLang="en-US" b="1" dirty="0">
              <a:solidFill>
                <a:srgbClr val="FF0066"/>
              </a:solidFill>
              <a:latin typeface="Times New Roman" panose="02020603050405020304" pitchFamily="18" charset="0"/>
            </a:endParaRPr>
          </a:p>
        </p:txBody>
      </p:sp>
      <p:sp>
        <p:nvSpPr>
          <p:cNvPr id="52240" name="Text Box 16"/>
          <p:cNvSpPr txBox="1"/>
          <p:nvPr/>
        </p:nvSpPr>
        <p:spPr>
          <a:xfrm>
            <a:off x="179705" y="980758"/>
            <a:ext cx="4823460" cy="460375"/>
          </a:xfrm>
          <a:prstGeom prst="rect">
            <a:avLst/>
          </a:prstGeom>
          <a:noFill/>
          <a:ln w="9525">
            <a:noFill/>
          </a:ln>
        </p:spPr>
        <p:txBody>
          <a:bodyPr wrap="none">
            <a:spAutoFit/>
          </a:bodyPr>
          <a:lstStyle/>
          <a:p>
            <a:pPr algn="l"/>
            <a:r>
              <a:rPr lang="zh-CN" altLang="en-US" b="1" dirty="0">
                <a:solidFill>
                  <a:schemeClr val="accent2"/>
                </a:solidFill>
                <a:latin typeface="Times New Roman" panose="02020603050405020304" pitchFamily="18" charset="0"/>
              </a:rPr>
              <a:t>（</a:t>
            </a:r>
            <a:r>
              <a:rPr lang="en-US" altLang="zh-CN" b="1" dirty="0">
                <a:solidFill>
                  <a:schemeClr val="accent2"/>
                </a:solidFill>
                <a:latin typeface="Times New Roman" panose="02020603050405020304" pitchFamily="18" charset="0"/>
              </a:rPr>
              <a:t>2</a:t>
            </a:r>
            <a:r>
              <a:rPr lang="zh-CN" altLang="en-US" b="1" dirty="0">
                <a:solidFill>
                  <a:schemeClr val="accent2"/>
                </a:solidFill>
                <a:latin typeface="Times New Roman" panose="02020603050405020304" pitchFamily="18" charset="0"/>
              </a:rPr>
              <a:t>）高频匹配器（</a:t>
            </a:r>
            <a:r>
              <a:rPr lang="zh-CN" altLang="en-US" b="1" dirty="0">
                <a:solidFill>
                  <a:schemeClr val="accent2"/>
                </a:solidFill>
                <a:sym typeface="+mn-ea"/>
              </a:rPr>
              <a:t>L型匹配网络</a:t>
            </a:r>
            <a:r>
              <a:rPr lang="zh-CN" altLang="en-US" b="1" dirty="0">
                <a:solidFill>
                  <a:schemeClr val="accent2"/>
                </a:solidFill>
                <a:latin typeface="Times New Roman" panose="02020603050405020304" pitchFamily="18" charset="0"/>
              </a:rPr>
              <a:t>）</a:t>
            </a:r>
            <a:endParaRPr lang="zh-CN" altLang="en-US" b="1" dirty="0">
              <a:solidFill>
                <a:schemeClr val="accent2"/>
              </a:solidFill>
              <a:latin typeface="Times New Roman" panose="02020603050405020304" pitchFamily="18" charset="0"/>
            </a:endParaRPr>
          </a:p>
        </p:txBody>
      </p:sp>
      <p:graphicFrame>
        <p:nvGraphicFramePr>
          <p:cNvPr id="14" name="对象 13">
            <a:hlinkClick r:id="" action="ppaction://ole?verb=0"/>
          </p:cNvPr>
          <p:cNvGraphicFramePr>
            <a:graphicFrameLocks noChangeAspect="1"/>
          </p:cNvGraphicFramePr>
          <p:nvPr/>
        </p:nvGraphicFramePr>
        <p:xfrm>
          <a:off x="683895" y="2428240"/>
          <a:ext cx="1800225" cy="824865"/>
        </p:xfrm>
        <a:graphic>
          <a:graphicData uri="http://schemas.openxmlformats.org/presentationml/2006/ole">
            <mc:AlternateContent xmlns:mc="http://schemas.openxmlformats.org/markup-compatibility/2006">
              <mc:Choice xmlns:v="urn:schemas-microsoft-com:vml" Requires="v">
                <p:oleObj spid="_x0000_s3" name="" r:id="rId10" imgW="914400" imgH="419100" progId="Equation.KSEE3">
                  <p:embed/>
                </p:oleObj>
              </mc:Choice>
              <mc:Fallback>
                <p:oleObj name="" r:id="rId10" imgW="914400" imgH="419100" progId="Equation.KSEE3">
                  <p:embed/>
                  <p:pic>
                    <p:nvPicPr>
                      <p:cNvPr id="0" name="图片 1024"/>
                      <p:cNvPicPr/>
                      <p:nvPr/>
                    </p:nvPicPr>
                    <p:blipFill>
                      <a:blip r:embed="rId11"/>
                      <a:stretch>
                        <a:fillRect/>
                      </a:stretch>
                    </p:blipFill>
                    <p:spPr>
                      <a:xfrm>
                        <a:off x="683895" y="2428240"/>
                        <a:ext cx="1800225" cy="824865"/>
                      </a:xfrm>
                      <a:prstGeom prst="rect">
                        <a:avLst/>
                      </a:prstGeom>
                    </p:spPr>
                  </p:pic>
                </p:oleObj>
              </mc:Fallback>
            </mc:AlternateContent>
          </a:graphicData>
        </a:graphic>
      </p:graphicFrame>
      <p:sp>
        <p:nvSpPr>
          <p:cNvPr id="15" name="右箭头 14"/>
          <p:cNvSpPr/>
          <p:nvPr/>
        </p:nvSpPr>
        <p:spPr>
          <a:xfrm>
            <a:off x="2555875" y="2660650"/>
            <a:ext cx="288290" cy="360045"/>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spd="med">
    <p:zo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9" name="Text Box 11"/>
          <p:cNvSpPr txBox="1"/>
          <p:nvPr/>
        </p:nvSpPr>
        <p:spPr>
          <a:xfrm>
            <a:off x="323533" y="512445"/>
            <a:ext cx="5232400" cy="460375"/>
          </a:xfrm>
          <a:prstGeom prst="rect">
            <a:avLst/>
          </a:prstGeom>
          <a:noFill/>
          <a:ln w="9525">
            <a:noFill/>
          </a:ln>
        </p:spPr>
        <p:txBody>
          <a:bodyPr wrap="none">
            <a:spAutoFit/>
          </a:bodyPr>
          <a:lstStyle/>
          <a:p>
            <a:r>
              <a:rPr lang="zh-CN" altLang="en-US" b="1" dirty="0">
                <a:solidFill>
                  <a:srgbClr val="FF0066"/>
                </a:solidFill>
                <a:latin typeface="Times New Roman" panose="02020603050405020304" pitchFamily="18" charset="0"/>
              </a:rPr>
              <a:t>五</a:t>
            </a:r>
            <a:r>
              <a:rPr lang="en-US" altLang="zh-CN" b="1" dirty="0">
                <a:solidFill>
                  <a:srgbClr val="FF0066"/>
                </a:solidFill>
                <a:latin typeface="Times New Roman" panose="02020603050405020304" pitchFamily="18" charset="0"/>
              </a:rPr>
              <a:t>. </a:t>
            </a:r>
            <a:r>
              <a:rPr lang="zh-CN" altLang="en-US" b="1" dirty="0">
                <a:solidFill>
                  <a:srgbClr val="FF0066"/>
                </a:solidFill>
                <a:latin typeface="Times New Roman" panose="02020603050405020304" pitchFamily="18" charset="0"/>
              </a:rPr>
              <a:t>衰减器与匹配器（选频匹配网络）</a:t>
            </a:r>
            <a:endParaRPr lang="zh-CN" altLang="en-US" b="1" dirty="0">
              <a:solidFill>
                <a:srgbClr val="FF0066"/>
              </a:solidFill>
              <a:latin typeface="Times New Roman" panose="02020603050405020304" pitchFamily="18" charset="0"/>
            </a:endParaRPr>
          </a:p>
        </p:txBody>
      </p:sp>
      <p:sp>
        <p:nvSpPr>
          <p:cNvPr id="52240" name="Text Box 16"/>
          <p:cNvSpPr txBox="1"/>
          <p:nvPr/>
        </p:nvSpPr>
        <p:spPr>
          <a:xfrm>
            <a:off x="179705" y="980758"/>
            <a:ext cx="4823460" cy="460375"/>
          </a:xfrm>
          <a:prstGeom prst="rect">
            <a:avLst/>
          </a:prstGeom>
          <a:noFill/>
          <a:ln w="9525">
            <a:noFill/>
          </a:ln>
        </p:spPr>
        <p:txBody>
          <a:bodyPr wrap="none">
            <a:spAutoFit/>
          </a:bodyPr>
          <a:lstStyle/>
          <a:p>
            <a:pPr algn="l"/>
            <a:r>
              <a:rPr lang="zh-CN" altLang="en-US" b="1" dirty="0">
                <a:solidFill>
                  <a:schemeClr val="accent2"/>
                </a:solidFill>
                <a:latin typeface="Times New Roman" panose="02020603050405020304" pitchFamily="18" charset="0"/>
              </a:rPr>
              <a:t>（</a:t>
            </a:r>
            <a:r>
              <a:rPr lang="en-US" altLang="zh-CN" b="1" dirty="0">
                <a:solidFill>
                  <a:schemeClr val="accent2"/>
                </a:solidFill>
                <a:latin typeface="Times New Roman" panose="02020603050405020304" pitchFamily="18" charset="0"/>
              </a:rPr>
              <a:t>2</a:t>
            </a:r>
            <a:r>
              <a:rPr lang="zh-CN" altLang="en-US" b="1" dirty="0">
                <a:solidFill>
                  <a:schemeClr val="accent2"/>
                </a:solidFill>
                <a:latin typeface="Times New Roman" panose="02020603050405020304" pitchFamily="18" charset="0"/>
              </a:rPr>
              <a:t>）高频匹配器（</a:t>
            </a:r>
            <a:r>
              <a:rPr lang="zh-CN" altLang="en-US" b="1" dirty="0">
                <a:solidFill>
                  <a:schemeClr val="accent2"/>
                </a:solidFill>
                <a:sym typeface="+mn-ea"/>
              </a:rPr>
              <a:t>L型匹配网络</a:t>
            </a:r>
            <a:r>
              <a:rPr lang="zh-CN" altLang="en-US" b="1" dirty="0">
                <a:solidFill>
                  <a:schemeClr val="accent2"/>
                </a:solidFill>
                <a:latin typeface="Times New Roman" panose="02020603050405020304" pitchFamily="18" charset="0"/>
              </a:rPr>
              <a:t>）</a:t>
            </a:r>
            <a:endParaRPr lang="zh-CN" altLang="en-US" b="1" dirty="0">
              <a:solidFill>
                <a:schemeClr val="accent2"/>
              </a:solidFill>
              <a:latin typeface="Times New Roman" panose="02020603050405020304" pitchFamily="18" charset="0"/>
            </a:endParaRPr>
          </a:p>
        </p:txBody>
      </p:sp>
      <p:pic>
        <p:nvPicPr>
          <p:cNvPr id="12" name="图片 11"/>
          <p:cNvPicPr>
            <a:picLocks noChangeAspect="1"/>
          </p:cNvPicPr>
          <p:nvPr/>
        </p:nvPicPr>
        <p:blipFill>
          <a:blip r:embed="rId1">
            <a:extLst>
              <a:ext uri="{28A0092B-C50C-407E-A947-70E740481C1C}">
                <a14:useLocalDpi xmlns:a14="http://schemas.microsoft.com/office/drawing/2010/main" val="0"/>
              </a:ext>
            </a:extLst>
          </a:blip>
          <a:srcRect b="18716"/>
          <a:stretch>
            <a:fillRect/>
          </a:stretch>
        </p:blipFill>
        <p:spPr>
          <a:xfrm>
            <a:off x="6012180" y="1428115"/>
            <a:ext cx="2980690" cy="1872615"/>
          </a:xfrm>
          <a:prstGeom prst="rect">
            <a:avLst/>
          </a:prstGeom>
        </p:spPr>
      </p:pic>
      <p:pic>
        <p:nvPicPr>
          <p:cNvPr id="6" name="图片 5"/>
          <p:cNvPicPr>
            <a:picLocks noChangeAspect="1"/>
          </p:cNvPicPr>
          <p:nvPr/>
        </p:nvPicPr>
        <p:blipFill>
          <a:blip r:embed="rId2">
            <a:extLst>
              <a:ext uri="{28A0092B-C50C-407E-A947-70E740481C1C}">
                <a14:useLocalDpi xmlns:a14="http://schemas.microsoft.com/office/drawing/2010/main" val="0"/>
              </a:ext>
            </a:extLst>
          </a:blip>
          <a:srcRect b="22537"/>
          <a:stretch>
            <a:fillRect/>
          </a:stretch>
        </p:blipFill>
        <p:spPr>
          <a:xfrm>
            <a:off x="179705" y="1412875"/>
            <a:ext cx="3027680" cy="1872615"/>
          </a:xfrm>
          <a:prstGeom prst="rect">
            <a:avLst/>
          </a:prstGeom>
        </p:spPr>
      </p:pic>
      <mc:AlternateContent xmlns:mc="http://schemas.openxmlformats.org/markup-compatibility/2006">
        <mc:Choice xmlns:a14="http://schemas.microsoft.com/office/drawing/2010/main" Requires="a14">
          <p:sp>
            <p:nvSpPr>
              <p:cNvPr id="29" name="文本框 28"/>
              <p:cNvSpPr txBox="1"/>
              <p:nvPr/>
            </p:nvSpPr>
            <p:spPr>
              <a:xfrm>
                <a:off x="3131820" y="1773555"/>
                <a:ext cx="2589530" cy="90424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centerGroup"/>
                    </m:oMathParaPr>
                    <m:oMath xmlns:m="http://schemas.openxmlformats.org/officeDocument/2006/math">
                      <m:r>
                        <a:rPr kumimoji="1" lang="en-US" altLang="zh-CN" sz="2000" b="0" i="1" smtClean="0">
                          <a:solidFill>
                            <a:srgbClr val="FF0000"/>
                          </a:solidFill>
                          <a:latin typeface="Cambria Math" panose="02040503050406030204" pitchFamily="18" charset="0"/>
                        </a:rPr>
                        <m:t>𝑄</m:t>
                      </m:r>
                      <m:r>
                        <a:rPr kumimoji="1" lang="en-US" altLang="zh-CN" sz="2000" b="0" i="1" smtClean="0">
                          <a:solidFill>
                            <a:srgbClr val="FF0000"/>
                          </a:solidFill>
                          <a:latin typeface="Cambria Math" panose="02040503050406030204" pitchFamily="18" charset="0"/>
                        </a:rPr>
                        <m:t>=</m:t>
                      </m:r>
                      <m:rad>
                        <m:radPr>
                          <m:degHide m:val="on"/>
                          <m:ctrlPr>
                            <a:rPr kumimoji="1" lang="en-US" altLang="zh-CN" sz="2000" b="0" i="1" smtClean="0">
                              <a:solidFill>
                                <a:srgbClr val="FF0000"/>
                              </a:solidFill>
                              <a:latin typeface="Cambria Math" panose="02040503050406030204" pitchFamily="18" charset="0"/>
                            </a:rPr>
                          </m:ctrlPr>
                        </m:radPr>
                        <m:deg/>
                        <m:e>
                          <m:f>
                            <m:fPr>
                              <m:ctrlPr>
                                <a:rPr kumimoji="1" lang="en-US" altLang="zh-CN" sz="2000" b="0" i="1" smtClean="0">
                                  <a:solidFill>
                                    <a:srgbClr val="FF0000"/>
                                  </a:solidFill>
                                  <a:latin typeface="Cambria Math" panose="02040503050406030204" pitchFamily="18" charset="0"/>
                                </a:rPr>
                              </m:ctrlPr>
                            </m:fPr>
                            <m:num>
                              <m:sSub>
                                <m:sSubPr>
                                  <m:ctrlPr>
                                    <a:rPr kumimoji="1" lang="en-US" altLang="zh-CN" sz="2000" b="0" i="1" smtClean="0">
                                      <a:solidFill>
                                        <a:srgbClr val="FF0000"/>
                                      </a:solidFill>
                                      <a:latin typeface="Cambria Math" panose="02040503050406030204" pitchFamily="18" charset="0"/>
                                    </a:rPr>
                                  </m:ctrlPr>
                                </m:sSubPr>
                                <m:e>
                                  <m:r>
                                    <a:rPr kumimoji="1" lang="en-US" altLang="zh-CN" sz="2000" b="0" i="1" smtClean="0">
                                      <a:solidFill>
                                        <a:srgbClr val="FF0000"/>
                                      </a:solidFill>
                                      <a:latin typeface="Cambria Math" panose="02040503050406030204" pitchFamily="18" charset="0"/>
                                    </a:rPr>
                                    <m:t>𝑅</m:t>
                                  </m:r>
                                </m:e>
                                <m:sub>
                                  <m:r>
                                    <a:rPr kumimoji="1" lang="zh-CN" altLang="en-US" sz="2000" i="1">
                                      <a:solidFill>
                                        <a:srgbClr val="FF0000"/>
                                      </a:solidFill>
                                      <a:latin typeface="Cambria Math" panose="02040503050406030204" pitchFamily="18" charset="0"/>
                                    </a:rPr>
                                    <m:t>大</m:t>
                                  </m:r>
                                </m:sub>
                              </m:sSub>
                            </m:num>
                            <m:den>
                              <m:sSub>
                                <m:sSubPr>
                                  <m:ctrlPr>
                                    <a:rPr kumimoji="1" lang="en-US" altLang="zh-CN" sz="2000" b="0" i="1" smtClean="0">
                                      <a:solidFill>
                                        <a:srgbClr val="FF0000"/>
                                      </a:solidFill>
                                      <a:latin typeface="Cambria Math" panose="02040503050406030204" pitchFamily="18" charset="0"/>
                                    </a:rPr>
                                  </m:ctrlPr>
                                </m:sSubPr>
                                <m:e>
                                  <m:r>
                                    <a:rPr kumimoji="1" lang="en-US" altLang="zh-CN" sz="2000" b="0" i="1" smtClean="0">
                                      <a:solidFill>
                                        <a:srgbClr val="FF0000"/>
                                      </a:solidFill>
                                      <a:latin typeface="Cambria Math" panose="02040503050406030204" pitchFamily="18" charset="0"/>
                                    </a:rPr>
                                    <m:t>𝑅</m:t>
                                  </m:r>
                                </m:e>
                                <m:sub>
                                  <m:r>
                                    <a:rPr kumimoji="1" lang="zh-CN" altLang="en-US" sz="2000" i="1">
                                      <a:solidFill>
                                        <a:srgbClr val="FF0000"/>
                                      </a:solidFill>
                                      <a:latin typeface="Cambria Math" panose="02040503050406030204" pitchFamily="18" charset="0"/>
                                    </a:rPr>
                                    <m:t>小</m:t>
                                  </m:r>
                                </m:sub>
                              </m:sSub>
                            </m:den>
                          </m:f>
                          <m:r>
                            <a:rPr kumimoji="1" lang="en-US" altLang="zh-CN" sz="2000" b="0" i="1" smtClean="0">
                              <a:solidFill>
                                <a:srgbClr val="FF0000"/>
                              </a:solidFill>
                              <a:latin typeface="Cambria Math" panose="02040503050406030204" pitchFamily="18" charset="0"/>
                            </a:rPr>
                            <m:t>−</m:t>
                          </m:r>
                          <m:r>
                            <a:rPr kumimoji="1" lang="en-US" altLang="zh-CN" sz="2000" b="0" i="1" smtClean="0">
                              <a:solidFill>
                                <a:srgbClr val="FF0000"/>
                              </a:solidFill>
                              <a:latin typeface="Cambria Math" panose="02040503050406030204" pitchFamily="18" charset="0"/>
                            </a:rPr>
                            <m:t>1</m:t>
                          </m:r>
                        </m:e>
                      </m:rad>
                    </m:oMath>
                  </m:oMathPara>
                </a14:m>
                <a:endParaRPr kumimoji="1" lang="en-US" altLang="zh-CN" sz="2000" b="0" i="1" dirty="0">
                  <a:solidFill>
                    <a:srgbClr val="FF0000"/>
                  </a:solidFill>
                  <a:latin typeface="Cambria Math" panose="02040503050406030204" pitchFamily="18" charset="0"/>
                  <a:cs typeface="Cambria Math" panose="02040503050406030204" pitchFamily="18" charset="0"/>
                </a:endParaRPr>
              </a:p>
            </p:txBody>
          </p:sp>
        </mc:Choice>
        <mc:Fallback>
          <p:sp>
            <p:nvSpPr>
              <p:cNvPr id="29" name="文本框 28"/>
              <p:cNvSpPr txBox="1">
                <a:spLocks noRot="1" noChangeAspect="1" noMove="1" noResize="1" noEditPoints="1" noAdjustHandles="1" noChangeArrowheads="1" noChangeShapeType="1" noTextEdit="1"/>
              </p:cNvSpPr>
              <p:nvPr/>
            </p:nvSpPr>
            <p:spPr>
              <a:xfrm>
                <a:off x="3131820" y="1773555"/>
                <a:ext cx="2589530" cy="904240"/>
              </a:xfrm>
              <a:prstGeom prst="rect">
                <a:avLst/>
              </a:prstGeom>
              <a:blipFill rotWithShape="1">
                <a:blip r:embed="rId3"/>
                <a:stretch>
                  <a:fillRect/>
                </a:stretch>
              </a:blipFill>
            </p:spPr>
            <p:txBody>
              <a:bodyPr/>
              <a:lstStyle/>
              <a:p>
                <a:r>
                  <a:rPr lang="zh-CN" altLang="en-US">
                    <a:noFill/>
                  </a:rPr>
                  <a:t> </a:t>
                </a:r>
              </a:p>
            </p:txBody>
          </p:sp>
        </mc:Fallback>
      </mc:AlternateContent>
      <p:graphicFrame>
        <p:nvGraphicFramePr>
          <p:cNvPr id="4" name="对象 3"/>
          <p:cNvGraphicFramePr/>
          <p:nvPr/>
        </p:nvGraphicFramePr>
        <p:xfrm>
          <a:off x="467995" y="3429000"/>
          <a:ext cx="1478915" cy="873760"/>
        </p:xfrm>
        <a:graphic>
          <a:graphicData uri="http://schemas.openxmlformats.org/presentationml/2006/ole">
            <mc:AlternateContent xmlns:mc="http://schemas.openxmlformats.org/markup-compatibility/2006">
              <mc:Choice xmlns:v="urn:schemas-microsoft-com:vml" Requires="v">
                <p:oleObj spid="_x0000_s2" name="" r:id="rId4" imgW="1478915" imgH="873760" progId="Equation.DSMT4">
                  <p:embed/>
                </p:oleObj>
              </mc:Choice>
              <mc:Fallback>
                <p:oleObj name="" r:id="rId4" imgW="1478915" imgH="873760" progId="Equation.DSMT4">
                  <p:embed/>
                  <p:pic>
                    <p:nvPicPr>
                      <p:cNvPr id="0" name="图片 4"/>
                      <p:cNvPicPr/>
                      <p:nvPr/>
                    </p:nvPicPr>
                    <p:blipFill>
                      <a:blip r:embed="rId5"/>
                      <a:stretch>
                        <a:fillRect/>
                      </a:stretch>
                    </p:blipFill>
                    <p:spPr>
                      <a:xfrm>
                        <a:off x="467995" y="3429000"/>
                        <a:ext cx="1478915" cy="873760"/>
                      </a:xfrm>
                      <a:prstGeom prst="rect">
                        <a:avLst/>
                      </a:prstGeom>
                    </p:spPr>
                  </p:pic>
                </p:oleObj>
              </mc:Fallback>
            </mc:AlternateContent>
          </a:graphicData>
        </a:graphic>
      </p:graphicFrame>
      <p:pic>
        <p:nvPicPr>
          <p:cNvPr id="3" name="图片 2"/>
          <p:cNvPicPr>
            <a:picLocks noChangeAspect="1" noChangeArrowheads="1"/>
          </p:cNvPicPr>
          <p:nvPr/>
        </p:nvPicPr>
        <p:blipFill>
          <a:blip r:embed="rId6"/>
          <a:srcRect/>
          <a:stretch>
            <a:fillRect/>
          </a:stretch>
        </p:blipFill>
        <p:spPr bwMode="auto">
          <a:xfrm>
            <a:off x="2124261" y="3619024"/>
            <a:ext cx="1909763"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a14="http://schemas.microsoft.com/office/drawing/2010/main" Requires="a14">
          <p:sp>
            <p:nvSpPr>
              <p:cNvPr id="14" name="文本框 13"/>
              <p:cNvSpPr txBox="1"/>
              <p:nvPr/>
            </p:nvSpPr>
            <p:spPr>
              <a:xfrm>
                <a:off x="1404053" y="4365737"/>
                <a:ext cx="1129412" cy="369332"/>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r>
                            <a:rPr kumimoji="1" lang="en-US" altLang="zh-CN" sz="2400" b="0" i="1" smtClean="0">
                              <a:latin typeface="Cambria Math" panose="02040503050406030204" pitchFamily="18" charset="0"/>
                            </a:rPr>
                            <m:t>𝑅</m:t>
                          </m:r>
                        </m:e>
                        <m:sub>
                          <m:r>
                            <a:rPr kumimoji="1" lang="en-US" altLang="zh-CN" sz="2400" b="0" i="1" smtClean="0">
                              <a:latin typeface="Cambria Math" panose="02040503050406030204" pitchFamily="18" charset="0"/>
                            </a:rPr>
                            <m:t>1</m:t>
                          </m:r>
                        </m:sub>
                      </m:sSub>
                      <m:r>
                        <a:rPr kumimoji="1" lang="en-US" altLang="zh-CN" sz="2400" b="0" i="1" smtClean="0">
                          <a:latin typeface="Cambria Math" panose="02040503050406030204" pitchFamily="18" charset="0"/>
                        </a:rPr>
                        <m:t>&gt;</m:t>
                      </m:r>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𝑅</m:t>
                          </m:r>
                        </m:e>
                        <m:sub>
                          <m:r>
                            <a:rPr kumimoji="1" lang="en-US" altLang="zh-CN" sz="2400" b="0" i="1" smtClean="0">
                              <a:latin typeface="Cambria Math" panose="02040503050406030204" pitchFamily="18" charset="0"/>
                            </a:rPr>
                            <m:t>2</m:t>
                          </m:r>
                        </m:sub>
                      </m:sSub>
                    </m:oMath>
                  </m:oMathPara>
                </a14:m>
                <a:endParaRPr kumimoji="1" lang="zh-CN" altLang="en-US" sz="2400" dirty="0"/>
              </a:p>
            </p:txBody>
          </p:sp>
        </mc:Choice>
        <mc:Fallback>
          <p:sp>
            <p:nvSpPr>
              <p:cNvPr id="14" name="文本框 13"/>
              <p:cNvSpPr txBox="1">
                <a:spLocks noRot="1" noChangeAspect="1" noMove="1" noResize="1" noEditPoints="1" noAdjustHandles="1" noChangeArrowheads="1" noChangeShapeType="1" noTextEdit="1"/>
              </p:cNvSpPr>
              <p:nvPr/>
            </p:nvSpPr>
            <p:spPr>
              <a:xfrm>
                <a:off x="1404053" y="4365737"/>
                <a:ext cx="1129412" cy="369332"/>
              </a:xfrm>
              <a:prstGeom prst="rect">
                <a:avLst/>
              </a:prstGeom>
              <a:blipFill rotWithShape="1">
                <a:blip r:embed="rId7"/>
                <a:stretch>
                  <a:fillRect l="-6" t="-30" r="-4795" b="138"/>
                </a:stretch>
              </a:blipFill>
            </p:spPr>
            <p:txBody>
              <a:bodyPr/>
              <a:lstStyle/>
              <a:p>
                <a:r>
                  <a:rPr lang="zh-CN" altLang="en-US">
                    <a:noFill/>
                  </a:rPr>
                  <a:t> </a:t>
                </a:r>
              </a:p>
            </p:txBody>
          </p:sp>
        </mc:Fallback>
      </mc:AlternateContent>
      <p:pic>
        <p:nvPicPr>
          <p:cNvPr id="30" name="图片 29"/>
          <p:cNvPicPr/>
          <p:nvPr/>
        </p:nvPicPr>
        <p:blipFill>
          <a:blip r:embed="rId8"/>
          <a:stretch>
            <a:fillRect/>
          </a:stretch>
        </p:blipFill>
        <p:spPr>
          <a:xfrm>
            <a:off x="755650" y="4855845"/>
            <a:ext cx="2529205" cy="798195"/>
          </a:xfrm>
          <a:prstGeom prst="rect">
            <a:avLst/>
          </a:prstGeom>
        </p:spPr>
      </p:pic>
      <p:pic>
        <p:nvPicPr>
          <p:cNvPr id="7" name="图片 6"/>
          <p:cNvPicPr>
            <a:picLocks noChangeAspect="1" noChangeArrowheads="1"/>
          </p:cNvPicPr>
          <p:nvPr/>
        </p:nvPicPr>
        <p:blipFill>
          <a:blip r:embed="rId9"/>
          <a:srcRect/>
          <a:stretch>
            <a:fillRect/>
          </a:stretch>
        </p:blipFill>
        <p:spPr bwMode="auto">
          <a:xfrm>
            <a:off x="6876648" y="3397280"/>
            <a:ext cx="1806575"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p:cNvPicPr>
            <a:picLocks noChangeAspect="1" noChangeArrowheads="1"/>
          </p:cNvPicPr>
          <p:nvPr/>
        </p:nvPicPr>
        <p:blipFill>
          <a:blip r:embed="rId10"/>
          <a:srcRect/>
          <a:stretch>
            <a:fillRect/>
          </a:stretch>
        </p:blipFill>
        <p:spPr bwMode="auto">
          <a:xfrm>
            <a:off x="5050558" y="3339148"/>
            <a:ext cx="1600200"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a14="http://schemas.microsoft.com/office/drawing/2010/main" Requires="a14">
          <p:sp>
            <p:nvSpPr>
              <p:cNvPr id="16" name="文本框 15"/>
              <p:cNvSpPr txBox="1"/>
              <p:nvPr/>
            </p:nvSpPr>
            <p:spPr>
              <a:xfrm>
                <a:off x="6300279" y="4365744"/>
                <a:ext cx="1129412" cy="369332"/>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r>
                            <a:rPr kumimoji="1" lang="en-US" altLang="zh-CN" sz="2400" b="0" i="1" smtClean="0">
                              <a:latin typeface="Cambria Math" panose="02040503050406030204" pitchFamily="18" charset="0"/>
                            </a:rPr>
                            <m:t>𝑅</m:t>
                          </m:r>
                        </m:e>
                        <m:sub>
                          <m:r>
                            <a:rPr kumimoji="1" lang="en-US" altLang="zh-CN" sz="2400" b="0" i="1" smtClean="0">
                              <a:latin typeface="Cambria Math" panose="02040503050406030204" pitchFamily="18" charset="0"/>
                            </a:rPr>
                            <m:t>1</m:t>
                          </m:r>
                        </m:sub>
                      </m:sSub>
                      <m:r>
                        <a:rPr kumimoji="1" lang="en-US" altLang="zh-CN" sz="2400" b="0" i="1" smtClean="0">
                          <a:latin typeface="Cambria Math" panose="02040503050406030204" pitchFamily="18" charset="0"/>
                        </a:rPr>
                        <m:t>&lt;</m:t>
                      </m:r>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𝑅</m:t>
                          </m:r>
                        </m:e>
                        <m:sub>
                          <m:r>
                            <a:rPr kumimoji="1" lang="en-US" altLang="zh-CN" sz="2400" b="0" i="1" smtClean="0">
                              <a:latin typeface="Cambria Math" panose="02040503050406030204" pitchFamily="18" charset="0"/>
                            </a:rPr>
                            <m:t>2</m:t>
                          </m:r>
                        </m:sub>
                      </m:sSub>
                    </m:oMath>
                  </m:oMathPara>
                </a14:m>
                <a:endParaRPr kumimoji="1" lang="zh-CN" altLang="en-US" sz="2400" dirty="0"/>
              </a:p>
            </p:txBody>
          </p:sp>
        </mc:Choice>
        <mc:Fallback>
          <p:sp>
            <p:nvSpPr>
              <p:cNvPr id="16" name="文本框 15"/>
              <p:cNvSpPr txBox="1">
                <a:spLocks noRot="1" noChangeAspect="1" noMove="1" noResize="1" noEditPoints="1" noAdjustHandles="1" noChangeArrowheads="1" noChangeShapeType="1" noTextEdit="1"/>
              </p:cNvSpPr>
              <p:nvPr/>
            </p:nvSpPr>
            <p:spPr>
              <a:xfrm>
                <a:off x="6300279" y="4365744"/>
                <a:ext cx="1129412" cy="369332"/>
              </a:xfrm>
              <a:prstGeom prst="rect">
                <a:avLst/>
              </a:prstGeom>
              <a:blipFill rotWithShape="1">
                <a:blip r:embed="rId11"/>
                <a:stretch>
                  <a:fillRect l="-39" t="-32" r="-4762" b="140"/>
                </a:stretch>
              </a:blipFill>
            </p:spPr>
            <p:txBody>
              <a:bodyPr/>
              <a:lstStyle/>
              <a:p>
                <a:r>
                  <a:rPr lang="zh-CN" altLang="en-US">
                    <a:noFill/>
                  </a:rPr>
                  <a:t> </a:t>
                </a:r>
              </a:p>
            </p:txBody>
          </p:sp>
        </mc:Fallback>
      </mc:AlternateContent>
      <p:pic>
        <p:nvPicPr>
          <p:cNvPr id="32" name="图片 31"/>
          <p:cNvPicPr/>
          <p:nvPr/>
        </p:nvPicPr>
        <p:blipFill>
          <a:blip r:embed="rId12"/>
          <a:stretch>
            <a:fillRect/>
          </a:stretch>
        </p:blipFill>
        <p:spPr>
          <a:xfrm>
            <a:off x="5436235" y="4941570"/>
            <a:ext cx="2755900" cy="764540"/>
          </a:xfrm>
          <a:prstGeom prst="rect">
            <a:avLst/>
          </a:prstGeom>
        </p:spPr>
      </p:pic>
      <p:sp>
        <p:nvSpPr>
          <p:cNvPr id="33" name="Text Box 6"/>
          <p:cNvSpPr txBox="1">
            <a:spLocks noChangeArrowheads="1"/>
          </p:cNvSpPr>
          <p:nvPr/>
        </p:nvSpPr>
        <p:spPr bwMode="auto">
          <a:xfrm>
            <a:off x="611505" y="5733415"/>
            <a:ext cx="8089265" cy="1106805"/>
          </a:xfrm>
          <a:prstGeom prst="rect">
            <a:avLst/>
          </a:prstGeom>
          <a:solidFill>
            <a:schemeClr val="accent1">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2200" dirty="0">
                <a:latin typeface="+mj-ea"/>
                <a:ea typeface="+mj-ea"/>
                <a:cs typeface="+mj-ea"/>
              </a:rPr>
              <a:t>上述分析中，</a:t>
            </a:r>
            <a:r>
              <a:rPr lang="en-US" altLang="zh-CN" sz="2200" dirty="0">
                <a:latin typeface="+mj-ea"/>
                <a:ea typeface="+mj-ea"/>
                <a:cs typeface="+mj-ea"/>
              </a:rPr>
              <a:t>R1</a:t>
            </a:r>
            <a:r>
              <a:rPr lang="zh-CN" altLang="en-US" sz="2200" dirty="0">
                <a:latin typeface="+mj-ea"/>
                <a:ea typeface="+mj-ea"/>
                <a:cs typeface="+mj-ea"/>
              </a:rPr>
              <a:t>和</a:t>
            </a:r>
            <a:r>
              <a:rPr lang="en-US" altLang="zh-CN" sz="2200" dirty="0">
                <a:latin typeface="+mj-ea"/>
                <a:ea typeface="+mj-ea"/>
                <a:cs typeface="+mj-ea"/>
              </a:rPr>
              <a:t>R2</a:t>
            </a:r>
            <a:r>
              <a:rPr lang="zh-CN" altLang="en-US" sz="2200" dirty="0">
                <a:latin typeface="+mj-ea"/>
                <a:ea typeface="+mj-ea"/>
                <a:cs typeface="+mj-ea"/>
              </a:rPr>
              <a:t>都是纯电阻，如果不是纯电阻，设计时可先以纯电阻完成</a:t>
            </a:r>
            <a:r>
              <a:rPr lang="en-US" altLang="zh-CN" sz="2200" dirty="0">
                <a:latin typeface="+mj-ea"/>
                <a:ea typeface="+mj-ea"/>
                <a:cs typeface="+mj-ea"/>
              </a:rPr>
              <a:t>L</a:t>
            </a:r>
            <a:r>
              <a:rPr lang="zh-CN" altLang="en-US" sz="2200" dirty="0">
                <a:latin typeface="+mj-ea"/>
                <a:ea typeface="+mj-ea"/>
                <a:cs typeface="+mj-ea"/>
              </a:rPr>
              <a:t>型网络匹配，再从计算得到的电抗中扣除信源或负载中的电抗分量。</a:t>
            </a:r>
            <a:endParaRPr lang="zh-CN" altLang="en-US" sz="2200" dirty="0">
              <a:latin typeface="+mj-ea"/>
              <a:ea typeface="+mj-ea"/>
              <a:cs typeface="+mj-ea"/>
            </a:endParaRPr>
          </a:p>
        </p:txBody>
      </p:sp>
      <mc:AlternateContent xmlns:mc="http://schemas.openxmlformats.org/markup-compatibility/2006">
        <mc:Choice xmlns:a14="http://schemas.microsoft.com/office/drawing/2010/main" Requires="a14">
          <p:sp>
            <p:nvSpPr>
              <p:cNvPr id="9" name="文本框 8"/>
              <p:cNvSpPr txBox="1"/>
              <p:nvPr/>
            </p:nvSpPr>
            <p:spPr>
              <a:xfrm>
                <a:off x="2988310" y="2826385"/>
                <a:ext cx="2951480" cy="64389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centerGroup"/>
                    </m:oMathParaPr>
                    <m:oMath xmlns:m="http://schemas.openxmlformats.org/officeDocument/2006/math">
                      <m:d>
                        <m:dPr>
                          <m:begChr m:val="["/>
                          <m:endChr m:val=""/>
                          <m:ctrlPr>
                            <a:rPr kumimoji="1" lang="en-US" altLang="zh-CN" sz="2000" b="0" i="1" smtClean="0">
                              <a:solidFill>
                                <a:srgbClr val="FF0000"/>
                              </a:solidFill>
                              <a:latin typeface="Cambria Math" panose="02040503050406030204" pitchFamily="18" charset="0"/>
                            </a:rPr>
                          </m:ctrlPr>
                        </m:dPr>
                        <m:e>
                          <m:m>
                            <m:mPr>
                              <m:mcs>
                                <m:mc>
                                  <m:mcPr>
                                    <m:count m:val="1"/>
                                    <m:mcJc m:val="center"/>
                                  </m:mcPr>
                                </m:mc>
                              </m:mcs>
                              <m:ctrlPr>
                                <a:rPr kumimoji="1" lang="en-US" altLang="zh-CN" sz="2000" b="0" i="1" smtClean="0">
                                  <a:solidFill>
                                    <a:srgbClr val="FF0000"/>
                                  </a:solidFill>
                                  <a:latin typeface="Cambria Math" panose="02040503050406030204" pitchFamily="18" charset="0"/>
                                </a:rPr>
                              </m:ctrlPr>
                            </m:mPr>
                            <m:mr>
                              <m:e>
                                <m:sSub>
                                  <m:sSubPr>
                                    <m:ctrlPr>
                                      <a:rPr kumimoji="1" lang="en-US" altLang="zh-CN" sz="2000" b="0" i="1" smtClean="0">
                                        <a:solidFill>
                                          <a:srgbClr val="FF0000"/>
                                        </a:solidFill>
                                        <a:latin typeface="Cambria Math" panose="02040503050406030204" pitchFamily="18" charset="0"/>
                                      </a:rPr>
                                    </m:ctrlPr>
                                  </m:sSubPr>
                                  <m:e>
                                    <m:r>
                                      <a:rPr kumimoji="1" lang="en-US" altLang="zh-CN" sz="2000" b="0" i="1" smtClean="0">
                                        <a:solidFill>
                                          <a:srgbClr val="FF0000"/>
                                        </a:solidFill>
                                        <a:latin typeface="Cambria Math" panose="02040503050406030204" pitchFamily="18" charset="0"/>
                                      </a:rPr>
                                      <m:t>𝑅</m:t>
                                    </m:r>
                                  </m:e>
                                  <m:sub>
                                    <m:r>
                                      <a:rPr kumimoji="1" lang="zh-CN" altLang="en-US" sz="2000" i="1">
                                        <a:solidFill>
                                          <a:srgbClr val="FF0000"/>
                                        </a:solidFill>
                                        <a:latin typeface="Cambria Math" panose="02040503050406030204" pitchFamily="18" charset="0"/>
                                      </a:rPr>
                                      <m:t>大</m:t>
                                    </m:r>
                                  </m:sub>
                                </m:sSub>
                                <m:r>
                                  <m:rPr>
                                    <m:brk m:alnAt="7"/>
                                  </m:rPr>
                                  <a:rPr kumimoji="1" lang="en-US" altLang="zh-CN" sz="2000" b="0" i="1" smtClean="0">
                                    <a:solidFill>
                                      <a:srgbClr val="FF0000"/>
                                    </a:solidFill>
                                    <a:latin typeface="Cambria Math" panose="02040503050406030204" pitchFamily="18" charset="0"/>
                                  </a:rPr>
                                  <m:t>=</m:t>
                                </m:r>
                                <m:r>
                                  <m:rPr>
                                    <m:sty m:val="p"/>
                                  </m:rPr>
                                  <a:rPr kumimoji="1" lang="en-US" altLang="zh-CN" sz="2000" i="1">
                                    <a:solidFill>
                                      <a:srgbClr val="FF0000"/>
                                    </a:solidFill>
                                    <a:latin typeface="Cambria Math" panose="02040503050406030204" pitchFamily="18" charset="0"/>
                                  </a:rPr>
                                  <m:t>max</m:t>
                                </m:r>
                                <m:d>
                                  <m:dPr>
                                    <m:ctrlPr>
                                      <a:rPr kumimoji="1" lang="en-US" altLang="zh-CN" sz="2000" i="1" smtClean="0">
                                        <a:solidFill>
                                          <a:srgbClr val="FF0000"/>
                                        </a:solidFill>
                                        <a:latin typeface="Cambria Math" panose="02040503050406030204" pitchFamily="18" charset="0"/>
                                      </a:rPr>
                                    </m:ctrlPr>
                                  </m:dPr>
                                  <m:e>
                                    <m:sSub>
                                      <m:sSubPr>
                                        <m:ctrlPr>
                                          <a:rPr kumimoji="1" lang="en-US" altLang="zh-CN" sz="2000" i="1" smtClean="0">
                                            <a:solidFill>
                                              <a:srgbClr val="FF0000"/>
                                            </a:solidFill>
                                            <a:latin typeface="Cambria Math" panose="02040503050406030204" pitchFamily="18" charset="0"/>
                                          </a:rPr>
                                        </m:ctrlPr>
                                      </m:sSubPr>
                                      <m:e>
                                        <m:r>
                                          <a:rPr kumimoji="1" lang="en-US" altLang="zh-CN" sz="2000" b="0" i="1" smtClean="0">
                                            <a:solidFill>
                                              <a:srgbClr val="FF0000"/>
                                            </a:solidFill>
                                            <a:latin typeface="Cambria Math" panose="02040503050406030204" pitchFamily="18" charset="0"/>
                                          </a:rPr>
                                          <m:t>𝑅</m:t>
                                        </m:r>
                                      </m:e>
                                      <m:sub>
                                        <m:r>
                                          <a:rPr kumimoji="1" lang="en-US" altLang="zh-CN" sz="2000" b="0" i="1" smtClean="0">
                                            <a:solidFill>
                                              <a:srgbClr val="FF0000"/>
                                            </a:solidFill>
                                            <a:latin typeface="Cambria Math" panose="02040503050406030204" pitchFamily="18" charset="0"/>
                                          </a:rPr>
                                          <m:t>1</m:t>
                                        </m:r>
                                      </m:sub>
                                    </m:sSub>
                                    <m:r>
                                      <a:rPr kumimoji="1" lang="en-US" altLang="zh-CN" sz="2000" b="0" i="1" smtClean="0">
                                        <a:solidFill>
                                          <a:srgbClr val="FF0000"/>
                                        </a:solidFill>
                                        <a:latin typeface="Cambria Math" panose="02040503050406030204" pitchFamily="18" charset="0"/>
                                      </a:rPr>
                                      <m:t>,</m:t>
                                    </m:r>
                                    <m:sSub>
                                      <m:sSubPr>
                                        <m:ctrlPr>
                                          <a:rPr kumimoji="1" lang="en-US" altLang="zh-CN" sz="2000" b="0" i="1" smtClean="0">
                                            <a:solidFill>
                                              <a:srgbClr val="FF0000"/>
                                            </a:solidFill>
                                            <a:latin typeface="Cambria Math" panose="02040503050406030204" pitchFamily="18" charset="0"/>
                                          </a:rPr>
                                        </m:ctrlPr>
                                      </m:sSubPr>
                                      <m:e>
                                        <m:r>
                                          <a:rPr kumimoji="1" lang="en-US" altLang="zh-CN" sz="2000" b="0" i="1" smtClean="0">
                                            <a:solidFill>
                                              <a:srgbClr val="FF0000"/>
                                            </a:solidFill>
                                            <a:latin typeface="Cambria Math" panose="02040503050406030204" pitchFamily="18" charset="0"/>
                                          </a:rPr>
                                          <m:t>𝑅</m:t>
                                        </m:r>
                                      </m:e>
                                      <m:sub>
                                        <m:r>
                                          <a:rPr kumimoji="1" lang="en-US" altLang="zh-CN" sz="2000" b="0" i="1" smtClean="0">
                                            <a:solidFill>
                                              <a:srgbClr val="FF0000"/>
                                            </a:solidFill>
                                            <a:latin typeface="Cambria Math" panose="02040503050406030204" pitchFamily="18" charset="0"/>
                                          </a:rPr>
                                          <m:t>2</m:t>
                                        </m:r>
                                      </m:sub>
                                    </m:sSub>
                                  </m:e>
                                </m:d>
                              </m:e>
                            </m:mr>
                            <m:mr>
                              <m:e>
                                <m:sSub>
                                  <m:sSubPr>
                                    <m:ctrlPr>
                                      <a:rPr kumimoji="1" lang="en-US" altLang="zh-CN" sz="2000" b="0" i="1" smtClean="0">
                                        <a:solidFill>
                                          <a:srgbClr val="FF0000"/>
                                        </a:solidFill>
                                        <a:latin typeface="Cambria Math" panose="02040503050406030204" pitchFamily="18" charset="0"/>
                                      </a:rPr>
                                    </m:ctrlPr>
                                  </m:sSubPr>
                                  <m:e>
                                    <m:r>
                                      <a:rPr kumimoji="1" lang="en-US" altLang="zh-CN" sz="2000" b="0" i="1" smtClean="0">
                                        <a:solidFill>
                                          <a:srgbClr val="FF0000"/>
                                        </a:solidFill>
                                        <a:latin typeface="Cambria Math" panose="02040503050406030204" pitchFamily="18" charset="0"/>
                                      </a:rPr>
                                      <m:t>𝑅</m:t>
                                    </m:r>
                                  </m:e>
                                  <m:sub>
                                    <m:r>
                                      <a:rPr kumimoji="1" lang="zh-CN" altLang="en-US" sz="2000" i="1">
                                        <a:solidFill>
                                          <a:srgbClr val="FF0000"/>
                                        </a:solidFill>
                                        <a:latin typeface="Cambria Math" panose="02040503050406030204" pitchFamily="18" charset="0"/>
                                      </a:rPr>
                                      <m:t>小</m:t>
                                    </m:r>
                                  </m:sub>
                                </m:sSub>
                                <m:r>
                                  <a:rPr kumimoji="1" lang="en-US" altLang="zh-CN" sz="2000" b="0" i="1" smtClean="0">
                                    <a:solidFill>
                                      <a:srgbClr val="FF0000"/>
                                    </a:solidFill>
                                    <a:latin typeface="Cambria Math" panose="02040503050406030204" pitchFamily="18" charset="0"/>
                                  </a:rPr>
                                  <m:t>=</m:t>
                                </m:r>
                                <m:r>
                                  <a:rPr kumimoji="1" lang="en-US" altLang="zh-CN" sz="2000" b="0" i="1" smtClean="0">
                                    <a:solidFill>
                                      <a:srgbClr val="FF0000"/>
                                    </a:solidFill>
                                    <a:latin typeface="Cambria Math" panose="02040503050406030204" pitchFamily="18" charset="0"/>
                                  </a:rPr>
                                  <m:t>𝑚𝑖𝑛</m:t>
                                </m:r>
                                <m:d>
                                  <m:dPr>
                                    <m:ctrlPr>
                                      <a:rPr kumimoji="1" lang="en-US" altLang="zh-CN" sz="2000" i="1">
                                        <a:solidFill>
                                          <a:srgbClr val="FF0000"/>
                                        </a:solidFill>
                                        <a:latin typeface="Cambria Math" panose="02040503050406030204" pitchFamily="18" charset="0"/>
                                      </a:rPr>
                                    </m:ctrlPr>
                                  </m:dPr>
                                  <m:e>
                                    <m:sSub>
                                      <m:sSubPr>
                                        <m:ctrlPr>
                                          <a:rPr kumimoji="1" lang="en-US" altLang="zh-CN" sz="2000" i="1">
                                            <a:solidFill>
                                              <a:srgbClr val="FF0000"/>
                                            </a:solidFill>
                                            <a:latin typeface="Cambria Math" panose="02040503050406030204" pitchFamily="18" charset="0"/>
                                          </a:rPr>
                                        </m:ctrlPr>
                                      </m:sSubPr>
                                      <m:e>
                                        <m:r>
                                          <a:rPr kumimoji="1" lang="en-US" altLang="zh-CN" sz="2000" i="1">
                                            <a:solidFill>
                                              <a:srgbClr val="FF0000"/>
                                            </a:solidFill>
                                            <a:latin typeface="Cambria Math" panose="02040503050406030204" pitchFamily="18" charset="0"/>
                                          </a:rPr>
                                          <m:t>𝑅</m:t>
                                        </m:r>
                                      </m:e>
                                      <m:sub>
                                        <m:r>
                                          <a:rPr kumimoji="1" lang="en-US" altLang="zh-CN" sz="2000" i="1">
                                            <a:solidFill>
                                              <a:srgbClr val="FF0000"/>
                                            </a:solidFill>
                                            <a:latin typeface="Cambria Math" panose="02040503050406030204" pitchFamily="18" charset="0"/>
                                          </a:rPr>
                                          <m:t>1</m:t>
                                        </m:r>
                                      </m:sub>
                                    </m:sSub>
                                    <m:r>
                                      <a:rPr kumimoji="1" lang="en-US" altLang="zh-CN" sz="2000" i="1">
                                        <a:solidFill>
                                          <a:srgbClr val="FF0000"/>
                                        </a:solidFill>
                                        <a:latin typeface="Cambria Math" panose="02040503050406030204" pitchFamily="18" charset="0"/>
                                      </a:rPr>
                                      <m:t>,</m:t>
                                    </m:r>
                                    <m:sSub>
                                      <m:sSubPr>
                                        <m:ctrlPr>
                                          <a:rPr kumimoji="1" lang="en-US" altLang="zh-CN" sz="2000" i="1">
                                            <a:solidFill>
                                              <a:srgbClr val="FF0000"/>
                                            </a:solidFill>
                                            <a:latin typeface="Cambria Math" panose="02040503050406030204" pitchFamily="18" charset="0"/>
                                          </a:rPr>
                                        </m:ctrlPr>
                                      </m:sSubPr>
                                      <m:e>
                                        <m:r>
                                          <a:rPr kumimoji="1" lang="en-US" altLang="zh-CN" sz="2000" i="1">
                                            <a:solidFill>
                                              <a:srgbClr val="FF0000"/>
                                            </a:solidFill>
                                            <a:latin typeface="Cambria Math" panose="02040503050406030204" pitchFamily="18" charset="0"/>
                                          </a:rPr>
                                          <m:t>𝑅</m:t>
                                        </m:r>
                                      </m:e>
                                      <m:sub>
                                        <m:r>
                                          <a:rPr kumimoji="1" lang="en-US" altLang="zh-CN" sz="2000" i="1">
                                            <a:solidFill>
                                              <a:srgbClr val="FF0000"/>
                                            </a:solidFill>
                                            <a:latin typeface="Cambria Math" panose="02040503050406030204" pitchFamily="18" charset="0"/>
                                          </a:rPr>
                                          <m:t>2</m:t>
                                        </m:r>
                                      </m:sub>
                                    </m:sSub>
                                  </m:e>
                                </m:d>
                              </m:e>
                            </m:mr>
                          </m:m>
                        </m:e>
                      </m:d>
                    </m:oMath>
                  </m:oMathPara>
                </a14:m>
                <a:endParaRPr kumimoji="1" lang="en-US" altLang="zh-CN" sz="2000" i="1" dirty="0">
                  <a:solidFill>
                    <a:srgbClr val="FF0000"/>
                  </a:solidFill>
                  <a:latin typeface="Cambria Math" panose="02040503050406030204" pitchFamily="18" charset="0"/>
                  <a:cs typeface="Cambria Math" panose="02040503050406030204" pitchFamily="18" charset="0"/>
                </a:endParaRPr>
              </a:p>
            </p:txBody>
          </p:sp>
        </mc:Choice>
        <mc:Fallback>
          <p:sp>
            <p:nvSpPr>
              <p:cNvPr id="9" name="文本框 8"/>
              <p:cNvSpPr txBox="1">
                <a:spLocks noRot="1" noChangeAspect="1" noMove="1" noResize="1" noEditPoints="1" noAdjustHandles="1" noChangeArrowheads="1" noChangeShapeType="1" noTextEdit="1"/>
              </p:cNvSpPr>
              <p:nvPr/>
            </p:nvSpPr>
            <p:spPr>
              <a:xfrm>
                <a:off x="2988310" y="2826385"/>
                <a:ext cx="2951480" cy="643890"/>
              </a:xfrm>
              <a:prstGeom prst="rect">
                <a:avLst/>
              </a:prstGeom>
              <a:blipFill rotWithShape="1">
                <a:blip r:embed="rId13"/>
                <a:stretch>
                  <a:fillRect/>
                </a:stretch>
              </a:blipFill>
            </p:spPr>
            <p:txBody>
              <a:bodyPr/>
              <a:lstStyle/>
              <a:p>
                <a:r>
                  <a:rPr lang="zh-CN" altLang="en-US">
                    <a:noFill/>
                  </a:rPr>
                  <a:t> </a:t>
                </a:r>
              </a:p>
            </p:txBody>
          </p:sp>
        </mc:Fallback>
      </mc:AlternateContent>
    </p:spTree>
  </p:cSld>
  <p:clrMapOvr>
    <a:masterClrMapping/>
  </p:clrMapOvr>
  <p:transition spd="med">
    <p:zo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36880" y="1485265"/>
            <a:ext cx="8201660" cy="1198880"/>
          </a:xfrm>
          <a:prstGeom prst="rect">
            <a:avLst/>
          </a:prstGeom>
          <a:noFill/>
        </p:spPr>
        <p:txBody>
          <a:bodyPr wrap="square" rtlCol="0">
            <a:spAutoFit/>
          </a:bodyPr>
          <a:lstStyle/>
          <a:p>
            <a:r>
              <a:rPr lang="zh-CN" altLang="en-US" dirty="0">
                <a:latin typeface="+mj-lt"/>
                <a:ea typeface="+mj-ea"/>
                <a:cs typeface="+mj-lt"/>
              </a:rPr>
              <a:t>例</a:t>
            </a:r>
            <a:r>
              <a:rPr lang="en-US" altLang="zh-CN" dirty="0">
                <a:latin typeface="+mj-lt"/>
                <a:ea typeface="+mj-ea"/>
                <a:cs typeface="+mj-lt"/>
              </a:rPr>
              <a:t>3</a:t>
            </a:r>
            <a:r>
              <a:rPr lang="zh-CN" altLang="en-US" dirty="0">
                <a:latin typeface="+mj-lt"/>
                <a:ea typeface="+mj-ea"/>
                <a:cs typeface="+mj-lt"/>
              </a:rPr>
              <a:t>：</a:t>
            </a:r>
            <a:r>
              <a:rPr lang="zh-CN" altLang="en-US" dirty="0">
                <a:latin typeface="+mj-lt"/>
                <a:ea typeface="+mj-ea"/>
                <a:cs typeface="+mj-lt"/>
                <a:sym typeface="+mn-ea"/>
              </a:rPr>
              <a:t>已知某电阻性负载为</a:t>
            </a:r>
            <a:r>
              <a:rPr lang="en-US" altLang="zh-CN" dirty="0">
                <a:latin typeface="+mj-lt"/>
                <a:ea typeface="+mj-ea"/>
                <a:cs typeface="+mj-lt"/>
                <a:sym typeface="+mn-ea"/>
              </a:rPr>
              <a:t>10</a:t>
            </a:r>
            <a:r>
              <a:rPr lang="en-US" altLang="zh-CN" dirty="0">
                <a:latin typeface="+mj-lt"/>
                <a:ea typeface="+mj-ea"/>
                <a:cs typeface="+mj-lt"/>
                <a:sym typeface="Symbol" panose="05050102010706020507" pitchFamily="18" charset="2"/>
              </a:rPr>
              <a:t></a:t>
            </a:r>
            <a:r>
              <a:rPr lang="zh-CN" altLang="en-US" dirty="0">
                <a:latin typeface="+mj-lt"/>
                <a:ea typeface="+mj-ea"/>
                <a:cs typeface="+mj-lt"/>
                <a:sym typeface="Symbol" panose="05050102010706020507" pitchFamily="18" charset="2"/>
              </a:rPr>
              <a:t>，请设计一个匹配网络，使该负载在</a:t>
            </a:r>
            <a:r>
              <a:rPr lang="en-US" altLang="zh-CN" dirty="0">
                <a:latin typeface="+mj-lt"/>
                <a:ea typeface="+mj-ea"/>
                <a:cs typeface="+mj-lt"/>
                <a:sym typeface="Symbol" panose="05050102010706020507" pitchFamily="18" charset="2"/>
              </a:rPr>
              <a:t>20MHz</a:t>
            </a:r>
            <a:r>
              <a:rPr lang="zh-CN" altLang="en-US" dirty="0">
                <a:latin typeface="+mj-lt"/>
                <a:ea typeface="+mj-ea"/>
                <a:cs typeface="+mj-lt"/>
                <a:sym typeface="Symbol" panose="05050102010706020507" pitchFamily="18" charset="2"/>
              </a:rPr>
              <a:t>时转换为</a:t>
            </a:r>
            <a:r>
              <a:rPr lang="en-US" altLang="zh-CN" dirty="0">
                <a:latin typeface="+mj-lt"/>
                <a:ea typeface="+mj-ea"/>
                <a:cs typeface="+mj-lt"/>
                <a:sym typeface="Symbol" panose="05050102010706020507" pitchFamily="18" charset="2"/>
              </a:rPr>
              <a:t>50 </a:t>
            </a:r>
            <a:r>
              <a:rPr lang="zh-CN" altLang="en-US" dirty="0">
                <a:latin typeface="+mj-lt"/>
                <a:ea typeface="+mj-ea"/>
                <a:cs typeface="+mj-lt"/>
                <a:sym typeface="Symbol" panose="05050102010706020507" pitchFamily="18" charset="2"/>
              </a:rPr>
              <a:t>。如果负载由</a:t>
            </a:r>
            <a:r>
              <a:rPr lang="en-US" altLang="zh-CN" dirty="0">
                <a:latin typeface="+mj-lt"/>
                <a:ea typeface="+mj-ea"/>
                <a:cs typeface="+mj-lt"/>
                <a:sym typeface="Symbol" panose="05050102010706020507" pitchFamily="18" charset="2"/>
              </a:rPr>
              <a:t>10 </a:t>
            </a:r>
            <a:r>
              <a:rPr lang="zh-CN" altLang="en-US" dirty="0">
                <a:latin typeface="+mj-lt"/>
                <a:ea typeface="+mj-ea"/>
                <a:cs typeface="+mj-lt"/>
                <a:sym typeface="Symbol" panose="05050102010706020507" pitchFamily="18" charset="2"/>
              </a:rPr>
              <a:t>和</a:t>
            </a:r>
            <a:r>
              <a:rPr lang="en-US" altLang="zh-CN" dirty="0">
                <a:latin typeface="+mj-lt"/>
                <a:ea typeface="+mj-ea"/>
                <a:cs typeface="+mj-lt"/>
                <a:sym typeface="Symbol" panose="05050102010706020507" pitchFamily="18" charset="2"/>
              </a:rPr>
              <a:t>0.2H</a:t>
            </a:r>
            <a:r>
              <a:rPr lang="zh-CN" altLang="en-US" dirty="0">
                <a:latin typeface="+mj-lt"/>
                <a:ea typeface="+mj-ea"/>
                <a:cs typeface="+mj-lt"/>
                <a:sym typeface="Symbol" panose="05050102010706020507" pitchFamily="18" charset="2"/>
              </a:rPr>
              <a:t>电感串联组成，又该怎么设计匹配网络？</a:t>
            </a:r>
            <a:endParaRPr lang="zh-CN" altLang="en-US" dirty="0">
              <a:latin typeface="+mj-lt"/>
              <a:ea typeface="+mj-ea"/>
              <a:cs typeface="+mj-lt"/>
            </a:endParaRPr>
          </a:p>
        </p:txBody>
      </p:sp>
      <p:sp>
        <p:nvSpPr>
          <p:cNvPr id="41989" name="Text Box 11"/>
          <p:cNvSpPr txBox="1"/>
          <p:nvPr/>
        </p:nvSpPr>
        <p:spPr>
          <a:xfrm>
            <a:off x="323533" y="512445"/>
            <a:ext cx="5232400" cy="460375"/>
          </a:xfrm>
          <a:prstGeom prst="rect">
            <a:avLst/>
          </a:prstGeom>
          <a:noFill/>
          <a:ln w="9525">
            <a:noFill/>
          </a:ln>
        </p:spPr>
        <p:txBody>
          <a:bodyPr wrap="none">
            <a:spAutoFit/>
          </a:bodyPr>
          <a:lstStyle/>
          <a:p>
            <a:r>
              <a:rPr lang="zh-CN" altLang="en-US" b="1" dirty="0">
                <a:solidFill>
                  <a:srgbClr val="FF0066"/>
                </a:solidFill>
                <a:latin typeface="Times New Roman" panose="02020603050405020304" pitchFamily="18" charset="0"/>
              </a:rPr>
              <a:t>五</a:t>
            </a:r>
            <a:r>
              <a:rPr lang="en-US" altLang="zh-CN" b="1" dirty="0">
                <a:solidFill>
                  <a:srgbClr val="FF0066"/>
                </a:solidFill>
                <a:latin typeface="Times New Roman" panose="02020603050405020304" pitchFamily="18" charset="0"/>
              </a:rPr>
              <a:t>. </a:t>
            </a:r>
            <a:r>
              <a:rPr lang="zh-CN" altLang="en-US" b="1" dirty="0">
                <a:solidFill>
                  <a:srgbClr val="FF0066"/>
                </a:solidFill>
                <a:latin typeface="Times New Roman" panose="02020603050405020304" pitchFamily="18" charset="0"/>
              </a:rPr>
              <a:t>衰减器与匹配器（选频匹配网络）</a:t>
            </a:r>
            <a:endParaRPr lang="zh-CN" altLang="en-US" b="1" dirty="0">
              <a:solidFill>
                <a:srgbClr val="FF0066"/>
              </a:solidFill>
              <a:latin typeface="Times New Roman" panose="02020603050405020304" pitchFamily="18" charset="0"/>
            </a:endParaRPr>
          </a:p>
        </p:txBody>
      </p:sp>
      <p:sp>
        <p:nvSpPr>
          <p:cNvPr id="52240" name="Text Box 16"/>
          <p:cNvSpPr txBox="1"/>
          <p:nvPr/>
        </p:nvSpPr>
        <p:spPr>
          <a:xfrm>
            <a:off x="179705" y="980758"/>
            <a:ext cx="4823460" cy="460375"/>
          </a:xfrm>
          <a:prstGeom prst="rect">
            <a:avLst/>
          </a:prstGeom>
          <a:noFill/>
          <a:ln w="9525">
            <a:noFill/>
          </a:ln>
        </p:spPr>
        <p:txBody>
          <a:bodyPr wrap="none">
            <a:spAutoFit/>
          </a:bodyPr>
          <a:lstStyle/>
          <a:p>
            <a:pPr algn="l"/>
            <a:r>
              <a:rPr lang="zh-CN" altLang="en-US" b="1" dirty="0">
                <a:solidFill>
                  <a:schemeClr val="accent2"/>
                </a:solidFill>
                <a:latin typeface="Times New Roman" panose="02020603050405020304" pitchFamily="18" charset="0"/>
              </a:rPr>
              <a:t>（</a:t>
            </a:r>
            <a:r>
              <a:rPr lang="en-US" altLang="zh-CN" b="1" dirty="0">
                <a:solidFill>
                  <a:schemeClr val="accent2"/>
                </a:solidFill>
                <a:latin typeface="Times New Roman" panose="02020603050405020304" pitchFamily="18" charset="0"/>
              </a:rPr>
              <a:t>2</a:t>
            </a:r>
            <a:r>
              <a:rPr lang="zh-CN" altLang="en-US" b="1" dirty="0">
                <a:solidFill>
                  <a:schemeClr val="accent2"/>
                </a:solidFill>
                <a:latin typeface="Times New Roman" panose="02020603050405020304" pitchFamily="18" charset="0"/>
              </a:rPr>
              <a:t>）高频匹配器（</a:t>
            </a:r>
            <a:r>
              <a:rPr lang="zh-CN" altLang="en-US" b="1" dirty="0">
                <a:solidFill>
                  <a:schemeClr val="accent2"/>
                </a:solidFill>
                <a:sym typeface="+mn-ea"/>
              </a:rPr>
              <a:t>L型匹配网络</a:t>
            </a:r>
            <a:r>
              <a:rPr lang="zh-CN" altLang="en-US" b="1" dirty="0">
                <a:solidFill>
                  <a:schemeClr val="accent2"/>
                </a:solidFill>
                <a:latin typeface="Times New Roman" panose="02020603050405020304" pitchFamily="18" charset="0"/>
              </a:rPr>
              <a:t>）</a:t>
            </a:r>
            <a:endParaRPr lang="zh-CN" altLang="en-US" b="1" dirty="0">
              <a:solidFill>
                <a:schemeClr val="accent2"/>
              </a:solidFill>
              <a:latin typeface="Times New Roman" panose="02020603050405020304" pitchFamily="18" charset="0"/>
            </a:endParaRPr>
          </a:p>
        </p:txBody>
      </p:sp>
      <p:sp>
        <p:nvSpPr>
          <p:cNvPr id="5" name="Text Box 10"/>
          <p:cNvSpPr txBox="1">
            <a:spLocks noChangeArrowheads="1"/>
          </p:cNvSpPr>
          <p:nvPr/>
        </p:nvSpPr>
        <p:spPr bwMode="auto">
          <a:xfrm>
            <a:off x="467995" y="2781300"/>
            <a:ext cx="8180705"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0"/>
              </a:spcBef>
              <a:buNone/>
            </a:pPr>
            <a:r>
              <a:rPr lang="zh-CN" altLang="en-US" sz="2000" dirty="0">
                <a:latin typeface="+mj-ea"/>
                <a:ea typeface="+mj-ea"/>
                <a:cs typeface="+mj-ea"/>
              </a:rPr>
              <a:t>分析</a:t>
            </a:r>
            <a:r>
              <a:rPr lang="en-US" altLang="zh-CN" sz="2000" dirty="0">
                <a:latin typeface="+mj-ea"/>
                <a:ea typeface="+mj-ea"/>
                <a:cs typeface="+mj-ea"/>
              </a:rPr>
              <a:t>1</a:t>
            </a:r>
            <a:r>
              <a:rPr lang="zh-CN" altLang="en-US" sz="2000" dirty="0">
                <a:latin typeface="+mj-ea"/>
                <a:ea typeface="+mj-ea"/>
                <a:cs typeface="+mj-ea"/>
              </a:rPr>
              <a:t>：要求</a:t>
            </a:r>
            <a:r>
              <a:rPr lang="en-US" altLang="zh-CN" sz="2000" dirty="0">
                <a:latin typeface="+mj-ea"/>
                <a:ea typeface="+mj-ea"/>
                <a:cs typeface="+mj-ea"/>
              </a:rPr>
              <a:t>10</a:t>
            </a:r>
            <a:r>
              <a:rPr lang="en-US" altLang="zh-CN" sz="2000" dirty="0">
                <a:latin typeface="+mj-ea"/>
                <a:ea typeface="+mj-ea"/>
                <a:cs typeface="+mj-ea"/>
                <a:sym typeface="Symbol" panose="05050102010706020507" pitchFamily="18" charset="2"/>
              </a:rPr>
              <a:t> </a:t>
            </a:r>
            <a:r>
              <a:rPr lang="zh-CN" altLang="en-US" sz="2000" dirty="0">
                <a:latin typeface="+mj-ea"/>
                <a:ea typeface="+mj-ea"/>
                <a:cs typeface="+mj-ea"/>
                <a:sym typeface="Symbol" panose="05050102010706020507" pitchFamily="18" charset="2"/>
              </a:rPr>
              <a:t>变换到</a:t>
            </a:r>
            <a:r>
              <a:rPr lang="en-US" altLang="zh-CN" sz="2000" dirty="0">
                <a:latin typeface="+mj-ea"/>
                <a:ea typeface="+mj-ea"/>
                <a:cs typeface="+mj-ea"/>
                <a:sym typeface="Symbol" panose="05050102010706020507" pitchFamily="18" charset="2"/>
              </a:rPr>
              <a:t>50 </a:t>
            </a:r>
            <a:r>
              <a:rPr lang="zh-CN" altLang="en-US" sz="2000" dirty="0">
                <a:latin typeface="+mj-ea"/>
                <a:ea typeface="+mj-ea"/>
                <a:cs typeface="+mj-ea"/>
                <a:sym typeface="Symbol" panose="05050102010706020507" pitchFamily="18" charset="2"/>
              </a:rPr>
              <a:t>，因此为低阻到高阻。负载端接电感</a:t>
            </a:r>
            <a:r>
              <a:rPr lang="en-US" altLang="zh-CN" sz="2000" dirty="0">
                <a:latin typeface="+mj-ea"/>
                <a:ea typeface="+mj-ea"/>
                <a:cs typeface="+mj-ea"/>
                <a:sym typeface="Symbol" panose="05050102010706020507" pitchFamily="18" charset="2"/>
              </a:rPr>
              <a:t>.</a:t>
            </a:r>
            <a:endParaRPr lang="en-US" altLang="zh-CN" sz="2000" dirty="0">
              <a:latin typeface="+mj-ea"/>
              <a:ea typeface="+mj-ea"/>
              <a:cs typeface="+mj-ea"/>
              <a:sym typeface="Symbol" panose="05050102010706020507" pitchFamily="18" charset="2"/>
            </a:endParaRPr>
          </a:p>
        </p:txBody>
      </p:sp>
      <p:grpSp>
        <p:nvGrpSpPr>
          <p:cNvPr id="6" name="组合 5"/>
          <p:cNvGrpSpPr/>
          <p:nvPr/>
        </p:nvGrpSpPr>
        <p:grpSpPr>
          <a:xfrm>
            <a:off x="755650" y="3645535"/>
            <a:ext cx="2453640" cy="1597025"/>
            <a:chOff x="488024" y="2630490"/>
            <a:chExt cx="2552831" cy="1594669"/>
          </a:xfrm>
        </p:grpSpPr>
        <p:pic>
          <p:nvPicPr>
            <p:cNvPr id="7" name="图片 6"/>
            <p:cNvPicPr>
              <a:picLocks noChangeAspect="1"/>
            </p:cNvPicPr>
            <p:nvPr/>
          </p:nvPicPr>
          <p:blipFill rotWithShape="1">
            <a:blip r:embed="rId1">
              <a:extLst>
                <a:ext uri="{28A0092B-C50C-407E-A947-70E740481C1C}">
                  <a14:useLocalDpi xmlns:a14="http://schemas.microsoft.com/office/drawing/2010/main" val="0"/>
                </a:ext>
              </a:extLst>
            </a:blip>
            <a:srcRect b="21771"/>
            <a:stretch>
              <a:fillRect/>
            </a:stretch>
          </p:blipFill>
          <p:spPr>
            <a:xfrm>
              <a:off x="488024" y="2630490"/>
              <a:ext cx="2552831" cy="1594669"/>
            </a:xfrm>
            <a:prstGeom prst="rect">
              <a:avLst/>
            </a:prstGeom>
          </p:spPr>
        </p:pic>
        <p:sp>
          <p:nvSpPr>
            <p:cNvPr id="8" name="矩形 7"/>
            <p:cNvSpPr/>
            <p:nvPr/>
          </p:nvSpPr>
          <p:spPr>
            <a:xfrm>
              <a:off x="1629103" y="2630490"/>
              <a:ext cx="472966" cy="3018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 name="矩形 9"/>
            <p:cNvSpPr/>
            <p:nvPr/>
          </p:nvSpPr>
          <p:spPr>
            <a:xfrm>
              <a:off x="1527956" y="3427824"/>
              <a:ext cx="264058" cy="3018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 name="矩形 10"/>
            <p:cNvSpPr/>
            <p:nvPr/>
          </p:nvSpPr>
          <p:spPr>
            <a:xfrm>
              <a:off x="606609" y="3427824"/>
              <a:ext cx="264058" cy="3018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矩形 12"/>
            <p:cNvSpPr/>
            <p:nvPr/>
          </p:nvSpPr>
          <p:spPr>
            <a:xfrm>
              <a:off x="2646013" y="3427824"/>
              <a:ext cx="264058" cy="3018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pic>
        <p:nvPicPr>
          <p:cNvPr id="2" name="图片 1"/>
          <p:cNvPicPr>
            <a:picLocks noChangeAspect="1" noChangeArrowheads="1"/>
          </p:cNvPicPr>
          <p:nvPr/>
        </p:nvPicPr>
        <p:blipFill>
          <a:blip r:embed="rId2"/>
          <a:srcRect/>
          <a:stretch>
            <a:fillRect/>
          </a:stretch>
        </p:blipFill>
        <p:spPr bwMode="auto">
          <a:xfrm>
            <a:off x="3924300" y="3573145"/>
            <a:ext cx="279781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p:cNvPicPr>
            <a:picLocks noChangeAspect="1" noChangeArrowheads="1"/>
          </p:cNvPicPr>
          <p:nvPr/>
        </p:nvPicPr>
        <p:blipFill>
          <a:blip r:embed="rId3"/>
          <a:srcRect/>
          <a:stretch>
            <a:fillRect/>
          </a:stretch>
        </p:blipFill>
        <p:spPr bwMode="auto">
          <a:xfrm>
            <a:off x="3898265" y="4055745"/>
            <a:ext cx="2824480" cy="79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11"/>
          <p:cNvPicPr>
            <a:picLocks noChangeAspect="1" noChangeArrowheads="1"/>
          </p:cNvPicPr>
          <p:nvPr/>
        </p:nvPicPr>
        <p:blipFill>
          <a:blip r:embed="rId4"/>
          <a:srcRect/>
          <a:stretch>
            <a:fillRect/>
          </a:stretch>
        </p:blipFill>
        <p:spPr bwMode="auto">
          <a:xfrm>
            <a:off x="3825875" y="4959350"/>
            <a:ext cx="1273175" cy="324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13"/>
          <p:cNvPicPr>
            <a:picLocks noChangeAspect="1" noChangeArrowheads="1"/>
          </p:cNvPicPr>
          <p:nvPr/>
        </p:nvPicPr>
        <p:blipFill>
          <a:blip r:embed="rId5"/>
          <a:srcRect/>
          <a:stretch>
            <a:fillRect/>
          </a:stretch>
        </p:blipFill>
        <p:spPr bwMode="auto">
          <a:xfrm>
            <a:off x="5554345" y="4975860"/>
            <a:ext cx="111379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292122" y="4437402"/>
            <a:ext cx="3733800" cy="1962150"/>
          </a:xfrm>
          <a:prstGeom prst="rect">
            <a:avLst/>
          </a:prstGeom>
        </p:spPr>
      </p:pic>
      <p:sp>
        <p:nvSpPr>
          <p:cNvPr id="4" name="文本框 3"/>
          <p:cNvSpPr txBox="1"/>
          <p:nvPr/>
        </p:nvSpPr>
        <p:spPr>
          <a:xfrm>
            <a:off x="436880" y="1485265"/>
            <a:ext cx="8201660" cy="1198880"/>
          </a:xfrm>
          <a:prstGeom prst="rect">
            <a:avLst/>
          </a:prstGeom>
          <a:noFill/>
        </p:spPr>
        <p:txBody>
          <a:bodyPr wrap="square" rtlCol="0">
            <a:spAutoFit/>
          </a:bodyPr>
          <a:lstStyle/>
          <a:p>
            <a:r>
              <a:rPr lang="zh-CN" altLang="en-US" dirty="0">
                <a:latin typeface="+mj-lt"/>
                <a:ea typeface="+mj-ea"/>
                <a:cs typeface="+mj-lt"/>
              </a:rPr>
              <a:t>例</a:t>
            </a:r>
            <a:r>
              <a:rPr lang="en-US" altLang="zh-CN" dirty="0">
                <a:latin typeface="+mj-lt"/>
                <a:ea typeface="+mj-ea"/>
                <a:cs typeface="+mj-lt"/>
              </a:rPr>
              <a:t>3</a:t>
            </a:r>
            <a:r>
              <a:rPr lang="zh-CN" altLang="en-US" dirty="0">
                <a:latin typeface="+mj-lt"/>
                <a:ea typeface="+mj-ea"/>
                <a:cs typeface="+mj-lt"/>
              </a:rPr>
              <a:t>：</a:t>
            </a:r>
            <a:r>
              <a:rPr lang="zh-CN" altLang="en-US" dirty="0">
                <a:latin typeface="+mj-lt"/>
                <a:ea typeface="+mj-ea"/>
                <a:cs typeface="+mj-lt"/>
                <a:sym typeface="+mn-ea"/>
              </a:rPr>
              <a:t>已知某电阻性负载为</a:t>
            </a:r>
            <a:r>
              <a:rPr lang="en-US" altLang="zh-CN" dirty="0">
                <a:latin typeface="+mj-lt"/>
                <a:ea typeface="+mj-ea"/>
                <a:cs typeface="+mj-lt"/>
                <a:sym typeface="+mn-ea"/>
              </a:rPr>
              <a:t>10</a:t>
            </a:r>
            <a:r>
              <a:rPr lang="en-US" altLang="zh-CN" dirty="0">
                <a:latin typeface="+mj-lt"/>
                <a:ea typeface="+mj-ea"/>
                <a:cs typeface="+mj-lt"/>
                <a:sym typeface="Symbol" panose="05050102010706020507" pitchFamily="18" charset="2"/>
              </a:rPr>
              <a:t></a:t>
            </a:r>
            <a:r>
              <a:rPr lang="zh-CN" altLang="en-US" dirty="0">
                <a:latin typeface="+mj-lt"/>
                <a:ea typeface="+mj-ea"/>
                <a:cs typeface="+mj-lt"/>
                <a:sym typeface="Symbol" panose="05050102010706020507" pitchFamily="18" charset="2"/>
              </a:rPr>
              <a:t>，请设计一个匹配网络，使该负载在</a:t>
            </a:r>
            <a:r>
              <a:rPr lang="en-US" altLang="zh-CN" dirty="0">
                <a:latin typeface="+mj-lt"/>
                <a:ea typeface="+mj-ea"/>
                <a:cs typeface="+mj-lt"/>
                <a:sym typeface="Symbol" panose="05050102010706020507" pitchFamily="18" charset="2"/>
              </a:rPr>
              <a:t>20MHz</a:t>
            </a:r>
            <a:r>
              <a:rPr lang="zh-CN" altLang="en-US" dirty="0">
                <a:latin typeface="+mj-lt"/>
                <a:ea typeface="+mj-ea"/>
                <a:cs typeface="+mj-lt"/>
                <a:sym typeface="Symbol" panose="05050102010706020507" pitchFamily="18" charset="2"/>
              </a:rPr>
              <a:t>时转换为</a:t>
            </a:r>
            <a:r>
              <a:rPr lang="en-US" altLang="zh-CN" dirty="0">
                <a:latin typeface="+mj-lt"/>
                <a:ea typeface="+mj-ea"/>
                <a:cs typeface="+mj-lt"/>
                <a:sym typeface="Symbol" panose="05050102010706020507" pitchFamily="18" charset="2"/>
              </a:rPr>
              <a:t>50 </a:t>
            </a:r>
            <a:r>
              <a:rPr lang="zh-CN" altLang="en-US" dirty="0">
                <a:latin typeface="+mj-lt"/>
                <a:ea typeface="+mj-ea"/>
                <a:cs typeface="+mj-lt"/>
                <a:sym typeface="Symbol" panose="05050102010706020507" pitchFamily="18" charset="2"/>
              </a:rPr>
              <a:t>。如果负载由</a:t>
            </a:r>
            <a:r>
              <a:rPr lang="en-US" altLang="zh-CN" dirty="0">
                <a:latin typeface="+mj-lt"/>
                <a:ea typeface="+mj-ea"/>
                <a:cs typeface="+mj-lt"/>
                <a:sym typeface="Symbol" panose="05050102010706020507" pitchFamily="18" charset="2"/>
              </a:rPr>
              <a:t>10 </a:t>
            </a:r>
            <a:r>
              <a:rPr lang="zh-CN" altLang="en-US" dirty="0">
                <a:latin typeface="+mj-lt"/>
                <a:ea typeface="+mj-ea"/>
                <a:cs typeface="+mj-lt"/>
                <a:sym typeface="Symbol" panose="05050102010706020507" pitchFamily="18" charset="2"/>
              </a:rPr>
              <a:t>和</a:t>
            </a:r>
            <a:r>
              <a:rPr lang="en-US" altLang="zh-CN" dirty="0">
                <a:latin typeface="+mj-lt"/>
                <a:ea typeface="+mj-ea"/>
                <a:cs typeface="+mj-lt"/>
                <a:sym typeface="Symbol" panose="05050102010706020507" pitchFamily="18" charset="2"/>
              </a:rPr>
              <a:t>0.2H</a:t>
            </a:r>
            <a:r>
              <a:rPr lang="zh-CN" altLang="en-US" dirty="0">
                <a:latin typeface="+mj-lt"/>
                <a:ea typeface="+mj-ea"/>
                <a:cs typeface="+mj-lt"/>
                <a:sym typeface="Symbol" panose="05050102010706020507" pitchFamily="18" charset="2"/>
              </a:rPr>
              <a:t>电感串联组成，又该怎么设计匹配网络？</a:t>
            </a:r>
            <a:endParaRPr lang="zh-CN" altLang="en-US" dirty="0">
              <a:latin typeface="+mj-lt"/>
              <a:ea typeface="+mj-ea"/>
              <a:cs typeface="+mj-lt"/>
            </a:endParaRPr>
          </a:p>
        </p:txBody>
      </p:sp>
      <p:sp>
        <p:nvSpPr>
          <p:cNvPr id="41989" name="Text Box 11"/>
          <p:cNvSpPr txBox="1"/>
          <p:nvPr/>
        </p:nvSpPr>
        <p:spPr>
          <a:xfrm>
            <a:off x="323533" y="512445"/>
            <a:ext cx="5232400" cy="460375"/>
          </a:xfrm>
          <a:prstGeom prst="rect">
            <a:avLst/>
          </a:prstGeom>
          <a:noFill/>
          <a:ln w="9525">
            <a:noFill/>
          </a:ln>
        </p:spPr>
        <p:txBody>
          <a:bodyPr wrap="none">
            <a:spAutoFit/>
          </a:bodyPr>
          <a:lstStyle/>
          <a:p>
            <a:r>
              <a:rPr lang="zh-CN" altLang="en-US" b="1" dirty="0">
                <a:solidFill>
                  <a:srgbClr val="FF0066"/>
                </a:solidFill>
                <a:latin typeface="Times New Roman" panose="02020603050405020304" pitchFamily="18" charset="0"/>
              </a:rPr>
              <a:t>五</a:t>
            </a:r>
            <a:r>
              <a:rPr lang="en-US" altLang="zh-CN" b="1" dirty="0">
                <a:solidFill>
                  <a:srgbClr val="FF0066"/>
                </a:solidFill>
                <a:latin typeface="Times New Roman" panose="02020603050405020304" pitchFamily="18" charset="0"/>
              </a:rPr>
              <a:t>. </a:t>
            </a:r>
            <a:r>
              <a:rPr lang="zh-CN" altLang="en-US" b="1" dirty="0">
                <a:solidFill>
                  <a:srgbClr val="FF0066"/>
                </a:solidFill>
                <a:latin typeface="Times New Roman" panose="02020603050405020304" pitchFamily="18" charset="0"/>
              </a:rPr>
              <a:t>衰减器与匹配器（选频匹配网络）</a:t>
            </a:r>
            <a:endParaRPr lang="zh-CN" altLang="en-US" b="1" dirty="0">
              <a:solidFill>
                <a:srgbClr val="FF0066"/>
              </a:solidFill>
              <a:latin typeface="Times New Roman" panose="02020603050405020304" pitchFamily="18" charset="0"/>
            </a:endParaRPr>
          </a:p>
        </p:txBody>
      </p:sp>
      <p:sp>
        <p:nvSpPr>
          <p:cNvPr id="52240" name="Text Box 16"/>
          <p:cNvSpPr txBox="1"/>
          <p:nvPr/>
        </p:nvSpPr>
        <p:spPr>
          <a:xfrm>
            <a:off x="179705" y="980758"/>
            <a:ext cx="4823460" cy="460375"/>
          </a:xfrm>
          <a:prstGeom prst="rect">
            <a:avLst/>
          </a:prstGeom>
          <a:noFill/>
          <a:ln w="9525">
            <a:noFill/>
          </a:ln>
        </p:spPr>
        <p:txBody>
          <a:bodyPr wrap="none">
            <a:spAutoFit/>
          </a:bodyPr>
          <a:lstStyle/>
          <a:p>
            <a:pPr algn="l"/>
            <a:r>
              <a:rPr lang="zh-CN" altLang="en-US" b="1" dirty="0">
                <a:solidFill>
                  <a:schemeClr val="accent2"/>
                </a:solidFill>
                <a:latin typeface="Times New Roman" panose="02020603050405020304" pitchFamily="18" charset="0"/>
              </a:rPr>
              <a:t>（</a:t>
            </a:r>
            <a:r>
              <a:rPr lang="en-US" altLang="zh-CN" b="1" dirty="0">
                <a:solidFill>
                  <a:schemeClr val="accent2"/>
                </a:solidFill>
                <a:latin typeface="Times New Roman" panose="02020603050405020304" pitchFamily="18" charset="0"/>
              </a:rPr>
              <a:t>2</a:t>
            </a:r>
            <a:r>
              <a:rPr lang="zh-CN" altLang="en-US" b="1" dirty="0">
                <a:solidFill>
                  <a:schemeClr val="accent2"/>
                </a:solidFill>
                <a:latin typeface="Times New Roman" panose="02020603050405020304" pitchFamily="18" charset="0"/>
              </a:rPr>
              <a:t>）高频匹配器（</a:t>
            </a:r>
            <a:r>
              <a:rPr lang="zh-CN" altLang="en-US" b="1" dirty="0">
                <a:solidFill>
                  <a:schemeClr val="accent2"/>
                </a:solidFill>
                <a:sym typeface="+mn-ea"/>
              </a:rPr>
              <a:t>L型匹配网络</a:t>
            </a:r>
            <a:r>
              <a:rPr lang="zh-CN" altLang="en-US" b="1" dirty="0">
                <a:solidFill>
                  <a:schemeClr val="accent2"/>
                </a:solidFill>
                <a:latin typeface="Times New Roman" panose="02020603050405020304" pitchFamily="18" charset="0"/>
              </a:rPr>
              <a:t>）</a:t>
            </a:r>
            <a:endParaRPr lang="zh-CN" altLang="en-US" b="1" dirty="0">
              <a:solidFill>
                <a:schemeClr val="accent2"/>
              </a:solidFill>
              <a:latin typeface="Times New Roman" panose="02020603050405020304" pitchFamily="18" charset="0"/>
            </a:endParaRPr>
          </a:p>
        </p:txBody>
      </p:sp>
      <p:sp>
        <p:nvSpPr>
          <p:cNvPr id="28" name="Text Box 10"/>
          <p:cNvSpPr txBox="1">
            <a:spLocks noChangeArrowheads="1"/>
          </p:cNvSpPr>
          <p:nvPr/>
        </p:nvSpPr>
        <p:spPr bwMode="auto">
          <a:xfrm>
            <a:off x="539750" y="2853055"/>
            <a:ext cx="8241665" cy="1014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0"/>
              </a:spcBef>
              <a:buNone/>
            </a:pPr>
            <a:r>
              <a:rPr lang="zh-CN" altLang="en-US" sz="2000" dirty="0">
                <a:latin typeface="+mj-lt"/>
                <a:ea typeface="+mj-ea"/>
                <a:cs typeface="+mj-lt"/>
              </a:rPr>
              <a:t>分析</a:t>
            </a:r>
            <a:r>
              <a:rPr lang="en-US" altLang="zh-CN" sz="2000" dirty="0">
                <a:latin typeface="+mj-lt"/>
                <a:ea typeface="+mj-ea"/>
                <a:cs typeface="+mj-lt"/>
              </a:rPr>
              <a:t>2</a:t>
            </a:r>
            <a:r>
              <a:rPr lang="zh-CN" altLang="en-US" sz="2000" dirty="0">
                <a:latin typeface="+mj-lt"/>
                <a:ea typeface="+mj-ea"/>
                <a:cs typeface="+mj-lt"/>
              </a:rPr>
              <a:t>：前一问中，电感为</a:t>
            </a:r>
            <a:r>
              <a:rPr lang="en-US" altLang="zh-CN" sz="2000" dirty="0">
                <a:latin typeface="+mj-lt"/>
                <a:ea typeface="+mj-ea"/>
                <a:cs typeface="+mj-lt"/>
              </a:rPr>
              <a:t>0.16</a:t>
            </a:r>
            <a:r>
              <a:rPr lang="en-US" altLang="zh-CN" sz="2000" dirty="0">
                <a:latin typeface="+mj-lt"/>
                <a:ea typeface="+mj-ea"/>
                <a:cs typeface="+mj-lt"/>
                <a:sym typeface="Symbol" panose="05050102010706020507" pitchFamily="18" charset="2"/>
              </a:rPr>
              <a:t>H</a:t>
            </a:r>
            <a:r>
              <a:rPr lang="zh-CN" altLang="en-US" sz="2000" dirty="0">
                <a:latin typeface="+mj-lt"/>
                <a:ea typeface="+mj-ea"/>
                <a:cs typeface="+mj-lt"/>
                <a:sym typeface="Symbol" panose="05050102010706020507" pitchFamily="18" charset="2"/>
              </a:rPr>
              <a:t>，电容为</a:t>
            </a:r>
            <a:r>
              <a:rPr lang="en-US" altLang="zh-CN" sz="2000" dirty="0">
                <a:latin typeface="+mj-lt"/>
                <a:ea typeface="+mj-ea"/>
                <a:cs typeface="+mj-lt"/>
                <a:sym typeface="Symbol" panose="05050102010706020507" pitchFamily="18" charset="2"/>
              </a:rPr>
              <a:t>318pF</a:t>
            </a:r>
            <a:r>
              <a:rPr lang="zh-CN" altLang="en-US" sz="2000" dirty="0">
                <a:latin typeface="+mj-lt"/>
                <a:ea typeface="+mj-ea"/>
                <a:cs typeface="+mj-lt"/>
                <a:sym typeface="Symbol" panose="05050102010706020507" pitchFamily="18" charset="2"/>
              </a:rPr>
              <a:t>时达到平衡，此时负载带</a:t>
            </a:r>
            <a:r>
              <a:rPr lang="en-US" altLang="zh-CN" sz="2000" dirty="0">
                <a:latin typeface="+mj-lt"/>
                <a:ea typeface="+mj-ea"/>
                <a:cs typeface="+mj-lt"/>
                <a:sym typeface="Symbol" panose="05050102010706020507" pitchFamily="18" charset="2"/>
              </a:rPr>
              <a:t>0.2 H</a:t>
            </a:r>
            <a:r>
              <a:rPr lang="zh-CN" altLang="en-US" sz="2000" dirty="0">
                <a:latin typeface="+mj-lt"/>
                <a:ea typeface="+mj-ea"/>
                <a:cs typeface="+mj-lt"/>
                <a:sym typeface="Symbol" panose="05050102010706020507" pitchFamily="18" charset="2"/>
              </a:rPr>
              <a:t>，因此，若能将电感阻抗减小到与</a:t>
            </a:r>
            <a:r>
              <a:rPr lang="en-US" altLang="zh-CN" sz="2000" dirty="0">
                <a:latin typeface="+mj-lt"/>
                <a:ea typeface="+mj-ea"/>
                <a:cs typeface="+mj-lt"/>
                <a:sym typeface="Symbol" panose="05050102010706020507" pitchFamily="18" charset="2"/>
              </a:rPr>
              <a:t>0.16 H</a:t>
            </a:r>
            <a:r>
              <a:rPr lang="zh-CN" altLang="en-US" sz="2000" dirty="0">
                <a:latin typeface="+mj-lt"/>
                <a:ea typeface="+mj-ea"/>
                <a:cs typeface="+mj-lt"/>
                <a:sym typeface="Symbol" panose="05050102010706020507" pitchFamily="18" charset="2"/>
              </a:rPr>
              <a:t>阻抗相同即可。因此，将</a:t>
            </a:r>
            <a:r>
              <a:rPr lang="en-US" altLang="zh-CN" sz="2000" dirty="0">
                <a:latin typeface="+mj-lt"/>
                <a:ea typeface="+mj-ea"/>
                <a:cs typeface="+mj-lt"/>
                <a:sym typeface="Symbol" panose="05050102010706020507" pitchFamily="18" charset="2"/>
              </a:rPr>
              <a:t>0.2 H</a:t>
            </a:r>
            <a:r>
              <a:rPr lang="zh-CN" altLang="en-US" sz="2000" dirty="0">
                <a:latin typeface="+mj-lt"/>
                <a:ea typeface="+mj-ea"/>
                <a:cs typeface="+mj-lt"/>
                <a:sym typeface="Symbol" panose="05050102010706020507" pitchFamily="18" charset="2"/>
              </a:rPr>
              <a:t>电感串联电容即可。</a:t>
            </a:r>
            <a:endParaRPr lang="zh-CN" altLang="en-US" sz="2000" dirty="0">
              <a:latin typeface="+mj-lt"/>
              <a:ea typeface="+mj-ea"/>
              <a:cs typeface="+mj-lt"/>
            </a:endParaRPr>
          </a:p>
        </p:txBody>
      </p:sp>
      <p:graphicFrame>
        <p:nvGraphicFramePr>
          <p:cNvPr id="5" name="对象 4"/>
          <p:cNvGraphicFramePr/>
          <p:nvPr/>
        </p:nvGraphicFramePr>
        <p:xfrm>
          <a:off x="755650" y="3960495"/>
          <a:ext cx="5577205" cy="692785"/>
        </p:xfrm>
        <a:graphic>
          <a:graphicData uri="http://schemas.openxmlformats.org/presentationml/2006/ole">
            <mc:AlternateContent xmlns:mc="http://schemas.openxmlformats.org/markup-compatibility/2006">
              <mc:Choice xmlns:v="urn:schemas-microsoft-com:vml" Requires="v">
                <p:oleObj spid="_x0000_s2" name="" r:id="rId2" imgW="5245100" imgH="679450" progId="Equation.DSMT4">
                  <p:embed/>
                </p:oleObj>
              </mc:Choice>
              <mc:Fallback>
                <p:oleObj name="" r:id="rId2" imgW="5245100" imgH="679450" progId="Equation.DSMT4">
                  <p:embed/>
                  <p:pic>
                    <p:nvPicPr>
                      <p:cNvPr id="0" name="图片 5"/>
                      <p:cNvPicPr/>
                      <p:nvPr/>
                    </p:nvPicPr>
                    <p:blipFill>
                      <a:blip r:embed="rId3"/>
                      <a:stretch>
                        <a:fillRect/>
                      </a:stretch>
                    </p:blipFill>
                    <p:spPr>
                      <a:xfrm>
                        <a:off x="755650" y="3960495"/>
                        <a:ext cx="5577205" cy="692785"/>
                      </a:xfrm>
                      <a:prstGeom prst="rect">
                        <a:avLst/>
                      </a:prstGeom>
                    </p:spPr>
                  </p:pic>
                </p:oleObj>
              </mc:Fallback>
            </mc:AlternateContent>
          </a:graphicData>
        </a:graphic>
      </p:graphicFrame>
      <p:pic>
        <p:nvPicPr>
          <p:cNvPr id="3" name="图片 2"/>
          <p:cNvPicPr/>
          <p:nvPr/>
        </p:nvPicPr>
        <p:blipFill>
          <a:blip r:embed="rId4"/>
          <a:stretch>
            <a:fillRect/>
          </a:stretch>
        </p:blipFill>
        <p:spPr>
          <a:xfrm>
            <a:off x="683260" y="4745990"/>
            <a:ext cx="3888105" cy="381000"/>
          </a:xfrm>
          <a:prstGeom prst="rect">
            <a:avLst/>
          </a:prstGeom>
        </p:spPr>
      </p:pic>
      <p:pic>
        <p:nvPicPr>
          <p:cNvPr id="7" name="图片 6"/>
          <p:cNvPicPr>
            <a:picLocks noChangeAspect="1" noChangeArrowheads="1"/>
          </p:cNvPicPr>
          <p:nvPr/>
        </p:nvPicPr>
        <p:blipFill>
          <a:blip r:embed="rId5"/>
          <a:srcRect/>
          <a:stretch>
            <a:fillRect/>
          </a:stretch>
        </p:blipFill>
        <p:spPr bwMode="auto">
          <a:xfrm>
            <a:off x="683260" y="5219700"/>
            <a:ext cx="1513205" cy="385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2240"/>
                                        </p:tgtEl>
                                        <p:attrNameLst>
                                          <p:attrName>style.visibility</p:attrName>
                                        </p:attrNameLst>
                                      </p:cBhvr>
                                      <p:to>
                                        <p:strVal val="visible"/>
                                      </p:to>
                                    </p:set>
                                    <p:animEffect transition="in" filter="box(in)">
                                      <p:cBhvr>
                                        <p:cTn id="7" dur="500"/>
                                        <p:tgtEl>
                                          <p:spTgt spid="5224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2240" grpId="0"/>
      <p:bldP spid="28"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6" name="Text Box 8"/>
          <p:cNvSpPr txBox="1"/>
          <p:nvPr/>
        </p:nvSpPr>
        <p:spPr>
          <a:xfrm>
            <a:off x="539750" y="1989138"/>
            <a:ext cx="8424863" cy="829945"/>
          </a:xfrm>
          <a:prstGeom prst="rect">
            <a:avLst/>
          </a:prstGeom>
          <a:noFill/>
          <a:ln w="9525">
            <a:noFill/>
          </a:ln>
        </p:spPr>
        <p:txBody>
          <a:bodyPr>
            <a:spAutoFit/>
          </a:bodyPr>
          <a:lstStyle/>
          <a:p>
            <a:r>
              <a:rPr lang="zh-CN" altLang="en-US" dirty="0">
                <a:latin typeface="Times New Roman" panose="02020603050405020304" pitchFamily="18" charset="0"/>
              </a:rPr>
              <a:t>所谓</a:t>
            </a:r>
            <a:r>
              <a:rPr lang="zh-CN" altLang="en-US" dirty="0">
                <a:solidFill>
                  <a:srgbClr val="FF0066"/>
                </a:solidFill>
                <a:latin typeface="Times New Roman" panose="02020603050405020304" pitchFamily="18" charset="0"/>
              </a:rPr>
              <a:t>干扰（或噪声）</a:t>
            </a:r>
            <a:r>
              <a:rPr lang="en-US" altLang="zh-CN" dirty="0">
                <a:latin typeface="Times New Roman" panose="02020603050405020304" pitchFamily="18" charset="0"/>
              </a:rPr>
              <a:t>, </a:t>
            </a:r>
            <a:r>
              <a:rPr lang="zh-CN" altLang="en-US" dirty="0">
                <a:latin typeface="Times New Roman" panose="02020603050405020304" pitchFamily="18" charset="0"/>
              </a:rPr>
              <a:t>就是除有用信号以外的一切不需要的信号及各种电磁扰动的总称。</a:t>
            </a:r>
            <a:endParaRPr lang="zh-CN" altLang="en-US" dirty="0">
              <a:latin typeface="Times New Roman" panose="02020603050405020304" pitchFamily="18" charset="0"/>
            </a:endParaRPr>
          </a:p>
        </p:txBody>
      </p:sp>
      <p:sp>
        <p:nvSpPr>
          <p:cNvPr id="53257" name="Text Box 9"/>
          <p:cNvSpPr txBox="1"/>
          <p:nvPr/>
        </p:nvSpPr>
        <p:spPr>
          <a:xfrm>
            <a:off x="611188" y="1484313"/>
            <a:ext cx="1555750" cy="457200"/>
          </a:xfrm>
          <a:prstGeom prst="rect">
            <a:avLst/>
          </a:prstGeom>
          <a:noFill/>
          <a:ln w="9525">
            <a:noFill/>
          </a:ln>
        </p:spPr>
        <p:txBody>
          <a:bodyPr wrap="none">
            <a:spAutoFit/>
          </a:bodyPr>
          <a:lstStyle/>
          <a:p>
            <a:r>
              <a:rPr lang="zh-CN" altLang="en-US" dirty="0">
                <a:latin typeface="Times New Roman" panose="02020603050405020304" pitchFamily="18" charset="0"/>
              </a:rPr>
              <a:t>（</a:t>
            </a:r>
            <a:r>
              <a:rPr lang="en-US" altLang="zh-CN" dirty="0">
                <a:latin typeface="Times New Roman" panose="02020603050405020304" pitchFamily="18" charset="0"/>
              </a:rPr>
              <a:t>1</a:t>
            </a:r>
            <a:r>
              <a:rPr lang="zh-CN" altLang="en-US" dirty="0">
                <a:latin typeface="Times New Roman" panose="02020603050405020304" pitchFamily="18" charset="0"/>
              </a:rPr>
              <a:t>）定义</a:t>
            </a:r>
            <a:endParaRPr lang="zh-CN" altLang="en-US" dirty="0">
              <a:latin typeface="Times New Roman" panose="02020603050405020304" pitchFamily="18" charset="0"/>
            </a:endParaRPr>
          </a:p>
        </p:txBody>
      </p:sp>
      <p:sp>
        <p:nvSpPr>
          <p:cNvPr id="82948" name="Text Box 10"/>
          <p:cNvSpPr txBox="1"/>
          <p:nvPr/>
        </p:nvSpPr>
        <p:spPr>
          <a:xfrm>
            <a:off x="519113" y="981075"/>
            <a:ext cx="1403350" cy="457200"/>
          </a:xfrm>
          <a:prstGeom prst="rect">
            <a:avLst/>
          </a:prstGeom>
          <a:noFill/>
          <a:ln w="9525">
            <a:noFill/>
          </a:ln>
        </p:spPr>
        <p:txBody>
          <a:bodyPr wrap="none">
            <a:spAutoFit/>
          </a:bodyPr>
          <a:lstStyle/>
          <a:p>
            <a:r>
              <a:rPr lang="zh-CN" altLang="en-US" dirty="0">
                <a:solidFill>
                  <a:srgbClr val="FF0066"/>
                </a:solidFill>
                <a:latin typeface="Times New Roman" panose="02020603050405020304" pitchFamily="18" charset="0"/>
              </a:rPr>
              <a:t>一、概述</a:t>
            </a:r>
            <a:endParaRPr lang="zh-CN" altLang="en-US" dirty="0">
              <a:solidFill>
                <a:srgbClr val="FF0066"/>
              </a:solidFill>
              <a:latin typeface="Times New Roman" panose="02020603050405020304" pitchFamily="18" charset="0"/>
            </a:endParaRPr>
          </a:p>
        </p:txBody>
      </p:sp>
      <p:sp>
        <p:nvSpPr>
          <p:cNvPr id="53259" name="Text Box 11"/>
          <p:cNvSpPr txBox="1"/>
          <p:nvPr/>
        </p:nvSpPr>
        <p:spPr>
          <a:xfrm>
            <a:off x="611188" y="2781300"/>
            <a:ext cx="1555750" cy="457200"/>
          </a:xfrm>
          <a:prstGeom prst="rect">
            <a:avLst/>
          </a:prstGeom>
          <a:noFill/>
          <a:ln w="9525">
            <a:noFill/>
          </a:ln>
        </p:spPr>
        <p:txBody>
          <a:bodyPr wrap="none">
            <a:spAutoFit/>
          </a:bodyPr>
          <a:lstStyle/>
          <a:p>
            <a:r>
              <a:rPr lang="zh-CN" altLang="en-US" dirty="0">
                <a:latin typeface="Times New Roman" panose="02020603050405020304" pitchFamily="18" charset="0"/>
              </a:rPr>
              <a:t>（</a:t>
            </a:r>
            <a:r>
              <a:rPr lang="en-US" altLang="zh-CN" dirty="0">
                <a:latin typeface="Times New Roman" panose="02020603050405020304" pitchFamily="18" charset="0"/>
              </a:rPr>
              <a:t>2</a:t>
            </a:r>
            <a:r>
              <a:rPr lang="zh-CN" altLang="en-US" dirty="0">
                <a:latin typeface="Times New Roman" panose="02020603050405020304" pitchFamily="18" charset="0"/>
              </a:rPr>
              <a:t>）分类</a:t>
            </a:r>
            <a:endParaRPr lang="zh-CN" altLang="en-US" dirty="0">
              <a:latin typeface="Times New Roman" panose="02020603050405020304" pitchFamily="18" charset="0"/>
            </a:endParaRPr>
          </a:p>
        </p:txBody>
      </p:sp>
      <p:sp>
        <p:nvSpPr>
          <p:cNvPr id="53260" name="Text Box 12"/>
          <p:cNvSpPr txBox="1"/>
          <p:nvPr/>
        </p:nvSpPr>
        <p:spPr>
          <a:xfrm>
            <a:off x="611188" y="3141663"/>
            <a:ext cx="4756150" cy="457200"/>
          </a:xfrm>
          <a:prstGeom prst="rect">
            <a:avLst/>
          </a:prstGeom>
          <a:noFill/>
          <a:ln w="9525">
            <a:noFill/>
          </a:ln>
        </p:spPr>
        <p:txBody>
          <a:bodyPr wrap="none">
            <a:spAutoFit/>
          </a:bodyPr>
          <a:lstStyle/>
          <a:p>
            <a:r>
              <a:rPr lang="zh-CN" altLang="en-US" dirty="0">
                <a:latin typeface="Times New Roman" panose="02020603050405020304" pitchFamily="18" charset="0"/>
              </a:rPr>
              <a:t>按</a:t>
            </a:r>
            <a:r>
              <a:rPr lang="zh-CN" altLang="en-US" dirty="0">
                <a:solidFill>
                  <a:srgbClr val="FF0066"/>
                </a:solidFill>
                <a:latin typeface="Times New Roman" panose="02020603050405020304" pitchFamily="18" charset="0"/>
              </a:rPr>
              <a:t>产生地</a:t>
            </a:r>
            <a:r>
              <a:rPr lang="zh-CN" altLang="en-US" dirty="0">
                <a:latin typeface="Times New Roman" panose="02020603050405020304" pitchFamily="18" charset="0"/>
              </a:rPr>
              <a:t>分：外部干扰；内部干扰</a:t>
            </a:r>
            <a:endParaRPr lang="zh-CN" altLang="en-US" dirty="0">
              <a:latin typeface="Times New Roman" panose="02020603050405020304" pitchFamily="18" charset="0"/>
            </a:endParaRPr>
          </a:p>
        </p:txBody>
      </p:sp>
      <p:sp>
        <p:nvSpPr>
          <p:cNvPr id="53261" name="Text Box 13"/>
          <p:cNvSpPr txBox="1"/>
          <p:nvPr/>
        </p:nvSpPr>
        <p:spPr>
          <a:xfrm>
            <a:off x="611188" y="3599180"/>
            <a:ext cx="5060950" cy="457200"/>
          </a:xfrm>
          <a:prstGeom prst="rect">
            <a:avLst/>
          </a:prstGeom>
          <a:noFill/>
          <a:ln w="9525">
            <a:noFill/>
          </a:ln>
        </p:spPr>
        <p:txBody>
          <a:bodyPr wrap="none">
            <a:spAutoFit/>
          </a:bodyPr>
          <a:lstStyle/>
          <a:p>
            <a:r>
              <a:rPr lang="zh-CN" altLang="en-US" dirty="0">
                <a:latin typeface="Times New Roman" panose="02020603050405020304" pitchFamily="18" charset="0"/>
              </a:rPr>
              <a:t>按</a:t>
            </a:r>
            <a:r>
              <a:rPr lang="zh-CN" altLang="en-US" dirty="0">
                <a:solidFill>
                  <a:srgbClr val="FF0066"/>
                </a:solidFill>
                <a:latin typeface="Times New Roman" panose="02020603050405020304" pitchFamily="18" charset="0"/>
              </a:rPr>
              <a:t>产生根源</a:t>
            </a:r>
            <a:r>
              <a:rPr lang="zh-CN" altLang="en-US" dirty="0">
                <a:latin typeface="Times New Roman" panose="02020603050405020304" pitchFamily="18" charset="0"/>
              </a:rPr>
              <a:t>分：自然干扰；人为干扰</a:t>
            </a:r>
            <a:endParaRPr lang="zh-CN" altLang="en-US" dirty="0">
              <a:latin typeface="Times New Roman" panose="02020603050405020304" pitchFamily="18" charset="0"/>
            </a:endParaRPr>
          </a:p>
        </p:txBody>
      </p:sp>
      <p:sp>
        <p:nvSpPr>
          <p:cNvPr id="53262" name="Text Box 14"/>
          <p:cNvSpPr txBox="1"/>
          <p:nvPr/>
        </p:nvSpPr>
        <p:spPr>
          <a:xfrm>
            <a:off x="611188" y="4005263"/>
            <a:ext cx="5365750" cy="457200"/>
          </a:xfrm>
          <a:prstGeom prst="rect">
            <a:avLst/>
          </a:prstGeom>
          <a:noFill/>
          <a:ln w="9525">
            <a:noFill/>
          </a:ln>
        </p:spPr>
        <p:txBody>
          <a:bodyPr wrap="none">
            <a:spAutoFit/>
          </a:bodyPr>
          <a:lstStyle/>
          <a:p>
            <a:r>
              <a:rPr lang="zh-CN" altLang="en-US" dirty="0">
                <a:latin typeface="Times New Roman" panose="02020603050405020304" pitchFamily="18" charset="0"/>
              </a:rPr>
              <a:t>按</a:t>
            </a:r>
            <a:r>
              <a:rPr lang="zh-CN" altLang="en-US" dirty="0">
                <a:solidFill>
                  <a:srgbClr val="FF0066"/>
                </a:solidFill>
                <a:latin typeface="Times New Roman" panose="02020603050405020304" pitchFamily="18" charset="0"/>
              </a:rPr>
              <a:t>电特性</a:t>
            </a:r>
            <a:r>
              <a:rPr lang="zh-CN" altLang="en-US" dirty="0">
                <a:latin typeface="Times New Roman" panose="02020603050405020304" pitchFamily="18" charset="0"/>
              </a:rPr>
              <a:t>分：脉冲型；正旋型；起伏型</a:t>
            </a:r>
            <a:endParaRPr lang="zh-CN" altLang="en-US" dirty="0">
              <a:latin typeface="Times New Roman" panose="02020603050405020304" pitchFamily="18" charset="0"/>
            </a:endParaRPr>
          </a:p>
        </p:txBody>
      </p:sp>
      <p:sp>
        <p:nvSpPr>
          <p:cNvPr id="53263" name="Text Box 15"/>
          <p:cNvSpPr txBox="1"/>
          <p:nvPr/>
        </p:nvSpPr>
        <p:spPr>
          <a:xfrm>
            <a:off x="611188" y="4437063"/>
            <a:ext cx="6584950" cy="457200"/>
          </a:xfrm>
          <a:prstGeom prst="rect">
            <a:avLst/>
          </a:prstGeom>
          <a:noFill/>
          <a:ln w="9525">
            <a:noFill/>
          </a:ln>
        </p:spPr>
        <p:txBody>
          <a:bodyPr wrap="none">
            <a:spAutoFit/>
          </a:bodyPr>
          <a:lstStyle/>
          <a:p>
            <a:r>
              <a:rPr lang="zh-CN" altLang="en-US" dirty="0">
                <a:latin typeface="Times New Roman" panose="02020603050405020304" pitchFamily="18" charset="0"/>
              </a:rPr>
              <a:t>习惯上对外部来的称为</a:t>
            </a:r>
            <a:r>
              <a:rPr lang="zh-CN" altLang="en-US" dirty="0">
                <a:solidFill>
                  <a:srgbClr val="FF0066"/>
                </a:solidFill>
                <a:latin typeface="Times New Roman" panose="02020603050405020304" pitchFamily="18" charset="0"/>
              </a:rPr>
              <a:t>干扰</a:t>
            </a:r>
            <a:r>
              <a:rPr lang="zh-CN" altLang="en-US" dirty="0">
                <a:latin typeface="Times New Roman" panose="02020603050405020304" pitchFamily="18" charset="0"/>
              </a:rPr>
              <a:t>；内部来的称为</a:t>
            </a:r>
            <a:r>
              <a:rPr lang="zh-CN" altLang="en-US" dirty="0">
                <a:solidFill>
                  <a:srgbClr val="FF0066"/>
                </a:solidFill>
                <a:latin typeface="Times New Roman" panose="02020603050405020304" pitchFamily="18" charset="0"/>
              </a:rPr>
              <a:t>噪声</a:t>
            </a:r>
            <a:endParaRPr lang="zh-CN" altLang="en-US" dirty="0">
              <a:solidFill>
                <a:srgbClr val="FF0066"/>
              </a:solidFill>
              <a:latin typeface="Times New Roman" panose="02020603050405020304" pitchFamily="18" charset="0"/>
            </a:endParaRPr>
          </a:p>
        </p:txBody>
      </p:sp>
      <p:sp>
        <p:nvSpPr>
          <p:cNvPr id="53264" name="Text Box 16"/>
          <p:cNvSpPr txBox="1"/>
          <p:nvPr/>
        </p:nvSpPr>
        <p:spPr>
          <a:xfrm>
            <a:off x="519113" y="4941888"/>
            <a:ext cx="3994150" cy="457200"/>
          </a:xfrm>
          <a:prstGeom prst="rect">
            <a:avLst/>
          </a:prstGeom>
          <a:noFill/>
          <a:ln w="9525">
            <a:noFill/>
          </a:ln>
        </p:spPr>
        <p:txBody>
          <a:bodyPr wrap="none">
            <a:spAutoFit/>
          </a:bodyPr>
          <a:lstStyle/>
          <a:p>
            <a:r>
              <a:rPr lang="zh-CN" altLang="en-US" dirty="0">
                <a:latin typeface="Times New Roman" panose="02020603050405020304" pitchFamily="18" charset="0"/>
              </a:rPr>
              <a:t>（</a:t>
            </a:r>
            <a:r>
              <a:rPr lang="en-US" altLang="zh-CN" dirty="0">
                <a:latin typeface="Times New Roman" panose="02020603050405020304" pitchFamily="18" charset="0"/>
              </a:rPr>
              <a:t>3</a:t>
            </a:r>
            <a:r>
              <a:rPr lang="zh-CN" altLang="en-US" dirty="0">
                <a:latin typeface="Times New Roman" panose="02020603050405020304" pitchFamily="18" charset="0"/>
              </a:rPr>
              <a:t>）抑制外部干扰的措施</a:t>
            </a:r>
            <a:r>
              <a:rPr lang="zh-CN" altLang="en-US" dirty="0">
                <a:latin typeface="Times New Roman" panose="02020603050405020304" pitchFamily="18" charset="0"/>
                <a:sym typeface="Wingdings" panose="05000000000000000000" pitchFamily="2" charset="2"/>
              </a:rPr>
              <a:t>：</a:t>
            </a:r>
            <a:endParaRPr lang="zh-CN" altLang="en-US" dirty="0">
              <a:latin typeface="Times New Roman" panose="02020603050405020304" pitchFamily="18" charset="0"/>
            </a:endParaRPr>
          </a:p>
        </p:txBody>
      </p:sp>
      <p:sp>
        <p:nvSpPr>
          <p:cNvPr id="53266" name="Text Box 18"/>
          <p:cNvSpPr txBox="1"/>
          <p:nvPr/>
        </p:nvSpPr>
        <p:spPr>
          <a:xfrm>
            <a:off x="755333" y="5516563"/>
            <a:ext cx="6168390" cy="460375"/>
          </a:xfrm>
          <a:prstGeom prst="rect">
            <a:avLst/>
          </a:prstGeom>
          <a:noFill/>
          <a:ln w="9525">
            <a:noFill/>
          </a:ln>
        </p:spPr>
        <p:txBody>
          <a:bodyPr wrap="none">
            <a:spAutoFit/>
          </a:bodyPr>
          <a:lstStyle/>
          <a:p>
            <a:r>
              <a:rPr lang="en-US" altLang="zh-CN" dirty="0">
                <a:latin typeface="Times New Roman" panose="02020603050405020304" pitchFamily="18" charset="0"/>
              </a:rPr>
              <a:t>a. </a:t>
            </a:r>
            <a:r>
              <a:rPr lang="zh-CN" altLang="en-US" dirty="0">
                <a:latin typeface="Times New Roman" panose="02020603050405020304" pitchFamily="18" charset="0"/>
              </a:rPr>
              <a:t>消除干扰源；</a:t>
            </a:r>
            <a:r>
              <a:rPr lang="en-US" altLang="zh-CN" dirty="0">
                <a:latin typeface="Times New Roman" panose="02020603050405020304" pitchFamily="18" charset="0"/>
              </a:rPr>
              <a:t>b.</a:t>
            </a:r>
            <a:r>
              <a:rPr lang="zh-CN" altLang="en-US" dirty="0">
                <a:latin typeface="Times New Roman" panose="02020603050405020304" pitchFamily="18" charset="0"/>
              </a:rPr>
              <a:t>切断传播途径；</a:t>
            </a:r>
            <a:r>
              <a:rPr lang="en-US" altLang="zh-CN" dirty="0">
                <a:latin typeface="Times New Roman" panose="02020603050405020304" pitchFamily="18" charset="0"/>
              </a:rPr>
              <a:t>c. </a:t>
            </a:r>
            <a:r>
              <a:rPr lang="zh-CN" altLang="en-US" dirty="0">
                <a:latin typeface="Times New Roman" panose="02020603050405020304" pitchFamily="18" charset="0"/>
              </a:rPr>
              <a:t>避免干扰</a:t>
            </a:r>
            <a:endParaRPr lang="zh-CN" altLang="en-US" dirty="0">
              <a:latin typeface="Times New Roman" panose="02020603050405020304" pitchFamily="18" charset="0"/>
            </a:endParaRPr>
          </a:p>
        </p:txBody>
      </p:sp>
      <p:grpSp>
        <p:nvGrpSpPr>
          <p:cNvPr id="82956" name="Group 19"/>
          <p:cNvGrpSpPr/>
          <p:nvPr/>
        </p:nvGrpSpPr>
        <p:grpSpPr>
          <a:xfrm>
            <a:off x="1898968" y="339090"/>
            <a:ext cx="5334000" cy="546100"/>
            <a:chOff x="1378" y="410"/>
            <a:chExt cx="3360" cy="344"/>
          </a:xfrm>
        </p:grpSpPr>
        <p:sp>
          <p:nvSpPr>
            <p:cNvPr id="82957" name="Rectangle 20"/>
            <p:cNvSpPr/>
            <p:nvPr/>
          </p:nvSpPr>
          <p:spPr>
            <a:xfrm>
              <a:off x="1378" y="410"/>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2.3   </a:t>
              </a:r>
              <a:r>
                <a:rPr lang="zh-CN" altLang="en-US" sz="2800" b="1" dirty="0">
                  <a:solidFill>
                    <a:schemeClr val="accent2"/>
                  </a:solidFill>
                  <a:latin typeface="Times New Roman" panose="02020603050405020304" pitchFamily="18" charset="0"/>
                </a:rPr>
                <a:t>电子噪 声及其特性</a:t>
              </a:r>
              <a:endParaRPr lang="zh-CN" altLang="en-US" sz="2800" b="1" dirty="0">
                <a:solidFill>
                  <a:schemeClr val="accent2"/>
                </a:solidFill>
                <a:latin typeface="Times New Roman" panose="02020603050405020304" pitchFamily="18" charset="0"/>
              </a:endParaRPr>
            </a:p>
          </p:txBody>
        </p:sp>
        <p:sp>
          <p:nvSpPr>
            <p:cNvPr id="82958" name="Line 21"/>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11"/>
          <p:cNvSpPr txBox="1"/>
          <p:nvPr/>
        </p:nvSpPr>
        <p:spPr>
          <a:xfrm>
            <a:off x="179388" y="1052513"/>
            <a:ext cx="3841750" cy="457200"/>
          </a:xfrm>
          <a:prstGeom prst="rect">
            <a:avLst/>
          </a:prstGeom>
          <a:noFill/>
          <a:ln w="9525">
            <a:noFill/>
          </a:ln>
        </p:spPr>
        <p:txBody>
          <a:bodyPr wrap="none">
            <a:spAutoFit/>
          </a:bodyPr>
          <a:lstStyle/>
          <a:p>
            <a:r>
              <a:rPr lang="zh-CN" altLang="en-US" dirty="0">
                <a:solidFill>
                  <a:srgbClr val="FF0066"/>
                </a:solidFill>
                <a:latin typeface="Times New Roman" panose="02020603050405020304" pitchFamily="18" charset="0"/>
              </a:rPr>
              <a:t>二、电子噪声的来源与特性</a:t>
            </a:r>
            <a:endParaRPr lang="zh-CN" altLang="en-US" dirty="0">
              <a:solidFill>
                <a:srgbClr val="FF0066"/>
              </a:solidFill>
              <a:latin typeface="Times New Roman" panose="02020603050405020304" pitchFamily="18" charset="0"/>
            </a:endParaRPr>
          </a:p>
        </p:txBody>
      </p:sp>
      <p:sp>
        <p:nvSpPr>
          <p:cNvPr id="272396" name="Text Box 12"/>
          <p:cNvSpPr txBox="1"/>
          <p:nvPr/>
        </p:nvSpPr>
        <p:spPr>
          <a:xfrm>
            <a:off x="560388" y="1703388"/>
            <a:ext cx="4756150" cy="457200"/>
          </a:xfrm>
          <a:prstGeom prst="rect">
            <a:avLst/>
          </a:prstGeom>
          <a:noFill/>
          <a:ln w="9525">
            <a:noFill/>
          </a:ln>
        </p:spPr>
        <p:txBody>
          <a:bodyPr wrap="none">
            <a:spAutoFit/>
          </a:bodyPr>
          <a:lstStyle/>
          <a:p>
            <a:r>
              <a:rPr lang="zh-CN" altLang="en-US" dirty="0">
                <a:solidFill>
                  <a:srgbClr val="FF0066"/>
                </a:solidFill>
                <a:latin typeface="Times New Roman" panose="02020603050405020304" pitchFamily="18" charset="0"/>
              </a:rPr>
              <a:t>来源</a:t>
            </a:r>
            <a:r>
              <a:rPr lang="zh-CN" altLang="en-US" dirty="0">
                <a:latin typeface="Times New Roman" panose="02020603050405020304" pitchFamily="18" charset="0"/>
              </a:rPr>
              <a:t>：电阻热噪声；半导体管噪声</a:t>
            </a:r>
            <a:endParaRPr lang="zh-CN" altLang="en-US" dirty="0">
              <a:latin typeface="Times New Roman" panose="02020603050405020304" pitchFamily="18" charset="0"/>
            </a:endParaRPr>
          </a:p>
        </p:txBody>
      </p:sp>
      <p:sp>
        <p:nvSpPr>
          <p:cNvPr id="272397" name="Text Box 13"/>
          <p:cNvSpPr txBox="1"/>
          <p:nvPr/>
        </p:nvSpPr>
        <p:spPr>
          <a:xfrm>
            <a:off x="611188" y="2278063"/>
            <a:ext cx="2468880" cy="460375"/>
          </a:xfrm>
          <a:prstGeom prst="rect">
            <a:avLst/>
          </a:prstGeom>
          <a:noFill/>
          <a:ln w="9525">
            <a:noFill/>
          </a:ln>
        </p:spPr>
        <p:txBody>
          <a:bodyPr wrap="none">
            <a:spAutoFit/>
          </a:bodyPr>
          <a:lstStyle/>
          <a:p>
            <a:r>
              <a:rPr lang="zh-CN" altLang="en-US" dirty="0">
                <a:solidFill>
                  <a:schemeClr val="accent2"/>
                </a:solidFill>
                <a:latin typeface="Times New Roman" panose="02020603050405020304" pitchFamily="18" charset="0"/>
              </a:rPr>
              <a:t>（</a:t>
            </a:r>
            <a:r>
              <a:rPr lang="en-US" altLang="zh-CN" dirty="0">
                <a:solidFill>
                  <a:schemeClr val="accent2"/>
                </a:solidFill>
                <a:latin typeface="Times New Roman" panose="02020603050405020304" pitchFamily="18" charset="0"/>
              </a:rPr>
              <a:t>1</a:t>
            </a:r>
            <a:r>
              <a:rPr lang="zh-CN" altLang="en-US" dirty="0">
                <a:solidFill>
                  <a:schemeClr val="accent2"/>
                </a:solidFill>
                <a:latin typeface="Times New Roman" panose="02020603050405020304" pitchFamily="18" charset="0"/>
              </a:rPr>
              <a:t>）电阻热噪声</a:t>
            </a:r>
            <a:endParaRPr lang="zh-CN" altLang="en-US" dirty="0">
              <a:solidFill>
                <a:schemeClr val="accent2"/>
              </a:solidFill>
              <a:latin typeface="Times New Roman" panose="02020603050405020304" pitchFamily="18" charset="0"/>
            </a:endParaRPr>
          </a:p>
        </p:txBody>
      </p:sp>
      <p:sp>
        <p:nvSpPr>
          <p:cNvPr id="272398" name="Text Box 14"/>
          <p:cNvSpPr txBox="1"/>
          <p:nvPr/>
        </p:nvSpPr>
        <p:spPr>
          <a:xfrm>
            <a:off x="560388" y="2854325"/>
            <a:ext cx="8085137" cy="1200329"/>
          </a:xfrm>
          <a:prstGeom prst="rect">
            <a:avLst/>
          </a:prstGeom>
          <a:noFill/>
          <a:ln w="9525">
            <a:noFill/>
          </a:ln>
        </p:spPr>
        <p:txBody>
          <a:bodyPr>
            <a:spAutoFit/>
          </a:bodyPr>
          <a:lstStyle/>
          <a:p>
            <a:r>
              <a:rPr lang="zh-CN" altLang="en-US" dirty="0">
                <a:latin typeface="Times New Roman" panose="02020603050405020304" pitchFamily="18" charset="0"/>
              </a:rPr>
              <a:t>导体或电阻中自由电子热运动而产生</a:t>
            </a:r>
            <a:r>
              <a:rPr lang="zh-CN" altLang="en-US" b="1" dirty="0">
                <a:solidFill>
                  <a:srgbClr val="FF0000"/>
                </a:solidFill>
                <a:latin typeface="Times New Roman" panose="02020603050405020304" pitchFamily="18" charset="0"/>
              </a:rPr>
              <a:t>起伏电压</a:t>
            </a:r>
            <a:r>
              <a:rPr lang="zh-CN" altLang="en-US" dirty="0">
                <a:latin typeface="Times New Roman" panose="02020603050405020304" pitchFamily="18" charset="0"/>
              </a:rPr>
              <a:t>称为</a:t>
            </a:r>
            <a:r>
              <a:rPr lang="zh-CN" altLang="en-US" dirty="0">
                <a:solidFill>
                  <a:srgbClr val="FF0066"/>
                </a:solidFill>
                <a:latin typeface="Times New Roman" panose="02020603050405020304" pitchFamily="18" charset="0"/>
              </a:rPr>
              <a:t>电阻的热噪声。</a:t>
            </a:r>
            <a:r>
              <a:rPr lang="zh-CN" altLang="en-US" dirty="0">
                <a:latin typeface="Times New Roman" panose="02020603050405020304" pitchFamily="18" charset="0"/>
              </a:rPr>
              <a:t>温度越高，自由电子的运动越剧烈，产生的起伏电压越大，噪声功率就越大。</a:t>
            </a:r>
            <a:endParaRPr lang="zh-CN" altLang="en-US" dirty="0">
              <a:solidFill>
                <a:srgbClr val="FF0066"/>
              </a:solidFill>
              <a:latin typeface="Times New Roman" panose="02020603050405020304" pitchFamily="18" charset="0"/>
            </a:endParaRPr>
          </a:p>
        </p:txBody>
      </p:sp>
      <p:sp>
        <p:nvSpPr>
          <p:cNvPr id="272400" name="Text Box 16"/>
          <p:cNvSpPr txBox="1"/>
          <p:nvPr/>
        </p:nvSpPr>
        <p:spPr>
          <a:xfrm>
            <a:off x="631825" y="4151313"/>
            <a:ext cx="7867650" cy="1198880"/>
          </a:xfrm>
          <a:prstGeom prst="rect">
            <a:avLst/>
          </a:prstGeom>
          <a:noFill/>
          <a:ln w="9525">
            <a:noFill/>
          </a:ln>
        </p:spPr>
        <p:txBody>
          <a:bodyPr>
            <a:spAutoFit/>
          </a:bodyPr>
          <a:lstStyle/>
          <a:p>
            <a:r>
              <a:rPr lang="zh-CN" altLang="en-US" dirty="0">
                <a:latin typeface="Times New Roman" panose="02020603050405020304" pitchFamily="18" charset="0"/>
              </a:rPr>
              <a:t>就一段时间来看，出现正负电压的概率相同，因而两端的平均电压为</a:t>
            </a:r>
            <a:r>
              <a:rPr lang="en-US" altLang="zh-CN" dirty="0">
                <a:latin typeface="Times New Roman" panose="02020603050405020304" pitchFamily="18" charset="0"/>
              </a:rPr>
              <a:t>0</a:t>
            </a:r>
            <a:r>
              <a:rPr lang="zh-CN" altLang="en-US" dirty="0">
                <a:latin typeface="Times New Roman" panose="02020603050405020304" pitchFamily="18" charset="0"/>
              </a:rPr>
              <a:t>；但是某一瞬间看，电阻两端电势的大小和方向是随机变化的。</a:t>
            </a:r>
            <a:endParaRPr lang="zh-CN" altLang="en-US" dirty="0">
              <a:latin typeface="Times New Roman" panose="02020603050405020304" pitchFamily="18" charset="0"/>
            </a:endParaRPr>
          </a:p>
        </p:txBody>
      </p:sp>
      <p:grpSp>
        <p:nvGrpSpPr>
          <p:cNvPr id="82956" name="Group 19"/>
          <p:cNvGrpSpPr/>
          <p:nvPr/>
        </p:nvGrpSpPr>
        <p:grpSpPr>
          <a:xfrm>
            <a:off x="1898968" y="339090"/>
            <a:ext cx="5334000" cy="546100"/>
            <a:chOff x="1378" y="410"/>
            <a:chExt cx="3360" cy="344"/>
          </a:xfrm>
        </p:grpSpPr>
        <p:sp>
          <p:nvSpPr>
            <p:cNvPr id="82957" name="Rectangle 20"/>
            <p:cNvSpPr/>
            <p:nvPr/>
          </p:nvSpPr>
          <p:spPr>
            <a:xfrm>
              <a:off x="1378" y="410"/>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2.3   </a:t>
              </a:r>
              <a:r>
                <a:rPr lang="zh-CN" altLang="en-US" sz="2800" b="1" dirty="0">
                  <a:solidFill>
                    <a:schemeClr val="accent2"/>
                  </a:solidFill>
                  <a:latin typeface="Times New Roman" panose="02020603050405020304" pitchFamily="18" charset="0"/>
                </a:rPr>
                <a:t>电子噪 声及其特性</a:t>
              </a:r>
              <a:endParaRPr lang="zh-CN" altLang="en-US" sz="2800" b="1" dirty="0">
                <a:solidFill>
                  <a:schemeClr val="accent2"/>
                </a:solidFill>
                <a:latin typeface="Times New Roman" panose="02020603050405020304" pitchFamily="18" charset="0"/>
              </a:endParaRPr>
            </a:p>
          </p:txBody>
        </p:sp>
        <p:sp>
          <p:nvSpPr>
            <p:cNvPr id="82958" name="Line 21"/>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61" name="Text Box 5"/>
          <p:cNvSpPr txBox="1"/>
          <p:nvPr/>
        </p:nvSpPr>
        <p:spPr>
          <a:xfrm>
            <a:off x="539750" y="1989138"/>
            <a:ext cx="7043738" cy="396875"/>
          </a:xfrm>
          <a:prstGeom prst="rect">
            <a:avLst/>
          </a:prstGeom>
          <a:noFill/>
          <a:ln w="9525">
            <a:noFill/>
          </a:ln>
        </p:spPr>
        <p:txBody>
          <a:bodyPr wrap="none">
            <a:spAutoFit/>
          </a:bodyPr>
          <a:lstStyle/>
          <a:p>
            <a:r>
              <a:rPr lang="zh-CN" altLang="en-US" sz="2000" dirty="0">
                <a:latin typeface="Times New Roman" panose="02020603050405020304" pitchFamily="18" charset="0"/>
              </a:rPr>
              <a:t>当电阻的温度为</a:t>
            </a:r>
            <a:r>
              <a:rPr lang="en-US" altLang="zh-CN" sz="2000" dirty="0">
                <a:latin typeface="Times New Roman" panose="02020603050405020304" pitchFamily="18" charset="0"/>
              </a:rPr>
              <a:t>T</a:t>
            </a:r>
            <a:r>
              <a:rPr lang="zh-CN" altLang="en-US" sz="2000" dirty="0">
                <a:latin typeface="Times New Roman" panose="02020603050405020304" pitchFamily="18" charset="0"/>
              </a:rPr>
              <a:t>（</a:t>
            </a:r>
            <a:r>
              <a:rPr lang="en-US" altLang="zh-CN" sz="2000" dirty="0">
                <a:latin typeface="Times New Roman" panose="02020603050405020304" pitchFamily="18" charset="0"/>
              </a:rPr>
              <a:t>K</a:t>
            </a:r>
            <a:r>
              <a:rPr lang="zh-CN" altLang="en-US" sz="2000" dirty="0">
                <a:latin typeface="Times New Roman" panose="02020603050405020304" pitchFamily="18" charset="0"/>
              </a:rPr>
              <a:t>）时，电阻</a:t>
            </a:r>
            <a:r>
              <a:rPr lang="en-US" altLang="zh-CN" sz="2000" dirty="0">
                <a:latin typeface="Times New Roman" panose="02020603050405020304" pitchFamily="18" charset="0"/>
              </a:rPr>
              <a:t>R</a:t>
            </a:r>
            <a:r>
              <a:rPr lang="zh-CN" altLang="en-US" sz="2000" dirty="0">
                <a:latin typeface="Times New Roman" panose="02020603050405020304" pitchFamily="18" charset="0"/>
              </a:rPr>
              <a:t>两端噪声电压的均方值为：</a:t>
            </a:r>
            <a:endParaRPr lang="zh-CN" altLang="en-US" sz="2000" dirty="0">
              <a:latin typeface="Times New Roman" panose="02020603050405020304" pitchFamily="18" charset="0"/>
            </a:endParaRPr>
          </a:p>
        </p:txBody>
      </p:sp>
      <p:graphicFrame>
        <p:nvGraphicFramePr>
          <p:cNvPr id="275462" name="Object 6"/>
          <p:cNvGraphicFramePr>
            <a:graphicFrameLocks noGrp="1"/>
          </p:cNvGraphicFramePr>
          <p:nvPr>
            <p:ph sz="quarter" idx="1"/>
          </p:nvPr>
        </p:nvGraphicFramePr>
        <p:xfrm>
          <a:off x="2326958" y="2349500"/>
          <a:ext cx="3337560" cy="749300"/>
        </p:xfrm>
        <a:graphic>
          <a:graphicData uri="http://schemas.openxmlformats.org/presentationml/2006/ole">
            <mc:AlternateContent xmlns:mc="http://schemas.openxmlformats.org/markup-compatibility/2006">
              <mc:Choice xmlns:v="urn:schemas-microsoft-com:vml" Requires="v">
                <p:oleObj spid="_x0000_s2" name="" r:id="rId1" imgW="1752600" imgH="393700" progId="Equation.DSMT4">
                  <p:embed/>
                </p:oleObj>
              </mc:Choice>
              <mc:Fallback>
                <p:oleObj name="" r:id="rId1" imgW="1752600" imgH="393700" progId="Equation.DSMT4">
                  <p:embed/>
                  <p:pic>
                    <p:nvPicPr>
                      <p:cNvPr id="0" name="图片 3299"/>
                      <p:cNvPicPr/>
                      <p:nvPr/>
                    </p:nvPicPr>
                    <p:blipFill>
                      <a:blip r:embed="rId2"/>
                      <a:stretch>
                        <a:fillRect/>
                      </a:stretch>
                    </p:blipFill>
                    <p:spPr>
                      <a:xfrm>
                        <a:off x="2326958" y="2349500"/>
                        <a:ext cx="3337560" cy="749300"/>
                      </a:xfrm>
                      <a:prstGeom prst="rect">
                        <a:avLst/>
                      </a:prstGeom>
                      <a:noFill/>
                      <a:ln w="38100">
                        <a:noFill/>
                        <a:miter/>
                      </a:ln>
                    </p:spPr>
                  </p:pic>
                </p:oleObj>
              </mc:Fallback>
            </mc:AlternateContent>
          </a:graphicData>
        </a:graphic>
      </p:graphicFrame>
      <p:graphicFrame>
        <p:nvGraphicFramePr>
          <p:cNvPr id="275464" name="Object 8"/>
          <p:cNvGraphicFramePr>
            <a:graphicFrameLocks noGrp="1"/>
          </p:cNvGraphicFramePr>
          <p:nvPr>
            <p:ph sz="quarter" idx="2"/>
          </p:nvPr>
        </p:nvGraphicFramePr>
        <p:xfrm>
          <a:off x="3053080" y="4902590"/>
          <a:ext cx="3025775" cy="830262"/>
        </p:xfrm>
        <a:graphic>
          <a:graphicData uri="http://schemas.openxmlformats.org/presentationml/2006/ole">
            <mc:AlternateContent xmlns:mc="http://schemas.openxmlformats.org/markup-compatibility/2006">
              <mc:Choice xmlns:v="urn:schemas-microsoft-com:vml" Requires="v">
                <p:oleObj spid="_x0000_s3" name="" r:id="rId3" imgW="1802765" imgH="495300" progId="Equation.DSMT4">
                  <p:embed/>
                </p:oleObj>
              </mc:Choice>
              <mc:Fallback>
                <p:oleObj name="" r:id="rId3" imgW="1802765" imgH="495300" progId="Equation.DSMT4">
                  <p:embed/>
                  <p:pic>
                    <p:nvPicPr>
                      <p:cNvPr id="0" name="图片 3301"/>
                      <p:cNvPicPr/>
                      <p:nvPr/>
                    </p:nvPicPr>
                    <p:blipFill>
                      <a:blip r:embed="rId4"/>
                      <a:stretch>
                        <a:fillRect/>
                      </a:stretch>
                    </p:blipFill>
                    <p:spPr>
                      <a:xfrm>
                        <a:off x="3053080" y="4902590"/>
                        <a:ext cx="3025775" cy="830262"/>
                      </a:xfrm>
                      <a:prstGeom prst="rect">
                        <a:avLst/>
                      </a:prstGeom>
                      <a:noFill/>
                      <a:ln w="38100">
                        <a:noFill/>
                        <a:miter/>
                      </a:ln>
                    </p:spPr>
                  </p:pic>
                </p:oleObj>
              </mc:Fallback>
            </mc:AlternateContent>
          </a:graphicData>
        </a:graphic>
      </p:graphicFrame>
      <p:grpSp>
        <p:nvGrpSpPr>
          <p:cNvPr id="4" name="Group 27"/>
          <p:cNvGrpSpPr/>
          <p:nvPr/>
        </p:nvGrpSpPr>
        <p:grpSpPr>
          <a:xfrm>
            <a:off x="755650" y="3068638"/>
            <a:ext cx="6843713" cy="446087"/>
            <a:chOff x="612" y="1752"/>
            <a:chExt cx="4311" cy="281"/>
          </a:xfrm>
        </p:grpSpPr>
        <p:graphicFrame>
          <p:nvGraphicFramePr>
            <p:cNvPr id="43015" name="Object 12"/>
            <p:cNvGraphicFramePr/>
            <p:nvPr/>
          </p:nvGraphicFramePr>
          <p:xfrm>
            <a:off x="612" y="1752"/>
            <a:ext cx="1224" cy="227"/>
          </p:xfrm>
          <a:graphic>
            <a:graphicData uri="http://schemas.openxmlformats.org/presentationml/2006/ole">
              <mc:AlternateContent xmlns:mc="http://schemas.openxmlformats.org/markup-compatibility/2006">
                <mc:Choice xmlns:v="urn:schemas-microsoft-com:vml" Requires="v">
                  <p:oleObj spid="_x0000_s5" name="" r:id="rId5" imgW="1230630" imgH="203200" progId="Equation.DSMT4">
                    <p:embed/>
                  </p:oleObj>
                </mc:Choice>
                <mc:Fallback>
                  <p:oleObj name="" r:id="rId5" imgW="1230630" imgH="203200" progId="Equation.DSMT4">
                    <p:embed/>
                    <p:pic>
                      <p:nvPicPr>
                        <p:cNvPr id="0" name="图片 3302"/>
                        <p:cNvPicPr/>
                        <p:nvPr/>
                      </p:nvPicPr>
                      <p:blipFill>
                        <a:blip r:embed="rId6"/>
                        <a:stretch>
                          <a:fillRect/>
                        </a:stretch>
                      </p:blipFill>
                      <p:spPr>
                        <a:xfrm>
                          <a:off x="612" y="1752"/>
                          <a:ext cx="1224" cy="227"/>
                        </a:xfrm>
                        <a:prstGeom prst="rect">
                          <a:avLst/>
                        </a:prstGeom>
                        <a:noFill/>
                        <a:ln w="38100">
                          <a:noFill/>
                          <a:miter/>
                        </a:ln>
                      </p:spPr>
                    </p:pic>
                  </p:oleObj>
                </mc:Fallback>
              </mc:AlternateContent>
            </a:graphicData>
          </a:graphic>
        </p:graphicFrame>
        <p:sp>
          <p:nvSpPr>
            <p:cNvPr id="43030" name="Text Box 15"/>
            <p:cNvSpPr txBox="1"/>
            <p:nvPr/>
          </p:nvSpPr>
          <p:spPr>
            <a:xfrm>
              <a:off x="1882" y="1783"/>
              <a:ext cx="3041" cy="250"/>
            </a:xfrm>
            <a:prstGeom prst="rect">
              <a:avLst/>
            </a:prstGeom>
            <a:noFill/>
            <a:ln w="9525">
              <a:noFill/>
            </a:ln>
          </p:spPr>
          <p:txBody>
            <a:bodyPr wrap="none">
              <a:spAutoFit/>
            </a:bodyPr>
            <a:lstStyle/>
            <a:p>
              <a:r>
                <a:rPr lang="zh-CN" altLang="en-US" sz="2000" dirty="0">
                  <a:latin typeface="Times New Roman" panose="02020603050405020304" pitchFamily="18" charset="0"/>
                </a:rPr>
                <a:t>伯茨曼常数；</a:t>
              </a:r>
              <a:r>
                <a:rPr lang="en-US" altLang="zh-CN" sz="2000" i="1" dirty="0">
                  <a:latin typeface="Times New Roman" panose="02020603050405020304" pitchFamily="18" charset="0"/>
                </a:rPr>
                <a:t>B</a:t>
              </a:r>
              <a:r>
                <a:rPr lang="zh-CN" altLang="en-US" sz="2000" dirty="0">
                  <a:latin typeface="Times New Roman" panose="02020603050405020304" pitchFamily="18" charset="0"/>
                </a:rPr>
                <a:t>是测量带宽，</a:t>
              </a:r>
              <a:r>
                <a:rPr lang="en-US" altLang="zh-CN" sz="2000" i="1" dirty="0">
                  <a:latin typeface="Times New Roman" panose="02020603050405020304" pitchFamily="18" charset="0"/>
                </a:rPr>
                <a:t>T</a:t>
              </a:r>
              <a:r>
                <a:rPr lang="zh-CN" altLang="en-US" sz="2000" dirty="0">
                  <a:latin typeface="Times New Roman" panose="02020603050405020304" pitchFamily="18" charset="0"/>
                </a:rPr>
                <a:t>是绝对温度</a:t>
              </a:r>
              <a:endParaRPr lang="zh-CN" altLang="en-US" sz="2000" dirty="0">
                <a:latin typeface="Times New Roman" panose="02020603050405020304" pitchFamily="18" charset="0"/>
              </a:endParaRPr>
            </a:p>
          </p:txBody>
        </p:sp>
      </p:grpSp>
      <p:sp>
        <p:nvSpPr>
          <p:cNvPr id="275472" name="Text Box 16"/>
          <p:cNvSpPr txBox="1"/>
          <p:nvPr/>
        </p:nvSpPr>
        <p:spPr>
          <a:xfrm>
            <a:off x="5724525" y="2492375"/>
            <a:ext cx="1871663" cy="396875"/>
          </a:xfrm>
          <a:prstGeom prst="rect">
            <a:avLst/>
          </a:prstGeom>
          <a:noFill/>
          <a:ln w="9525">
            <a:noFill/>
          </a:ln>
        </p:spPr>
        <p:txBody>
          <a:bodyPr>
            <a:spAutoFit/>
          </a:bodyPr>
          <a:lstStyle/>
          <a:p>
            <a:r>
              <a:rPr lang="zh-CN" altLang="en-US" sz="2000" dirty="0">
                <a:latin typeface="Times New Roman" panose="02020603050405020304" pitchFamily="18" charset="0"/>
              </a:rPr>
              <a:t>奈奎斯特公式</a:t>
            </a:r>
            <a:endParaRPr lang="zh-CN" altLang="en-US" sz="2000" dirty="0">
              <a:latin typeface="Times New Roman" panose="02020603050405020304" pitchFamily="18" charset="0"/>
            </a:endParaRPr>
          </a:p>
        </p:txBody>
      </p:sp>
      <p:grpSp>
        <p:nvGrpSpPr>
          <p:cNvPr id="6" name="Group 26"/>
          <p:cNvGrpSpPr/>
          <p:nvPr/>
        </p:nvGrpSpPr>
        <p:grpSpPr>
          <a:xfrm>
            <a:off x="827088" y="3573463"/>
            <a:ext cx="5881687" cy="517525"/>
            <a:chOff x="612" y="2205"/>
            <a:chExt cx="3705" cy="326"/>
          </a:xfrm>
        </p:grpSpPr>
        <p:graphicFrame>
          <p:nvGraphicFramePr>
            <p:cNvPr id="43014" name="Object 17"/>
            <p:cNvGraphicFramePr/>
            <p:nvPr/>
          </p:nvGraphicFramePr>
          <p:xfrm>
            <a:off x="612" y="2205"/>
            <a:ext cx="1158" cy="326"/>
          </p:xfrm>
          <a:graphic>
            <a:graphicData uri="http://schemas.openxmlformats.org/presentationml/2006/ole">
              <mc:AlternateContent xmlns:mc="http://schemas.openxmlformats.org/markup-compatibility/2006">
                <mc:Choice xmlns:v="urn:schemas-microsoft-com:vml" Requires="v">
                  <p:oleObj spid="_x0000_s7" name="" r:id="rId7" imgW="901065" imgH="254000" progId="Equation.DSMT4">
                    <p:embed/>
                  </p:oleObj>
                </mc:Choice>
                <mc:Fallback>
                  <p:oleObj name="" r:id="rId7" imgW="901065" imgH="254000" progId="Equation.DSMT4">
                    <p:embed/>
                    <p:pic>
                      <p:nvPicPr>
                        <p:cNvPr id="0" name="图片 3300"/>
                        <p:cNvPicPr/>
                        <p:nvPr/>
                      </p:nvPicPr>
                      <p:blipFill>
                        <a:blip r:embed="rId8"/>
                        <a:stretch>
                          <a:fillRect/>
                        </a:stretch>
                      </p:blipFill>
                      <p:spPr>
                        <a:xfrm>
                          <a:off x="612" y="2205"/>
                          <a:ext cx="1158" cy="326"/>
                        </a:xfrm>
                        <a:prstGeom prst="rect">
                          <a:avLst/>
                        </a:prstGeom>
                        <a:noFill/>
                        <a:ln w="38100">
                          <a:noFill/>
                          <a:miter/>
                        </a:ln>
                      </p:spPr>
                    </p:pic>
                  </p:oleObj>
                </mc:Fallback>
              </mc:AlternateContent>
            </a:graphicData>
          </a:graphic>
        </p:graphicFrame>
        <p:sp>
          <p:nvSpPr>
            <p:cNvPr id="43029" name="Text Box 20"/>
            <p:cNvSpPr txBox="1"/>
            <p:nvPr/>
          </p:nvSpPr>
          <p:spPr>
            <a:xfrm>
              <a:off x="1791" y="2238"/>
              <a:ext cx="2526" cy="251"/>
            </a:xfrm>
            <a:prstGeom prst="rect">
              <a:avLst/>
            </a:prstGeom>
            <a:noFill/>
            <a:ln w="9525">
              <a:noFill/>
            </a:ln>
          </p:spPr>
          <p:txBody>
            <a:bodyPr wrap="none">
              <a:spAutoFit/>
            </a:bodyPr>
            <a:lstStyle/>
            <a:p>
              <a:r>
                <a:rPr lang="zh-CN" altLang="en-US" sz="2000" b="1" dirty="0">
                  <a:solidFill>
                    <a:srgbClr val="FF0000"/>
                  </a:solidFill>
                  <a:latin typeface="Times New Roman" panose="02020603050405020304" pitchFamily="18" charset="0"/>
                </a:rPr>
                <a:t>表示起伏电压交流分量的有效值</a:t>
              </a:r>
              <a:r>
                <a:rPr lang="zh-CN" altLang="en-US" sz="2000" dirty="0">
                  <a:latin typeface="Times New Roman" panose="02020603050405020304" pitchFamily="18" charset="0"/>
                </a:rPr>
                <a:t>。</a:t>
              </a:r>
              <a:endParaRPr lang="zh-CN" altLang="en-US" sz="2000" dirty="0">
                <a:latin typeface="Times New Roman" panose="02020603050405020304" pitchFamily="18" charset="0"/>
              </a:endParaRPr>
            </a:p>
          </p:txBody>
        </p:sp>
      </p:grpSp>
      <p:sp>
        <p:nvSpPr>
          <p:cNvPr id="275478" name="Text Box 22"/>
          <p:cNvSpPr txBox="1"/>
          <p:nvPr/>
        </p:nvSpPr>
        <p:spPr>
          <a:xfrm>
            <a:off x="827088" y="5732852"/>
            <a:ext cx="4502150" cy="396875"/>
          </a:xfrm>
          <a:prstGeom prst="rect">
            <a:avLst/>
          </a:prstGeom>
          <a:noFill/>
          <a:ln w="9525">
            <a:noFill/>
          </a:ln>
        </p:spPr>
        <p:txBody>
          <a:bodyPr wrap="none">
            <a:spAutoFit/>
          </a:bodyPr>
          <a:lstStyle/>
          <a:p>
            <a:r>
              <a:rPr lang="zh-CN" altLang="en-US" sz="2000" dirty="0">
                <a:latin typeface="Times New Roman" panose="02020603050405020304" pitchFamily="18" charset="0"/>
              </a:rPr>
              <a:t>具有这种概率密度的噪声为</a:t>
            </a:r>
            <a:r>
              <a:rPr lang="zh-CN" altLang="en-US" sz="2000" dirty="0">
                <a:solidFill>
                  <a:srgbClr val="FF0066"/>
                </a:solidFill>
                <a:latin typeface="Times New Roman" panose="02020603050405020304" pitchFamily="18" charset="0"/>
              </a:rPr>
              <a:t>高斯噪声</a:t>
            </a:r>
            <a:r>
              <a:rPr lang="zh-CN" altLang="en-US" sz="2000" dirty="0">
                <a:latin typeface="Times New Roman" panose="02020603050405020304" pitchFamily="18" charset="0"/>
              </a:rPr>
              <a:t>。</a:t>
            </a:r>
            <a:endParaRPr lang="zh-CN" altLang="en-US" sz="2000" dirty="0">
              <a:latin typeface="Times New Roman" panose="02020603050405020304" pitchFamily="18" charset="0"/>
            </a:endParaRPr>
          </a:p>
        </p:txBody>
      </p:sp>
      <p:grpSp>
        <p:nvGrpSpPr>
          <p:cNvPr id="8" name="Group 32"/>
          <p:cNvGrpSpPr/>
          <p:nvPr/>
        </p:nvGrpSpPr>
        <p:grpSpPr>
          <a:xfrm>
            <a:off x="444818" y="4132580"/>
            <a:ext cx="7942262" cy="747713"/>
            <a:chOff x="521" y="2478"/>
            <a:chExt cx="5003" cy="471"/>
          </a:xfrm>
        </p:grpSpPr>
        <p:sp>
          <p:nvSpPr>
            <p:cNvPr id="43028" name="Text Box 21"/>
            <p:cNvSpPr txBox="1"/>
            <p:nvPr/>
          </p:nvSpPr>
          <p:spPr>
            <a:xfrm>
              <a:off x="521" y="2478"/>
              <a:ext cx="5003" cy="445"/>
            </a:xfrm>
            <a:prstGeom prst="rect">
              <a:avLst/>
            </a:prstGeom>
            <a:noFill/>
            <a:ln w="9525">
              <a:noFill/>
            </a:ln>
          </p:spPr>
          <p:txBody>
            <a:bodyPr>
              <a:spAutoFit/>
            </a:bodyPr>
            <a:lstStyle/>
            <a:p>
              <a:r>
                <a:rPr lang="zh-CN" altLang="en-US" sz="2000" dirty="0">
                  <a:latin typeface="Times New Roman" panose="02020603050405020304" pitchFamily="18" charset="0"/>
                </a:rPr>
                <a:t>根据概率论的理论，由于热噪声电压是由大量电子运动产生的感应电势之和，总的噪声电压    服从正态分布，即其概率密度        为：</a:t>
              </a:r>
              <a:endParaRPr lang="zh-CN" altLang="en-US" sz="2000" dirty="0">
                <a:latin typeface="Times New Roman" panose="02020603050405020304" pitchFamily="18" charset="0"/>
              </a:endParaRPr>
            </a:p>
          </p:txBody>
        </p:sp>
        <p:graphicFrame>
          <p:nvGraphicFramePr>
            <p:cNvPr id="43012" name="Object 23"/>
            <p:cNvGraphicFramePr/>
            <p:nvPr/>
          </p:nvGraphicFramePr>
          <p:xfrm>
            <a:off x="4391" y="2699"/>
            <a:ext cx="396" cy="210"/>
          </p:xfrm>
          <a:graphic>
            <a:graphicData uri="http://schemas.openxmlformats.org/presentationml/2006/ole">
              <mc:AlternateContent xmlns:mc="http://schemas.openxmlformats.org/markup-compatibility/2006">
                <mc:Choice xmlns:v="urn:schemas-microsoft-com:vml" Requires="v">
                  <p:oleObj spid="_x0000_s9" name="" r:id="rId9" imgW="393700" imgH="228600" progId="Equation.DSMT4">
                    <p:embed/>
                  </p:oleObj>
                </mc:Choice>
                <mc:Fallback>
                  <p:oleObj name="" r:id="rId9" imgW="393700" imgH="228600" progId="Equation.DSMT4">
                    <p:embed/>
                    <p:pic>
                      <p:nvPicPr>
                        <p:cNvPr id="0" name="图片 3304"/>
                        <p:cNvPicPr/>
                        <p:nvPr/>
                      </p:nvPicPr>
                      <p:blipFill>
                        <a:blip r:embed="rId10"/>
                        <a:stretch>
                          <a:fillRect/>
                        </a:stretch>
                      </p:blipFill>
                      <p:spPr>
                        <a:xfrm>
                          <a:off x="4391" y="2699"/>
                          <a:ext cx="396" cy="210"/>
                        </a:xfrm>
                        <a:prstGeom prst="rect">
                          <a:avLst/>
                        </a:prstGeom>
                        <a:noFill/>
                        <a:ln w="38100">
                          <a:noFill/>
                          <a:miter/>
                        </a:ln>
                      </p:spPr>
                    </p:pic>
                  </p:oleObj>
                </mc:Fallback>
              </mc:AlternateContent>
            </a:graphicData>
          </a:graphic>
        </p:graphicFrame>
        <p:graphicFrame>
          <p:nvGraphicFramePr>
            <p:cNvPr id="43013" name="Object 24"/>
            <p:cNvGraphicFramePr/>
            <p:nvPr/>
          </p:nvGraphicFramePr>
          <p:xfrm>
            <a:off x="2168" y="2659"/>
            <a:ext cx="209" cy="290"/>
          </p:xfrm>
          <a:graphic>
            <a:graphicData uri="http://schemas.openxmlformats.org/presentationml/2006/ole">
              <mc:AlternateContent xmlns:mc="http://schemas.openxmlformats.org/markup-compatibility/2006">
                <mc:Choice xmlns:v="urn:schemas-microsoft-com:vml" Requires="v">
                  <p:oleObj spid="_x0000_s10" name="" r:id="rId11" imgW="165100" imgH="228600" progId="Equation.DSMT4">
                    <p:embed/>
                  </p:oleObj>
                </mc:Choice>
                <mc:Fallback>
                  <p:oleObj name="" r:id="rId11" imgW="165100" imgH="228600" progId="Equation.DSMT4">
                    <p:embed/>
                    <p:pic>
                      <p:nvPicPr>
                        <p:cNvPr id="0" name="图片 3315"/>
                        <p:cNvPicPr/>
                        <p:nvPr/>
                      </p:nvPicPr>
                      <p:blipFill>
                        <a:blip r:embed="rId12"/>
                        <a:stretch>
                          <a:fillRect/>
                        </a:stretch>
                      </p:blipFill>
                      <p:spPr>
                        <a:xfrm>
                          <a:off x="2168" y="2659"/>
                          <a:ext cx="209" cy="290"/>
                        </a:xfrm>
                        <a:prstGeom prst="rect">
                          <a:avLst/>
                        </a:prstGeom>
                        <a:noFill/>
                        <a:ln w="38100">
                          <a:noFill/>
                          <a:miter/>
                        </a:ln>
                      </p:spPr>
                    </p:pic>
                  </p:oleObj>
                </mc:Fallback>
              </mc:AlternateContent>
            </a:graphicData>
          </a:graphic>
        </p:graphicFrame>
      </p:grpSp>
      <p:sp>
        <p:nvSpPr>
          <p:cNvPr id="43023" name="Text Box 28"/>
          <p:cNvSpPr txBox="1"/>
          <p:nvPr/>
        </p:nvSpPr>
        <p:spPr>
          <a:xfrm>
            <a:off x="156528" y="1025525"/>
            <a:ext cx="3840480" cy="460375"/>
          </a:xfrm>
          <a:prstGeom prst="rect">
            <a:avLst/>
          </a:prstGeom>
          <a:noFill/>
          <a:ln w="9525">
            <a:noFill/>
          </a:ln>
        </p:spPr>
        <p:txBody>
          <a:bodyPr wrap="none">
            <a:spAutoFit/>
          </a:bodyPr>
          <a:lstStyle/>
          <a:p>
            <a:r>
              <a:rPr lang="zh-CN" altLang="en-US" dirty="0">
                <a:solidFill>
                  <a:srgbClr val="FF0066"/>
                </a:solidFill>
                <a:latin typeface="Times New Roman" panose="02020603050405020304" pitchFamily="18" charset="0"/>
              </a:rPr>
              <a:t>二、电子噪声的来源与特性</a:t>
            </a:r>
            <a:endParaRPr lang="zh-CN" altLang="en-US" dirty="0">
              <a:solidFill>
                <a:srgbClr val="FF0066"/>
              </a:solidFill>
              <a:latin typeface="Times New Roman" panose="02020603050405020304" pitchFamily="18" charset="0"/>
            </a:endParaRPr>
          </a:p>
        </p:txBody>
      </p:sp>
      <p:grpSp>
        <p:nvGrpSpPr>
          <p:cNvPr id="82956" name="Group 19"/>
          <p:cNvGrpSpPr/>
          <p:nvPr/>
        </p:nvGrpSpPr>
        <p:grpSpPr>
          <a:xfrm>
            <a:off x="1784668" y="405766"/>
            <a:ext cx="5334000" cy="519113"/>
            <a:chOff x="1306" y="452"/>
            <a:chExt cx="3360" cy="327"/>
          </a:xfrm>
        </p:grpSpPr>
        <p:sp>
          <p:nvSpPr>
            <p:cNvPr id="82957" name="Rectangle 20"/>
            <p:cNvSpPr/>
            <p:nvPr/>
          </p:nvSpPr>
          <p:spPr>
            <a:xfrm>
              <a:off x="1306" y="45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2.3   </a:t>
              </a:r>
              <a:r>
                <a:rPr lang="zh-CN" altLang="en-US" sz="2800" b="1" dirty="0">
                  <a:solidFill>
                    <a:schemeClr val="accent2"/>
                  </a:solidFill>
                  <a:latin typeface="Times New Roman" panose="02020603050405020304" pitchFamily="18" charset="0"/>
                </a:rPr>
                <a:t>电子噪 声及其特性</a:t>
              </a:r>
              <a:endParaRPr lang="zh-CN" altLang="en-US" sz="2800" b="1" dirty="0">
                <a:solidFill>
                  <a:schemeClr val="accent2"/>
                </a:solidFill>
                <a:latin typeface="Times New Roman" panose="02020603050405020304" pitchFamily="18" charset="0"/>
              </a:endParaRPr>
            </a:p>
          </p:txBody>
        </p:sp>
        <p:sp>
          <p:nvSpPr>
            <p:cNvPr id="82958" name="Line 21"/>
            <p:cNvSpPr/>
            <p:nvPr/>
          </p:nvSpPr>
          <p:spPr>
            <a:xfrm>
              <a:off x="1474" y="754"/>
              <a:ext cx="3024" cy="0"/>
            </a:xfrm>
            <a:prstGeom prst="line">
              <a:avLst/>
            </a:prstGeom>
            <a:ln w="57150" cap="flat" cmpd="tri">
              <a:solidFill>
                <a:srgbClr val="FF00FF"/>
              </a:solidFill>
              <a:prstDash val="solid"/>
              <a:headEnd type="none" w="sm" len="sm"/>
              <a:tailEnd type="none" w="sm" len="sm"/>
            </a:ln>
          </p:spPr>
        </p:sp>
      </p:grpSp>
      <p:sp>
        <p:nvSpPr>
          <p:cNvPr id="272397" name="Text Box 13"/>
          <p:cNvSpPr txBox="1"/>
          <p:nvPr/>
        </p:nvSpPr>
        <p:spPr>
          <a:xfrm>
            <a:off x="444818" y="1412558"/>
            <a:ext cx="5923280" cy="460375"/>
          </a:xfrm>
          <a:prstGeom prst="rect">
            <a:avLst/>
          </a:prstGeom>
          <a:noFill/>
          <a:ln w="9525">
            <a:noFill/>
          </a:ln>
        </p:spPr>
        <p:txBody>
          <a:bodyPr wrap="none">
            <a:spAutoFit/>
          </a:bodyPr>
          <a:lstStyle/>
          <a:p>
            <a:pPr algn="l"/>
            <a:r>
              <a:rPr lang="zh-CN" altLang="en-US" dirty="0">
                <a:solidFill>
                  <a:schemeClr val="accent2"/>
                </a:solidFill>
                <a:latin typeface="Times New Roman" panose="02020603050405020304" pitchFamily="18" charset="0"/>
              </a:rPr>
              <a:t>（</a:t>
            </a:r>
            <a:r>
              <a:rPr lang="en-US" altLang="zh-CN" dirty="0">
                <a:solidFill>
                  <a:schemeClr val="accent2"/>
                </a:solidFill>
                <a:latin typeface="Times New Roman" panose="02020603050405020304" pitchFamily="18" charset="0"/>
              </a:rPr>
              <a:t>1</a:t>
            </a:r>
            <a:r>
              <a:rPr lang="zh-CN" altLang="en-US" dirty="0">
                <a:solidFill>
                  <a:schemeClr val="accent2"/>
                </a:solidFill>
                <a:latin typeface="Times New Roman" panose="02020603050405020304" pitchFamily="18" charset="0"/>
              </a:rPr>
              <a:t>）电阻热噪声</a:t>
            </a:r>
            <a:r>
              <a:rPr lang="en-US" altLang="zh-CN" dirty="0">
                <a:solidFill>
                  <a:schemeClr val="accent2"/>
                </a:solidFill>
                <a:latin typeface="Times New Roman" panose="02020603050405020304" pitchFamily="18" charset="0"/>
              </a:rPr>
              <a:t>-</a:t>
            </a:r>
            <a:r>
              <a:rPr lang="zh-CN" altLang="en-US" dirty="0">
                <a:solidFill>
                  <a:srgbClr val="FF00FF"/>
                </a:solidFill>
                <a:sym typeface="+mn-ea"/>
              </a:rPr>
              <a:t>热噪声电压和功率谱密度</a:t>
            </a:r>
            <a:endParaRPr lang="en-US" altLang="zh-CN" dirty="0">
              <a:solidFill>
                <a:schemeClr val="accent2"/>
              </a:solidFill>
              <a:latin typeface="Times New Roman" panose="02020603050405020304" pitchFamily="18" charset="0"/>
            </a:endParaRPr>
          </a:p>
        </p:txBody>
      </p:sp>
      <p:grpSp>
        <p:nvGrpSpPr>
          <p:cNvPr id="14" name="组合 13"/>
          <p:cNvGrpSpPr/>
          <p:nvPr/>
        </p:nvGrpSpPr>
        <p:grpSpPr>
          <a:xfrm>
            <a:off x="6300470" y="1548765"/>
            <a:ext cx="2293620" cy="440690"/>
            <a:chOff x="9922" y="2280"/>
            <a:chExt cx="3612" cy="694"/>
          </a:xfrm>
          <a:solidFill>
            <a:schemeClr val="accent1">
              <a:lumMod val="20000"/>
              <a:lumOff val="80000"/>
            </a:schemeClr>
          </a:solidFill>
        </p:grpSpPr>
        <p:sp>
          <p:nvSpPr>
            <p:cNvPr id="11" name="文本框 10"/>
            <p:cNvSpPr txBox="1"/>
            <p:nvPr/>
          </p:nvSpPr>
          <p:spPr>
            <a:xfrm>
              <a:off x="9922" y="2346"/>
              <a:ext cx="3612" cy="628"/>
            </a:xfrm>
            <a:prstGeom prst="rect">
              <a:avLst/>
            </a:prstGeom>
            <a:grpFill/>
          </p:spPr>
          <p:txBody>
            <a:bodyPr wrap="square" rtlCol="0">
              <a:spAutoFit/>
            </a:bodyPr>
            <a:lstStyle/>
            <a:p>
              <a:r>
                <a:rPr lang="en-US" altLang="zh-CN" sz="2000"/>
                <a:t>      </a:t>
              </a:r>
              <a:r>
                <a:rPr lang="zh-CN" altLang="en-US" sz="2000"/>
                <a:t>瞬时噪声电压</a:t>
              </a:r>
              <a:endParaRPr lang="zh-CN" altLang="en-US" sz="2000"/>
            </a:p>
          </p:txBody>
        </p:sp>
        <p:graphicFrame>
          <p:nvGraphicFramePr>
            <p:cNvPr id="12" name="Object 6"/>
            <p:cNvGraphicFramePr>
              <a:graphicFrameLocks noGrp="1"/>
            </p:cNvGraphicFramePr>
            <p:nvPr/>
          </p:nvGraphicFramePr>
          <p:xfrm>
            <a:off x="10148" y="2280"/>
            <a:ext cx="496" cy="686"/>
          </p:xfrm>
          <a:graphic>
            <a:graphicData uri="http://schemas.openxmlformats.org/presentationml/2006/ole">
              <mc:AlternateContent xmlns:mc="http://schemas.openxmlformats.org/markup-compatibility/2006">
                <mc:Choice xmlns:v="urn:schemas-microsoft-com:vml" Requires="v">
                  <p:oleObj spid="_x0000_s13" name="" r:id="rId13" imgW="165100" imgH="228600" progId="Equation.DSMT4">
                    <p:embed/>
                  </p:oleObj>
                </mc:Choice>
                <mc:Fallback>
                  <p:oleObj name="" r:id="rId13" imgW="165100" imgH="228600" progId="Equation.DSMT4">
                    <p:embed/>
                    <p:pic>
                      <p:nvPicPr>
                        <p:cNvPr id="0" name="图片 3299"/>
                        <p:cNvPicPr/>
                        <p:nvPr/>
                      </p:nvPicPr>
                      <p:blipFill>
                        <a:blip r:embed="rId14"/>
                        <a:stretch>
                          <a:fillRect/>
                        </a:stretch>
                      </p:blipFill>
                      <p:spPr>
                        <a:xfrm>
                          <a:off x="10148" y="2280"/>
                          <a:ext cx="496" cy="686"/>
                        </a:xfrm>
                        <a:prstGeom prst="rect">
                          <a:avLst/>
                        </a:prstGeom>
                        <a:noFill/>
                        <a:ln w="38100">
                          <a:noFill/>
                          <a:miter/>
                        </a:ln>
                      </p:spPr>
                    </p:pic>
                  </p:oleObj>
                </mc:Fallback>
              </mc:AlternateContent>
            </a:graphicData>
          </a:graphic>
        </p:graphicFrame>
      </p:grpSp>
    </p:spTree>
  </p:cSld>
  <p:clrMapOvr>
    <a:masterClrMapping/>
  </p:clrMapOvr>
  <p:transition spd="med">
    <p:zoom/>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034" name="Object 5"/>
          <p:cNvGraphicFramePr/>
          <p:nvPr/>
        </p:nvGraphicFramePr>
        <p:xfrm>
          <a:off x="611188" y="2060575"/>
          <a:ext cx="7553325" cy="3135313"/>
        </p:xfrm>
        <a:graphic>
          <a:graphicData uri="http://schemas.openxmlformats.org/presentationml/2006/ole">
            <mc:AlternateContent xmlns:mc="http://schemas.openxmlformats.org/markup-compatibility/2006">
              <mc:Choice xmlns:v="urn:schemas-microsoft-com:vml" Requires="v">
                <p:oleObj spid="_x0000_s2" name="" r:id="rId1" imgW="7580630" imgH="3146425" progId="Photoshop.Image.6">
                  <p:embed/>
                </p:oleObj>
              </mc:Choice>
              <mc:Fallback>
                <p:oleObj name="" r:id="rId1" imgW="7580630" imgH="3146425" progId="Photoshop.Image.6">
                  <p:embed/>
                  <p:pic>
                    <p:nvPicPr>
                      <p:cNvPr id="0" name="图片 3313"/>
                      <p:cNvPicPr/>
                      <p:nvPr/>
                    </p:nvPicPr>
                    <p:blipFill>
                      <a:blip r:embed="rId2"/>
                      <a:stretch>
                        <a:fillRect/>
                      </a:stretch>
                    </p:blipFill>
                    <p:spPr>
                      <a:xfrm>
                        <a:off x="611188" y="2060575"/>
                        <a:ext cx="7553325" cy="3135313"/>
                      </a:xfrm>
                      <a:prstGeom prst="rect">
                        <a:avLst/>
                      </a:prstGeom>
                      <a:noFill/>
                      <a:ln w="38100">
                        <a:noFill/>
                        <a:miter/>
                      </a:ln>
                    </p:spPr>
                  </p:pic>
                </p:oleObj>
              </mc:Fallback>
            </mc:AlternateContent>
          </a:graphicData>
        </a:graphic>
      </p:graphicFrame>
      <p:graphicFrame>
        <p:nvGraphicFramePr>
          <p:cNvPr id="44035" name="Object 6"/>
          <p:cNvGraphicFramePr/>
          <p:nvPr/>
        </p:nvGraphicFramePr>
        <p:xfrm>
          <a:off x="2124075" y="5516563"/>
          <a:ext cx="3962400" cy="304800"/>
        </p:xfrm>
        <a:graphic>
          <a:graphicData uri="http://schemas.openxmlformats.org/presentationml/2006/ole">
            <mc:AlternateContent xmlns:mc="http://schemas.openxmlformats.org/markup-compatibility/2006">
              <mc:Choice xmlns:v="urn:schemas-microsoft-com:vml" Requires="v">
                <p:oleObj spid="_x0000_s3" name="" r:id="rId3" imgW="5102860" imgH="393065" progId="Photoshop.Image.6">
                  <p:embed/>
                </p:oleObj>
              </mc:Choice>
              <mc:Fallback>
                <p:oleObj name="" r:id="rId3" imgW="5102860" imgH="393065" progId="Photoshop.Image.6">
                  <p:embed/>
                  <p:pic>
                    <p:nvPicPr>
                      <p:cNvPr id="0" name="图片 3308"/>
                      <p:cNvPicPr/>
                      <p:nvPr/>
                    </p:nvPicPr>
                    <p:blipFill>
                      <a:blip r:embed="rId4"/>
                      <a:stretch>
                        <a:fillRect/>
                      </a:stretch>
                    </p:blipFill>
                    <p:spPr>
                      <a:xfrm>
                        <a:off x="2124075" y="5516563"/>
                        <a:ext cx="3962400" cy="304800"/>
                      </a:xfrm>
                      <a:prstGeom prst="rect">
                        <a:avLst/>
                      </a:prstGeom>
                      <a:noFill/>
                      <a:ln w="38100">
                        <a:noFill/>
                        <a:miter/>
                      </a:ln>
                    </p:spPr>
                  </p:pic>
                </p:oleObj>
              </mc:Fallback>
            </mc:AlternateContent>
          </a:graphicData>
        </a:graphic>
      </p:graphicFrame>
      <p:sp>
        <p:nvSpPr>
          <p:cNvPr id="43023" name="Text Box 28"/>
          <p:cNvSpPr txBox="1"/>
          <p:nvPr/>
        </p:nvSpPr>
        <p:spPr>
          <a:xfrm>
            <a:off x="156528" y="1025525"/>
            <a:ext cx="3840480" cy="460375"/>
          </a:xfrm>
          <a:prstGeom prst="rect">
            <a:avLst/>
          </a:prstGeom>
          <a:noFill/>
          <a:ln w="9525">
            <a:noFill/>
          </a:ln>
        </p:spPr>
        <p:txBody>
          <a:bodyPr wrap="none">
            <a:spAutoFit/>
          </a:bodyPr>
          <a:lstStyle/>
          <a:p>
            <a:r>
              <a:rPr lang="zh-CN" altLang="en-US" dirty="0">
                <a:solidFill>
                  <a:srgbClr val="FF0066"/>
                </a:solidFill>
                <a:latin typeface="Times New Roman" panose="02020603050405020304" pitchFamily="18" charset="0"/>
              </a:rPr>
              <a:t>二、电子噪声的来源与特性</a:t>
            </a:r>
            <a:endParaRPr lang="zh-CN" altLang="en-US" dirty="0">
              <a:solidFill>
                <a:srgbClr val="FF0066"/>
              </a:solidFill>
              <a:latin typeface="Times New Roman" panose="02020603050405020304" pitchFamily="18" charset="0"/>
            </a:endParaRPr>
          </a:p>
        </p:txBody>
      </p:sp>
      <p:sp>
        <p:nvSpPr>
          <p:cNvPr id="272397" name="Text Box 13"/>
          <p:cNvSpPr txBox="1"/>
          <p:nvPr/>
        </p:nvSpPr>
        <p:spPr>
          <a:xfrm>
            <a:off x="444818" y="1412558"/>
            <a:ext cx="5923280" cy="460375"/>
          </a:xfrm>
          <a:prstGeom prst="rect">
            <a:avLst/>
          </a:prstGeom>
          <a:noFill/>
          <a:ln w="9525">
            <a:noFill/>
          </a:ln>
        </p:spPr>
        <p:txBody>
          <a:bodyPr wrap="none">
            <a:spAutoFit/>
          </a:bodyPr>
          <a:lstStyle/>
          <a:p>
            <a:pPr algn="l"/>
            <a:r>
              <a:rPr lang="zh-CN" altLang="en-US" dirty="0">
                <a:solidFill>
                  <a:schemeClr val="accent2"/>
                </a:solidFill>
                <a:latin typeface="Times New Roman" panose="02020603050405020304" pitchFamily="18" charset="0"/>
              </a:rPr>
              <a:t>（</a:t>
            </a:r>
            <a:r>
              <a:rPr lang="en-US" altLang="zh-CN" dirty="0">
                <a:solidFill>
                  <a:schemeClr val="accent2"/>
                </a:solidFill>
                <a:latin typeface="Times New Roman" panose="02020603050405020304" pitchFamily="18" charset="0"/>
              </a:rPr>
              <a:t>1</a:t>
            </a:r>
            <a:r>
              <a:rPr lang="zh-CN" altLang="en-US" dirty="0">
                <a:solidFill>
                  <a:schemeClr val="accent2"/>
                </a:solidFill>
                <a:latin typeface="Times New Roman" panose="02020603050405020304" pitchFamily="18" charset="0"/>
              </a:rPr>
              <a:t>）电阻热噪声</a:t>
            </a:r>
            <a:r>
              <a:rPr lang="en-US" altLang="zh-CN" dirty="0">
                <a:solidFill>
                  <a:schemeClr val="accent2"/>
                </a:solidFill>
                <a:latin typeface="Times New Roman" panose="02020603050405020304" pitchFamily="18" charset="0"/>
              </a:rPr>
              <a:t>-</a:t>
            </a:r>
            <a:r>
              <a:rPr lang="zh-CN" altLang="en-US" dirty="0">
                <a:solidFill>
                  <a:srgbClr val="FF00FF"/>
                </a:solidFill>
                <a:sym typeface="+mn-ea"/>
              </a:rPr>
              <a:t>热噪声电压和功率谱密度</a:t>
            </a:r>
            <a:endParaRPr lang="en-US" altLang="zh-CN" dirty="0">
              <a:solidFill>
                <a:schemeClr val="accent2"/>
              </a:solidFill>
              <a:latin typeface="Times New Roman" panose="02020603050405020304" pitchFamily="18" charset="0"/>
            </a:endParaRPr>
          </a:p>
        </p:txBody>
      </p:sp>
      <p:grpSp>
        <p:nvGrpSpPr>
          <p:cNvPr id="4" name="Group 19"/>
          <p:cNvGrpSpPr/>
          <p:nvPr/>
        </p:nvGrpSpPr>
        <p:grpSpPr>
          <a:xfrm>
            <a:off x="1784668" y="405766"/>
            <a:ext cx="5334000" cy="519113"/>
            <a:chOff x="1306" y="452"/>
            <a:chExt cx="3360" cy="327"/>
          </a:xfrm>
        </p:grpSpPr>
        <p:sp>
          <p:nvSpPr>
            <p:cNvPr id="5" name="Rectangle 20"/>
            <p:cNvSpPr/>
            <p:nvPr/>
          </p:nvSpPr>
          <p:spPr>
            <a:xfrm>
              <a:off x="1306" y="45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2.3   </a:t>
              </a:r>
              <a:r>
                <a:rPr lang="zh-CN" altLang="en-US" sz="2800" b="1" dirty="0">
                  <a:solidFill>
                    <a:schemeClr val="accent2"/>
                  </a:solidFill>
                  <a:latin typeface="Times New Roman" panose="02020603050405020304" pitchFamily="18" charset="0"/>
                </a:rPr>
                <a:t>电子噪 声及其特性</a:t>
              </a:r>
              <a:endParaRPr lang="zh-CN" altLang="en-US" sz="2800" b="1" dirty="0">
                <a:solidFill>
                  <a:schemeClr val="accent2"/>
                </a:solidFill>
                <a:latin typeface="Times New Roman" panose="02020603050405020304" pitchFamily="18" charset="0"/>
              </a:endParaRPr>
            </a:p>
          </p:txBody>
        </p:sp>
        <p:sp>
          <p:nvSpPr>
            <p:cNvPr id="6" name="Line 21"/>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3" name="Text Box 5"/>
          <p:cNvSpPr txBox="1"/>
          <p:nvPr/>
        </p:nvSpPr>
        <p:spPr>
          <a:xfrm>
            <a:off x="179388" y="1052830"/>
            <a:ext cx="5093335" cy="398780"/>
          </a:xfrm>
          <a:prstGeom prst="rect">
            <a:avLst/>
          </a:prstGeom>
          <a:noFill/>
          <a:ln w="9525">
            <a:noFill/>
          </a:ln>
        </p:spPr>
        <p:txBody>
          <a:bodyPr wrap="none">
            <a:spAutoFit/>
          </a:bodyPr>
          <a:lstStyle/>
          <a:p>
            <a:pPr algn="l"/>
            <a:r>
              <a:rPr lang="zh-CN" altLang="en-US" sz="2000" dirty="0">
                <a:solidFill>
                  <a:srgbClr val="FF0066"/>
                </a:solidFill>
                <a:latin typeface="Times New Roman" panose="02020603050405020304" pitchFamily="18" charset="0"/>
              </a:rPr>
              <a:t>二、电子噪声的来源与特性</a:t>
            </a:r>
            <a:r>
              <a:rPr lang="en-US" altLang="zh-CN" sz="2000" b="1" dirty="0">
                <a:solidFill>
                  <a:srgbClr val="FF0066"/>
                </a:solidFill>
                <a:latin typeface="Times New Roman" panose="02020603050405020304" pitchFamily="18" charset="0"/>
              </a:rPr>
              <a:t>-</a:t>
            </a:r>
            <a:r>
              <a:rPr lang="zh-CN" altLang="en-US" sz="2000" dirty="0">
                <a:solidFill>
                  <a:srgbClr val="FF00FF"/>
                </a:solidFill>
                <a:sym typeface="+mn-ea"/>
              </a:rPr>
              <a:t>热噪声等效电路</a:t>
            </a:r>
            <a:endParaRPr lang="en-US" altLang="zh-CN" sz="2000" b="1" dirty="0">
              <a:solidFill>
                <a:srgbClr val="FF0066"/>
              </a:solidFill>
              <a:latin typeface="Times New Roman" panose="02020603050405020304" pitchFamily="18" charset="0"/>
            </a:endParaRPr>
          </a:p>
        </p:txBody>
      </p:sp>
      <p:graphicFrame>
        <p:nvGraphicFramePr>
          <p:cNvPr id="400394" name="Object 10"/>
          <p:cNvGraphicFramePr/>
          <p:nvPr/>
        </p:nvGraphicFramePr>
        <p:xfrm>
          <a:off x="6251258" y="1328738"/>
          <a:ext cx="2447925" cy="2100262"/>
        </p:xfrm>
        <a:graphic>
          <a:graphicData uri="http://schemas.openxmlformats.org/presentationml/2006/ole">
            <mc:AlternateContent xmlns:mc="http://schemas.openxmlformats.org/markup-compatibility/2006">
              <mc:Choice xmlns:v="urn:schemas-microsoft-com:vml" Requires="v">
                <p:oleObj spid="_x0000_s2" name="" r:id="rId1" imgW="2473960" imgH="2124710" progId="Visio.Drawing.6">
                  <p:embed/>
                </p:oleObj>
              </mc:Choice>
              <mc:Fallback>
                <p:oleObj name="" r:id="rId1" imgW="2473960" imgH="2124710" progId="Visio.Drawing.6">
                  <p:embed/>
                  <p:pic>
                    <p:nvPicPr>
                      <p:cNvPr id="0" name="图片 3309"/>
                      <p:cNvPicPr/>
                      <p:nvPr/>
                    </p:nvPicPr>
                    <p:blipFill>
                      <a:blip r:embed="rId2"/>
                      <a:stretch>
                        <a:fillRect/>
                      </a:stretch>
                    </p:blipFill>
                    <p:spPr>
                      <a:xfrm>
                        <a:off x="6251258" y="1328738"/>
                        <a:ext cx="2447925" cy="2100262"/>
                      </a:xfrm>
                      <a:prstGeom prst="rect">
                        <a:avLst/>
                      </a:prstGeom>
                      <a:noFill/>
                      <a:ln w="38100">
                        <a:noFill/>
                        <a:miter/>
                      </a:ln>
                    </p:spPr>
                  </p:pic>
                </p:oleObj>
              </mc:Fallback>
            </mc:AlternateContent>
          </a:graphicData>
        </a:graphic>
      </p:graphicFrame>
      <p:graphicFrame>
        <p:nvGraphicFramePr>
          <p:cNvPr id="400395" name="Object 11"/>
          <p:cNvGraphicFramePr/>
          <p:nvPr/>
        </p:nvGraphicFramePr>
        <p:xfrm>
          <a:off x="1907858" y="1556703"/>
          <a:ext cx="2736850" cy="1928812"/>
        </p:xfrm>
        <a:graphic>
          <a:graphicData uri="http://schemas.openxmlformats.org/presentationml/2006/ole">
            <mc:AlternateContent xmlns:mc="http://schemas.openxmlformats.org/markup-compatibility/2006">
              <mc:Choice xmlns:v="urn:schemas-microsoft-com:vml" Requires="v">
                <p:oleObj spid="_x0000_s3" name="" r:id="rId3" imgW="2994025" imgH="2115820" progId="Visio.Drawing.6">
                  <p:embed/>
                </p:oleObj>
              </mc:Choice>
              <mc:Fallback>
                <p:oleObj name="" r:id="rId3" imgW="2994025" imgH="2115820" progId="Visio.Drawing.6">
                  <p:embed/>
                  <p:pic>
                    <p:nvPicPr>
                      <p:cNvPr id="0" name="图片 3310"/>
                      <p:cNvPicPr/>
                      <p:nvPr/>
                    </p:nvPicPr>
                    <p:blipFill>
                      <a:blip r:embed="rId4"/>
                      <a:stretch>
                        <a:fillRect/>
                      </a:stretch>
                    </p:blipFill>
                    <p:spPr>
                      <a:xfrm>
                        <a:off x="1907858" y="1556703"/>
                        <a:ext cx="2736850" cy="1928812"/>
                      </a:xfrm>
                      <a:prstGeom prst="rect">
                        <a:avLst/>
                      </a:prstGeom>
                      <a:noFill/>
                      <a:ln w="38100">
                        <a:noFill/>
                        <a:miter/>
                      </a:ln>
                    </p:spPr>
                  </p:pic>
                </p:oleObj>
              </mc:Fallback>
            </mc:AlternateContent>
          </a:graphicData>
        </a:graphic>
      </p:graphicFrame>
      <p:graphicFrame>
        <p:nvGraphicFramePr>
          <p:cNvPr id="400396" name="Object 12"/>
          <p:cNvGraphicFramePr/>
          <p:nvPr/>
        </p:nvGraphicFramePr>
        <p:xfrm>
          <a:off x="5364163" y="1052513"/>
          <a:ext cx="1079500" cy="708025"/>
        </p:xfrm>
        <a:graphic>
          <a:graphicData uri="http://schemas.openxmlformats.org/presentationml/2006/ole">
            <mc:AlternateContent xmlns:mc="http://schemas.openxmlformats.org/markup-compatibility/2006">
              <mc:Choice xmlns:v="urn:schemas-microsoft-com:vml" Requires="v">
                <p:oleObj spid="_x0000_s4" name="" r:id="rId5" imgW="1021715" imgH="672465" progId="Visio.Drawing.6">
                  <p:embed/>
                </p:oleObj>
              </mc:Choice>
              <mc:Fallback>
                <p:oleObj name="" r:id="rId5" imgW="1021715" imgH="672465" progId="Visio.Drawing.6">
                  <p:embed/>
                  <p:pic>
                    <p:nvPicPr>
                      <p:cNvPr id="0" name="图片 3316"/>
                      <p:cNvPicPr/>
                      <p:nvPr/>
                    </p:nvPicPr>
                    <p:blipFill>
                      <a:blip r:embed="rId6"/>
                      <a:stretch>
                        <a:fillRect/>
                      </a:stretch>
                    </p:blipFill>
                    <p:spPr>
                      <a:xfrm>
                        <a:off x="5364163" y="1052513"/>
                        <a:ext cx="1079500" cy="708025"/>
                      </a:xfrm>
                      <a:prstGeom prst="rect">
                        <a:avLst/>
                      </a:prstGeom>
                      <a:noFill/>
                      <a:ln w="38100">
                        <a:noFill/>
                        <a:miter/>
                      </a:ln>
                    </p:spPr>
                  </p:pic>
                </p:oleObj>
              </mc:Fallback>
            </mc:AlternateContent>
          </a:graphicData>
        </a:graphic>
      </p:graphicFrame>
      <p:sp>
        <p:nvSpPr>
          <p:cNvPr id="400397" name="Text Box 13"/>
          <p:cNvSpPr txBox="1"/>
          <p:nvPr/>
        </p:nvSpPr>
        <p:spPr>
          <a:xfrm>
            <a:off x="395288" y="3500438"/>
            <a:ext cx="7489825" cy="706755"/>
          </a:xfrm>
          <a:prstGeom prst="rect">
            <a:avLst/>
          </a:prstGeom>
          <a:noFill/>
          <a:ln w="9525">
            <a:noFill/>
          </a:ln>
        </p:spPr>
        <p:txBody>
          <a:bodyPr>
            <a:spAutoFit/>
          </a:bodyPr>
          <a:lstStyle/>
          <a:p>
            <a:r>
              <a:rPr lang="zh-CN" altLang="en-US" sz="2000" dirty="0">
                <a:latin typeface="Times New Roman" panose="02020603050405020304" pitchFamily="18" charset="0"/>
              </a:rPr>
              <a:t>因为功率与电压或电流的均方值成正比，故</a:t>
            </a:r>
            <a:r>
              <a:rPr lang="zh-CN" altLang="en-US" sz="2000" b="1" dirty="0">
                <a:solidFill>
                  <a:srgbClr val="FF0000"/>
                </a:solidFill>
                <a:latin typeface="Times New Roman" panose="02020603050405020304" pitchFamily="18" charset="0"/>
              </a:rPr>
              <a:t>电阻热噪声也可以看成是一噪声功率源</a:t>
            </a:r>
            <a:r>
              <a:rPr lang="zh-CN" altLang="en-US" sz="2000" dirty="0">
                <a:latin typeface="Times New Roman" panose="02020603050405020304" pitchFamily="18" charset="0"/>
              </a:rPr>
              <a:t>。</a:t>
            </a:r>
            <a:endParaRPr lang="zh-CN" altLang="en-US" sz="2000" dirty="0">
              <a:latin typeface="Times New Roman" panose="02020603050405020304" pitchFamily="18" charset="0"/>
            </a:endParaRPr>
          </a:p>
        </p:txBody>
      </p:sp>
      <p:sp>
        <p:nvSpPr>
          <p:cNvPr id="400398" name="Text Box 14"/>
          <p:cNvSpPr txBox="1"/>
          <p:nvPr/>
        </p:nvSpPr>
        <p:spPr>
          <a:xfrm>
            <a:off x="468313" y="4508500"/>
            <a:ext cx="7869237" cy="701675"/>
          </a:xfrm>
          <a:prstGeom prst="rect">
            <a:avLst/>
          </a:prstGeom>
          <a:noFill/>
          <a:ln w="9525">
            <a:noFill/>
          </a:ln>
        </p:spPr>
        <p:txBody>
          <a:bodyPr>
            <a:spAutoFit/>
          </a:bodyPr>
          <a:lstStyle/>
          <a:p>
            <a:r>
              <a:rPr lang="zh-CN" altLang="en-US" sz="2000" dirty="0">
                <a:latin typeface="Times New Roman" panose="02020603050405020304" pitchFamily="18" charset="0"/>
              </a:rPr>
              <a:t>由图可以看出，功率源输出的最大噪声功率（负载电阻为</a:t>
            </a:r>
            <a:r>
              <a:rPr lang="en-US" altLang="zh-CN" sz="2000" dirty="0">
                <a:latin typeface="Times New Roman" panose="02020603050405020304" pitchFamily="18" charset="0"/>
              </a:rPr>
              <a:t>R</a:t>
            </a:r>
            <a:r>
              <a:rPr lang="zh-CN" altLang="en-US" sz="2000" dirty="0">
                <a:latin typeface="Times New Roman" panose="02020603050405020304" pitchFamily="18" charset="0"/>
              </a:rPr>
              <a:t>时的输出功率）：</a:t>
            </a:r>
            <a:endParaRPr lang="zh-CN" altLang="en-US" sz="2000" dirty="0">
              <a:latin typeface="Times New Roman" panose="02020603050405020304" pitchFamily="18" charset="0"/>
            </a:endParaRPr>
          </a:p>
        </p:txBody>
      </p:sp>
      <p:graphicFrame>
        <p:nvGraphicFramePr>
          <p:cNvPr id="400399" name="Object 15"/>
          <p:cNvGraphicFramePr/>
          <p:nvPr/>
        </p:nvGraphicFramePr>
        <p:xfrm>
          <a:off x="3347403" y="5085398"/>
          <a:ext cx="2305050" cy="782637"/>
        </p:xfrm>
        <a:graphic>
          <a:graphicData uri="http://schemas.openxmlformats.org/presentationml/2006/ole">
            <mc:AlternateContent xmlns:mc="http://schemas.openxmlformats.org/markup-compatibility/2006">
              <mc:Choice xmlns:v="urn:schemas-microsoft-com:vml" Requires="v">
                <p:oleObj spid="_x0000_s5" name="" r:id="rId7" imgW="1231265" imgH="419100" progId="Equation.DSMT4">
                  <p:embed/>
                </p:oleObj>
              </mc:Choice>
              <mc:Fallback>
                <p:oleObj name="" r:id="rId7" imgW="1231265" imgH="419100" progId="Equation.DSMT4">
                  <p:embed/>
                  <p:pic>
                    <p:nvPicPr>
                      <p:cNvPr id="0" name="图片 3314"/>
                      <p:cNvPicPr/>
                      <p:nvPr/>
                    </p:nvPicPr>
                    <p:blipFill>
                      <a:blip r:embed="rId8"/>
                      <a:stretch>
                        <a:fillRect/>
                      </a:stretch>
                    </p:blipFill>
                    <p:spPr>
                      <a:xfrm>
                        <a:off x="3347403" y="5085398"/>
                        <a:ext cx="2305050" cy="782637"/>
                      </a:xfrm>
                      <a:prstGeom prst="rect">
                        <a:avLst/>
                      </a:prstGeom>
                      <a:noFill/>
                      <a:ln w="38100">
                        <a:noFill/>
                        <a:miter/>
                      </a:ln>
                    </p:spPr>
                  </p:pic>
                </p:oleObj>
              </mc:Fallback>
            </mc:AlternateContent>
          </a:graphicData>
        </a:graphic>
      </p:graphicFrame>
      <p:sp>
        <p:nvSpPr>
          <p:cNvPr id="6" name="右箭头 5"/>
          <p:cNvSpPr/>
          <p:nvPr/>
        </p:nvSpPr>
        <p:spPr>
          <a:xfrm>
            <a:off x="4872355" y="2348865"/>
            <a:ext cx="1151890" cy="215900"/>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7" name="文本框 6"/>
          <p:cNvSpPr txBox="1"/>
          <p:nvPr/>
        </p:nvSpPr>
        <p:spPr>
          <a:xfrm>
            <a:off x="4766310" y="1988820"/>
            <a:ext cx="1363980" cy="368300"/>
          </a:xfrm>
          <a:prstGeom prst="rect">
            <a:avLst/>
          </a:prstGeom>
          <a:noFill/>
        </p:spPr>
        <p:txBody>
          <a:bodyPr wrap="square" rtlCol="0">
            <a:spAutoFit/>
          </a:bodyPr>
          <a:lstStyle/>
          <a:p>
            <a:r>
              <a:rPr lang="zh-CN" altLang="en-US" sz="1800"/>
              <a:t>戴维南定理</a:t>
            </a:r>
            <a:endParaRPr lang="zh-CN" altLang="en-US" sz="1800"/>
          </a:p>
        </p:txBody>
      </p:sp>
      <p:grpSp>
        <p:nvGrpSpPr>
          <p:cNvPr id="8" name="Group 19"/>
          <p:cNvGrpSpPr/>
          <p:nvPr/>
        </p:nvGrpSpPr>
        <p:grpSpPr>
          <a:xfrm>
            <a:off x="1784668" y="405766"/>
            <a:ext cx="5334000" cy="519113"/>
            <a:chOff x="1306" y="452"/>
            <a:chExt cx="3360" cy="327"/>
          </a:xfrm>
        </p:grpSpPr>
        <p:sp>
          <p:nvSpPr>
            <p:cNvPr id="9" name="Rectangle 20"/>
            <p:cNvSpPr/>
            <p:nvPr/>
          </p:nvSpPr>
          <p:spPr>
            <a:xfrm>
              <a:off x="1306" y="45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2.3   </a:t>
              </a:r>
              <a:r>
                <a:rPr lang="zh-CN" altLang="en-US" sz="2800" b="1" dirty="0">
                  <a:solidFill>
                    <a:schemeClr val="accent2"/>
                  </a:solidFill>
                  <a:latin typeface="Times New Roman" panose="02020603050405020304" pitchFamily="18" charset="0"/>
                </a:rPr>
                <a:t>电子噪 声及其特性</a:t>
              </a:r>
              <a:endParaRPr lang="zh-CN" altLang="en-US" sz="2800" b="1" dirty="0">
                <a:solidFill>
                  <a:schemeClr val="accent2"/>
                </a:solidFill>
                <a:latin typeface="Times New Roman" panose="02020603050405020304" pitchFamily="18" charset="0"/>
              </a:endParaRPr>
            </a:p>
          </p:txBody>
        </p:sp>
        <p:sp>
          <p:nvSpPr>
            <p:cNvPr id="10" name="Line 21"/>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Text Box 4"/>
          <p:cNvSpPr txBox="1"/>
          <p:nvPr/>
        </p:nvSpPr>
        <p:spPr>
          <a:xfrm>
            <a:off x="539433" y="1294766"/>
            <a:ext cx="2597150" cy="396875"/>
          </a:xfrm>
          <a:prstGeom prst="rect">
            <a:avLst/>
          </a:prstGeom>
          <a:noFill/>
          <a:ln w="9525">
            <a:noFill/>
          </a:ln>
        </p:spPr>
        <p:txBody>
          <a:bodyPr wrap="none">
            <a:spAutoFit/>
          </a:bodyPr>
          <a:lstStyle/>
          <a:p>
            <a:r>
              <a:rPr lang="zh-CN" altLang="en-US" sz="2000" dirty="0">
                <a:solidFill>
                  <a:srgbClr val="FF00FF"/>
                </a:solidFill>
                <a:latin typeface="Times New Roman" panose="02020603050405020304" pitchFamily="18" charset="0"/>
              </a:rPr>
              <a:t>（</a:t>
            </a:r>
            <a:r>
              <a:rPr lang="en-US" altLang="zh-CN" sz="2000" dirty="0">
                <a:solidFill>
                  <a:srgbClr val="FF00FF"/>
                </a:solidFill>
                <a:latin typeface="Times New Roman" panose="02020603050405020304" pitchFamily="18" charset="0"/>
              </a:rPr>
              <a:t>2</a:t>
            </a:r>
            <a:r>
              <a:rPr lang="zh-CN" altLang="en-US" sz="2000" dirty="0">
                <a:solidFill>
                  <a:srgbClr val="FF00FF"/>
                </a:solidFill>
                <a:latin typeface="Times New Roman" panose="02020603050405020304" pitchFamily="18" charset="0"/>
              </a:rPr>
              <a:t>）热噪声等效电路</a:t>
            </a:r>
            <a:endParaRPr lang="zh-CN" altLang="en-US" sz="2000" dirty="0">
              <a:solidFill>
                <a:srgbClr val="FF00FF"/>
              </a:solidFill>
              <a:latin typeface="Times New Roman" panose="02020603050405020304" pitchFamily="18" charset="0"/>
            </a:endParaRPr>
          </a:p>
        </p:txBody>
      </p:sp>
      <p:sp>
        <p:nvSpPr>
          <p:cNvPr id="46085" name="Text Box 5"/>
          <p:cNvSpPr txBox="1"/>
          <p:nvPr/>
        </p:nvSpPr>
        <p:spPr>
          <a:xfrm>
            <a:off x="179388" y="908050"/>
            <a:ext cx="3232150" cy="396875"/>
          </a:xfrm>
          <a:prstGeom prst="rect">
            <a:avLst/>
          </a:prstGeom>
          <a:noFill/>
          <a:ln w="9525">
            <a:noFill/>
          </a:ln>
        </p:spPr>
        <p:txBody>
          <a:bodyPr wrap="none">
            <a:spAutoFit/>
          </a:bodyPr>
          <a:lstStyle/>
          <a:p>
            <a:r>
              <a:rPr lang="zh-CN" altLang="en-US" sz="2000" dirty="0">
                <a:solidFill>
                  <a:srgbClr val="FF0066"/>
                </a:solidFill>
                <a:latin typeface="Times New Roman" panose="02020603050405020304" pitchFamily="18" charset="0"/>
              </a:rPr>
              <a:t>二、电子噪声的来源与特性</a:t>
            </a:r>
            <a:endParaRPr lang="zh-CN" altLang="en-US" sz="2000" dirty="0">
              <a:solidFill>
                <a:srgbClr val="FF0066"/>
              </a:solidFill>
              <a:latin typeface="Times New Roman" panose="02020603050405020304" pitchFamily="18" charset="0"/>
            </a:endParaRPr>
          </a:p>
        </p:txBody>
      </p:sp>
      <p:sp>
        <p:nvSpPr>
          <p:cNvPr id="401418" name="Text Box 10"/>
          <p:cNvSpPr txBox="1"/>
          <p:nvPr/>
        </p:nvSpPr>
        <p:spPr>
          <a:xfrm>
            <a:off x="395288" y="2133600"/>
            <a:ext cx="8393112" cy="1006475"/>
          </a:xfrm>
          <a:prstGeom prst="rect">
            <a:avLst/>
          </a:prstGeom>
          <a:noFill/>
          <a:ln w="9525">
            <a:noFill/>
          </a:ln>
        </p:spPr>
        <p:txBody>
          <a:bodyPr>
            <a:spAutoFit/>
          </a:bodyPr>
          <a:lstStyle/>
          <a:p>
            <a:r>
              <a:rPr lang="zh-CN" altLang="en-US" sz="2000" b="1" dirty="0">
                <a:solidFill>
                  <a:schemeClr val="accent2"/>
                </a:solidFill>
                <a:latin typeface="Times New Roman" panose="02020603050405020304" pitchFamily="18" charset="0"/>
              </a:rPr>
              <a:t>说明</a:t>
            </a:r>
            <a:r>
              <a:rPr lang="zh-CN" altLang="en-US" sz="2000" b="1" dirty="0">
                <a:latin typeface="Times New Roman" panose="02020603050405020304" pitchFamily="18" charset="0"/>
              </a:rPr>
              <a:t> ：电阻热噪声功率与带宽成正比，而单位频带内的最大噪声功率为</a:t>
            </a:r>
            <a:r>
              <a:rPr lang="en-US" altLang="zh-CN" sz="2000" b="1" i="1" dirty="0">
                <a:latin typeface="Times New Roman" panose="02020603050405020304" pitchFamily="18" charset="0"/>
              </a:rPr>
              <a:t>kT</a:t>
            </a:r>
            <a:r>
              <a:rPr lang="zh-CN" altLang="en-US" sz="2000" b="1" i="1" dirty="0">
                <a:latin typeface="Times New Roman" panose="02020603050405020304" pitchFamily="18" charset="0"/>
              </a:rPr>
              <a:t>，</a:t>
            </a:r>
            <a:r>
              <a:rPr lang="zh-CN" altLang="en-US" sz="2000" b="1" dirty="0">
                <a:latin typeface="Times New Roman" panose="02020603050405020304" pitchFamily="18" charset="0"/>
              </a:rPr>
              <a:t>与频带无关。</a:t>
            </a:r>
            <a:r>
              <a:rPr lang="en-US" altLang="zh-CN" sz="2000" b="1" i="1" dirty="0">
                <a:solidFill>
                  <a:srgbClr val="FF0066"/>
                </a:solidFill>
                <a:latin typeface="Times New Roman" panose="02020603050405020304" pitchFamily="18" charset="0"/>
              </a:rPr>
              <a:t>kT</a:t>
            </a:r>
            <a:r>
              <a:rPr lang="zh-CN" altLang="en-US" sz="2000" b="1" dirty="0">
                <a:latin typeface="Times New Roman" panose="02020603050405020304" pitchFamily="18" charset="0"/>
              </a:rPr>
              <a:t>为噪声源的噪声</a:t>
            </a:r>
            <a:r>
              <a:rPr lang="zh-CN" altLang="en-US" sz="2000" b="1" dirty="0">
                <a:solidFill>
                  <a:srgbClr val="FF0066"/>
                </a:solidFill>
                <a:latin typeface="Times New Roman" panose="02020603050405020304" pitchFamily="18" charset="0"/>
              </a:rPr>
              <a:t>功率谱密度</a:t>
            </a:r>
            <a:r>
              <a:rPr lang="zh-CN" altLang="en-US" sz="2000" b="1" dirty="0">
                <a:latin typeface="Times New Roman" panose="02020603050405020304" pitchFamily="18" charset="0"/>
              </a:rPr>
              <a:t>，将</a:t>
            </a:r>
            <a:r>
              <a:rPr lang="zh-CN" altLang="en-US" sz="2000" b="1" dirty="0">
                <a:solidFill>
                  <a:srgbClr val="FF0066"/>
                </a:solidFill>
                <a:latin typeface="Times New Roman" panose="02020603050405020304" pitchFamily="18" charset="0"/>
              </a:rPr>
              <a:t>功率谱不随频率变化的噪声，称为白噪声。</a:t>
            </a:r>
            <a:endParaRPr lang="zh-CN" altLang="en-US" sz="2000" b="1" dirty="0">
              <a:solidFill>
                <a:srgbClr val="FF0066"/>
              </a:solidFill>
              <a:latin typeface="Times New Roman" panose="02020603050405020304" pitchFamily="18" charset="0"/>
            </a:endParaRPr>
          </a:p>
        </p:txBody>
      </p:sp>
      <p:graphicFrame>
        <p:nvGraphicFramePr>
          <p:cNvPr id="401419" name="Object 11"/>
          <p:cNvGraphicFramePr/>
          <p:nvPr/>
        </p:nvGraphicFramePr>
        <p:xfrm>
          <a:off x="4499928" y="5373053"/>
          <a:ext cx="2619375" cy="914400"/>
        </p:xfrm>
        <a:graphic>
          <a:graphicData uri="http://schemas.openxmlformats.org/presentationml/2006/ole">
            <mc:AlternateContent xmlns:mc="http://schemas.openxmlformats.org/markup-compatibility/2006">
              <mc:Choice xmlns:v="urn:schemas-microsoft-com:vml" Requires="v">
                <p:oleObj spid="_x0000_s2" name="" r:id="rId1" imgW="1383665" imgH="482600" progId="Equation.DSMT4">
                  <p:embed/>
                </p:oleObj>
              </mc:Choice>
              <mc:Fallback>
                <p:oleObj name="" r:id="rId1" imgW="1383665" imgH="482600" progId="Equation.DSMT4">
                  <p:embed/>
                  <p:pic>
                    <p:nvPicPr>
                      <p:cNvPr id="0" name="图片 3311"/>
                      <p:cNvPicPr/>
                      <p:nvPr/>
                    </p:nvPicPr>
                    <p:blipFill>
                      <a:blip r:embed="rId2"/>
                      <a:stretch>
                        <a:fillRect/>
                      </a:stretch>
                    </p:blipFill>
                    <p:spPr>
                      <a:xfrm>
                        <a:off x="4499928" y="5373053"/>
                        <a:ext cx="2619375" cy="914400"/>
                      </a:xfrm>
                      <a:prstGeom prst="rect">
                        <a:avLst/>
                      </a:prstGeom>
                      <a:noFill/>
                      <a:ln w="38100">
                        <a:noFill/>
                        <a:miter/>
                      </a:ln>
                    </p:spPr>
                  </p:pic>
                </p:oleObj>
              </mc:Fallback>
            </mc:AlternateContent>
          </a:graphicData>
        </a:graphic>
      </p:graphicFrame>
      <p:sp>
        <p:nvSpPr>
          <p:cNvPr id="401420" name="Text Box 12"/>
          <p:cNvSpPr txBox="1"/>
          <p:nvPr/>
        </p:nvSpPr>
        <p:spPr>
          <a:xfrm>
            <a:off x="539750" y="4394200"/>
            <a:ext cx="8064500" cy="854075"/>
          </a:xfrm>
          <a:prstGeom prst="rect">
            <a:avLst/>
          </a:prstGeom>
          <a:noFill/>
          <a:ln w="9525">
            <a:noFill/>
          </a:ln>
        </p:spPr>
        <p:txBody>
          <a:bodyPr>
            <a:spAutoFit/>
          </a:bodyPr>
          <a:lstStyle/>
          <a:p>
            <a:pPr>
              <a:spcBef>
                <a:spcPct val="50000"/>
              </a:spcBef>
            </a:pPr>
            <a:r>
              <a:rPr lang="zh-CN" altLang="en-US" sz="2000" b="1" dirty="0">
                <a:solidFill>
                  <a:schemeClr val="accent2"/>
                </a:solidFill>
                <a:latin typeface="Times New Roman" panose="02020603050405020304" pitchFamily="18" charset="0"/>
              </a:rPr>
              <a:t>定义</a:t>
            </a:r>
            <a:r>
              <a:rPr lang="zh-CN" altLang="en-US" sz="2000" b="1" dirty="0">
                <a:latin typeface="Times New Roman" panose="02020603050405020304" pitchFamily="18" charset="0"/>
              </a:rPr>
              <a:t>：</a:t>
            </a:r>
            <a:r>
              <a:rPr lang="zh-CN" altLang="en-US" sz="2000" b="1" dirty="0">
                <a:solidFill>
                  <a:srgbClr val="FF0066"/>
                </a:solidFill>
                <a:latin typeface="Times New Roman" panose="02020603050405020304" pitchFamily="18" charset="0"/>
              </a:rPr>
              <a:t>均方电压谱密度</a:t>
            </a:r>
            <a:r>
              <a:rPr lang="en-US" altLang="zh-CN" sz="2000" b="1" dirty="0">
                <a:latin typeface="Times New Roman" panose="02020603050405020304" pitchFamily="18" charset="0"/>
              </a:rPr>
              <a:t>——</a:t>
            </a:r>
            <a:r>
              <a:rPr lang="zh-CN" altLang="en-US" sz="2000" b="1" dirty="0">
                <a:solidFill>
                  <a:srgbClr val="FF0000"/>
                </a:solidFill>
                <a:latin typeface="Times New Roman" panose="02020603050405020304" pitchFamily="18" charset="0"/>
              </a:rPr>
              <a:t>单位频带</a:t>
            </a:r>
            <a:r>
              <a:rPr lang="zh-CN" altLang="en-US" sz="2000" b="1" dirty="0">
                <a:latin typeface="Times New Roman" panose="02020603050405020304" pitchFamily="18" charset="0"/>
              </a:rPr>
              <a:t>内噪声电压均方值。</a:t>
            </a:r>
            <a:endParaRPr lang="zh-CN" altLang="en-US" sz="2000" b="1" dirty="0">
              <a:latin typeface="Times New Roman" panose="02020603050405020304" pitchFamily="18" charset="0"/>
            </a:endParaRPr>
          </a:p>
          <a:p>
            <a:pPr>
              <a:spcBef>
                <a:spcPct val="50000"/>
              </a:spcBef>
            </a:pPr>
            <a:r>
              <a:rPr lang="zh-CN" altLang="en-US" sz="2000" b="1" dirty="0">
                <a:latin typeface="Times New Roman" panose="02020603050405020304" pitchFamily="18" charset="0"/>
              </a:rPr>
              <a:t>            </a:t>
            </a:r>
            <a:r>
              <a:rPr lang="zh-CN" altLang="en-US" sz="2000" b="1" dirty="0">
                <a:solidFill>
                  <a:srgbClr val="FF0066"/>
                </a:solidFill>
                <a:latin typeface="Times New Roman" panose="02020603050405020304" pitchFamily="18" charset="0"/>
              </a:rPr>
              <a:t>均方电流谱密度</a:t>
            </a:r>
            <a:r>
              <a:rPr lang="en-US" altLang="zh-CN" sz="2000" b="1" dirty="0">
                <a:latin typeface="Times New Roman" panose="02020603050405020304" pitchFamily="18" charset="0"/>
              </a:rPr>
              <a:t>——</a:t>
            </a:r>
            <a:r>
              <a:rPr lang="zh-CN" altLang="en-US" sz="2000" b="1" dirty="0">
                <a:solidFill>
                  <a:srgbClr val="FF0000"/>
                </a:solidFill>
                <a:latin typeface="Times New Roman" panose="02020603050405020304" pitchFamily="18" charset="0"/>
              </a:rPr>
              <a:t>单位频带</a:t>
            </a:r>
            <a:r>
              <a:rPr lang="zh-CN" altLang="en-US" sz="2000" b="1" dirty="0">
                <a:latin typeface="Times New Roman" panose="02020603050405020304" pitchFamily="18" charset="0"/>
              </a:rPr>
              <a:t>内噪声电流均方值。</a:t>
            </a:r>
            <a:endParaRPr lang="zh-CN" altLang="en-US" sz="2000" b="1" dirty="0">
              <a:latin typeface="Times New Roman" panose="02020603050405020304" pitchFamily="18" charset="0"/>
            </a:endParaRPr>
          </a:p>
        </p:txBody>
      </p:sp>
      <p:sp>
        <p:nvSpPr>
          <p:cNvPr id="401421" name="Text Box 13"/>
          <p:cNvSpPr txBox="1"/>
          <p:nvPr/>
        </p:nvSpPr>
        <p:spPr>
          <a:xfrm>
            <a:off x="611188" y="3333750"/>
            <a:ext cx="6026150" cy="396875"/>
          </a:xfrm>
          <a:prstGeom prst="rect">
            <a:avLst/>
          </a:prstGeom>
          <a:noFill/>
          <a:ln w="9525">
            <a:noFill/>
          </a:ln>
        </p:spPr>
        <p:txBody>
          <a:bodyPr wrap="none">
            <a:spAutoFit/>
          </a:bodyPr>
          <a:lstStyle/>
          <a:p>
            <a:r>
              <a:rPr lang="zh-CN" altLang="en-US" sz="2000" b="1" dirty="0">
                <a:latin typeface="Times New Roman" panose="02020603050405020304" pitchFamily="18" charset="0"/>
              </a:rPr>
              <a:t>因为它与光学中的“</a:t>
            </a:r>
            <a:r>
              <a:rPr lang="zh-CN" altLang="en-US" sz="2000" b="1" dirty="0">
                <a:solidFill>
                  <a:srgbClr val="FF0066"/>
                </a:solidFill>
                <a:latin typeface="Times New Roman" panose="02020603050405020304" pitchFamily="18" charset="0"/>
              </a:rPr>
              <a:t>白光</a:t>
            </a:r>
            <a:r>
              <a:rPr lang="zh-CN" altLang="en-US" sz="2000" b="1" dirty="0">
                <a:latin typeface="Times New Roman" panose="02020603050405020304" pitchFamily="18" charset="0"/>
              </a:rPr>
              <a:t>”相似，具有均匀的功率谱。</a:t>
            </a:r>
            <a:endParaRPr lang="zh-CN" altLang="en-US" sz="2000" b="1" dirty="0">
              <a:latin typeface="Times New Roman" panose="02020603050405020304" pitchFamily="18" charset="0"/>
            </a:endParaRPr>
          </a:p>
        </p:txBody>
      </p:sp>
      <p:graphicFrame>
        <p:nvGraphicFramePr>
          <p:cNvPr id="46083" name="Object 14"/>
          <p:cNvGraphicFramePr/>
          <p:nvPr/>
        </p:nvGraphicFramePr>
        <p:xfrm>
          <a:off x="3382758" y="1399224"/>
          <a:ext cx="2305050" cy="782638"/>
        </p:xfrm>
        <a:graphic>
          <a:graphicData uri="http://schemas.openxmlformats.org/presentationml/2006/ole">
            <mc:AlternateContent xmlns:mc="http://schemas.openxmlformats.org/markup-compatibility/2006">
              <mc:Choice xmlns:v="urn:schemas-microsoft-com:vml" Requires="v">
                <p:oleObj spid="_x0000_s3" name="" r:id="rId3" imgW="1231265" imgH="419100" progId="Equation.DSMT4">
                  <p:embed/>
                </p:oleObj>
              </mc:Choice>
              <mc:Fallback>
                <p:oleObj name="" r:id="rId3" imgW="1231265" imgH="419100" progId="Equation.DSMT4">
                  <p:embed/>
                  <p:pic>
                    <p:nvPicPr>
                      <p:cNvPr id="0" name="图片 3312"/>
                      <p:cNvPicPr/>
                      <p:nvPr/>
                    </p:nvPicPr>
                    <p:blipFill>
                      <a:blip r:embed="rId4"/>
                      <a:stretch>
                        <a:fillRect/>
                      </a:stretch>
                    </p:blipFill>
                    <p:spPr>
                      <a:xfrm>
                        <a:off x="3382758" y="1399224"/>
                        <a:ext cx="2305050" cy="782638"/>
                      </a:xfrm>
                      <a:prstGeom prst="rect">
                        <a:avLst/>
                      </a:prstGeom>
                      <a:noFill/>
                      <a:ln w="38100">
                        <a:noFill/>
                        <a:miter/>
                      </a:ln>
                    </p:spPr>
                  </p:pic>
                </p:oleObj>
              </mc:Fallback>
            </mc:AlternateContent>
          </a:graphicData>
        </a:graphic>
      </p:graphicFrame>
      <p:sp>
        <p:nvSpPr>
          <p:cNvPr id="4" name="Text Box 13"/>
          <p:cNvSpPr txBox="1"/>
          <p:nvPr/>
        </p:nvSpPr>
        <p:spPr>
          <a:xfrm>
            <a:off x="539433" y="3968750"/>
            <a:ext cx="6309360" cy="398780"/>
          </a:xfrm>
          <a:prstGeom prst="rect">
            <a:avLst/>
          </a:prstGeom>
          <a:noFill/>
          <a:ln w="9525">
            <a:noFill/>
          </a:ln>
        </p:spPr>
        <p:txBody>
          <a:bodyPr wrap="none">
            <a:spAutoFit/>
          </a:bodyPr>
          <a:lstStyle/>
          <a:p>
            <a:r>
              <a:rPr lang="zh-CN" altLang="en-US" sz="2000" b="1" dirty="0">
                <a:latin typeface="Times New Roman" panose="02020603050405020304" pitchFamily="18" charset="0"/>
              </a:rPr>
              <a:t>考虑噪声的随机性，仅均方值才有意义，故有以下定义</a:t>
            </a:r>
            <a:endParaRPr lang="zh-CN" altLang="en-US" sz="2000" b="1" dirty="0">
              <a:latin typeface="Times New Roman" panose="02020603050405020304" pitchFamily="18" charset="0"/>
            </a:endParaRPr>
          </a:p>
        </p:txBody>
      </p:sp>
      <p:graphicFrame>
        <p:nvGraphicFramePr>
          <p:cNvPr id="275462" name="Object 6"/>
          <p:cNvGraphicFramePr>
            <a:graphicFrameLocks noGrp="1"/>
          </p:cNvGraphicFramePr>
          <p:nvPr/>
        </p:nvGraphicFramePr>
        <p:xfrm>
          <a:off x="2483168" y="5373370"/>
          <a:ext cx="1524000" cy="459740"/>
        </p:xfrm>
        <a:graphic>
          <a:graphicData uri="http://schemas.openxmlformats.org/presentationml/2006/ole">
            <mc:AlternateContent xmlns:mc="http://schemas.openxmlformats.org/markup-compatibility/2006">
              <mc:Choice xmlns:v="urn:schemas-microsoft-com:vml" Requires="v">
                <p:oleObj spid="_x0000_s5" name="" r:id="rId5" imgW="800100" imgH="241300" progId="Equation.DSMT4">
                  <p:embed/>
                </p:oleObj>
              </mc:Choice>
              <mc:Fallback>
                <p:oleObj name="" r:id="rId5" imgW="800100" imgH="241300" progId="Equation.DSMT4">
                  <p:embed/>
                  <p:pic>
                    <p:nvPicPr>
                      <p:cNvPr id="0" name="图片 3299"/>
                      <p:cNvPicPr/>
                      <p:nvPr/>
                    </p:nvPicPr>
                    <p:blipFill>
                      <a:blip r:embed="rId6"/>
                      <a:stretch>
                        <a:fillRect/>
                      </a:stretch>
                    </p:blipFill>
                    <p:spPr>
                      <a:xfrm>
                        <a:off x="2483168" y="5373370"/>
                        <a:ext cx="1524000" cy="459740"/>
                      </a:xfrm>
                      <a:prstGeom prst="rect">
                        <a:avLst/>
                      </a:prstGeom>
                      <a:noFill/>
                      <a:ln w="38100">
                        <a:noFill/>
                        <a:miter/>
                      </a:ln>
                    </p:spPr>
                  </p:pic>
                </p:oleObj>
              </mc:Fallback>
            </mc:AlternateContent>
          </a:graphicData>
        </a:graphic>
      </p:graphicFrame>
      <p:graphicFrame>
        <p:nvGraphicFramePr>
          <p:cNvPr id="6" name="Object 6"/>
          <p:cNvGraphicFramePr>
            <a:graphicFrameLocks noGrp="1"/>
          </p:cNvGraphicFramePr>
          <p:nvPr/>
        </p:nvGraphicFramePr>
        <p:xfrm>
          <a:off x="2507933" y="5911850"/>
          <a:ext cx="1474470" cy="459740"/>
        </p:xfrm>
        <a:graphic>
          <a:graphicData uri="http://schemas.openxmlformats.org/presentationml/2006/ole">
            <mc:AlternateContent xmlns:mc="http://schemas.openxmlformats.org/markup-compatibility/2006">
              <mc:Choice xmlns:v="urn:schemas-microsoft-com:vml" Requires="v">
                <p:oleObj spid="_x0000_s7" name="" r:id="rId7" imgW="774065" imgH="241300" progId="Equation.DSMT4">
                  <p:embed/>
                </p:oleObj>
              </mc:Choice>
              <mc:Fallback>
                <p:oleObj name="" r:id="rId7" imgW="774065" imgH="241300" progId="Equation.DSMT4">
                  <p:embed/>
                  <p:pic>
                    <p:nvPicPr>
                      <p:cNvPr id="0" name="图片 3299"/>
                      <p:cNvPicPr/>
                      <p:nvPr/>
                    </p:nvPicPr>
                    <p:blipFill>
                      <a:blip r:embed="rId8"/>
                      <a:stretch>
                        <a:fillRect/>
                      </a:stretch>
                    </p:blipFill>
                    <p:spPr>
                      <a:xfrm>
                        <a:off x="2507933" y="5911850"/>
                        <a:ext cx="1474470" cy="459740"/>
                      </a:xfrm>
                      <a:prstGeom prst="rect">
                        <a:avLst/>
                      </a:prstGeom>
                      <a:noFill/>
                      <a:ln w="38100">
                        <a:noFill/>
                        <a:miter/>
                      </a:ln>
                    </p:spPr>
                  </p:pic>
                </p:oleObj>
              </mc:Fallback>
            </mc:AlternateContent>
          </a:graphicData>
        </a:graphic>
      </p:graphicFrame>
      <p:sp>
        <p:nvSpPr>
          <p:cNvPr id="8" name="右箭头 7"/>
          <p:cNvSpPr/>
          <p:nvPr/>
        </p:nvSpPr>
        <p:spPr>
          <a:xfrm>
            <a:off x="3996055" y="5722620"/>
            <a:ext cx="430530" cy="215900"/>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grpSp>
        <p:nvGrpSpPr>
          <p:cNvPr id="9" name="Group 19"/>
          <p:cNvGrpSpPr/>
          <p:nvPr/>
        </p:nvGrpSpPr>
        <p:grpSpPr>
          <a:xfrm>
            <a:off x="1784668" y="405766"/>
            <a:ext cx="5334000" cy="519113"/>
            <a:chOff x="1306" y="452"/>
            <a:chExt cx="3360" cy="327"/>
          </a:xfrm>
        </p:grpSpPr>
        <p:sp>
          <p:nvSpPr>
            <p:cNvPr id="10" name="Rectangle 20"/>
            <p:cNvSpPr/>
            <p:nvPr/>
          </p:nvSpPr>
          <p:spPr>
            <a:xfrm>
              <a:off x="1306" y="45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2.3   </a:t>
              </a:r>
              <a:r>
                <a:rPr lang="zh-CN" altLang="en-US" sz="2800" b="1" dirty="0">
                  <a:solidFill>
                    <a:schemeClr val="accent2"/>
                  </a:solidFill>
                  <a:latin typeface="Times New Roman" panose="02020603050405020304" pitchFamily="18" charset="0"/>
                </a:rPr>
                <a:t>电子噪 声及其特性</a:t>
              </a:r>
              <a:endParaRPr lang="zh-CN" altLang="en-US" sz="2800" b="1" dirty="0">
                <a:solidFill>
                  <a:schemeClr val="accent2"/>
                </a:solidFill>
                <a:latin typeface="Times New Roman" panose="02020603050405020304" pitchFamily="18" charset="0"/>
              </a:endParaRPr>
            </a:p>
          </p:txBody>
        </p:sp>
        <p:sp>
          <p:nvSpPr>
            <p:cNvPr id="11" name="Line 21"/>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10" name="Text Box 4"/>
          <p:cNvSpPr txBox="1"/>
          <p:nvPr/>
        </p:nvSpPr>
        <p:spPr>
          <a:xfrm>
            <a:off x="541338" y="1259525"/>
            <a:ext cx="3181350" cy="457200"/>
          </a:xfrm>
          <a:prstGeom prst="rect">
            <a:avLst/>
          </a:prstGeom>
          <a:noFill/>
          <a:ln w="9525">
            <a:noFill/>
          </a:ln>
        </p:spPr>
        <p:txBody>
          <a:bodyPr wrap="none">
            <a:spAutoFit/>
          </a:bodyPr>
          <a:lstStyle/>
          <a:p>
            <a:r>
              <a:rPr lang="zh-CN" altLang="en-US" sz="2000" b="1" dirty="0">
                <a:solidFill>
                  <a:srgbClr val="FF00FF"/>
                </a:solidFill>
                <a:latin typeface="Times New Roman" panose="02020603050405020304" pitchFamily="18" charset="0"/>
              </a:rPr>
              <a:t>（</a:t>
            </a:r>
            <a:r>
              <a:rPr lang="en-US" altLang="zh-CN" sz="2000" b="1" dirty="0">
                <a:solidFill>
                  <a:srgbClr val="FF00FF"/>
                </a:solidFill>
                <a:latin typeface="Times New Roman" panose="02020603050405020304" pitchFamily="18" charset="0"/>
              </a:rPr>
              <a:t>3</a:t>
            </a:r>
            <a:r>
              <a:rPr lang="zh-CN" altLang="en-US" sz="2000" b="1" dirty="0">
                <a:solidFill>
                  <a:srgbClr val="FF00FF"/>
                </a:solidFill>
                <a:latin typeface="Times New Roman" panose="02020603050405020304" pitchFamily="18" charset="0"/>
              </a:rPr>
              <a:t>）线性电路中的热噪声</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sp>
        <p:nvSpPr>
          <p:cNvPr id="47111" name="Text Box 5"/>
          <p:cNvSpPr txBox="1"/>
          <p:nvPr/>
        </p:nvSpPr>
        <p:spPr>
          <a:xfrm>
            <a:off x="179388" y="908050"/>
            <a:ext cx="3232150" cy="396875"/>
          </a:xfrm>
          <a:prstGeom prst="rect">
            <a:avLst/>
          </a:prstGeom>
          <a:noFill/>
          <a:ln w="9525">
            <a:noFill/>
          </a:ln>
        </p:spPr>
        <p:txBody>
          <a:bodyPr wrap="none">
            <a:spAutoFit/>
          </a:bodyPr>
          <a:lstStyle/>
          <a:p>
            <a:r>
              <a:rPr lang="zh-CN" altLang="en-US" sz="2000" dirty="0">
                <a:solidFill>
                  <a:srgbClr val="FF0066"/>
                </a:solidFill>
                <a:latin typeface="Times New Roman" panose="02020603050405020304" pitchFamily="18" charset="0"/>
              </a:rPr>
              <a:t>二、电子噪声的来源与特性</a:t>
            </a:r>
            <a:endParaRPr lang="zh-CN" altLang="en-US" sz="2000" dirty="0">
              <a:solidFill>
                <a:srgbClr val="FF0066"/>
              </a:solidFill>
              <a:latin typeface="Times New Roman" panose="02020603050405020304" pitchFamily="18" charset="0"/>
            </a:endParaRPr>
          </a:p>
        </p:txBody>
      </p:sp>
      <p:sp>
        <p:nvSpPr>
          <p:cNvPr id="402442" name="Text Box 10"/>
          <p:cNvSpPr txBox="1"/>
          <p:nvPr/>
        </p:nvSpPr>
        <p:spPr>
          <a:xfrm>
            <a:off x="541338" y="1690885"/>
            <a:ext cx="8083550" cy="706755"/>
          </a:xfrm>
          <a:prstGeom prst="rect">
            <a:avLst/>
          </a:prstGeom>
          <a:noFill/>
          <a:ln w="9525">
            <a:noFill/>
          </a:ln>
        </p:spPr>
        <p:txBody>
          <a:bodyPr>
            <a:spAutoFit/>
          </a:bodyPr>
          <a:lstStyle/>
          <a:p>
            <a:r>
              <a:rPr lang="zh-CN" altLang="en-US" sz="2000" dirty="0">
                <a:latin typeface="Times New Roman" panose="02020603050405020304" pitchFamily="18" charset="0"/>
              </a:rPr>
              <a:t>在计算线性电路中的热噪声时，往往会遇到如下情况：多个电阻的热噪声；热噪声通过线性电路。</a:t>
            </a:r>
            <a:endParaRPr lang="zh-CN" altLang="en-US" sz="2000" dirty="0">
              <a:latin typeface="Times New Roman" panose="02020603050405020304" pitchFamily="18" charset="0"/>
            </a:endParaRPr>
          </a:p>
        </p:txBody>
      </p:sp>
      <p:sp>
        <p:nvSpPr>
          <p:cNvPr id="402443" name="Text Box 11"/>
          <p:cNvSpPr txBox="1"/>
          <p:nvPr/>
        </p:nvSpPr>
        <p:spPr>
          <a:xfrm>
            <a:off x="560388" y="2502537"/>
            <a:ext cx="2470150" cy="396875"/>
          </a:xfrm>
          <a:prstGeom prst="rect">
            <a:avLst/>
          </a:prstGeom>
          <a:noFill/>
          <a:ln w="9525">
            <a:noFill/>
          </a:ln>
        </p:spPr>
        <p:txBody>
          <a:bodyPr wrap="none">
            <a:spAutoFit/>
          </a:bodyPr>
          <a:lstStyle/>
          <a:p>
            <a:pPr marL="457200" indent="-457200"/>
            <a:r>
              <a:rPr lang="en-US" altLang="zh-CN" sz="2000" b="1" dirty="0">
                <a:solidFill>
                  <a:srgbClr val="CC9900"/>
                </a:solidFill>
                <a:latin typeface="Times New Roman" panose="02020603050405020304" pitchFamily="18" charset="0"/>
              </a:rPr>
              <a:t>a. </a:t>
            </a:r>
            <a:r>
              <a:rPr lang="zh-CN" altLang="en-US" sz="2000" b="1" dirty="0">
                <a:solidFill>
                  <a:srgbClr val="CC9900"/>
                </a:solidFill>
                <a:latin typeface="Times New Roman" panose="02020603050405020304" pitchFamily="18" charset="0"/>
              </a:rPr>
              <a:t>多个电阻的热噪声</a:t>
            </a:r>
            <a:endParaRPr lang="zh-CN" altLang="en-US" sz="2000" b="1" dirty="0">
              <a:solidFill>
                <a:srgbClr val="CC9900"/>
              </a:solidFill>
              <a:latin typeface="Times New Roman" panose="02020603050405020304" pitchFamily="18" charset="0"/>
            </a:endParaRPr>
          </a:p>
        </p:txBody>
      </p:sp>
      <p:sp>
        <p:nvSpPr>
          <p:cNvPr id="402444" name="Text Box 12"/>
          <p:cNvSpPr txBox="1"/>
          <p:nvPr/>
        </p:nvSpPr>
        <p:spPr>
          <a:xfrm>
            <a:off x="684213" y="3141663"/>
            <a:ext cx="7869237" cy="701675"/>
          </a:xfrm>
          <a:prstGeom prst="rect">
            <a:avLst/>
          </a:prstGeom>
          <a:noFill/>
          <a:ln w="9525">
            <a:noFill/>
          </a:ln>
        </p:spPr>
        <p:txBody>
          <a:bodyPr>
            <a:spAutoFit/>
          </a:bodyPr>
          <a:lstStyle/>
          <a:p>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rPr>
              <a:t>考虑两个电阻</a:t>
            </a:r>
            <a:r>
              <a:rPr lang="zh-CN" altLang="en-US" sz="2000" dirty="0">
                <a:solidFill>
                  <a:srgbClr val="CC9900"/>
                </a:solidFill>
                <a:latin typeface="Times New Roman" panose="02020603050405020304" pitchFamily="18" charset="0"/>
              </a:rPr>
              <a:t>串联</a:t>
            </a:r>
            <a:r>
              <a:rPr lang="zh-CN" altLang="en-US" sz="2000" dirty="0">
                <a:latin typeface="Times New Roman" panose="02020603050405020304" pitchFamily="18" charset="0"/>
              </a:rPr>
              <a:t>，假设两个电阻上的噪声电势是统计独立的，如图所示：</a:t>
            </a:r>
            <a:endParaRPr lang="zh-CN" altLang="en-US" sz="2000" dirty="0">
              <a:latin typeface="Times New Roman" panose="02020603050405020304" pitchFamily="18" charset="0"/>
            </a:endParaRPr>
          </a:p>
        </p:txBody>
      </p:sp>
      <p:graphicFrame>
        <p:nvGraphicFramePr>
          <p:cNvPr id="402445" name="Object 13"/>
          <p:cNvGraphicFramePr/>
          <p:nvPr/>
        </p:nvGraphicFramePr>
        <p:xfrm>
          <a:off x="3565525" y="4219575"/>
          <a:ext cx="571500" cy="119063"/>
        </p:xfrm>
        <a:graphic>
          <a:graphicData uri="http://schemas.openxmlformats.org/presentationml/2006/ole">
            <mc:AlternateContent xmlns:mc="http://schemas.openxmlformats.org/markup-compatibility/2006">
              <mc:Choice xmlns:v="urn:schemas-microsoft-com:vml" Requires="v">
                <p:oleObj spid="_x0000_s2" name="" r:id="rId1" imgW="546735" imgH="125730" progId="Visio.Drawing.6">
                  <p:embed/>
                </p:oleObj>
              </mc:Choice>
              <mc:Fallback>
                <p:oleObj name="" r:id="rId1" imgW="546735" imgH="125730" progId="Visio.Drawing.6">
                  <p:embed/>
                  <p:pic>
                    <p:nvPicPr>
                      <p:cNvPr id="0" name="图片 3317"/>
                      <p:cNvPicPr/>
                      <p:nvPr/>
                    </p:nvPicPr>
                    <p:blipFill>
                      <a:blip r:embed="rId2"/>
                      <a:stretch>
                        <a:fillRect/>
                      </a:stretch>
                    </p:blipFill>
                    <p:spPr>
                      <a:xfrm>
                        <a:off x="3565525" y="4219575"/>
                        <a:ext cx="571500" cy="119063"/>
                      </a:xfrm>
                      <a:prstGeom prst="rect">
                        <a:avLst/>
                      </a:prstGeom>
                      <a:noFill/>
                      <a:ln w="38100">
                        <a:noFill/>
                        <a:miter/>
                      </a:ln>
                    </p:spPr>
                  </p:pic>
                </p:oleObj>
              </mc:Fallback>
            </mc:AlternateContent>
          </a:graphicData>
        </a:graphic>
      </p:graphicFrame>
      <p:grpSp>
        <p:nvGrpSpPr>
          <p:cNvPr id="3" name="Group 14"/>
          <p:cNvGrpSpPr/>
          <p:nvPr/>
        </p:nvGrpSpPr>
        <p:grpSpPr>
          <a:xfrm>
            <a:off x="900113" y="3860800"/>
            <a:ext cx="2103437" cy="1196975"/>
            <a:chOff x="657" y="2115"/>
            <a:chExt cx="1325" cy="754"/>
          </a:xfrm>
        </p:grpSpPr>
        <p:graphicFrame>
          <p:nvGraphicFramePr>
            <p:cNvPr id="47109" name="Object 15"/>
            <p:cNvGraphicFramePr/>
            <p:nvPr/>
          </p:nvGraphicFramePr>
          <p:xfrm>
            <a:off x="657" y="2115"/>
            <a:ext cx="1325" cy="378"/>
          </p:xfrm>
          <a:graphic>
            <a:graphicData uri="http://schemas.openxmlformats.org/presentationml/2006/ole">
              <mc:AlternateContent xmlns:mc="http://schemas.openxmlformats.org/markup-compatibility/2006">
                <mc:Choice xmlns:v="urn:schemas-microsoft-com:vml" Requires="v">
                  <p:oleObj spid="_x0000_s4" name="" r:id="rId3" imgW="1990090" imgH="574040" progId="Visio.Drawing.6">
                    <p:embed/>
                  </p:oleObj>
                </mc:Choice>
                <mc:Fallback>
                  <p:oleObj name="" r:id="rId3" imgW="1990090" imgH="574040" progId="Visio.Drawing.6">
                    <p:embed/>
                    <p:pic>
                      <p:nvPicPr>
                        <p:cNvPr id="0" name="图片 3305"/>
                        <p:cNvPicPr/>
                        <p:nvPr/>
                      </p:nvPicPr>
                      <p:blipFill>
                        <a:blip r:embed="rId4"/>
                        <a:stretch>
                          <a:fillRect/>
                        </a:stretch>
                      </p:blipFill>
                      <p:spPr>
                        <a:xfrm>
                          <a:off x="657" y="2115"/>
                          <a:ext cx="1325" cy="378"/>
                        </a:xfrm>
                        <a:prstGeom prst="rect">
                          <a:avLst/>
                        </a:prstGeom>
                        <a:noFill/>
                        <a:ln w="38100">
                          <a:noFill/>
                          <a:miter/>
                        </a:ln>
                      </p:spPr>
                    </p:pic>
                  </p:oleObj>
                </mc:Fallback>
              </mc:AlternateContent>
            </a:graphicData>
          </a:graphic>
        </p:graphicFrame>
        <p:sp>
          <p:nvSpPr>
            <p:cNvPr id="47121" name="Text Box 16"/>
            <p:cNvSpPr txBox="1"/>
            <p:nvPr/>
          </p:nvSpPr>
          <p:spPr>
            <a:xfrm>
              <a:off x="1008" y="2581"/>
              <a:ext cx="585" cy="288"/>
            </a:xfrm>
            <a:prstGeom prst="rect">
              <a:avLst/>
            </a:prstGeom>
            <a:noFill/>
            <a:ln w="9525">
              <a:noFill/>
            </a:ln>
          </p:spPr>
          <p:txBody>
            <a:bodyPr wrap="none">
              <a:spAutoFit/>
            </a:bodyPr>
            <a:lstStyle/>
            <a:p>
              <a:r>
                <a:rPr lang="zh-CN" altLang="en-US" dirty="0">
                  <a:latin typeface="Times New Roman" panose="02020603050405020304" pitchFamily="18" charset="0"/>
                </a:rPr>
                <a:t>（</a:t>
              </a:r>
              <a:r>
                <a:rPr lang="en-US" altLang="zh-CN" dirty="0">
                  <a:latin typeface="Times New Roman" panose="02020603050405020304" pitchFamily="18" charset="0"/>
                </a:rPr>
                <a:t>a</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grpSp>
        <p:nvGrpSpPr>
          <p:cNvPr id="5" name="Group 17"/>
          <p:cNvGrpSpPr/>
          <p:nvPr/>
        </p:nvGrpSpPr>
        <p:grpSpPr>
          <a:xfrm>
            <a:off x="4643437" y="3770313"/>
            <a:ext cx="3662363" cy="1339850"/>
            <a:chOff x="3015" y="2058"/>
            <a:chExt cx="2307" cy="844"/>
          </a:xfrm>
        </p:grpSpPr>
        <p:sp>
          <p:nvSpPr>
            <p:cNvPr id="47120" name="Text Box 18"/>
            <p:cNvSpPr txBox="1"/>
            <p:nvPr/>
          </p:nvSpPr>
          <p:spPr>
            <a:xfrm>
              <a:off x="3379" y="2614"/>
              <a:ext cx="1363" cy="288"/>
            </a:xfrm>
            <a:prstGeom prst="rect">
              <a:avLst/>
            </a:prstGeom>
            <a:noFill/>
            <a:ln w="9525">
              <a:noFill/>
            </a:ln>
          </p:spPr>
          <p:txBody>
            <a:bodyPr wrap="none">
              <a:spAutoFit/>
            </a:bodyPr>
            <a:lstStyle/>
            <a:p>
              <a:r>
                <a:rPr lang="zh-CN" altLang="en-US" dirty="0">
                  <a:latin typeface="Times New Roman" panose="02020603050405020304" pitchFamily="18" charset="0"/>
                </a:rPr>
                <a:t>（</a:t>
              </a:r>
              <a:r>
                <a:rPr lang="en-US" altLang="zh-CN" dirty="0">
                  <a:latin typeface="Times New Roman" panose="02020603050405020304" pitchFamily="18" charset="0"/>
                </a:rPr>
                <a:t>b</a:t>
              </a:r>
              <a:r>
                <a:rPr lang="zh-CN" altLang="en-US" dirty="0">
                  <a:latin typeface="Times New Roman" panose="02020603050405020304" pitchFamily="18" charset="0"/>
                </a:rPr>
                <a:t>）等效电路</a:t>
              </a:r>
              <a:endParaRPr lang="zh-CN" altLang="en-US" dirty="0">
                <a:latin typeface="Times New Roman" panose="02020603050405020304" pitchFamily="18" charset="0"/>
              </a:endParaRPr>
            </a:p>
          </p:txBody>
        </p:sp>
        <p:graphicFrame>
          <p:nvGraphicFramePr>
            <p:cNvPr id="47108" name="Object 19"/>
            <p:cNvGraphicFramePr/>
            <p:nvPr/>
          </p:nvGraphicFramePr>
          <p:xfrm>
            <a:off x="3015" y="2058"/>
            <a:ext cx="2307" cy="523"/>
          </p:xfrm>
          <a:graphic>
            <a:graphicData uri="http://schemas.openxmlformats.org/presentationml/2006/ole">
              <mc:AlternateContent xmlns:mc="http://schemas.openxmlformats.org/markup-compatibility/2006">
                <mc:Choice xmlns:v="urn:schemas-microsoft-com:vml" Requires="v">
                  <p:oleObj spid="_x0000_s6" name="" r:id="rId5" imgW="3451225" imgH="788670" progId="Visio.Drawing.6">
                    <p:embed/>
                  </p:oleObj>
                </mc:Choice>
                <mc:Fallback>
                  <p:oleObj name="" r:id="rId5" imgW="3451225" imgH="788670" progId="Visio.Drawing.6">
                    <p:embed/>
                    <p:pic>
                      <p:nvPicPr>
                        <p:cNvPr id="0" name="图片 3306"/>
                        <p:cNvPicPr/>
                        <p:nvPr/>
                      </p:nvPicPr>
                      <p:blipFill>
                        <a:blip r:embed="rId6"/>
                        <a:stretch>
                          <a:fillRect/>
                        </a:stretch>
                      </p:blipFill>
                      <p:spPr>
                        <a:xfrm>
                          <a:off x="3015" y="2058"/>
                          <a:ext cx="2307" cy="523"/>
                        </a:xfrm>
                        <a:prstGeom prst="rect">
                          <a:avLst/>
                        </a:prstGeom>
                        <a:noFill/>
                        <a:ln w="38100">
                          <a:noFill/>
                          <a:miter/>
                        </a:ln>
                      </p:spPr>
                    </p:pic>
                  </p:oleObj>
                </mc:Fallback>
              </mc:AlternateContent>
            </a:graphicData>
          </a:graphic>
        </p:graphicFrame>
      </p:grpSp>
      <p:graphicFrame>
        <p:nvGraphicFramePr>
          <p:cNvPr id="402453" name="Object 21"/>
          <p:cNvGraphicFramePr>
            <a:graphicFrameLocks noGrp="1"/>
          </p:cNvGraphicFramePr>
          <p:nvPr>
            <p:ph sz="quarter"/>
          </p:nvPr>
        </p:nvGraphicFramePr>
        <p:xfrm>
          <a:off x="3707765" y="5445760"/>
          <a:ext cx="1682115" cy="447675"/>
        </p:xfrm>
        <a:graphic>
          <a:graphicData uri="http://schemas.openxmlformats.org/presentationml/2006/ole">
            <mc:AlternateContent xmlns:mc="http://schemas.openxmlformats.org/markup-compatibility/2006">
              <mc:Choice xmlns:v="urn:schemas-microsoft-com:vml" Requires="v">
                <p:oleObj spid="_x0000_s7" name="" r:id="rId7" imgW="812165" imgH="228600" progId="Equation.DSMT4">
                  <p:embed/>
                </p:oleObj>
              </mc:Choice>
              <mc:Fallback>
                <p:oleObj name="" r:id="rId7" imgW="812165" imgH="228600" progId="Equation.DSMT4">
                  <p:embed/>
                  <p:pic>
                    <p:nvPicPr>
                      <p:cNvPr id="0" name="图片 3307"/>
                      <p:cNvPicPr/>
                      <p:nvPr/>
                    </p:nvPicPr>
                    <p:blipFill>
                      <a:blip r:embed="rId8"/>
                      <a:stretch>
                        <a:fillRect/>
                      </a:stretch>
                    </p:blipFill>
                    <p:spPr>
                      <a:xfrm>
                        <a:off x="3707765" y="5445760"/>
                        <a:ext cx="1682115" cy="447675"/>
                      </a:xfrm>
                      <a:prstGeom prst="rect">
                        <a:avLst/>
                      </a:prstGeom>
                      <a:noFill/>
                      <a:ln w="38100">
                        <a:noFill/>
                        <a:miter/>
                      </a:ln>
                    </p:spPr>
                  </p:pic>
                </p:oleObj>
              </mc:Fallback>
            </mc:AlternateContent>
          </a:graphicData>
        </a:graphic>
      </p:graphicFrame>
      <p:sp>
        <p:nvSpPr>
          <p:cNvPr id="402454" name="Text Box 22"/>
          <p:cNvSpPr txBox="1"/>
          <p:nvPr/>
        </p:nvSpPr>
        <p:spPr>
          <a:xfrm>
            <a:off x="971550" y="5445125"/>
            <a:ext cx="2976880" cy="398780"/>
          </a:xfrm>
          <a:prstGeom prst="rect">
            <a:avLst/>
          </a:prstGeom>
          <a:noFill/>
          <a:ln w="9525">
            <a:noFill/>
          </a:ln>
        </p:spPr>
        <p:txBody>
          <a:bodyPr wrap="none">
            <a:spAutoFit/>
          </a:bodyPr>
          <a:lstStyle/>
          <a:p>
            <a:r>
              <a:rPr lang="zh-CN" altLang="en-US" sz="2000" dirty="0">
                <a:latin typeface="Times New Roman" panose="02020603050405020304" pitchFamily="18" charset="0"/>
              </a:rPr>
              <a:t>串联后总的噪声电势为：</a:t>
            </a:r>
            <a:endParaRPr lang="zh-CN" altLang="en-US" sz="2000" dirty="0">
              <a:latin typeface="Times New Roman" panose="02020603050405020304" pitchFamily="18" charset="0"/>
            </a:endParaRPr>
          </a:p>
        </p:txBody>
      </p:sp>
      <p:grpSp>
        <p:nvGrpSpPr>
          <p:cNvPr id="8" name="Group 19"/>
          <p:cNvGrpSpPr/>
          <p:nvPr/>
        </p:nvGrpSpPr>
        <p:grpSpPr>
          <a:xfrm>
            <a:off x="1784668" y="405766"/>
            <a:ext cx="5334000" cy="519113"/>
            <a:chOff x="1306" y="452"/>
            <a:chExt cx="3360" cy="327"/>
          </a:xfrm>
        </p:grpSpPr>
        <p:sp>
          <p:nvSpPr>
            <p:cNvPr id="9" name="Rectangle 20"/>
            <p:cNvSpPr/>
            <p:nvPr/>
          </p:nvSpPr>
          <p:spPr>
            <a:xfrm>
              <a:off x="1306" y="45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2.3   </a:t>
              </a:r>
              <a:r>
                <a:rPr lang="zh-CN" altLang="en-US" sz="2800" b="1" dirty="0">
                  <a:solidFill>
                    <a:schemeClr val="accent2"/>
                  </a:solidFill>
                  <a:latin typeface="Times New Roman" panose="02020603050405020304" pitchFamily="18" charset="0"/>
                </a:rPr>
                <a:t>电子噪 声及其特性</a:t>
              </a:r>
              <a:endParaRPr lang="zh-CN" altLang="en-US" sz="2800" b="1" dirty="0">
                <a:solidFill>
                  <a:schemeClr val="accent2"/>
                </a:solidFill>
                <a:latin typeface="Times New Roman" panose="02020603050405020304" pitchFamily="18" charset="0"/>
              </a:endParaRPr>
            </a:p>
          </p:txBody>
        </p:sp>
        <p:sp>
          <p:nvSpPr>
            <p:cNvPr id="10" name="Line 21"/>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5" name="Text Box 4"/>
          <p:cNvSpPr txBox="1"/>
          <p:nvPr/>
        </p:nvSpPr>
        <p:spPr>
          <a:xfrm>
            <a:off x="539552" y="1242673"/>
            <a:ext cx="3181350" cy="457200"/>
          </a:xfrm>
          <a:prstGeom prst="rect">
            <a:avLst/>
          </a:prstGeom>
          <a:noFill/>
          <a:ln w="9525">
            <a:noFill/>
          </a:ln>
        </p:spPr>
        <p:txBody>
          <a:bodyPr wrap="none">
            <a:spAutoFit/>
          </a:bodyPr>
          <a:lstStyle/>
          <a:p>
            <a:r>
              <a:rPr lang="zh-CN" altLang="en-US" sz="2000" b="1" dirty="0">
                <a:solidFill>
                  <a:srgbClr val="FF00FF"/>
                </a:solidFill>
                <a:latin typeface="Times New Roman" panose="02020603050405020304" pitchFamily="18" charset="0"/>
              </a:rPr>
              <a:t>（</a:t>
            </a:r>
            <a:r>
              <a:rPr lang="en-US" altLang="zh-CN" sz="2000" b="1" dirty="0">
                <a:solidFill>
                  <a:srgbClr val="FF00FF"/>
                </a:solidFill>
                <a:latin typeface="Times New Roman" panose="02020603050405020304" pitchFamily="18" charset="0"/>
              </a:rPr>
              <a:t>3</a:t>
            </a:r>
            <a:r>
              <a:rPr lang="zh-CN" altLang="en-US" sz="2000" b="1" dirty="0">
                <a:solidFill>
                  <a:srgbClr val="FF00FF"/>
                </a:solidFill>
                <a:latin typeface="Times New Roman" panose="02020603050405020304" pitchFamily="18" charset="0"/>
              </a:rPr>
              <a:t>）线性电路中的热噪声</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sp>
        <p:nvSpPr>
          <p:cNvPr id="48136" name="Text Box 5"/>
          <p:cNvSpPr txBox="1"/>
          <p:nvPr/>
        </p:nvSpPr>
        <p:spPr>
          <a:xfrm>
            <a:off x="179388" y="908050"/>
            <a:ext cx="3232150" cy="396875"/>
          </a:xfrm>
          <a:prstGeom prst="rect">
            <a:avLst/>
          </a:prstGeom>
          <a:noFill/>
          <a:ln w="9525">
            <a:noFill/>
          </a:ln>
        </p:spPr>
        <p:txBody>
          <a:bodyPr wrap="none">
            <a:spAutoFit/>
          </a:bodyPr>
          <a:lstStyle/>
          <a:p>
            <a:r>
              <a:rPr lang="zh-CN" altLang="en-US" sz="2000" dirty="0">
                <a:solidFill>
                  <a:srgbClr val="FF0066"/>
                </a:solidFill>
                <a:latin typeface="Times New Roman" panose="02020603050405020304" pitchFamily="18" charset="0"/>
              </a:rPr>
              <a:t>二、电子噪声的来源与特性</a:t>
            </a:r>
            <a:endParaRPr lang="zh-CN" altLang="en-US" sz="2000" dirty="0">
              <a:solidFill>
                <a:srgbClr val="FF0066"/>
              </a:solidFill>
              <a:latin typeface="Times New Roman" panose="02020603050405020304" pitchFamily="18" charset="0"/>
            </a:endParaRPr>
          </a:p>
        </p:txBody>
      </p:sp>
      <p:graphicFrame>
        <p:nvGraphicFramePr>
          <p:cNvPr id="48130" name="Object 10"/>
          <p:cNvGraphicFramePr/>
          <p:nvPr/>
        </p:nvGraphicFramePr>
        <p:xfrm>
          <a:off x="4860032" y="1605434"/>
          <a:ext cx="2015653" cy="457197"/>
        </p:xfrm>
        <a:graphic>
          <a:graphicData uri="http://schemas.openxmlformats.org/presentationml/2006/ole">
            <mc:AlternateContent xmlns:mc="http://schemas.openxmlformats.org/markup-compatibility/2006">
              <mc:Choice xmlns:v="urn:schemas-microsoft-com:vml" Requires="v">
                <p:oleObj spid="_x0000_s2" name="" r:id="rId1" imgW="812165" imgH="228600" progId="Equation.DSMT4">
                  <p:embed/>
                </p:oleObj>
              </mc:Choice>
              <mc:Fallback>
                <p:oleObj name="" r:id="rId1" imgW="812165" imgH="228600" progId="Equation.DSMT4">
                  <p:embed/>
                  <p:pic>
                    <p:nvPicPr>
                      <p:cNvPr id="0" name="图片 3323"/>
                      <p:cNvPicPr/>
                      <p:nvPr/>
                    </p:nvPicPr>
                    <p:blipFill>
                      <a:blip r:embed="rId2"/>
                      <a:stretch>
                        <a:fillRect/>
                      </a:stretch>
                    </p:blipFill>
                    <p:spPr>
                      <a:xfrm>
                        <a:off x="4860032" y="1605434"/>
                        <a:ext cx="2015653" cy="457197"/>
                      </a:xfrm>
                      <a:prstGeom prst="rect">
                        <a:avLst/>
                      </a:prstGeom>
                      <a:noFill/>
                      <a:ln w="38100">
                        <a:noFill/>
                        <a:miter/>
                      </a:ln>
                    </p:spPr>
                  </p:pic>
                </p:oleObj>
              </mc:Fallback>
            </mc:AlternateContent>
          </a:graphicData>
        </a:graphic>
      </p:graphicFrame>
      <p:graphicFrame>
        <p:nvGraphicFramePr>
          <p:cNvPr id="403467" name="Object 11"/>
          <p:cNvGraphicFramePr/>
          <p:nvPr/>
        </p:nvGraphicFramePr>
        <p:xfrm>
          <a:off x="3884042" y="2145748"/>
          <a:ext cx="4897438" cy="1458913"/>
        </p:xfrm>
        <a:graphic>
          <a:graphicData uri="http://schemas.openxmlformats.org/presentationml/2006/ole">
            <mc:AlternateContent xmlns:mc="http://schemas.openxmlformats.org/markup-compatibility/2006">
              <mc:Choice xmlns:v="urn:schemas-microsoft-com:vml" Requires="v">
                <p:oleObj spid="_x0000_s3" name="" r:id="rId3" imgW="2729230" imgH="812165" progId="Equation.DSMT4">
                  <p:embed/>
                </p:oleObj>
              </mc:Choice>
              <mc:Fallback>
                <p:oleObj name="" r:id="rId3" imgW="2729230" imgH="812165" progId="Equation.DSMT4">
                  <p:embed/>
                  <p:pic>
                    <p:nvPicPr>
                      <p:cNvPr id="0" name="图片 3321"/>
                      <p:cNvPicPr/>
                      <p:nvPr/>
                    </p:nvPicPr>
                    <p:blipFill>
                      <a:blip r:embed="rId4"/>
                      <a:stretch>
                        <a:fillRect/>
                      </a:stretch>
                    </p:blipFill>
                    <p:spPr>
                      <a:xfrm>
                        <a:off x="3884042" y="2145748"/>
                        <a:ext cx="4897438" cy="1458913"/>
                      </a:xfrm>
                      <a:prstGeom prst="rect">
                        <a:avLst/>
                      </a:prstGeom>
                      <a:noFill/>
                      <a:ln w="38100">
                        <a:noFill/>
                        <a:miter/>
                      </a:ln>
                    </p:spPr>
                  </p:pic>
                </p:oleObj>
              </mc:Fallback>
            </mc:AlternateContent>
          </a:graphicData>
        </a:graphic>
      </p:graphicFrame>
      <p:graphicFrame>
        <p:nvGraphicFramePr>
          <p:cNvPr id="403468" name="Object 12"/>
          <p:cNvGraphicFramePr/>
          <p:nvPr/>
        </p:nvGraphicFramePr>
        <p:xfrm>
          <a:off x="4355976" y="3542736"/>
          <a:ext cx="4175125" cy="798512"/>
        </p:xfrm>
        <a:graphic>
          <a:graphicData uri="http://schemas.openxmlformats.org/presentationml/2006/ole">
            <mc:AlternateContent xmlns:mc="http://schemas.openxmlformats.org/markup-compatibility/2006">
              <mc:Choice xmlns:v="urn:schemas-microsoft-com:vml" Requires="v">
                <p:oleObj spid="_x0000_s4" name="" r:id="rId5" imgW="2056765" imgH="393700" progId="Equation.DSMT4">
                  <p:embed/>
                </p:oleObj>
              </mc:Choice>
              <mc:Fallback>
                <p:oleObj name="" r:id="rId5" imgW="2056765" imgH="393700" progId="Equation.DSMT4">
                  <p:embed/>
                  <p:pic>
                    <p:nvPicPr>
                      <p:cNvPr id="0" name="图片 3333"/>
                      <p:cNvPicPr/>
                      <p:nvPr/>
                    </p:nvPicPr>
                    <p:blipFill>
                      <a:blip r:embed="rId6"/>
                      <a:stretch>
                        <a:fillRect/>
                      </a:stretch>
                    </p:blipFill>
                    <p:spPr>
                      <a:xfrm>
                        <a:off x="4355976" y="3542736"/>
                        <a:ext cx="4175125" cy="798512"/>
                      </a:xfrm>
                      <a:prstGeom prst="rect">
                        <a:avLst/>
                      </a:prstGeom>
                      <a:noFill/>
                      <a:ln w="38100">
                        <a:noFill/>
                        <a:miter/>
                      </a:ln>
                    </p:spPr>
                  </p:pic>
                </p:oleObj>
              </mc:Fallback>
            </mc:AlternateContent>
          </a:graphicData>
        </a:graphic>
      </p:graphicFrame>
      <p:sp>
        <p:nvSpPr>
          <p:cNvPr id="403470" name="Text Box 14"/>
          <p:cNvSpPr txBox="1"/>
          <p:nvPr/>
        </p:nvSpPr>
        <p:spPr>
          <a:xfrm>
            <a:off x="643955" y="2217186"/>
            <a:ext cx="3232150" cy="396875"/>
          </a:xfrm>
          <a:prstGeom prst="rect">
            <a:avLst/>
          </a:prstGeom>
          <a:noFill/>
          <a:ln w="9525">
            <a:noFill/>
          </a:ln>
        </p:spPr>
        <p:txBody>
          <a:bodyPr wrap="none">
            <a:spAutoFit/>
          </a:bodyPr>
          <a:lstStyle/>
          <a:p>
            <a:r>
              <a:rPr lang="zh-CN" altLang="en-US" sz="2000" dirty="0">
                <a:latin typeface="Times New Roman" panose="02020603050405020304" pitchFamily="18" charset="0"/>
              </a:rPr>
              <a:t>则总的噪声电压均方值为：</a:t>
            </a:r>
            <a:endParaRPr lang="zh-CN" altLang="en-US" sz="2000" dirty="0">
              <a:latin typeface="Times New Roman" panose="02020603050405020304" pitchFamily="18" charset="0"/>
            </a:endParaRPr>
          </a:p>
        </p:txBody>
      </p:sp>
      <p:grpSp>
        <p:nvGrpSpPr>
          <p:cNvPr id="5" name="Group 21"/>
          <p:cNvGrpSpPr/>
          <p:nvPr/>
        </p:nvGrpSpPr>
        <p:grpSpPr>
          <a:xfrm>
            <a:off x="1258888" y="4652963"/>
            <a:ext cx="4824412" cy="444500"/>
            <a:chOff x="793" y="2931"/>
            <a:chExt cx="3039" cy="280"/>
          </a:xfrm>
        </p:grpSpPr>
        <p:graphicFrame>
          <p:nvGraphicFramePr>
            <p:cNvPr id="48134" name="Object 16"/>
            <p:cNvGraphicFramePr/>
            <p:nvPr/>
          </p:nvGraphicFramePr>
          <p:xfrm>
            <a:off x="1156" y="2931"/>
            <a:ext cx="2676" cy="280"/>
          </p:xfrm>
          <a:graphic>
            <a:graphicData uri="http://schemas.openxmlformats.org/presentationml/2006/ole">
              <mc:AlternateContent xmlns:mc="http://schemas.openxmlformats.org/markup-compatibility/2006">
                <mc:Choice xmlns:v="urn:schemas-microsoft-com:vml" Requires="v">
                  <p:oleObj spid="_x0000_s6" name="" r:id="rId7" imgW="1967865" imgH="241300" progId="Equation.DSMT4">
                    <p:embed/>
                  </p:oleObj>
                </mc:Choice>
                <mc:Fallback>
                  <p:oleObj name="" r:id="rId7" imgW="1967865" imgH="241300" progId="Equation.DSMT4">
                    <p:embed/>
                    <p:pic>
                      <p:nvPicPr>
                        <p:cNvPr id="0" name="图片 3327"/>
                        <p:cNvPicPr/>
                        <p:nvPr/>
                      </p:nvPicPr>
                      <p:blipFill>
                        <a:blip r:embed="rId8"/>
                        <a:stretch>
                          <a:fillRect/>
                        </a:stretch>
                      </p:blipFill>
                      <p:spPr>
                        <a:xfrm>
                          <a:off x="1156" y="2931"/>
                          <a:ext cx="2676" cy="280"/>
                        </a:xfrm>
                        <a:prstGeom prst="rect">
                          <a:avLst/>
                        </a:prstGeom>
                        <a:noFill/>
                        <a:ln w="38100">
                          <a:noFill/>
                          <a:miter/>
                        </a:ln>
                      </p:spPr>
                    </p:pic>
                  </p:oleObj>
                </mc:Fallback>
              </mc:AlternateContent>
            </a:graphicData>
          </a:graphic>
        </p:graphicFrame>
        <p:sp>
          <p:nvSpPr>
            <p:cNvPr id="48144" name="Text Box 17"/>
            <p:cNvSpPr txBox="1"/>
            <p:nvPr/>
          </p:nvSpPr>
          <p:spPr>
            <a:xfrm>
              <a:off x="793" y="2931"/>
              <a:ext cx="276" cy="250"/>
            </a:xfrm>
            <a:prstGeom prst="rect">
              <a:avLst/>
            </a:prstGeom>
            <a:noFill/>
            <a:ln w="9525">
              <a:noFill/>
            </a:ln>
          </p:spPr>
          <p:txBody>
            <a:bodyPr wrap="none">
              <a:spAutoFit/>
            </a:bodyPr>
            <a:lstStyle/>
            <a:p>
              <a:r>
                <a:rPr lang="zh-CN" altLang="en-US" sz="2000" dirty="0">
                  <a:latin typeface="Times New Roman" panose="02020603050405020304" pitchFamily="18" charset="0"/>
                </a:rPr>
                <a:t>故</a:t>
              </a:r>
              <a:endParaRPr lang="zh-CN" altLang="en-US" sz="2000" dirty="0">
                <a:latin typeface="Times New Roman" panose="02020603050405020304" pitchFamily="18" charset="0"/>
              </a:endParaRPr>
            </a:p>
          </p:txBody>
        </p:sp>
      </p:grpSp>
      <p:grpSp>
        <p:nvGrpSpPr>
          <p:cNvPr id="7" name="Group 20"/>
          <p:cNvGrpSpPr/>
          <p:nvPr/>
        </p:nvGrpSpPr>
        <p:grpSpPr>
          <a:xfrm>
            <a:off x="1042988" y="5300663"/>
            <a:ext cx="5545137" cy="949325"/>
            <a:chOff x="657" y="3339"/>
            <a:chExt cx="3493" cy="598"/>
          </a:xfrm>
        </p:grpSpPr>
        <p:graphicFrame>
          <p:nvGraphicFramePr>
            <p:cNvPr id="48133" name="Object 13"/>
            <p:cNvGraphicFramePr/>
            <p:nvPr/>
          </p:nvGraphicFramePr>
          <p:xfrm>
            <a:off x="792" y="3671"/>
            <a:ext cx="3358" cy="266"/>
          </p:xfrm>
          <a:graphic>
            <a:graphicData uri="http://schemas.openxmlformats.org/presentationml/2006/ole">
              <mc:AlternateContent xmlns:mc="http://schemas.openxmlformats.org/markup-compatibility/2006">
                <mc:Choice xmlns:v="urn:schemas-microsoft-com:vml" Requires="v">
                  <p:oleObj spid="_x0000_s8" name="" r:id="rId9" imgW="3048000" imgH="241300" progId="Equation.DSMT4">
                    <p:embed/>
                  </p:oleObj>
                </mc:Choice>
                <mc:Fallback>
                  <p:oleObj name="" r:id="rId9" imgW="3048000" imgH="241300" progId="Equation.DSMT4">
                    <p:embed/>
                    <p:pic>
                      <p:nvPicPr>
                        <p:cNvPr id="0" name="图片 3334"/>
                        <p:cNvPicPr/>
                        <p:nvPr/>
                      </p:nvPicPr>
                      <p:blipFill>
                        <a:blip r:embed="rId10"/>
                        <a:stretch>
                          <a:fillRect/>
                        </a:stretch>
                      </p:blipFill>
                      <p:spPr>
                        <a:xfrm>
                          <a:off x="792" y="3671"/>
                          <a:ext cx="3358" cy="266"/>
                        </a:xfrm>
                        <a:prstGeom prst="rect">
                          <a:avLst/>
                        </a:prstGeom>
                        <a:solidFill>
                          <a:schemeClr val="accent1">
                            <a:lumMod val="20000"/>
                            <a:lumOff val="80000"/>
                          </a:schemeClr>
                        </a:solidFill>
                        <a:ln w="38100">
                          <a:noFill/>
                          <a:miter/>
                        </a:ln>
                      </p:spPr>
                    </p:pic>
                  </p:oleObj>
                </mc:Fallback>
              </mc:AlternateContent>
            </a:graphicData>
          </a:graphic>
        </p:graphicFrame>
        <p:sp>
          <p:nvSpPr>
            <p:cNvPr id="48143" name="Text Box 18"/>
            <p:cNvSpPr txBox="1"/>
            <p:nvPr/>
          </p:nvSpPr>
          <p:spPr>
            <a:xfrm>
              <a:off x="657" y="3339"/>
              <a:ext cx="2004" cy="251"/>
            </a:xfrm>
            <a:prstGeom prst="rect">
              <a:avLst/>
            </a:prstGeom>
            <a:solidFill>
              <a:schemeClr val="accent1">
                <a:lumMod val="20000"/>
                <a:lumOff val="80000"/>
              </a:schemeClr>
            </a:solidFill>
            <a:ln w="9525">
              <a:noFill/>
            </a:ln>
          </p:spPr>
          <p:txBody>
            <a:bodyPr wrap="none">
              <a:spAutoFit/>
            </a:bodyPr>
            <a:lstStyle/>
            <a:p>
              <a:r>
                <a:rPr lang="zh-CN" altLang="en-US" sz="2000" dirty="0">
                  <a:solidFill>
                    <a:schemeClr val="accent2"/>
                  </a:solidFill>
                  <a:latin typeface="Times New Roman" panose="02020603050405020304" pitchFamily="18" charset="0"/>
                </a:rPr>
                <a:t>推广</a:t>
              </a:r>
              <a:r>
                <a:rPr lang="zh-CN" altLang="en-US" sz="2000" dirty="0">
                  <a:latin typeface="Times New Roman" panose="02020603050405020304" pitchFamily="18" charset="0"/>
                </a:rPr>
                <a:t>：</a:t>
              </a:r>
              <a:r>
                <a:rPr lang="en-US" altLang="zh-CN" sz="2000" b="1" i="1" dirty="0">
                  <a:solidFill>
                    <a:srgbClr val="FF0000"/>
                  </a:solidFill>
                  <a:latin typeface="Times New Roman" panose="02020603050405020304" pitchFamily="18" charset="0"/>
                </a:rPr>
                <a:t>m</a:t>
              </a:r>
              <a:r>
                <a:rPr lang="zh-CN" altLang="en-US" sz="2000" b="1" dirty="0">
                  <a:solidFill>
                    <a:srgbClr val="FF0000"/>
                  </a:solidFill>
                  <a:latin typeface="Times New Roman" panose="02020603050405020304" pitchFamily="18" charset="0"/>
                </a:rPr>
                <a:t>个电阻串联</a:t>
              </a:r>
              <a:r>
                <a:rPr lang="zh-CN" altLang="en-US" sz="2000" dirty="0">
                  <a:latin typeface="Times New Roman" panose="02020603050405020304" pitchFamily="18" charset="0"/>
                </a:rPr>
                <a:t>，则有</a:t>
              </a:r>
              <a:endParaRPr lang="zh-CN" altLang="en-US" sz="2000" dirty="0">
                <a:latin typeface="Times New Roman" panose="02020603050405020304" pitchFamily="18" charset="0"/>
              </a:endParaRPr>
            </a:p>
          </p:txBody>
        </p:sp>
      </p:grpSp>
      <p:sp>
        <p:nvSpPr>
          <p:cNvPr id="48142" name="Text Box 19"/>
          <p:cNvSpPr txBox="1"/>
          <p:nvPr/>
        </p:nvSpPr>
        <p:spPr>
          <a:xfrm>
            <a:off x="992188" y="1748873"/>
            <a:ext cx="2470150" cy="396875"/>
          </a:xfrm>
          <a:prstGeom prst="rect">
            <a:avLst/>
          </a:prstGeom>
          <a:noFill/>
          <a:ln w="9525">
            <a:noFill/>
          </a:ln>
        </p:spPr>
        <p:txBody>
          <a:bodyPr wrap="none">
            <a:spAutoFit/>
          </a:bodyPr>
          <a:lstStyle/>
          <a:p>
            <a:pPr marL="457200" indent="-457200"/>
            <a:r>
              <a:rPr lang="en-US" altLang="zh-CN" sz="2000" b="1" dirty="0">
                <a:solidFill>
                  <a:srgbClr val="CC9900"/>
                </a:solidFill>
                <a:latin typeface="Times New Roman" panose="02020603050405020304" pitchFamily="18" charset="0"/>
              </a:rPr>
              <a:t>a. </a:t>
            </a:r>
            <a:r>
              <a:rPr lang="zh-CN" altLang="en-US" sz="2000" b="1" dirty="0">
                <a:solidFill>
                  <a:srgbClr val="CC9900"/>
                </a:solidFill>
                <a:latin typeface="Times New Roman" panose="02020603050405020304" pitchFamily="18" charset="0"/>
              </a:rPr>
              <a:t>多个电阻的热噪声</a:t>
            </a:r>
            <a:endParaRPr lang="zh-CN" altLang="en-US" sz="2000" b="1" dirty="0">
              <a:solidFill>
                <a:srgbClr val="CC9900"/>
              </a:solidFill>
              <a:latin typeface="Times New Roman" panose="02020603050405020304" pitchFamily="18" charset="0"/>
            </a:endParaRPr>
          </a:p>
        </p:txBody>
      </p:sp>
      <p:grpSp>
        <p:nvGrpSpPr>
          <p:cNvPr id="9" name="Group 19"/>
          <p:cNvGrpSpPr/>
          <p:nvPr/>
        </p:nvGrpSpPr>
        <p:grpSpPr>
          <a:xfrm>
            <a:off x="1784668" y="405766"/>
            <a:ext cx="5334000" cy="519113"/>
            <a:chOff x="1306" y="452"/>
            <a:chExt cx="3360" cy="327"/>
          </a:xfrm>
        </p:grpSpPr>
        <p:sp>
          <p:nvSpPr>
            <p:cNvPr id="10" name="Rectangle 20"/>
            <p:cNvSpPr/>
            <p:nvPr/>
          </p:nvSpPr>
          <p:spPr>
            <a:xfrm>
              <a:off x="1306" y="45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2.3   </a:t>
              </a:r>
              <a:r>
                <a:rPr lang="zh-CN" altLang="en-US" sz="2800" b="1" dirty="0">
                  <a:solidFill>
                    <a:schemeClr val="accent2"/>
                  </a:solidFill>
                  <a:latin typeface="Times New Roman" panose="02020603050405020304" pitchFamily="18" charset="0"/>
                </a:rPr>
                <a:t>电子噪 声及其特性</a:t>
              </a:r>
              <a:endParaRPr lang="zh-CN" altLang="en-US" sz="2800" b="1" dirty="0">
                <a:solidFill>
                  <a:schemeClr val="accent2"/>
                </a:solidFill>
                <a:latin typeface="Times New Roman" panose="02020603050405020304" pitchFamily="18" charset="0"/>
              </a:endParaRPr>
            </a:p>
          </p:txBody>
        </p:sp>
        <p:sp>
          <p:nvSpPr>
            <p:cNvPr id="11" name="Line 21"/>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63" name="Text Box 4"/>
          <p:cNvSpPr txBox="1"/>
          <p:nvPr/>
        </p:nvSpPr>
        <p:spPr>
          <a:xfrm>
            <a:off x="539750" y="1579563"/>
            <a:ext cx="3181350" cy="457200"/>
          </a:xfrm>
          <a:prstGeom prst="rect">
            <a:avLst/>
          </a:prstGeom>
          <a:noFill/>
          <a:ln w="9525">
            <a:noFill/>
          </a:ln>
        </p:spPr>
        <p:txBody>
          <a:bodyPr wrap="none">
            <a:spAutoFit/>
          </a:bodyPr>
          <a:lstStyle/>
          <a:p>
            <a:r>
              <a:rPr lang="zh-CN" altLang="en-US" sz="2000" b="1" dirty="0">
                <a:solidFill>
                  <a:srgbClr val="FF00FF"/>
                </a:solidFill>
                <a:latin typeface="Times New Roman" panose="02020603050405020304" pitchFamily="18" charset="0"/>
              </a:rPr>
              <a:t>（</a:t>
            </a:r>
            <a:r>
              <a:rPr lang="en-US" altLang="zh-CN" sz="2000" b="1" dirty="0">
                <a:solidFill>
                  <a:srgbClr val="FF00FF"/>
                </a:solidFill>
                <a:latin typeface="Times New Roman" panose="02020603050405020304" pitchFamily="18" charset="0"/>
              </a:rPr>
              <a:t>3</a:t>
            </a:r>
            <a:r>
              <a:rPr lang="zh-CN" altLang="en-US" sz="2000" b="1" dirty="0">
                <a:solidFill>
                  <a:srgbClr val="FF00FF"/>
                </a:solidFill>
                <a:latin typeface="Times New Roman" panose="02020603050405020304" pitchFamily="18" charset="0"/>
              </a:rPr>
              <a:t>）线性电路中的热噪声</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sp>
        <p:nvSpPr>
          <p:cNvPr id="49164" name="Text Box 5"/>
          <p:cNvSpPr txBox="1"/>
          <p:nvPr/>
        </p:nvSpPr>
        <p:spPr>
          <a:xfrm>
            <a:off x="179388" y="908050"/>
            <a:ext cx="3232150" cy="396875"/>
          </a:xfrm>
          <a:prstGeom prst="rect">
            <a:avLst/>
          </a:prstGeom>
          <a:noFill/>
          <a:ln w="9525">
            <a:noFill/>
          </a:ln>
        </p:spPr>
        <p:txBody>
          <a:bodyPr wrap="none">
            <a:spAutoFit/>
          </a:bodyPr>
          <a:lstStyle/>
          <a:p>
            <a:r>
              <a:rPr lang="zh-CN" altLang="en-US" sz="2000" dirty="0">
                <a:solidFill>
                  <a:srgbClr val="FF0066"/>
                </a:solidFill>
                <a:latin typeface="Times New Roman" panose="02020603050405020304" pitchFamily="18" charset="0"/>
              </a:rPr>
              <a:t>二、电子噪声的来源与特性</a:t>
            </a:r>
            <a:endParaRPr lang="zh-CN" altLang="en-US" sz="2000" dirty="0">
              <a:solidFill>
                <a:srgbClr val="FF0066"/>
              </a:solidFill>
              <a:latin typeface="Times New Roman" panose="02020603050405020304" pitchFamily="18" charset="0"/>
            </a:endParaRPr>
          </a:p>
        </p:txBody>
      </p:sp>
      <p:sp>
        <p:nvSpPr>
          <p:cNvPr id="49166" name="Text Box 9"/>
          <p:cNvSpPr txBox="1"/>
          <p:nvPr/>
        </p:nvSpPr>
        <p:spPr>
          <a:xfrm>
            <a:off x="684213" y="1196975"/>
            <a:ext cx="1911350" cy="396875"/>
          </a:xfrm>
          <a:prstGeom prst="rect">
            <a:avLst/>
          </a:prstGeom>
          <a:noFill/>
          <a:ln w="9525">
            <a:noFill/>
          </a:ln>
        </p:spPr>
        <p:txBody>
          <a:bodyPr wrap="none">
            <a:spAutoFit/>
          </a:bodyPr>
          <a:lstStyle/>
          <a:p>
            <a:pPr marL="457200" indent="-457200">
              <a:buAutoNum type="circleNumDbPlain"/>
            </a:pPr>
            <a:r>
              <a:rPr lang="zh-CN" altLang="en-US" sz="2000" dirty="0">
                <a:solidFill>
                  <a:schemeClr val="accent2"/>
                </a:solidFill>
                <a:latin typeface="Times New Roman" panose="02020603050405020304" pitchFamily="18" charset="0"/>
              </a:rPr>
              <a:t>电阻热噪声</a:t>
            </a:r>
            <a:endParaRPr lang="zh-CN" altLang="en-US" sz="2000" dirty="0">
              <a:solidFill>
                <a:schemeClr val="accent2"/>
              </a:solidFill>
              <a:latin typeface="Times New Roman" panose="02020603050405020304" pitchFamily="18" charset="0"/>
            </a:endParaRPr>
          </a:p>
        </p:txBody>
      </p:sp>
      <p:sp>
        <p:nvSpPr>
          <p:cNvPr id="49167" name="Text Box 10"/>
          <p:cNvSpPr txBox="1"/>
          <p:nvPr/>
        </p:nvSpPr>
        <p:spPr>
          <a:xfrm>
            <a:off x="1042988" y="2060575"/>
            <a:ext cx="2470150" cy="396875"/>
          </a:xfrm>
          <a:prstGeom prst="rect">
            <a:avLst/>
          </a:prstGeom>
          <a:noFill/>
          <a:ln w="9525">
            <a:noFill/>
          </a:ln>
        </p:spPr>
        <p:txBody>
          <a:bodyPr wrap="none">
            <a:spAutoFit/>
          </a:bodyPr>
          <a:lstStyle/>
          <a:p>
            <a:pPr marL="457200" indent="-457200"/>
            <a:r>
              <a:rPr lang="en-US" altLang="zh-CN" sz="2000" b="1" dirty="0">
                <a:solidFill>
                  <a:srgbClr val="CC9900"/>
                </a:solidFill>
                <a:latin typeface="Times New Roman" panose="02020603050405020304" pitchFamily="18" charset="0"/>
              </a:rPr>
              <a:t>a. </a:t>
            </a:r>
            <a:r>
              <a:rPr lang="zh-CN" altLang="en-US" sz="2000" b="1" dirty="0">
                <a:solidFill>
                  <a:srgbClr val="CC9900"/>
                </a:solidFill>
                <a:latin typeface="Times New Roman" panose="02020603050405020304" pitchFamily="18" charset="0"/>
              </a:rPr>
              <a:t>多个电阻的热噪声</a:t>
            </a:r>
            <a:endParaRPr lang="zh-CN" altLang="en-US" sz="2000" b="1" dirty="0">
              <a:solidFill>
                <a:srgbClr val="CC9900"/>
              </a:solidFill>
              <a:latin typeface="Times New Roman" panose="02020603050405020304" pitchFamily="18" charset="0"/>
            </a:endParaRPr>
          </a:p>
        </p:txBody>
      </p:sp>
      <p:sp>
        <p:nvSpPr>
          <p:cNvPr id="404491" name="Text Box 11"/>
          <p:cNvSpPr txBox="1"/>
          <p:nvPr/>
        </p:nvSpPr>
        <p:spPr>
          <a:xfrm>
            <a:off x="468313" y="2492375"/>
            <a:ext cx="8301037" cy="396875"/>
          </a:xfrm>
          <a:prstGeom prst="rect">
            <a:avLst/>
          </a:prstGeom>
          <a:noFill/>
          <a:ln w="9525">
            <a:noFill/>
          </a:ln>
        </p:spPr>
        <p:txBody>
          <a:bodyPr>
            <a:spAutoFit/>
          </a:bodyPr>
          <a:lstStyle/>
          <a:p>
            <a:r>
              <a:rPr lang="en-US" altLang="zh-CN" sz="2000" dirty="0">
                <a:latin typeface="Times New Roman" panose="02020603050405020304" pitchFamily="18" charset="0"/>
              </a:rPr>
              <a:t>●</a:t>
            </a:r>
            <a:r>
              <a:rPr lang="zh-CN" altLang="en-US" sz="2000" dirty="0">
                <a:latin typeface="Times New Roman" panose="02020603050405020304" pitchFamily="18" charset="0"/>
              </a:rPr>
              <a:t>考虑两个电阻</a:t>
            </a:r>
            <a:r>
              <a:rPr lang="zh-CN" altLang="en-US" sz="2000" dirty="0">
                <a:solidFill>
                  <a:schemeClr val="accent2"/>
                </a:solidFill>
                <a:latin typeface="Times New Roman" panose="02020603050405020304" pitchFamily="18" charset="0"/>
              </a:rPr>
              <a:t>并联</a:t>
            </a:r>
            <a:r>
              <a:rPr lang="zh-CN" altLang="en-US" sz="2000" dirty="0">
                <a:latin typeface="Times New Roman" panose="02020603050405020304" pitchFamily="18" charset="0"/>
              </a:rPr>
              <a:t>，假设两个电阻上的噪声电势是统计独立的。</a:t>
            </a:r>
            <a:endParaRPr lang="zh-CN" altLang="en-US" sz="2000" dirty="0">
              <a:latin typeface="Times New Roman" panose="02020603050405020304" pitchFamily="18" charset="0"/>
            </a:endParaRPr>
          </a:p>
        </p:txBody>
      </p:sp>
      <p:graphicFrame>
        <p:nvGraphicFramePr>
          <p:cNvPr id="404492" name="Object 12"/>
          <p:cNvGraphicFramePr/>
          <p:nvPr/>
        </p:nvGraphicFramePr>
        <p:xfrm>
          <a:off x="827088" y="2997200"/>
          <a:ext cx="1617662" cy="1039813"/>
        </p:xfrm>
        <a:graphic>
          <a:graphicData uri="http://schemas.openxmlformats.org/presentationml/2006/ole">
            <mc:AlternateContent xmlns:mc="http://schemas.openxmlformats.org/markup-compatibility/2006">
              <mc:Choice xmlns:v="urn:schemas-microsoft-com:vml" Requires="v">
                <p:oleObj spid="_x0000_s2" name="" r:id="rId1" imgW="1532890" imgH="986155" progId="Visio.Drawing.6">
                  <p:embed/>
                </p:oleObj>
              </mc:Choice>
              <mc:Fallback>
                <p:oleObj name="" r:id="rId1" imgW="1532890" imgH="986155" progId="Visio.Drawing.6">
                  <p:embed/>
                  <p:pic>
                    <p:nvPicPr>
                      <p:cNvPr id="0" name="图片 3325"/>
                      <p:cNvPicPr/>
                      <p:nvPr/>
                    </p:nvPicPr>
                    <p:blipFill>
                      <a:blip r:embed="rId2"/>
                      <a:stretch>
                        <a:fillRect/>
                      </a:stretch>
                    </p:blipFill>
                    <p:spPr>
                      <a:xfrm>
                        <a:off x="827088" y="2997200"/>
                        <a:ext cx="1617662" cy="1039813"/>
                      </a:xfrm>
                      <a:prstGeom prst="rect">
                        <a:avLst/>
                      </a:prstGeom>
                      <a:noFill/>
                      <a:ln w="38100">
                        <a:noFill/>
                        <a:miter/>
                      </a:ln>
                    </p:spPr>
                  </p:pic>
                </p:oleObj>
              </mc:Fallback>
            </mc:AlternateContent>
          </a:graphicData>
        </a:graphic>
      </p:graphicFrame>
      <p:graphicFrame>
        <p:nvGraphicFramePr>
          <p:cNvPr id="404493" name="Object 13"/>
          <p:cNvGraphicFramePr/>
          <p:nvPr/>
        </p:nvGraphicFramePr>
        <p:xfrm>
          <a:off x="2411413" y="3427413"/>
          <a:ext cx="571500" cy="119062"/>
        </p:xfrm>
        <a:graphic>
          <a:graphicData uri="http://schemas.openxmlformats.org/presentationml/2006/ole">
            <mc:AlternateContent xmlns:mc="http://schemas.openxmlformats.org/markup-compatibility/2006">
              <mc:Choice xmlns:v="urn:schemas-microsoft-com:vml" Requires="v">
                <p:oleObj spid="_x0000_s3" name="" r:id="rId3" imgW="546735" imgH="125730" progId="Visio.Drawing.6">
                  <p:embed/>
                </p:oleObj>
              </mc:Choice>
              <mc:Fallback>
                <p:oleObj name="" r:id="rId3" imgW="546735" imgH="125730" progId="Visio.Drawing.6">
                  <p:embed/>
                  <p:pic>
                    <p:nvPicPr>
                      <p:cNvPr id="0" name="图片 3330"/>
                      <p:cNvPicPr/>
                      <p:nvPr/>
                    </p:nvPicPr>
                    <p:blipFill>
                      <a:blip r:embed="rId4"/>
                      <a:stretch>
                        <a:fillRect/>
                      </a:stretch>
                    </p:blipFill>
                    <p:spPr>
                      <a:xfrm>
                        <a:off x="2411413" y="3427413"/>
                        <a:ext cx="571500" cy="119062"/>
                      </a:xfrm>
                      <a:prstGeom prst="rect">
                        <a:avLst/>
                      </a:prstGeom>
                      <a:noFill/>
                      <a:ln w="38100">
                        <a:noFill/>
                        <a:miter/>
                      </a:ln>
                    </p:spPr>
                  </p:pic>
                </p:oleObj>
              </mc:Fallback>
            </mc:AlternateContent>
          </a:graphicData>
        </a:graphic>
      </p:graphicFrame>
      <p:graphicFrame>
        <p:nvGraphicFramePr>
          <p:cNvPr id="404494" name="Object 14"/>
          <p:cNvGraphicFramePr/>
          <p:nvPr/>
        </p:nvGraphicFramePr>
        <p:xfrm>
          <a:off x="7019925" y="2566988"/>
          <a:ext cx="1658938" cy="1855787"/>
        </p:xfrm>
        <a:graphic>
          <a:graphicData uri="http://schemas.openxmlformats.org/presentationml/2006/ole">
            <mc:AlternateContent xmlns:mc="http://schemas.openxmlformats.org/markup-compatibility/2006">
              <mc:Choice xmlns:v="urn:schemas-microsoft-com:vml" Requires="v">
                <p:oleObj spid="_x0000_s4" name="" r:id="rId5" imgW="1595755" imgH="1783715" progId="Visio.Drawing.6">
                  <p:embed/>
                </p:oleObj>
              </mc:Choice>
              <mc:Fallback>
                <p:oleObj name="" r:id="rId5" imgW="1595755" imgH="1783715" progId="Visio.Drawing.6">
                  <p:embed/>
                  <p:pic>
                    <p:nvPicPr>
                      <p:cNvPr id="0" name="图片 3331"/>
                      <p:cNvPicPr/>
                      <p:nvPr/>
                    </p:nvPicPr>
                    <p:blipFill>
                      <a:blip r:embed="rId6"/>
                      <a:stretch>
                        <a:fillRect/>
                      </a:stretch>
                    </p:blipFill>
                    <p:spPr>
                      <a:xfrm>
                        <a:off x="7019925" y="2566988"/>
                        <a:ext cx="1658938" cy="1855787"/>
                      </a:xfrm>
                      <a:prstGeom prst="rect">
                        <a:avLst/>
                      </a:prstGeom>
                      <a:noFill/>
                      <a:ln w="38100">
                        <a:noFill/>
                        <a:miter/>
                      </a:ln>
                    </p:spPr>
                  </p:pic>
                </p:oleObj>
              </mc:Fallback>
            </mc:AlternateContent>
          </a:graphicData>
        </a:graphic>
      </p:graphicFrame>
      <p:graphicFrame>
        <p:nvGraphicFramePr>
          <p:cNvPr id="404495" name="Object 15"/>
          <p:cNvGraphicFramePr/>
          <p:nvPr/>
        </p:nvGraphicFramePr>
        <p:xfrm>
          <a:off x="6372225" y="3355975"/>
          <a:ext cx="571500" cy="119063"/>
        </p:xfrm>
        <a:graphic>
          <a:graphicData uri="http://schemas.openxmlformats.org/presentationml/2006/ole">
            <mc:AlternateContent xmlns:mc="http://schemas.openxmlformats.org/markup-compatibility/2006">
              <mc:Choice xmlns:v="urn:schemas-microsoft-com:vml" Requires="v">
                <p:oleObj spid="_x0000_s5" name="" r:id="rId7" imgW="546735" imgH="125730" progId="Visio.Drawing.6">
                  <p:embed/>
                </p:oleObj>
              </mc:Choice>
              <mc:Fallback>
                <p:oleObj name="" r:id="rId7" imgW="546735" imgH="125730" progId="Visio.Drawing.6">
                  <p:embed/>
                  <p:pic>
                    <p:nvPicPr>
                      <p:cNvPr id="0" name="图片 3326"/>
                      <p:cNvPicPr/>
                      <p:nvPr/>
                    </p:nvPicPr>
                    <p:blipFill>
                      <a:blip r:embed="rId4"/>
                      <a:stretch>
                        <a:fillRect/>
                      </a:stretch>
                    </p:blipFill>
                    <p:spPr>
                      <a:xfrm>
                        <a:off x="6372225" y="3355975"/>
                        <a:ext cx="571500" cy="119063"/>
                      </a:xfrm>
                      <a:prstGeom prst="rect">
                        <a:avLst/>
                      </a:prstGeom>
                      <a:noFill/>
                      <a:ln w="38100">
                        <a:noFill/>
                        <a:miter/>
                      </a:ln>
                    </p:spPr>
                  </p:pic>
                </p:oleObj>
              </mc:Fallback>
            </mc:AlternateContent>
          </a:graphicData>
        </a:graphic>
      </p:graphicFrame>
      <p:graphicFrame>
        <p:nvGraphicFramePr>
          <p:cNvPr id="404496" name="Object 16"/>
          <p:cNvGraphicFramePr/>
          <p:nvPr/>
        </p:nvGraphicFramePr>
        <p:xfrm>
          <a:off x="2987675" y="2924175"/>
          <a:ext cx="3149600" cy="1058863"/>
        </p:xfrm>
        <a:graphic>
          <a:graphicData uri="http://schemas.openxmlformats.org/presentationml/2006/ole">
            <mc:AlternateContent xmlns:mc="http://schemas.openxmlformats.org/markup-compatibility/2006">
              <mc:Choice xmlns:v="urn:schemas-microsoft-com:vml" Requires="v">
                <p:oleObj spid="_x0000_s6" name="" r:id="rId8" imgW="2976245" imgH="1003935" progId="Visio.Drawing.6">
                  <p:embed/>
                </p:oleObj>
              </mc:Choice>
              <mc:Fallback>
                <p:oleObj name="" r:id="rId8" imgW="2976245" imgH="1003935" progId="Visio.Drawing.6">
                  <p:embed/>
                  <p:pic>
                    <p:nvPicPr>
                      <p:cNvPr id="0" name="图片 3335"/>
                      <p:cNvPicPr/>
                      <p:nvPr/>
                    </p:nvPicPr>
                    <p:blipFill>
                      <a:blip r:embed="rId9"/>
                      <a:stretch>
                        <a:fillRect/>
                      </a:stretch>
                    </p:blipFill>
                    <p:spPr>
                      <a:xfrm>
                        <a:off x="2987675" y="2924175"/>
                        <a:ext cx="3149600" cy="1058863"/>
                      </a:xfrm>
                      <a:prstGeom prst="rect">
                        <a:avLst/>
                      </a:prstGeom>
                      <a:noFill/>
                      <a:ln w="38100">
                        <a:noFill/>
                        <a:miter/>
                      </a:ln>
                    </p:spPr>
                  </p:pic>
                </p:oleObj>
              </mc:Fallback>
            </mc:AlternateContent>
          </a:graphicData>
        </a:graphic>
      </p:graphicFrame>
      <p:grpSp>
        <p:nvGrpSpPr>
          <p:cNvPr id="7" name="Group 31"/>
          <p:cNvGrpSpPr/>
          <p:nvPr/>
        </p:nvGrpSpPr>
        <p:grpSpPr>
          <a:xfrm>
            <a:off x="684213" y="4221163"/>
            <a:ext cx="3238500" cy="493712"/>
            <a:chOff x="431" y="2659"/>
            <a:chExt cx="2040" cy="311"/>
          </a:xfrm>
        </p:grpSpPr>
        <p:sp>
          <p:nvSpPr>
            <p:cNvPr id="49176" name="Text Box 18"/>
            <p:cNvSpPr txBox="1"/>
            <p:nvPr/>
          </p:nvSpPr>
          <p:spPr>
            <a:xfrm>
              <a:off x="431" y="2693"/>
              <a:ext cx="1076" cy="250"/>
            </a:xfrm>
            <a:prstGeom prst="rect">
              <a:avLst/>
            </a:prstGeom>
            <a:noFill/>
            <a:ln w="9525">
              <a:noFill/>
            </a:ln>
          </p:spPr>
          <p:txBody>
            <a:bodyPr wrap="none">
              <a:spAutoFit/>
            </a:bodyPr>
            <a:lstStyle/>
            <a:p>
              <a:r>
                <a:rPr lang="zh-CN" altLang="en-US" sz="2000" dirty="0">
                  <a:latin typeface="Times New Roman" panose="02020603050405020304" pitchFamily="18" charset="0"/>
                </a:rPr>
                <a:t>总的电流为：</a:t>
              </a:r>
              <a:endParaRPr lang="zh-CN" altLang="en-US" sz="2000" dirty="0">
                <a:latin typeface="Times New Roman" panose="02020603050405020304" pitchFamily="18" charset="0"/>
              </a:endParaRPr>
            </a:p>
          </p:txBody>
        </p:sp>
        <p:graphicFrame>
          <p:nvGraphicFramePr>
            <p:cNvPr id="49162" name="Object 19"/>
            <p:cNvGraphicFramePr/>
            <p:nvPr/>
          </p:nvGraphicFramePr>
          <p:xfrm>
            <a:off x="1519" y="2659"/>
            <a:ext cx="952" cy="311"/>
          </p:xfrm>
          <a:graphic>
            <a:graphicData uri="http://schemas.openxmlformats.org/presentationml/2006/ole">
              <mc:AlternateContent xmlns:mc="http://schemas.openxmlformats.org/markup-compatibility/2006">
                <mc:Choice xmlns:v="urn:schemas-microsoft-com:vml" Requires="v">
                  <p:oleObj spid="_x0000_s8" name="" r:id="rId10" imgW="698500" imgH="228600" progId="Equation.DSMT4">
                    <p:embed/>
                  </p:oleObj>
                </mc:Choice>
                <mc:Fallback>
                  <p:oleObj name="" r:id="rId10" imgW="698500" imgH="228600" progId="Equation.DSMT4">
                    <p:embed/>
                    <p:pic>
                      <p:nvPicPr>
                        <p:cNvPr id="0" name="图片 3328"/>
                        <p:cNvPicPr/>
                        <p:nvPr/>
                      </p:nvPicPr>
                      <p:blipFill>
                        <a:blip r:embed="rId11"/>
                        <a:stretch>
                          <a:fillRect/>
                        </a:stretch>
                      </p:blipFill>
                      <p:spPr>
                        <a:xfrm>
                          <a:off x="1519" y="2659"/>
                          <a:ext cx="952" cy="311"/>
                        </a:xfrm>
                        <a:prstGeom prst="rect">
                          <a:avLst/>
                        </a:prstGeom>
                        <a:noFill/>
                        <a:ln w="38100">
                          <a:noFill/>
                          <a:miter/>
                        </a:ln>
                      </p:spPr>
                    </p:pic>
                  </p:oleObj>
                </mc:Fallback>
              </mc:AlternateContent>
            </a:graphicData>
          </a:graphic>
        </p:graphicFrame>
      </p:grpSp>
      <p:grpSp>
        <p:nvGrpSpPr>
          <p:cNvPr id="9" name="Group 32"/>
          <p:cNvGrpSpPr/>
          <p:nvPr/>
        </p:nvGrpSpPr>
        <p:grpSpPr>
          <a:xfrm>
            <a:off x="827088" y="4797425"/>
            <a:ext cx="7110412" cy="684213"/>
            <a:chOff x="521" y="3022"/>
            <a:chExt cx="4479" cy="431"/>
          </a:xfrm>
        </p:grpSpPr>
        <p:graphicFrame>
          <p:nvGraphicFramePr>
            <p:cNvPr id="49161" name="Object 22"/>
            <p:cNvGraphicFramePr/>
            <p:nvPr/>
          </p:nvGraphicFramePr>
          <p:xfrm>
            <a:off x="1066" y="3022"/>
            <a:ext cx="3934" cy="431"/>
          </p:xfrm>
          <a:graphic>
            <a:graphicData uri="http://schemas.openxmlformats.org/presentationml/2006/ole">
              <mc:AlternateContent xmlns:mc="http://schemas.openxmlformats.org/markup-compatibility/2006">
                <mc:Choice xmlns:v="urn:schemas-microsoft-com:vml" Requires="v">
                  <p:oleObj spid="_x0000_s10" name="" r:id="rId12" imgW="3592830" imgH="393700" progId="Equation.DSMT4">
                    <p:embed/>
                  </p:oleObj>
                </mc:Choice>
                <mc:Fallback>
                  <p:oleObj name="" r:id="rId12" imgW="3592830" imgH="393700" progId="Equation.DSMT4">
                    <p:embed/>
                    <p:pic>
                      <p:nvPicPr>
                        <p:cNvPr id="0" name="图片 3332"/>
                        <p:cNvPicPr/>
                        <p:nvPr/>
                      </p:nvPicPr>
                      <p:blipFill>
                        <a:blip r:embed="rId13"/>
                        <a:stretch>
                          <a:fillRect/>
                        </a:stretch>
                      </p:blipFill>
                      <p:spPr>
                        <a:xfrm>
                          <a:off x="1066" y="3022"/>
                          <a:ext cx="3934" cy="431"/>
                        </a:xfrm>
                        <a:prstGeom prst="rect">
                          <a:avLst/>
                        </a:prstGeom>
                        <a:noFill/>
                        <a:ln w="38100">
                          <a:noFill/>
                          <a:miter/>
                        </a:ln>
                      </p:spPr>
                    </p:pic>
                  </p:oleObj>
                </mc:Fallback>
              </mc:AlternateContent>
            </a:graphicData>
          </a:graphic>
        </p:graphicFrame>
        <p:sp>
          <p:nvSpPr>
            <p:cNvPr id="49175" name="Text Box 23"/>
            <p:cNvSpPr txBox="1"/>
            <p:nvPr/>
          </p:nvSpPr>
          <p:spPr>
            <a:xfrm>
              <a:off x="521" y="3100"/>
              <a:ext cx="436" cy="250"/>
            </a:xfrm>
            <a:prstGeom prst="rect">
              <a:avLst/>
            </a:prstGeom>
            <a:noFill/>
            <a:ln w="9525">
              <a:noFill/>
            </a:ln>
          </p:spPr>
          <p:txBody>
            <a:bodyPr wrap="none">
              <a:spAutoFit/>
            </a:bodyPr>
            <a:lstStyle/>
            <a:p>
              <a:r>
                <a:rPr lang="zh-CN" altLang="en-US" sz="2000" dirty="0">
                  <a:latin typeface="Times New Roman" panose="02020603050405020304" pitchFamily="18" charset="0"/>
                </a:rPr>
                <a:t>则：</a:t>
              </a:r>
              <a:endParaRPr lang="zh-CN" altLang="en-US" sz="2000" dirty="0">
                <a:latin typeface="Times New Roman" panose="02020603050405020304" pitchFamily="18" charset="0"/>
              </a:endParaRPr>
            </a:p>
          </p:txBody>
        </p:sp>
      </p:grpSp>
      <p:grpSp>
        <p:nvGrpSpPr>
          <p:cNvPr id="11" name="Group 33"/>
          <p:cNvGrpSpPr/>
          <p:nvPr/>
        </p:nvGrpSpPr>
        <p:grpSpPr>
          <a:xfrm>
            <a:off x="900113" y="5589588"/>
            <a:ext cx="6118225" cy="506412"/>
            <a:chOff x="567" y="3521"/>
            <a:chExt cx="3854" cy="319"/>
          </a:xfrm>
        </p:grpSpPr>
        <p:graphicFrame>
          <p:nvGraphicFramePr>
            <p:cNvPr id="49160" name="Object 25"/>
            <p:cNvGraphicFramePr/>
            <p:nvPr/>
          </p:nvGraphicFramePr>
          <p:xfrm>
            <a:off x="1020" y="3521"/>
            <a:ext cx="3401" cy="319"/>
          </p:xfrm>
          <a:graphic>
            <a:graphicData uri="http://schemas.openxmlformats.org/presentationml/2006/ole">
              <mc:AlternateContent xmlns:mc="http://schemas.openxmlformats.org/markup-compatibility/2006">
                <mc:Choice xmlns:v="urn:schemas-microsoft-com:vml" Requires="v">
                  <p:oleObj spid="_x0000_s12" name="" r:id="rId14" imgW="2576830" imgH="241300" progId="Equation.DSMT4">
                    <p:embed/>
                  </p:oleObj>
                </mc:Choice>
                <mc:Fallback>
                  <p:oleObj name="" r:id="rId14" imgW="2576830" imgH="241300" progId="Equation.DSMT4">
                    <p:embed/>
                    <p:pic>
                      <p:nvPicPr>
                        <p:cNvPr id="0" name="图片 3320"/>
                        <p:cNvPicPr/>
                        <p:nvPr/>
                      </p:nvPicPr>
                      <p:blipFill>
                        <a:blip r:embed="rId15"/>
                        <a:stretch>
                          <a:fillRect/>
                        </a:stretch>
                      </p:blipFill>
                      <p:spPr>
                        <a:xfrm>
                          <a:off x="1020" y="3521"/>
                          <a:ext cx="3401" cy="319"/>
                        </a:xfrm>
                        <a:prstGeom prst="rect">
                          <a:avLst/>
                        </a:prstGeom>
                        <a:noFill/>
                        <a:ln w="38100">
                          <a:noFill/>
                          <a:miter/>
                        </a:ln>
                      </p:spPr>
                    </p:pic>
                  </p:oleObj>
                </mc:Fallback>
              </mc:AlternateContent>
            </a:graphicData>
          </a:graphic>
        </p:graphicFrame>
        <p:sp>
          <p:nvSpPr>
            <p:cNvPr id="49174" name="Text Box 26"/>
            <p:cNvSpPr txBox="1"/>
            <p:nvPr/>
          </p:nvSpPr>
          <p:spPr>
            <a:xfrm>
              <a:off x="567" y="3554"/>
              <a:ext cx="276" cy="250"/>
            </a:xfrm>
            <a:prstGeom prst="rect">
              <a:avLst/>
            </a:prstGeom>
            <a:noFill/>
            <a:ln w="9525">
              <a:noFill/>
            </a:ln>
          </p:spPr>
          <p:txBody>
            <a:bodyPr wrap="none">
              <a:spAutoFit/>
            </a:bodyPr>
            <a:lstStyle/>
            <a:p>
              <a:r>
                <a:rPr lang="zh-CN" altLang="en-US" sz="2000" dirty="0">
                  <a:latin typeface="Times New Roman" panose="02020603050405020304" pitchFamily="18" charset="0"/>
                </a:rPr>
                <a:t>故</a:t>
              </a:r>
              <a:endParaRPr lang="zh-CN" altLang="en-US" sz="2000" dirty="0">
                <a:latin typeface="Times New Roman" panose="02020603050405020304" pitchFamily="18" charset="0"/>
              </a:endParaRPr>
            </a:p>
          </p:txBody>
        </p:sp>
      </p:grpSp>
      <p:grpSp>
        <p:nvGrpSpPr>
          <p:cNvPr id="13" name="Group 30"/>
          <p:cNvGrpSpPr/>
          <p:nvPr/>
        </p:nvGrpSpPr>
        <p:grpSpPr>
          <a:xfrm>
            <a:off x="4065588" y="1268413"/>
            <a:ext cx="4899025" cy="930275"/>
            <a:chOff x="2561" y="799"/>
            <a:chExt cx="3086" cy="586"/>
          </a:xfrm>
        </p:grpSpPr>
        <p:sp>
          <p:nvSpPr>
            <p:cNvPr id="49173" name="Text Box 28"/>
            <p:cNvSpPr txBox="1"/>
            <p:nvPr/>
          </p:nvSpPr>
          <p:spPr>
            <a:xfrm>
              <a:off x="3061" y="799"/>
              <a:ext cx="1880" cy="250"/>
            </a:xfrm>
            <a:prstGeom prst="rect">
              <a:avLst/>
            </a:prstGeom>
            <a:solidFill>
              <a:schemeClr val="accent1">
                <a:lumMod val="20000"/>
                <a:lumOff val="80000"/>
              </a:schemeClr>
            </a:solidFill>
            <a:ln w="9525">
              <a:noFill/>
            </a:ln>
          </p:spPr>
          <p:txBody>
            <a:bodyPr wrap="none">
              <a:spAutoFit/>
            </a:bodyPr>
            <a:lstStyle/>
            <a:p>
              <a:r>
                <a:rPr lang="zh-CN" altLang="en-US" sz="2000" dirty="0">
                  <a:solidFill>
                    <a:schemeClr val="accent2"/>
                  </a:solidFill>
                  <a:latin typeface="Times New Roman" panose="02020603050405020304" pitchFamily="18" charset="0"/>
                </a:rPr>
                <a:t>推广</a:t>
              </a:r>
              <a:r>
                <a:rPr lang="zh-CN" altLang="en-US" sz="2000" dirty="0">
                  <a:latin typeface="Times New Roman" panose="02020603050405020304" pitchFamily="18" charset="0"/>
                </a:rPr>
                <a:t>： </a:t>
              </a:r>
              <a:r>
                <a:rPr lang="en-US" altLang="zh-CN" sz="2000" dirty="0">
                  <a:latin typeface="Times New Roman" panose="02020603050405020304" pitchFamily="18" charset="0"/>
                </a:rPr>
                <a:t>m</a:t>
              </a:r>
              <a:r>
                <a:rPr lang="zh-CN" altLang="en-US" sz="2000" dirty="0">
                  <a:latin typeface="Times New Roman" panose="02020603050405020304" pitchFamily="18" charset="0"/>
                </a:rPr>
                <a:t>个电阻并联，则</a:t>
              </a:r>
              <a:endParaRPr lang="zh-CN" altLang="en-US" sz="2000" dirty="0">
                <a:latin typeface="Times New Roman" panose="02020603050405020304" pitchFamily="18" charset="0"/>
              </a:endParaRPr>
            </a:p>
          </p:txBody>
        </p:sp>
        <p:graphicFrame>
          <p:nvGraphicFramePr>
            <p:cNvPr id="49159" name="Object 29"/>
            <p:cNvGraphicFramePr/>
            <p:nvPr/>
          </p:nvGraphicFramePr>
          <p:xfrm>
            <a:off x="2561" y="1071"/>
            <a:ext cx="3086" cy="314"/>
          </p:xfrm>
          <a:graphic>
            <a:graphicData uri="http://schemas.openxmlformats.org/presentationml/2006/ole">
              <mc:AlternateContent xmlns:mc="http://schemas.openxmlformats.org/markup-compatibility/2006">
                <mc:Choice xmlns:v="urn:schemas-microsoft-com:vml" Requires="v">
                  <p:oleObj spid="_x0000_s14" name="" r:id="rId16" imgW="2552700" imgH="241300" progId="Equation.DSMT4">
                    <p:embed/>
                  </p:oleObj>
                </mc:Choice>
                <mc:Fallback>
                  <p:oleObj name="" r:id="rId16" imgW="2552700" imgH="241300" progId="Equation.DSMT4">
                    <p:embed/>
                    <p:pic>
                      <p:nvPicPr>
                        <p:cNvPr id="0" name="图片 3318"/>
                        <p:cNvPicPr/>
                        <p:nvPr/>
                      </p:nvPicPr>
                      <p:blipFill>
                        <a:blip r:embed="rId17"/>
                        <a:stretch>
                          <a:fillRect/>
                        </a:stretch>
                      </p:blipFill>
                      <p:spPr>
                        <a:xfrm>
                          <a:off x="2561" y="1071"/>
                          <a:ext cx="3086" cy="314"/>
                        </a:xfrm>
                        <a:prstGeom prst="rect">
                          <a:avLst/>
                        </a:prstGeom>
                        <a:solidFill>
                          <a:schemeClr val="accent1">
                            <a:lumMod val="20000"/>
                            <a:lumOff val="80000"/>
                          </a:schemeClr>
                        </a:solidFill>
                        <a:ln w="38100">
                          <a:noFill/>
                          <a:miter/>
                        </a:ln>
                      </p:spPr>
                    </p:pic>
                  </p:oleObj>
                </mc:Fallback>
              </mc:AlternateContent>
            </a:graphicData>
          </a:graphic>
        </p:graphicFrame>
      </p:grpSp>
      <p:sp>
        <p:nvSpPr>
          <p:cNvPr id="15" name="文本框 14"/>
          <p:cNvSpPr txBox="1"/>
          <p:nvPr/>
        </p:nvSpPr>
        <p:spPr>
          <a:xfrm>
            <a:off x="971550" y="6202045"/>
            <a:ext cx="7522845" cy="460375"/>
          </a:xfrm>
          <a:prstGeom prst="rect">
            <a:avLst/>
          </a:prstGeom>
          <a:noFill/>
        </p:spPr>
        <p:txBody>
          <a:bodyPr wrap="square" rtlCol="0">
            <a:spAutoFit/>
          </a:bodyPr>
          <a:lstStyle/>
          <a:p>
            <a:r>
              <a:rPr lang="zh-CN" altLang="en-US" b="1">
                <a:solidFill>
                  <a:srgbClr val="C00000"/>
                </a:solidFill>
              </a:rPr>
              <a:t>只要噪声源相互独立，则总的噪声服从均方叠加原则</a:t>
            </a:r>
            <a:endParaRPr lang="zh-CN" altLang="en-US" b="1">
              <a:solidFill>
                <a:srgbClr val="C00000"/>
              </a:solidFill>
            </a:endParaRPr>
          </a:p>
        </p:txBody>
      </p:sp>
      <p:grpSp>
        <p:nvGrpSpPr>
          <p:cNvPr id="16" name="Group 19"/>
          <p:cNvGrpSpPr/>
          <p:nvPr/>
        </p:nvGrpSpPr>
        <p:grpSpPr>
          <a:xfrm>
            <a:off x="1784668" y="405766"/>
            <a:ext cx="5334000" cy="519113"/>
            <a:chOff x="1306" y="452"/>
            <a:chExt cx="3360" cy="327"/>
          </a:xfrm>
        </p:grpSpPr>
        <p:sp>
          <p:nvSpPr>
            <p:cNvPr id="17" name="Rectangle 20"/>
            <p:cNvSpPr/>
            <p:nvPr/>
          </p:nvSpPr>
          <p:spPr>
            <a:xfrm>
              <a:off x="1306" y="45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2.3   </a:t>
              </a:r>
              <a:r>
                <a:rPr lang="zh-CN" altLang="en-US" sz="2800" b="1" dirty="0">
                  <a:solidFill>
                    <a:schemeClr val="accent2"/>
                  </a:solidFill>
                  <a:latin typeface="Times New Roman" panose="02020603050405020304" pitchFamily="18" charset="0"/>
                </a:rPr>
                <a:t>电子噪 声及其特性</a:t>
              </a:r>
              <a:endParaRPr lang="zh-CN" altLang="en-US" sz="2800" b="1" dirty="0">
                <a:solidFill>
                  <a:schemeClr val="accent2"/>
                </a:solidFill>
                <a:latin typeface="Times New Roman" panose="02020603050405020304" pitchFamily="18" charset="0"/>
              </a:endParaRPr>
            </a:p>
          </p:txBody>
        </p:sp>
        <p:sp>
          <p:nvSpPr>
            <p:cNvPr id="18" name="Line 21"/>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4" name="Text Box 4"/>
          <p:cNvSpPr txBox="1"/>
          <p:nvPr/>
        </p:nvSpPr>
        <p:spPr>
          <a:xfrm>
            <a:off x="509588" y="1276668"/>
            <a:ext cx="3181350" cy="457200"/>
          </a:xfrm>
          <a:prstGeom prst="rect">
            <a:avLst/>
          </a:prstGeom>
          <a:noFill/>
          <a:ln w="9525">
            <a:noFill/>
          </a:ln>
        </p:spPr>
        <p:txBody>
          <a:bodyPr wrap="none">
            <a:spAutoFit/>
          </a:bodyPr>
          <a:lstStyle/>
          <a:p>
            <a:r>
              <a:rPr lang="zh-CN" altLang="en-US" sz="2000" b="1" dirty="0">
                <a:solidFill>
                  <a:srgbClr val="FF00FF"/>
                </a:solidFill>
                <a:latin typeface="Times New Roman" panose="02020603050405020304" pitchFamily="18" charset="0"/>
              </a:rPr>
              <a:t>（</a:t>
            </a:r>
            <a:r>
              <a:rPr lang="en-US" altLang="zh-CN" sz="2000" b="1" dirty="0">
                <a:solidFill>
                  <a:srgbClr val="FF00FF"/>
                </a:solidFill>
                <a:latin typeface="Times New Roman" panose="02020603050405020304" pitchFamily="18" charset="0"/>
              </a:rPr>
              <a:t>3</a:t>
            </a:r>
            <a:r>
              <a:rPr lang="zh-CN" altLang="en-US" sz="2000" b="1" dirty="0">
                <a:solidFill>
                  <a:srgbClr val="FF00FF"/>
                </a:solidFill>
                <a:latin typeface="Times New Roman" panose="02020603050405020304" pitchFamily="18" charset="0"/>
              </a:rPr>
              <a:t>）线性电路中的热噪声</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sp>
        <p:nvSpPr>
          <p:cNvPr id="50185" name="Text Box 5"/>
          <p:cNvSpPr txBox="1"/>
          <p:nvPr/>
        </p:nvSpPr>
        <p:spPr>
          <a:xfrm>
            <a:off x="179388" y="908050"/>
            <a:ext cx="3232150" cy="396875"/>
          </a:xfrm>
          <a:prstGeom prst="rect">
            <a:avLst/>
          </a:prstGeom>
          <a:noFill/>
          <a:ln w="9525">
            <a:noFill/>
          </a:ln>
        </p:spPr>
        <p:txBody>
          <a:bodyPr wrap="none">
            <a:spAutoFit/>
          </a:bodyPr>
          <a:lstStyle/>
          <a:p>
            <a:r>
              <a:rPr lang="zh-CN" altLang="en-US" sz="2000" dirty="0">
                <a:solidFill>
                  <a:srgbClr val="FF0066"/>
                </a:solidFill>
                <a:latin typeface="Times New Roman" panose="02020603050405020304" pitchFamily="18" charset="0"/>
              </a:rPr>
              <a:t>二、电子噪声的来源与特性</a:t>
            </a:r>
            <a:endParaRPr lang="zh-CN" altLang="en-US" sz="2000" dirty="0">
              <a:solidFill>
                <a:srgbClr val="FF0066"/>
              </a:solidFill>
              <a:latin typeface="Times New Roman" panose="02020603050405020304" pitchFamily="18" charset="0"/>
            </a:endParaRPr>
          </a:p>
        </p:txBody>
      </p:sp>
      <p:sp>
        <p:nvSpPr>
          <p:cNvPr id="405514" name="Text Box 10"/>
          <p:cNvSpPr txBox="1"/>
          <p:nvPr/>
        </p:nvSpPr>
        <p:spPr>
          <a:xfrm>
            <a:off x="1037432" y="1790384"/>
            <a:ext cx="2738437" cy="396875"/>
          </a:xfrm>
          <a:prstGeom prst="rect">
            <a:avLst/>
          </a:prstGeom>
          <a:noFill/>
          <a:ln w="9525">
            <a:noFill/>
          </a:ln>
        </p:spPr>
        <p:txBody>
          <a:bodyPr wrap="none">
            <a:spAutoFit/>
          </a:bodyPr>
          <a:lstStyle/>
          <a:p>
            <a:pPr marL="457200" indent="-457200"/>
            <a:r>
              <a:rPr lang="en-US" altLang="zh-CN" sz="2000" b="1" dirty="0">
                <a:solidFill>
                  <a:srgbClr val="CC9900"/>
                </a:solidFill>
                <a:latin typeface="Times New Roman" panose="02020603050405020304" pitchFamily="18" charset="0"/>
              </a:rPr>
              <a:t>b. </a:t>
            </a:r>
            <a:r>
              <a:rPr lang="zh-CN" altLang="en-US" sz="2000" b="1" dirty="0">
                <a:solidFill>
                  <a:srgbClr val="CC9900"/>
                </a:solidFill>
                <a:latin typeface="Times New Roman" panose="02020603050405020304" pitchFamily="18" charset="0"/>
              </a:rPr>
              <a:t>热噪声通过线形网络</a:t>
            </a:r>
            <a:endParaRPr lang="zh-CN" altLang="en-US" sz="2000" b="1" dirty="0">
              <a:solidFill>
                <a:srgbClr val="CC9900"/>
              </a:solidFill>
              <a:latin typeface="Times New Roman" panose="02020603050405020304" pitchFamily="18" charset="0"/>
            </a:endParaRPr>
          </a:p>
        </p:txBody>
      </p:sp>
      <p:grpSp>
        <p:nvGrpSpPr>
          <p:cNvPr id="3" name="Group 11"/>
          <p:cNvGrpSpPr/>
          <p:nvPr/>
        </p:nvGrpSpPr>
        <p:grpSpPr>
          <a:xfrm>
            <a:off x="4140200" y="1125538"/>
            <a:ext cx="4679950" cy="1476375"/>
            <a:chOff x="1247" y="845"/>
            <a:chExt cx="2948" cy="930"/>
          </a:xfrm>
        </p:grpSpPr>
        <p:graphicFrame>
          <p:nvGraphicFramePr>
            <p:cNvPr id="50183" name="Object 12"/>
            <p:cNvGraphicFramePr/>
            <p:nvPr/>
          </p:nvGraphicFramePr>
          <p:xfrm>
            <a:off x="1247" y="845"/>
            <a:ext cx="2948" cy="637"/>
          </p:xfrm>
          <a:graphic>
            <a:graphicData uri="http://schemas.openxmlformats.org/presentationml/2006/ole">
              <mc:AlternateContent xmlns:mc="http://schemas.openxmlformats.org/markup-compatibility/2006">
                <mc:Choice xmlns:v="urn:schemas-microsoft-com:vml" Requires="v">
                  <p:oleObj spid="_x0000_s2" name="" r:id="rId1" imgW="1844040" imgH="397510" progId="Visio.Drawing.4">
                    <p:embed/>
                  </p:oleObj>
                </mc:Choice>
                <mc:Fallback>
                  <p:oleObj name="" r:id="rId1" imgW="1844040" imgH="397510" progId="Visio.Drawing.4">
                    <p:embed/>
                    <p:pic>
                      <p:nvPicPr>
                        <p:cNvPr id="0" name="图片 3336"/>
                        <p:cNvPicPr/>
                        <p:nvPr/>
                      </p:nvPicPr>
                      <p:blipFill>
                        <a:blip r:embed="rId2"/>
                        <a:stretch>
                          <a:fillRect/>
                        </a:stretch>
                      </p:blipFill>
                      <p:spPr>
                        <a:xfrm>
                          <a:off x="1247" y="845"/>
                          <a:ext cx="2948" cy="637"/>
                        </a:xfrm>
                        <a:prstGeom prst="rect">
                          <a:avLst/>
                        </a:prstGeom>
                        <a:noFill/>
                        <a:ln w="38100">
                          <a:noFill/>
                          <a:miter/>
                        </a:ln>
                      </p:spPr>
                    </p:pic>
                  </p:oleObj>
                </mc:Fallback>
              </mc:AlternateContent>
            </a:graphicData>
          </a:graphic>
        </p:graphicFrame>
        <p:sp>
          <p:nvSpPr>
            <p:cNvPr id="50197" name="Text Box 13"/>
            <p:cNvSpPr txBox="1"/>
            <p:nvPr/>
          </p:nvSpPr>
          <p:spPr>
            <a:xfrm>
              <a:off x="1746" y="1525"/>
              <a:ext cx="2223" cy="250"/>
            </a:xfrm>
            <a:prstGeom prst="rect">
              <a:avLst/>
            </a:prstGeom>
            <a:noFill/>
            <a:ln w="9525">
              <a:noFill/>
            </a:ln>
          </p:spPr>
          <p:txBody>
            <a:bodyPr>
              <a:spAutoFit/>
            </a:bodyPr>
            <a:lstStyle/>
            <a:p>
              <a:pPr>
                <a:spcBef>
                  <a:spcPct val="50000"/>
                </a:spcBef>
              </a:pPr>
              <a:r>
                <a:rPr lang="zh-CN" altLang="en-US" sz="2000" dirty="0">
                  <a:latin typeface="Times New Roman" panose="02020603050405020304" pitchFamily="18" charset="0"/>
                </a:rPr>
                <a:t>热噪声通过线路电路的模型 </a:t>
              </a:r>
              <a:endParaRPr lang="zh-CN" altLang="en-US" sz="2000" dirty="0">
                <a:latin typeface="Times New Roman" panose="02020603050405020304" pitchFamily="18" charset="0"/>
              </a:endParaRPr>
            </a:p>
          </p:txBody>
        </p:sp>
      </p:grpSp>
      <p:sp>
        <p:nvSpPr>
          <p:cNvPr id="405518" name="Text Box 14"/>
          <p:cNvSpPr txBox="1"/>
          <p:nvPr/>
        </p:nvSpPr>
        <p:spPr>
          <a:xfrm>
            <a:off x="323215" y="2661285"/>
            <a:ext cx="8643620" cy="706755"/>
          </a:xfrm>
          <a:prstGeom prst="rect">
            <a:avLst/>
          </a:prstGeom>
          <a:noFill/>
          <a:ln w="9525">
            <a:noFill/>
          </a:ln>
        </p:spPr>
        <p:txBody>
          <a:bodyPr wrap="square">
            <a:spAutoFit/>
          </a:bodyPr>
          <a:lstStyle/>
          <a:p>
            <a:pPr algn="l"/>
            <a:r>
              <a:rPr lang="zh-CN" altLang="en-US" sz="2000" dirty="0">
                <a:latin typeface="Times New Roman" panose="02020603050405020304" pitchFamily="18" charset="0"/>
              </a:rPr>
              <a:t>对单频信号来说，输出电压</a:t>
            </a:r>
            <a:r>
              <a:rPr lang="zh-CN" altLang="en-US" sz="2000" dirty="0">
                <a:sym typeface="+mn-ea"/>
              </a:rPr>
              <a:t>与输入电压的均方值</a:t>
            </a:r>
            <a:r>
              <a:rPr lang="zh-CN" altLang="en-US" sz="2000" dirty="0">
                <a:latin typeface="Times New Roman" panose="02020603050405020304" pitchFamily="18" charset="0"/>
              </a:rPr>
              <a:t>、输出电流与</a:t>
            </a:r>
            <a:r>
              <a:rPr lang="zh-CN" altLang="en-US" sz="2000" dirty="0">
                <a:latin typeface="Times New Roman" panose="02020603050405020304" pitchFamily="18" charset="0"/>
              </a:rPr>
              <a:t>输入电流的均方值的比值，与</a:t>
            </a:r>
            <a:r>
              <a:rPr lang="en-US" altLang="zh-CN" sz="2000" dirty="0">
                <a:latin typeface="Times New Roman" panose="02020603050405020304" pitchFamily="18" charset="0"/>
              </a:rPr>
              <a:t>               </a:t>
            </a:r>
            <a:r>
              <a:rPr lang="zh-CN" altLang="en-US" sz="2000" dirty="0">
                <a:latin typeface="Times New Roman" panose="02020603050405020304" pitchFamily="18" charset="0"/>
              </a:rPr>
              <a:t>成正比，因此有：</a:t>
            </a:r>
            <a:endParaRPr lang="zh-CN" altLang="en-US" sz="2000" dirty="0">
              <a:latin typeface="Times New Roman" panose="02020603050405020304" pitchFamily="18" charset="0"/>
            </a:endParaRPr>
          </a:p>
        </p:txBody>
      </p:sp>
      <p:graphicFrame>
        <p:nvGraphicFramePr>
          <p:cNvPr id="405519" name="Object 15"/>
          <p:cNvGraphicFramePr/>
          <p:nvPr/>
        </p:nvGraphicFramePr>
        <p:xfrm>
          <a:off x="2773680" y="3435985"/>
          <a:ext cx="2560955" cy="444500"/>
        </p:xfrm>
        <a:graphic>
          <a:graphicData uri="http://schemas.openxmlformats.org/presentationml/2006/ole">
            <mc:AlternateContent xmlns:mc="http://schemas.openxmlformats.org/markup-compatibility/2006">
              <mc:Choice xmlns:v="urn:schemas-microsoft-com:vml" Requires="v">
                <p:oleObj spid="_x0000_s4" name="" r:id="rId3" imgW="1205865" imgH="241300" progId="Equation.DSMT4">
                  <p:embed/>
                </p:oleObj>
              </mc:Choice>
              <mc:Fallback>
                <p:oleObj name="" r:id="rId3" imgW="1205865" imgH="241300" progId="Equation.DSMT4">
                  <p:embed/>
                  <p:pic>
                    <p:nvPicPr>
                      <p:cNvPr id="0" name="图片 3322"/>
                      <p:cNvPicPr/>
                      <p:nvPr/>
                    </p:nvPicPr>
                    <p:blipFill>
                      <a:blip r:embed="rId4"/>
                      <a:stretch>
                        <a:fillRect/>
                      </a:stretch>
                    </p:blipFill>
                    <p:spPr>
                      <a:xfrm>
                        <a:off x="2773680" y="3435985"/>
                        <a:ext cx="2560955" cy="444500"/>
                      </a:xfrm>
                      <a:prstGeom prst="rect">
                        <a:avLst/>
                      </a:prstGeom>
                      <a:noFill/>
                      <a:ln w="38100">
                        <a:noFill/>
                        <a:miter/>
                      </a:ln>
                    </p:spPr>
                  </p:pic>
                </p:oleObj>
              </mc:Fallback>
            </mc:AlternateContent>
          </a:graphicData>
        </a:graphic>
      </p:graphicFrame>
      <p:grpSp>
        <p:nvGrpSpPr>
          <p:cNvPr id="5" name="Group 26"/>
          <p:cNvGrpSpPr/>
          <p:nvPr/>
        </p:nvGrpSpPr>
        <p:grpSpPr>
          <a:xfrm>
            <a:off x="4067810" y="4017328"/>
            <a:ext cx="3717925" cy="706438"/>
            <a:chOff x="3124" y="2523"/>
            <a:chExt cx="2342" cy="445"/>
          </a:xfrm>
        </p:grpSpPr>
        <p:sp>
          <p:nvSpPr>
            <p:cNvPr id="50196" name="Text Box 17"/>
            <p:cNvSpPr txBox="1"/>
            <p:nvPr/>
          </p:nvSpPr>
          <p:spPr>
            <a:xfrm>
              <a:off x="3124" y="2523"/>
              <a:ext cx="2342" cy="445"/>
            </a:xfrm>
            <a:prstGeom prst="rect">
              <a:avLst/>
            </a:prstGeom>
            <a:noFill/>
            <a:ln w="9525">
              <a:noFill/>
            </a:ln>
          </p:spPr>
          <p:txBody>
            <a:bodyPr wrap="square">
              <a:spAutoFit/>
            </a:bodyPr>
            <a:lstStyle/>
            <a:p>
              <a:r>
                <a:rPr lang="zh-CN" altLang="en-US" sz="2000" dirty="0">
                  <a:latin typeface="Times New Roman" panose="02020603050405020304" pitchFamily="18" charset="0"/>
                </a:rPr>
                <a:t>其中       和      分别是输出、输入端噪声均方电压谱密度</a:t>
              </a:r>
              <a:endParaRPr lang="zh-CN" altLang="en-US" sz="2000" dirty="0">
                <a:latin typeface="Times New Roman" panose="02020603050405020304" pitchFamily="18" charset="0"/>
              </a:endParaRPr>
            </a:p>
          </p:txBody>
        </p:sp>
        <p:graphicFrame>
          <p:nvGraphicFramePr>
            <p:cNvPr id="50181" name="Object 18"/>
            <p:cNvGraphicFramePr/>
            <p:nvPr/>
          </p:nvGraphicFramePr>
          <p:xfrm>
            <a:off x="3969" y="2525"/>
            <a:ext cx="228" cy="240"/>
          </p:xfrm>
          <a:graphic>
            <a:graphicData uri="http://schemas.openxmlformats.org/presentationml/2006/ole">
              <mc:AlternateContent xmlns:mc="http://schemas.openxmlformats.org/markup-compatibility/2006">
                <mc:Choice xmlns:v="urn:schemas-microsoft-com:vml" Requires="v">
                  <p:oleObj spid="_x0000_s6" name="" r:id="rId5" imgW="215900" imgH="228600" progId="Equation.DSMT4">
                    <p:embed/>
                  </p:oleObj>
                </mc:Choice>
                <mc:Fallback>
                  <p:oleObj name="" r:id="rId5" imgW="215900" imgH="228600" progId="Equation.DSMT4">
                    <p:embed/>
                    <p:pic>
                      <p:nvPicPr>
                        <p:cNvPr id="0" name="图片 3329"/>
                        <p:cNvPicPr/>
                        <p:nvPr/>
                      </p:nvPicPr>
                      <p:blipFill>
                        <a:blip r:embed="rId6"/>
                        <a:stretch>
                          <a:fillRect/>
                        </a:stretch>
                      </p:blipFill>
                      <p:spPr>
                        <a:xfrm>
                          <a:off x="3969" y="2525"/>
                          <a:ext cx="228" cy="240"/>
                        </a:xfrm>
                        <a:prstGeom prst="rect">
                          <a:avLst/>
                        </a:prstGeom>
                        <a:noFill/>
                        <a:ln w="38100">
                          <a:noFill/>
                          <a:miter/>
                        </a:ln>
                      </p:spPr>
                    </p:pic>
                  </p:oleObj>
                </mc:Fallback>
              </mc:AlternateContent>
            </a:graphicData>
          </a:graphic>
        </p:graphicFrame>
        <p:graphicFrame>
          <p:nvGraphicFramePr>
            <p:cNvPr id="50182" name="Object 19"/>
            <p:cNvGraphicFramePr/>
            <p:nvPr/>
          </p:nvGraphicFramePr>
          <p:xfrm>
            <a:off x="3516" y="2525"/>
            <a:ext cx="226" cy="226"/>
          </p:xfrm>
          <a:graphic>
            <a:graphicData uri="http://schemas.openxmlformats.org/presentationml/2006/ole">
              <mc:AlternateContent xmlns:mc="http://schemas.openxmlformats.org/markup-compatibility/2006">
                <mc:Choice xmlns:v="urn:schemas-microsoft-com:vml" Requires="v">
                  <p:oleObj spid="_x0000_s7" name="" r:id="rId7" imgW="228600" imgH="228600" progId="Equation.DSMT4">
                    <p:embed/>
                  </p:oleObj>
                </mc:Choice>
                <mc:Fallback>
                  <p:oleObj name="" r:id="rId7" imgW="228600" imgH="228600" progId="Equation.DSMT4">
                    <p:embed/>
                    <p:pic>
                      <p:nvPicPr>
                        <p:cNvPr id="0" name="图片 3337"/>
                        <p:cNvPicPr/>
                        <p:nvPr/>
                      </p:nvPicPr>
                      <p:blipFill>
                        <a:blip r:embed="rId8"/>
                        <a:stretch>
                          <a:fillRect/>
                        </a:stretch>
                      </p:blipFill>
                      <p:spPr>
                        <a:xfrm>
                          <a:off x="3516" y="2525"/>
                          <a:ext cx="226" cy="226"/>
                        </a:xfrm>
                        <a:prstGeom prst="rect">
                          <a:avLst/>
                        </a:prstGeom>
                        <a:noFill/>
                        <a:ln w="38100">
                          <a:noFill/>
                          <a:miter/>
                        </a:ln>
                      </p:spPr>
                    </p:pic>
                  </p:oleObj>
                </mc:Fallback>
              </mc:AlternateContent>
            </a:graphicData>
          </a:graphic>
        </p:graphicFrame>
      </p:grpSp>
      <p:grpSp>
        <p:nvGrpSpPr>
          <p:cNvPr id="8" name="Group 20"/>
          <p:cNvGrpSpPr/>
          <p:nvPr/>
        </p:nvGrpSpPr>
        <p:grpSpPr>
          <a:xfrm>
            <a:off x="611188" y="4076700"/>
            <a:ext cx="3403600" cy="622300"/>
            <a:chOff x="373" y="2659"/>
            <a:chExt cx="2144" cy="392"/>
          </a:xfrm>
        </p:grpSpPr>
        <p:graphicFrame>
          <p:nvGraphicFramePr>
            <p:cNvPr id="50180" name="Object 21"/>
            <p:cNvGraphicFramePr/>
            <p:nvPr/>
          </p:nvGraphicFramePr>
          <p:xfrm>
            <a:off x="930" y="2659"/>
            <a:ext cx="1587" cy="392"/>
          </p:xfrm>
          <a:graphic>
            <a:graphicData uri="http://schemas.openxmlformats.org/presentationml/2006/ole">
              <mc:AlternateContent xmlns:mc="http://schemas.openxmlformats.org/markup-compatibility/2006">
                <mc:Choice xmlns:v="urn:schemas-microsoft-com:vml" Requires="v">
                  <p:oleObj spid="_x0000_s9" name="" r:id="rId9" imgW="1129665" imgH="279400" progId="Equation.DSMT4">
                    <p:embed/>
                  </p:oleObj>
                </mc:Choice>
                <mc:Fallback>
                  <p:oleObj name="" r:id="rId9" imgW="1129665" imgH="279400" progId="Equation.DSMT4">
                    <p:embed/>
                    <p:pic>
                      <p:nvPicPr>
                        <p:cNvPr id="0" name="图片 3324"/>
                        <p:cNvPicPr/>
                        <p:nvPr/>
                      </p:nvPicPr>
                      <p:blipFill>
                        <a:blip r:embed="rId10"/>
                        <a:stretch>
                          <a:fillRect/>
                        </a:stretch>
                      </p:blipFill>
                      <p:spPr>
                        <a:xfrm>
                          <a:off x="930" y="2659"/>
                          <a:ext cx="1587" cy="392"/>
                        </a:xfrm>
                        <a:prstGeom prst="rect">
                          <a:avLst/>
                        </a:prstGeom>
                        <a:noFill/>
                        <a:ln w="38100">
                          <a:noFill/>
                          <a:miter/>
                        </a:ln>
                      </p:spPr>
                    </p:pic>
                  </p:oleObj>
                </mc:Fallback>
              </mc:AlternateContent>
            </a:graphicData>
          </a:graphic>
        </p:graphicFrame>
        <p:sp>
          <p:nvSpPr>
            <p:cNvPr id="50194" name="Text Box 22"/>
            <p:cNvSpPr txBox="1"/>
            <p:nvPr/>
          </p:nvSpPr>
          <p:spPr>
            <a:xfrm>
              <a:off x="373" y="2704"/>
              <a:ext cx="628" cy="288"/>
            </a:xfrm>
            <a:prstGeom prst="rect">
              <a:avLst/>
            </a:prstGeom>
            <a:noFill/>
            <a:ln w="9525">
              <a:noFill/>
            </a:ln>
          </p:spPr>
          <p:txBody>
            <a:bodyPr wrap="none">
              <a:spAutoFit/>
            </a:bodyPr>
            <a:lstStyle/>
            <a:p>
              <a:r>
                <a:rPr lang="zh-CN" altLang="en-US" sz="2000" dirty="0">
                  <a:latin typeface="Times New Roman" panose="02020603050405020304" pitchFamily="18" charset="0"/>
                </a:rPr>
                <a:t>同样</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graphicFrame>
        <p:nvGraphicFramePr>
          <p:cNvPr id="405528" name="Object 24"/>
          <p:cNvGraphicFramePr/>
          <p:nvPr/>
        </p:nvGraphicFramePr>
        <p:xfrm>
          <a:off x="3420110" y="4791393"/>
          <a:ext cx="2020888" cy="750887"/>
        </p:xfrm>
        <a:graphic>
          <a:graphicData uri="http://schemas.openxmlformats.org/presentationml/2006/ole">
            <mc:AlternateContent xmlns:mc="http://schemas.openxmlformats.org/markup-compatibility/2006">
              <mc:Choice xmlns:v="urn:schemas-microsoft-com:vml" Requires="v">
                <p:oleObj spid="_x0000_s10" name="" r:id="rId11" imgW="888365" imgH="330200" progId="Equation.DSMT4">
                  <p:embed/>
                </p:oleObj>
              </mc:Choice>
              <mc:Fallback>
                <p:oleObj name="" r:id="rId11" imgW="888365" imgH="330200" progId="Equation.DSMT4">
                  <p:embed/>
                  <p:pic>
                    <p:nvPicPr>
                      <p:cNvPr id="0" name="图片 3319"/>
                      <p:cNvPicPr/>
                      <p:nvPr/>
                    </p:nvPicPr>
                    <p:blipFill>
                      <a:blip r:embed="rId12"/>
                      <a:stretch>
                        <a:fillRect/>
                      </a:stretch>
                    </p:blipFill>
                    <p:spPr>
                      <a:xfrm>
                        <a:off x="3420110" y="4791393"/>
                        <a:ext cx="2020888" cy="750887"/>
                      </a:xfrm>
                      <a:prstGeom prst="rect">
                        <a:avLst/>
                      </a:prstGeom>
                      <a:noFill/>
                      <a:ln w="38100">
                        <a:noFill/>
                        <a:miter/>
                      </a:ln>
                    </p:spPr>
                  </p:pic>
                </p:oleObj>
              </mc:Fallback>
            </mc:AlternateContent>
          </a:graphicData>
        </a:graphic>
      </p:graphicFrame>
      <p:sp>
        <p:nvSpPr>
          <p:cNvPr id="405529" name="Text Box 25"/>
          <p:cNvSpPr txBox="1"/>
          <p:nvPr/>
        </p:nvSpPr>
        <p:spPr>
          <a:xfrm>
            <a:off x="611188" y="5013008"/>
            <a:ext cx="2978150" cy="396875"/>
          </a:xfrm>
          <a:prstGeom prst="rect">
            <a:avLst/>
          </a:prstGeom>
          <a:noFill/>
          <a:ln w="9525">
            <a:noFill/>
          </a:ln>
        </p:spPr>
        <p:txBody>
          <a:bodyPr wrap="none">
            <a:spAutoFit/>
          </a:bodyPr>
          <a:lstStyle/>
          <a:p>
            <a:r>
              <a:rPr lang="zh-CN" altLang="en-US" sz="2000" dirty="0">
                <a:latin typeface="Times New Roman" panose="02020603050405020304" pitchFamily="18" charset="0"/>
              </a:rPr>
              <a:t>输出噪声电压均方值为：</a:t>
            </a:r>
            <a:endParaRPr lang="zh-CN" altLang="en-US" sz="2000" dirty="0">
              <a:latin typeface="Times New Roman" panose="02020603050405020304" pitchFamily="18" charset="0"/>
            </a:endParaRPr>
          </a:p>
        </p:txBody>
      </p:sp>
      <p:graphicFrame>
        <p:nvGraphicFramePr>
          <p:cNvPr id="11" name="Object 15"/>
          <p:cNvGraphicFramePr/>
          <p:nvPr/>
        </p:nvGraphicFramePr>
        <p:xfrm>
          <a:off x="2195195" y="2993390"/>
          <a:ext cx="928370" cy="330835"/>
        </p:xfrm>
        <a:graphic>
          <a:graphicData uri="http://schemas.openxmlformats.org/presentationml/2006/ole">
            <mc:AlternateContent xmlns:mc="http://schemas.openxmlformats.org/markup-compatibility/2006">
              <mc:Choice xmlns:v="urn:schemas-microsoft-com:vml" Requires="v">
                <p:oleObj spid="_x0000_s12" name="" r:id="rId13" imgW="622300" imgH="228600" progId="Equation.DSMT4">
                  <p:embed/>
                </p:oleObj>
              </mc:Choice>
              <mc:Fallback>
                <p:oleObj name="" r:id="rId13" imgW="622300" imgH="228600" progId="Equation.DSMT4">
                  <p:embed/>
                  <p:pic>
                    <p:nvPicPr>
                      <p:cNvPr id="0" name="图片 3322"/>
                      <p:cNvPicPr/>
                      <p:nvPr/>
                    </p:nvPicPr>
                    <p:blipFill>
                      <a:blip r:embed="rId14"/>
                      <a:stretch>
                        <a:fillRect/>
                      </a:stretch>
                    </p:blipFill>
                    <p:spPr>
                      <a:xfrm>
                        <a:off x="2195195" y="2993390"/>
                        <a:ext cx="928370" cy="330835"/>
                      </a:xfrm>
                      <a:prstGeom prst="rect">
                        <a:avLst/>
                      </a:prstGeom>
                      <a:noFill/>
                      <a:ln w="38100">
                        <a:noFill/>
                        <a:miter/>
                      </a:ln>
                    </p:spPr>
                  </p:pic>
                </p:oleObj>
              </mc:Fallback>
            </mc:AlternateContent>
          </a:graphicData>
        </a:graphic>
      </p:graphicFrame>
      <p:grpSp>
        <p:nvGrpSpPr>
          <p:cNvPr id="13" name="Group 19"/>
          <p:cNvGrpSpPr/>
          <p:nvPr/>
        </p:nvGrpSpPr>
        <p:grpSpPr>
          <a:xfrm>
            <a:off x="1784668" y="405766"/>
            <a:ext cx="5334000" cy="519113"/>
            <a:chOff x="1306" y="452"/>
            <a:chExt cx="3360" cy="327"/>
          </a:xfrm>
        </p:grpSpPr>
        <p:sp>
          <p:nvSpPr>
            <p:cNvPr id="14" name="Rectangle 20"/>
            <p:cNvSpPr/>
            <p:nvPr/>
          </p:nvSpPr>
          <p:spPr>
            <a:xfrm>
              <a:off x="1306" y="45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2.3   </a:t>
              </a:r>
              <a:r>
                <a:rPr lang="zh-CN" altLang="en-US" sz="2800" b="1" dirty="0">
                  <a:solidFill>
                    <a:schemeClr val="accent2"/>
                  </a:solidFill>
                  <a:latin typeface="Times New Roman" panose="02020603050405020304" pitchFamily="18" charset="0"/>
                </a:rPr>
                <a:t>电子噪 声及其特性</a:t>
              </a:r>
              <a:endParaRPr lang="zh-CN" altLang="en-US" sz="2800" b="1" dirty="0">
                <a:solidFill>
                  <a:schemeClr val="accent2"/>
                </a:solidFill>
                <a:latin typeface="Times New Roman" panose="02020603050405020304" pitchFamily="18" charset="0"/>
              </a:endParaRPr>
            </a:p>
          </p:txBody>
        </p:sp>
        <p:sp>
          <p:nvSpPr>
            <p:cNvPr id="15" name="Line 21"/>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6" name="Text Box 4"/>
          <p:cNvSpPr txBox="1"/>
          <p:nvPr/>
        </p:nvSpPr>
        <p:spPr>
          <a:xfrm>
            <a:off x="539750" y="1579563"/>
            <a:ext cx="3181350" cy="457200"/>
          </a:xfrm>
          <a:prstGeom prst="rect">
            <a:avLst/>
          </a:prstGeom>
          <a:noFill/>
          <a:ln w="9525">
            <a:noFill/>
          </a:ln>
        </p:spPr>
        <p:txBody>
          <a:bodyPr wrap="none">
            <a:spAutoFit/>
          </a:bodyPr>
          <a:lstStyle/>
          <a:p>
            <a:r>
              <a:rPr lang="zh-CN" altLang="en-US" sz="2000" b="1" dirty="0">
                <a:solidFill>
                  <a:srgbClr val="FF00FF"/>
                </a:solidFill>
                <a:latin typeface="Times New Roman" panose="02020603050405020304" pitchFamily="18" charset="0"/>
              </a:rPr>
              <a:t>（</a:t>
            </a:r>
            <a:r>
              <a:rPr lang="en-US" altLang="zh-CN" sz="2000" b="1" dirty="0">
                <a:solidFill>
                  <a:srgbClr val="FF00FF"/>
                </a:solidFill>
                <a:latin typeface="Times New Roman" panose="02020603050405020304" pitchFamily="18" charset="0"/>
              </a:rPr>
              <a:t>3</a:t>
            </a:r>
            <a:r>
              <a:rPr lang="zh-CN" altLang="en-US" sz="2000" b="1" dirty="0">
                <a:solidFill>
                  <a:srgbClr val="FF00FF"/>
                </a:solidFill>
                <a:latin typeface="Times New Roman" panose="02020603050405020304" pitchFamily="18" charset="0"/>
              </a:rPr>
              <a:t>）线性电路中的热噪声</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sp>
        <p:nvSpPr>
          <p:cNvPr id="51207" name="Text Box 5"/>
          <p:cNvSpPr txBox="1"/>
          <p:nvPr/>
        </p:nvSpPr>
        <p:spPr>
          <a:xfrm>
            <a:off x="179388" y="908050"/>
            <a:ext cx="3232150" cy="396875"/>
          </a:xfrm>
          <a:prstGeom prst="rect">
            <a:avLst/>
          </a:prstGeom>
          <a:noFill/>
          <a:ln w="9525">
            <a:noFill/>
          </a:ln>
        </p:spPr>
        <p:txBody>
          <a:bodyPr wrap="none">
            <a:spAutoFit/>
          </a:bodyPr>
          <a:lstStyle/>
          <a:p>
            <a:r>
              <a:rPr lang="zh-CN" altLang="en-US" sz="2000" dirty="0">
                <a:solidFill>
                  <a:srgbClr val="FF0066"/>
                </a:solidFill>
                <a:latin typeface="Times New Roman" panose="02020603050405020304" pitchFamily="18" charset="0"/>
              </a:rPr>
              <a:t>二、电子噪声的来源与特性</a:t>
            </a:r>
            <a:endParaRPr lang="zh-CN" altLang="en-US" sz="2000" dirty="0">
              <a:solidFill>
                <a:srgbClr val="FF0066"/>
              </a:solidFill>
              <a:latin typeface="Times New Roman" panose="02020603050405020304" pitchFamily="18" charset="0"/>
            </a:endParaRPr>
          </a:p>
        </p:txBody>
      </p:sp>
      <p:sp>
        <p:nvSpPr>
          <p:cNvPr id="51209" name="Text Box 9"/>
          <p:cNvSpPr txBox="1"/>
          <p:nvPr/>
        </p:nvSpPr>
        <p:spPr>
          <a:xfrm>
            <a:off x="684213" y="1196975"/>
            <a:ext cx="1911350" cy="396875"/>
          </a:xfrm>
          <a:prstGeom prst="rect">
            <a:avLst/>
          </a:prstGeom>
          <a:noFill/>
          <a:ln w="9525">
            <a:noFill/>
          </a:ln>
        </p:spPr>
        <p:txBody>
          <a:bodyPr wrap="none">
            <a:spAutoFit/>
          </a:bodyPr>
          <a:lstStyle/>
          <a:p>
            <a:pPr marL="457200" indent="-457200">
              <a:buAutoNum type="circleNumDbPlain"/>
            </a:pPr>
            <a:r>
              <a:rPr lang="zh-CN" altLang="en-US" sz="2000" dirty="0">
                <a:solidFill>
                  <a:schemeClr val="accent2"/>
                </a:solidFill>
                <a:latin typeface="Times New Roman" panose="02020603050405020304" pitchFamily="18" charset="0"/>
              </a:rPr>
              <a:t>电阻热噪声</a:t>
            </a:r>
            <a:endParaRPr lang="zh-CN" altLang="en-US" sz="2000" dirty="0">
              <a:solidFill>
                <a:schemeClr val="accent2"/>
              </a:solidFill>
              <a:latin typeface="Times New Roman" panose="02020603050405020304" pitchFamily="18" charset="0"/>
            </a:endParaRPr>
          </a:p>
        </p:txBody>
      </p:sp>
      <p:sp>
        <p:nvSpPr>
          <p:cNvPr id="51210" name="Text Box 10"/>
          <p:cNvSpPr txBox="1"/>
          <p:nvPr/>
        </p:nvSpPr>
        <p:spPr>
          <a:xfrm>
            <a:off x="1042988" y="2060575"/>
            <a:ext cx="2738437" cy="396875"/>
          </a:xfrm>
          <a:prstGeom prst="rect">
            <a:avLst/>
          </a:prstGeom>
          <a:noFill/>
          <a:ln w="9525">
            <a:noFill/>
          </a:ln>
        </p:spPr>
        <p:txBody>
          <a:bodyPr wrap="none">
            <a:spAutoFit/>
          </a:bodyPr>
          <a:lstStyle/>
          <a:p>
            <a:pPr marL="457200" indent="-457200"/>
            <a:r>
              <a:rPr lang="en-US" altLang="zh-CN" sz="2000" b="1" dirty="0">
                <a:solidFill>
                  <a:srgbClr val="CC9900"/>
                </a:solidFill>
                <a:latin typeface="Times New Roman" panose="02020603050405020304" pitchFamily="18" charset="0"/>
              </a:rPr>
              <a:t>b. </a:t>
            </a:r>
            <a:r>
              <a:rPr lang="zh-CN" altLang="en-US" sz="2000" b="1" dirty="0">
                <a:solidFill>
                  <a:srgbClr val="CC9900"/>
                </a:solidFill>
                <a:latin typeface="Times New Roman" panose="02020603050405020304" pitchFamily="18" charset="0"/>
              </a:rPr>
              <a:t>热噪声通过线形网络</a:t>
            </a:r>
            <a:endParaRPr lang="zh-CN" altLang="en-US" sz="2000" b="1" dirty="0">
              <a:solidFill>
                <a:srgbClr val="CC9900"/>
              </a:solidFill>
              <a:latin typeface="Times New Roman" panose="02020603050405020304" pitchFamily="18" charset="0"/>
            </a:endParaRPr>
          </a:p>
        </p:txBody>
      </p:sp>
      <p:graphicFrame>
        <p:nvGraphicFramePr>
          <p:cNvPr id="51202" name="Object 11"/>
          <p:cNvGraphicFramePr/>
          <p:nvPr/>
        </p:nvGraphicFramePr>
        <p:xfrm>
          <a:off x="5076825" y="1557338"/>
          <a:ext cx="2590800" cy="639762"/>
        </p:xfrm>
        <a:graphic>
          <a:graphicData uri="http://schemas.openxmlformats.org/presentationml/2006/ole">
            <mc:AlternateContent xmlns:mc="http://schemas.openxmlformats.org/markup-compatibility/2006">
              <mc:Choice xmlns:v="urn:schemas-microsoft-com:vml" Requires="v">
                <p:oleObj spid="_x0000_s2" name="" r:id="rId1" imgW="1129665" imgH="279400" progId="Equation.DSMT4">
                  <p:embed/>
                </p:oleObj>
              </mc:Choice>
              <mc:Fallback>
                <p:oleObj name="" r:id="rId1" imgW="1129665" imgH="279400" progId="Equation.DSMT4">
                  <p:embed/>
                  <p:pic>
                    <p:nvPicPr>
                      <p:cNvPr id="0" name="图片 3338"/>
                      <p:cNvPicPr/>
                      <p:nvPr/>
                    </p:nvPicPr>
                    <p:blipFill>
                      <a:blip r:embed="rId2"/>
                      <a:stretch>
                        <a:fillRect/>
                      </a:stretch>
                    </p:blipFill>
                    <p:spPr>
                      <a:xfrm>
                        <a:off x="5076825" y="1557338"/>
                        <a:ext cx="2590800" cy="639762"/>
                      </a:xfrm>
                      <a:prstGeom prst="rect">
                        <a:avLst/>
                      </a:prstGeom>
                      <a:noFill/>
                      <a:ln w="38100">
                        <a:noFill/>
                        <a:miter/>
                      </a:ln>
                    </p:spPr>
                  </p:pic>
                </p:oleObj>
              </mc:Fallback>
            </mc:AlternateContent>
          </a:graphicData>
        </a:graphic>
      </p:graphicFrame>
      <p:sp>
        <p:nvSpPr>
          <p:cNvPr id="406540" name="Rectangle 12"/>
          <p:cNvSpPr/>
          <p:nvPr/>
        </p:nvSpPr>
        <p:spPr>
          <a:xfrm>
            <a:off x="468313" y="2565400"/>
            <a:ext cx="7704137" cy="396875"/>
          </a:xfrm>
          <a:prstGeom prst="rect">
            <a:avLst/>
          </a:prstGeom>
          <a:noFill/>
          <a:ln w="9525">
            <a:noFill/>
          </a:ln>
        </p:spPr>
        <p:txBody>
          <a:bodyPr>
            <a:spAutoFit/>
          </a:bodyPr>
          <a:lstStyle/>
          <a:p>
            <a:r>
              <a:rPr lang="zh-CN" altLang="en-US" sz="2000" dirty="0">
                <a:latin typeface="Times New Roman" panose="02020603050405020304" pitchFamily="18" charset="0"/>
              </a:rPr>
              <a:t>下面以并联谐振回路为例分析热噪声通过线性电路后的输出噪声。</a:t>
            </a:r>
            <a:endParaRPr lang="zh-CN" altLang="en-US" sz="2000" dirty="0">
              <a:latin typeface="Times New Roman" panose="02020603050405020304" pitchFamily="18" charset="0"/>
            </a:endParaRPr>
          </a:p>
        </p:txBody>
      </p:sp>
      <p:graphicFrame>
        <p:nvGraphicFramePr>
          <p:cNvPr id="406542" name="Object 14"/>
          <p:cNvGraphicFramePr/>
          <p:nvPr/>
        </p:nvGraphicFramePr>
        <p:xfrm>
          <a:off x="900113" y="3068638"/>
          <a:ext cx="1584325" cy="1157287"/>
        </p:xfrm>
        <a:graphic>
          <a:graphicData uri="http://schemas.openxmlformats.org/presentationml/2006/ole">
            <mc:AlternateContent xmlns:mc="http://schemas.openxmlformats.org/markup-compatibility/2006">
              <mc:Choice xmlns:v="urn:schemas-microsoft-com:vml" Requires="v">
                <p:oleObj spid="_x0000_s3" name="" r:id="rId3" imgW="914400" imgH="672465" progId="Visio.Drawing.6">
                  <p:embed/>
                </p:oleObj>
              </mc:Choice>
              <mc:Fallback>
                <p:oleObj name="" r:id="rId3" imgW="914400" imgH="672465" progId="Visio.Drawing.6">
                  <p:embed/>
                  <p:pic>
                    <p:nvPicPr>
                      <p:cNvPr id="0" name="图片 3350"/>
                      <p:cNvPicPr/>
                      <p:nvPr/>
                    </p:nvPicPr>
                    <p:blipFill>
                      <a:blip r:embed="rId4"/>
                      <a:stretch>
                        <a:fillRect/>
                      </a:stretch>
                    </p:blipFill>
                    <p:spPr>
                      <a:xfrm>
                        <a:off x="900113" y="3068638"/>
                        <a:ext cx="1584325" cy="1157287"/>
                      </a:xfrm>
                      <a:prstGeom prst="rect">
                        <a:avLst/>
                      </a:prstGeom>
                      <a:noFill/>
                      <a:ln w="38100">
                        <a:noFill/>
                        <a:miter/>
                      </a:ln>
                    </p:spPr>
                  </p:pic>
                </p:oleObj>
              </mc:Fallback>
            </mc:AlternateContent>
          </a:graphicData>
        </a:graphic>
      </p:graphicFrame>
      <p:graphicFrame>
        <p:nvGraphicFramePr>
          <p:cNvPr id="406543" name="Object 15"/>
          <p:cNvGraphicFramePr/>
          <p:nvPr/>
        </p:nvGraphicFramePr>
        <p:xfrm>
          <a:off x="3203575" y="2924175"/>
          <a:ext cx="2519363" cy="1260475"/>
        </p:xfrm>
        <a:graphic>
          <a:graphicData uri="http://schemas.openxmlformats.org/presentationml/2006/ole">
            <mc:AlternateContent xmlns:mc="http://schemas.openxmlformats.org/markup-compatibility/2006">
              <mc:Choice xmlns:v="urn:schemas-microsoft-com:vml" Requires="v">
                <p:oleObj spid="_x0000_s4" name="" r:id="rId5" imgW="1577975" imgH="672465" progId="Visio.Drawing.6">
                  <p:embed/>
                </p:oleObj>
              </mc:Choice>
              <mc:Fallback>
                <p:oleObj name="" r:id="rId5" imgW="1577975" imgH="672465" progId="Visio.Drawing.6">
                  <p:embed/>
                  <p:pic>
                    <p:nvPicPr>
                      <p:cNvPr id="0" name="图片 3339"/>
                      <p:cNvPicPr/>
                      <p:nvPr/>
                    </p:nvPicPr>
                    <p:blipFill>
                      <a:blip r:embed="rId6"/>
                      <a:stretch>
                        <a:fillRect/>
                      </a:stretch>
                    </p:blipFill>
                    <p:spPr>
                      <a:xfrm>
                        <a:off x="3203575" y="2924175"/>
                        <a:ext cx="2519363" cy="1260475"/>
                      </a:xfrm>
                      <a:prstGeom prst="rect">
                        <a:avLst/>
                      </a:prstGeom>
                      <a:noFill/>
                      <a:ln w="38100">
                        <a:noFill/>
                        <a:miter/>
                      </a:ln>
                    </p:spPr>
                  </p:pic>
                </p:oleObj>
              </mc:Fallback>
            </mc:AlternateContent>
          </a:graphicData>
        </a:graphic>
      </p:graphicFrame>
      <p:sp>
        <p:nvSpPr>
          <p:cNvPr id="406544" name="Text Box 16"/>
          <p:cNvSpPr txBox="1"/>
          <p:nvPr/>
        </p:nvSpPr>
        <p:spPr>
          <a:xfrm>
            <a:off x="2700338" y="3429000"/>
            <a:ext cx="509587" cy="457200"/>
          </a:xfrm>
          <a:prstGeom prst="rect">
            <a:avLst/>
          </a:prstGeom>
          <a:noFill/>
          <a:ln w="9525">
            <a:noFill/>
          </a:ln>
        </p:spPr>
        <p:txBody>
          <a:bodyPr wrap="none">
            <a:spAutoFit/>
          </a:bodyPr>
          <a:lstStyle/>
          <a:p>
            <a:r>
              <a:rPr lang="en-US" altLang="zh-CN" dirty="0">
                <a:latin typeface="Times New Roman" panose="02020603050405020304" pitchFamily="18" charset="0"/>
                <a:sym typeface="Wingdings" panose="05000000000000000000" pitchFamily="2" charset="2"/>
              </a:rPr>
              <a:t></a:t>
            </a:r>
            <a:endParaRPr lang="en-US" altLang="zh-CN" dirty="0">
              <a:latin typeface="Times New Roman" panose="02020603050405020304" pitchFamily="18" charset="0"/>
            </a:endParaRPr>
          </a:p>
        </p:txBody>
      </p:sp>
      <p:grpSp>
        <p:nvGrpSpPr>
          <p:cNvPr id="5" name="Group 20"/>
          <p:cNvGrpSpPr/>
          <p:nvPr/>
        </p:nvGrpSpPr>
        <p:grpSpPr>
          <a:xfrm>
            <a:off x="1547813" y="4365625"/>
            <a:ext cx="4264025" cy="1411288"/>
            <a:chOff x="2064" y="1888"/>
            <a:chExt cx="2686" cy="889"/>
          </a:xfrm>
        </p:grpSpPr>
        <p:graphicFrame>
          <p:nvGraphicFramePr>
            <p:cNvPr id="51205" name="Object 21"/>
            <p:cNvGraphicFramePr/>
            <p:nvPr/>
          </p:nvGraphicFramePr>
          <p:xfrm>
            <a:off x="2064" y="1888"/>
            <a:ext cx="1950" cy="889"/>
          </p:xfrm>
          <a:graphic>
            <a:graphicData uri="http://schemas.openxmlformats.org/presentationml/2006/ole">
              <mc:AlternateContent xmlns:mc="http://schemas.openxmlformats.org/markup-compatibility/2006">
                <mc:Choice xmlns:v="urn:schemas-microsoft-com:vml" Requires="v">
                  <p:oleObj spid="_x0000_s6" name="" r:id="rId7" imgW="1790065" imgH="761365" progId="Equation.DSMT4">
                    <p:embed/>
                  </p:oleObj>
                </mc:Choice>
                <mc:Fallback>
                  <p:oleObj name="" r:id="rId7" imgW="1790065" imgH="761365" progId="Equation.DSMT4">
                    <p:embed/>
                    <p:pic>
                      <p:nvPicPr>
                        <p:cNvPr id="0" name="图片 3345"/>
                        <p:cNvPicPr/>
                        <p:nvPr/>
                      </p:nvPicPr>
                      <p:blipFill>
                        <a:blip r:embed="rId8"/>
                        <a:stretch>
                          <a:fillRect/>
                        </a:stretch>
                      </p:blipFill>
                      <p:spPr>
                        <a:xfrm>
                          <a:off x="2064" y="1888"/>
                          <a:ext cx="1950" cy="889"/>
                        </a:xfrm>
                        <a:prstGeom prst="rect">
                          <a:avLst/>
                        </a:prstGeom>
                        <a:noFill/>
                        <a:ln w="38100">
                          <a:noFill/>
                          <a:miter/>
                        </a:ln>
                      </p:spPr>
                    </p:pic>
                  </p:oleObj>
                </mc:Fallback>
              </mc:AlternateContent>
            </a:graphicData>
          </a:graphic>
        </p:graphicFrame>
        <p:sp>
          <p:nvSpPr>
            <p:cNvPr id="51214" name="Text Box 22"/>
            <p:cNvSpPr txBox="1"/>
            <p:nvPr/>
          </p:nvSpPr>
          <p:spPr>
            <a:xfrm>
              <a:off x="4410" y="2218"/>
              <a:ext cx="340" cy="288"/>
            </a:xfrm>
            <a:prstGeom prst="rect">
              <a:avLst/>
            </a:prstGeom>
            <a:noFill/>
            <a:ln w="9525">
              <a:noFill/>
            </a:ln>
          </p:spPr>
          <p:txBody>
            <a:bodyPr wrap="none">
              <a:spAutoFit/>
            </a:bodyPr>
            <a:lstStyle/>
            <a:p>
              <a:r>
                <a:rPr lang="en-US" altLang="zh-CN" dirty="0">
                  <a:latin typeface="Times New Roman" panose="02020603050405020304" pitchFamily="18" charset="0"/>
                </a:rPr>
                <a:t>(3)</a:t>
              </a:r>
              <a:endParaRPr lang="en-US" altLang="zh-CN" dirty="0">
                <a:latin typeface="Times New Roman" panose="02020603050405020304" pitchFamily="18" charset="0"/>
              </a:endParaRPr>
            </a:p>
          </p:txBody>
        </p:sp>
      </p:grpSp>
      <p:grpSp>
        <p:nvGrpSpPr>
          <p:cNvPr id="7" name="Group 19"/>
          <p:cNvGrpSpPr/>
          <p:nvPr/>
        </p:nvGrpSpPr>
        <p:grpSpPr>
          <a:xfrm>
            <a:off x="1784668" y="405766"/>
            <a:ext cx="5334000" cy="519113"/>
            <a:chOff x="1306" y="452"/>
            <a:chExt cx="3360" cy="327"/>
          </a:xfrm>
        </p:grpSpPr>
        <p:sp>
          <p:nvSpPr>
            <p:cNvPr id="8" name="Rectangle 20"/>
            <p:cNvSpPr/>
            <p:nvPr/>
          </p:nvSpPr>
          <p:spPr>
            <a:xfrm>
              <a:off x="1306" y="45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2.3   </a:t>
              </a:r>
              <a:r>
                <a:rPr lang="zh-CN" altLang="en-US" sz="2800" b="1" dirty="0">
                  <a:solidFill>
                    <a:schemeClr val="accent2"/>
                  </a:solidFill>
                  <a:latin typeface="Times New Roman" panose="02020603050405020304" pitchFamily="18" charset="0"/>
                </a:rPr>
                <a:t>电子噪 声及其特性</a:t>
              </a:r>
              <a:endParaRPr lang="zh-CN" altLang="en-US" sz="2800" b="1" dirty="0">
                <a:solidFill>
                  <a:schemeClr val="accent2"/>
                </a:solidFill>
                <a:latin typeface="Times New Roman" panose="02020603050405020304" pitchFamily="18" charset="0"/>
              </a:endParaRPr>
            </a:p>
          </p:txBody>
        </p:sp>
        <p:sp>
          <p:nvSpPr>
            <p:cNvPr id="9" name="Line 21"/>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31" name="Text Box 4"/>
          <p:cNvSpPr txBox="1"/>
          <p:nvPr/>
        </p:nvSpPr>
        <p:spPr>
          <a:xfrm>
            <a:off x="539750" y="1579563"/>
            <a:ext cx="3181350" cy="457200"/>
          </a:xfrm>
          <a:prstGeom prst="rect">
            <a:avLst/>
          </a:prstGeom>
          <a:noFill/>
          <a:ln w="9525">
            <a:noFill/>
          </a:ln>
        </p:spPr>
        <p:txBody>
          <a:bodyPr wrap="none">
            <a:spAutoFit/>
          </a:bodyPr>
          <a:lstStyle/>
          <a:p>
            <a:r>
              <a:rPr lang="zh-CN" altLang="en-US" sz="2000" b="1" dirty="0">
                <a:solidFill>
                  <a:srgbClr val="FF00FF"/>
                </a:solidFill>
                <a:latin typeface="Times New Roman" panose="02020603050405020304" pitchFamily="18" charset="0"/>
              </a:rPr>
              <a:t>（</a:t>
            </a:r>
            <a:r>
              <a:rPr lang="en-US" altLang="zh-CN" sz="2000" b="1" dirty="0">
                <a:solidFill>
                  <a:srgbClr val="FF00FF"/>
                </a:solidFill>
                <a:latin typeface="Times New Roman" panose="02020603050405020304" pitchFamily="18" charset="0"/>
              </a:rPr>
              <a:t>3</a:t>
            </a:r>
            <a:r>
              <a:rPr lang="zh-CN" altLang="en-US" sz="2000" b="1" dirty="0">
                <a:solidFill>
                  <a:srgbClr val="FF00FF"/>
                </a:solidFill>
                <a:latin typeface="Times New Roman" panose="02020603050405020304" pitchFamily="18" charset="0"/>
              </a:rPr>
              <a:t>）线性电路中的热噪声</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sp>
        <p:nvSpPr>
          <p:cNvPr id="52232" name="Text Box 5"/>
          <p:cNvSpPr txBox="1"/>
          <p:nvPr/>
        </p:nvSpPr>
        <p:spPr>
          <a:xfrm>
            <a:off x="179388" y="908050"/>
            <a:ext cx="3232150" cy="396875"/>
          </a:xfrm>
          <a:prstGeom prst="rect">
            <a:avLst/>
          </a:prstGeom>
          <a:noFill/>
          <a:ln w="9525">
            <a:noFill/>
          </a:ln>
        </p:spPr>
        <p:txBody>
          <a:bodyPr wrap="none">
            <a:spAutoFit/>
          </a:bodyPr>
          <a:lstStyle/>
          <a:p>
            <a:r>
              <a:rPr lang="zh-CN" altLang="en-US" sz="2000" dirty="0">
                <a:solidFill>
                  <a:srgbClr val="FF0066"/>
                </a:solidFill>
                <a:latin typeface="Times New Roman" panose="02020603050405020304" pitchFamily="18" charset="0"/>
              </a:rPr>
              <a:t>二、电子噪声的来源与特性</a:t>
            </a:r>
            <a:endParaRPr lang="zh-CN" altLang="en-US" sz="2000" dirty="0">
              <a:solidFill>
                <a:srgbClr val="FF0066"/>
              </a:solidFill>
              <a:latin typeface="Times New Roman" panose="02020603050405020304" pitchFamily="18" charset="0"/>
            </a:endParaRPr>
          </a:p>
        </p:txBody>
      </p:sp>
      <p:sp>
        <p:nvSpPr>
          <p:cNvPr id="52234" name="Text Box 9"/>
          <p:cNvSpPr txBox="1"/>
          <p:nvPr/>
        </p:nvSpPr>
        <p:spPr>
          <a:xfrm>
            <a:off x="684213" y="1196975"/>
            <a:ext cx="1911350" cy="396875"/>
          </a:xfrm>
          <a:prstGeom prst="rect">
            <a:avLst/>
          </a:prstGeom>
          <a:noFill/>
          <a:ln w="9525">
            <a:noFill/>
          </a:ln>
        </p:spPr>
        <p:txBody>
          <a:bodyPr wrap="none">
            <a:spAutoFit/>
          </a:bodyPr>
          <a:lstStyle/>
          <a:p>
            <a:pPr marL="457200" indent="-457200">
              <a:buAutoNum type="circleNumDbPlain"/>
            </a:pPr>
            <a:r>
              <a:rPr lang="zh-CN" altLang="en-US" sz="2000" dirty="0">
                <a:solidFill>
                  <a:schemeClr val="accent2"/>
                </a:solidFill>
                <a:latin typeface="Times New Roman" panose="02020603050405020304" pitchFamily="18" charset="0"/>
              </a:rPr>
              <a:t>电阻热噪声</a:t>
            </a:r>
            <a:endParaRPr lang="zh-CN" altLang="en-US" sz="2000" dirty="0">
              <a:solidFill>
                <a:schemeClr val="accent2"/>
              </a:solidFill>
              <a:latin typeface="Times New Roman" panose="02020603050405020304" pitchFamily="18" charset="0"/>
            </a:endParaRPr>
          </a:p>
        </p:txBody>
      </p:sp>
      <p:sp>
        <p:nvSpPr>
          <p:cNvPr id="52235" name="Text Box 10"/>
          <p:cNvSpPr txBox="1"/>
          <p:nvPr/>
        </p:nvSpPr>
        <p:spPr>
          <a:xfrm>
            <a:off x="684213" y="2133600"/>
            <a:ext cx="2738437" cy="396875"/>
          </a:xfrm>
          <a:prstGeom prst="rect">
            <a:avLst/>
          </a:prstGeom>
          <a:noFill/>
          <a:ln w="9525">
            <a:noFill/>
          </a:ln>
        </p:spPr>
        <p:txBody>
          <a:bodyPr wrap="none">
            <a:spAutoFit/>
          </a:bodyPr>
          <a:lstStyle/>
          <a:p>
            <a:pPr marL="457200" indent="-457200"/>
            <a:r>
              <a:rPr lang="en-US" altLang="zh-CN" sz="2000" b="1" dirty="0">
                <a:solidFill>
                  <a:srgbClr val="CC9900"/>
                </a:solidFill>
                <a:latin typeface="Times New Roman" panose="02020603050405020304" pitchFamily="18" charset="0"/>
              </a:rPr>
              <a:t>b. </a:t>
            </a:r>
            <a:r>
              <a:rPr lang="zh-CN" altLang="en-US" sz="2000" b="1" dirty="0">
                <a:solidFill>
                  <a:srgbClr val="CC9900"/>
                </a:solidFill>
                <a:latin typeface="Times New Roman" panose="02020603050405020304" pitchFamily="18" charset="0"/>
              </a:rPr>
              <a:t>热噪声通过线形网络</a:t>
            </a:r>
            <a:endParaRPr lang="zh-CN" altLang="en-US" sz="2000" b="1" dirty="0">
              <a:solidFill>
                <a:srgbClr val="CC9900"/>
              </a:solidFill>
              <a:latin typeface="Times New Roman" panose="02020603050405020304" pitchFamily="18" charset="0"/>
            </a:endParaRPr>
          </a:p>
        </p:txBody>
      </p:sp>
      <p:grpSp>
        <p:nvGrpSpPr>
          <p:cNvPr id="3" name="Group 11"/>
          <p:cNvGrpSpPr/>
          <p:nvPr/>
        </p:nvGrpSpPr>
        <p:grpSpPr>
          <a:xfrm>
            <a:off x="755650" y="2708275"/>
            <a:ext cx="4411663" cy="503238"/>
            <a:chOff x="645" y="2766"/>
            <a:chExt cx="2779" cy="317"/>
          </a:xfrm>
        </p:grpSpPr>
        <p:sp>
          <p:nvSpPr>
            <p:cNvPr id="52242" name="Text Box 12"/>
            <p:cNvSpPr txBox="1"/>
            <p:nvPr/>
          </p:nvSpPr>
          <p:spPr>
            <a:xfrm>
              <a:off x="645" y="2795"/>
              <a:ext cx="2036" cy="288"/>
            </a:xfrm>
            <a:prstGeom prst="rect">
              <a:avLst/>
            </a:prstGeom>
            <a:noFill/>
            <a:ln w="9525">
              <a:noFill/>
            </a:ln>
          </p:spPr>
          <p:txBody>
            <a:bodyPr wrap="none">
              <a:spAutoFit/>
            </a:bodyPr>
            <a:lstStyle/>
            <a:p>
              <a:r>
                <a:rPr lang="zh-CN" altLang="en-US" dirty="0">
                  <a:latin typeface="Times New Roman" panose="02020603050405020304" pitchFamily="18" charset="0"/>
                </a:rPr>
                <a:t>又并联回路可以等效为</a:t>
              </a:r>
              <a:endParaRPr lang="zh-CN" altLang="en-US" dirty="0">
                <a:latin typeface="Times New Roman" panose="02020603050405020304" pitchFamily="18" charset="0"/>
              </a:endParaRPr>
            </a:p>
          </p:txBody>
        </p:sp>
        <p:graphicFrame>
          <p:nvGraphicFramePr>
            <p:cNvPr id="52230" name="Object 13"/>
            <p:cNvGraphicFramePr/>
            <p:nvPr/>
          </p:nvGraphicFramePr>
          <p:xfrm>
            <a:off x="2653" y="2766"/>
            <a:ext cx="771" cy="315"/>
          </p:xfrm>
          <a:graphic>
            <a:graphicData uri="http://schemas.openxmlformats.org/presentationml/2006/ole">
              <mc:AlternateContent xmlns:mc="http://schemas.openxmlformats.org/markup-compatibility/2006">
                <mc:Choice xmlns:v="urn:schemas-microsoft-com:vml" Requires="v">
                  <p:oleObj spid="_x0000_s2" name="" r:id="rId1" imgW="558800" imgH="228600" progId="Equation.DSMT4">
                    <p:embed/>
                  </p:oleObj>
                </mc:Choice>
                <mc:Fallback>
                  <p:oleObj name="" r:id="rId1" imgW="558800" imgH="228600" progId="Equation.DSMT4">
                    <p:embed/>
                    <p:pic>
                      <p:nvPicPr>
                        <p:cNvPr id="0" name="图片 3354"/>
                        <p:cNvPicPr/>
                        <p:nvPr/>
                      </p:nvPicPr>
                      <p:blipFill>
                        <a:blip r:embed="rId2"/>
                        <a:stretch>
                          <a:fillRect/>
                        </a:stretch>
                      </p:blipFill>
                      <p:spPr>
                        <a:xfrm>
                          <a:off x="2653" y="2766"/>
                          <a:ext cx="771" cy="315"/>
                        </a:xfrm>
                        <a:prstGeom prst="rect">
                          <a:avLst/>
                        </a:prstGeom>
                        <a:noFill/>
                        <a:ln w="38100">
                          <a:noFill/>
                          <a:miter/>
                        </a:ln>
                      </p:spPr>
                    </p:pic>
                  </p:oleObj>
                </mc:Fallback>
              </mc:AlternateContent>
            </a:graphicData>
          </a:graphic>
        </p:graphicFrame>
      </p:grpSp>
      <p:graphicFrame>
        <p:nvGraphicFramePr>
          <p:cNvPr id="407566" name="Object 14"/>
          <p:cNvGraphicFramePr/>
          <p:nvPr/>
        </p:nvGraphicFramePr>
        <p:xfrm>
          <a:off x="900113" y="3644900"/>
          <a:ext cx="3313112" cy="1389063"/>
        </p:xfrm>
        <a:graphic>
          <a:graphicData uri="http://schemas.openxmlformats.org/presentationml/2006/ole">
            <mc:AlternateContent xmlns:mc="http://schemas.openxmlformats.org/markup-compatibility/2006">
              <mc:Choice xmlns:v="urn:schemas-microsoft-com:vml" Requires="v">
                <p:oleObj spid="_x0000_s4" name="" r:id="rId3" imgW="1815465" imgH="761365" progId="Equation.DSMT4">
                  <p:embed/>
                </p:oleObj>
              </mc:Choice>
              <mc:Fallback>
                <p:oleObj name="" r:id="rId3" imgW="1815465" imgH="761365" progId="Equation.DSMT4">
                  <p:embed/>
                  <p:pic>
                    <p:nvPicPr>
                      <p:cNvPr id="0" name="图片 3344"/>
                      <p:cNvPicPr/>
                      <p:nvPr/>
                    </p:nvPicPr>
                    <p:blipFill>
                      <a:blip r:embed="rId4"/>
                      <a:stretch>
                        <a:fillRect/>
                      </a:stretch>
                    </p:blipFill>
                    <p:spPr>
                      <a:xfrm>
                        <a:off x="900113" y="3644900"/>
                        <a:ext cx="3313112" cy="1389063"/>
                      </a:xfrm>
                      <a:prstGeom prst="rect">
                        <a:avLst/>
                      </a:prstGeom>
                      <a:noFill/>
                      <a:ln w="38100">
                        <a:noFill/>
                        <a:miter/>
                      </a:ln>
                    </p:spPr>
                  </p:pic>
                </p:oleObj>
              </mc:Fallback>
            </mc:AlternateContent>
          </a:graphicData>
        </a:graphic>
      </p:graphicFrame>
      <p:grpSp>
        <p:nvGrpSpPr>
          <p:cNvPr id="5" name="Group 15"/>
          <p:cNvGrpSpPr/>
          <p:nvPr/>
        </p:nvGrpSpPr>
        <p:grpSpPr>
          <a:xfrm>
            <a:off x="4427538" y="3573463"/>
            <a:ext cx="4121150" cy="1479550"/>
            <a:chOff x="2925" y="3123"/>
            <a:chExt cx="2596" cy="932"/>
          </a:xfrm>
        </p:grpSpPr>
        <p:graphicFrame>
          <p:nvGraphicFramePr>
            <p:cNvPr id="52229" name="Object 16"/>
            <p:cNvGraphicFramePr/>
            <p:nvPr/>
          </p:nvGraphicFramePr>
          <p:xfrm>
            <a:off x="3334" y="3123"/>
            <a:ext cx="1678" cy="932"/>
          </p:xfrm>
          <a:graphic>
            <a:graphicData uri="http://schemas.openxmlformats.org/presentationml/2006/ole">
              <mc:AlternateContent xmlns:mc="http://schemas.openxmlformats.org/markup-compatibility/2006">
                <mc:Choice xmlns:v="urn:schemas-microsoft-com:vml" Requires="v">
                  <p:oleObj spid="_x0000_s6" name="" r:id="rId5" imgW="1370965" imgH="761365" progId="Equation.DSMT4">
                    <p:embed/>
                  </p:oleObj>
                </mc:Choice>
                <mc:Fallback>
                  <p:oleObj name="" r:id="rId5" imgW="1370965" imgH="761365" progId="Equation.DSMT4">
                    <p:embed/>
                    <p:pic>
                      <p:nvPicPr>
                        <p:cNvPr id="0" name="图片 3353"/>
                        <p:cNvPicPr/>
                        <p:nvPr/>
                      </p:nvPicPr>
                      <p:blipFill>
                        <a:blip r:embed="rId6"/>
                        <a:stretch>
                          <a:fillRect/>
                        </a:stretch>
                      </p:blipFill>
                      <p:spPr>
                        <a:xfrm>
                          <a:off x="3334" y="3123"/>
                          <a:ext cx="1678" cy="932"/>
                        </a:xfrm>
                        <a:prstGeom prst="rect">
                          <a:avLst/>
                        </a:prstGeom>
                        <a:noFill/>
                        <a:ln w="38100">
                          <a:noFill/>
                          <a:miter/>
                        </a:ln>
                      </p:spPr>
                    </p:pic>
                  </p:oleObj>
                </mc:Fallback>
              </mc:AlternateContent>
            </a:graphicData>
          </a:graphic>
        </p:graphicFrame>
        <p:sp>
          <p:nvSpPr>
            <p:cNvPr id="52240" name="Text Box 17"/>
            <p:cNvSpPr txBox="1"/>
            <p:nvPr/>
          </p:nvSpPr>
          <p:spPr>
            <a:xfrm>
              <a:off x="2925" y="3475"/>
              <a:ext cx="321" cy="288"/>
            </a:xfrm>
            <a:prstGeom prst="rect">
              <a:avLst/>
            </a:prstGeom>
            <a:noFill/>
            <a:ln w="9525">
              <a:noFill/>
            </a:ln>
          </p:spPr>
          <p:txBody>
            <a:bodyPr wrap="none">
              <a:spAutoFit/>
            </a:bodyPr>
            <a:lstStyle/>
            <a:p>
              <a:r>
                <a:rPr lang="en-US" altLang="zh-CN" dirty="0">
                  <a:latin typeface="Times New Roman" panose="02020603050405020304" pitchFamily="18" charset="0"/>
                  <a:sym typeface="Wingdings" panose="05000000000000000000" pitchFamily="2" charset="2"/>
                </a:rPr>
                <a:t></a:t>
              </a:r>
              <a:endParaRPr lang="en-US" altLang="zh-CN" dirty="0">
                <a:latin typeface="Times New Roman" panose="02020603050405020304" pitchFamily="18" charset="0"/>
              </a:endParaRPr>
            </a:p>
          </p:txBody>
        </p:sp>
        <p:sp>
          <p:nvSpPr>
            <p:cNvPr id="52241" name="Text Box 18"/>
            <p:cNvSpPr txBox="1"/>
            <p:nvPr/>
          </p:nvSpPr>
          <p:spPr>
            <a:xfrm>
              <a:off x="5181" y="3534"/>
              <a:ext cx="340" cy="288"/>
            </a:xfrm>
            <a:prstGeom prst="rect">
              <a:avLst/>
            </a:prstGeom>
            <a:noFill/>
            <a:ln w="9525">
              <a:noFill/>
            </a:ln>
          </p:spPr>
          <p:txBody>
            <a:bodyPr wrap="none">
              <a:spAutoFit/>
            </a:bodyPr>
            <a:lstStyle/>
            <a:p>
              <a:r>
                <a:rPr lang="en-US" altLang="zh-CN" dirty="0">
                  <a:latin typeface="Times New Roman" panose="02020603050405020304" pitchFamily="18" charset="0"/>
                </a:rPr>
                <a:t>(4)</a:t>
              </a:r>
              <a:endParaRPr lang="en-US" altLang="zh-CN" dirty="0">
                <a:latin typeface="Times New Roman" panose="02020603050405020304" pitchFamily="18" charset="0"/>
              </a:endParaRPr>
            </a:p>
          </p:txBody>
        </p:sp>
      </p:grpSp>
      <p:grpSp>
        <p:nvGrpSpPr>
          <p:cNvPr id="7" name="Group 19"/>
          <p:cNvGrpSpPr/>
          <p:nvPr/>
        </p:nvGrpSpPr>
        <p:grpSpPr>
          <a:xfrm>
            <a:off x="6732588" y="1125538"/>
            <a:ext cx="1366837" cy="1079500"/>
            <a:chOff x="3969" y="845"/>
            <a:chExt cx="1101" cy="952"/>
          </a:xfrm>
        </p:grpSpPr>
        <p:graphicFrame>
          <p:nvGraphicFramePr>
            <p:cNvPr id="52228" name="Object 20"/>
            <p:cNvGraphicFramePr/>
            <p:nvPr/>
          </p:nvGraphicFramePr>
          <p:xfrm>
            <a:off x="4377" y="845"/>
            <a:ext cx="693" cy="952"/>
          </p:xfrm>
          <a:graphic>
            <a:graphicData uri="http://schemas.openxmlformats.org/presentationml/2006/ole">
              <mc:AlternateContent xmlns:mc="http://schemas.openxmlformats.org/markup-compatibility/2006">
                <mc:Choice xmlns:v="urn:schemas-microsoft-com:vml" Requires="v">
                  <p:oleObj spid="_x0000_s8" name="" r:id="rId7" imgW="555625" imgH="753110" progId="Visio.Drawing.6">
                    <p:embed/>
                  </p:oleObj>
                </mc:Choice>
                <mc:Fallback>
                  <p:oleObj name="" r:id="rId7" imgW="555625" imgH="753110" progId="Visio.Drawing.6">
                    <p:embed/>
                    <p:pic>
                      <p:nvPicPr>
                        <p:cNvPr id="0" name="图片 3340"/>
                        <p:cNvPicPr/>
                        <p:nvPr/>
                      </p:nvPicPr>
                      <p:blipFill>
                        <a:blip r:embed="rId8"/>
                        <a:stretch>
                          <a:fillRect/>
                        </a:stretch>
                      </p:blipFill>
                      <p:spPr>
                        <a:xfrm>
                          <a:off x="4377" y="845"/>
                          <a:ext cx="693" cy="952"/>
                        </a:xfrm>
                        <a:prstGeom prst="rect">
                          <a:avLst/>
                        </a:prstGeom>
                        <a:noFill/>
                        <a:ln w="38100">
                          <a:noFill/>
                          <a:miter/>
                        </a:ln>
                      </p:spPr>
                    </p:pic>
                  </p:oleObj>
                </mc:Fallback>
              </mc:AlternateContent>
            </a:graphicData>
          </a:graphic>
        </p:graphicFrame>
        <p:sp>
          <p:nvSpPr>
            <p:cNvPr id="52239" name="Text Box 21"/>
            <p:cNvSpPr txBox="1"/>
            <p:nvPr/>
          </p:nvSpPr>
          <p:spPr>
            <a:xfrm>
              <a:off x="3969" y="1208"/>
              <a:ext cx="410" cy="403"/>
            </a:xfrm>
            <a:prstGeom prst="rect">
              <a:avLst/>
            </a:prstGeom>
            <a:noFill/>
            <a:ln w="9525">
              <a:noFill/>
            </a:ln>
          </p:spPr>
          <p:txBody>
            <a:bodyPr wrap="none">
              <a:spAutoFit/>
            </a:bodyPr>
            <a:lstStyle/>
            <a:p>
              <a:r>
                <a:rPr lang="en-US" altLang="zh-CN" dirty="0">
                  <a:latin typeface="Times New Roman" panose="02020603050405020304" pitchFamily="18" charset="0"/>
                  <a:sym typeface="Wingdings" panose="05000000000000000000" pitchFamily="2" charset="2"/>
                </a:rPr>
                <a:t></a:t>
              </a:r>
              <a:endParaRPr lang="en-US" altLang="zh-CN" dirty="0">
                <a:latin typeface="Times New Roman" panose="02020603050405020304" pitchFamily="18" charset="0"/>
              </a:endParaRPr>
            </a:p>
          </p:txBody>
        </p:sp>
      </p:grpSp>
      <p:graphicFrame>
        <p:nvGraphicFramePr>
          <p:cNvPr id="52227" name="Object 22"/>
          <p:cNvGraphicFramePr/>
          <p:nvPr/>
        </p:nvGraphicFramePr>
        <p:xfrm>
          <a:off x="4211638" y="1052513"/>
          <a:ext cx="2519362" cy="1260475"/>
        </p:xfrm>
        <a:graphic>
          <a:graphicData uri="http://schemas.openxmlformats.org/presentationml/2006/ole">
            <mc:AlternateContent xmlns:mc="http://schemas.openxmlformats.org/markup-compatibility/2006">
              <mc:Choice xmlns:v="urn:schemas-microsoft-com:vml" Requires="v">
                <p:oleObj spid="_x0000_s9" name="" r:id="rId9" imgW="1577975" imgH="672465" progId="Visio.Drawing.6">
                  <p:embed/>
                </p:oleObj>
              </mc:Choice>
              <mc:Fallback>
                <p:oleObj name="" r:id="rId9" imgW="1577975" imgH="672465" progId="Visio.Drawing.6">
                  <p:embed/>
                  <p:pic>
                    <p:nvPicPr>
                      <p:cNvPr id="0" name="图片 3346"/>
                      <p:cNvPicPr/>
                      <p:nvPr/>
                    </p:nvPicPr>
                    <p:blipFill>
                      <a:blip r:embed="rId10"/>
                      <a:stretch>
                        <a:fillRect/>
                      </a:stretch>
                    </p:blipFill>
                    <p:spPr>
                      <a:xfrm>
                        <a:off x="4211638" y="1052513"/>
                        <a:ext cx="2519362" cy="1260475"/>
                      </a:xfrm>
                      <a:prstGeom prst="rect">
                        <a:avLst/>
                      </a:prstGeom>
                      <a:noFill/>
                      <a:ln w="38100">
                        <a:noFill/>
                        <a:miter/>
                      </a:ln>
                    </p:spPr>
                  </p:pic>
                </p:oleObj>
              </mc:Fallback>
            </mc:AlternateContent>
          </a:graphicData>
        </a:graphic>
      </p:graphicFrame>
      <p:grpSp>
        <p:nvGrpSpPr>
          <p:cNvPr id="10" name="Group 19"/>
          <p:cNvGrpSpPr/>
          <p:nvPr/>
        </p:nvGrpSpPr>
        <p:grpSpPr>
          <a:xfrm>
            <a:off x="1784668" y="405766"/>
            <a:ext cx="5334000" cy="519113"/>
            <a:chOff x="1306" y="452"/>
            <a:chExt cx="3360" cy="327"/>
          </a:xfrm>
        </p:grpSpPr>
        <p:sp>
          <p:nvSpPr>
            <p:cNvPr id="11" name="Rectangle 20"/>
            <p:cNvSpPr/>
            <p:nvPr/>
          </p:nvSpPr>
          <p:spPr>
            <a:xfrm>
              <a:off x="1306" y="45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2.3   </a:t>
              </a:r>
              <a:r>
                <a:rPr lang="zh-CN" altLang="en-US" sz="2800" b="1" dirty="0">
                  <a:solidFill>
                    <a:schemeClr val="accent2"/>
                  </a:solidFill>
                  <a:latin typeface="Times New Roman" panose="02020603050405020304" pitchFamily="18" charset="0"/>
                </a:rPr>
                <a:t>电子噪 声及其特性</a:t>
              </a:r>
              <a:endParaRPr lang="zh-CN" altLang="en-US" sz="2800" b="1" dirty="0">
                <a:solidFill>
                  <a:schemeClr val="accent2"/>
                </a:solidFill>
                <a:latin typeface="Times New Roman" panose="02020603050405020304" pitchFamily="18" charset="0"/>
              </a:endParaRPr>
            </a:p>
          </p:txBody>
        </p:sp>
        <p:sp>
          <p:nvSpPr>
            <p:cNvPr id="12" name="Line 21"/>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60" name="Text Box 4"/>
          <p:cNvSpPr txBox="1"/>
          <p:nvPr/>
        </p:nvSpPr>
        <p:spPr>
          <a:xfrm>
            <a:off x="539750" y="1579563"/>
            <a:ext cx="3181350" cy="457200"/>
          </a:xfrm>
          <a:prstGeom prst="rect">
            <a:avLst/>
          </a:prstGeom>
          <a:noFill/>
          <a:ln w="9525">
            <a:noFill/>
          </a:ln>
        </p:spPr>
        <p:txBody>
          <a:bodyPr wrap="none">
            <a:spAutoFit/>
          </a:bodyPr>
          <a:lstStyle/>
          <a:p>
            <a:r>
              <a:rPr lang="zh-CN" altLang="en-US" sz="2000" b="1" dirty="0">
                <a:solidFill>
                  <a:srgbClr val="FF00FF"/>
                </a:solidFill>
                <a:latin typeface="Times New Roman" panose="02020603050405020304" pitchFamily="18" charset="0"/>
              </a:rPr>
              <a:t>（</a:t>
            </a:r>
            <a:r>
              <a:rPr lang="en-US" altLang="zh-CN" sz="2000" b="1" dirty="0">
                <a:solidFill>
                  <a:srgbClr val="FF00FF"/>
                </a:solidFill>
                <a:latin typeface="Times New Roman" panose="02020603050405020304" pitchFamily="18" charset="0"/>
              </a:rPr>
              <a:t>3</a:t>
            </a:r>
            <a:r>
              <a:rPr lang="zh-CN" altLang="en-US" sz="2000" b="1" dirty="0">
                <a:solidFill>
                  <a:srgbClr val="FF00FF"/>
                </a:solidFill>
                <a:latin typeface="Times New Roman" panose="02020603050405020304" pitchFamily="18" charset="0"/>
              </a:rPr>
              <a:t>）线性电路中的热噪声</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sp>
        <p:nvSpPr>
          <p:cNvPr id="53261" name="Text Box 5"/>
          <p:cNvSpPr txBox="1"/>
          <p:nvPr/>
        </p:nvSpPr>
        <p:spPr>
          <a:xfrm>
            <a:off x="179388" y="908050"/>
            <a:ext cx="3232150" cy="396875"/>
          </a:xfrm>
          <a:prstGeom prst="rect">
            <a:avLst/>
          </a:prstGeom>
          <a:noFill/>
          <a:ln w="9525">
            <a:noFill/>
          </a:ln>
        </p:spPr>
        <p:txBody>
          <a:bodyPr wrap="none">
            <a:spAutoFit/>
          </a:bodyPr>
          <a:lstStyle/>
          <a:p>
            <a:r>
              <a:rPr lang="zh-CN" altLang="en-US" sz="2000" dirty="0">
                <a:solidFill>
                  <a:srgbClr val="FF0066"/>
                </a:solidFill>
                <a:latin typeface="Times New Roman" panose="02020603050405020304" pitchFamily="18" charset="0"/>
              </a:rPr>
              <a:t>二、电子噪声的来源与特性</a:t>
            </a:r>
            <a:endParaRPr lang="zh-CN" altLang="en-US" sz="2000" dirty="0">
              <a:solidFill>
                <a:srgbClr val="FF0066"/>
              </a:solidFill>
              <a:latin typeface="Times New Roman" panose="02020603050405020304" pitchFamily="18" charset="0"/>
            </a:endParaRPr>
          </a:p>
        </p:txBody>
      </p:sp>
      <p:sp>
        <p:nvSpPr>
          <p:cNvPr id="53263" name="Text Box 9"/>
          <p:cNvSpPr txBox="1"/>
          <p:nvPr/>
        </p:nvSpPr>
        <p:spPr>
          <a:xfrm>
            <a:off x="684213" y="1196975"/>
            <a:ext cx="1911350" cy="396875"/>
          </a:xfrm>
          <a:prstGeom prst="rect">
            <a:avLst/>
          </a:prstGeom>
          <a:noFill/>
          <a:ln w="9525">
            <a:noFill/>
          </a:ln>
        </p:spPr>
        <p:txBody>
          <a:bodyPr wrap="none">
            <a:spAutoFit/>
          </a:bodyPr>
          <a:lstStyle/>
          <a:p>
            <a:pPr marL="457200" indent="-457200">
              <a:buAutoNum type="circleNumDbPlain"/>
            </a:pPr>
            <a:r>
              <a:rPr lang="zh-CN" altLang="en-US" sz="2000" dirty="0">
                <a:solidFill>
                  <a:schemeClr val="accent2"/>
                </a:solidFill>
                <a:latin typeface="Times New Roman" panose="02020603050405020304" pitchFamily="18" charset="0"/>
              </a:rPr>
              <a:t>电阻热噪声</a:t>
            </a:r>
            <a:endParaRPr lang="zh-CN" altLang="en-US" sz="2000" dirty="0">
              <a:solidFill>
                <a:schemeClr val="accent2"/>
              </a:solidFill>
              <a:latin typeface="Times New Roman" panose="02020603050405020304" pitchFamily="18" charset="0"/>
            </a:endParaRPr>
          </a:p>
        </p:txBody>
      </p:sp>
      <p:sp>
        <p:nvSpPr>
          <p:cNvPr id="53264" name="Text Box 10"/>
          <p:cNvSpPr txBox="1"/>
          <p:nvPr/>
        </p:nvSpPr>
        <p:spPr>
          <a:xfrm>
            <a:off x="1042988" y="2060575"/>
            <a:ext cx="2738437" cy="396875"/>
          </a:xfrm>
          <a:prstGeom prst="rect">
            <a:avLst/>
          </a:prstGeom>
          <a:noFill/>
          <a:ln w="9525">
            <a:noFill/>
          </a:ln>
        </p:spPr>
        <p:txBody>
          <a:bodyPr wrap="none">
            <a:spAutoFit/>
          </a:bodyPr>
          <a:lstStyle/>
          <a:p>
            <a:pPr marL="457200" indent="-457200"/>
            <a:r>
              <a:rPr lang="en-US" altLang="zh-CN" sz="2000" b="1" dirty="0">
                <a:solidFill>
                  <a:srgbClr val="CC9900"/>
                </a:solidFill>
                <a:latin typeface="Times New Roman" panose="02020603050405020304" pitchFamily="18" charset="0"/>
              </a:rPr>
              <a:t>b. </a:t>
            </a:r>
            <a:r>
              <a:rPr lang="zh-CN" altLang="en-US" sz="2000" b="1" dirty="0">
                <a:solidFill>
                  <a:srgbClr val="CC9900"/>
                </a:solidFill>
                <a:latin typeface="Times New Roman" panose="02020603050405020304" pitchFamily="18" charset="0"/>
              </a:rPr>
              <a:t>热噪声通过线形网络</a:t>
            </a:r>
            <a:endParaRPr lang="zh-CN" altLang="en-US" sz="2000" b="1" dirty="0">
              <a:solidFill>
                <a:srgbClr val="CC9900"/>
              </a:solidFill>
              <a:latin typeface="Times New Roman" panose="02020603050405020304" pitchFamily="18" charset="0"/>
            </a:endParaRPr>
          </a:p>
        </p:txBody>
      </p:sp>
      <p:graphicFrame>
        <p:nvGraphicFramePr>
          <p:cNvPr id="408587" name="Object 11"/>
          <p:cNvGraphicFramePr/>
          <p:nvPr/>
        </p:nvGraphicFramePr>
        <p:xfrm>
          <a:off x="5147945" y="2082800"/>
          <a:ext cx="1729105" cy="374650"/>
        </p:xfrm>
        <a:graphic>
          <a:graphicData uri="http://schemas.openxmlformats.org/presentationml/2006/ole">
            <mc:AlternateContent xmlns:mc="http://schemas.openxmlformats.org/markup-compatibility/2006">
              <mc:Choice xmlns:v="urn:schemas-microsoft-com:vml" Requires="v">
                <p:oleObj spid="_x0000_s2" name="" r:id="rId1" imgW="939165" imgH="241300" progId="Equation.DSMT4">
                  <p:embed/>
                </p:oleObj>
              </mc:Choice>
              <mc:Fallback>
                <p:oleObj name="" r:id="rId1" imgW="939165" imgH="241300" progId="Equation.DSMT4">
                  <p:embed/>
                  <p:pic>
                    <p:nvPicPr>
                      <p:cNvPr id="0" name="图片 3355"/>
                      <p:cNvPicPr/>
                      <p:nvPr/>
                    </p:nvPicPr>
                    <p:blipFill>
                      <a:blip r:embed="rId2"/>
                      <a:stretch>
                        <a:fillRect/>
                      </a:stretch>
                    </p:blipFill>
                    <p:spPr>
                      <a:xfrm>
                        <a:off x="5147945" y="2082800"/>
                        <a:ext cx="1729105" cy="374650"/>
                      </a:xfrm>
                      <a:prstGeom prst="rect">
                        <a:avLst/>
                      </a:prstGeom>
                      <a:noFill/>
                      <a:ln w="38100">
                        <a:noFill/>
                        <a:miter/>
                      </a:ln>
                    </p:spPr>
                  </p:pic>
                </p:oleObj>
              </mc:Fallback>
            </mc:AlternateContent>
          </a:graphicData>
        </a:graphic>
      </p:graphicFrame>
      <p:graphicFrame>
        <p:nvGraphicFramePr>
          <p:cNvPr id="53259" name="Object 13"/>
          <p:cNvGraphicFramePr/>
          <p:nvPr/>
        </p:nvGraphicFramePr>
        <p:xfrm>
          <a:off x="3851910" y="1018540"/>
          <a:ext cx="2376170" cy="1114425"/>
        </p:xfrm>
        <a:graphic>
          <a:graphicData uri="http://schemas.openxmlformats.org/presentationml/2006/ole">
            <mc:AlternateContent xmlns:mc="http://schemas.openxmlformats.org/markup-compatibility/2006">
              <mc:Choice xmlns:v="urn:schemas-microsoft-com:vml" Requires="v">
                <p:oleObj spid="_x0000_s3" name="" r:id="rId3" imgW="1790065" imgH="761365" progId="Equation.DSMT4">
                  <p:embed/>
                </p:oleObj>
              </mc:Choice>
              <mc:Fallback>
                <p:oleObj name="" r:id="rId3" imgW="1790065" imgH="761365" progId="Equation.DSMT4">
                  <p:embed/>
                  <p:pic>
                    <p:nvPicPr>
                      <p:cNvPr id="0" name="图片 3356"/>
                      <p:cNvPicPr/>
                      <p:nvPr/>
                    </p:nvPicPr>
                    <p:blipFill>
                      <a:blip r:embed="rId4"/>
                      <a:stretch>
                        <a:fillRect/>
                      </a:stretch>
                    </p:blipFill>
                    <p:spPr>
                      <a:xfrm>
                        <a:off x="3851910" y="1018540"/>
                        <a:ext cx="2376170" cy="1114425"/>
                      </a:xfrm>
                      <a:prstGeom prst="rect">
                        <a:avLst/>
                      </a:prstGeom>
                      <a:noFill/>
                      <a:ln w="38100">
                        <a:noFill/>
                        <a:miter/>
                      </a:ln>
                    </p:spPr>
                  </p:pic>
                </p:oleObj>
              </mc:Fallback>
            </mc:AlternateContent>
          </a:graphicData>
        </a:graphic>
      </p:graphicFrame>
      <p:graphicFrame>
        <p:nvGraphicFramePr>
          <p:cNvPr id="53251" name="Object 16"/>
          <p:cNvGraphicFramePr/>
          <p:nvPr/>
        </p:nvGraphicFramePr>
        <p:xfrm>
          <a:off x="6515735" y="1018540"/>
          <a:ext cx="2106930" cy="1152525"/>
        </p:xfrm>
        <a:graphic>
          <a:graphicData uri="http://schemas.openxmlformats.org/presentationml/2006/ole">
            <mc:AlternateContent xmlns:mc="http://schemas.openxmlformats.org/markup-compatibility/2006">
              <mc:Choice xmlns:v="urn:schemas-microsoft-com:vml" Requires="v">
                <p:oleObj spid="_x0000_s4" name="" r:id="rId5" imgW="1370965" imgH="761365" progId="Equation.DSMT4">
                  <p:embed/>
                </p:oleObj>
              </mc:Choice>
              <mc:Fallback>
                <p:oleObj name="" r:id="rId5" imgW="1370965" imgH="761365" progId="Equation.DSMT4">
                  <p:embed/>
                  <p:pic>
                    <p:nvPicPr>
                      <p:cNvPr id="0" name="图片 3348"/>
                      <p:cNvPicPr/>
                      <p:nvPr/>
                    </p:nvPicPr>
                    <p:blipFill>
                      <a:blip r:embed="rId6"/>
                      <a:stretch>
                        <a:fillRect/>
                      </a:stretch>
                    </p:blipFill>
                    <p:spPr>
                      <a:xfrm>
                        <a:off x="6515735" y="1018540"/>
                        <a:ext cx="2106930" cy="1152525"/>
                      </a:xfrm>
                      <a:prstGeom prst="rect">
                        <a:avLst/>
                      </a:prstGeom>
                      <a:noFill/>
                      <a:ln w="38100">
                        <a:noFill/>
                        <a:miter/>
                      </a:ln>
                    </p:spPr>
                  </p:pic>
                </p:oleObj>
              </mc:Fallback>
            </mc:AlternateContent>
          </a:graphicData>
        </a:graphic>
      </p:graphicFrame>
      <p:graphicFrame>
        <p:nvGraphicFramePr>
          <p:cNvPr id="408595" name="Object 19"/>
          <p:cNvGraphicFramePr/>
          <p:nvPr/>
        </p:nvGraphicFramePr>
        <p:xfrm>
          <a:off x="3491865" y="3356928"/>
          <a:ext cx="1584325" cy="1268412"/>
        </p:xfrm>
        <a:graphic>
          <a:graphicData uri="http://schemas.openxmlformats.org/presentationml/2006/ole">
            <mc:AlternateContent xmlns:mc="http://schemas.openxmlformats.org/markup-compatibility/2006">
              <mc:Choice xmlns:v="urn:schemas-microsoft-com:vml" Requires="v">
                <p:oleObj spid="_x0000_s5" name="" r:id="rId7" imgW="824865" imgH="660400" progId="Equation.DSMT4">
                  <p:embed/>
                </p:oleObj>
              </mc:Choice>
              <mc:Fallback>
                <p:oleObj name="" r:id="rId7" imgW="824865" imgH="660400" progId="Equation.DSMT4">
                  <p:embed/>
                  <p:pic>
                    <p:nvPicPr>
                      <p:cNvPr id="0" name="图片 3343"/>
                      <p:cNvPicPr/>
                      <p:nvPr/>
                    </p:nvPicPr>
                    <p:blipFill>
                      <a:blip r:embed="rId8"/>
                      <a:stretch>
                        <a:fillRect/>
                      </a:stretch>
                    </p:blipFill>
                    <p:spPr>
                      <a:xfrm>
                        <a:off x="3491865" y="3356928"/>
                        <a:ext cx="1584325" cy="1268412"/>
                      </a:xfrm>
                      <a:prstGeom prst="rect">
                        <a:avLst/>
                      </a:prstGeom>
                      <a:noFill/>
                      <a:ln w="38100">
                        <a:noFill/>
                        <a:miter/>
                      </a:ln>
                    </p:spPr>
                  </p:pic>
                </p:oleObj>
              </mc:Fallback>
            </mc:AlternateContent>
          </a:graphicData>
        </a:graphic>
      </p:graphicFrame>
      <p:graphicFrame>
        <p:nvGraphicFramePr>
          <p:cNvPr id="408596" name="Object 20"/>
          <p:cNvGraphicFramePr/>
          <p:nvPr/>
        </p:nvGraphicFramePr>
        <p:xfrm>
          <a:off x="467043" y="2781300"/>
          <a:ext cx="3313112" cy="657225"/>
        </p:xfrm>
        <a:graphic>
          <a:graphicData uri="http://schemas.openxmlformats.org/presentationml/2006/ole">
            <mc:AlternateContent xmlns:mc="http://schemas.openxmlformats.org/markup-compatibility/2006">
              <mc:Choice xmlns:v="urn:schemas-microsoft-com:vml" Requires="v">
                <p:oleObj spid="_x0000_s6" name="" r:id="rId9" imgW="1663065" imgH="330200" progId="Equation.DSMT4">
                  <p:embed/>
                </p:oleObj>
              </mc:Choice>
              <mc:Fallback>
                <p:oleObj name="" r:id="rId9" imgW="1663065" imgH="330200" progId="Equation.DSMT4">
                  <p:embed/>
                  <p:pic>
                    <p:nvPicPr>
                      <p:cNvPr id="0" name="图片 3349"/>
                      <p:cNvPicPr/>
                      <p:nvPr/>
                    </p:nvPicPr>
                    <p:blipFill>
                      <a:blip r:embed="rId10"/>
                      <a:stretch>
                        <a:fillRect/>
                      </a:stretch>
                    </p:blipFill>
                    <p:spPr>
                      <a:xfrm>
                        <a:off x="467043" y="2781300"/>
                        <a:ext cx="3313112" cy="657225"/>
                      </a:xfrm>
                      <a:prstGeom prst="rect">
                        <a:avLst/>
                      </a:prstGeom>
                      <a:noFill/>
                      <a:ln w="38100">
                        <a:noFill/>
                        <a:miter/>
                      </a:ln>
                    </p:spPr>
                  </p:pic>
                </p:oleObj>
              </mc:Fallback>
            </mc:AlternateContent>
          </a:graphicData>
        </a:graphic>
      </p:graphicFrame>
      <p:graphicFrame>
        <p:nvGraphicFramePr>
          <p:cNvPr id="408597" name="Object 21"/>
          <p:cNvGraphicFramePr/>
          <p:nvPr/>
        </p:nvGraphicFramePr>
        <p:xfrm>
          <a:off x="3851593" y="2348548"/>
          <a:ext cx="3095625" cy="1492250"/>
        </p:xfrm>
        <a:graphic>
          <a:graphicData uri="http://schemas.openxmlformats.org/presentationml/2006/ole">
            <mc:AlternateContent xmlns:mc="http://schemas.openxmlformats.org/markup-compatibility/2006">
              <mc:Choice xmlns:v="urn:schemas-microsoft-com:vml" Requires="v">
                <p:oleObj spid="_x0000_s7" name="" r:id="rId11" imgW="1739900" imgH="838200" progId="Equation.DSMT4">
                  <p:embed/>
                </p:oleObj>
              </mc:Choice>
              <mc:Fallback>
                <p:oleObj name="" r:id="rId11" imgW="1739900" imgH="838200" progId="Equation.DSMT4">
                  <p:embed/>
                  <p:pic>
                    <p:nvPicPr>
                      <p:cNvPr id="0" name="图片 3351"/>
                      <p:cNvPicPr/>
                      <p:nvPr/>
                    </p:nvPicPr>
                    <p:blipFill>
                      <a:blip r:embed="rId12"/>
                      <a:stretch>
                        <a:fillRect/>
                      </a:stretch>
                    </p:blipFill>
                    <p:spPr>
                      <a:xfrm>
                        <a:off x="3851593" y="2348548"/>
                        <a:ext cx="3095625" cy="1492250"/>
                      </a:xfrm>
                      <a:prstGeom prst="rect">
                        <a:avLst/>
                      </a:prstGeom>
                      <a:noFill/>
                      <a:ln w="38100">
                        <a:noFill/>
                        <a:miter/>
                      </a:ln>
                    </p:spPr>
                  </p:pic>
                </p:oleObj>
              </mc:Fallback>
            </mc:AlternateContent>
          </a:graphicData>
        </a:graphic>
      </p:graphicFrame>
      <p:graphicFrame>
        <p:nvGraphicFramePr>
          <p:cNvPr id="408598" name="Object 22"/>
          <p:cNvGraphicFramePr/>
          <p:nvPr/>
        </p:nvGraphicFramePr>
        <p:xfrm>
          <a:off x="406083" y="3717290"/>
          <a:ext cx="3025775" cy="1122363"/>
        </p:xfrm>
        <a:graphic>
          <a:graphicData uri="http://schemas.openxmlformats.org/presentationml/2006/ole">
            <mc:AlternateContent xmlns:mc="http://schemas.openxmlformats.org/markup-compatibility/2006">
              <mc:Choice xmlns:v="urn:schemas-microsoft-com:vml" Requires="v">
                <p:oleObj spid="_x0000_s8" name="" r:id="rId13" imgW="1675765" imgH="622300" progId="Equation.DSMT4">
                  <p:embed/>
                </p:oleObj>
              </mc:Choice>
              <mc:Fallback>
                <p:oleObj name="" r:id="rId13" imgW="1675765" imgH="622300" progId="Equation.DSMT4">
                  <p:embed/>
                  <p:pic>
                    <p:nvPicPr>
                      <p:cNvPr id="0" name="图片 3341"/>
                      <p:cNvPicPr/>
                      <p:nvPr/>
                    </p:nvPicPr>
                    <p:blipFill>
                      <a:blip r:embed="rId14"/>
                      <a:stretch>
                        <a:fillRect/>
                      </a:stretch>
                    </p:blipFill>
                    <p:spPr>
                      <a:xfrm>
                        <a:off x="406083" y="3717290"/>
                        <a:ext cx="3025775" cy="1122363"/>
                      </a:xfrm>
                      <a:prstGeom prst="rect">
                        <a:avLst/>
                      </a:prstGeom>
                      <a:noFill/>
                      <a:ln w="38100">
                        <a:noFill/>
                        <a:miter/>
                      </a:ln>
                    </p:spPr>
                  </p:pic>
                </p:oleObj>
              </mc:Fallback>
            </mc:AlternateContent>
          </a:graphicData>
        </a:graphic>
      </p:graphicFrame>
      <p:grpSp>
        <p:nvGrpSpPr>
          <p:cNvPr id="9" name="Group 26"/>
          <p:cNvGrpSpPr/>
          <p:nvPr/>
        </p:nvGrpSpPr>
        <p:grpSpPr>
          <a:xfrm>
            <a:off x="5135880" y="3916363"/>
            <a:ext cx="4119563" cy="774700"/>
            <a:chOff x="2018" y="3566"/>
            <a:chExt cx="2595" cy="488"/>
          </a:xfrm>
        </p:grpSpPr>
        <p:sp>
          <p:nvSpPr>
            <p:cNvPr id="53271" name="Text Box 24"/>
            <p:cNvSpPr txBox="1"/>
            <p:nvPr/>
          </p:nvSpPr>
          <p:spPr>
            <a:xfrm>
              <a:off x="2018" y="3656"/>
              <a:ext cx="2595" cy="251"/>
            </a:xfrm>
            <a:prstGeom prst="rect">
              <a:avLst/>
            </a:prstGeom>
            <a:noFill/>
            <a:ln w="9525">
              <a:noFill/>
            </a:ln>
          </p:spPr>
          <p:txBody>
            <a:bodyPr wrap="none">
              <a:spAutoFit/>
            </a:bodyPr>
            <a:lstStyle/>
            <a:p>
              <a:r>
                <a:rPr lang="zh-CN" altLang="en-US" sz="2000" dirty="0">
                  <a:latin typeface="Times New Roman" panose="02020603050405020304" pitchFamily="18" charset="0"/>
                </a:rPr>
                <a:t>这里                      是回路谐振电阻。</a:t>
              </a:r>
              <a:endParaRPr lang="zh-CN" altLang="en-US" sz="2000" dirty="0">
                <a:latin typeface="Times New Roman" panose="02020603050405020304" pitchFamily="18" charset="0"/>
              </a:endParaRPr>
            </a:p>
          </p:txBody>
        </p:sp>
        <p:graphicFrame>
          <p:nvGraphicFramePr>
            <p:cNvPr id="53258" name="Object 25"/>
            <p:cNvGraphicFramePr/>
            <p:nvPr/>
          </p:nvGraphicFramePr>
          <p:xfrm>
            <a:off x="2381" y="3566"/>
            <a:ext cx="861" cy="488"/>
          </p:xfrm>
          <a:graphic>
            <a:graphicData uri="http://schemas.openxmlformats.org/presentationml/2006/ole">
              <mc:AlternateContent xmlns:mc="http://schemas.openxmlformats.org/markup-compatibility/2006">
                <mc:Choice xmlns:v="urn:schemas-microsoft-com:vml" Requires="v">
                  <p:oleObj spid="_x0000_s10" name="" r:id="rId15" imgW="761365" imgH="431800" progId="Equation.DSMT4">
                    <p:embed/>
                  </p:oleObj>
                </mc:Choice>
                <mc:Fallback>
                  <p:oleObj name="" r:id="rId15" imgW="761365" imgH="431800" progId="Equation.DSMT4">
                    <p:embed/>
                    <p:pic>
                      <p:nvPicPr>
                        <p:cNvPr id="0" name="图片 3347"/>
                        <p:cNvPicPr/>
                        <p:nvPr/>
                      </p:nvPicPr>
                      <p:blipFill>
                        <a:blip r:embed="rId16"/>
                        <a:stretch>
                          <a:fillRect/>
                        </a:stretch>
                      </p:blipFill>
                      <p:spPr>
                        <a:xfrm>
                          <a:off x="2381" y="3566"/>
                          <a:ext cx="861" cy="488"/>
                        </a:xfrm>
                        <a:prstGeom prst="rect">
                          <a:avLst/>
                        </a:prstGeom>
                        <a:noFill/>
                        <a:ln w="38100">
                          <a:noFill/>
                          <a:miter/>
                        </a:ln>
                      </p:spPr>
                    </p:pic>
                  </p:oleObj>
                </mc:Fallback>
              </mc:AlternateContent>
            </a:graphicData>
          </a:graphic>
        </p:graphicFrame>
      </p:grpSp>
      <p:sp>
        <p:nvSpPr>
          <p:cNvPr id="408603" name="Rectangle 27"/>
          <p:cNvSpPr/>
          <p:nvPr/>
        </p:nvSpPr>
        <p:spPr>
          <a:xfrm>
            <a:off x="251460" y="5118735"/>
            <a:ext cx="3858895" cy="1198880"/>
          </a:xfrm>
          <a:prstGeom prst="rect">
            <a:avLst/>
          </a:prstGeom>
          <a:solidFill>
            <a:schemeClr val="accent1">
              <a:lumMod val="20000"/>
              <a:lumOff val="80000"/>
            </a:schemeClr>
          </a:solidFill>
          <a:ln w="9525">
            <a:noFill/>
          </a:ln>
        </p:spPr>
        <p:txBody>
          <a:bodyPr wrap="square">
            <a:spAutoFit/>
          </a:bodyPr>
          <a:lstStyle/>
          <a:p>
            <a:r>
              <a:rPr lang="zh-CN" altLang="en-US" dirty="0">
                <a:solidFill>
                  <a:schemeClr val="accent2"/>
                </a:solidFill>
                <a:latin typeface="Times New Roman" panose="02020603050405020304" pitchFamily="18" charset="0"/>
              </a:rPr>
              <a:t>结论</a:t>
            </a:r>
            <a:r>
              <a:rPr lang="zh-CN" altLang="en-US" dirty="0">
                <a:latin typeface="Times New Roman" panose="02020603050405020304" pitchFamily="18" charset="0"/>
                <a:sym typeface="Wingdings" panose="05000000000000000000" pitchFamily="2" charset="2"/>
              </a:rPr>
              <a:t>（</a:t>
            </a:r>
            <a:r>
              <a:rPr lang="en-US" altLang="zh-CN" dirty="0">
                <a:latin typeface="Times New Roman" panose="02020603050405020304" pitchFamily="18" charset="0"/>
                <a:sym typeface="Wingdings" panose="05000000000000000000" pitchFamily="2" charset="2"/>
              </a:rPr>
              <a:t>1</a:t>
            </a:r>
            <a:r>
              <a:rPr lang="zh-CN" altLang="en-US" dirty="0">
                <a:latin typeface="Times New Roman" panose="02020603050405020304" pitchFamily="18" charset="0"/>
                <a:sym typeface="Wingdings" panose="05000000000000000000" pitchFamily="2" charset="2"/>
              </a:rPr>
              <a:t>）</a:t>
            </a:r>
            <a:r>
              <a:rPr lang="zh-CN" altLang="en-US" dirty="0">
                <a:latin typeface="Times New Roman" panose="02020603050405020304" pitchFamily="18" charset="0"/>
              </a:rPr>
              <a:t>电阻热噪声通过线性电路后，一般</a:t>
            </a:r>
            <a:r>
              <a:rPr lang="zh-CN" altLang="en-US" dirty="0">
                <a:solidFill>
                  <a:srgbClr val="FF0066"/>
                </a:solidFill>
                <a:latin typeface="Times New Roman" panose="02020603050405020304" pitchFamily="18" charset="0"/>
              </a:rPr>
              <a:t>不再是白噪声。</a:t>
            </a:r>
            <a:endParaRPr lang="zh-CN" altLang="en-US" dirty="0">
              <a:solidFill>
                <a:srgbClr val="FF0066"/>
              </a:solidFill>
              <a:latin typeface="Times New Roman" panose="02020603050405020304" pitchFamily="18" charset="0"/>
            </a:endParaRPr>
          </a:p>
        </p:txBody>
      </p:sp>
      <p:grpSp>
        <p:nvGrpSpPr>
          <p:cNvPr id="11" name="Group 31"/>
          <p:cNvGrpSpPr/>
          <p:nvPr/>
        </p:nvGrpSpPr>
        <p:grpSpPr>
          <a:xfrm>
            <a:off x="4211955" y="5118735"/>
            <a:ext cx="4824413" cy="1189038"/>
            <a:chOff x="2426" y="1298"/>
            <a:chExt cx="3039" cy="749"/>
          </a:xfrm>
        </p:grpSpPr>
        <p:sp>
          <p:nvSpPr>
            <p:cNvPr id="53270" name="Rectangle 28"/>
            <p:cNvSpPr/>
            <p:nvPr/>
          </p:nvSpPr>
          <p:spPr>
            <a:xfrm>
              <a:off x="2426" y="1298"/>
              <a:ext cx="3039" cy="748"/>
            </a:xfrm>
            <a:prstGeom prst="rect">
              <a:avLst/>
            </a:prstGeom>
            <a:solidFill>
              <a:schemeClr val="accent1">
                <a:lumMod val="20000"/>
                <a:lumOff val="80000"/>
              </a:schemeClr>
            </a:solidFill>
            <a:ln w="9525">
              <a:noFill/>
            </a:ln>
          </p:spPr>
          <p:txBody>
            <a:bodyPr>
              <a:spAutoFit/>
            </a:bodyPr>
            <a:lstStyle/>
            <a:p>
              <a:r>
                <a:rPr lang="zh-CN" altLang="en-US" dirty="0">
                  <a:latin typeface="Times New Roman" panose="02020603050405020304" pitchFamily="18" charset="0"/>
                </a:rPr>
                <a:t>（</a:t>
              </a:r>
              <a:r>
                <a:rPr lang="en-US" altLang="zh-CN" dirty="0">
                  <a:latin typeface="Times New Roman" panose="02020603050405020304" pitchFamily="18" charset="0"/>
                </a:rPr>
                <a:t>2</a:t>
              </a:r>
              <a:r>
                <a:rPr lang="zh-CN" altLang="en-US" dirty="0">
                  <a:latin typeface="Times New Roman" panose="02020603050405020304" pitchFamily="18" charset="0"/>
                </a:rPr>
                <a:t>）二端线性电路其噪声电压或噪声电流谱密度</a:t>
              </a:r>
              <a:r>
                <a:rPr lang="zh-CN" altLang="en-US" dirty="0">
                  <a:solidFill>
                    <a:srgbClr val="FF0066"/>
                  </a:solidFill>
                  <a:latin typeface="Times New Roman" panose="02020603050405020304" pitchFamily="18" charset="0"/>
                </a:rPr>
                <a:t>可用等效电阻 </a:t>
              </a:r>
              <a:endParaRPr lang="zh-CN" altLang="en-US" dirty="0">
                <a:solidFill>
                  <a:srgbClr val="FF0066"/>
                </a:solidFill>
                <a:latin typeface="Times New Roman" panose="02020603050405020304" pitchFamily="18" charset="0"/>
              </a:endParaRPr>
            </a:p>
            <a:p>
              <a:r>
                <a:rPr lang="zh-CN" altLang="en-US" dirty="0">
                  <a:solidFill>
                    <a:srgbClr val="FF0066"/>
                  </a:solidFill>
                  <a:latin typeface="Times New Roman" panose="02020603050405020304" pitchFamily="18" charset="0"/>
                </a:rPr>
                <a:t>                 来代替</a:t>
              </a:r>
              <a:endParaRPr lang="zh-CN" altLang="en-US" dirty="0">
                <a:solidFill>
                  <a:srgbClr val="FF0066"/>
                </a:solidFill>
                <a:latin typeface="Times New Roman" panose="02020603050405020304" pitchFamily="18" charset="0"/>
              </a:endParaRPr>
            </a:p>
          </p:txBody>
        </p:sp>
        <p:graphicFrame>
          <p:nvGraphicFramePr>
            <p:cNvPr id="53256" name="Object 29"/>
            <p:cNvGraphicFramePr/>
            <p:nvPr/>
          </p:nvGraphicFramePr>
          <p:xfrm>
            <a:off x="2517" y="1752"/>
            <a:ext cx="589" cy="295"/>
          </p:xfrm>
          <a:graphic>
            <a:graphicData uri="http://schemas.openxmlformats.org/presentationml/2006/ole">
              <mc:AlternateContent xmlns:mc="http://schemas.openxmlformats.org/markup-compatibility/2006">
                <mc:Choice xmlns:v="urn:schemas-microsoft-com:vml" Requires="v">
                  <p:oleObj spid="_x0000_s12" name="" r:id="rId17" imgW="457200" imgH="228600" progId="Equation.DSMT4">
                    <p:embed/>
                  </p:oleObj>
                </mc:Choice>
                <mc:Fallback>
                  <p:oleObj name="" r:id="rId17" imgW="457200" imgH="228600" progId="Equation.DSMT4">
                    <p:embed/>
                    <p:pic>
                      <p:nvPicPr>
                        <p:cNvPr id="0" name="图片 3357"/>
                        <p:cNvPicPr/>
                        <p:nvPr/>
                      </p:nvPicPr>
                      <p:blipFill>
                        <a:blip r:embed="rId18"/>
                        <a:stretch>
                          <a:fillRect/>
                        </a:stretch>
                      </p:blipFill>
                      <p:spPr>
                        <a:xfrm>
                          <a:off x="2517" y="1752"/>
                          <a:ext cx="589" cy="295"/>
                        </a:xfrm>
                        <a:prstGeom prst="rect">
                          <a:avLst/>
                        </a:prstGeom>
                        <a:noFill/>
                        <a:ln w="38100">
                          <a:noFill/>
                          <a:miter/>
                        </a:ln>
                      </p:spPr>
                    </p:pic>
                  </p:oleObj>
                </mc:Fallback>
              </mc:AlternateContent>
            </a:graphicData>
          </a:graphic>
        </p:graphicFrame>
        <p:graphicFrame>
          <p:nvGraphicFramePr>
            <p:cNvPr id="53257" name="Object 30"/>
            <p:cNvGraphicFramePr/>
            <p:nvPr/>
          </p:nvGraphicFramePr>
          <p:xfrm>
            <a:off x="3923" y="1797"/>
            <a:ext cx="483" cy="225"/>
          </p:xfrm>
          <a:graphic>
            <a:graphicData uri="http://schemas.openxmlformats.org/presentationml/2006/ole">
              <mc:AlternateContent xmlns:mc="http://schemas.openxmlformats.org/markup-compatibility/2006">
                <mc:Choice xmlns:v="urn:schemas-microsoft-com:vml" Requires="v">
                  <p:oleObj spid="_x0000_s13" name="" r:id="rId19" imgW="380365" imgH="177800" progId="Equation.DSMT4">
                    <p:embed/>
                  </p:oleObj>
                </mc:Choice>
                <mc:Fallback>
                  <p:oleObj name="" r:id="rId19" imgW="380365" imgH="177800" progId="Equation.DSMT4">
                    <p:embed/>
                    <p:pic>
                      <p:nvPicPr>
                        <p:cNvPr id="0" name="图片 3342"/>
                        <p:cNvPicPr/>
                        <p:nvPr/>
                      </p:nvPicPr>
                      <p:blipFill>
                        <a:blip r:embed="rId20"/>
                        <a:stretch>
                          <a:fillRect/>
                        </a:stretch>
                      </p:blipFill>
                      <p:spPr>
                        <a:xfrm>
                          <a:off x="3923" y="1797"/>
                          <a:ext cx="483" cy="225"/>
                        </a:xfrm>
                        <a:prstGeom prst="rect">
                          <a:avLst/>
                        </a:prstGeom>
                        <a:noFill/>
                        <a:ln w="38100">
                          <a:noFill/>
                          <a:miter/>
                        </a:ln>
                      </p:spPr>
                    </p:pic>
                  </p:oleObj>
                </mc:Fallback>
              </mc:AlternateContent>
            </a:graphicData>
          </a:graphic>
        </p:graphicFrame>
      </p:grpSp>
      <p:grpSp>
        <p:nvGrpSpPr>
          <p:cNvPr id="14" name="Group 19"/>
          <p:cNvGrpSpPr/>
          <p:nvPr/>
        </p:nvGrpSpPr>
        <p:grpSpPr>
          <a:xfrm>
            <a:off x="1784668" y="405766"/>
            <a:ext cx="5334000" cy="519113"/>
            <a:chOff x="1306" y="452"/>
            <a:chExt cx="3360" cy="327"/>
          </a:xfrm>
        </p:grpSpPr>
        <p:sp>
          <p:nvSpPr>
            <p:cNvPr id="15" name="Rectangle 20"/>
            <p:cNvSpPr/>
            <p:nvPr/>
          </p:nvSpPr>
          <p:spPr>
            <a:xfrm>
              <a:off x="1306" y="45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2.3   </a:t>
              </a:r>
              <a:r>
                <a:rPr lang="zh-CN" altLang="en-US" sz="2800" b="1" dirty="0">
                  <a:solidFill>
                    <a:schemeClr val="accent2"/>
                  </a:solidFill>
                  <a:latin typeface="Times New Roman" panose="02020603050405020304" pitchFamily="18" charset="0"/>
                </a:rPr>
                <a:t>电子噪 声及其特性</a:t>
              </a:r>
              <a:endParaRPr lang="zh-CN" altLang="en-US" sz="2800" b="1" dirty="0">
                <a:solidFill>
                  <a:schemeClr val="accent2"/>
                </a:solidFill>
                <a:latin typeface="Times New Roman" panose="02020603050405020304" pitchFamily="18" charset="0"/>
              </a:endParaRPr>
            </a:p>
          </p:txBody>
        </p:sp>
        <p:sp>
          <p:nvSpPr>
            <p:cNvPr id="16" name="Line 21"/>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Text Box 4"/>
          <p:cNvSpPr txBox="1"/>
          <p:nvPr/>
        </p:nvSpPr>
        <p:spPr>
          <a:xfrm>
            <a:off x="539750" y="1628775"/>
            <a:ext cx="1835150" cy="396875"/>
          </a:xfrm>
          <a:prstGeom prst="rect">
            <a:avLst/>
          </a:prstGeom>
          <a:noFill/>
          <a:ln w="9525">
            <a:noFill/>
          </a:ln>
        </p:spPr>
        <p:txBody>
          <a:bodyPr wrap="none">
            <a:spAutoFit/>
          </a:bodyPr>
          <a:lstStyle/>
          <a:p>
            <a:r>
              <a:rPr lang="zh-CN" altLang="en-US" sz="2000" b="1" dirty="0">
                <a:solidFill>
                  <a:srgbClr val="FF00FF"/>
                </a:solidFill>
                <a:latin typeface="Times New Roman" panose="02020603050405020304" pitchFamily="18" charset="0"/>
              </a:rPr>
              <a:t>（</a:t>
            </a:r>
            <a:r>
              <a:rPr lang="en-US" altLang="zh-CN" sz="2000" b="1" dirty="0">
                <a:solidFill>
                  <a:srgbClr val="FF00FF"/>
                </a:solidFill>
                <a:latin typeface="Times New Roman" panose="02020603050405020304" pitchFamily="18" charset="0"/>
              </a:rPr>
              <a:t>4</a:t>
            </a:r>
            <a:r>
              <a:rPr lang="zh-CN" altLang="en-US" sz="2000" b="1" dirty="0">
                <a:solidFill>
                  <a:srgbClr val="FF00FF"/>
                </a:solidFill>
                <a:latin typeface="Times New Roman" panose="02020603050405020304" pitchFamily="18" charset="0"/>
              </a:rPr>
              <a:t>）噪声带宽</a:t>
            </a:r>
            <a:endParaRPr lang="zh-CN" altLang="en-US" sz="2000" b="1" dirty="0">
              <a:solidFill>
                <a:srgbClr val="FF00FF"/>
              </a:solidFill>
              <a:latin typeface="Times New Roman" panose="02020603050405020304" pitchFamily="18" charset="0"/>
            </a:endParaRPr>
          </a:p>
        </p:txBody>
      </p:sp>
      <p:sp>
        <p:nvSpPr>
          <p:cNvPr id="54276" name="Text Box 5"/>
          <p:cNvSpPr txBox="1"/>
          <p:nvPr/>
        </p:nvSpPr>
        <p:spPr>
          <a:xfrm>
            <a:off x="179388" y="908050"/>
            <a:ext cx="3232150" cy="396875"/>
          </a:xfrm>
          <a:prstGeom prst="rect">
            <a:avLst/>
          </a:prstGeom>
          <a:noFill/>
          <a:ln w="9525">
            <a:noFill/>
          </a:ln>
        </p:spPr>
        <p:txBody>
          <a:bodyPr wrap="none">
            <a:spAutoFit/>
          </a:bodyPr>
          <a:lstStyle/>
          <a:p>
            <a:r>
              <a:rPr lang="zh-CN" altLang="en-US" sz="2000" dirty="0">
                <a:solidFill>
                  <a:srgbClr val="FF0066"/>
                </a:solidFill>
                <a:latin typeface="Times New Roman" panose="02020603050405020304" pitchFamily="18" charset="0"/>
              </a:rPr>
              <a:t>二、电子噪声的来源与特性</a:t>
            </a:r>
            <a:endParaRPr lang="zh-CN" altLang="en-US" sz="2000" dirty="0">
              <a:solidFill>
                <a:srgbClr val="FF0066"/>
              </a:solidFill>
              <a:latin typeface="Times New Roman" panose="02020603050405020304" pitchFamily="18" charset="0"/>
            </a:endParaRPr>
          </a:p>
        </p:txBody>
      </p:sp>
      <p:sp>
        <p:nvSpPr>
          <p:cNvPr id="54278" name="Text Box 9"/>
          <p:cNvSpPr txBox="1"/>
          <p:nvPr/>
        </p:nvSpPr>
        <p:spPr>
          <a:xfrm>
            <a:off x="683578" y="1268730"/>
            <a:ext cx="1911350" cy="396875"/>
          </a:xfrm>
          <a:prstGeom prst="rect">
            <a:avLst/>
          </a:prstGeom>
          <a:noFill/>
          <a:ln w="9525">
            <a:noFill/>
          </a:ln>
        </p:spPr>
        <p:txBody>
          <a:bodyPr wrap="none">
            <a:spAutoFit/>
          </a:bodyPr>
          <a:lstStyle/>
          <a:p>
            <a:pPr marL="457200" indent="-457200">
              <a:buAutoNum type="circleNumDbPlain"/>
            </a:pPr>
            <a:r>
              <a:rPr lang="zh-CN" altLang="en-US" sz="2000" dirty="0">
                <a:solidFill>
                  <a:schemeClr val="accent2"/>
                </a:solidFill>
                <a:latin typeface="Times New Roman" panose="02020603050405020304" pitchFamily="18" charset="0"/>
              </a:rPr>
              <a:t>电阻热噪声</a:t>
            </a:r>
            <a:endParaRPr lang="zh-CN" altLang="en-US" sz="2000" dirty="0">
              <a:solidFill>
                <a:schemeClr val="accent2"/>
              </a:solidFill>
              <a:latin typeface="Times New Roman" panose="02020603050405020304" pitchFamily="18" charset="0"/>
            </a:endParaRPr>
          </a:p>
        </p:txBody>
      </p:sp>
      <p:sp>
        <p:nvSpPr>
          <p:cNvPr id="409610" name="Text Box 10"/>
          <p:cNvSpPr txBox="1"/>
          <p:nvPr/>
        </p:nvSpPr>
        <p:spPr>
          <a:xfrm>
            <a:off x="611188" y="1916113"/>
            <a:ext cx="8156575" cy="1920875"/>
          </a:xfrm>
          <a:prstGeom prst="rect">
            <a:avLst/>
          </a:prstGeom>
          <a:noFill/>
          <a:ln w="9525">
            <a:noFill/>
          </a:ln>
        </p:spPr>
        <p:txBody>
          <a:bodyPr>
            <a:spAutoFit/>
          </a:bodyPr>
          <a:lstStyle/>
          <a:p>
            <a:r>
              <a:rPr lang="zh-CN" altLang="en-US" sz="2000" dirty="0">
                <a:latin typeface="Times New Roman" panose="02020603050405020304" pitchFamily="18" charset="0"/>
              </a:rPr>
              <a:t>在电阻热噪声公式中，有一带宽因子</a:t>
            </a:r>
            <a:r>
              <a:rPr lang="en-US" altLang="zh-CN" sz="2000" dirty="0">
                <a:latin typeface="Times New Roman" panose="02020603050405020304" pitchFamily="18" charset="0"/>
              </a:rPr>
              <a:t>B</a:t>
            </a:r>
            <a:r>
              <a:rPr lang="zh-CN" altLang="en-US" sz="2000" dirty="0">
                <a:latin typeface="Times New Roman" panose="02020603050405020304" pitchFamily="18" charset="0"/>
              </a:rPr>
              <a:t>，它是测量此噪声电压均方值的带宽。因为电阻热噪声是均匀频谱的白噪声，因此这一带宽应该理解为一理想滤波器的带宽。实际的测量系统，包括噪声通过的后面的线性系统都不具有理想的滤波特性。此时输出端的噪声功率或噪声电压均方值应该按谱密度进行积分计算。为了计算和测量的方便，引入“</a:t>
            </a:r>
            <a:r>
              <a:rPr lang="zh-CN" altLang="en-US" sz="2000" dirty="0">
                <a:solidFill>
                  <a:srgbClr val="FF0066"/>
                </a:solidFill>
                <a:latin typeface="Times New Roman" panose="02020603050405020304" pitchFamily="18" charset="0"/>
              </a:rPr>
              <a:t>噪声带宽</a:t>
            </a:r>
            <a:r>
              <a:rPr lang="zh-CN" altLang="en-US" sz="2000" dirty="0">
                <a:latin typeface="Times New Roman" panose="02020603050405020304" pitchFamily="18" charset="0"/>
              </a:rPr>
              <a:t>”的概念。</a:t>
            </a:r>
            <a:endParaRPr lang="zh-CN" altLang="en-US" sz="2000" dirty="0">
              <a:latin typeface="Times New Roman" panose="02020603050405020304" pitchFamily="18" charset="0"/>
            </a:endParaRPr>
          </a:p>
        </p:txBody>
      </p:sp>
      <p:sp>
        <p:nvSpPr>
          <p:cNvPr id="409611" name="Text Box 11"/>
          <p:cNvSpPr txBox="1"/>
          <p:nvPr/>
        </p:nvSpPr>
        <p:spPr>
          <a:xfrm>
            <a:off x="735013" y="3952875"/>
            <a:ext cx="8085137" cy="1204913"/>
          </a:xfrm>
          <a:prstGeom prst="rect">
            <a:avLst/>
          </a:prstGeom>
          <a:noFill/>
          <a:ln w="9525">
            <a:noFill/>
          </a:ln>
        </p:spPr>
        <p:txBody>
          <a:bodyPr>
            <a:spAutoFit/>
          </a:bodyPr>
          <a:lstStyle/>
          <a:p>
            <a:r>
              <a:rPr lang="zh-CN" altLang="en-US" sz="2000" dirty="0">
                <a:latin typeface="Times New Roman" panose="02020603050405020304" pitchFamily="18" charset="0"/>
              </a:rPr>
              <a:t>假设在线性系统中，电压传输函数为</a:t>
            </a:r>
            <a:r>
              <a:rPr lang="en-US" altLang="zh-CN" sz="2000" i="1" dirty="0">
                <a:latin typeface="Times New Roman" panose="02020603050405020304" pitchFamily="18" charset="0"/>
              </a:rPr>
              <a:t>H</a:t>
            </a:r>
            <a:r>
              <a:rPr lang="en-US" altLang="zh-CN" sz="2000" dirty="0">
                <a:latin typeface="Times New Roman" panose="02020603050405020304" pitchFamily="18" charset="0"/>
              </a:rPr>
              <a:t>(</a:t>
            </a:r>
            <a:r>
              <a:rPr lang="en-US" altLang="zh-CN" sz="2000" i="1" dirty="0">
                <a:latin typeface="Times New Roman" panose="02020603050405020304" pitchFamily="18" charset="0"/>
              </a:rPr>
              <a:t>jω</a:t>
            </a:r>
            <a:r>
              <a:rPr lang="en-US" altLang="zh-CN" sz="2000" dirty="0">
                <a:latin typeface="Times New Roman" panose="02020603050405020304" pitchFamily="18" charset="0"/>
              </a:rPr>
              <a:t>) </a:t>
            </a:r>
            <a:r>
              <a:rPr lang="zh-CN" altLang="en-US" sz="2000" dirty="0">
                <a:latin typeface="Times New Roman" panose="02020603050405020304" pitchFamily="18" charset="0"/>
              </a:rPr>
              <a:t>，输入一电阻热噪声，其均方电压谱为 </a:t>
            </a:r>
            <a:r>
              <a:rPr lang="en-US" altLang="zh-CN" sz="2000" dirty="0">
                <a:latin typeface="Times New Roman" panose="02020603050405020304" pitchFamily="18" charset="0"/>
              </a:rPr>
              <a:t>S</a:t>
            </a:r>
            <a:r>
              <a:rPr lang="en-US" altLang="zh-CN" sz="2000" baseline="-25000" dirty="0">
                <a:latin typeface="Times New Roman" panose="02020603050405020304" pitchFamily="18" charset="0"/>
              </a:rPr>
              <a:t>U</a:t>
            </a:r>
            <a:r>
              <a:rPr lang="en-US" altLang="zh-CN" sz="2000" i="1" baseline="-25000" dirty="0">
                <a:latin typeface="Times New Roman" panose="02020603050405020304" pitchFamily="18" charset="0"/>
              </a:rPr>
              <a:t>i</a:t>
            </a:r>
            <a:r>
              <a:rPr lang="en-US" altLang="zh-CN" sz="2000" dirty="0">
                <a:latin typeface="Times New Roman" panose="02020603050405020304" pitchFamily="18" charset="0"/>
              </a:rPr>
              <a:t>=4</a:t>
            </a:r>
            <a:r>
              <a:rPr lang="en-US" altLang="zh-CN" sz="2000" i="1" dirty="0">
                <a:latin typeface="Times New Roman" panose="02020603050405020304" pitchFamily="18" charset="0"/>
              </a:rPr>
              <a:t>kTR</a:t>
            </a:r>
            <a:r>
              <a:rPr lang="en-US" altLang="zh-CN" sz="2000" dirty="0">
                <a:latin typeface="Times New Roman" panose="02020603050405020304" pitchFamily="18" charset="0"/>
              </a:rPr>
              <a:t> </a:t>
            </a:r>
            <a:r>
              <a:rPr lang="zh-CN" altLang="en-US" sz="2000" dirty="0">
                <a:latin typeface="Times New Roman" panose="02020603050405020304" pitchFamily="18" charset="0"/>
              </a:rPr>
              <a:t>，输出均方电压谱为</a:t>
            </a:r>
            <a:r>
              <a:rPr lang="en-US" altLang="zh-CN" sz="2000" dirty="0">
                <a:latin typeface="Times New Roman" panose="02020603050405020304" pitchFamily="18" charset="0"/>
              </a:rPr>
              <a:t>S</a:t>
            </a:r>
            <a:r>
              <a:rPr lang="en-US" altLang="zh-CN" sz="2000" baseline="-25000" dirty="0">
                <a:latin typeface="Times New Roman" panose="02020603050405020304" pitchFamily="18" charset="0"/>
              </a:rPr>
              <a:t>Uo</a:t>
            </a:r>
            <a:endParaRPr lang="en-US" altLang="zh-CN" sz="2000" baseline="-25000" dirty="0">
              <a:latin typeface="Times New Roman" panose="02020603050405020304" pitchFamily="18" charset="0"/>
            </a:endParaRPr>
          </a:p>
          <a:p>
            <a:endParaRPr lang="en-US" altLang="zh-CN" sz="2000" baseline="-25000" dirty="0">
              <a:latin typeface="Times New Roman" panose="02020603050405020304" pitchFamily="18" charset="0"/>
            </a:endParaRPr>
          </a:p>
          <a:p>
            <a:r>
              <a:rPr lang="zh-CN" altLang="en-US" sz="2000" dirty="0">
                <a:latin typeface="Times New Roman" panose="02020603050405020304" pitchFamily="18" charset="0"/>
              </a:rPr>
              <a:t>则输出均方电压</a:t>
            </a:r>
            <a:r>
              <a:rPr lang="en-US" altLang="zh-CN" sz="2000" dirty="0">
                <a:latin typeface="Times New Roman" panose="02020603050405020304" pitchFamily="18" charset="0"/>
              </a:rPr>
              <a:t>U</a:t>
            </a:r>
            <a:r>
              <a:rPr lang="en-US" altLang="zh-CN" sz="2000" i="1" baseline="30000" dirty="0">
                <a:latin typeface="Times New Roman" panose="02020603050405020304" pitchFamily="18" charset="0"/>
              </a:rPr>
              <a:t>2</a:t>
            </a:r>
            <a:r>
              <a:rPr lang="en-US" altLang="zh-CN" sz="2000" i="1" baseline="-25000" dirty="0">
                <a:latin typeface="Times New Roman" panose="02020603050405020304" pitchFamily="18" charset="0"/>
              </a:rPr>
              <a:t>n2</a:t>
            </a:r>
            <a:r>
              <a:rPr lang="en-US" altLang="zh-CN" sz="2000" i="1" dirty="0">
                <a:latin typeface="Times New Roman" panose="02020603050405020304" pitchFamily="18" charset="0"/>
              </a:rPr>
              <a:t> </a:t>
            </a:r>
            <a:r>
              <a:rPr lang="zh-CN" altLang="en-US" sz="2000" dirty="0">
                <a:latin typeface="Times New Roman" panose="02020603050405020304" pitchFamily="18" charset="0"/>
              </a:rPr>
              <a:t>为：</a:t>
            </a:r>
            <a:endParaRPr lang="zh-CN" altLang="en-US" sz="2000" dirty="0">
              <a:latin typeface="Times New Roman" panose="02020603050405020304" pitchFamily="18" charset="0"/>
            </a:endParaRPr>
          </a:p>
        </p:txBody>
      </p:sp>
      <p:graphicFrame>
        <p:nvGraphicFramePr>
          <p:cNvPr id="409612" name="Object 12"/>
          <p:cNvGraphicFramePr/>
          <p:nvPr/>
        </p:nvGraphicFramePr>
        <p:xfrm>
          <a:off x="899478" y="5273358"/>
          <a:ext cx="7488237" cy="658812"/>
        </p:xfrm>
        <a:graphic>
          <a:graphicData uri="http://schemas.openxmlformats.org/presentationml/2006/ole">
            <mc:AlternateContent xmlns:mc="http://schemas.openxmlformats.org/markup-compatibility/2006">
              <mc:Choice xmlns:v="urn:schemas-microsoft-com:vml" Requires="v">
                <p:oleObj spid="_x0000_s2" name="" r:id="rId1" imgW="3744595" imgH="330200" progId="Equation.DSMT4">
                  <p:embed/>
                </p:oleObj>
              </mc:Choice>
              <mc:Fallback>
                <p:oleObj name="" r:id="rId1" imgW="3744595" imgH="330200" progId="Equation.DSMT4">
                  <p:embed/>
                  <p:pic>
                    <p:nvPicPr>
                      <p:cNvPr id="0" name="图片 3352"/>
                      <p:cNvPicPr/>
                      <p:nvPr/>
                    </p:nvPicPr>
                    <p:blipFill>
                      <a:blip r:embed="rId2"/>
                      <a:stretch>
                        <a:fillRect/>
                      </a:stretch>
                    </p:blipFill>
                    <p:spPr>
                      <a:xfrm>
                        <a:off x="899478" y="5273358"/>
                        <a:ext cx="7488237" cy="658812"/>
                      </a:xfrm>
                      <a:prstGeom prst="rect">
                        <a:avLst/>
                      </a:prstGeom>
                      <a:noFill/>
                      <a:ln w="38100">
                        <a:noFill/>
                        <a:miter/>
                      </a:ln>
                    </p:spPr>
                  </p:pic>
                </p:oleObj>
              </mc:Fallback>
            </mc:AlternateContent>
          </a:graphicData>
        </a:graphic>
      </p:graphicFrame>
      <p:grpSp>
        <p:nvGrpSpPr>
          <p:cNvPr id="3" name="Group 19"/>
          <p:cNvGrpSpPr/>
          <p:nvPr/>
        </p:nvGrpSpPr>
        <p:grpSpPr>
          <a:xfrm>
            <a:off x="1784668" y="405766"/>
            <a:ext cx="5334000" cy="519113"/>
            <a:chOff x="1306" y="452"/>
            <a:chExt cx="3360" cy="327"/>
          </a:xfrm>
        </p:grpSpPr>
        <p:sp>
          <p:nvSpPr>
            <p:cNvPr id="4" name="Rectangle 20"/>
            <p:cNvSpPr/>
            <p:nvPr/>
          </p:nvSpPr>
          <p:spPr>
            <a:xfrm>
              <a:off x="1306" y="45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2.3   </a:t>
              </a:r>
              <a:r>
                <a:rPr lang="zh-CN" altLang="en-US" sz="2800" b="1" dirty="0">
                  <a:solidFill>
                    <a:schemeClr val="accent2"/>
                  </a:solidFill>
                  <a:latin typeface="Times New Roman" panose="02020603050405020304" pitchFamily="18" charset="0"/>
                </a:rPr>
                <a:t>电子噪 声及其特性</a:t>
              </a:r>
              <a:endParaRPr lang="zh-CN" altLang="en-US" sz="2800" b="1" dirty="0">
                <a:solidFill>
                  <a:schemeClr val="accent2"/>
                </a:solidFill>
                <a:latin typeface="Times New Roman" panose="02020603050405020304" pitchFamily="18" charset="0"/>
              </a:endParaRPr>
            </a:p>
          </p:txBody>
        </p:sp>
        <p:sp>
          <p:nvSpPr>
            <p:cNvPr id="5" name="Line 21"/>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1" name="Text Box 4"/>
          <p:cNvSpPr txBox="1"/>
          <p:nvPr/>
        </p:nvSpPr>
        <p:spPr>
          <a:xfrm>
            <a:off x="539750" y="1628775"/>
            <a:ext cx="1835150" cy="396875"/>
          </a:xfrm>
          <a:prstGeom prst="rect">
            <a:avLst/>
          </a:prstGeom>
          <a:noFill/>
          <a:ln w="9525">
            <a:noFill/>
          </a:ln>
        </p:spPr>
        <p:txBody>
          <a:bodyPr wrap="none">
            <a:spAutoFit/>
          </a:bodyPr>
          <a:lstStyle/>
          <a:p>
            <a:r>
              <a:rPr lang="zh-CN" altLang="en-US" sz="2000" b="1" dirty="0">
                <a:solidFill>
                  <a:srgbClr val="FF00FF"/>
                </a:solidFill>
                <a:latin typeface="Times New Roman" panose="02020603050405020304" pitchFamily="18" charset="0"/>
              </a:rPr>
              <a:t>（</a:t>
            </a:r>
            <a:r>
              <a:rPr lang="en-US" altLang="zh-CN" sz="2000" b="1" dirty="0">
                <a:solidFill>
                  <a:srgbClr val="FF00FF"/>
                </a:solidFill>
                <a:latin typeface="Times New Roman" panose="02020603050405020304" pitchFamily="18" charset="0"/>
              </a:rPr>
              <a:t>4</a:t>
            </a:r>
            <a:r>
              <a:rPr lang="zh-CN" altLang="en-US" sz="2000" b="1" dirty="0">
                <a:solidFill>
                  <a:srgbClr val="FF00FF"/>
                </a:solidFill>
                <a:latin typeface="Times New Roman" panose="02020603050405020304" pitchFamily="18" charset="0"/>
              </a:rPr>
              <a:t>）噪声带宽</a:t>
            </a:r>
            <a:endParaRPr lang="zh-CN" altLang="en-US" sz="2000" b="1" dirty="0">
              <a:solidFill>
                <a:srgbClr val="FF00FF"/>
              </a:solidFill>
              <a:latin typeface="Times New Roman" panose="02020603050405020304" pitchFamily="18" charset="0"/>
            </a:endParaRPr>
          </a:p>
        </p:txBody>
      </p:sp>
      <p:sp>
        <p:nvSpPr>
          <p:cNvPr id="55302" name="Text Box 5"/>
          <p:cNvSpPr txBox="1"/>
          <p:nvPr/>
        </p:nvSpPr>
        <p:spPr>
          <a:xfrm>
            <a:off x="179388" y="908050"/>
            <a:ext cx="3232150" cy="396875"/>
          </a:xfrm>
          <a:prstGeom prst="rect">
            <a:avLst/>
          </a:prstGeom>
          <a:noFill/>
          <a:ln w="9525">
            <a:noFill/>
          </a:ln>
        </p:spPr>
        <p:txBody>
          <a:bodyPr wrap="none">
            <a:spAutoFit/>
          </a:bodyPr>
          <a:lstStyle/>
          <a:p>
            <a:r>
              <a:rPr lang="zh-CN" altLang="en-US" sz="2000" dirty="0">
                <a:solidFill>
                  <a:srgbClr val="FF0066"/>
                </a:solidFill>
                <a:latin typeface="Times New Roman" panose="02020603050405020304" pitchFamily="18" charset="0"/>
              </a:rPr>
              <a:t>二、电子噪声的来源与特性</a:t>
            </a:r>
            <a:endParaRPr lang="zh-CN" altLang="en-US" sz="2000" dirty="0">
              <a:solidFill>
                <a:srgbClr val="FF0066"/>
              </a:solidFill>
              <a:latin typeface="Times New Roman" panose="02020603050405020304" pitchFamily="18" charset="0"/>
            </a:endParaRPr>
          </a:p>
        </p:txBody>
      </p:sp>
      <p:sp>
        <p:nvSpPr>
          <p:cNvPr id="55304" name="Text Box 9"/>
          <p:cNvSpPr txBox="1"/>
          <p:nvPr/>
        </p:nvSpPr>
        <p:spPr>
          <a:xfrm>
            <a:off x="684213" y="1196975"/>
            <a:ext cx="1911350" cy="396875"/>
          </a:xfrm>
          <a:prstGeom prst="rect">
            <a:avLst/>
          </a:prstGeom>
          <a:noFill/>
          <a:ln w="9525">
            <a:noFill/>
          </a:ln>
        </p:spPr>
        <p:txBody>
          <a:bodyPr wrap="none">
            <a:spAutoFit/>
          </a:bodyPr>
          <a:lstStyle/>
          <a:p>
            <a:pPr marL="457200" indent="-457200">
              <a:buAutoNum type="circleNumDbPlain"/>
            </a:pPr>
            <a:r>
              <a:rPr lang="zh-CN" altLang="en-US" sz="2000" dirty="0">
                <a:solidFill>
                  <a:schemeClr val="accent2"/>
                </a:solidFill>
                <a:latin typeface="Times New Roman" panose="02020603050405020304" pitchFamily="18" charset="0"/>
              </a:rPr>
              <a:t>电阻热噪声</a:t>
            </a:r>
            <a:endParaRPr lang="zh-CN" altLang="en-US" sz="2000" dirty="0">
              <a:solidFill>
                <a:schemeClr val="accent2"/>
              </a:solidFill>
              <a:latin typeface="Times New Roman" panose="02020603050405020304" pitchFamily="18" charset="0"/>
            </a:endParaRPr>
          </a:p>
        </p:txBody>
      </p:sp>
      <p:sp>
        <p:nvSpPr>
          <p:cNvPr id="410634" name="Text Box 10"/>
          <p:cNvSpPr txBox="1"/>
          <p:nvPr/>
        </p:nvSpPr>
        <p:spPr>
          <a:xfrm>
            <a:off x="703263" y="3049588"/>
            <a:ext cx="4038600" cy="396875"/>
          </a:xfrm>
          <a:prstGeom prst="rect">
            <a:avLst/>
          </a:prstGeom>
          <a:noFill/>
          <a:ln w="9525">
            <a:noFill/>
          </a:ln>
        </p:spPr>
        <p:txBody>
          <a:bodyPr>
            <a:spAutoFit/>
          </a:bodyPr>
          <a:lstStyle/>
          <a:p>
            <a:pPr algn="just">
              <a:spcBef>
                <a:spcPct val="50000"/>
              </a:spcBef>
            </a:pPr>
            <a:r>
              <a:rPr lang="en-US" altLang="zh-CN" sz="2000" dirty="0">
                <a:latin typeface="Times New Roman" panose="02020603050405020304" pitchFamily="18" charset="0"/>
              </a:rPr>
              <a:t> </a:t>
            </a:r>
            <a:r>
              <a:rPr lang="zh-CN" altLang="en-US" sz="2000" dirty="0">
                <a:latin typeface="Times New Roman" panose="02020603050405020304" pitchFamily="18" charset="0"/>
              </a:rPr>
              <a:t>则</a:t>
            </a:r>
            <a:r>
              <a:rPr lang="zh-CN" altLang="en-US" sz="2000" dirty="0">
                <a:solidFill>
                  <a:srgbClr val="FF00FF"/>
                </a:solidFill>
                <a:latin typeface="Times New Roman" panose="02020603050405020304" pitchFamily="18" charset="0"/>
              </a:rPr>
              <a:t>等效噪声带宽</a:t>
            </a:r>
            <a:r>
              <a:rPr lang="en-US" altLang="zh-CN" sz="2000" i="1" dirty="0">
                <a:solidFill>
                  <a:srgbClr val="FF00FF"/>
                </a:solidFill>
                <a:latin typeface="Times New Roman" panose="02020603050405020304" pitchFamily="18" charset="0"/>
              </a:rPr>
              <a:t>B</a:t>
            </a:r>
            <a:r>
              <a:rPr lang="en-US" altLang="zh-CN" sz="2000" baseline="-25000" dirty="0">
                <a:solidFill>
                  <a:srgbClr val="FF00FF"/>
                </a:solidFill>
                <a:latin typeface="Times New Roman" panose="02020603050405020304" pitchFamily="18" charset="0"/>
              </a:rPr>
              <a:t>n</a:t>
            </a:r>
            <a:r>
              <a:rPr lang="zh-CN" altLang="en-US" sz="2000" dirty="0">
                <a:latin typeface="Times New Roman" panose="02020603050405020304" pitchFamily="18" charset="0"/>
              </a:rPr>
              <a:t>为</a:t>
            </a:r>
            <a:endParaRPr lang="zh-CN" altLang="en-US" sz="2000" dirty="0">
              <a:latin typeface="Times New Roman" panose="02020603050405020304" pitchFamily="18" charset="0"/>
            </a:endParaRPr>
          </a:p>
        </p:txBody>
      </p:sp>
      <p:graphicFrame>
        <p:nvGraphicFramePr>
          <p:cNvPr id="410635" name="Object 11"/>
          <p:cNvGraphicFramePr/>
          <p:nvPr/>
        </p:nvGraphicFramePr>
        <p:xfrm>
          <a:off x="1116013" y="3573463"/>
          <a:ext cx="2252662" cy="989012"/>
        </p:xfrm>
        <a:graphic>
          <a:graphicData uri="http://schemas.openxmlformats.org/presentationml/2006/ole">
            <mc:AlternateContent xmlns:mc="http://schemas.openxmlformats.org/markup-compatibility/2006">
              <mc:Choice xmlns:v="urn:schemas-microsoft-com:vml" Requires="v">
                <p:oleObj spid="_x0000_s2" name="" r:id="rId1" imgW="1243965" imgH="546100" progId="Equation.DSMT4">
                  <p:embed/>
                </p:oleObj>
              </mc:Choice>
              <mc:Fallback>
                <p:oleObj name="" r:id="rId1" imgW="1243965" imgH="546100" progId="Equation.DSMT4">
                  <p:embed/>
                  <p:pic>
                    <p:nvPicPr>
                      <p:cNvPr id="0" name="图片 3360"/>
                      <p:cNvPicPr/>
                      <p:nvPr/>
                    </p:nvPicPr>
                    <p:blipFill>
                      <a:blip r:embed="rId2"/>
                      <a:stretch>
                        <a:fillRect/>
                      </a:stretch>
                    </p:blipFill>
                    <p:spPr>
                      <a:xfrm>
                        <a:off x="1116013" y="3573463"/>
                        <a:ext cx="2252662" cy="989012"/>
                      </a:xfrm>
                      <a:prstGeom prst="rect">
                        <a:avLst/>
                      </a:prstGeom>
                      <a:noFill/>
                      <a:ln w="38100">
                        <a:noFill/>
                        <a:miter/>
                      </a:ln>
                    </p:spPr>
                  </p:pic>
                </p:oleObj>
              </mc:Fallback>
            </mc:AlternateContent>
          </a:graphicData>
        </a:graphic>
      </p:graphicFrame>
      <p:graphicFrame>
        <p:nvGraphicFramePr>
          <p:cNvPr id="410636" name="Object 12"/>
          <p:cNvGraphicFramePr/>
          <p:nvPr/>
        </p:nvGraphicFramePr>
        <p:xfrm>
          <a:off x="2771775" y="2420938"/>
          <a:ext cx="2284413" cy="515937"/>
        </p:xfrm>
        <a:graphic>
          <a:graphicData uri="http://schemas.openxmlformats.org/presentationml/2006/ole">
            <mc:AlternateContent xmlns:mc="http://schemas.openxmlformats.org/markup-compatibility/2006">
              <mc:Choice xmlns:v="urn:schemas-microsoft-com:vml" Requires="v">
                <p:oleObj spid="_x0000_s3" name="" r:id="rId3" imgW="1066165" imgH="241300" progId="Equation.DSMT4">
                  <p:embed/>
                </p:oleObj>
              </mc:Choice>
              <mc:Fallback>
                <p:oleObj name="" r:id="rId3" imgW="1066165" imgH="241300" progId="Equation.DSMT4">
                  <p:embed/>
                  <p:pic>
                    <p:nvPicPr>
                      <p:cNvPr id="0" name="图片 3368"/>
                      <p:cNvPicPr/>
                      <p:nvPr/>
                    </p:nvPicPr>
                    <p:blipFill>
                      <a:blip r:embed="rId4"/>
                      <a:stretch>
                        <a:fillRect/>
                      </a:stretch>
                    </p:blipFill>
                    <p:spPr>
                      <a:xfrm>
                        <a:off x="2771775" y="2420938"/>
                        <a:ext cx="2284413" cy="515937"/>
                      </a:xfrm>
                      <a:prstGeom prst="rect">
                        <a:avLst/>
                      </a:prstGeom>
                      <a:noFill/>
                      <a:ln w="38100">
                        <a:noFill/>
                        <a:miter/>
                      </a:ln>
                    </p:spPr>
                  </p:pic>
                </p:oleObj>
              </mc:Fallback>
            </mc:AlternateContent>
          </a:graphicData>
        </a:graphic>
      </p:graphicFrame>
      <p:sp>
        <p:nvSpPr>
          <p:cNvPr id="410637" name="Text Box 13"/>
          <p:cNvSpPr txBox="1"/>
          <p:nvPr/>
        </p:nvSpPr>
        <p:spPr>
          <a:xfrm>
            <a:off x="611188" y="2038350"/>
            <a:ext cx="6477000" cy="396875"/>
          </a:xfrm>
          <a:prstGeom prst="rect">
            <a:avLst/>
          </a:prstGeom>
          <a:noFill/>
          <a:ln w="9525">
            <a:noFill/>
          </a:ln>
        </p:spPr>
        <p:txBody>
          <a:bodyPr wrap="none">
            <a:spAutoFit/>
          </a:bodyPr>
          <a:lstStyle/>
          <a:p>
            <a:r>
              <a:rPr lang="zh-CN" altLang="en-US" sz="2000" dirty="0">
                <a:latin typeface="Times New Roman" panose="02020603050405020304" pitchFamily="18" charset="0"/>
              </a:rPr>
              <a:t>设</a:t>
            </a:r>
            <a:r>
              <a:rPr lang="en-US" altLang="zh-CN" sz="2000" dirty="0">
                <a:latin typeface="Times New Roman" panose="02020603050405020304" pitchFamily="18" charset="0"/>
              </a:rPr>
              <a:t>|</a:t>
            </a:r>
            <a:r>
              <a:rPr lang="en-US" altLang="zh-CN" sz="2000" i="1" dirty="0">
                <a:latin typeface="Times New Roman" panose="02020603050405020304" pitchFamily="18" charset="0"/>
              </a:rPr>
              <a:t>H</a:t>
            </a:r>
            <a:r>
              <a:rPr lang="en-US" altLang="zh-CN" sz="2000" dirty="0">
                <a:latin typeface="Times New Roman" panose="02020603050405020304" pitchFamily="18" charset="0"/>
              </a:rPr>
              <a:t>(jw)|</a:t>
            </a:r>
            <a:r>
              <a:rPr lang="zh-CN" altLang="en-US" sz="2000" dirty="0">
                <a:latin typeface="Times New Roman" panose="02020603050405020304" pitchFamily="18" charset="0"/>
              </a:rPr>
              <a:t>的最大值为</a:t>
            </a:r>
            <a:r>
              <a:rPr lang="en-US" altLang="zh-CN" sz="2000" i="1" dirty="0">
                <a:latin typeface="Times New Roman" panose="02020603050405020304" pitchFamily="18" charset="0"/>
              </a:rPr>
              <a:t>H</a:t>
            </a:r>
            <a:r>
              <a:rPr lang="en-US" altLang="zh-CN" sz="2000" baseline="-25000" dirty="0">
                <a:latin typeface="Times New Roman" panose="02020603050405020304" pitchFamily="18" charset="0"/>
              </a:rPr>
              <a:t>0</a:t>
            </a:r>
            <a:r>
              <a:rPr lang="zh-CN" altLang="en-US" sz="2000" dirty="0">
                <a:latin typeface="Times New Roman" panose="02020603050405020304" pitchFamily="18" charset="0"/>
              </a:rPr>
              <a:t>，则可</a:t>
            </a:r>
            <a:r>
              <a:rPr lang="zh-CN" altLang="en-US" sz="2000" dirty="0">
                <a:solidFill>
                  <a:srgbClr val="FF00FF"/>
                </a:solidFill>
                <a:latin typeface="Times New Roman" panose="02020603050405020304" pitchFamily="18" charset="0"/>
              </a:rPr>
              <a:t>定义一等效噪声带宽</a:t>
            </a:r>
            <a:r>
              <a:rPr lang="en-US" altLang="zh-CN" sz="2000" i="1" dirty="0">
                <a:solidFill>
                  <a:srgbClr val="FF00FF"/>
                </a:solidFill>
                <a:latin typeface="Times New Roman" panose="02020603050405020304" pitchFamily="18" charset="0"/>
              </a:rPr>
              <a:t>B</a:t>
            </a:r>
            <a:r>
              <a:rPr lang="en-US" altLang="zh-CN" sz="2000" i="1" baseline="-25000" dirty="0">
                <a:solidFill>
                  <a:srgbClr val="FF00FF"/>
                </a:solidFill>
                <a:latin typeface="Times New Roman" panose="02020603050405020304" pitchFamily="18" charset="0"/>
              </a:rPr>
              <a:t>n</a:t>
            </a:r>
            <a:r>
              <a:rPr lang="zh-CN" altLang="en-US" sz="2000" dirty="0">
                <a:latin typeface="Times New Roman" panose="02020603050405020304" pitchFamily="18" charset="0"/>
              </a:rPr>
              <a:t>，令</a:t>
            </a:r>
            <a:endParaRPr lang="zh-CN" altLang="en-US" sz="2000" baseline="-25000" dirty="0">
              <a:latin typeface="Times New Roman" panose="02020603050405020304" pitchFamily="18" charset="0"/>
            </a:endParaRPr>
          </a:p>
        </p:txBody>
      </p:sp>
      <p:sp>
        <p:nvSpPr>
          <p:cNvPr id="410638" name="Text Box 14"/>
          <p:cNvSpPr txBox="1"/>
          <p:nvPr/>
        </p:nvSpPr>
        <p:spPr>
          <a:xfrm>
            <a:off x="631825" y="4829175"/>
            <a:ext cx="2724150" cy="396875"/>
          </a:xfrm>
          <a:prstGeom prst="rect">
            <a:avLst/>
          </a:prstGeom>
          <a:noFill/>
          <a:ln w="9525">
            <a:noFill/>
          </a:ln>
        </p:spPr>
        <p:txBody>
          <a:bodyPr wrap="none">
            <a:spAutoFit/>
          </a:bodyPr>
          <a:lstStyle/>
          <a:p>
            <a:r>
              <a:rPr lang="zh-CN" altLang="en-US" sz="2000" dirty="0">
                <a:latin typeface="Times New Roman" panose="02020603050405020304" pitchFamily="18" charset="0"/>
              </a:rPr>
              <a:t>噪声带宽的</a:t>
            </a:r>
            <a:r>
              <a:rPr lang="zh-CN" altLang="en-US" sz="2000" dirty="0">
                <a:solidFill>
                  <a:srgbClr val="FF0066"/>
                </a:solidFill>
                <a:latin typeface="Times New Roman" panose="02020603050405020304" pitchFamily="18" charset="0"/>
              </a:rPr>
              <a:t>物理意义</a:t>
            </a:r>
            <a:r>
              <a:rPr lang="zh-CN" altLang="en-US" sz="2000" dirty="0">
                <a:latin typeface="Times New Roman" panose="02020603050405020304" pitchFamily="18" charset="0"/>
              </a:rPr>
              <a:t>：</a:t>
            </a:r>
            <a:endParaRPr lang="zh-CN" altLang="en-US" sz="2000" dirty="0">
              <a:latin typeface="Times New Roman" panose="02020603050405020304" pitchFamily="18" charset="0"/>
            </a:endParaRPr>
          </a:p>
        </p:txBody>
      </p:sp>
      <p:sp>
        <p:nvSpPr>
          <p:cNvPr id="410639" name="Text Box 15"/>
          <p:cNvSpPr txBox="1"/>
          <p:nvPr/>
        </p:nvSpPr>
        <p:spPr>
          <a:xfrm>
            <a:off x="755650" y="5445125"/>
            <a:ext cx="3259138" cy="701675"/>
          </a:xfrm>
          <a:prstGeom prst="rect">
            <a:avLst/>
          </a:prstGeom>
          <a:noFill/>
          <a:ln w="9525">
            <a:noFill/>
          </a:ln>
        </p:spPr>
        <p:txBody>
          <a:bodyPr>
            <a:spAutoFit/>
          </a:bodyPr>
          <a:lstStyle/>
          <a:p>
            <a:r>
              <a:rPr lang="zh-CN" altLang="en-US" sz="2000" dirty="0">
                <a:latin typeface="Times New Roman" panose="02020603050405020304" pitchFamily="18" charset="0"/>
              </a:rPr>
              <a:t>使 </a:t>
            </a:r>
            <a:r>
              <a:rPr lang="en-US" altLang="zh-CN" sz="2000" dirty="0">
                <a:latin typeface="Times New Roman" panose="02020603050405020304" pitchFamily="18" charset="0"/>
              </a:rPr>
              <a:t>H</a:t>
            </a:r>
            <a:r>
              <a:rPr lang="en-US" altLang="zh-CN" sz="2000" baseline="-25000" dirty="0">
                <a:latin typeface="Times New Roman" panose="02020603050405020304" pitchFamily="18" charset="0"/>
              </a:rPr>
              <a:t>0</a:t>
            </a:r>
            <a:r>
              <a:rPr lang="en-US" altLang="zh-CN" sz="2000" baseline="30000" dirty="0">
                <a:latin typeface="Times New Roman" panose="02020603050405020304" pitchFamily="18" charset="0"/>
              </a:rPr>
              <a:t>2</a:t>
            </a:r>
            <a:r>
              <a:rPr lang="en-US" altLang="zh-CN" sz="2000" dirty="0">
                <a:latin typeface="Times New Roman" panose="02020603050405020304" pitchFamily="18" charset="0"/>
              </a:rPr>
              <a:t> </a:t>
            </a:r>
            <a:r>
              <a:rPr lang="zh-CN" altLang="en-US" sz="2000" dirty="0">
                <a:latin typeface="Times New Roman" panose="02020603050405020304" pitchFamily="18" charset="0"/>
              </a:rPr>
              <a:t>和</a:t>
            </a:r>
            <a:r>
              <a:rPr lang="en-US" altLang="zh-CN" sz="2000" dirty="0">
                <a:latin typeface="Times New Roman" panose="02020603050405020304" pitchFamily="18" charset="0"/>
              </a:rPr>
              <a:t>B</a:t>
            </a:r>
            <a:r>
              <a:rPr lang="en-US" altLang="zh-CN" sz="2000" baseline="-25000" dirty="0">
                <a:latin typeface="Times New Roman" panose="02020603050405020304" pitchFamily="18" charset="0"/>
              </a:rPr>
              <a:t>n</a:t>
            </a:r>
            <a:r>
              <a:rPr lang="zh-CN" altLang="en-US" sz="2000" dirty="0">
                <a:latin typeface="Times New Roman" panose="02020603050405020304" pitchFamily="18" charset="0"/>
              </a:rPr>
              <a:t>为两边的矩形面积与曲线下的面积相等。</a:t>
            </a:r>
            <a:endParaRPr lang="zh-CN" altLang="en-US" sz="2000" dirty="0">
              <a:latin typeface="Times New Roman" panose="02020603050405020304" pitchFamily="18" charset="0"/>
            </a:endParaRPr>
          </a:p>
        </p:txBody>
      </p:sp>
      <p:grpSp>
        <p:nvGrpSpPr>
          <p:cNvPr id="4" name="Group 16"/>
          <p:cNvGrpSpPr/>
          <p:nvPr/>
        </p:nvGrpSpPr>
        <p:grpSpPr>
          <a:xfrm>
            <a:off x="3924300" y="2924175"/>
            <a:ext cx="4826000" cy="2760663"/>
            <a:chOff x="2562" y="1253"/>
            <a:chExt cx="3040" cy="1739"/>
          </a:xfrm>
        </p:grpSpPr>
        <p:graphicFrame>
          <p:nvGraphicFramePr>
            <p:cNvPr id="55300" name="Object 17"/>
            <p:cNvGraphicFramePr/>
            <p:nvPr/>
          </p:nvGraphicFramePr>
          <p:xfrm>
            <a:off x="2562" y="1253"/>
            <a:ext cx="3040" cy="1460"/>
          </p:xfrm>
          <a:graphic>
            <a:graphicData uri="http://schemas.openxmlformats.org/presentationml/2006/ole">
              <mc:AlternateContent xmlns:mc="http://schemas.openxmlformats.org/markup-compatibility/2006">
                <mc:Choice xmlns:v="urn:schemas-microsoft-com:vml" Requires="v">
                  <p:oleObj spid="_x0000_s5" name="" r:id="rId5" imgW="7098665" imgH="3411855" progId="Photoshop.Image.6">
                    <p:embed/>
                  </p:oleObj>
                </mc:Choice>
                <mc:Fallback>
                  <p:oleObj name="" r:id="rId5" imgW="7098665" imgH="3411855" progId="Photoshop.Image.6">
                    <p:embed/>
                    <p:pic>
                      <p:nvPicPr>
                        <p:cNvPr id="0" name="图片 3370"/>
                        <p:cNvPicPr/>
                        <p:nvPr/>
                      </p:nvPicPr>
                      <p:blipFill>
                        <a:blip r:embed="rId6"/>
                        <a:stretch>
                          <a:fillRect/>
                        </a:stretch>
                      </p:blipFill>
                      <p:spPr>
                        <a:xfrm>
                          <a:off x="2562" y="1253"/>
                          <a:ext cx="3040" cy="1460"/>
                        </a:xfrm>
                        <a:prstGeom prst="rect">
                          <a:avLst/>
                        </a:prstGeom>
                        <a:noFill/>
                        <a:ln w="38100">
                          <a:noFill/>
                          <a:miter/>
                        </a:ln>
                      </p:spPr>
                    </p:pic>
                  </p:oleObj>
                </mc:Fallback>
              </mc:AlternateContent>
            </a:graphicData>
          </a:graphic>
        </p:graphicFrame>
        <p:sp>
          <p:nvSpPr>
            <p:cNvPr id="55310" name="Text Box 18"/>
            <p:cNvSpPr txBox="1"/>
            <p:nvPr/>
          </p:nvSpPr>
          <p:spPr>
            <a:xfrm>
              <a:off x="3230" y="2704"/>
              <a:ext cx="2228" cy="288"/>
            </a:xfrm>
            <a:prstGeom prst="rect">
              <a:avLst/>
            </a:prstGeom>
            <a:noFill/>
            <a:ln w="9525">
              <a:noFill/>
            </a:ln>
          </p:spPr>
          <p:txBody>
            <a:bodyPr wrap="none">
              <a:spAutoFit/>
            </a:bodyPr>
            <a:lstStyle/>
            <a:p>
              <a:r>
                <a:rPr lang="zh-CN" altLang="en-US" dirty="0">
                  <a:latin typeface="Times New Roman" panose="02020603050405020304" pitchFamily="18" charset="0"/>
                </a:rPr>
                <a:t>线性系统的等效噪声带宽</a:t>
              </a:r>
              <a:endParaRPr lang="zh-CN" altLang="en-US" dirty="0">
                <a:latin typeface="Times New Roman" panose="02020603050405020304" pitchFamily="18" charset="0"/>
              </a:endParaRPr>
            </a:p>
          </p:txBody>
        </p:sp>
      </p:grpSp>
      <p:grpSp>
        <p:nvGrpSpPr>
          <p:cNvPr id="6" name="Group 19"/>
          <p:cNvGrpSpPr/>
          <p:nvPr/>
        </p:nvGrpSpPr>
        <p:grpSpPr>
          <a:xfrm>
            <a:off x="1784668" y="405766"/>
            <a:ext cx="5334000" cy="519113"/>
            <a:chOff x="1306" y="452"/>
            <a:chExt cx="3360" cy="327"/>
          </a:xfrm>
        </p:grpSpPr>
        <p:sp>
          <p:nvSpPr>
            <p:cNvPr id="7" name="Rectangle 20"/>
            <p:cNvSpPr/>
            <p:nvPr/>
          </p:nvSpPr>
          <p:spPr>
            <a:xfrm>
              <a:off x="1306" y="45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2.3   </a:t>
              </a:r>
              <a:r>
                <a:rPr lang="zh-CN" altLang="en-US" sz="2800" b="1" dirty="0">
                  <a:solidFill>
                    <a:schemeClr val="accent2"/>
                  </a:solidFill>
                  <a:latin typeface="Times New Roman" panose="02020603050405020304" pitchFamily="18" charset="0"/>
                </a:rPr>
                <a:t>电子噪 声及其特性</a:t>
              </a:r>
              <a:endParaRPr lang="zh-CN" altLang="en-US" sz="2800" b="1" dirty="0">
                <a:solidFill>
                  <a:schemeClr val="accent2"/>
                </a:solidFill>
                <a:latin typeface="Times New Roman" panose="02020603050405020304" pitchFamily="18" charset="0"/>
              </a:endParaRPr>
            </a:p>
          </p:txBody>
        </p:sp>
        <p:sp>
          <p:nvSpPr>
            <p:cNvPr id="8" name="Line 21"/>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83.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56329" name="Text Box 4"/>
          <p:cNvSpPr txBox="1"/>
          <p:nvPr/>
        </p:nvSpPr>
        <p:spPr>
          <a:xfrm>
            <a:off x="539750" y="1628775"/>
            <a:ext cx="1835150" cy="396875"/>
          </a:xfrm>
          <a:prstGeom prst="rect">
            <a:avLst/>
          </a:prstGeom>
          <a:noFill/>
          <a:ln w="9525">
            <a:noFill/>
          </a:ln>
        </p:spPr>
        <p:txBody>
          <a:bodyPr wrap="none">
            <a:spAutoFit/>
          </a:bodyPr>
          <a:lstStyle/>
          <a:p>
            <a:r>
              <a:rPr lang="zh-CN" altLang="en-US" sz="2000" b="1" dirty="0">
                <a:solidFill>
                  <a:srgbClr val="FF00FF"/>
                </a:solidFill>
                <a:latin typeface="Times New Roman" panose="02020603050405020304" pitchFamily="18" charset="0"/>
              </a:rPr>
              <a:t>（</a:t>
            </a:r>
            <a:r>
              <a:rPr lang="en-US" altLang="zh-CN" sz="2000" b="1" dirty="0">
                <a:solidFill>
                  <a:srgbClr val="FF00FF"/>
                </a:solidFill>
                <a:latin typeface="Times New Roman" panose="02020603050405020304" pitchFamily="18" charset="0"/>
              </a:rPr>
              <a:t>4</a:t>
            </a:r>
            <a:r>
              <a:rPr lang="zh-CN" altLang="en-US" sz="2000" b="1" dirty="0">
                <a:solidFill>
                  <a:srgbClr val="FF00FF"/>
                </a:solidFill>
                <a:latin typeface="Times New Roman" panose="02020603050405020304" pitchFamily="18" charset="0"/>
              </a:rPr>
              <a:t>）噪声带宽</a:t>
            </a:r>
            <a:endParaRPr lang="zh-CN" altLang="en-US" sz="2000" b="1" dirty="0">
              <a:solidFill>
                <a:srgbClr val="FF00FF"/>
              </a:solidFill>
              <a:latin typeface="Times New Roman" panose="02020603050405020304" pitchFamily="18" charset="0"/>
            </a:endParaRPr>
          </a:p>
        </p:txBody>
      </p:sp>
      <p:sp>
        <p:nvSpPr>
          <p:cNvPr id="56330" name="Text Box 5"/>
          <p:cNvSpPr txBox="1"/>
          <p:nvPr/>
        </p:nvSpPr>
        <p:spPr>
          <a:xfrm>
            <a:off x="179388" y="908050"/>
            <a:ext cx="3232150" cy="396875"/>
          </a:xfrm>
          <a:prstGeom prst="rect">
            <a:avLst/>
          </a:prstGeom>
          <a:noFill/>
          <a:ln w="9525">
            <a:noFill/>
          </a:ln>
        </p:spPr>
        <p:txBody>
          <a:bodyPr wrap="none">
            <a:spAutoFit/>
          </a:bodyPr>
          <a:lstStyle/>
          <a:p>
            <a:r>
              <a:rPr lang="zh-CN" altLang="en-US" sz="2000" dirty="0">
                <a:solidFill>
                  <a:srgbClr val="FF0066"/>
                </a:solidFill>
                <a:latin typeface="Times New Roman" panose="02020603050405020304" pitchFamily="18" charset="0"/>
              </a:rPr>
              <a:t>二、电子噪声的来源与特性</a:t>
            </a:r>
            <a:endParaRPr lang="zh-CN" altLang="en-US" sz="2000" dirty="0">
              <a:solidFill>
                <a:srgbClr val="FF0066"/>
              </a:solidFill>
              <a:latin typeface="Times New Roman" panose="02020603050405020304" pitchFamily="18" charset="0"/>
            </a:endParaRPr>
          </a:p>
        </p:txBody>
      </p:sp>
      <p:sp>
        <p:nvSpPr>
          <p:cNvPr id="56332" name="Text Box 9"/>
          <p:cNvSpPr txBox="1"/>
          <p:nvPr/>
        </p:nvSpPr>
        <p:spPr>
          <a:xfrm>
            <a:off x="684213" y="1196975"/>
            <a:ext cx="1911350" cy="396875"/>
          </a:xfrm>
          <a:prstGeom prst="rect">
            <a:avLst/>
          </a:prstGeom>
          <a:noFill/>
          <a:ln w="9525">
            <a:noFill/>
          </a:ln>
        </p:spPr>
        <p:txBody>
          <a:bodyPr wrap="none">
            <a:spAutoFit/>
          </a:bodyPr>
          <a:lstStyle/>
          <a:p>
            <a:pPr marL="457200" indent="-457200">
              <a:buAutoNum type="circleNumDbPlain"/>
            </a:pPr>
            <a:r>
              <a:rPr lang="zh-CN" altLang="en-US" sz="2000" dirty="0">
                <a:solidFill>
                  <a:schemeClr val="accent2"/>
                </a:solidFill>
                <a:latin typeface="Times New Roman" panose="02020603050405020304" pitchFamily="18" charset="0"/>
              </a:rPr>
              <a:t>电阻热噪声</a:t>
            </a:r>
            <a:endParaRPr lang="zh-CN" altLang="en-US" sz="2000" dirty="0">
              <a:solidFill>
                <a:schemeClr val="accent2"/>
              </a:solidFill>
              <a:latin typeface="Times New Roman" panose="02020603050405020304" pitchFamily="18" charset="0"/>
            </a:endParaRPr>
          </a:p>
        </p:txBody>
      </p:sp>
      <p:sp>
        <p:nvSpPr>
          <p:cNvPr id="56333" name="Text Box 10"/>
          <p:cNvSpPr txBox="1"/>
          <p:nvPr/>
        </p:nvSpPr>
        <p:spPr>
          <a:xfrm>
            <a:off x="468313" y="2133600"/>
            <a:ext cx="4267200" cy="398780"/>
          </a:xfrm>
          <a:prstGeom prst="rect">
            <a:avLst/>
          </a:prstGeom>
          <a:noFill/>
          <a:ln w="9525">
            <a:noFill/>
          </a:ln>
        </p:spPr>
        <p:txBody>
          <a:bodyPr wrap="none">
            <a:spAutoFit/>
          </a:bodyPr>
          <a:lstStyle/>
          <a:p>
            <a:r>
              <a:rPr lang="zh-CN" altLang="en-US" sz="2000" b="1" dirty="0">
                <a:latin typeface="Times New Roman" panose="02020603050405020304" pitchFamily="18" charset="0"/>
              </a:rPr>
              <a:t>例：计算单</a:t>
            </a:r>
            <a:r>
              <a:rPr lang="zh-CN" altLang="en-US" sz="2000" b="1" dirty="0">
                <a:latin typeface="Times New Roman" panose="02020603050405020304" pitchFamily="18" charset="0"/>
              </a:rPr>
              <a:t>谐振回落等效噪声带宽。</a:t>
            </a:r>
            <a:endParaRPr lang="zh-CN" altLang="en-US" sz="2000" b="1" dirty="0">
              <a:latin typeface="Times New Roman" panose="02020603050405020304" pitchFamily="18" charset="0"/>
            </a:endParaRPr>
          </a:p>
        </p:txBody>
      </p:sp>
      <p:graphicFrame>
        <p:nvGraphicFramePr>
          <p:cNvPr id="56322" name="Object 11"/>
          <p:cNvGraphicFramePr/>
          <p:nvPr/>
        </p:nvGraphicFramePr>
        <p:xfrm>
          <a:off x="6516688" y="1052513"/>
          <a:ext cx="2376487" cy="1736725"/>
        </p:xfrm>
        <a:graphic>
          <a:graphicData uri="http://schemas.openxmlformats.org/presentationml/2006/ole">
            <mc:AlternateContent xmlns:mc="http://schemas.openxmlformats.org/markup-compatibility/2006">
              <mc:Choice xmlns:v="urn:schemas-microsoft-com:vml" Requires="v">
                <p:oleObj spid="_x0000_s2" name="" r:id="rId1" imgW="914400" imgH="672465" progId="Visio.Drawing.6">
                  <p:embed/>
                </p:oleObj>
              </mc:Choice>
              <mc:Fallback>
                <p:oleObj name="" r:id="rId1" imgW="914400" imgH="672465" progId="Visio.Drawing.6">
                  <p:embed/>
                  <p:pic>
                    <p:nvPicPr>
                      <p:cNvPr id="0" name="图片 3362"/>
                      <p:cNvPicPr/>
                      <p:nvPr/>
                    </p:nvPicPr>
                    <p:blipFill>
                      <a:blip r:embed="rId2"/>
                      <a:stretch>
                        <a:fillRect/>
                      </a:stretch>
                    </p:blipFill>
                    <p:spPr>
                      <a:xfrm>
                        <a:off x="6516688" y="1052513"/>
                        <a:ext cx="2376487" cy="1736725"/>
                      </a:xfrm>
                      <a:prstGeom prst="rect">
                        <a:avLst/>
                      </a:prstGeom>
                      <a:noFill/>
                      <a:ln w="38100">
                        <a:noFill/>
                        <a:miter/>
                      </a:ln>
                    </p:spPr>
                  </p:pic>
                </p:oleObj>
              </mc:Fallback>
            </mc:AlternateContent>
          </a:graphicData>
        </a:graphic>
      </p:graphicFrame>
      <p:graphicFrame>
        <p:nvGraphicFramePr>
          <p:cNvPr id="411660" name="Object 12"/>
          <p:cNvGraphicFramePr/>
          <p:nvPr/>
        </p:nvGraphicFramePr>
        <p:xfrm>
          <a:off x="827088" y="2492375"/>
          <a:ext cx="4967287" cy="773113"/>
        </p:xfrm>
        <a:graphic>
          <a:graphicData uri="http://schemas.openxmlformats.org/presentationml/2006/ole">
            <mc:AlternateContent xmlns:mc="http://schemas.openxmlformats.org/markup-compatibility/2006">
              <mc:Choice xmlns:v="urn:schemas-microsoft-com:vml" Requires="v">
                <p:oleObj spid="_x0000_s3" name="" r:id="rId3" imgW="3263900" imgH="508000" progId="Equation.DSMT4">
                  <p:embed/>
                </p:oleObj>
              </mc:Choice>
              <mc:Fallback>
                <p:oleObj name="" r:id="rId3" imgW="3263900" imgH="508000" progId="Equation.DSMT4">
                  <p:embed/>
                  <p:pic>
                    <p:nvPicPr>
                      <p:cNvPr id="0" name="图片 3364"/>
                      <p:cNvPicPr/>
                      <p:nvPr/>
                    </p:nvPicPr>
                    <p:blipFill>
                      <a:blip r:embed="rId4"/>
                      <a:stretch>
                        <a:fillRect/>
                      </a:stretch>
                    </p:blipFill>
                    <p:spPr>
                      <a:xfrm>
                        <a:off x="827088" y="2492375"/>
                        <a:ext cx="4967287" cy="773113"/>
                      </a:xfrm>
                      <a:prstGeom prst="rect">
                        <a:avLst/>
                      </a:prstGeom>
                      <a:noFill/>
                      <a:ln w="38100">
                        <a:noFill/>
                        <a:miter/>
                      </a:ln>
                    </p:spPr>
                  </p:pic>
                </p:oleObj>
              </mc:Fallback>
            </mc:AlternateContent>
          </a:graphicData>
        </a:graphic>
      </p:graphicFrame>
      <p:graphicFrame>
        <p:nvGraphicFramePr>
          <p:cNvPr id="411661" name="Object 13"/>
          <p:cNvGraphicFramePr/>
          <p:nvPr/>
        </p:nvGraphicFramePr>
        <p:xfrm>
          <a:off x="323850" y="3716338"/>
          <a:ext cx="3527425" cy="903287"/>
        </p:xfrm>
        <a:graphic>
          <a:graphicData uri="http://schemas.openxmlformats.org/presentationml/2006/ole">
            <mc:AlternateContent xmlns:mc="http://schemas.openxmlformats.org/markup-compatibility/2006">
              <mc:Choice xmlns:v="urn:schemas-microsoft-com:vml" Requires="v">
                <p:oleObj spid="_x0000_s4" name="" r:id="rId5" imgW="2031365" imgH="520700" progId="Equation.DSMT4">
                  <p:embed/>
                </p:oleObj>
              </mc:Choice>
              <mc:Fallback>
                <p:oleObj name="" r:id="rId5" imgW="2031365" imgH="520700" progId="Equation.DSMT4">
                  <p:embed/>
                  <p:pic>
                    <p:nvPicPr>
                      <p:cNvPr id="0" name="图片 3367"/>
                      <p:cNvPicPr/>
                      <p:nvPr/>
                    </p:nvPicPr>
                    <p:blipFill>
                      <a:blip r:embed="rId6"/>
                      <a:stretch>
                        <a:fillRect/>
                      </a:stretch>
                    </p:blipFill>
                    <p:spPr>
                      <a:xfrm>
                        <a:off x="323850" y="3716338"/>
                        <a:ext cx="3527425" cy="903287"/>
                      </a:xfrm>
                      <a:prstGeom prst="rect">
                        <a:avLst/>
                      </a:prstGeom>
                      <a:noFill/>
                      <a:ln w="38100">
                        <a:noFill/>
                        <a:miter/>
                      </a:ln>
                    </p:spPr>
                  </p:pic>
                </p:oleObj>
              </mc:Fallback>
            </mc:AlternateContent>
          </a:graphicData>
        </a:graphic>
      </p:graphicFrame>
      <p:sp>
        <p:nvSpPr>
          <p:cNvPr id="411662" name="Text Box 14"/>
          <p:cNvSpPr txBox="1"/>
          <p:nvPr/>
        </p:nvSpPr>
        <p:spPr>
          <a:xfrm>
            <a:off x="539750" y="3284538"/>
            <a:ext cx="4711700" cy="396875"/>
          </a:xfrm>
          <a:prstGeom prst="rect">
            <a:avLst/>
          </a:prstGeom>
          <a:noFill/>
          <a:ln w="9525">
            <a:noFill/>
          </a:ln>
        </p:spPr>
        <p:txBody>
          <a:bodyPr wrap="none">
            <a:spAutoFit/>
          </a:bodyPr>
          <a:lstStyle/>
          <a:p>
            <a:r>
              <a:rPr lang="zh-CN" altLang="en-US" sz="2000" dirty="0">
                <a:latin typeface="Times New Roman" panose="02020603050405020304" pitchFamily="18" charset="0"/>
              </a:rPr>
              <a:t>设回路为高</a:t>
            </a:r>
            <a:r>
              <a:rPr lang="en-US" altLang="zh-CN" sz="2000" dirty="0">
                <a:latin typeface="Times New Roman" panose="02020603050405020304" pitchFamily="18" charset="0"/>
              </a:rPr>
              <a:t>Q</a:t>
            </a:r>
            <a:r>
              <a:rPr lang="zh-CN" altLang="en-US" sz="2000" dirty="0">
                <a:latin typeface="Times New Roman" panose="02020603050405020304" pitchFamily="18" charset="0"/>
              </a:rPr>
              <a:t>电路</a:t>
            </a:r>
            <a:r>
              <a:rPr lang="en-US" altLang="zh-CN" sz="2000" dirty="0">
                <a:latin typeface="Times New Roman" panose="02020603050405020304" pitchFamily="18" charset="0"/>
              </a:rPr>
              <a:t>, </a:t>
            </a:r>
            <a:r>
              <a:rPr lang="zh-CN" altLang="en-US" sz="2000" dirty="0">
                <a:latin typeface="Times New Roman" panose="02020603050405020304" pitchFamily="18" charset="0"/>
              </a:rPr>
              <a:t>设谐振频率为</a:t>
            </a:r>
            <a:r>
              <a:rPr lang="en-US" altLang="zh-CN" sz="2000" i="1" dirty="0">
                <a:latin typeface="Times New Roman" panose="02020603050405020304" pitchFamily="18" charset="0"/>
              </a:rPr>
              <a:t>f</a:t>
            </a:r>
            <a:r>
              <a:rPr lang="en-US" altLang="zh-CN" sz="2000" baseline="-25000" dirty="0">
                <a:latin typeface="Times New Roman" panose="02020603050405020304" pitchFamily="18" charset="0"/>
              </a:rPr>
              <a:t>0</a:t>
            </a:r>
            <a:r>
              <a:rPr lang="zh-CN" altLang="en-US" sz="2000" dirty="0">
                <a:latin typeface="Times New Roman" panose="02020603050405020304" pitchFamily="18" charset="0"/>
              </a:rPr>
              <a:t>，则：</a:t>
            </a:r>
            <a:endParaRPr lang="zh-CN" altLang="en-US" sz="2000" baseline="-25000" dirty="0">
              <a:latin typeface="Times New Roman" panose="02020603050405020304" pitchFamily="18" charset="0"/>
            </a:endParaRPr>
          </a:p>
        </p:txBody>
      </p:sp>
      <p:graphicFrame>
        <p:nvGraphicFramePr>
          <p:cNvPr id="411663" name="Object 15"/>
          <p:cNvGraphicFramePr/>
          <p:nvPr/>
        </p:nvGraphicFramePr>
        <p:xfrm>
          <a:off x="3779838" y="3644900"/>
          <a:ext cx="3240087" cy="1374775"/>
        </p:xfrm>
        <a:graphic>
          <a:graphicData uri="http://schemas.openxmlformats.org/presentationml/2006/ole">
            <mc:AlternateContent xmlns:mc="http://schemas.openxmlformats.org/markup-compatibility/2006">
              <mc:Choice xmlns:v="urn:schemas-microsoft-com:vml" Requires="v">
                <p:oleObj spid="_x0000_s5" name="" r:id="rId7" imgW="1675765" imgH="711200" progId="Equation.DSMT4">
                  <p:embed/>
                </p:oleObj>
              </mc:Choice>
              <mc:Fallback>
                <p:oleObj name="" r:id="rId7" imgW="1675765" imgH="711200" progId="Equation.DSMT4">
                  <p:embed/>
                  <p:pic>
                    <p:nvPicPr>
                      <p:cNvPr id="0" name="图片 3361"/>
                      <p:cNvPicPr/>
                      <p:nvPr/>
                    </p:nvPicPr>
                    <p:blipFill>
                      <a:blip r:embed="rId8"/>
                      <a:stretch>
                        <a:fillRect/>
                      </a:stretch>
                    </p:blipFill>
                    <p:spPr>
                      <a:xfrm>
                        <a:off x="3779838" y="3644900"/>
                        <a:ext cx="3240087" cy="1374775"/>
                      </a:xfrm>
                      <a:prstGeom prst="rect">
                        <a:avLst/>
                      </a:prstGeom>
                      <a:noFill/>
                      <a:ln w="38100">
                        <a:noFill/>
                        <a:miter/>
                      </a:ln>
                    </p:spPr>
                  </p:pic>
                </p:oleObj>
              </mc:Fallback>
            </mc:AlternateContent>
          </a:graphicData>
        </a:graphic>
      </p:graphicFrame>
      <p:graphicFrame>
        <p:nvGraphicFramePr>
          <p:cNvPr id="411664" name="Object 16"/>
          <p:cNvGraphicFramePr/>
          <p:nvPr/>
        </p:nvGraphicFramePr>
        <p:xfrm>
          <a:off x="6877050" y="3357563"/>
          <a:ext cx="1908175" cy="1701800"/>
        </p:xfrm>
        <a:graphic>
          <a:graphicData uri="http://schemas.openxmlformats.org/presentationml/2006/ole">
            <mc:AlternateContent xmlns:mc="http://schemas.openxmlformats.org/markup-compatibility/2006">
              <mc:Choice xmlns:v="urn:schemas-microsoft-com:vml" Requires="v">
                <p:oleObj spid="_x0000_s6" name="" r:id="rId9" imgW="939800" imgH="838200" progId="Equation.DSMT4">
                  <p:embed/>
                </p:oleObj>
              </mc:Choice>
              <mc:Fallback>
                <p:oleObj name="" r:id="rId9" imgW="939800" imgH="838200" progId="Equation.DSMT4">
                  <p:embed/>
                  <p:pic>
                    <p:nvPicPr>
                      <p:cNvPr id="0" name="图片 3366"/>
                      <p:cNvPicPr/>
                      <p:nvPr/>
                    </p:nvPicPr>
                    <p:blipFill>
                      <a:blip r:embed="rId10"/>
                      <a:stretch>
                        <a:fillRect/>
                      </a:stretch>
                    </p:blipFill>
                    <p:spPr>
                      <a:xfrm>
                        <a:off x="6877050" y="3357563"/>
                        <a:ext cx="1908175" cy="1701800"/>
                      </a:xfrm>
                      <a:prstGeom prst="rect">
                        <a:avLst/>
                      </a:prstGeom>
                      <a:noFill/>
                      <a:ln w="38100">
                        <a:noFill/>
                        <a:miter/>
                      </a:ln>
                    </p:spPr>
                  </p:pic>
                </p:oleObj>
              </mc:Fallback>
            </mc:AlternateContent>
          </a:graphicData>
        </a:graphic>
      </p:graphicFrame>
      <p:sp>
        <p:nvSpPr>
          <p:cNvPr id="411665" name="Text Box 17"/>
          <p:cNvSpPr txBox="1"/>
          <p:nvPr/>
        </p:nvSpPr>
        <p:spPr>
          <a:xfrm>
            <a:off x="323850" y="5013325"/>
            <a:ext cx="6264275" cy="396875"/>
          </a:xfrm>
          <a:prstGeom prst="rect">
            <a:avLst/>
          </a:prstGeom>
          <a:noFill/>
          <a:ln w="9525">
            <a:noFill/>
          </a:ln>
        </p:spPr>
        <p:txBody>
          <a:bodyPr>
            <a:spAutoFit/>
          </a:bodyPr>
          <a:lstStyle/>
          <a:p>
            <a:pPr algn="just">
              <a:spcBef>
                <a:spcPct val="50000"/>
              </a:spcBef>
            </a:pPr>
            <a:r>
              <a:rPr lang="zh-CN" altLang="en-US" sz="2000" dirty="0">
                <a:latin typeface="Times New Roman" panose="02020603050405020304" pitchFamily="18" charset="0"/>
              </a:rPr>
              <a:t>式中</a:t>
            </a:r>
            <a:r>
              <a:rPr lang="en-US" altLang="zh-CN" sz="2000" dirty="0">
                <a:latin typeface="Times New Roman" panose="02020603050405020304" pitchFamily="18" charset="0"/>
              </a:rPr>
              <a:t>, Δ</a:t>
            </a:r>
            <a:r>
              <a:rPr lang="en-US" altLang="zh-CN" sz="2000" i="1" dirty="0">
                <a:latin typeface="Times New Roman" panose="02020603050405020304" pitchFamily="18" charset="0"/>
              </a:rPr>
              <a:t>f</a:t>
            </a:r>
            <a:r>
              <a:rPr lang="zh-CN" altLang="en-US" sz="2000" dirty="0">
                <a:latin typeface="Times New Roman" panose="02020603050405020304" pitchFamily="18" charset="0"/>
              </a:rPr>
              <a:t>为相对于</a:t>
            </a:r>
            <a:r>
              <a:rPr lang="en-US" altLang="zh-CN" sz="2000" i="1" dirty="0">
                <a:latin typeface="Times New Roman" panose="02020603050405020304" pitchFamily="18" charset="0"/>
              </a:rPr>
              <a:t>f</a:t>
            </a:r>
            <a:r>
              <a:rPr lang="en-US" altLang="zh-CN" sz="2000" baseline="-25000" dirty="0">
                <a:latin typeface="Times New Roman" panose="02020603050405020304" pitchFamily="18" charset="0"/>
              </a:rPr>
              <a:t>0</a:t>
            </a:r>
            <a:r>
              <a:rPr lang="zh-CN" altLang="en-US" sz="2000" dirty="0">
                <a:latin typeface="Times New Roman" panose="02020603050405020304" pitchFamily="18" charset="0"/>
              </a:rPr>
              <a:t>的频偏</a:t>
            </a:r>
            <a:r>
              <a:rPr lang="en-US" altLang="zh-CN" sz="2000" dirty="0">
                <a:latin typeface="Times New Roman" panose="02020603050405020304" pitchFamily="18" charset="0"/>
              </a:rPr>
              <a:t>, </a:t>
            </a:r>
            <a:r>
              <a:rPr lang="zh-CN" altLang="en-US" sz="2000" dirty="0">
                <a:latin typeface="Times New Roman" panose="02020603050405020304" pitchFamily="18" charset="0"/>
              </a:rPr>
              <a:t>由此可得等效噪声带宽为：</a:t>
            </a:r>
            <a:endParaRPr lang="zh-CN" altLang="en-US" sz="2000" dirty="0">
              <a:latin typeface="Times New Roman" panose="02020603050405020304" pitchFamily="18" charset="0"/>
            </a:endParaRPr>
          </a:p>
        </p:txBody>
      </p:sp>
      <p:grpSp>
        <p:nvGrpSpPr>
          <p:cNvPr id="7" name="Group 18"/>
          <p:cNvGrpSpPr/>
          <p:nvPr/>
        </p:nvGrpSpPr>
        <p:grpSpPr>
          <a:xfrm>
            <a:off x="827088" y="5445125"/>
            <a:ext cx="5257800" cy="1238250"/>
            <a:chOff x="521" y="3249"/>
            <a:chExt cx="3312" cy="780"/>
          </a:xfrm>
        </p:grpSpPr>
        <p:graphicFrame>
          <p:nvGraphicFramePr>
            <p:cNvPr id="56327" name="Object 19"/>
            <p:cNvGraphicFramePr/>
            <p:nvPr/>
          </p:nvGraphicFramePr>
          <p:xfrm>
            <a:off x="521" y="3294"/>
            <a:ext cx="2385" cy="735"/>
          </p:xfrm>
          <a:graphic>
            <a:graphicData uri="http://schemas.openxmlformats.org/presentationml/2006/ole">
              <mc:AlternateContent xmlns:mc="http://schemas.openxmlformats.org/markup-compatibility/2006">
                <mc:Choice xmlns:v="urn:schemas-microsoft-com:vml" Requires="v">
                  <p:oleObj spid="_x0000_s8" name="" r:id="rId11" imgW="2018665" imgH="622300" progId="Equation.DSMT4">
                    <p:embed/>
                  </p:oleObj>
                </mc:Choice>
                <mc:Fallback>
                  <p:oleObj name="" r:id="rId11" imgW="2018665" imgH="622300" progId="Equation.DSMT4">
                    <p:embed/>
                    <p:pic>
                      <p:nvPicPr>
                        <p:cNvPr id="0" name="图片 3358"/>
                        <p:cNvPicPr/>
                        <p:nvPr/>
                      </p:nvPicPr>
                      <p:blipFill>
                        <a:blip r:embed="rId12"/>
                        <a:stretch>
                          <a:fillRect/>
                        </a:stretch>
                      </p:blipFill>
                      <p:spPr>
                        <a:xfrm>
                          <a:off x="521" y="3294"/>
                          <a:ext cx="2385" cy="735"/>
                        </a:xfrm>
                        <a:prstGeom prst="rect">
                          <a:avLst/>
                        </a:prstGeom>
                        <a:noFill/>
                        <a:ln w="38100">
                          <a:noFill/>
                          <a:miter/>
                        </a:ln>
                      </p:spPr>
                    </p:pic>
                  </p:oleObj>
                </mc:Fallback>
              </mc:AlternateContent>
            </a:graphicData>
          </a:graphic>
        </p:graphicFrame>
        <p:graphicFrame>
          <p:nvGraphicFramePr>
            <p:cNvPr id="56328" name="Object 20"/>
            <p:cNvGraphicFramePr/>
            <p:nvPr/>
          </p:nvGraphicFramePr>
          <p:xfrm>
            <a:off x="2971" y="3249"/>
            <a:ext cx="862" cy="668"/>
          </p:xfrm>
          <a:graphic>
            <a:graphicData uri="http://schemas.openxmlformats.org/presentationml/2006/ole">
              <mc:AlternateContent xmlns:mc="http://schemas.openxmlformats.org/markup-compatibility/2006">
                <mc:Choice xmlns:v="urn:schemas-microsoft-com:vml" Requires="v">
                  <p:oleObj spid="_x0000_s9" name="" r:id="rId13" imgW="508000" imgH="393700" progId="Equation.DSMT4">
                    <p:embed/>
                  </p:oleObj>
                </mc:Choice>
                <mc:Fallback>
                  <p:oleObj name="" r:id="rId13" imgW="508000" imgH="393700" progId="Equation.DSMT4">
                    <p:embed/>
                    <p:pic>
                      <p:nvPicPr>
                        <p:cNvPr id="0" name="图片 3359"/>
                        <p:cNvPicPr/>
                        <p:nvPr/>
                      </p:nvPicPr>
                      <p:blipFill>
                        <a:blip r:embed="rId14"/>
                        <a:stretch>
                          <a:fillRect/>
                        </a:stretch>
                      </p:blipFill>
                      <p:spPr>
                        <a:xfrm>
                          <a:off x="2971" y="3249"/>
                          <a:ext cx="862" cy="668"/>
                        </a:xfrm>
                        <a:prstGeom prst="rect">
                          <a:avLst/>
                        </a:prstGeom>
                        <a:noFill/>
                        <a:ln w="38100">
                          <a:noFill/>
                          <a:miter/>
                        </a:ln>
                      </p:spPr>
                    </p:pic>
                  </p:oleObj>
                </mc:Fallback>
              </mc:AlternateContent>
            </a:graphicData>
          </a:graphic>
        </p:graphicFrame>
      </p:grpSp>
      <p:grpSp>
        <p:nvGrpSpPr>
          <p:cNvPr id="10" name="Group 19"/>
          <p:cNvGrpSpPr/>
          <p:nvPr/>
        </p:nvGrpSpPr>
        <p:grpSpPr>
          <a:xfrm>
            <a:off x="1784668" y="405766"/>
            <a:ext cx="5334000" cy="519113"/>
            <a:chOff x="1306" y="452"/>
            <a:chExt cx="3360" cy="327"/>
          </a:xfrm>
        </p:grpSpPr>
        <p:sp>
          <p:nvSpPr>
            <p:cNvPr id="11" name="Rectangle 20"/>
            <p:cNvSpPr/>
            <p:nvPr/>
          </p:nvSpPr>
          <p:spPr>
            <a:xfrm>
              <a:off x="1306" y="45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2.3   </a:t>
              </a:r>
              <a:r>
                <a:rPr lang="zh-CN" altLang="en-US" sz="2800" b="1" dirty="0">
                  <a:solidFill>
                    <a:schemeClr val="accent2"/>
                  </a:solidFill>
                  <a:latin typeface="Times New Roman" panose="02020603050405020304" pitchFamily="18" charset="0"/>
                </a:rPr>
                <a:t>电子噪 声及其特性</a:t>
              </a:r>
              <a:endParaRPr lang="zh-CN" altLang="en-US" sz="2800" b="1" dirty="0">
                <a:solidFill>
                  <a:schemeClr val="accent2"/>
                </a:solidFill>
                <a:latin typeface="Times New Roman" panose="02020603050405020304" pitchFamily="18" charset="0"/>
              </a:endParaRPr>
            </a:p>
          </p:txBody>
        </p:sp>
        <p:sp>
          <p:nvSpPr>
            <p:cNvPr id="12" name="Line 21"/>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1" name="Text Box 3"/>
          <p:cNvSpPr txBox="1"/>
          <p:nvPr/>
        </p:nvSpPr>
        <p:spPr>
          <a:xfrm>
            <a:off x="539750" y="1700213"/>
            <a:ext cx="8208963" cy="762000"/>
          </a:xfrm>
          <a:prstGeom prst="rect">
            <a:avLst/>
          </a:prstGeom>
          <a:noFill/>
          <a:ln w="9525">
            <a:noFill/>
          </a:ln>
        </p:spPr>
        <p:txBody>
          <a:bodyPr>
            <a:spAutoFit/>
          </a:bodyPr>
          <a:lstStyle/>
          <a:p>
            <a:r>
              <a:rPr lang="zh-CN" altLang="en-US" sz="2000" b="1" dirty="0">
                <a:latin typeface="Times New Roman" panose="02020603050405020304" pitchFamily="18" charset="0"/>
              </a:rPr>
              <a:t>晶体三级管噪声是设备内部固有噪声的另一个重要来源。他们有： </a:t>
            </a:r>
            <a:r>
              <a:rPr lang="en-US" altLang="zh-CN" sz="2000" b="1" dirty="0">
                <a:latin typeface="Times New Roman" panose="02020603050405020304" pitchFamily="18" charset="0"/>
              </a:rPr>
              <a:t>1) </a:t>
            </a:r>
            <a:r>
              <a:rPr lang="zh-CN" altLang="en-US" sz="2000" b="1" dirty="0">
                <a:latin typeface="Times New Roman" panose="02020603050405020304" pitchFamily="18" charset="0"/>
              </a:rPr>
              <a:t>散弹（粒）噪声 ；</a:t>
            </a:r>
            <a:r>
              <a:rPr lang="en-US" altLang="zh-CN" sz="2000" b="1" dirty="0">
                <a:latin typeface="Times New Roman" panose="02020603050405020304" pitchFamily="18" charset="0"/>
              </a:rPr>
              <a:t>2</a:t>
            </a:r>
            <a:r>
              <a:rPr lang="zh-CN" altLang="en-US" sz="2000" b="1" dirty="0">
                <a:latin typeface="Times New Roman" panose="02020603050405020304" pitchFamily="18" charset="0"/>
              </a:rPr>
              <a:t>）分配噪声；</a:t>
            </a:r>
            <a:r>
              <a:rPr lang="en-US" altLang="zh-CN" sz="2000" b="1" dirty="0">
                <a:latin typeface="Times New Roman" panose="02020603050405020304" pitchFamily="18" charset="0"/>
              </a:rPr>
              <a:t>3</a:t>
            </a:r>
            <a:r>
              <a:rPr lang="zh-CN" altLang="en-US" sz="2000" b="1" dirty="0">
                <a:latin typeface="Times New Roman" panose="02020603050405020304" pitchFamily="18" charset="0"/>
              </a:rPr>
              <a:t>）闪烁噪声</a:t>
            </a:r>
            <a:r>
              <a:rPr lang="zh-CN" altLang="en-US" b="1" dirty="0">
                <a:latin typeface="Times New Roman" panose="02020603050405020304" pitchFamily="18" charset="0"/>
              </a:rPr>
              <a:t> </a:t>
            </a:r>
            <a:endParaRPr lang="zh-CN" altLang="en-US" b="1" dirty="0">
              <a:latin typeface="Times New Roman" panose="02020603050405020304" pitchFamily="18" charset="0"/>
            </a:endParaRPr>
          </a:p>
        </p:txBody>
      </p:sp>
      <p:sp>
        <p:nvSpPr>
          <p:cNvPr id="324612" name="Text Box 4"/>
          <p:cNvSpPr txBox="1"/>
          <p:nvPr/>
        </p:nvSpPr>
        <p:spPr>
          <a:xfrm>
            <a:off x="611188" y="2484755"/>
            <a:ext cx="7940675" cy="701675"/>
          </a:xfrm>
          <a:prstGeom prst="rect">
            <a:avLst/>
          </a:prstGeom>
          <a:noFill/>
          <a:ln w="9525">
            <a:noFill/>
          </a:ln>
        </p:spPr>
        <p:txBody>
          <a:bodyPr>
            <a:spAutoFit/>
          </a:bodyPr>
          <a:lstStyle/>
          <a:p>
            <a:r>
              <a:rPr lang="zh-CN" altLang="en-US" sz="2000" b="1" dirty="0">
                <a:latin typeface="Times New Roman" panose="02020603050405020304" pitchFamily="18" charset="0"/>
              </a:rPr>
              <a:t>（</a:t>
            </a:r>
            <a:r>
              <a:rPr lang="en-US" altLang="zh-CN" sz="2000" b="1" dirty="0">
                <a:latin typeface="Times New Roman" panose="02020603050405020304" pitchFamily="18" charset="0"/>
              </a:rPr>
              <a:t>1</a:t>
            </a:r>
            <a:r>
              <a:rPr lang="zh-CN" altLang="en-US" sz="2000" b="1" dirty="0">
                <a:latin typeface="Times New Roman" panose="02020603050405020304" pitchFamily="18" charset="0"/>
              </a:rPr>
              <a:t>）</a:t>
            </a:r>
            <a:r>
              <a:rPr lang="zh-CN" altLang="en-US" sz="2000" b="1" dirty="0">
                <a:solidFill>
                  <a:schemeClr val="accent1"/>
                </a:solidFill>
                <a:latin typeface="Times New Roman" panose="02020603050405020304" pitchFamily="18" charset="0"/>
              </a:rPr>
              <a:t>散弹噪声</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由于载流子随机起伏运动产生的噪声称为散弹噪声，它也是白噪声。</a:t>
            </a:r>
            <a:endParaRPr lang="zh-CN" altLang="en-US" sz="2000" b="1" dirty="0">
              <a:latin typeface="Times New Roman" panose="02020603050405020304" pitchFamily="18" charset="0"/>
            </a:endParaRPr>
          </a:p>
        </p:txBody>
      </p:sp>
      <p:sp>
        <p:nvSpPr>
          <p:cNvPr id="324614" name="Text Box 6"/>
          <p:cNvSpPr txBox="1"/>
          <p:nvPr/>
        </p:nvSpPr>
        <p:spPr>
          <a:xfrm>
            <a:off x="611188" y="4365625"/>
            <a:ext cx="7921625" cy="701675"/>
          </a:xfrm>
          <a:prstGeom prst="rect">
            <a:avLst/>
          </a:prstGeom>
          <a:noFill/>
          <a:ln w="9525">
            <a:noFill/>
          </a:ln>
        </p:spPr>
        <p:txBody>
          <a:bodyPr>
            <a:spAutoFit/>
          </a:bodyPr>
          <a:lstStyle/>
          <a:p>
            <a:r>
              <a:rPr lang="zh-CN" altLang="en-US" sz="2000" b="1" dirty="0">
                <a:latin typeface="Times New Roman" panose="02020603050405020304" pitchFamily="18" charset="0"/>
              </a:rPr>
              <a:t>（</a:t>
            </a:r>
            <a:r>
              <a:rPr lang="en-US" altLang="zh-CN" sz="2000" b="1" dirty="0">
                <a:latin typeface="Times New Roman" panose="02020603050405020304" pitchFamily="18" charset="0"/>
              </a:rPr>
              <a:t>2</a:t>
            </a:r>
            <a:r>
              <a:rPr lang="zh-CN" altLang="en-US" sz="2000" b="1" dirty="0">
                <a:latin typeface="Times New Roman" panose="02020603050405020304" pitchFamily="18" charset="0"/>
              </a:rPr>
              <a:t>）</a:t>
            </a:r>
            <a:r>
              <a:rPr lang="zh-CN" altLang="en-US" sz="2000" b="1" dirty="0">
                <a:solidFill>
                  <a:schemeClr val="accent1"/>
                </a:solidFill>
                <a:latin typeface="Times New Roman" panose="02020603050405020304" pitchFamily="18" charset="0"/>
              </a:rPr>
              <a:t>分配噪声</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由分配比起伏变化而产生的集电极电流、基极电流起伏噪声，称为晶体管的分配噪声，它本质上也是白噪声。</a:t>
            </a:r>
            <a:endParaRPr lang="zh-CN" altLang="en-US" sz="2000" b="1" dirty="0">
              <a:latin typeface="Times New Roman" panose="02020603050405020304" pitchFamily="18" charset="0"/>
            </a:endParaRPr>
          </a:p>
        </p:txBody>
      </p:sp>
      <p:grpSp>
        <p:nvGrpSpPr>
          <p:cNvPr id="2" name="Group 16"/>
          <p:cNvGrpSpPr/>
          <p:nvPr/>
        </p:nvGrpSpPr>
        <p:grpSpPr>
          <a:xfrm>
            <a:off x="827088" y="3716338"/>
            <a:ext cx="7561262" cy="471487"/>
            <a:chOff x="612" y="2341"/>
            <a:chExt cx="4763" cy="297"/>
          </a:xfrm>
        </p:grpSpPr>
        <p:graphicFrame>
          <p:nvGraphicFramePr>
            <p:cNvPr id="57347" name="Object 8"/>
            <p:cNvGraphicFramePr/>
            <p:nvPr/>
          </p:nvGraphicFramePr>
          <p:xfrm>
            <a:off x="612" y="2341"/>
            <a:ext cx="1271" cy="297"/>
          </p:xfrm>
          <a:graphic>
            <a:graphicData uri="http://schemas.openxmlformats.org/presentationml/2006/ole">
              <mc:AlternateContent xmlns:mc="http://schemas.openxmlformats.org/markup-compatibility/2006">
                <mc:Choice xmlns:v="urn:schemas-microsoft-com:vml" Requires="v">
                  <p:oleObj spid="_x0000_s3" name="" r:id="rId1" imgW="977900" imgH="228600" progId="Equation.DSMT4">
                    <p:embed/>
                  </p:oleObj>
                </mc:Choice>
                <mc:Fallback>
                  <p:oleObj name="" r:id="rId1" imgW="977900" imgH="228600" progId="Equation.DSMT4">
                    <p:embed/>
                    <p:pic>
                      <p:nvPicPr>
                        <p:cNvPr id="0" name="图片 3363"/>
                        <p:cNvPicPr/>
                        <p:nvPr/>
                      </p:nvPicPr>
                      <p:blipFill>
                        <a:blip r:embed="rId2"/>
                        <a:stretch>
                          <a:fillRect/>
                        </a:stretch>
                      </p:blipFill>
                      <p:spPr>
                        <a:xfrm>
                          <a:off x="612" y="2341"/>
                          <a:ext cx="1271" cy="297"/>
                        </a:xfrm>
                        <a:prstGeom prst="rect">
                          <a:avLst/>
                        </a:prstGeom>
                        <a:noFill/>
                        <a:ln w="38100">
                          <a:noFill/>
                          <a:miter/>
                        </a:ln>
                      </p:spPr>
                    </p:pic>
                  </p:oleObj>
                </mc:Fallback>
              </mc:AlternateContent>
            </a:graphicData>
          </a:graphic>
        </p:graphicFrame>
        <p:sp>
          <p:nvSpPr>
            <p:cNvPr id="57361" name="Text Box 9"/>
            <p:cNvSpPr txBox="1"/>
            <p:nvPr/>
          </p:nvSpPr>
          <p:spPr>
            <a:xfrm>
              <a:off x="658" y="2341"/>
              <a:ext cx="4717" cy="250"/>
            </a:xfrm>
            <a:prstGeom prst="rect">
              <a:avLst/>
            </a:prstGeom>
            <a:noFill/>
            <a:ln w="9525">
              <a:noFill/>
            </a:ln>
          </p:spPr>
          <p:txBody>
            <a:bodyPr>
              <a:spAutoFit/>
            </a:bodyPr>
            <a:lstStyle/>
            <a:p>
              <a:r>
                <a:rPr lang="en-US" altLang="zh-CN" sz="2000" dirty="0">
                  <a:latin typeface="Times New Roman" panose="02020603050405020304" pitchFamily="18" charset="0"/>
                </a:rPr>
                <a:t>                             </a:t>
              </a:r>
              <a:r>
                <a:rPr lang="zh-CN" altLang="en-US" sz="2000" dirty="0">
                  <a:latin typeface="Times New Roman" panose="02020603050405020304" pitchFamily="18" charset="0"/>
                </a:rPr>
                <a:t>是每个载流子的电荷量，   是结的平均电流。  </a:t>
              </a:r>
              <a:endParaRPr lang="zh-CN" altLang="en-US" sz="2000" dirty="0">
                <a:latin typeface="Times New Roman" panose="02020603050405020304" pitchFamily="18" charset="0"/>
              </a:endParaRPr>
            </a:p>
          </p:txBody>
        </p:sp>
        <p:graphicFrame>
          <p:nvGraphicFramePr>
            <p:cNvPr id="57348" name="Object 10"/>
            <p:cNvGraphicFramePr/>
            <p:nvPr/>
          </p:nvGraphicFramePr>
          <p:xfrm>
            <a:off x="3560" y="2341"/>
            <a:ext cx="179" cy="269"/>
          </p:xfrm>
          <a:graphic>
            <a:graphicData uri="http://schemas.openxmlformats.org/presentationml/2006/ole">
              <mc:AlternateContent xmlns:mc="http://schemas.openxmlformats.org/markup-compatibility/2006">
                <mc:Choice xmlns:v="urn:schemas-microsoft-com:vml" Requires="v">
                  <p:oleObj spid="_x0000_s4" name="" r:id="rId3" imgW="152400" imgH="228600" progId="Equation.DSMT4">
                    <p:embed/>
                  </p:oleObj>
                </mc:Choice>
                <mc:Fallback>
                  <p:oleObj name="" r:id="rId3" imgW="152400" imgH="228600" progId="Equation.DSMT4">
                    <p:embed/>
                    <p:pic>
                      <p:nvPicPr>
                        <p:cNvPr id="0" name="图片 3365"/>
                        <p:cNvPicPr/>
                        <p:nvPr/>
                      </p:nvPicPr>
                      <p:blipFill>
                        <a:blip r:embed="rId4"/>
                        <a:stretch>
                          <a:fillRect/>
                        </a:stretch>
                      </p:blipFill>
                      <p:spPr>
                        <a:xfrm>
                          <a:off x="3560" y="2341"/>
                          <a:ext cx="179" cy="269"/>
                        </a:xfrm>
                        <a:prstGeom prst="rect">
                          <a:avLst/>
                        </a:prstGeom>
                        <a:noFill/>
                        <a:ln w="38100">
                          <a:noFill/>
                          <a:miter/>
                        </a:ln>
                      </p:spPr>
                    </p:pic>
                  </p:oleObj>
                </mc:Fallback>
              </mc:AlternateContent>
            </a:graphicData>
          </a:graphic>
        </p:graphicFrame>
      </p:grpSp>
      <p:sp>
        <p:nvSpPr>
          <p:cNvPr id="57353" name="Text Box 11"/>
          <p:cNvSpPr txBox="1"/>
          <p:nvPr/>
        </p:nvSpPr>
        <p:spPr>
          <a:xfrm>
            <a:off x="179388" y="908050"/>
            <a:ext cx="3232150" cy="396875"/>
          </a:xfrm>
          <a:prstGeom prst="rect">
            <a:avLst/>
          </a:prstGeom>
          <a:noFill/>
          <a:ln w="9525">
            <a:noFill/>
          </a:ln>
        </p:spPr>
        <p:txBody>
          <a:bodyPr wrap="none">
            <a:spAutoFit/>
          </a:bodyPr>
          <a:lstStyle/>
          <a:p>
            <a:r>
              <a:rPr lang="zh-CN" altLang="en-US" sz="2000" dirty="0">
                <a:solidFill>
                  <a:srgbClr val="FF0066"/>
                </a:solidFill>
                <a:latin typeface="Times New Roman" panose="02020603050405020304" pitchFamily="18" charset="0"/>
              </a:rPr>
              <a:t>二、电子噪声的来源与特性</a:t>
            </a:r>
            <a:endParaRPr lang="zh-CN" altLang="en-US" sz="2000" dirty="0">
              <a:solidFill>
                <a:srgbClr val="FF0066"/>
              </a:solidFill>
              <a:latin typeface="Times New Roman" panose="02020603050405020304" pitchFamily="18" charset="0"/>
            </a:endParaRPr>
          </a:p>
        </p:txBody>
      </p:sp>
      <p:sp>
        <p:nvSpPr>
          <p:cNvPr id="324623" name="Text Box 15"/>
          <p:cNvSpPr txBox="1"/>
          <p:nvPr/>
        </p:nvSpPr>
        <p:spPr>
          <a:xfrm>
            <a:off x="539750" y="1268413"/>
            <a:ext cx="2673350" cy="396875"/>
          </a:xfrm>
          <a:prstGeom prst="rect">
            <a:avLst/>
          </a:prstGeom>
          <a:noFill/>
          <a:ln w="9525">
            <a:noFill/>
          </a:ln>
        </p:spPr>
        <p:txBody>
          <a:bodyPr wrap="none">
            <a:spAutoFit/>
          </a:bodyPr>
          <a:lstStyle/>
          <a:p>
            <a:pPr marL="457200" indent="-457200">
              <a:buAutoNum type="circleNumDbPlain" startAt="2"/>
            </a:pPr>
            <a:r>
              <a:rPr lang="zh-CN" altLang="en-US" sz="2000" b="1" dirty="0">
                <a:solidFill>
                  <a:schemeClr val="accent2"/>
                </a:solidFill>
                <a:latin typeface="Times New Roman" panose="02020603050405020304" pitchFamily="18" charset="0"/>
              </a:rPr>
              <a:t>晶体三级管的噪声</a:t>
            </a:r>
            <a:endParaRPr lang="zh-CN" altLang="en-US" sz="2000" b="1" dirty="0">
              <a:solidFill>
                <a:schemeClr val="accent2"/>
              </a:solidFill>
              <a:latin typeface="Times New Roman" panose="02020603050405020304" pitchFamily="18" charset="0"/>
            </a:endParaRPr>
          </a:p>
        </p:txBody>
      </p:sp>
      <p:sp>
        <p:nvSpPr>
          <p:cNvPr id="324625" name="Text Box 17"/>
          <p:cNvSpPr txBox="1"/>
          <p:nvPr/>
        </p:nvSpPr>
        <p:spPr>
          <a:xfrm>
            <a:off x="611188" y="5445125"/>
            <a:ext cx="8120062" cy="701675"/>
          </a:xfrm>
          <a:prstGeom prst="rect">
            <a:avLst/>
          </a:prstGeom>
          <a:noFill/>
          <a:ln w="9525">
            <a:noFill/>
          </a:ln>
        </p:spPr>
        <p:txBody>
          <a:bodyPr>
            <a:spAutoFit/>
          </a:bodyPr>
          <a:lstStyle/>
          <a:p>
            <a:r>
              <a:rPr lang="zh-CN" altLang="en-US" sz="2000" b="1" dirty="0">
                <a:latin typeface="Times New Roman" panose="02020603050405020304" pitchFamily="18" charset="0"/>
              </a:rPr>
              <a:t>（</a:t>
            </a:r>
            <a:r>
              <a:rPr lang="en-US" altLang="zh-CN" sz="2000" b="1" dirty="0">
                <a:latin typeface="Times New Roman" panose="02020603050405020304" pitchFamily="18" charset="0"/>
              </a:rPr>
              <a:t>3</a:t>
            </a:r>
            <a:r>
              <a:rPr lang="zh-CN" altLang="en-US" sz="2000" b="1" dirty="0">
                <a:latin typeface="Times New Roman" panose="02020603050405020304" pitchFamily="18" charset="0"/>
              </a:rPr>
              <a:t>）</a:t>
            </a:r>
            <a:r>
              <a:rPr lang="zh-CN" altLang="en-US" sz="2000" b="1" dirty="0">
                <a:solidFill>
                  <a:schemeClr val="accent1"/>
                </a:solidFill>
                <a:latin typeface="Times New Roman" panose="02020603050405020304" pitchFamily="18" charset="0"/>
              </a:rPr>
              <a:t>闪烁噪声</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由于半导体材料及制造工艺水平造成表面清洁处理不好而引起的噪声称为闪烁噪声。</a:t>
            </a:r>
            <a:endParaRPr lang="zh-CN" altLang="en-US" sz="2000" b="1" dirty="0">
              <a:latin typeface="Times New Roman" panose="02020603050405020304" pitchFamily="18" charset="0"/>
            </a:endParaRPr>
          </a:p>
        </p:txBody>
      </p:sp>
      <p:grpSp>
        <p:nvGrpSpPr>
          <p:cNvPr id="5" name="Group 19"/>
          <p:cNvGrpSpPr/>
          <p:nvPr/>
        </p:nvGrpSpPr>
        <p:grpSpPr>
          <a:xfrm>
            <a:off x="1527175" y="3121025"/>
            <a:ext cx="4052888" cy="485775"/>
            <a:chOff x="962" y="1966"/>
            <a:chExt cx="2553" cy="306"/>
          </a:xfrm>
        </p:grpSpPr>
        <p:graphicFrame>
          <p:nvGraphicFramePr>
            <p:cNvPr id="57346" name="Object 5"/>
            <p:cNvGraphicFramePr/>
            <p:nvPr/>
          </p:nvGraphicFramePr>
          <p:xfrm>
            <a:off x="2472" y="1979"/>
            <a:ext cx="1043" cy="293"/>
          </p:xfrm>
          <a:graphic>
            <a:graphicData uri="http://schemas.openxmlformats.org/presentationml/2006/ole">
              <mc:AlternateContent xmlns:mc="http://schemas.openxmlformats.org/markup-compatibility/2006">
                <mc:Choice xmlns:v="urn:schemas-microsoft-com:vml" Requires="v">
                  <p:oleObj spid="_x0000_s6" name="" r:id="rId5" imgW="812165" imgH="228600" progId="Equation.DSMT4">
                    <p:embed/>
                  </p:oleObj>
                </mc:Choice>
                <mc:Fallback>
                  <p:oleObj name="" r:id="rId5" imgW="812165" imgH="228600" progId="Equation.DSMT4">
                    <p:embed/>
                    <p:pic>
                      <p:nvPicPr>
                        <p:cNvPr id="0" name="图片 3369"/>
                        <p:cNvPicPr/>
                        <p:nvPr/>
                      </p:nvPicPr>
                      <p:blipFill>
                        <a:blip r:embed="rId6"/>
                        <a:stretch>
                          <a:fillRect/>
                        </a:stretch>
                      </p:blipFill>
                      <p:spPr>
                        <a:xfrm>
                          <a:off x="2472" y="1979"/>
                          <a:ext cx="1043" cy="293"/>
                        </a:xfrm>
                        <a:prstGeom prst="rect">
                          <a:avLst/>
                        </a:prstGeom>
                        <a:noFill/>
                        <a:ln w="38100">
                          <a:noFill/>
                          <a:miter/>
                        </a:ln>
                      </p:spPr>
                    </p:pic>
                  </p:oleObj>
                </mc:Fallback>
              </mc:AlternateContent>
            </a:graphicData>
          </a:graphic>
        </p:graphicFrame>
        <p:sp>
          <p:nvSpPr>
            <p:cNvPr id="57358" name="Text Box 18"/>
            <p:cNvSpPr txBox="1"/>
            <p:nvPr/>
          </p:nvSpPr>
          <p:spPr>
            <a:xfrm>
              <a:off x="962" y="1966"/>
              <a:ext cx="1556" cy="250"/>
            </a:xfrm>
            <a:prstGeom prst="rect">
              <a:avLst/>
            </a:prstGeom>
            <a:noFill/>
            <a:ln w="9525">
              <a:noFill/>
            </a:ln>
          </p:spPr>
          <p:txBody>
            <a:bodyPr wrap="none">
              <a:spAutoFit/>
            </a:bodyPr>
            <a:lstStyle/>
            <a:p>
              <a:r>
                <a:rPr lang="zh-CN" altLang="en-US" sz="2000" dirty="0">
                  <a:latin typeface="Times New Roman" panose="02020603050405020304" pitchFamily="18" charset="0"/>
                </a:rPr>
                <a:t>噪声均方电流谱密度</a:t>
              </a:r>
              <a:endParaRPr lang="zh-CN" altLang="en-US" sz="2000" dirty="0">
                <a:latin typeface="Times New Roman" panose="02020603050405020304" pitchFamily="18" charset="0"/>
              </a:endParaRPr>
            </a:p>
          </p:txBody>
        </p:sp>
      </p:grpSp>
      <p:grpSp>
        <p:nvGrpSpPr>
          <p:cNvPr id="7" name="Group 19"/>
          <p:cNvGrpSpPr/>
          <p:nvPr/>
        </p:nvGrpSpPr>
        <p:grpSpPr>
          <a:xfrm>
            <a:off x="1784668" y="405766"/>
            <a:ext cx="5334000" cy="519113"/>
            <a:chOff x="1306" y="452"/>
            <a:chExt cx="3360" cy="327"/>
          </a:xfrm>
        </p:grpSpPr>
        <p:sp>
          <p:nvSpPr>
            <p:cNvPr id="8" name="Rectangle 20"/>
            <p:cNvSpPr/>
            <p:nvPr/>
          </p:nvSpPr>
          <p:spPr>
            <a:xfrm>
              <a:off x="1306" y="45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2.3   </a:t>
              </a:r>
              <a:r>
                <a:rPr lang="zh-CN" altLang="en-US" sz="2800" b="1" dirty="0">
                  <a:solidFill>
                    <a:schemeClr val="accent2"/>
                  </a:solidFill>
                  <a:latin typeface="Times New Roman" panose="02020603050405020304" pitchFamily="18" charset="0"/>
                </a:rPr>
                <a:t>电子噪 声及其特性</a:t>
              </a:r>
              <a:endParaRPr lang="zh-CN" altLang="en-US" sz="2800" b="1" dirty="0">
                <a:solidFill>
                  <a:schemeClr val="accent2"/>
                </a:solidFill>
                <a:latin typeface="Times New Roman" panose="02020603050405020304" pitchFamily="18" charset="0"/>
              </a:endParaRPr>
            </a:p>
          </p:txBody>
        </p:sp>
        <p:sp>
          <p:nvSpPr>
            <p:cNvPr id="9" name="Line 21"/>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6" name="Text Box 4"/>
          <p:cNvSpPr txBox="1"/>
          <p:nvPr/>
        </p:nvSpPr>
        <p:spPr>
          <a:xfrm>
            <a:off x="539750" y="981075"/>
            <a:ext cx="2012950" cy="457200"/>
          </a:xfrm>
          <a:prstGeom prst="rect">
            <a:avLst/>
          </a:prstGeom>
          <a:noFill/>
          <a:ln w="9525">
            <a:noFill/>
          </a:ln>
        </p:spPr>
        <p:txBody>
          <a:bodyPr wrap="none">
            <a:spAutoFit/>
          </a:bodyPr>
          <a:lstStyle/>
          <a:p>
            <a:r>
              <a:rPr lang="zh-CN" altLang="en-US" dirty="0">
                <a:solidFill>
                  <a:srgbClr val="FF0066"/>
                </a:solidFill>
                <a:latin typeface="Times New Roman" panose="02020603050405020304" pitchFamily="18" charset="0"/>
              </a:rPr>
              <a:t>一、噪声系数</a:t>
            </a:r>
            <a:endParaRPr lang="zh-CN" altLang="en-US" dirty="0">
              <a:solidFill>
                <a:srgbClr val="FF0066"/>
              </a:solidFill>
              <a:latin typeface="Times New Roman" panose="02020603050405020304" pitchFamily="18" charset="0"/>
            </a:endParaRPr>
          </a:p>
        </p:txBody>
      </p:sp>
      <p:sp>
        <p:nvSpPr>
          <p:cNvPr id="325637" name="Text Box 5"/>
          <p:cNvSpPr txBox="1"/>
          <p:nvPr/>
        </p:nvSpPr>
        <p:spPr>
          <a:xfrm>
            <a:off x="611188" y="1700213"/>
            <a:ext cx="8085137" cy="2676525"/>
          </a:xfrm>
          <a:prstGeom prst="rect">
            <a:avLst/>
          </a:prstGeom>
          <a:noFill/>
          <a:ln w="9525">
            <a:noFill/>
          </a:ln>
        </p:spPr>
        <p:txBody>
          <a:bodyPr>
            <a:spAutoFit/>
          </a:bodyPr>
          <a:lstStyle/>
          <a:p>
            <a:r>
              <a:rPr lang="zh-CN" altLang="en-US" dirty="0">
                <a:latin typeface="Times New Roman" panose="02020603050405020304" pitchFamily="18" charset="0"/>
              </a:rPr>
              <a:t>在一些部件和系统中，噪声对他们性能的影响主要表现在信号与噪声的相对大小，即信号噪声功率比。一般希望有这样的电路或系统，当有用信号和输入端的噪声通过他们时，此系统不引入附加噪声。这意味着输入端和输出端具有相同的信噪比。但实际中，由于电路或系统内部总有附加噪声，输出端信噪比会下降。因此我们希望输出端信噪比下降尽可能小。噪声系数就是基于该想法定义的。</a:t>
            </a:r>
            <a:endParaRPr lang="zh-CN" altLang="en-US" dirty="0">
              <a:latin typeface="Times New Roman" panose="02020603050405020304" pitchFamily="18" charset="0"/>
            </a:endParaRPr>
          </a:p>
        </p:txBody>
      </p:sp>
      <p:grpSp>
        <p:nvGrpSpPr>
          <p:cNvPr id="2" name="Group 19"/>
          <p:cNvGrpSpPr/>
          <p:nvPr/>
        </p:nvGrpSpPr>
        <p:grpSpPr>
          <a:xfrm>
            <a:off x="1784668" y="405766"/>
            <a:ext cx="5334000" cy="519113"/>
            <a:chOff x="1306" y="452"/>
            <a:chExt cx="3360" cy="327"/>
          </a:xfrm>
        </p:grpSpPr>
        <p:sp>
          <p:nvSpPr>
            <p:cNvPr id="3" name="Rectangle 20"/>
            <p:cNvSpPr/>
            <p:nvPr/>
          </p:nvSpPr>
          <p:spPr>
            <a:xfrm>
              <a:off x="1306" y="45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2.4  </a:t>
              </a:r>
              <a:r>
                <a:rPr lang="zh-CN" altLang="en-US" sz="2800" b="1" dirty="0">
                  <a:solidFill>
                    <a:schemeClr val="accent2"/>
                  </a:solidFill>
                  <a:latin typeface="Times New Roman" panose="02020603050405020304" pitchFamily="18" charset="0"/>
                </a:rPr>
                <a:t>噪声系数</a:t>
              </a:r>
              <a:endParaRPr lang="zh-CN" altLang="en-US" sz="2800" b="1" dirty="0">
                <a:solidFill>
                  <a:schemeClr val="accent2"/>
                </a:solidFill>
                <a:latin typeface="Times New Roman" panose="02020603050405020304" pitchFamily="18" charset="0"/>
              </a:endParaRPr>
            </a:p>
          </p:txBody>
        </p:sp>
        <p:sp>
          <p:nvSpPr>
            <p:cNvPr id="4" name="Line 21"/>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9" name="Text Box 4"/>
          <p:cNvSpPr txBox="1"/>
          <p:nvPr/>
        </p:nvSpPr>
        <p:spPr>
          <a:xfrm>
            <a:off x="539750" y="981075"/>
            <a:ext cx="2012950" cy="457200"/>
          </a:xfrm>
          <a:prstGeom prst="rect">
            <a:avLst/>
          </a:prstGeom>
          <a:noFill/>
          <a:ln w="9525">
            <a:noFill/>
          </a:ln>
        </p:spPr>
        <p:txBody>
          <a:bodyPr wrap="none">
            <a:spAutoFit/>
          </a:bodyPr>
          <a:lstStyle/>
          <a:p>
            <a:r>
              <a:rPr lang="zh-CN" altLang="en-US" dirty="0">
                <a:solidFill>
                  <a:srgbClr val="FF0066"/>
                </a:solidFill>
                <a:latin typeface="Times New Roman" panose="02020603050405020304" pitchFamily="18" charset="0"/>
              </a:rPr>
              <a:t>一、噪声系数</a:t>
            </a:r>
            <a:endParaRPr lang="zh-CN" altLang="en-US" dirty="0">
              <a:solidFill>
                <a:srgbClr val="FF0066"/>
              </a:solidFill>
              <a:latin typeface="Times New Roman" panose="02020603050405020304" pitchFamily="18" charset="0"/>
            </a:endParaRPr>
          </a:p>
        </p:txBody>
      </p:sp>
      <p:graphicFrame>
        <p:nvGraphicFramePr>
          <p:cNvPr id="412680" name="Object 8"/>
          <p:cNvGraphicFramePr/>
          <p:nvPr/>
        </p:nvGraphicFramePr>
        <p:xfrm>
          <a:off x="4716463" y="2708275"/>
          <a:ext cx="3816350" cy="1109663"/>
        </p:xfrm>
        <a:graphic>
          <a:graphicData uri="http://schemas.openxmlformats.org/presentationml/2006/ole">
            <mc:AlternateContent xmlns:mc="http://schemas.openxmlformats.org/markup-compatibility/2006">
              <mc:Choice xmlns:v="urn:schemas-microsoft-com:vml" Requires="v">
                <p:oleObj spid="_x0000_s2" name="" r:id="rId1" imgW="2056765" imgH="427355" progId="Visio.Drawing.4">
                  <p:embed/>
                </p:oleObj>
              </mc:Choice>
              <mc:Fallback>
                <p:oleObj name="" r:id="rId1" imgW="2056765" imgH="427355" progId="Visio.Drawing.4">
                  <p:embed/>
                  <p:pic>
                    <p:nvPicPr>
                      <p:cNvPr id="0" name="图片 3376"/>
                      <p:cNvPicPr/>
                      <p:nvPr/>
                    </p:nvPicPr>
                    <p:blipFill>
                      <a:blip r:embed="rId2"/>
                      <a:stretch>
                        <a:fillRect/>
                      </a:stretch>
                    </p:blipFill>
                    <p:spPr>
                      <a:xfrm>
                        <a:off x="4716463" y="2708275"/>
                        <a:ext cx="3816350" cy="1109663"/>
                      </a:xfrm>
                      <a:prstGeom prst="rect">
                        <a:avLst/>
                      </a:prstGeom>
                      <a:noFill/>
                      <a:ln w="38100">
                        <a:noFill/>
                        <a:miter/>
                      </a:ln>
                    </p:spPr>
                  </p:pic>
                </p:oleObj>
              </mc:Fallback>
            </mc:AlternateContent>
          </a:graphicData>
        </a:graphic>
      </p:graphicFrame>
      <p:sp>
        <p:nvSpPr>
          <p:cNvPr id="412681" name="Text Box 9"/>
          <p:cNvSpPr txBox="1"/>
          <p:nvPr/>
        </p:nvSpPr>
        <p:spPr>
          <a:xfrm>
            <a:off x="468313" y="1484313"/>
            <a:ext cx="4175125" cy="396875"/>
          </a:xfrm>
          <a:prstGeom prst="rect">
            <a:avLst/>
          </a:prstGeom>
          <a:noFill/>
          <a:ln w="9525">
            <a:noFill/>
          </a:ln>
        </p:spPr>
        <p:txBody>
          <a:bodyPr>
            <a:spAutoFit/>
          </a:bodyPr>
          <a:lstStyle/>
          <a:p>
            <a:r>
              <a:rPr lang="zh-CN" altLang="en-US" sz="2000" dirty="0">
                <a:latin typeface="Times New Roman" panose="02020603050405020304" pitchFamily="18" charset="0"/>
              </a:rPr>
              <a:t>线性四端网络</a:t>
            </a:r>
            <a:r>
              <a:rPr lang="zh-CN" altLang="en-US" sz="2000" dirty="0">
                <a:solidFill>
                  <a:srgbClr val="FF3300"/>
                </a:solidFill>
                <a:latin typeface="Times New Roman" panose="02020603050405020304" pitchFamily="18" charset="0"/>
              </a:rPr>
              <a:t>噪声系数的定义：</a:t>
            </a:r>
            <a:endParaRPr lang="zh-CN" altLang="en-US" sz="2000" dirty="0">
              <a:solidFill>
                <a:srgbClr val="FF3300"/>
              </a:solidFill>
              <a:latin typeface="Times New Roman" panose="02020603050405020304" pitchFamily="18" charset="0"/>
            </a:endParaRPr>
          </a:p>
        </p:txBody>
      </p:sp>
      <p:grpSp>
        <p:nvGrpSpPr>
          <p:cNvPr id="3" name="Group 30"/>
          <p:cNvGrpSpPr/>
          <p:nvPr/>
        </p:nvGrpSpPr>
        <p:grpSpPr>
          <a:xfrm>
            <a:off x="611188" y="2060575"/>
            <a:ext cx="7921625" cy="747713"/>
            <a:chOff x="385" y="1298"/>
            <a:chExt cx="4990" cy="471"/>
          </a:xfrm>
        </p:grpSpPr>
        <p:sp>
          <p:nvSpPr>
            <p:cNvPr id="58392" name="Text Box 11"/>
            <p:cNvSpPr txBox="1"/>
            <p:nvPr/>
          </p:nvSpPr>
          <p:spPr>
            <a:xfrm>
              <a:off x="385" y="1298"/>
              <a:ext cx="4990" cy="442"/>
            </a:xfrm>
            <a:prstGeom prst="rect">
              <a:avLst/>
            </a:prstGeom>
            <a:noFill/>
            <a:ln w="9525">
              <a:noFill/>
            </a:ln>
          </p:spPr>
          <p:txBody>
            <a:bodyPr>
              <a:spAutoFit/>
            </a:bodyPr>
            <a:lstStyle/>
            <a:p>
              <a:pPr>
                <a:spcBef>
                  <a:spcPct val="50000"/>
                </a:spcBef>
              </a:pPr>
              <a:r>
                <a:rPr lang="zh-CN" altLang="en-US" sz="2000" dirty="0">
                  <a:solidFill>
                    <a:srgbClr val="FF0066"/>
                  </a:solidFill>
                  <a:latin typeface="Times New Roman" panose="02020603050405020304" pitchFamily="18" charset="0"/>
                </a:rPr>
                <a:t>噪声系数</a:t>
              </a:r>
              <a:r>
                <a:rPr lang="en-US" altLang="zh-CN" sz="2000" dirty="0">
                  <a:latin typeface="Times New Roman" panose="02020603050405020304" pitchFamily="18" charset="0"/>
                </a:rPr>
                <a:t>——</a:t>
              </a:r>
              <a:r>
                <a:rPr lang="zh-CN" altLang="en-US" sz="2000" dirty="0">
                  <a:latin typeface="Times New Roman" panose="02020603050405020304" pitchFamily="18" charset="0"/>
                </a:rPr>
                <a:t>输入端的信号噪声功率比             与输出端的信号噪声功率比            的比值，即：</a:t>
              </a:r>
              <a:endParaRPr lang="zh-CN" altLang="en-US" sz="2000" dirty="0">
                <a:latin typeface="Times New Roman" panose="02020603050405020304" pitchFamily="18" charset="0"/>
              </a:endParaRPr>
            </a:p>
          </p:txBody>
        </p:sp>
        <p:graphicFrame>
          <p:nvGraphicFramePr>
            <p:cNvPr id="58377" name="Object 12"/>
            <p:cNvGraphicFramePr/>
            <p:nvPr/>
          </p:nvGraphicFramePr>
          <p:xfrm>
            <a:off x="748" y="1525"/>
            <a:ext cx="544" cy="244"/>
          </p:xfrm>
          <a:graphic>
            <a:graphicData uri="http://schemas.openxmlformats.org/presentationml/2006/ole">
              <mc:AlternateContent xmlns:mc="http://schemas.openxmlformats.org/markup-compatibility/2006">
                <mc:Choice xmlns:v="urn:schemas-microsoft-com:vml" Requires="v">
                  <p:oleObj spid="_x0000_s4" name="" r:id="rId3" imgW="508000" imgH="228600" progId="Equation.DSMT4">
                    <p:embed/>
                  </p:oleObj>
                </mc:Choice>
                <mc:Fallback>
                  <p:oleObj name="" r:id="rId3" imgW="508000" imgH="228600" progId="Equation.DSMT4">
                    <p:embed/>
                    <p:pic>
                      <p:nvPicPr>
                        <p:cNvPr id="0" name="图片 3377"/>
                        <p:cNvPicPr/>
                        <p:nvPr/>
                      </p:nvPicPr>
                      <p:blipFill>
                        <a:blip r:embed="rId4"/>
                        <a:stretch>
                          <a:fillRect/>
                        </a:stretch>
                      </p:blipFill>
                      <p:spPr>
                        <a:xfrm>
                          <a:off x="748" y="1525"/>
                          <a:ext cx="544" cy="244"/>
                        </a:xfrm>
                        <a:prstGeom prst="rect">
                          <a:avLst/>
                        </a:prstGeom>
                        <a:noFill/>
                        <a:ln w="38100">
                          <a:noFill/>
                          <a:miter/>
                        </a:ln>
                      </p:spPr>
                    </p:pic>
                  </p:oleObj>
                </mc:Fallback>
              </mc:AlternateContent>
            </a:graphicData>
          </a:graphic>
        </p:graphicFrame>
        <p:graphicFrame>
          <p:nvGraphicFramePr>
            <p:cNvPr id="58378" name="Object 13"/>
            <p:cNvGraphicFramePr/>
            <p:nvPr/>
          </p:nvGraphicFramePr>
          <p:xfrm>
            <a:off x="3152" y="1298"/>
            <a:ext cx="589" cy="272"/>
          </p:xfrm>
          <a:graphic>
            <a:graphicData uri="http://schemas.openxmlformats.org/presentationml/2006/ole">
              <mc:AlternateContent xmlns:mc="http://schemas.openxmlformats.org/markup-compatibility/2006">
                <mc:Choice xmlns:v="urn:schemas-microsoft-com:vml" Requires="v">
                  <p:oleObj spid="_x0000_s5" name="" r:id="rId5" imgW="495300" imgH="228600" progId="Equation.DSMT4">
                    <p:embed/>
                  </p:oleObj>
                </mc:Choice>
                <mc:Fallback>
                  <p:oleObj name="" r:id="rId5" imgW="495300" imgH="228600" progId="Equation.DSMT4">
                    <p:embed/>
                    <p:pic>
                      <p:nvPicPr>
                        <p:cNvPr id="0" name="图片 3381"/>
                        <p:cNvPicPr/>
                        <p:nvPr/>
                      </p:nvPicPr>
                      <p:blipFill>
                        <a:blip r:embed="rId6"/>
                        <a:stretch>
                          <a:fillRect/>
                        </a:stretch>
                      </p:blipFill>
                      <p:spPr>
                        <a:xfrm>
                          <a:off x="3152" y="1298"/>
                          <a:ext cx="589" cy="272"/>
                        </a:xfrm>
                        <a:prstGeom prst="rect">
                          <a:avLst/>
                        </a:prstGeom>
                        <a:noFill/>
                        <a:ln w="38100">
                          <a:noFill/>
                          <a:miter/>
                        </a:ln>
                      </p:spPr>
                    </p:pic>
                  </p:oleObj>
                </mc:Fallback>
              </mc:AlternateContent>
            </a:graphicData>
          </a:graphic>
        </p:graphicFrame>
      </p:grpSp>
      <p:grpSp>
        <p:nvGrpSpPr>
          <p:cNvPr id="6" name="Group 14"/>
          <p:cNvGrpSpPr/>
          <p:nvPr/>
        </p:nvGrpSpPr>
        <p:grpSpPr>
          <a:xfrm>
            <a:off x="1908175" y="2708275"/>
            <a:ext cx="2824163" cy="1552575"/>
            <a:chOff x="1202" y="1298"/>
            <a:chExt cx="1779" cy="978"/>
          </a:xfrm>
        </p:grpSpPr>
        <p:graphicFrame>
          <p:nvGraphicFramePr>
            <p:cNvPr id="58376" name="Object 15"/>
            <p:cNvGraphicFramePr/>
            <p:nvPr/>
          </p:nvGraphicFramePr>
          <p:xfrm>
            <a:off x="1202" y="1298"/>
            <a:ext cx="1360" cy="978"/>
          </p:xfrm>
          <a:graphic>
            <a:graphicData uri="http://schemas.openxmlformats.org/presentationml/2006/ole">
              <mc:AlternateContent xmlns:mc="http://schemas.openxmlformats.org/markup-compatibility/2006">
                <mc:Choice xmlns:v="urn:schemas-microsoft-com:vml" Requires="v">
                  <p:oleObj spid="_x0000_s7" name="" r:id="rId7" imgW="1129665" imgH="812165" progId="Equation.DSMT4">
                    <p:embed/>
                  </p:oleObj>
                </mc:Choice>
                <mc:Fallback>
                  <p:oleObj name="" r:id="rId7" imgW="1129665" imgH="812165" progId="Equation.DSMT4">
                    <p:embed/>
                    <p:pic>
                      <p:nvPicPr>
                        <p:cNvPr id="0" name="图片 3373"/>
                        <p:cNvPicPr/>
                        <p:nvPr/>
                      </p:nvPicPr>
                      <p:blipFill>
                        <a:blip r:embed="rId8"/>
                        <a:stretch>
                          <a:fillRect/>
                        </a:stretch>
                      </p:blipFill>
                      <p:spPr>
                        <a:xfrm>
                          <a:off x="1202" y="1298"/>
                          <a:ext cx="1360" cy="978"/>
                        </a:xfrm>
                        <a:prstGeom prst="rect">
                          <a:avLst/>
                        </a:prstGeom>
                        <a:noFill/>
                        <a:ln w="38100">
                          <a:noFill/>
                          <a:miter/>
                        </a:ln>
                      </p:spPr>
                    </p:pic>
                  </p:oleObj>
                </mc:Fallback>
              </mc:AlternateContent>
            </a:graphicData>
          </a:graphic>
        </p:graphicFrame>
        <p:sp>
          <p:nvSpPr>
            <p:cNvPr id="58391" name="Text Box 16"/>
            <p:cNvSpPr txBox="1"/>
            <p:nvPr/>
          </p:nvSpPr>
          <p:spPr>
            <a:xfrm>
              <a:off x="2641" y="1674"/>
              <a:ext cx="340" cy="288"/>
            </a:xfrm>
            <a:prstGeom prst="rect">
              <a:avLst/>
            </a:prstGeom>
            <a:noFill/>
            <a:ln w="9525">
              <a:noFill/>
            </a:ln>
          </p:spPr>
          <p:txBody>
            <a:bodyPr wrap="none">
              <a:spAutoFit/>
            </a:bodyPr>
            <a:lstStyle/>
            <a:p>
              <a:r>
                <a:rPr lang="en-US" altLang="zh-CN" dirty="0">
                  <a:latin typeface="Times New Roman" panose="02020603050405020304" pitchFamily="18" charset="0"/>
                </a:rPr>
                <a:t>(1)</a:t>
              </a:r>
              <a:endParaRPr lang="en-US" altLang="zh-CN" dirty="0">
                <a:latin typeface="Times New Roman" panose="02020603050405020304" pitchFamily="18" charset="0"/>
              </a:endParaRPr>
            </a:p>
          </p:txBody>
        </p:sp>
      </p:grpSp>
      <p:graphicFrame>
        <p:nvGraphicFramePr>
          <p:cNvPr id="412689" name="Object 17"/>
          <p:cNvGraphicFramePr/>
          <p:nvPr/>
        </p:nvGraphicFramePr>
        <p:xfrm>
          <a:off x="971550" y="4868863"/>
          <a:ext cx="1584325" cy="449262"/>
        </p:xfrm>
        <a:graphic>
          <a:graphicData uri="http://schemas.openxmlformats.org/presentationml/2006/ole">
            <mc:AlternateContent xmlns:mc="http://schemas.openxmlformats.org/markup-compatibility/2006">
              <mc:Choice xmlns:v="urn:schemas-microsoft-com:vml" Requires="v">
                <p:oleObj spid="_x0000_s8" name="" r:id="rId9" imgW="850265" imgH="241300" progId="Equation.DSMT4">
                  <p:embed/>
                </p:oleObj>
              </mc:Choice>
              <mc:Fallback>
                <p:oleObj name="" r:id="rId9" imgW="850265" imgH="241300" progId="Equation.DSMT4">
                  <p:embed/>
                  <p:pic>
                    <p:nvPicPr>
                      <p:cNvPr id="0" name="图片 3379"/>
                      <p:cNvPicPr/>
                      <p:nvPr/>
                    </p:nvPicPr>
                    <p:blipFill>
                      <a:blip r:embed="rId10"/>
                      <a:stretch>
                        <a:fillRect/>
                      </a:stretch>
                    </p:blipFill>
                    <p:spPr>
                      <a:xfrm>
                        <a:off x="971550" y="4868863"/>
                        <a:ext cx="1584325" cy="449262"/>
                      </a:xfrm>
                      <a:prstGeom prst="rect">
                        <a:avLst/>
                      </a:prstGeom>
                      <a:noFill/>
                      <a:ln w="38100">
                        <a:noFill/>
                        <a:miter/>
                      </a:ln>
                    </p:spPr>
                  </p:pic>
                </p:oleObj>
              </mc:Fallback>
            </mc:AlternateContent>
          </a:graphicData>
        </a:graphic>
      </p:graphicFrame>
      <p:grpSp>
        <p:nvGrpSpPr>
          <p:cNvPr id="9" name="Group 27"/>
          <p:cNvGrpSpPr/>
          <p:nvPr/>
        </p:nvGrpSpPr>
        <p:grpSpPr>
          <a:xfrm>
            <a:off x="539750" y="4221163"/>
            <a:ext cx="8012113" cy="706438"/>
            <a:chOff x="340" y="2659"/>
            <a:chExt cx="5047" cy="445"/>
          </a:xfrm>
        </p:grpSpPr>
        <p:sp>
          <p:nvSpPr>
            <p:cNvPr id="58390" name="Text Box 20"/>
            <p:cNvSpPr txBox="1"/>
            <p:nvPr/>
          </p:nvSpPr>
          <p:spPr>
            <a:xfrm>
              <a:off x="340" y="2659"/>
              <a:ext cx="5047" cy="445"/>
            </a:xfrm>
            <a:prstGeom prst="rect">
              <a:avLst/>
            </a:prstGeom>
            <a:noFill/>
            <a:ln w="9525">
              <a:noFill/>
            </a:ln>
          </p:spPr>
          <p:txBody>
            <a:bodyPr>
              <a:spAutoFit/>
            </a:bodyPr>
            <a:lstStyle/>
            <a:p>
              <a:r>
                <a:rPr lang="en-US" altLang="zh-CN" sz="2000" dirty="0">
                  <a:latin typeface="Times New Roman" panose="02020603050405020304" pitchFamily="18" charset="0"/>
                </a:rPr>
                <a:t>         </a:t>
              </a:r>
              <a:r>
                <a:rPr lang="zh-CN" altLang="en-US" sz="2000" dirty="0">
                  <a:latin typeface="Times New Roman" panose="02020603050405020304" pitchFamily="18" charset="0"/>
                </a:rPr>
                <a:t>电路的功率传输系数（功率增益）；      表示内部噪声功率在输出端的输出。</a:t>
              </a:r>
              <a:endParaRPr lang="zh-CN" altLang="en-US" sz="2000" dirty="0">
                <a:latin typeface="Times New Roman" panose="02020603050405020304" pitchFamily="18" charset="0"/>
              </a:endParaRPr>
            </a:p>
          </p:txBody>
        </p:sp>
        <p:graphicFrame>
          <p:nvGraphicFramePr>
            <p:cNvPr id="58374" name="Object 21"/>
            <p:cNvGraphicFramePr/>
            <p:nvPr/>
          </p:nvGraphicFramePr>
          <p:xfrm>
            <a:off x="521" y="2659"/>
            <a:ext cx="231" cy="258"/>
          </p:xfrm>
          <a:graphic>
            <a:graphicData uri="http://schemas.openxmlformats.org/presentationml/2006/ole">
              <mc:AlternateContent xmlns:mc="http://schemas.openxmlformats.org/markup-compatibility/2006">
                <mc:Choice xmlns:v="urn:schemas-microsoft-com:vml" Requires="v">
                  <p:oleObj spid="_x0000_s10" name="" r:id="rId11" imgW="215900" imgH="241300" progId="Equation.DSMT4">
                    <p:embed/>
                  </p:oleObj>
                </mc:Choice>
                <mc:Fallback>
                  <p:oleObj name="" r:id="rId11" imgW="215900" imgH="241300" progId="Equation.DSMT4">
                    <p:embed/>
                    <p:pic>
                      <p:nvPicPr>
                        <p:cNvPr id="0" name="图片 3386"/>
                        <p:cNvPicPr/>
                        <p:nvPr/>
                      </p:nvPicPr>
                      <p:blipFill>
                        <a:blip r:embed="rId12"/>
                        <a:stretch>
                          <a:fillRect/>
                        </a:stretch>
                      </p:blipFill>
                      <p:spPr>
                        <a:xfrm>
                          <a:off x="521" y="2659"/>
                          <a:ext cx="231" cy="258"/>
                        </a:xfrm>
                        <a:prstGeom prst="rect">
                          <a:avLst/>
                        </a:prstGeom>
                        <a:noFill/>
                        <a:ln w="38100">
                          <a:noFill/>
                          <a:miter/>
                        </a:ln>
                      </p:spPr>
                    </p:pic>
                  </p:oleObj>
                </mc:Fallback>
              </mc:AlternateContent>
            </a:graphicData>
          </a:graphic>
        </p:graphicFrame>
        <p:graphicFrame>
          <p:nvGraphicFramePr>
            <p:cNvPr id="58375" name="Object 22"/>
            <p:cNvGraphicFramePr/>
            <p:nvPr/>
          </p:nvGraphicFramePr>
          <p:xfrm>
            <a:off x="3288" y="2659"/>
            <a:ext cx="240" cy="254"/>
          </p:xfrm>
          <a:graphic>
            <a:graphicData uri="http://schemas.openxmlformats.org/presentationml/2006/ole">
              <mc:AlternateContent xmlns:mc="http://schemas.openxmlformats.org/markup-compatibility/2006">
                <mc:Choice xmlns:v="urn:schemas-microsoft-com:vml" Requires="v">
                  <p:oleObj spid="_x0000_s11" name="" r:id="rId13" imgW="215900" imgH="228600" progId="Equation.DSMT4">
                    <p:embed/>
                  </p:oleObj>
                </mc:Choice>
                <mc:Fallback>
                  <p:oleObj name="" r:id="rId13" imgW="215900" imgH="228600" progId="Equation.DSMT4">
                    <p:embed/>
                    <p:pic>
                      <p:nvPicPr>
                        <p:cNvPr id="0" name="图片 3388"/>
                        <p:cNvPicPr/>
                        <p:nvPr/>
                      </p:nvPicPr>
                      <p:blipFill>
                        <a:blip r:embed="rId14"/>
                        <a:stretch>
                          <a:fillRect/>
                        </a:stretch>
                      </p:blipFill>
                      <p:spPr>
                        <a:xfrm>
                          <a:off x="3288" y="2659"/>
                          <a:ext cx="240" cy="254"/>
                        </a:xfrm>
                        <a:prstGeom prst="rect">
                          <a:avLst/>
                        </a:prstGeom>
                        <a:noFill/>
                        <a:ln w="38100">
                          <a:noFill/>
                          <a:miter/>
                        </a:ln>
                      </p:spPr>
                    </p:pic>
                  </p:oleObj>
                </mc:Fallback>
              </mc:AlternateContent>
            </a:graphicData>
          </a:graphic>
        </p:graphicFrame>
      </p:grpSp>
      <p:graphicFrame>
        <p:nvGraphicFramePr>
          <p:cNvPr id="58373" name="Object 24"/>
          <p:cNvGraphicFramePr/>
          <p:nvPr/>
        </p:nvGraphicFramePr>
        <p:xfrm>
          <a:off x="5868035" y="5307648"/>
          <a:ext cx="3098165" cy="1200150"/>
        </p:xfrm>
        <a:graphic>
          <a:graphicData uri="http://schemas.openxmlformats.org/presentationml/2006/ole">
            <mc:AlternateContent xmlns:mc="http://schemas.openxmlformats.org/markup-compatibility/2006">
              <mc:Choice xmlns:v="urn:schemas-microsoft-com:vml" Requires="v">
                <p:oleObj spid="_x0000_s13" name="" r:id="rId15" imgW="1803400" imgH="698500" progId="Equation.DSMT4">
                  <p:embed/>
                </p:oleObj>
              </mc:Choice>
              <mc:Fallback>
                <p:oleObj name="" r:id="rId15" imgW="1803400" imgH="698500" progId="Equation.DSMT4">
                  <p:embed/>
                  <p:pic>
                    <p:nvPicPr>
                      <p:cNvPr id="0" name="图片 3384"/>
                      <p:cNvPicPr/>
                      <p:nvPr/>
                    </p:nvPicPr>
                    <p:blipFill>
                      <a:blip r:embed="rId16"/>
                      <a:stretch>
                        <a:fillRect/>
                      </a:stretch>
                    </p:blipFill>
                    <p:spPr>
                      <a:xfrm>
                        <a:off x="5868035" y="5307648"/>
                        <a:ext cx="3098165" cy="1200150"/>
                      </a:xfrm>
                      <a:prstGeom prst="rect">
                        <a:avLst/>
                      </a:prstGeom>
                      <a:noFill/>
                      <a:ln w="38100">
                        <a:noFill/>
                        <a:miter/>
                      </a:ln>
                    </p:spPr>
                  </p:pic>
                </p:oleObj>
              </mc:Fallback>
            </mc:AlternateContent>
          </a:graphicData>
        </a:graphic>
      </p:graphicFrame>
      <p:graphicFrame>
        <p:nvGraphicFramePr>
          <p:cNvPr id="58372" name="Object 18"/>
          <p:cNvGraphicFramePr/>
          <p:nvPr/>
        </p:nvGraphicFramePr>
        <p:xfrm>
          <a:off x="179070" y="5264150"/>
          <a:ext cx="3587750" cy="1406525"/>
        </p:xfrm>
        <a:graphic>
          <a:graphicData uri="http://schemas.openxmlformats.org/presentationml/2006/ole">
            <mc:AlternateContent xmlns:mc="http://schemas.openxmlformats.org/markup-compatibility/2006">
              <mc:Choice xmlns:v="urn:schemas-microsoft-com:vml" Requires="v">
                <p:oleObj spid="_x0000_s15" name="" r:id="rId17" imgW="1879600" imgH="736600" progId="Equation.DSMT4">
                  <p:embed/>
                </p:oleObj>
              </mc:Choice>
              <mc:Fallback>
                <p:oleObj name="" r:id="rId17" imgW="1879600" imgH="736600" progId="Equation.DSMT4">
                  <p:embed/>
                  <p:pic>
                    <p:nvPicPr>
                      <p:cNvPr id="0" name="图片 3387"/>
                      <p:cNvPicPr/>
                      <p:nvPr/>
                    </p:nvPicPr>
                    <p:blipFill>
                      <a:blip r:embed="rId18"/>
                      <a:stretch>
                        <a:fillRect/>
                      </a:stretch>
                    </p:blipFill>
                    <p:spPr>
                      <a:xfrm>
                        <a:off x="179070" y="5264150"/>
                        <a:ext cx="3587750" cy="1406525"/>
                      </a:xfrm>
                      <a:prstGeom prst="rect">
                        <a:avLst/>
                      </a:prstGeom>
                      <a:noFill/>
                      <a:ln w="38100">
                        <a:noFill/>
                        <a:miter/>
                      </a:ln>
                    </p:spPr>
                  </p:pic>
                </p:oleObj>
              </mc:Fallback>
            </mc:AlternateContent>
          </a:graphicData>
        </a:graphic>
      </p:graphicFrame>
      <p:grpSp>
        <p:nvGrpSpPr>
          <p:cNvPr id="16" name="Group 19"/>
          <p:cNvGrpSpPr/>
          <p:nvPr/>
        </p:nvGrpSpPr>
        <p:grpSpPr>
          <a:xfrm>
            <a:off x="1784668" y="405766"/>
            <a:ext cx="5334000" cy="519113"/>
            <a:chOff x="1306" y="452"/>
            <a:chExt cx="3360" cy="327"/>
          </a:xfrm>
        </p:grpSpPr>
        <p:sp>
          <p:nvSpPr>
            <p:cNvPr id="17" name="Rectangle 20"/>
            <p:cNvSpPr/>
            <p:nvPr/>
          </p:nvSpPr>
          <p:spPr>
            <a:xfrm>
              <a:off x="1306" y="45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2.4  </a:t>
              </a:r>
              <a:r>
                <a:rPr lang="zh-CN" altLang="en-US" sz="2800" b="1" dirty="0">
                  <a:solidFill>
                    <a:schemeClr val="accent2"/>
                  </a:solidFill>
                  <a:latin typeface="Times New Roman" panose="02020603050405020304" pitchFamily="18" charset="0"/>
                </a:rPr>
                <a:t>噪声系数</a:t>
              </a:r>
              <a:endParaRPr lang="zh-CN" altLang="en-US" sz="2800" b="1" dirty="0">
                <a:solidFill>
                  <a:schemeClr val="accent2"/>
                </a:solidFill>
                <a:latin typeface="Times New Roman" panose="02020603050405020304" pitchFamily="18" charset="0"/>
              </a:endParaRPr>
            </a:p>
          </p:txBody>
        </p:sp>
        <p:sp>
          <p:nvSpPr>
            <p:cNvPr id="18" name="Line 21"/>
            <p:cNvSpPr/>
            <p:nvPr/>
          </p:nvSpPr>
          <p:spPr>
            <a:xfrm>
              <a:off x="1474" y="754"/>
              <a:ext cx="3024" cy="0"/>
            </a:xfrm>
            <a:prstGeom prst="line">
              <a:avLst/>
            </a:prstGeom>
            <a:ln w="57150" cap="flat" cmpd="tri">
              <a:solidFill>
                <a:srgbClr val="FF00FF"/>
              </a:solidFill>
              <a:prstDash val="solid"/>
              <a:headEnd type="none" w="sm" len="sm"/>
              <a:tailEnd type="none" w="sm" len="sm"/>
            </a:ln>
          </p:spPr>
        </p:sp>
      </p:grpSp>
      <p:graphicFrame>
        <p:nvGraphicFramePr>
          <p:cNvPr id="19" name="Object 17"/>
          <p:cNvGraphicFramePr/>
          <p:nvPr/>
        </p:nvGraphicFramePr>
        <p:xfrm>
          <a:off x="3923665" y="5530692"/>
          <a:ext cx="1894205" cy="448945"/>
        </p:xfrm>
        <a:graphic>
          <a:graphicData uri="http://schemas.openxmlformats.org/presentationml/2006/ole">
            <mc:AlternateContent xmlns:mc="http://schemas.openxmlformats.org/markup-compatibility/2006">
              <mc:Choice xmlns:v="urn:schemas-microsoft-com:vml" Requires="v">
                <p:oleObj spid="_x0000_s20" name="" r:id="rId19" imgW="1016000" imgH="241300" progId="Equation.DSMT4">
                  <p:embed/>
                </p:oleObj>
              </mc:Choice>
              <mc:Fallback>
                <p:oleObj name="" r:id="rId19" imgW="1016000" imgH="241300" progId="Equation.DSMT4">
                  <p:embed/>
                  <p:pic>
                    <p:nvPicPr>
                      <p:cNvPr id="0" name="图片 3379"/>
                      <p:cNvPicPr/>
                      <p:nvPr/>
                    </p:nvPicPr>
                    <p:blipFill>
                      <a:blip r:embed="rId20"/>
                      <a:stretch>
                        <a:fillRect/>
                      </a:stretch>
                    </p:blipFill>
                    <p:spPr>
                      <a:xfrm>
                        <a:off x="3923665" y="5530692"/>
                        <a:ext cx="1894205" cy="448945"/>
                      </a:xfrm>
                      <a:prstGeom prst="rect">
                        <a:avLst/>
                      </a:prstGeom>
                      <a:noFill/>
                      <a:ln w="38100">
                        <a:noFill/>
                        <a:miter/>
                      </a:ln>
                    </p:spPr>
                  </p:pic>
                </p:oleObj>
              </mc:Fallback>
            </mc:AlternateContent>
          </a:graphicData>
        </a:graphic>
      </p:graphicFrame>
      <p:sp>
        <p:nvSpPr>
          <p:cNvPr id="21" name="右箭头 20"/>
          <p:cNvSpPr/>
          <p:nvPr/>
        </p:nvSpPr>
        <p:spPr>
          <a:xfrm>
            <a:off x="3881120" y="5894070"/>
            <a:ext cx="1944370" cy="216535"/>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spd="med">
    <p:zo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3" name="Text Box 4"/>
          <p:cNvSpPr txBox="1"/>
          <p:nvPr/>
        </p:nvSpPr>
        <p:spPr>
          <a:xfrm>
            <a:off x="539750" y="981075"/>
            <a:ext cx="2012950" cy="457200"/>
          </a:xfrm>
          <a:prstGeom prst="rect">
            <a:avLst/>
          </a:prstGeom>
          <a:noFill/>
          <a:ln w="9525">
            <a:noFill/>
          </a:ln>
        </p:spPr>
        <p:txBody>
          <a:bodyPr wrap="none">
            <a:spAutoFit/>
          </a:bodyPr>
          <a:lstStyle/>
          <a:p>
            <a:r>
              <a:rPr lang="zh-CN" altLang="en-US" dirty="0">
                <a:solidFill>
                  <a:srgbClr val="FF0066"/>
                </a:solidFill>
                <a:latin typeface="Times New Roman" panose="02020603050405020304" pitchFamily="18" charset="0"/>
              </a:rPr>
              <a:t>一、噪声系数</a:t>
            </a:r>
            <a:endParaRPr lang="zh-CN" altLang="en-US" dirty="0">
              <a:solidFill>
                <a:srgbClr val="FF0066"/>
              </a:solidFill>
              <a:latin typeface="Times New Roman" panose="02020603050405020304" pitchFamily="18" charset="0"/>
            </a:endParaRPr>
          </a:p>
        </p:txBody>
      </p:sp>
      <p:sp>
        <p:nvSpPr>
          <p:cNvPr id="414728" name="Text Box 8"/>
          <p:cNvSpPr txBox="1"/>
          <p:nvPr/>
        </p:nvSpPr>
        <p:spPr>
          <a:xfrm>
            <a:off x="684213" y="1412875"/>
            <a:ext cx="8085137" cy="1014730"/>
          </a:xfrm>
          <a:prstGeom prst="rect">
            <a:avLst/>
          </a:prstGeom>
          <a:noFill/>
          <a:ln w="9525">
            <a:noFill/>
          </a:ln>
        </p:spPr>
        <p:txBody>
          <a:bodyPr>
            <a:spAutoFit/>
          </a:bodyPr>
          <a:lstStyle/>
          <a:p>
            <a:r>
              <a:rPr lang="zh-CN" altLang="en-US" sz="2000" dirty="0">
                <a:solidFill>
                  <a:srgbClr val="FF0066"/>
                </a:solidFill>
                <a:latin typeface="Times New Roman" panose="02020603050405020304" pitchFamily="18" charset="0"/>
              </a:rPr>
              <a:t>输出端阻抗匹配与否并不影响噪声系数的大小</a:t>
            </a:r>
            <a:r>
              <a:rPr lang="zh-CN" altLang="en-US" sz="2000" dirty="0">
                <a:latin typeface="Times New Roman" panose="02020603050405020304" pitchFamily="18" charset="0"/>
              </a:rPr>
              <a:t>，即噪声系数的大小与输出端所接负载无关，故噪声系数也可表示成输出端</a:t>
            </a:r>
            <a:r>
              <a:rPr lang="zh-CN" altLang="en-US" sz="2000" dirty="0">
                <a:solidFill>
                  <a:schemeClr val="accent2"/>
                </a:solidFill>
                <a:latin typeface="Times New Roman" panose="02020603050405020304" pitchFamily="18" charset="0"/>
              </a:rPr>
              <a:t>开路</a:t>
            </a:r>
            <a:r>
              <a:rPr lang="zh-CN" altLang="en-US" sz="2000" dirty="0">
                <a:latin typeface="Times New Roman" panose="02020603050405020304" pitchFamily="18" charset="0"/>
              </a:rPr>
              <a:t>时的两均方电压之比或输出端</a:t>
            </a:r>
            <a:r>
              <a:rPr lang="zh-CN" altLang="en-US" sz="2000" dirty="0">
                <a:solidFill>
                  <a:schemeClr val="accent2"/>
                </a:solidFill>
                <a:latin typeface="Times New Roman" panose="02020603050405020304" pitchFamily="18" charset="0"/>
              </a:rPr>
              <a:t>短路</a:t>
            </a:r>
            <a:r>
              <a:rPr lang="zh-CN" altLang="en-US" sz="2000" dirty="0">
                <a:latin typeface="Times New Roman" panose="02020603050405020304" pitchFamily="18" charset="0"/>
              </a:rPr>
              <a:t>时的两均方电流之比，即</a:t>
            </a:r>
            <a:endParaRPr lang="zh-CN" altLang="en-US" sz="2000" dirty="0">
              <a:latin typeface="Times New Roman" panose="02020603050405020304" pitchFamily="18" charset="0"/>
            </a:endParaRPr>
          </a:p>
        </p:txBody>
      </p:sp>
      <p:graphicFrame>
        <p:nvGraphicFramePr>
          <p:cNvPr id="414729" name="Object 9"/>
          <p:cNvGraphicFramePr/>
          <p:nvPr/>
        </p:nvGraphicFramePr>
        <p:xfrm>
          <a:off x="3419475" y="2349500"/>
          <a:ext cx="2665413" cy="1420813"/>
        </p:xfrm>
        <a:graphic>
          <a:graphicData uri="http://schemas.openxmlformats.org/presentationml/2006/ole">
            <mc:AlternateContent xmlns:mc="http://schemas.openxmlformats.org/markup-compatibility/2006">
              <mc:Choice xmlns:v="urn:schemas-microsoft-com:vml" Requires="v">
                <p:oleObj spid="_x0000_s2" name="" r:id="rId1" imgW="1714500" imgH="914400" progId="Equation.DSMT4">
                  <p:embed/>
                </p:oleObj>
              </mc:Choice>
              <mc:Fallback>
                <p:oleObj name="" r:id="rId1" imgW="1714500" imgH="914400" progId="Equation.DSMT4">
                  <p:embed/>
                  <p:pic>
                    <p:nvPicPr>
                      <p:cNvPr id="0" name="图片 3389"/>
                      <p:cNvPicPr/>
                      <p:nvPr/>
                    </p:nvPicPr>
                    <p:blipFill>
                      <a:blip r:embed="rId2"/>
                      <a:stretch>
                        <a:fillRect/>
                      </a:stretch>
                    </p:blipFill>
                    <p:spPr>
                      <a:xfrm>
                        <a:off x="3419475" y="2349500"/>
                        <a:ext cx="2665413" cy="1420813"/>
                      </a:xfrm>
                      <a:prstGeom prst="rect">
                        <a:avLst/>
                      </a:prstGeom>
                      <a:noFill/>
                      <a:ln w="38100">
                        <a:noFill/>
                        <a:miter/>
                      </a:ln>
                    </p:spPr>
                  </p:pic>
                </p:oleObj>
              </mc:Fallback>
            </mc:AlternateContent>
          </a:graphicData>
        </a:graphic>
      </p:graphicFrame>
      <p:grpSp>
        <p:nvGrpSpPr>
          <p:cNvPr id="3" name="Group 16"/>
          <p:cNvGrpSpPr/>
          <p:nvPr/>
        </p:nvGrpSpPr>
        <p:grpSpPr>
          <a:xfrm>
            <a:off x="755650" y="3716338"/>
            <a:ext cx="7777163" cy="1311275"/>
            <a:chOff x="567" y="3294"/>
            <a:chExt cx="4899" cy="826"/>
          </a:xfrm>
        </p:grpSpPr>
        <p:sp>
          <p:nvSpPr>
            <p:cNvPr id="60428" name="Text Box 13"/>
            <p:cNvSpPr txBox="1"/>
            <p:nvPr/>
          </p:nvSpPr>
          <p:spPr>
            <a:xfrm>
              <a:off x="567" y="3294"/>
              <a:ext cx="4899" cy="826"/>
            </a:xfrm>
            <a:prstGeom prst="rect">
              <a:avLst/>
            </a:prstGeom>
            <a:noFill/>
            <a:ln w="9525">
              <a:noFill/>
            </a:ln>
          </p:spPr>
          <p:txBody>
            <a:bodyPr>
              <a:spAutoFit/>
            </a:bodyPr>
            <a:lstStyle/>
            <a:p>
              <a:r>
                <a:rPr lang="en-US" altLang="zh-CN" sz="2000" dirty="0">
                  <a:latin typeface="Times New Roman" panose="02020603050405020304" pitchFamily="18" charset="0"/>
                </a:rPr>
                <a:t>      </a:t>
              </a:r>
              <a:r>
                <a:rPr lang="zh-CN" altLang="en-US" sz="2000" dirty="0">
                  <a:latin typeface="Times New Roman" panose="02020603050405020304" pitchFamily="18" charset="0"/>
                </a:rPr>
                <a:t>和        分别是网络输出端开路和短路时总的输出均方噪声电压和电流；</a:t>
              </a:r>
              <a:endParaRPr lang="zh-CN" altLang="en-US" sz="2000" dirty="0">
                <a:latin typeface="Times New Roman" panose="02020603050405020304" pitchFamily="18" charset="0"/>
              </a:endParaRPr>
            </a:p>
            <a:p>
              <a:r>
                <a:rPr lang="zh-CN" altLang="en-US" sz="2000" dirty="0">
                  <a:latin typeface="Times New Roman" panose="02020603050405020304" pitchFamily="18" charset="0"/>
                </a:rPr>
                <a:t>        和         则分别是网络输出端开路和短路时理想网络的输出均方噪声电压和电流。</a:t>
              </a:r>
              <a:endParaRPr lang="zh-CN" altLang="en-US" sz="2000" dirty="0">
                <a:latin typeface="Times New Roman" panose="02020603050405020304" pitchFamily="18" charset="0"/>
              </a:endParaRPr>
            </a:p>
          </p:txBody>
        </p:sp>
        <p:graphicFrame>
          <p:nvGraphicFramePr>
            <p:cNvPr id="60419" name="Object 11"/>
            <p:cNvGraphicFramePr/>
            <p:nvPr/>
          </p:nvGraphicFramePr>
          <p:xfrm>
            <a:off x="612" y="3294"/>
            <a:ext cx="223" cy="228"/>
          </p:xfrm>
          <a:graphic>
            <a:graphicData uri="http://schemas.openxmlformats.org/presentationml/2006/ole">
              <mc:AlternateContent xmlns:mc="http://schemas.openxmlformats.org/markup-compatibility/2006">
                <mc:Choice xmlns:v="urn:schemas-microsoft-com:vml" Requires="v">
                  <p:oleObj spid="_x0000_s4" name="" r:id="rId3" imgW="241300" imgH="241300" progId="Equation.DSMT4">
                    <p:embed/>
                  </p:oleObj>
                </mc:Choice>
                <mc:Fallback>
                  <p:oleObj name="" r:id="rId3" imgW="241300" imgH="241300" progId="Equation.DSMT4">
                    <p:embed/>
                    <p:pic>
                      <p:nvPicPr>
                        <p:cNvPr id="0" name="图片 3382"/>
                        <p:cNvPicPr/>
                        <p:nvPr/>
                      </p:nvPicPr>
                      <p:blipFill>
                        <a:blip r:embed="rId4"/>
                        <a:stretch>
                          <a:fillRect/>
                        </a:stretch>
                      </p:blipFill>
                      <p:spPr>
                        <a:xfrm>
                          <a:off x="612" y="3294"/>
                          <a:ext cx="223" cy="228"/>
                        </a:xfrm>
                        <a:prstGeom prst="rect">
                          <a:avLst/>
                        </a:prstGeom>
                        <a:noFill/>
                        <a:ln w="38100">
                          <a:noFill/>
                          <a:miter/>
                        </a:ln>
                      </p:spPr>
                    </p:pic>
                  </p:oleObj>
                </mc:Fallback>
              </mc:AlternateContent>
            </a:graphicData>
          </a:graphic>
        </p:graphicFrame>
        <p:graphicFrame>
          <p:nvGraphicFramePr>
            <p:cNvPr id="60420" name="Object 12"/>
            <p:cNvGraphicFramePr/>
            <p:nvPr/>
          </p:nvGraphicFramePr>
          <p:xfrm>
            <a:off x="1066" y="3294"/>
            <a:ext cx="202" cy="245"/>
          </p:xfrm>
          <a:graphic>
            <a:graphicData uri="http://schemas.openxmlformats.org/presentationml/2006/ole">
              <mc:AlternateContent xmlns:mc="http://schemas.openxmlformats.org/markup-compatibility/2006">
                <mc:Choice xmlns:v="urn:schemas-microsoft-com:vml" Requires="v">
                  <p:oleObj spid="_x0000_s5" name="" r:id="rId5" imgW="203200" imgH="241300" progId="Equation.DSMT4">
                    <p:embed/>
                  </p:oleObj>
                </mc:Choice>
                <mc:Fallback>
                  <p:oleObj name="" r:id="rId5" imgW="203200" imgH="241300" progId="Equation.DSMT4">
                    <p:embed/>
                    <p:pic>
                      <p:nvPicPr>
                        <p:cNvPr id="0" name="图片 3390"/>
                        <p:cNvPicPr/>
                        <p:nvPr/>
                      </p:nvPicPr>
                      <p:blipFill>
                        <a:blip r:embed="rId6"/>
                        <a:stretch>
                          <a:fillRect/>
                        </a:stretch>
                      </p:blipFill>
                      <p:spPr>
                        <a:xfrm>
                          <a:off x="1066" y="3294"/>
                          <a:ext cx="202" cy="245"/>
                        </a:xfrm>
                        <a:prstGeom prst="rect">
                          <a:avLst/>
                        </a:prstGeom>
                        <a:noFill/>
                        <a:ln w="38100">
                          <a:noFill/>
                          <a:miter/>
                        </a:ln>
                      </p:spPr>
                    </p:pic>
                  </p:oleObj>
                </mc:Fallback>
              </mc:AlternateContent>
            </a:graphicData>
          </a:graphic>
        </p:graphicFrame>
        <p:graphicFrame>
          <p:nvGraphicFramePr>
            <p:cNvPr id="60421" name="Object 14"/>
            <p:cNvGraphicFramePr/>
            <p:nvPr/>
          </p:nvGraphicFramePr>
          <p:xfrm>
            <a:off x="657" y="3659"/>
            <a:ext cx="273" cy="252"/>
          </p:xfrm>
          <a:graphic>
            <a:graphicData uri="http://schemas.openxmlformats.org/presentationml/2006/ole">
              <mc:AlternateContent xmlns:mc="http://schemas.openxmlformats.org/markup-compatibility/2006">
                <mc:Choice xmlns:v="urn:schemas-microsoft-com:vml" Requires="v">
                  <p:oleObj spid="_x0000_s6" name="" r:id="rId7" imgW="266065" imgH="241300" progId="Equation.DSMT4">
                    <p:embed/>
                  </p:oleObj>
                </mc:Choice>
                <mc:Fallback>
                  <p:oleObj name="" r:id="rId7" imgW="266065" imgH="241300" progId="Equation.DSMT4">
                    <p:embed/>
                    <p:pic>
                      <p:nvPicPr>
                        <p:cNvPr id="0" name="图片 3378"/>
                        <p:cNvPicPr/>
                        <p:nvPr/>
                      </p:nvPicPr>
                      <p:blipFill>
                        <a:blip r:embed="rId8"/>
                        <a:stretch>
                          <a:fillRect/>
                        </a:stretch>
                      </p:blipFill>
                      <p:spPr>
                        <a:xfrm>
                          <a:off x="657" y="3659"/>
                          <a:ext cx="273" cy="252"/>
                        </a:xfrm>
                        <a:prstGeom prst="rect">
                          <a:avLst/>
                        </a:prstGeom>
                        <a:noFill/>
                        <a:ln w="38100">
                          <a:noFill/>
                          <a:miter/>
                        </a:ln>
                      </p:spPr>
                    </p:pic>
                  </p:oleObj>
                </mc:Fallback>
              </mc:AlternateContent>
            </a:graphicData>
          </a:graphic>
        </p:graphicFrame>
        <p:graphicFrame>
          <p:nvGraphicFramePr>
            <p:cNvPr id="60422" name="Object 15"/>
            <p:cNvGraphicFramePr/>
            <p:nvPr/>
          </p:nvGraphicFramePr>
          <p:xfrm>
            <a:off x="1202" y="3657"/>
            <a:ext cx="210" cy="227"/>
          </p:xfrm>
          <a:graphic>
            <a:graphicData uri="http://schemas.openxmlformats.org/presentationml/2006/ole">
              <mc:AlternateContent xmlns:mc="http://schemas.openxmlformats.org/markup-compatibility/2006">
                <mc:Choice xmlns:v="urn:schemas-microsoft-com:vml" Requires="v">
                  <p:oleObj spid="_x0000_s7" name="" r:id="rId9" imgW="228600" imgH="241300" progId="Equation.DSMT4">
                    <p:embed/>
                  </p:oleObj>
                </mc:Choice>
                <mc:Fallback>
                  <p:oleObj name="" r:id="rId9" imgW="228600" imgH="241300" progId="Equation.DSMT4">
                    <p:embed/>
                    <p:pic>
                      <p:nvPicPr>
                        <p:cNvPr id="0" name="图片 3385"/>
                        <p:cNvPicPr/>
                        <p:nvPr/>
                      </p:nvPicPr>
                      <p:blipFill>
                        <a:blip r:embed="rId10"/>
                        <a:stretch>
                          <a:fillRect/>
                        </a:stretch>
                      </p:blipFill>
                      <p:spPr>
                        <a:xfrm>
                          <a:off x="1202" y="3657"/>
                          <a:ext cx="210" cy="227"/>
                        </a:xfrm>
                        <a:prstGeom prst="rect">
                          <a:avLst/>
                        </a:prstGeom>
                        <a:noFill/>
                        <a:ln w="38100">
                          <a:noFill/>
                          <a:miter/>
                        </a:ln>
                      </p:spPr>
                    </p:pic>
                  </p:oleObj>
                </mc:Fallback>
              </mc:AlternateContent>
            </a:graphicData>
          </a:graphic>
        </p:graphicFrame>
      </p:grpSp>
      <p:sp>
        <p:nvSpPr>
          <p:cNvPr id="414737" name="Text Box 17"/>
          <p:cNvSpPr txBox="1"/>
          <p:nvPr/>
        </p:nvSpPr>
        <p:spPr>
          <a:xfrm>
            <a:off x="755650" y="5084763"/>
            <a:ext cx="7920038" cy="1076325"/>
          </a:xfrm>
          <a:prstGeom prst="rect">
            <a:avLst/>
          </a:prstGeom>
          <a:noFill/>
          <a:ln w="9525">
            <a:noFill/>
          </a:ln>
        </p:spPr>
        <p:txBody>
          <a:bodyPr>
            <a:spAutoFit/>
          </a:bodyPr>
          <a:lstStyle/>
          <a:p>
            <a:r>
              <a:rPr lang="zh-CN" altLang="en-US" sz="2000" b="1" dirty="0">
                <a:latin typeface="Times New Roman" panose="02020603050405020304" pitchFamily="18" charset="0"/>
              </a:rPr>
              <a:t>噪声系数的定义只</a:t>
            </a:r>
            <a:r>
              <a:rPr lang="zh-CN" altLang="en-US" sz="2000" b="1" dirty="0">
                <a:solidFill>
                  <a:srgbClr val="FF0066"/>
                </a:solidFill>
                <a:latin typeface="Times New Roman" panose="02020603050405020304" pitchFamily="18" charset="0"/>
              </a:rPr>
              <a:t>适用于线性或准线性电路</a:t>
            </a:r>
            <a:r>
              <a:rPr lang="zh-CN" altLang="en-US" sz="2000" dirty="0">
                <a:latin typeface="Times New Roman" panose="02020603050405020304" pitchFamily="18" charset="0"/>
              </a:rPr>
              <a:t>   </a:t>
            </a:r>
            <a:endParaRPr lang="zh-CN" altLang="en-US" sz="2000" dirty="0">
              <a:latin typeface="Times New Roman" panose="02020603050405020304" pitchFamily="18" charset="0"/>
            </a:endParaRPr>
          </a:p>
          <a:p>
            <a:r>
              <a:rPr lang="zh-CN" altLang="en-US" sz="2000" dirty="0">
                <a:latin typeface="Times New Roman" panose="02020603050405020304" pitchFamily="18" charset="0"/>
              </a:rPr>
              <a:t> 对于非线性电路，由于信号与噪声，噪声与噪声之间的相互作用，将会使输出端的信噪比更加恶化。因此噪声系数的概念不再适用。</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grpSp>
        <p:nvGrpSpPr>
          <p:cNvPr id="8" name="Group 19"/>
          <p:cNvGrpSpPr/>
          <p:nvPr/>
        </p:nvGrpSpPr>
        <p:grpSpPr>
          <a:xfrm>
            <a:off x="1784668" y="405766"/>
            <a:ext cx="5334000" cy="519113"/>
            <a:chOff x="1306" y="452"/>
            <a:chExt cx="3360" cy="327"/>
          </a:xfrm>
        </p:grpSpPr>
        <p:sp>
          <p:nvSpPr>
            <p:cNvPr id="9" name="Rectangle 20"/>
            <p:cNvSpPr/>
            <p:nvPr/>
          </p:nvSpPr>
          <p:spPr>
            <a:xfrm>
              <a:off x="1306" y="45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2.4  </a:t>
              </a:r>
              <a:r>
                <a:rPr lang="zh-CN" altLang="en-US" sz="2800" b="1" dirty="0">
                  <a:solidFill>
                    <a:schemeClr val="accent2"/>
                  </a:solidFill>
                  <a:latin typeface="Times New Roman" panose="02020603050405020304" pitchFamily="18" charset="0"/>
                </a:rPr>
                <a:t>噪声系数</a:t>
              </a:r>
              <a:endParaRPr lang="zh-CN" altLang="en-US" sz="2800" b="1" dirty="0">
                <a:solidFill>
                  <a:schemeClr val="accent2"/>
                </a:solidFill>
                <a:latin typeface="Times New Roman" panose="02020603050405020304" pitchFamily="18" charset="0"/>
              </a:endParaRPr>
            </a:p>
          </p:txBody>
        </p:sp>
        <p:sp>
          <p:nvSpPr>
            <p:cNvPr id="10" name="Line 21"/>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0754" name="Object 2"/>
          <p:cNvGraphicFramePr/>
          <p:nvPr/>
        </p:nvGraphicFramePr>
        <p:xfrm>
          <a:off x="2640013" y="5589588"/>
          <a:ext cx="3736975" cy="927100"/>
        </p:xfrm>
        <a:graphic>
          <a:graphicData uri="http://schemas.openxmlformats.org/presentationml/2006/ole">
            <mc:AlternateContent xmlns:mc="http://schemas.openxmlformats.org/markup-compatibility/2006">
              <mc:Choice xmlns:v="urn:schemas-microsoft-com:vml" Requires="v">
                <p:oleObj spid="_x0000_s2" name="" r:id="rId1" imgW="1841500" imgH="457200" progId="Equation.DSMT4">
                  <p:embed/>
                </p:oleObj>
              </mc:Choice>
              <mc:Fallback>
                <p:oleObj name="" r:id="rId1" imgW="1841500" imgH="457200" progId="Equation.DSMT4">
                  <p:embed/>
                  <p:pic>
                    <p:nvPicPr>
                      <p:cNvPr id="0" name="图片 3383"/>
                      <p:cNvPicPr/>
                      <p:nvPr/>
                    </p:nvPicPr>
                    <p:blipFill>
                      <a:blip r:embed="rId2"/>
                      <a:stretch>
                        <a:fillRect/>
                      </a:stretch>
                    </p:blipFill>
                    <p:spPr>
                      <a:xfrm>
                        <a:off x="2640013" y="5589588"/>
                        <a:ext cx="3736975" cy="927100"/>
                      </a:xfrm>
                      <a:prstGeom prst="rect">
                        <a:avLst/>
                      </a:prstGeom>
                      <a:noFill/>
                      <a:ln w="38100">
                        <a:noFill/>
                        <a:miter/>
                      </a:ln>
                    </p:spPr>
                  </p:pic>
                </p:oleObj>
              </mc:Fallback>
            </mc:AlternateContent>
          </a:graphicData>
        </a:graphic>
      </p:graphicFrame>
      <p:sp>
        <p:nvSpPr>
          <p:cNvPr id="62469" name="Text Box 3"/>
          <p:cNvSpPr txBox="1"/>
          <p:nvPr/>
        </p:nvSpPr>
        <p:spPr>
          <a:xfrm>
            <a:off x="611188" y="908050"/>
            <a:ext cx="2927350" cy="457200"/>
          </a:xfrm>
          <a:prstGeom prst="rect">
            <a:avLst/>
          </a:prstGeom>
          <a:noFill/>
          <a:ln w="9525">
            <a:noFill/>
          </a:ln>
        </p:spPr>
        <p:txBody>
          <a:bodyPr wrap="none">
            <a:spAutoFit/>
          </a:bodyPr>
          <a:lstStyle/>
          <a:p>
            <a:r>
              <a:rPr lang="zh-CN" altLang="en-US" b="1" dirty="0">
                <a:solidFill>
                  <a:srgbClr val="FF0066"/>
                </a:solidFill>
                <a:latin typeface="Times New Roman" panose="02020603050405020304" pitchFamily="18" charset="0"/>
              </a:rPr>
              <a:t>三、噪声系数的计算</a:t>
            </a:r>
            <a:endParaRPr lang="zh-CN" altLang="en-US" b="1" dirty="0">
              <a:solidFill>
                <a:srgbClr val="FF0066"/>
              </a:solidFill>
              <a:latin typeface="Times New Roman" panose="02020603050405020304" pitchFamily="18" charset="0"/>
            </a:endParaRPr>
          </a:p>
        </p:txBody>
      </p:sp>
      <p:sp>
        <p:nvSpPr>
          <p:cNvPr id="330756" name="Text Box 4"/>
          <p:cNvSpPr txBox="1"/>
          <p:nvPr/>
        </p:nvSpPr>
        <p:spPr>
          <a:xfrm>
            <a:off x="755650" y="1341438"/>
            <a:ext cx="2012950" cy="457200"/>
          </a:xfrm>
          <a:prstGeom prst="rect">
            <a:avLst/>
          </a:prstGeom>
          <a:noFill/>
          <a:ln w="9525">
            <a:noFill/>
          </a:ln>
        </p:spPr>
        <p:txBody>
          <a:bodyPr wrap="none">
            <a:spAutoFit/>
          </a:bodyPr>
          <a:lstStyle/>
          <a:p>
            <a:r>
              <a:rPr lang="en-US" altLang="zh-CN" dirty="0">
                <a:solidFill>
                  <a:schemeClr val="accent2"/>
                </a:solidFill>
                <a:latin typeface="Times New Roman" panose="02020603050405020304" pitchFamily="18" charset="0"/>
              </a:rPr>
              <a:t>1. </a:t>
            </a:r>
            <a:r>
              <a:rPr lang="zh-CN" altLang="en-US" dirty="0">
                <a:solidFill>
                  <a:schemeClr val="accent2"/>
                </a:solidFill>
                <a:latin typeface="Times New Roman" panose="02020603050405020304" pitchFamily="18" charset="0"/>
              </a:rPr>
              <a:t>额定功率法</a:t>
            </a:r>
            <a:endParaRPr lang="zh-CN" altLang="en-US" dirty="0">
              <a:solidFill>
                <a:schemeClr val="accent2"/>
              </a:solidFill>
              <a:latin typeface="Times New Roman" panose="02020603050405020304" pitchFamily="18" charset="0"/>
            </a:endParaRPr>
          </a:p>
        </p:txBody>
      </p:sp>
      <p:sp>
        <p:nvSpPr>
          <p:cNvPr id="330757" name="Text Box 5"/>
          <p:cNvSpPr txBox="1"/>
          <p:nvPr/>
        </p:nvSpPr>
        <p:spPr>
          <a:xfrm>
            <a:off x="755650" y="1773238"/>
            <a:ext cx="8013700" cy="1006475"/>
          </a:xfrm>
          <a:prstGeom prst="rect">
            <a:avLst/>
          </a:prstGeom>
          <a:noFill/>
          <a:ln w="9525">
            <a:noFill/>
          </a:ln>
        </p:spPr>
        <p:txBody>
          <a:bodyPr>
            <a:spAutoFit/>
          </a:bodyPr>
          <a:lstStyle/>
          <a:p>
            <a:r>
              <a:rPr lang="zh-CN" altLang="en-US" sz="2000" dirty="0">
                <a:solidFill>
                  <a:schemeClr val="accent2"/>
                </a:solidFill>
                <a:latin typeface="Times New Roman" panose="02020603050405020304" pitchFamily="18" charset="0"/>
              </a:rPr>
              <a:t>额定功率</a:t>
            </a:r>
            <a:r>
              <a:rPr lang="en-US" altLang="zh-CN" sz="2000" dirty="0">
                <a:latin typeface="Times New Roman" panose="02020603050405020304" pitchFamily="18" charset="0"/>
              </a:rPr>
              <a:t>,——</a:t>
            </a:r>
            <a:r>
              <a:rPr lang="zh-CN" altLang="en-US" sz="2000" dirty="0">
                <a:latin typeface="Times New Roman" panose="02020603050405020304" pitchFamily="18" charset="0"/>
              </a:rPr>
              <a:t>又称资用功率或可用功率</a:t>
            </a:r>
            <a:r>
              <a:rPr lang="en-US" altLang="zh-CN" sz="2000" dirty="0">
                <a:latin typeface="Times New Roman" panose="02020603050405020304" pitchFamily="18" charset="0"/>
              </a:rPr>
              <a:t>, </a:t>
            </a:r>
            <a:r>
              <a:rPr lang="zh-CN" altLang="en-US" sz="2000" dirty="0">
                <a:latin typeface="Times New Roman" panose="02020603050405020304" pitchFamily="18" charset="0"/>
              </a:rPr>
              <a:t>是指信号源所能输出的最大功率，它只取决于信号源本身的参数：内阻和电动势，与输入电阻和负载无关。</a:t>
            </a:r>
            <a:endParaRPr lang="zh-CN" altLang="en-US" sz="2000" dirty="0">
              <a:latin typeface="Times New Roman" panose="02020603050405020304" pitchFamily="18" charset="0"/>
            </a:endParaRPr>
          </a:p>
        </p:txBody>
      </p:sp>
      <p:grpSp>
        <p:nvGrpSpPr>
          <p:cNvPr id="3" name="Group 6"/>
          <p:cNvGrpSpPr/>
          <p:nvPr/>
        </p:nvGrpSpPr>
        <p:grpSpPr>
          <a:xfrm>
            <a:off x="611188" y="4941888"/>
            <a:ext cx="7904162" cy="822325"/>
            <a:chOff x="385" y="3067"/>
            <a:chExt cx="4979" cy="518"/>
          </a:xfrm>
        </p:grpSpPr>
        <p:sp>
          <p:nvSpPr>
            <p:cNvPr id="62476" name="Text Box 7"/>
            <p:cNvSpPr txBox="1"/>
            <p:nvPr/>
          </p:nvSpPr>
          <p:spPr>
            <a:xfrm>
              <a:off x="385" y="3067"/>
              <a:ext cx="4979" cy="518"/>
            </a:xfrm>
            <a:prstGeom prst="rect">
              <a:avLst/>
            </a:prstGeom>
            <a:noFill/>
            <a:ln w="9525">
              <a:noFill/>
            </a:ln>
          </p:spPr>
          <p:txBody>
            <a:bodyPr>
              <a:spAutoFit/>
            </a:bodyPr>
            <a:lstStyle/>
            <a:p>
              <a:r>
                <a:rPr lang="zh-CN" altLang="en-US" dirty="0">
                  <a:latin typeface="Times New Roman" panose="02020603050405020304" pitchFamily="18" charset="0"/>
                </a:rPr>
                <a:t>要使信号源输出最大功率，要求              ，此时额定功率为：</a:t>
              </a:r>
              <a:endParaRPr lang="zh-CN" altLang="en-US" dirty="0">
                <a:latin typeface="Times New Roman" panose="02020603050405020304" pitchFamily="18" charset="0"/>
              </a:endParaRPr>
            </a:p>
          </p:txBody>
        </p:sp>
        <p:graphicFrame>
          <p:nvGraphicFramePr>
            <p:cNvPr id="62468" name="Object 8"/>
            <p:cNvGraphicFramePr/>
            <p:nvPr/>
          </p:nvGraphicFramePr>
          <p:xfrm>
            <a:off x="3152" y="3067"/>
            <a:ext cx="635" cy="293"/>
          </p:xfrm>
          <a:graphic>
            <a:graphicData uri="http://schemas.openxmlformats.org/presentationml/2006/ole">
              <mc:AlternateContent xmlns:mc="http://schemas.openxmlformats.org/markup-compatibility/2006">
                <mc:Choice xmlns:v="urn:schemas-microsoft-com:vml" Requires="v">
                  <p:oleObj spid="_x0000_s4" name="" r:id="rId3" imgW="495300" imgH="228600" progId="Equation.DSMT4">
                    <p:embed/>
                  </p:oleObj>
                </mc:Choice>
                <mc:Fallback>
                  <p:oleObj name="" r:id="rId3" imgW="495300" imgH="228600" progId="Equation.DSMT4">
                    <p:embed/>
                    <p:pic>
                      <p:nvPicPr>
                        <p:cNvPr id="0" name="图片 3402"/>
                        <p:cNvPicPr/>
                        <p:nvPr/>
                      </p:nvPicPr>
                      <p:blipFill>
                        <a:blip r:embed="rId4"/>
                        <a:stretch>
                          <a:fillRect/>
                        </a:stretch>
                      </p:blipFill>
                      <p:spPr>
                        <a:xfrm>
                          <a:off x="3152" y="3067"/>
                          <a:ext cx="635" cy="293"/>
                        </a:xfrm>
                        <a:prstGeom prst="rect">
                          <a:avLst/>
                        </a:prstGeom>
                        <a:noFill/>
                        <a:ln w="38100">
                          <a:noFill/>
                          <a:miter/>
                        </a:ln>
                      </p:spPr>
                    </p:pic>
                  </p:oleObj>
                </mc:Fallback>
              </mc:AlternateContent>
            </a:graphicData>
          </a:graphic>
        </p:graphicFrame>
      </p:grpSp>
      <p:graphicFrame>
        <p:nvGraphicFramePr>
          <p:cNvPr id="330761" name="Object 9"/>
          <p:cNvGraphicFramePr>
            <a:graphicFrameLocks noGrp="1"/>
          </p:cNvGraphicFramePr>
          <p:nvPr>
            <p:ph sz="half" idx="1"/>
          </p:nvPr>
        </p:nvGraphicFramePr>
        <p:xfrm>
          <a:off x="2339975" y="2854325"/>
          <a:ext cx="4537075" cy="2027238"/>
        </p:xfrm>
        <a:graphic>
          <a:graphicData uri="http://schemas.openxmlformats.org/presentationml/2006/ole">
            <mc:AlternateContent xmlns:mc="http://schemas.openxmlformats.org/markup-compatibility/2006">
              <mc:Choice xmlns:v="urn:schemas-microsoft-com:vml" Requires="v">
                <p:oleObj spid="_x0000_s5" name="" r:id="rId5" imgW="5509260" imgH="2461260" progId="Visio.Drawing.11">
                  <p:embed/>
                </p:oleObj>
              </mc:Choice>
              <mc:Fallback>
                <p:oleObj name="" r:id="rId5" imgW="5509260" imgH="2461260" progId="Visio.Drawing.11">
                  <p:embed/>
                  <p:pic>
                    <p:nvPicPr>
                      <p:cNvPr id="0" name="图片 3398"/>
                      <p:cNvPicPr/>
                      <p:nvPr/>
                    </p:nvPicPr>
                    <p:blipFill>
                      <a:blip r:embed="rId6"/>
                      <a:stretch>
                        <a:fillRect/>
                      </a:stretch>
                    </p:blipFill>
                    <p:spPr>
                      <a:xfrm>
                        <a:off x="2339975" y="2854325"/>
                        <a:ext cx="4537075" cy="2027238"/>
                      </a:xfrm>
                      <a:prstGeom prst="rect">
                        <a:avLst/>
                      </a:prstGeom>
                      <a:noFill/>
                      <a:ln w="38100">
                        <a:noFill/>
                        <a:miter/>
                      </a:ln>
                    </p:spPr>
                  </p:pic>
                </p:oleObj>
              </mc:Fallback>
            </mc:AlternateContent>
          </a:graphicData>
        </a:graphic>
      </p:graphicFrame>
      <p:grpSp>
        <p:nvGrpSpPr>
          <p:cNvPr id="6" name="Group 19"/>
          <p:cNvGrpSpPr/>
          <p:nvPr/>
        </p:nvGrpSpPr>
        <p:grpSpPr>
          <a:xfrm>
            <a:off x="1784668" y="405766"/>
            <a:ext cx="5334000" cy="519113"/>
            <a:chOff x="1306" y="452"/>
            <a:chExt cx="3360" cy="327"/>
          </a:xfrm>
        </p:grpSpPr>
        <p:sp>
          <p:nvSpPr>
            <p:cNvPr id="7" name="Rectangle 20"/>
            <p:cNvSpPr/>
            <p:nvPr/>
          </p:nvSpPr>
          <p:spPr>
            <a:xfrm>
              <a:off x="1306" y="45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2.4  </a:t>
              </a:r>
              <a:r>
                <a:rPr lang="zh-CN" altLang="en-US" sz="2800" b="1" dirty="0">
                  <a:solidFill>
                    <a:schemeClr val="accent2"/>
                  </a:solidFill>
                  <a:latin typeface="Times New Roman" panose="02020603050405020304" pitchFamily="18" charset="0"/>
                </a:rPr>
                <a:t>噪声系数</a:t>
              </a:r>
              <a:endParaRPr lang="zh-CN" altLang="en-US" sz="2800" b="1" dirty="0">
                <a:solidFill>
                  <a:schemeClr val="accent2"/>
                </a:solidFill>
                <a:latin typeface="Times New Roman" panose="02020603050405020304" pitchFamily="18" charset="0"/>
              </a:endParaRPr>
            </a:p>
          </p:txBody>
        </p:sp>
        <p:sp>
          <p:nvSpPr>
            <p:cNvPr id="8" name="Line 21"/>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Text Box 2"/>
          <p:cNvSpPr txBox="1"/>
          <p:nvPr/>
        </p:nvSpPr>
        <p:spPr>
          <a:xfrm>
            <a:off x="755650" y="1773238"/>
            <a:ext cx="7696200" cy="762000"/>
          </a:xfrm>
          <a:prstGeom prst="rect">
            <a:avLst/>
          </a:prstGeom>
          <a:noFill/>
          <a:ln w="9525">
            <a:noFill/>
          </a:ln>
        </p:spPr>
        <p:txBody>
          <a:bodyPr>
            <a:spAutoFit/>
          </a:bodyPr>
          <a:lstStyle/>
          <a:p>
            <a:pPr algn="just">
              <a:spcBef>
                <a:spcPct val="50000"/>
              </a:spcBef>
            </a:pPr>
            <a:r>
              <a:rPr lang="en-US" altLang="zh-CN" dirty="0">
                <a:latin typeface="Times New Roman" panose="02020603050405020304" pitchFamily="18" charset="0"/>
              </a:rPr>
              <a:t>       </a:t>
            </a:r>
            <a:r>
              <a:rPr lang="zh-CN" altLang="en-US" sz="2000" dirty="0">
                <a:solidFill>
                  <a:schemeClr val="accent2"/>
                </a:solidFill>
                <a:latin typeface="Times New Roman" panose="02020603050405020304" pitchFamily="18" charset="0"/>
              </a:rPr>
              <a:t>额定功率增益</a:t>
            </a:r>
            <a:r>
              <a:rPr lang="en-US" altLang="zh-CN" sz="2000" i="1" dirty="0">
                <a:latin typeface="Times New Roman" panose="02020603050405020304" pitchFamily="18" charset="0"/>
              </a:rPr>
              <a:t>K</a:t>
            </a:r>
            <a:r>
              <a:rPr lang="en-US" altLang="zh-CN" sz="2000" baseline="-25000" dirty="0">
                <a:latin typeface="Times New Roman" panose="02020603050405020304" pitchFamily="18" charset="0"/>
              </a:rPr>
              <a:t>Pm</a:t>
            </a:r>
            <a:r>
              <a:rPr lang="zh-CN" altLang="en-US" sz="2000" dirty="0">
                <a:latin typeface="Times New Roman" panose="02020603050405020304" pitchFamily="18" charset="0"/>
              </a:rPr>
              <a:t>是指四端网络的输出额定功率</a:t>
            </a:r>
            <a:r>
              <a:rPr lang="en-US" altLang="zh-CN" sz="2000" i="1" dirty="0">
                <a:latin typeface="Times New Roman" panose="02020603050405020304" pitchFamily="18" charset="0"/>
              </a:rPr>
              <a:t>P</a:t>
            </a:r>
            <a:r>
              <a:rPr lang="en-US" altLang="zh-CN" sz="2000" baseline="-25000" dirty="0">
                <a:latin typeface="Times New Roman" panose="02020603050405020304" pitchFamily="18" charset="0"/>
              </a:rPr>
              <a:t>smo</a:t>
            </a:r>
            <a:r>
              <a:rPr lang="zh-CN" altLang="en-US" sz="2000" dirty="0">
                <a:latin typeface="Times New Roman" panose="02020603050405020304" pitchFamily="18" charset="0"/>
              </a:rPr>
              <a:t>和输入额定功率</a:t>
            </a:r>
            <a:r>
              <a:rPr lang="en-US" altLang="zh-CN" sz="2000" i="1" dirty="0">
                <a:latin typeface="Times New Roman" panose="02020603050405020304" pitchFamily="18" charset="0"/>
              </a:rPr>
              <a:t>P</a:t>
            </a:r>
            <a:r>
              <a:rPr lang="en-US" altLang="zh-CN" sz="2000" baseline="-25000" dirty="0">
                <a:latin typeface="Times New Roman" panose="02020603050405020304" pitchFamily="18" charset="0"/>
              </a:rPr>
              <a:t>smi</a:t>
            </a:r>
            <a:r>
              <a:rPr lang="zh-CN" altLang="en-US" sz="2000" dirty="0">
                <a:latin typeface="Times New Roman" panose="02020603050405020304" pitchFamily="18" charset="0"/>
              </a:rPr>
              <a:t>之比</a:t>
            </a:r>
            <a:r>
              <a:rPr lang="en-US" altLang="zh-CN" sz="2000" dirty="0">
                <a:latin typeface="Times New Roman" panose="02020603050405020304" pitchFamily="18" charset="0"/>
              </a:rPr>
              <a:t>, </a:t>
            </a:r>
            <a:r>
              <a:rPr lang="zh-CN" altLang="en-US" sz="2000" dirty="0">
                <a:latin typeface="Times New Roman" panose="02020603050405020304" pitchFamily="18" charset="0"/>
              </a:rPr>
              <a:t>即</a:t>
            </a:r>
            <a:endParaRPr lang="zh-CN" altLang="en-US" sz="2000" dirty="0">
              <a:latin typeface="Times New Roman" panose="02020603050405020304" pitchFamily="18" charset="0"/>
            </a:endParaRPr>
          </a:p>
        </p:txBody>
      </p:sp>
      <p:graphicFrame>
        <p:nvGraphicFramePr>
          <p:cNvPr id="331779" name="Object 3"/>
          <p:cNvGraphicFramePr/>
          <p:nvPr/>
        </p:nvGraphicFramePr>
        <p:xfrm>
          <a:off x="3635375" y="2276475"/>
          <a:ext cx="1371600" cy="831850"/>
        </p:xfrm>
        <a:graphic>
          <a:graphicData uri="http://schemas.openxmlformats.org/presentationml/2006/ole">
            <mc:AlternateContent xmlns:mc="http://schemas.openxmlformats.org/markup-compatibility/2006">
              <mc:Choice xmlns:v="urn:schemas-microsoft-com:vml" Requires="v">
                <p:oleObj spid="_x0000_s2" name="" r:id="rId1" imgW="711200" imgH="431800" progId="Equation.DSMT4">
                  <p:embed/>
                </p:oleObj>
              </mc:Choice>
              <mc:Fallback>
                <p:oleObj name="" r:id="rId1" imgW="711200" imgH="431800" progId="Equation.DSMT4">
                  <p:embed/>
                  <p:pic>
                    <p:nvPicPr>
                      <p:cNvPr id="0" name="图片 3391"/>
                      <p:cNvPicPr/>
                      <p:nvPr/>
                    </p:nvPicPr>
                    <p:blipFill>
                      <a:blip r:embed="rId2"/>
                      <a:stretch>
                        <a:fillRect/>
                      </a:stretch>
                    </p:blipFill>
                    <p:spPr>
                      <a:xfrm>
                        <a:off x="3635375" y="2276475"/>
                        <a:ext cx="1371600" cy="831850"/>
                      </a:xfrm>
                      <a:prstGeom prst="rect">
                        <a:avLst/>
                      </a:prstGeom>
                      <a:noFill/>
                      <a:ln w="38100">
                        <a:noFill/>
                        <a:miter/>
                      </a:ln>
                    </p:spPr>
                  </p:pic>
                </p:oleObj>
              </mc:Fallback>
            </mc:AlternateContent>
          </a:graphicData>
        </a:graphic>
      </p:graphicFrame>
      <p:sp>
        <p:nvSpPr>
          <p:cNvPr id="331780" name="Text Box 4"/>
          <p:cNvSpPr txBox="1"/>
          <p:nvPr/>
        </p:nvSpPr>
        <p:spPr>
          <a:xfrm>
            <a:off x="1023938" y="3140075"/>
            <a:ext cx="7940675" cy="701675"/>
          </a:xfrm>
          <a:prstGeom prst="rect">
            <a:avLst/>
          </a:prstGeom>
          <a:noFill/>
          <a:ln w="9525">
            <a:noFill/>
          </a:ln>
        </p:spPr>
        <p:txBody>
          <a:bodyPr>
            <a:spAutoFit/>
          </a:bodyPr>
          <a:lstStyle/>
          <a:p>
            <a:r>
              <a:rPr lang="zh-CN" altLang="en-US" sz="2000" dirty="0">
                <a:latin typeface="Times New Roman" panose="02020603050405020304" pitchFamily="18" charset="0"/>
              </a:rPr>
              <a:t>根据噪声系数的定义，分子和分母都是同一端点上的功率比，因此可将实际功率改为额定功率，则：</a:t>
            </a:r>
            <a:endParaRPr lang="zh-CN" altLang="en-US" sz="2000" dirty="0">
              <a:latin typeface="Times New Roman" panose="02020603050405020304" pitchFamily="18" charset="0"/>
            </a:endParaRPr>
          </a:p>
        </p:txBody>
      </p:sp>
      <p:graphicFrame>
        <p:nvGraphicFramePr>
          <p:cNvPr id="331781" name="Object 5"/>
          <p:cNvGraphicFramePr>
            <a:graphicFrameLocks noGrp="1"/>
          </p:cNvGraphicFramePr>
          <p:nvPr>
            <p:ph/>
          </p:nvPr>
        </p:nvGraphicFramePr>
        <p:xfrm>
          <a:off x="3476625" y="3860800"/>
          <a:ext cx="2620963" cy="1647825"/>
        </p:xfrm>
        <a:graphic>
          <a:graphicData uri="http://schemas.openxmlformats.org/presentationml/2006/ole">
            <mc:AlternateContent xmlns:mc="http://schemas.openxmlformats.org/markup-compatibility/2006">
              <mc:Choice xmlns:v="urn:schemas-microsoft-com:vml" Requires="v">
                <p:oleObj spid="_x0000_s3" name="" r:id="rId3" imgW="1333500" imgH="838200" progId="Equation.DSMT4">
                  <p:embed/>
                </p:oleObj>
              </mc:Choice>
              <mc:Fallback>
                <p:oleObj name="" r:id="rId3" imgW="1333500" imgH="838200" progId="Equation.DSMT4">
                  <p:embed/>
                  <p:pic>
                    <p:nvPicPr>
                      <p:cNvPr id="0" name="图片 3394"/>
                      <p:cNvPicPr/>
                      <p:nvPr/>
                    </p:nvPicPr>
                    <p:blipFill>
                      <a:blip r:embed="rId4"/>
                      <a:stretch>
                        <a:fillRect/>
                      </a:stretch>
                    </p:blipFill>
                    <p:spPr>
                      <a:xfrm>
                        <a:off x="3476625" y="3860800"/>
                        <a:ext cx="2620963" cy="1647825"/>
                      </a:xfrm>
                      <a:prstGeom prst="rect">
                        <a:avLst/>
                      </a:prstGeom>
                      <a:noFill/>
                      <a:ln w="38100">
                        <a:noFill/>
                        <a:miter/>
                      </a:ln>
                    </p:spPr>
                  </p:pic>
                </p:oleObj>
              </mc:Fallback>
            </mc:AlternateContent>
          </a:graphicData>
        </a:graphic>
      </p:graphicFrame>
      <p:sp>
        <p:nvSpPr>
          <p:cNvPr id="331782" name="Text Box 6"/>
          <p:cNvSpPr txBox="1"/>
          <p:nvPr/>
        </p:nvSpPr>
        <p:spPr>
          <a:xfrm>
            <a:off x="1116013" y="5734050"/>
            <a:ext cx="7777162" cy="701675"/>
          </a:xfrm>
          <a:prstGeom prst="rect">
            <a:avLst/>
          </a:prstGeom>
          <a:noFill/>
          <a:ln w="9525">
            <a:noFill/>
          </a:ln>
        </p:spPr>
        <p:txBody>
          <a:bodyPr>
            <a:spAutoFit/>
          </a:bodyPr>
          <a:lstStyle/>
          <a:p>
            <a:r>
              <a:rPr lang="zh-CN" altLang="en-US" sz="2000" dirty="0">
                <a:latin typeface="Times New Roman" panose="02020603050405020304" pitchFamily="18" charset="0"/>
              </a:rPr>
              <a:t>式中</a:t>
            </a:r>
            <a:r>
              <a:rPr lang="en-US" altLang="zh-CN" sz="2000" dirty="0">
                <a:latin typeface="Times New Roman" panose="02020603050405020304" pitchFamily="18" charset="0"/>
              </a:rPr>
              <a:t>, </a:t>
            </a:r>
            <a:r>
              <a:rPr lang="en-US" altLang="zh-CN" sz="2000" i="1" dirty="0">
                <a:latin typeface="Times New Roman" panose="02020603050405020304" pitchFamily="18" charset="0"/>
              </a:rPr>
              <a:t>P</a:t>
            </a:r>
            <a:r>
              <a:rPr lang="en-US" altLang="zh-CN" sz="2000" baseline="-25000" dirty="0">
                <a:latin typeface="Times New Roman" panose="02020603050405020304" pitchFamily="18" charset="0"/>
              </a:rPr>
              <a:t>smi</a:t>
            </a:r>
            <a:r>
              <a:rPr lang="zh-CN" altLang="en-US" sz="2000" dirty="0">
                <a:latin typeface="Times New Roman" panose="02020603050405020304" pitchFamily="18" charset="0"/>
              </a:rPr>
              <a:t>和</a:t>
            </a:r>
            <a:r>
              <a:rPr lang="en-US" altLang="zh-CN" sz="2000" i="1" dirty="0">
                <a:latin typeface="Times New Roman" panose="02020603050405020304" pitchFamily="18" charset="0"/>
              </a:rPr>
              <a:t>P</a:t>
            </a:r>
            <a:r>
              <a:rPr lang="en-US" altLang="zh-CN" sz="2000" baseline="-25000" dirty="0">
                <a:latin typeface="Times New Roman" panose="02020603050405020304" pitchFamily="18" charset="0"/>
              </a:rPr>
              <a:t>smo</a:t>
            </a:r>
            <a:r>
              <a:rPr lang="zh-CN" altLang="en-US" sz="2000" dirty="0">
                <a:latin typeface="Times New Roman" panose="02020603050405020304" pitchFamily="18" charset="0"/>
              </a:rPr>
              <a:t>分别为输入和输出的信号额定功率</a:t>
            </a:r>
            <a:r>
              <a:rPr lang="en-US" altLang="zh-CN" sz="2000" dirty="0">
                <a:latin typeface="Times New Roman" panose="02020603050405020304" pitchFamily="18" charset="0"/>
              </a:rPr>
              <a:t>; </a:t>
            </a:r>
            <a:r>
              <a:rPr lang="en-US" altLang="zh-CN" sz="2000" i="1" dirty="0">
                <a:latin typeface="Times New Roman" panose="02020603050405020304" pitchFamily="18" charset="0"/>
              </a:rPr>
              <a:t>N</a:t>
            </a:r>
            <a:r>
              <a:rPr lang="en-US" altLang="zh-CN" sz="2000" baseline="-25000" dirty="0">
                <a:latin typeface="Times New Roman" panose="02020603050405020304" pitchFamily="18" charset="0"/>
              </a:rPr>
              <a:t>mi</a:t>
            </a:r>
            <a:r>
              <a:rPr lang="zh-CN" altLang="en-US" sz="2000" dirty="0">
                <a:latin typeface="Times New Roman" panose="02020603050405020304" pitchFamily="18" charset="0"/>
              </a:rPr>
              <a:t>和</a:t>
            </a:r>
            <a:r>
              <a:rPr lang="en-US" altLang="zh-CN" sz="2000" i="1" dirty="0">
                <a:latin typeface="Times New Roman" panose="02020603050405020304" pitchFamily="18" charset="0"/>
              </a:rPr>
              <a:t>N</a:t>
            </a:r>
            <a:r>
              <a:rPr lang="en-US" altLang="zh-CN" sz="2000" baseline="-25000" dirty="0">
                <a:latin typeface="Times New Roman" panose="02020603050405020304" pitchFamily="18" charset="0"/>
              </a:rPr>
              <a:t>mo</a:t>
            </a:r>
            <a:r>
              <a:rPr lang="zh-CN" altLang="en-US" sz="2000" dirty="0">
                <a:latin typeface="Times New Roman" panose="02020603050405020304" pitchFamily="18" charset="0"/>
              </a:rPr>
              <a:t>分别为输入和输出的噪声额定功率</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p:txBody>
      </p:sp>
      <p:sp>
        <p:nvSpPr>
          <p:cNvPr id="63495" name="Text Box 7"/>
          <p:cNvSpPr txBox="1"/>
          <p:nvPr/>
        </p:nvSpPr>
        <p:spPr>
          <a:xfrm>
            <a:off x="611188" y="908050"/>
            <a:ext cx="2927350" cy="457200"/>
          </a:xfrm>
          <a:prstGeom prst="rect">
            <a:avLst/>
          </a:prstGeom>
          <a:noFill/>
          <a:ln w="9525">
            <a:noFill/>
          </a:ln>
        </p:spPr>
        <p:txBody>
          <a:bodyPr wrap="none">
            <a:spAutoFit/>
          </a:bodyPr>
          <a:lstStyle/>
          <a:p>
            <a:r>
              <a:rPr lang="zh-CN" altLang="en-US" b="1" dirty="0">
                <a:solidFill>
                  <a:srgbClr val="FF0066"/>
                </a:solidFill>
                <a:latin typeface="Times New Roman" panose="02020603050405020304" pitchFamily="18" charset="0"/>
              </a:rPr>
              <a:t>三、噪声系数的计算</a:t>
            </a:r>
            <a:endParaRPr lang="zh-CN" altLang="en-US" b="1" dirty="0">
              <a:solidFill>
                <a:srgbClr val="FF0066"/>
              </a:solidFill>
              <a:latin typeface="Times New Roman" panose="02020603050405020304" pitchFamily="18" charset="0"/>
            </a:endParaRPr>
          </a:p>
        </p:txBody>
      </p:sp>
      <p:sp>
        <p:nvSpPr>
          <p:cNvPr id="63496" name="Text Box 8"/>
          <p:cNvSpPr txBox="1"/>
          <p:nvPr/>
        </p:nvSpPr>
        <p:spPr>
          <a:xfrm>
            <a:off x="755650" y="1341438"/>
            <a:ext cx="2012950" cy="457200"/>
          </a:xfrm>
          <a:prstGeom prst="rect">
            <a:avLst/>
          </a:prstGeom>
          <a:noFill/>
          <a:ln w="9525">
            <a:noFill/>
          </a:ln>
        </p:spPr>
        <p:txBody>
          <a:bodyPr wrap="none">
            <a:spAutoFit/>
          </a:bodyPr>
          <a:lstStyle/>
          <a:p>
            <a:r>
              <a:rPr lang="en-US" altLang="zh-CN" dirty="0">
                <a:solidFill>
                  <a:schemeClr val="accent2"/>
                </a:solidFill>
                <a:latin typeface="Times New Roman" panose="02020603050405020304" pitchFamily="18" charset="0"/>
              </a:rPr>
              <a:t>1. </a:t>
            </a:r>
            <a:r>
              <a:rPr lang="zh-CN" altLang="en-US" dirty="0">
                <a:solidFill>
                  <a:schemeClr val="accent2"/>
                </a:solidFill>
                <a:latin typeface="Times New Roman" panose="02020603050405020304" pitchFamily="18" charset="0"/>
              </a:rPr>
              <a:t>额定功率法</a:t>
            </a:r>
            <a:endParaRPr lang="zh-CN" altLang="en-US" dirty="0">
              <a:solidFill>
                <a:schemeClr val="accent2"/>
              </a:solidFill>
              <a:latin typeface="Times New Roman" panose="02020603050405020304" pitchFamily="18" charset="0"/>
            </a:endParaRPr>
          </a:p>
        </p:txBody>
      </p:sp>
      <p:sp>
        <p:nvSpPr>
          <p:cNvPr id="4" name="文本框 3"/>
          <p:cNvSpPr txBox="1"/>
          <p:nvPr/>
        </p:nvSpPr>
        <p:spPr>
          <a:xfrm>
            <a:off x="5292090" y="2493010"/>
            <a:ext cx="2875915" cy="398780"/>
          </a:xfrm>
          <a:prstGeom prst="rect">
            <a:avLst/>
          </a:prstGeom>
          <a:noFill/>
        </p:spPr>
        <p:txBody>
          <a:bodyPr wrap="square" rtlCol="0">
            <a:spAutoFit/>
          </a:bodyPr>
          <a:lstStyle/>
          <a:p>
            <a:r>
              <a:rPr lang="zh-CN" altLang="en-US" sz="2000"/>
              <a:t>也有教材写为</a:t>
            </a:r>
            <a:r>
              <a:rPr lang="en-US" altLang="zh-CN" sz="2000" i="1"/>
              <a:t>P</a:t>
            </a:r>
            <a:r>
              <a:rPr lang="en-US" altLang="zh-CN" sz="2000" i="1" baseline="-25000"/>
              <a:t>A</a:t>
            </a:r>
            <a:endParaRPr lang="en-US" altLang="zh-CN" sz="2000" i="1" baseline="-25000"/>
          </a:p>
        </p:txBody>
      </p:sp>
      <p:grpSp>
        <p:nvGrpSpPr>
          <p:cNvPr id="5" name="Group 19"/>
          <p:cNvGrpSpPr/>
          <p:nvPr/>
        </p:nvGrpSpPr>
        <p:grpSpPr>
          <a:xfrm>
            <a:off x="1784668" y="405766"/>
            <a:ext cx="5334000" cy="519113"/>
            <a:chOff x="1306" y="452"/>
            <a:chExt cx="3360" cy="327"/>
          </a:xfrm>
        </p:grpSpPr>
        <p:sp>
          <p:nvSpPr>
            <p:cNvPr id="6" name="Rectangle 20"/>
            <p:cNvSpPr/>
            <p:nvPr/>
          </p:nvSpPr>
          <p:spPr>
            <a:xfrm>
              <a:off x="1306" y="45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2.4  </a:t>
              </a:r>
              <a:r>
                <a:rPr lang="zh-CN" altLang="en-US" sz="2800" b="1" dirty="0">
                  <a:solidFill>
                    <a:schemeClr val="accent2"/>
                  </a:solidFill>
                  <a:latin typeface="Times New Roman" panose="02020603050405020304" pitchFamily="18" charset="0"/>
                </a:rPr>
                <a:t>噪声系数</a:t>
              </a:r>
              <a:endParaRPr lang="zh-CN" altLang="en-US" sz="2800" b="1" dirty="0">
                <a:solidFill>
                  <a:schemeClr val="accent2"/>
                </a:solidFill>
                <a:latin typeface="Times New Roman" panose="02020603050405020304" pitchFamily="18" charset="0"/>
              </a:endParaRPr>
            </a:p>
          </p:txBody>
        </p:sp>
        <p:sp>
          <p:nvSpPr>
            <p:cNvPr id="7" name="Line 21"/>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6" name="Text Box 4"/>
          <p:cNvSpPr txBox="1"/>
          <p:nvPr/>
        </p:nvSpPr>
        <p:spPr>
          <a:xfrm>
            <a:off x="611188" y="908050"/>
            <a:ext cx="2927350" cy="457200"/>
          </a:xfrm>
          <a:prstGeom prst="rect">
            <a:avLst/>
          </a:prstGeom>
          <a:noFill/>
          <a:ln w="9525">
            <a:noFill/>
          </a:ln>
        </p:spPr>
        <p:txBody>
          <a:bodyPr wrap="none">
            <a:spAutoFit/>
          </a:bodyPr>
          <a:lstStyle/>
          <a:p>
            <a:r>
              <a:rPr lang="zh-CN" altLang="en-US" b="1" dirty="0">
                <a:solidFill>
                  <a:srgbClr val="FF0066"/>
                </a:solidFill>
                <a:latin typeface="Times New Roman" panose="02020603050405020304" pitchFamily="18" charset="0"/>
              </a:rPr>
              <a:t>三、噪声系数的计算</a:t>
            </a:r>
            <a:endParaRPr lang="zh-CN" altLang="en-US" b="1" dirty="0">
              <a:solidFill>
                <a:srgbClr val="FF0066"/>
              </a:solidFill>
              <a:latin typeface="Times New Roman" panose="02020603050405020304" pitchFamily="18" charset="0"/>
            </a:endParaRPr>
          </a:p>
        </p:txBody>
      </p:sp>
      <p:sp>
        <p:nvSpPr>
          <p:cNvPr id="66567" name="Text Box 5"/>
          <p:cNvSpPr txBox="1"/>
          <p:nvPr/>
        </p:nvSpPr>
        <p:spPr>
          <a:xfrm>
            <a:off x="755650" y="1390650"/>
            <a:ext cx="2724150" cy="396875"/>
          </a:xfrm>
          <a:prstGeom prst="rect">
            <a:avLst/>
          </a:prstGeom>
          <a:noFill/>
          <a:ln w="9525">
            <a:noFill/>
          </a:ln>
        </p:spPr>
        <p:txBody>
          <a:bodyPr wrap="none">
            <a:spAutoFit/>
          </a:bodyPr>
          <a:lstStyle/>
          <a:p>
            <a:r>
              <a:rPr lang="en-US" altLang="zh-CN" sz="2000" dirty="0">
                <a:solidFill>
                  <a:schemeClr val="accent2"/>
                </a:solidFill>
                <a:latin typeface="Times New Roman" panose="02020603050405020304" pitchFamily="18" charset="0"/>
              </a:rPr>
              <a:t>2. </a:t>
            </a:r>
            <a:r>
              <a:rPr lang="zh-CN" altLang="en-US" sz="2000" dirty="0">
                <a:solidFill>
                  <a:schemeClr val="accent2"/>
                </a:solidFill>
                <a:latin typeface="Times New Roman" panose="02020603050405020304" pitchFamily="18" charset="0"/>
              </a:rPr>
              <a:t>级联网络的噪声系数</a:t>
            </a:r>
            <a:endParaRPr lang="zh-CN" altLang="en-US" sz="2000" dirty="0">
              <a:solidFill>
                <a:schemeClr val="accent2"/>
              </a:solidFill>
              <a:latin typeface="Times New Roman" panose="02020603050405020304" pitchFamily="18" charset="0"/>
            </a:endParaRPr>
          </a:p>
        </p:txBody>
      </p:sp>
      <p:grpSp>
        <p:nvGrpSpPr>
          <p:cNvPr id="3" name="Group 9"/>
          <p:cNvGrpSpPr/>
          <p:nvPr/>
        </p:nvGrpSpPr>
        <p:grpSpPr>
          <a:xfrm>
            <a:off x="755650" y="1844675"/>
            <a:ext cx="7543800" cy="1546225"/>
            <a:chOff x="476" y="754"/>
            <a:chExt cx="4752" cy="974"/>
          </a:xfrm>
        </p:grpSpPr>
        <p:graphicFrame>
          <p:nvGraphicFramePr>
            <p:cNvPr id="66565" name="Object 10"/>
            <p:cNvGraphicFramePr/>
            <p:nvPr/>
          </p:nvGraphicFramePr>
          <p:xfrm>
            <a:off x="476" y="754"/>
            <a:ext cx="4752" cy="651"/>
          </p:xfrm>
          <a:graphic>
            <a:graphicData uri="http://schemas.openxmlformats.org/presentationml/2006/ole">
              <mc:AlternateContent xmlns:mc="http://schemas.openxmlformats.org/markup-compatibility/2006">
                <mc:Choice xmlns:v="urn:schemas-microsoft-com:vml" Requires="v">
                  <p:oleObj spid="_x0000_s2" name="" r:id="rId1" imgW="3117215" imgH="427355" progId="Visio.Drawing.4">
                    <p:embed/>
                  </p:oleObj>
                </mc:Choice>
                <mc:Fallback>
                  <p:oleObj name="" r:id="rId1" imgW="3117215" imgH="427355" progId="Visio.Drawing.4">
                    <p:embed/>
                    <p:pic>
                      <p:nvPicPr>
                        <p:cNvPr id="0" name="图片 3396"/>
                        <p:cNvPicPr/>
                        <p:nvPr/>
                      </p:nvPicPr>
                      <p:blipFill>
                        <a:blip r:embed="rId2"/>
                        <a:stretch>
                          <a:fillRect/>
                        </a:stretch>
                      </p:blipFill>
                      <p:spPr>
                        <a:xfrm>
                          <a:off x="476" y="754"/>
                          <a:ext cx="4752" cy="651"/>
                        </a:xfrm>
                        <a:prstGeom prst="rect">
                          <a:avLst/>
                        </a:prstGeom>
                        <a:noFill/>
                        <a:ln w="38100">
                          <a:noFill/>
                          <a:miter/>
                        </a:ln>
                      </p:spPr>
                    </p:pic>
                  </p:oleObj>
                </mc:Fallback>
              </mc:AlternateContent>
            </a:graphicData>
          </a:graphic>
        </p:graphicFrame>
        <p:sp>
          <p:nvSpPr>
            <p:cNvPr id="66574" name="Text Box 11"/>
            <p:cNvSpPr txBox="1"/>
            <p:nvPr/>
          </p:nvSpPr>
          <p:spPr>
            <a:xfrm>
              <a:off x="1680" y="1478"/>
              <a:ext cx="2208" cy="250"/>
            </a:xfrm>
            <a:prstGeom prst="rect">
              <a:avLst/>
            </a:prstGeom>
            <a:noFill/>
            <a:ln w="9525">
              <a:noFill/>
            </a:ln>
          </p:spPr>
          <p:txBody>
            <a:bodyPr>
              <a:spAutoFit/>
            </a:bodyPr>
            <a:lstStyle/>
            <a:p>
              <a:pPr>
                <a:spcBef>
                  <a:spcPct val="50000"/>
                </a:spcBef>
              </a:pPr>
              <a:r>
                <a:rPr lang="zh-CN" altLang="en-US" sz="2000" dirty="0">
                  <a:latin typeface="Times New Roman" panose="02020603050405020304" pitchFamily="18" charset="0"/>
                </a:rPr>
                <a:t>图 </a:t>
              </a:r>
              <a:r>
                <a:rPr lang="en-US" altLang="zh-CN" sz="2000" dirty="0">
                  <a:latin typeface="Times New Roman" panose="02020603050405020304" pitchFamily="18" charset="0"/>
                </a:rPr>
                <a:t>2 — 36 </a:t>
              </a:r>
              <a:r>
                <a:rPr lang="zh-CN" altLang="en-US" sz="2000" dirty="0">
                  <a:latin typeface="Times New Roman" panose="02020603050405020304" pitchFamily="18" charset="0"/>
                </a:rPr>
                <a:t>级联网络噪声系数 </a:t>
              </a:r>
              <a:endParaRPr lang="zh-CN" altLang="en-US" sz="2000" dirty="0">
                <a:latin typeface="Times New Roman" panose="02020603050405020304" pitchFamily="18" charset="0"/>
              </a:endParaRPr>
            </a:p>
          </p:txBody>
        </p:sp>
      </p:grpSp>
      <p:sp>
        <p:nvSpPr>
          <p:cNvPr id="417805" name="Text Box 13"/>
          <p:cNvSpPr txBox="1"/>
          <p:nvPr/>
        </p:nvSpPr>
        <p:spPr>
          <a:xfrm>
            <a:off x="468313" y="3644900"/>
            <a:ext cx="4391025" cy="396875"/>
          </a:xfrm>
          <a:prstGeom prst="rect">
            <a:avLst/>
          </a:prstGeom>
          <a:noFill/>
          <a:ln w="9525">
            <a:noFill/>
          </a:ln>
        </p:spPr>
        <p:txBody>
          <a:bodyPr>
            <a:spAutoFit/>
          </a:bodyPr>
          <a:lstStyle/>
          <a:p>
            <a:pPr algn="just">
              <a:spcBef>
                <a:spcPct val="50000"/>
              </a:spcBef>
            </a:pPr>
            <a:r>
              <a:rPr lang="zh-CN" altLang="en-US" sz="2000" dirty="0">
                <a:latin typeface="Times New Roman" panose="02020603050405020304" pitchFamily="18" charset="0"/>
              </a:rPr>
              <a:t>根据定义</a:t>
            </a:r>
            <a:r>
              <a:rPr lang="en-US" altLang="zh-CN" sz="2000" dirty="0">
                <a:latin typeface="Times New Roman" panose="02020603050405020304" pitchFamily="18" charset="0"/>
              </a:rPr>
              <a:t>, </a:t>
            </a:r>
            <a:r>
              <a:rPr lang="zh-CN" altLang="en-US" sz="2000" dirty="0">
                <a:latin typeface="Times New Roman" panose="02020603050405020304" pitchFamily="18" charset="0"/>
              </a:rPr>
              <a:t>级联后总的噪声系数为</a:t>
            </a:r>
            <a:endParaRPr lang="zh-CN" altLang="en-US" sz="2000" dirty="0">
              <a:latin typeface="Times New Roman" panose="02020603050405020304" pitchFamily="18" charset="0"/>
            </a:endParaRPr>
          </a:p>
        </p:txBody>
      </p:sp>
      <p:graphicFrame>
        <p:nvGraphicFramePr>
          <p:cNvPr id="417807" name="Object 15"/>
          <p:cNvGraphicFramePr/>
          <p:nvPr/>
        </p:nvGraphicFramePr>
        <p:xfrm>
          <a:off x="4932363" y="3429000"/>
          <a:ext cx="1676400" cy="792163"/>
        </p:xfrm>
        <a:graphic>
          <a:graphicData uri="http://schemas.openxmlformats.org/presentationml/2006/ole">
            <mc:AlternateContent xmlns:mc="http://schemas.openxmlformats.org/markup-compatibility/2006">
              <mc:Choice xmlns:v="urn:schemas-microsoft-com:vml" Requires="v">
                <p:oleObj spid="_x0000_s4" name="" r:id="rId3" imgW="913765" imgH="431800" progId="Equation.DSMT4">
                  <p:embed/>
                </p:oleObj>
              </mc:Choice>
              <mc:Fallback>
                <p:oleObj name="" r:id="rId3" imgW="913765" imgH="431800" progId="Equation.DSMT4">
                  <p:embed/>
                  <p:pic>
                    <p:nvPicPr>
                      <p:cNvPr id="0" name="图片 3397"/>
                      <p:cNvPicPr/>
                      <p:nvPr/>
                    </p:nvPicPr>
                    <p:blipFill>
                      <a:blip r:embed="rId4"/>
                      <a:stretch>
                        <a:fillRect/>
                      </a:stretch>
                    </p:blipFill>
                    <p:spPr>
                      <a:xfrm>
                        <a:off x="4932363" y="3429000"/>
                        <a:ext cx="1676400" cy="792163"/>
                      </a:xfrm>
                      <a:prstGeom prst="rect">
                        <a:avLst/>
                      </a:prstGeom>
                      <a:noFill/>
                      <a:ln w="38100">
                        <a:noFill/>
                        <a:miter/>
                      </a:ln>
                    </p:spPr>
                  </p:pic>
                </p:oleObj>
              </mc:Fallback>
            </mc:AlternateContent>
          </a:graphicData>
        </a:graphic>
      </p:graphicFrame>
      <p:sp>
        <p:nvSpPr>
          <p:cNvPr id="417809" name="Text Box 17"/>
          <p:cNvSpPr txBox="1"/>
          <p:nvPr/>
        </p:nvSpPr>
        <p:spPr>
          <a:xfrm>
            <a:off x="179388" y="4149725"/>
            <a:ext cx="7772400" cy="1282700"/>
          </a:xfrm>
          <a:prstGeom prst="rect">
            <a:avLst/>
          </a:prstGeom>
          <a:noFill/>
          <a:ln w="9525">
            <a:noFill/>
          </a:ln>
        </p:spPr>
        <p:txBody>
          <a:bodyPr>
            <a:spAutoFit/>
          </a:bodyPr>
          <a:lstStyle/>
          <a:p>
            <a:pPr algn="just">
              <a:lnSpc>
                <a:spcPct val="130000"/>
              </a:lnSpc>
              <a:spcBef>
                <a:spcPct val="50000"/>
              </a:spcBef>
            </a:pPr>
            <a:r>
              <a:rPr lang="en-US" altLang="zh-CN" sz="2000" dirty="0">
                <a:latin typeface="Times New Roman" panose="02020603050405020304" pitchFamily="18" charset="0"/>
              </a:rPr>
              <a:t>        </a:t>
            </a:r>
            <a:r>
              <a:rPr lang="zh-CN" altLang="en-US" sz="2000" dirty="0">
                <a:latin typeface="Times New Roman" panose="02020603050405020304" pitchFamily="18" charset="0"/>
              </a:rPr>
              <a:t>式中</a:t>
            </a:r>
            <a:r>
              <a:rPr lang="en-US" altLang="zh-CN" sz="2000" dirty="0">
                <a:latin typeface="Times New Roman" panose="02020603050405020304" pitchFamily="18" charset="0"/>
              </a:rPr>
              <a:t>, N</a:t>
            </a:r>
            <a:r>
              <a:rPr lang="en-US" altLang="zh-CN" sz="2000" baseline="-25000" dirty="0">
                <a:latin typeface="Times New Roman" panose="02020603050405020304" pitchFamily="18" charset="0"/>
              </a:rPr>
              <a:t>o</a:t>
            </a:r>
            <a:r>
              <a:rPr lang="zh-CN" altLang="en-US" sz="2000" dirty="0">
                <a:latin typeface="Times New Roman" panose="02020603050405020304" pitchFamily="18" charset="0"/>
              </a:rPr>
              <a:t>为总输出额定噪声功率</a:t>
            </a:r>
            <a:r>
              <a:rPr lang="en-US" altLang="zh-CN" sz="2000" dirty="0">
                <a:latin typeface="Times New Roman" panose="02020603050405020304" pitchFamily="18" charset="0"/>
              </a:rPr>
              <a:t>, </a:t>
            </a:r>
            <a:r>
              <a:rPr lang="zh-CN" altLang="en-US" sz="2000" dirty="0">
                <a:latin typeface="Times New Roman" panose="02020603050405020304" pitchFamily="18" charset="0"/>
              </a:rPr>
              <a:t>它由三部分组成</a:t>
            </a:r>
            <a:r>
              <a:rPr lang="en-US" altLang="zh-CN" sz="2000" dirty="0">
                <a:latin typeface="Times New Roman" panose="02020603050405020304" pitchFamily="18" charset="0"/>
              </a:rPr>
              <a:t>: </a:t>
            </a:r>
            <a:r>
              <a:rPr lang="zh-CN" altLang="en-US" sz="2000" dirty="0">
                <a:latin typeface="Times New Roman" panose="02020603050405020304" pitchFamily="18" charset="0"/>
              </a:rPr>
              <a:t>经两级放大的输入信号源内阻的热噪声</a:t>
            </a:r>
            <a:r>
              <a:rPr lang="en-US" altLang="zh-CN" sz="2000" dirty="0">
                <a:latin typeface="Times New Roman" panose="02020603050405020304" pitchFamily="18" charset="0"/>
              </a:rPr>
              <a:t>; </a:t>
            </a:r>
            <a:r>
              <a:rPr lang="zh-CN" altLang="en-US" sz="2000" dirty="0">
                <a:latin typeface="Times New Roman" panose="02020603050405020304" pitchFamily="18" charset="0"/>
              </a:rPr>
              <a:t>经第二级放大的第一级网络内部的附加噪声</a:t>
            </a:r>
            <a:r>
              <a:rPr lang="en-US" altLang="zh-CN" sz="2000" dirty="0">
                <a:latin typeface="Times New Roman" panose="02020603050405020304" pitchFamily="18" charset="0"/>
              </a:rPr>
              <a:t>; </a:t>
            </a:r>
            <a:r>
              <a:rPr lang="zh-CN" altLang="en-US" sz="2000" dirty="0">
                <a:latin typeface="Times New Roman" panose="02020603050405020304" pitchFamily="18" charset="0"/>
              </a:rPr>
              <a:t>第二级网络内部的附加噪声</a:t>
            </a:r>
            <a:r>
              <a:rPr lang="en-US" altLang="zh-CN" sz="2000" dirty="0">
                <a:latin typeface="Times New Roman" panose="02020603050405020304" pitchFamily="18" charset="0"/>
              </a:rPr>
              <a:t>, </a:t>
            </a:r>
            <a:r>
              <a:rPr lang="zh-CN" altLang="en-US" sz="2000" dirty="0">
                <a:latin typeface="Times New Roman" panose="02020603050405020304" pitchFamily="18" charset="0"/>
              </a:rPr>
              <a:t>即</a:t>
            </a:r>
            <a:endParaRPr lang="zh-CN" altLang="en-US" sz="2000" dirty="0">
              <a:latin typeface="Times New Roman" panose="02020603050405020304" pitchFamily="18" charset="0"/>
            </a:endParaRPr>
          </a:p>
        </p:txBody>
      </p:sp>
      <p:grpSp>
        <p:nvGrpSpPr>
          <p:cNvPr id="5" name="Group 18"/>
          <p:cNvGrpSpPr/>
          <p:nvPr/>
        </p:nvGrpSpPr>
        <p:grpSpPr>
          <a:xfrm>
            <a:off x="2195513" y="5445125"/>
            <a:ext cx="5102225" cy="476250"/>
            <a:chOff x="1383" y="3748"/>
            <a:chExt cx="3214" cy="300"/>
          </a:xfrm>
        </p:grpSpPr>
        <p:graphicFrame>
          <p:nvGraphicFramePr>
            <p:cNvPr id="66564" name="Object 19"/>
            <p:cNvGraphicFramePr/>
            <p:nvPr/>
          </p:nvGraphicFramePr>
          <p:xfrm>
            <a:off x="1383" y="3748"/>
            <a:ext cx="2254" cy="291"/>
          </p:xfrm>
          <a:graphic>
            <a:graphicData uri="http://schemas.openxmlformats.org/presentationml/2006/ole">
              <mc:AlternateContent xmlns:mc="http://schemas.openxmlformats.org/markup-compatibility/2006">
                <mc:Choice xmlns:v="urn:schemas-microsoft-com:vml" Requires="v">
                  <p:oleObj spid="_x0000_s6" name="" r:id="rId5" imgW="1866265" imgH="241300" progId="Equation.DSMT4">
                    <p:embed/>
                  </p:oleObj>
                </mc:Choice>
                <mc:Fallback>
                  <p:oleObj name="" r:id="rId5" imgW="1866265" imgH="241300" progId="Equation.DSMT4">
                    <p:embed/>
                    <p:pic>
                      <p:nvPicPr>
                        <p:cNvPr id="0" name="图片 3395"/>
                        <p:cNvPicPr/>
                        <p:nvPr/>
                      </p:nvPicPr>
                      <p:blipFill>
                        <a:blip r:embed="rId6"/>
                        <a:stretch>
                          <a:fillRect/>
                        </a:stretch>
                      </p:blipFill>
                      <p:spPr>
                        <a:xfrm>
                          <a:off x="1383" y="3748"/>
                          <a:ext cx="2254" cy="291"/>
                        </a:xfrm>
                        <a:prstGeom prst="rect">
                          <a:avLst/>
                        </a:prstGeom>
                        <a:noFill/>
                        <a:ln w="38100">
                          <a:noFill/>
                          <a:miter/>
                        </a:ln>
                      </p:spPr>
                    </p:pic>
                  </p:oleObj>
                </mc:Fallback>
              </mc:AlternateContent>
            </a:graphicData>
          </a:graphic>
        </p:graphicFrame>
        <p:sp>
          <p:nvSpPr>
            <p:cNvPr id="66573" name="Text Box 20"/>
            <p:cNvSpPr txBox="1"/>
            <p:nvPr/>
          </p:nvSpPr>
          <p:spPr>
            <a:xfrm>
              <a:off x="4001" y="3760"/>
              <a:ext cx="596" cy="288"/>
            </a:xfrm>
            <a:prstGeom prst="rect">
              <a:avLst/>
            </a:prstGeom>
            <a:noFill/>
            <a:ln w="9525">
              <a:noFill/>
            </a:ln>
          </p:spPr>
          <p:txBody>
            <a:bodyPr wrap="none">
              <a:spAutoFit/>
            </a:bodyPr>
            <a:lstStyle/>
            <a:p>
              <a:r>
                <a:rPr lang="zh-CN" altLang="en-US" dirty="0">
                  <a:latin typeface="Times New Roman" panose="02020603050405020304" pitchFamily="18" charset="0"/>
                </a:rPr>
                <a:t>（</a:t>
              </a:r>
              <a:r>
                <a:rPr lang="en-US" altLang="zh-CN" dirty="0">
                  <a:latin typeface="Times New Roman" panose="02020603050405020304" pitchFamily="18" charset="0"/>
                </a:rPr>
                <a:t>2</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graphicFrame>
        <p:nvGraphicFramePr>
          <p:cNvPr id="417813" name="Object 21"/>
          <p:cNvGraphicFramePr/>
          <p:nvPr/>
        </p:nvGraphicFramePr>
        <p:xfrm>
          <a:off x="6804025" y="3573463"/>
          <a:ext cx="1871663" cy="420687"/>
        </p:xfrm>
        <a:graphic>
          <a:graphicData uri="http://schemas.openxmlformats.org/presentationml/2006/ole">
            <mc:AlternateContent xmlns:mc="http://schemas.openxmlformats.org/markup-compatibility/2006">
              <mc:Choice xmlns:v="urn:schemas-microsoft-com:vml" Requires="v">
                <p:oleObj spid="_x0000_s7" name="" r:id="rId7" imgW="1016000" imgH="228600" progId="Equation.DSMT4">
                  <p:embed/>
                </p:oleObj>
              </mc:Choice>
              <mc:Fallback>
                <p:oleObj name="" r:id="rId7" imgW="1016000" imgH="228600" progId="Equation.DSMT4">
                  <p:embed/>
                  <p:pic>
                    <p:nvPicPr>
                      <p:cNvPr id="0" name="图片 3408"/>
                      <p:cNvPicPr/>
                      <p:nvPr/>
                    </p:nvPicPr>
                    <p:blipFill>
                      <a:blip r:embed="rId8"/>
                      <a:stretch>
                        <a:fillRect/>
                      </a:stretch>
                    </p:blipFill>
                    <p:spPr>
                      <a:xfrm>
                        <a:off x="6804025" y="3573463"/>
                        <a:ext cx="1871663" cy="420687"/>
                      </a:xfrm>
                      <a:prstGeom prst="rect">
                        <a:avLst/>
                      </a:prstGeom>
                      <a:noFill/>
                      <a:ln w="38100">
                        <a:noFill/>
                        <a:miter/>
                      </a:ln>
                    </p:spPr>
                  </p:pic>
                </p:oleObj>
              </mc:Fallback>
            </mc:AlternateContent>
          </a:graphicData>
        </a:graphic>
      </p:graphicFrame>
      <p:grpSp>
        <p:nvGrpSpPr>
          <p:cNvPr id="8" name="Group 19"/>
          <p:cNvGrpSpPr/>
          <p:nvPr/>
        </p:nvGrpSpPr>
        <p:grpSpPr>
          <a:xfrm>
            <a:off x="1784668" y="405766"/>
            <a:ext cx="5334000" cy="519113"/>
            <a:chOff x="1306" y="452"/>
            <a:chExt cx="3360" cy="327"/>
          </a:xfrm>
        </p:grpSpPr>
        <p:sp>
          <p:nvSpPr>
            <p:cNvPr id="9" name="Rectangle 20"/>
            <p:cNvSpPr/>
            <p:nvPr/>
          </p:nvSpPr>
          <p:spPr>
            <a:xfrm>
              <a:off x="1306" y="45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2.4  </a:t>
              </a:r>
              <a:r>
                <a:rPr lang="zh-CN" altLang="en-US" sz="2800" b="1" dirty="0">
                  <a:solidFill>
                    <a:schemeClr val="accent2"/>
                  </a:solidFill>
                  <a:latin typeface="Times New Roman" panose="02020603050405020304" pitchFamily="18" charset="0"/>
                </a:rPr>
                <a:t>噪声系数</a:t>
              </a:r>
              <a:endParaRPr lang="zh-CN" altLang="en-US" sz="2800" b="1" dirty="0">
                <a:solidFill>
                  <a:schemeClr val="accent2"/>
                </a:solidFill>
                <a:latin typeface="Times New Roman" panose="02020603050405020304" pitchFamily="18" charset="0"/>
              </a:endParaRPr>
            </a:p>
          </p:txBody>
        </p:sp>
        <p:sp>
          <p:nvSpPr>
            <p:cNvPr id="10" name="Line 21"/>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91" name="Text Box 5"/>
          <p:cNvSpPr txBox="1"/>
          <p:nvPr/>
        </p:nvSpPr>
        <p:spPr>
          <a:xfrm>
            <a:off x="539750" y="930275"/>
            <a:ext cx="2927350" cy="457200"/>
          </a:xfrm>
          <a:prstGeom prst="rect">
            <a:avLst/>
          </a:prstGeom>
          <a:noFill/>
          <a:ln w="9525">
            <a:noFill/>
          </a:ln>
        </p:spPr>
        <p:txBody>
          <a:bodyPr wrap="none">
            <a:spAutoFit/>
          </a:bodyPr>
          <a:lstStyle/>
          <a:p>
            <a:r>
              <a:rPr lang="zh-CN" altLang="en-US" b="1" dirty="0">
                <a:solidFill>
                  <a:srgbClr val="FF0066"/>
                </a:solidFill>
                <a:latin typeface="Times New Roman" panose="02020603050405020304" pitchFamily="18" charset="0"/>
              </a:rPr>
              <a:t>三、噪声系数的计算</a:t>
            </a:r>
            <a:endParaRPr lang="zh-CN" altLang="en-US" b="1" dirty="0">
              <a:solidFill>
                <a:srgbClr val="FF0066"/>
              </a:solidFill>
              <a:latin typeface="Times New Roman" panose="02020603050405020304" pitchFamily="18" charset="0"/>
            </a:endParaRPr>
          </a:p>
        </p:txBody>
      </p:sp>
      <p:sp>
        <p:nvSpPr>
          <p:cNvPr id="67592" name="Text Box 6"/>
          <p:cNvSpPr txBox="1"/>
          <p:nvPr/>
        </p:nvSpPr>
        <p:spPr>
          <a:xfrm>
            <a:off x="684213" y="1412875"/>
            <a:ext cx="2724150" cy="396875"/>
          </a:xfrm>
          <a:prstGeom prst="rect">
            <a:avLst/>
          </a:prstGeom>
          <a:noFill/>
          <a:ln w="9525">
            <a:noFill/>
          </a:ln>
        </p:spPr>
        <p:txBody>
          <a:bodyPr wrap="none">
            <a:spAutoFit/>
          </a:bodyPr>
          <a:lstStyle/>
          <a:p>
            <a:r>
              <a:rPr lang="en-US" altLang="zh-CN" sz="2000" dirty="0">
                <a:solidFill>
                  <a:schemeClr val="accent2"/>
                </a:solidFill>
                <a:latin typeface="Times New Roman" panose="02020603050405020304" pitchFamily="18" charset="0"/>
              </a:rPr>
              <a:t>2. </a:t>
            </a:r>
            <a:r>
              <a:rPr lang="zh-CN" altLang="en-US" sz="2000" dirty="0">
                <a:solidFill>
                  <a:schemeClr val="accent2"/>
                </a:solidFill>
                <a:latin typeface="Times New Roman" panose="02020603050405020304" pitchFamily="18" charset="0"/>
              </a:rPr>
              <a:t>级联网络的噪声系数</a:t>
            </a:r>
            <a:endParaRPr lang="zh-CN" altLang="en-US" sz="2000" dirty="0">
              <a:solidFill>
                <a:schemeClr val="accent2"/>
              </a:solidFill>
              <a:latin typeface="Times New Roman" panose="02020603050405020304" pitchFamily="18" charset="0"/>
            </a:endParaRPr>
          </a:p>
        </p:txBody>
      </p:sp>
      <p:sp>
        <p:nvSpPr>
          <p:cNvPr id="418826" name="Rectangle 10"/>
          <p:cNvSpPr/>
          <p:nvPr/>
        </p:nvSpPr>
        <p:spPr>
          <a:xfrm>
            <a:off x="684213" y="1773238"/>
            <a:ext cx="7632700" cy="488950"/>
          </a:xfrm>
          <a:prstGeom prst="rect">
            <a:avLst/>
          </a:prstGeom>
          <a:noFill/>
          <a:ln w="9525">
            <a:noFill/>
          </a:ln>
        </p:spPr>
        <p:txBody>
          <a:bodyPr>
            <a:spAutoFit/>
          </a:bodyPr>
          <a:lstStyle/>
          <a:p>
            <a:pPr>
              <a:lnSpc>
                <a:spcPct val="130000"/>
              </a:lnSpc>
              <a:spcBef>
                <a:spcPct val="20000"/>
              </a:spcBef>
            </a:pPr>
            <a:r>
              <a:rPr lang="zh-CN" altLang="en-US" sz="2000" dirty="0">
                <a:latin typeface="Times New Roman" panose="02020603050405020304" pitchFamily="18" charset="0"/>
              </a:rPr>
              <a:t>根据噪声系数的表达式：</a:t>
            </a:r>
            <a:r>
              <a:rPr lang="en-US" altLang="zh-CN" sz="2000" i="1" dirty="0">
                <a:latin typeface="Times New Roman" panose="02020603050405020304" pitchFamily="18" charset="0"/>
              </a:rPr>
              <a:t>N</a:t>
            </a:r>
            <a:r>
              <a:rPr lang="en-US" altLang="zh-CN" sz="2000" i="1" baseline="-25000" dirty="0">
                <a:latin typeface="Times New Roman" panose="02020603050405020304" pitchFamily="18" charset="0"/>
              </a:rPr>
              <a:t>F</a:t>
            </a:r>
            <a:r>
              <a:rPr lang="en-US" altLang="zh-CN" sz="2000" i="1" dirty="0">
                <a:latin typeface="Times New Roman" panose="02020603050405020304" pitchFamily="18" charset="0"/>
              </a:rPr>
              <a:t>=</a:t>
            </a:r>
            <a:r>
              <a:rPr lang="en-US" altLang="zh-CN" sz="2000" dirty="0">
                <a:latin typeface="Times New Roman" panose="02020603050405020304" pitchFamily="18" charset="0"/>
              </a:rPr>
              <a:t>1</a:t>
            </a:r>
            <a:r>
              <a:rPr lang="en-US" altLang="zh-CN" sz="2000" i="1" dirty="0">
                <a:latin typeface="Times New Roman" panose="02020603050405020304" pitchFamily="18" charset="0"/>
              </a:rPr>
              <a:t>+N</a:t>
            </a:r>
            <a:r>
              <a:rPr lang="en-US" altLang="zh-CN" sz="2000" i="1" baseline="-25000" dirty="0">
                <a:latin typeface="Times New Roman" panose="02020603050405020304" pitchFamily="18" charset="0"/>
              </a:rPr>
              <a:t>a</a:t>
            </a:r>
            <a:r>
              <a:rPr lang="en-US" altLang="zh-CN" sz="2000" i="1" dirty="0">
                <a:latin typeface="Times New Roman" panose="02020603050405020304" pitchFamily="18" charset="0"/>
              </a:rPr>
              <a:t>/</a:t>
            </a:r>
            <a:r>
              <a:rPr lang="en-US" altLang="zh-CN" sz="2000" dirty="0">
                <a:latin typeface="Times New Roman" panose="02020603050405020304" pitchFamily="18" charset="0"/>
              </a:rPr>
              <a:t>(</a:t>
            </a:r>
            <a:r>
              <a:rPr lang="en-US" altLang="zh-CN" sz="2000" i="1" dirty="0">
                <a:latin typeface="Times New Roman" panose="02020603050405020304" pitchFamily="18" charset="0"/>
              </a:rPr>
              <a:t>K</a:t>
            </a:r>
            <a:r>
              <a:rPr lang="en-US" altLang="zh-CN" sz="2000" i="1" baseline="-25000" dirty="0">
                <a:latin typeface="Times New Roman" panose="02020603050405020304" pitchFamily="18" charset="0"/>
              </a:rPr>
              <a:t>pm</a:t>
            </a:r>
            <a:r>
              <a:rPr lang="en-US" altLang="zh-CN" sz="2000" i="1" dirty="0">
                <a:latin typeface="Times New Roman" panose="02020603050405020304" pitchFamily="18" charset="0"/>
              </a:rPr>
              <a:t>kTB</a:t>
            </a:r>
            <a:r>
              <a:rPr lang="en-US" altLang="zh-CN" sz="2000" dirty="0">
                <a:latin typeface="Times New Roman" panose="02020603050405020304" pitchFamily="18" charset="0"/>
              </a:rPr>
              <a:t>), </a:t>
            </a:r>
            <a:r>
              <a:rPr lang="en-US" altLang="zh-CN" sz="2000" i="1" dirty="0">
                <a:latin typeface="Times New Roman" panose="02020603050405020304" pitchFamily="18" charset="0"/>
              </a:rPr>
              <a:t>N</a:t>
            </a:r>
            <a:r>
              <a:rPr lang="en-US" altLang="zh-CN" sz="2000" baseline="-25000" dirty="0">
                <a:latin typeface="Times New Roman" panose="02020603050405020304" pitchFamily="18" charset="0"/>
              </a:rPr>
              <a:t>a1</a:t>
            </a:r>
            <a:r>
              <a:rPr lang="zh-CN" altLang="en-US" sz="2000" dirty="0">
                <a:latin typeface="Times New Roman" panose="02020603050405020304" pitchFamily="18" charset="0"/>
              </a:rPr>
              <a:t>和</a:t>
            </a:r>
            <a:r>
              <a:rPr lang="en-US" altLang="zh-CN" sz="2000" i="1" dirty="0">
                <a:latin typeface="Times New Roman" panose="02020603050405020304" pitchFamily="18" charset="0"/>
              </a:rPr>
              <a:t>N</a:t>
            </a:r>
            <a:r>
              <a:rPr lang="en-US" altLang="zh-CN" sz="2000" baseline="-25000" dirty="0">
                <a:latin typeface="Times New Roman" panose="02020603050405020304" pitchFamily="18" charset="0"/>
              </a:rPr>
              <a:t>a2</a:t>
            </a:r>
            <a:r>
              <a:rPr lang="zh-CN" altLang="en-US" sz="2000" dirty="0">
                <a:latin typeface="Times New Roman" panose="02020603050405020304" pitchFamily="18" charset="0"/>
              </a:rPr>
              <a:t>可分别表示为</a:t>
            </a:r>
            <a:endParaRPr lang="zh-CN" altLang="en-US" sz="2000" dirty="0">
              <a:latin typeface="Times New Roman" panose="02020603050405020304" pitchFamily="18" charset="0"/>
            </a:endParaRPr>
          </a:p>
        </p:txBody>
      </p:sp>
      <p:graphicFrame>
        <p:nvGraphicFramePr>
          <p:cNvPr id="418827" name="Object 11"/>
          <p:cNvGraphicFramePr/>
          <p:nvPr/>
        </p:nvGraphicFramePr>
        <p:xfrm>
          <a:off x="2916238" y="2349500"/>
          <a:ext cx="2743200" cy="869950"/>
        </p:xfrm>
        <a:graphic>
          <a:graphicData uri="http://schemas.openxmlformats.org/presentationml/2006/ole">
            <mc:AlternateContent xmlns:mc="http://schemas.openxmlformats.org/markup-compatibility/2006">
              <mc:Choice xmlns:v="urn:schemas-microsoft-com:vml" Requires="v">
                <p:oleObj spid="_x0000_s2" name="" r:id="rId1" imgW="1523365" imgH="482600" progId="Equation.DSMT4">
                  <p:embed/>
                </p:oleObj>
              </mc:Choice>
              <mc:Fallback>
                <p:oleObj name="" r:id="rId1" imgW="1523365" imgH="482600" progId="Equation.DSMT4">
                  <p:embed/>
                  <p:pic>
                    <p:nvPicPr>
                      <p:cNvPr id="0" name="图片 3405"/>
                      <p:cNvPicPr/>
                      <p:nvPr/>
                    </p:nvPicPr>
                    <p:blipFill>
                      <a:blip r:embed="rId2"/>
                      <a:stretch>
                        <a:fillRect/>
                      </a:stretch>
                    </p:blipFill>
                    <p:spPr>
                      <a:xfrm>
                        <a:off x="2916238" y="2349500"/>
                        <a:ext cx="2743200" cy="869950"/>
                      </a:xfrm>
                      <a:prstGeom prst="rect">
                        <a:avLst/>
                      </a:prstGeom>
                      <a:noFill/>
                      <a:ln w="38100">
                        <a:noFill/>
                        <a:miter/>
                      </a:ln>
                    </p:spPr>
                  </p:pic>
                </p:oleObj>
              </mc:Fallback>
            </mc:AlternateContent>
          </a:graphicData>
        </a:graphic>
      </p:graphicFrame>
      <p:grpSp>
        <p:nvGrpSpPr>
          <p:cNvPr id="3" name="Group 25"/>
          <p:cNvGrpSpPr/>
          <p:nvPr/>
        </p:nvGrpSpPr>
        <p:grpSpPr>
          <a:xfrm>
            <a:off x="684213" y="3213100"/>
            <a:ext cx="6911975" cy="1039813"/>
            <a:chOff x="431" y="2024"/>
            <a:chExt cx="4354" cy="655"/>
          </a:xfrm>
        </p:grpSpPr>
        <p:sp>
          <p:nvSpPr>
            <p:cNvPr id="67599" name="Text Box 13"/>
            <p:cNvSpPr txBox="1"/>
            <p:nvPr/>
          </p:nvSpPr>
          <p:spPr>
            <a:xfrm>
              <a:off x="431" y="2024"/>
              <a:ext cx="768" cy="288"/>
            </a:xfrm>
            <a:prstGeom prst="rect">
              <a:avLst/>
            </a:prstGeom>
            <a:noFill/>
            <a:ln w="9525">
              <a:noFill/>
            </a:ln>
          </p:spPr>
          <p:txBody>
            <a:bodyPr>
              <a:spAutoFit/>
            </a:bodyPr>
            <a:lstStyle/>
            <a:p>
              <a:pPr>
                <a:spcBef>
                  <a:spcPct val="50000"/>
                </a:spcBef>
              </a:pPr>
              <a:r>
                <a:rPr lang="en-US" altLang="zh-CN" dirty="0">
                  <a:latin typeface="Times New Roman" panose="02020603050405020304" pitchFamily="18" charset="0"/>
                </a:rPr>
                <a:t> </a:t>
              </a:r>
              <a:r>
                <a:rPr lang="zh-CN" altLang="en-US" dirty="0">
                  <a:latin typeface="Times New Roman" panose="02020603050405020304" pitchFamily="18" charset="0"/>
                </a:rPr>
                <a:t>则 </a:t>
              </a:r>
              <a:endParaRPr lang="zh-CN" altLang="en-US" dirty="0">
                <a:latin typeface="Times New Roman" panose="02020603050405020304" pitchFamily="18" charset="0"/>
              </a:endParaRPr>
            </a:p>
          </p:txBody>
        </p:sp>
        <p:graphicFrame>
          <p:nvGraphicFramePr>
            <p:cNvPr id="67590" name="Object 14"/>
            <p:cNvGraphicFramePr/>
            <p:nvPr/>
          </p:nvGraphicFramePr>
          <p:xfrm>
            <a:off x="839" y="2069"/>
            <a:ext cx="3946" cy="610"/>
          </p:xfrm>
          <a:graphic>
            <a:graphicData uri="http://schemas.openxmlformats.org/presentationml/2006/ole">
              <mc:AlternateContent xmlns:mc="http://schemas.openxmlformats.org/markup-compatibility/2006">
                <mc:Choice xmlns:v="urn:schemas-microsoft-com:vml" Requires="v">
                  <p:oleObj spid="_x0000_s4" name="" r:id="rId3" imgW="3619500" imgH="558800" progId="Equation.3">
                    <p:embed/>
                  </p:oleObj>
                </mc:Choice>
                <mc:Fallback>
                  <p:oleObj name="" r:id="rId3" imgW="3619500" imgH="558800" progId="Equation.3">
                    <p:embed/>
                    <p:pic>
                      <p:nvPicPr>
                        <p:cNvPr id="0" name="图片 3406"/>
                        <p:cNvPicPr/>
                        <p:nvPr/>
                      </p:nvPicPr>
                      <p:blipFill>
                        <a:blip r:embed="rId4"/>
                        <a:stretch>
                          <a:fillRect/>
                        </a:stretch>
                      </p:blipFill>
                      <p:spPr>
                        <a:xfrm>
                          <a:off x="839" y="2069"/>
                          <a:ext cx="3946" cy="610"/>
                        </a:xfrm>
                        <a:prstGeom prst="rect">
                          <a:avLst/>
                        </a:prstGeom>
                        <a:noFill/>
                        <a:ln w="38100">
                          <a:noFill/>
                          <a:miter/>
                        </a:ln>
                      </p:spPr>
                    </p:pic>
                  </p:oleObj>
                </mc:Fallback>
              </mc:AlternateContent>
            </a:graphicData>
          </a:graphic>
        </p:graphicFrame>
      </p:grpSp>
      <p:graphicFrame>
        <p:nvGraphicFramePr>
          <p:cNvPr id="418834" name="Object 18"/>
          <p:cNvGraphicFramePr/>
          <p:nvPr/>
        </p:nvGraphicFramePr>
        <p:xfrm>
          <a:off x="5076825" y="4221163"/>
          <a:ext cx="2312988" cy="819150"/>
        </p:xfrm>
        <a:graphic>
          <a:graphicData uri="http://schemas.openxmlformats.org/presentationml/2006/ole">
            <mc:AlternateContent xmlns:mc="http://schemas.openxmlformats.org/markup-compatibility/2006">
              <mc:Choice xmlns:v="urn:schemas-microsoft-com:vml" Requires="v">
                <p:oleObj spid="_x0000_s5" name="" r:id="rId5" imgW="1218565" imgH="431800" progId="Equation.DSMT4">
                  <p:embed/>
                </p:oleObj>
              </mc:Choice>
              <mc:Fallback>
                <p:oleObj name="" r:id="rId5" imgW="1218565" imgH="431800" progId="Equation.DSMT4">
                  <p:embed/>
                  <p:pic>
                    <p:nvPicPr>
                      <p:cNvPr id="0" name="图片 3409"/>
                      <p:cNvPicPr/>
                      <p:nvPr/>
                    </p:nvPicPr>
                    <p:blipFill>
                      <a:blip r:embed="rId6"/>
                      <a:stretch>
                        <a:fillRect/>
                      </a:stretch>
                    </p:blipFill>
                    <p:spPr>
                      <a:xfrm>
                        <a:off x="5076825" y="4221163"/>
                        <a:ext cx="2312988" cy="819150"/>
                      </a:xfrm>
                      <a:prstGeom prst="rect">
                        <a:avLst/>
                      </a:prstGeom>
                      <a:solidFill>
                        <a:schemeClr val="accent1">
                          <a:lumMod val="20000"/>
                          <a:lumOff val="80000"/>
                        </a:schemeClr>
                      </a:solidFill>
                      <a:ln w="38100">
                        <a:noFill/>
                        <a:miter/>
                      </a:ln>
                    </p:spPr>
                  </p:pic>
                </p:oleObj>
              </mc:Fallback>
            </mc:AlternateContent>
          </a:graphicData>
        </a:graphic>
      </p:graphicFrame>
      <p:grpSp>
        <p:nvGrpSpPr>
          <p:cNvPr id="6" name="Group 26"/>
          <p:cNvGrpSpPr/>
          <p:nvPr/>
        </p:nvGrpSpPr>
        <p:grpSpPr>
          <a:xfrm>
            <a:off x="827088" y="4221163"/>
            <a:ext cx="5113337" cy="792162"/>
            <a:chOff x="521" y="2659"/>
            <a:chExt cx="3221" cy="499"/>
          </a:xfrm>
        </p:grpSpPr>
        <p:sp>
          <p:nvSpPr>
            <p:cNvPr id="67598" name="Text Box 16"/>
            <p:cNvSpPr txBox="1"/>
            <p:nvPr/>
          </p:nvSpPr>
          <p:spPr>
            <a:xfrm>
              <a:off x="521" y="2750"/>
              <a:ext cx="3221" cy="250"/>
            </a:xfrm>
            <a:prstGeom prst="rect">
              <a:avLst/>
            </a:prstGeom>
            <a:noFill/>
            <a:ln w="9525">
              <a:noFill/>
            </a:ln>
          </p:spPr>
          <p:txBody>
            <a:bodyPr>
              <a:spAutoFit/>
            </a:bodyPr>
            <a:lstStyle/>
            <a:p>
              <a:pPr>
                <a:spcBef>
                  <a:spcPct val="50000"/>
                </a:spcBef>
              </a:pPr>
              <a:r>
                <a:rPr lang="zh-CN" altLang="en-US" sz="2000" dirty="0">
                  <a:latin typeface="Times New Roman" panose="02020603050405020304" pitchFamily="18" charset="0"/>
                </a:rPr>
                <a:t>将上式代入式                           </a:t>
              </a:r>
              <a:r>
                <a:rPr lang="en-US" altLang="zh-CN" sz="2000" dirty="0">
                  <a:latin typeface="Times New Roman" panose="02020603050405020304" pitchFamily="18" charset="0"/>
                </a:rPr>
                <a:t>,   </a:t>
              </a:r>
              <a:r>
                <a:rPr lang="zh-CN" altLang="en-US" sz="2000" dirty="0">
                  <a:latin typeface="Times New Roman" panose="02020603050405020304" pitchFamily="18" charset="0"/>
                </a:rPr>
                <a:t>得 </a:t>
              </a:r>
              <a:endParaRPr lang="zh-CN" altLang="en-US" sz="2000" dirty="0">
                <a:latin typeface="Times New Roman" panose="02020603050405020304" pitchFamily="18" charset="0"/>
              </a:endParaRPr>
            </a:p>
          </p:txBody>
        </p:sp>
        <p:graphicFrame>
          <p:nvGraphicFramePr>
            <p:cNvPr id="67589" name="Object 20"/>
            <p:cNvGraphicFramePr/>
            <p:nvPr/>
          </p:nvGraphicFramePr>
          <p:xfrm>
            <a:off x="1519" y="2659"/>
            <a:ext cx="1056" cy="499"/>
          </p:xfrm>
          <a:graphic>
            <a:graphicData uri="http://schemas.openxmlformats.org/presentationml/2006/ole">
              <mc:AlternateContent xmlns:mc="http://schemas.openxmlformats.org/markup-compatibility/2006">
                <mc:Choice xmlns:v="urn:schemas-microsoft-com:vml" Requires="v">
                  <p:oleObj spid="_x0000_s7" name="" r:id="rId7" imgW="913765" imgH="431800" progId="Equation.DSMT4">
                    <p:embed/>
                  </p:oleObj>
                </mc:Choice>
                <mc:Fallback>
                  <p:oleObj name="" r:id="rId7" imgW="913765" imgH="431800" progId="Equation.DSMT4">
                    <p:embed/>
                    <p:pic>
                      <p:nvPicPr>
                        <p:cNvPr id="0" name="图片 3410"/>
                        <p:cNvPicPr/>
                        <p:nvPr/>
                      </p:nvPicPr>
                      <p:blipFill>
                        <a:blip r:embed="rId8"/>
                        <a:stretch>
                          <a:fillRect/>
                        </a:stretch>
                      </p:blipFill>
                      <p:spPr>
                        <a:xfrm>
                          <a:off x="1519" y="2659"/>
                          <a:ext cx="1056" cy="499"/>
                        </a:xfrm>
                        <a:prstGeom prst="rect">
                          <a:avLst/>
                        </a:prstGeom>
                        <a:noFill/>
                        <a:ln w="38100">
                          <a:noFill/>
                          <a:miter/>
                        </a:ln>
                      </p:spPr>
                    </p:pic>
                  </p:oleObj>
                </mc:Fallback>
              </mc:AlternateContent>
            </a:graphicData>
          </a:graphic>
        </p:graphicFrame>
      </p:grpSp>
      <p:sp>
        <p:nvSpPr>
          <p:cNvPr id="418837" name="Text Box 21"/>
          <p:cNvSpPr txBox="1"/>
          <p:nvPr/>
        </p:nvSpPr>
        <p:spPr>
          <a:xfrm>
            <a:off x="827088" y="5084763"/>
            <a:ext cx="3910012" cy="396875"/>
          </a:xfrm>
          <a:prstGeom prst="rect">
            <a:avLst/>
          </a:prstGeom>
          <a:noFill/>
          <a:ln w="9525">
            <a:noFill/>
          </a:ln>
        </p:spPr>
        <p:txBody>
          <a:bodyPr wrap="none">
            <a:spAutoFit/>
          </a:bodyPr>
          <a:lstStyle/>
          <a:p>
            <a:r>
              <a:rPr lang="zh-CN" altLang="en-US" sz="2000" dirty="0">
                <a:solidFill>
                  <a:schemeClr val="accent2"/>
                </a:solidFill>
                <a:latin typeface="Times New Roman" panose="02020603050405020304" pitchFamily="18" charset="0"/>
              </a:rPr>
              <a:t>推广</a:t>
            </a:r>
            <a:r>
              <a:rPr lang="zh-CN" altLang="en-US" sz="2000" dirty="0">
                <a:latin typeface="Times New Roman" panose="02020603050405020304" pitchFamily="18" charset="0"/>
              </a:rPr>
              <a:t>：</a:t>
            </a:r>
            <a:r>
              <a:rPr lang="en-US" altLang="zh-CN" sz="2000" i="1" dirty="0">
                <a:latin typeface="Times New Roman" panose="02020603050405020304" pitchFamily="18" charset="0"/>
              </a:rPr>
              <a:t>N</a:t>
            </a:r>
            <a:r>
              <a:rPr lang="zh-CN" altLang="en-US" sz="2000" dirty="0">
                <a:latin typeface="Times New Roman" panose="02020603050405020304" pitchFamily="18" charset="0"/>
              </a:rPr>
              <a:t>级网络总的噪声系数为：</a:t>
            </a:r>
            <a:endParaRPr lang="zh-CN" altLang="en-US" sz="2000" dirty="0">
              <a:latin typeface="Times New Roman" panose="02020603050405020304" pitchFamily="18" charset="0"/>
            </a:endParaRPr>
          </a:p>
        </p:txBody>
      </p:sp>
      <p:graphicFrame>
        <p:nvGraphicFramePr>
          <p:cNvPr id="418839" name="Object 23"/>
          <p:cNvGraphicFramePr/>
          <p:nvPr/>
        </p:nvGraphicFramePr>
        <p:xfrm>
          <a:off x="1042988" y="5514975"/>
          <a:ext cx="6653212" cy="842963"/>
        </p:xfrm>
        <a:graphic>
          <a:graphicData uri="http://schemas.openxmlformats.org/presentationml/2006/ole">
            <mc:AlternateContent xmlns:mc="http://schemas.openxmlformats.org/markup-compatibility/2006">
              <mc:Choice xmlns:v="urn:schemas-microsoft-com:vml" Requires="v">
                <p:oleObj spid="_x0000_s8" name="" r:id="rId9" imgW="3503930" imgH="444500" progId="Equation.DSMT4">
                  <p:embed/>
                </p:oleObj>
              </mc:Choice>
              <mc:Fallback>
                <p:oleObj name="" r:id="rId9" imgW="3503930" imgH="444500" progId="Equation.DSMT4">
                  <p:embed/>
                  <p:pic>
                    <p:nvPicPr>
                      <p:cNvPr id="0" name="图片 3407"/>
                      <p:cNvPicPr/>
                      <p:nvPr/>
                    </p:nvPicPr>
                    <p:blipFill>
                      <a:blip r:embed="rId10"/>
                      <a:stretch>
                        <a:fillRect/>
                      </a:stretch>
                    </p:blipFill>
                    <p:spPr>
                      <a:xfrm>
                        <a:off x="1042988" y="5514975"/>
                        <a:ext cx="6653212" cy="842963"/>
                      </a:xfrm>
                      <a:prstGeom prst="rect">
                        <a:avLst/>
                      </a:prstGeom>
                      <a:solidFill>
                        <a:schemeClr val="accent1">
                          <a:lumMod val="20000"/>
                          <a:lumOff val="80000"/>
                        </a:schemeClr>
                      </a:solidFill>
                      <a:ln w="38100">
                        <a:noFill/>
                        <a:miter/>
                      </a:ln>
                    </p:spPr>
                  </p:pic>
                </p:oleObj>
              </mc:Fallback>
            </mc:AlternateContent>
          </a:graphicData>
        </a:graphic>
      </p:graphicFrame>
      <p:grpSp>
        <p:nvGrpSpPr>
          <p:cNvPr id="9" name="Group 19"/>
          <p:cNvGrpSpPr/>
          <p:nvPr/>
        </p:nvGrpSpPr>
        <p:grpSpPr>
          <a:xfrm>
            <a:off x="1784668" y="405766"/>
            <a:ext cx="5334000" cy="519113"/>
            <a:chOff x="1306" y="452"/>
            <a:chExt cx="3360" cy="327"/>
          </a:xfrm>
        </p:grpSpPr>
        <p:sp>
          <p:nvSpPr>
            <p:cNvPr id="10" name="Rectangle 20"/>
            <p:cNvSpPr/>
            <p:nvPr/>
          </p:nvSpPr>
          <p:spPr>
            <a:xfrm>
              <a:off x="1306" y="45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2.4  </a:t>
              </a:r>
              <a:r>
                <a:rPr lang="zh-CN" altLang="en-US" sz="2800" b="1" dirty="0">
                  <a:solidFill>
                    <a:schemeClr val="accent2"/>
                  </a:solidFill>
                  <a:latin typeface="Times New Roman" panose="02020603050405020304" pitchFamily="18" charset="0"/>
                </a:rPr>
                <a:t>噪声系数</a:t>
              </a:r>
              <a:endParaRPr lang="zh-CN" altLang="en-US" sz="2800" b="1" dirty="0">
                <a:solidFill>
                  <a:schemeClr val="accent2"/>
                </a:solidFill>
                <a:latin typeface="Times New Roman" panose="02020603050405020304" pitchFamily="18" charset="0"/>
              </a:endParaRPr>
            </a:p>
          </p:txBody>
        </p:sp>
        <p:sp>
          <p:nvSpPr>
            <p:cNvPr id="11" name="Line 21"/>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4" name="Text Box 4"/>
          <p:cNvSpPr txBox="1"/>
          <p:nvPr/>
        </p:nvSpPr>
        <p:spPr>
          <a:xfrm>
            <a:off x="395288" y="2708275"/>
            <a:ext cx="7620000" cy="2968625"/>
          </a:xfrm>
          <a:prstGeom prst="rect">
            <a:avLst/>
          </a:prstGeom>
          <a:noFill/>
          <a:ln w="9525">
            <a:noFill/>
          </a:ln>
        </p:spPr>
        <p:txBody>
          <a:bodyPr>
            <a:spAutoFit/>
          </a:bodyPr>
          <a:lstStyle/>
          <a:p>
            <a:pPr algn="just">
              <a:lnSpc>
                <a:spcPct val="130000"/>
              </a:lnSpc>
              <a:spcBef>
                <a:spcPct val="50000"/>
              </a:spcBef>
            </a:pPr>
            <a:r>
              <a:rPr lang="zh-CN" altLang="en-US" dirty="0">
                <a:solidFill>
                  <a:schemeClr val="accent2"/>
                </a:solidFill>
                <a:latin typeface="Times New Roman" panose="02020603050405020304" pitchFamily="18" charset="0"/>
              </a:rPr>
              <a:t>结论：</a:t>
            </a:r>
            <a:r>
              <a:rPr lang="zh-CN" altLang="en-US" dirty="0">
                <a:latin typeface="Times New Roman" panose="02020603050405020304" pitchFamily="18" charset="0"/>
              </a:rPr>
              <a:t>从上式可以看出</a:t>
            </a:r>
            <a:r>
              <a:rPr lang="en-US" altLang="zh-CN" dirty="0">
                <a:latin typeface="Times New Roman" panose="02020603050405020304" pitchFamily="18" charset="0"/>
              </a:rPr>
              <a:t>, </a:t>
            </a:r>
            <a:r>
              <a:rPr lang="zh-CN" altLang="en-US" dirty="0">
                <a:latin typeface="Times New Roman" panose="02020603050405020304" pitchFamily="18" charset="0"/>
              </a:rPr>
              <a:t>当网络的额定功率增益远大于</a:t>
            </a:r>
            <a:r>
              <a:rPr lang="en-US" altLang="zh-CN" dirty="0">
                <a:latin typeface="Times New Roman" panose="02020603050405020304" pitchFamily="18" charset="0"/>
              </a:rPr>
              <a:t>1</a:t>
            </a:r>
            <a:r>
              <a:rPr lang="zh-CN" altLang="en-US" dirty="0">
                <a:latin typeface="Times New Roman" panose="02020603050405020304" pitchFamily="18" charset="0"/>
              </a:rPr>
              <a:t>时</a:t>
            </a:r>
            <a:r>
              <a:rPr lang="en-US" altLang="zh-CN" dirty="0">
                <a:latin typeface="Times New Roman" panose="02020603050405020304" pitchFamily="18" charset="0"/>
              </a:rPr>
              <a:t>, </a:t>
            </a:r>
            <a:r>
              <a:rPr lang="zh-CN" altLang="en-US" b="1" dirty="0">
                <a:solidFill>
                  <a:srgbClr val="FF0000"/>
                </a:solidFill>
                <a:latin typeface="Times New Roman" panose="02020603050405020304" pitchFamily="18" charset="0"/>
              </a:rPr>
              <a:t>系统的总噪声系数主要取决于第一级的噪声系数</a:t>
            </a:r>
            <a:r>
              <a:rPr lang="zh-CN" altLang="en-US" dirty="0">
                <a:latin typeface="Times New Roman" panose="02020603050405020304" pitchFamily="18" charset="0"/>
              </a:rPr>
              <a:t>。 越是后面的网络</a:t>
            </a:r>
            <a:r>
              <a:rPr lang="en-US" altLang="zh-CN" dirty="0">
                <a:latin typeface="Times New Roman" panose="02020603050405020304" pitchFamily="18" charset="0"/>
              </a:rPr>
              <a:t>, </a:t>
            </a:r>
            <a:r>
              <a:rPr lang="zh-CN" altLang="en-US" dirty="0">
                <a:latin typeface="Times New Roman" panose="02020603050405020304" pitchFamily="18" charset="0"/>
              </a:rPr>
              <a:t>对噪声系数的影响就越小</a:t>
            </a:r>
            <a:r>
              <a:rPr lang="en-US" altLang="zh-CN" dirty="0">
                <a:latin typeface="Times New Roman" panose="02020603050405020304" pitchFamily="18" charset="0"/>
              </a:rPr>
              <a:t>, </a:t>
            </a:r>
            <a:r>
              <a:rPr lang="zh-CN" altLang="en-US" dirty="0">
                <a:latin typeface="Times New Roman" panose="02020603050405020304" pitchFamily="18" charset="0"/>
              </a:rPr>
              <a:t>这是因为越到后级信号的功率越大</a:t>
            </a:r>
            <a:r>
              <a:rPr lang="en-US" altLang="zh-CN" dirty="0">
                <a:latin typeface="Times New Roman" panose="02020603050405020304" pitchFamily="18" charset="0"/>
              </a:rPr>
              <a:t>, </a:t>
            </a:r>
            <a:r>
              <a:rPr lang="zh-CN" altLang="en-US" dirty="0">
                <a:latin typeface="Times New Roman" panose="02020603050405020304" pitchFamily="18" charset="0"/>
              </a:rPr>
              <a:t>后面网络内部噪声对信噪比的影响就不大了。 因此</a:t>
            </a:r>
            <a:r>
              <a:rPr lang="en-US" altLang="zh-CN" dirty="0">
                <a:latin typeface="Times New Roman" panose="02020603050405020304" pitchFamily="18" charset="0"/>
              </a:rPr>
              <a:t>, </a:t>
            </a:r>
            <a:r>
              <a:rPr lang="zh-CN" altLang="en-US" dirty="0">
                <a:latin typeface="Times New Roman" panose="02020603050405020304" pitchFamily="18" charset="0"/>
              </a:rPr>
              <a:t>对第一级来说</a:t>
            </a:r>
            <a:r>
              <a:rPr lang="en-US" altLang="zh-CN" dirty="0">
                <a:latin typeface="Times New Roman" panose="02020603050405020304" pitchFamily="18" charset="0"/>
              </a:rPr>
              <a:t>, </a:t>
            </a:r>
            <a:r>
              <a:rPr lang="zh-CN" altLang="en-US" dirty="0">
                <a:latin typeface="Times New Roman" panose="02020603050405020304" pitchFamily="18" charset="0"/>
              </a:rPr>
              <a:t>不但希望噪声系数小</a:t>
            </a:r>
            <a:r>
              <a:rPr lang="en-US" altLang="zh-CN" dirty="0">
                <a:latin typeface="Times New Roman" panose="02020603050405020304" pitchFamily="18" charset="0"/>
              </a:rPr>
              <a:t>, </a:t>
            </a:r>
            <a:r>
              <a:rPr lang="zh-CN" altLang="en-US" dirty="0">
                <a:latin typeface="Times New Roman" panose="02020603050405020304" pitchFamily="18" charset="0"/>
              </a:rPr>
              <a:t>也希望增益大</a:t>
            </a:r>
            <a:r>
              <a:rPr lang="en-US" altLang="zh-CN" dirty="0">
                <a:latin typeface="Times New Roman" panose="02020603050405020304" pitchFamily="18" charset="0"/>
              </a:rPr>
              <a:t>, </a:t>
            </a:r>
            <a:r>
              <a:rPr lang="zh-CN" altLang="en-US" dirty="0">
                <a:latin typeface="Times New Roman" panose="02020603050405020304" pitchFamily="18" charset="0"/>
              </a:rPr>
              <a:t>以便减小后级噪声的影响。 </a:t>
            </a:r>
            <a:endParaRPr lang="zh-CN" altLang="en-US" dirty="0">
              <a:latin typeface="Times New Roman" panose="02020603050405020304" pitchFamily="18" charset="0"/>
            </a:endParaRPr>
          </a:p>
        </p:txBody>
      </p:sp>
      <p:graphicFrame>
        <p:nvGraphicFramePr>
          <p:cNvPr id="68610" name="Object 6"/>
          <p:cNvGraphicFramePr/>
          <p:nvPr/>
        </p:nvGraphicFramePr>
        <p:xfrm>
          <a:off x="827088" y="1773238"/>
          <a:ext cx="6338887" cy="819150"/>
        </p:xfrm>
        <a:graphic>
          <a:graphicData uri="http://schemas.openxmlformats.org/presentationml/2006/ole">
            <mc:AlternateContent xmlns:mc="http://schemas.openxmlformats.org/markup-compatibility/2006">
              <mc:Choice xmlns:v="urn:schemas-microsoft-com:vml" Requires="v">
                <p:oleObj spid="_x0000_s2" name="" r:id="rId1" imgW="3338830" imgH="431800" progId="Equation.DSMT4">
                  <p:embed/>
                </p:oleObj>
              </mc:Choice>
              <mc:Fallback>
                <p:oleObj name="" r:id="rId1" imgW="3338830" imgH="431800" progId="Equation.DSMT4">
                  <p:embed/>
                  <p:pic>
                    <p:nvPicPr>
                      <p:cNvPr id="0" name="图片 3411"/>
                      <p:cNvPicPr/>
                      <p:nvPr/>
                    </p:nvPicPr>
                    <p:blipFill>
                      <a:blip r:embed="rId2"/>
                      <a:stretch>
                        <a:fillRect/>
                      </a:stretch>
                    </p:blipFill>
                    <p:spPr>
                      <a:xfrm>
                        <a:off x="827088" y="1773238"/>
                        <a:ext cx="6338887" cy="819150"/>
                      </a:xfrm>
                      <a:prstGeom prst="rect">
                        <a:avLst/>
                      </a:prstGeom>
                      <a:noFill/>
                      <a:ln w="38100">
                        <a:noFill/>
                        <a:miter/>
                      </a:ln>
                    </p:spPr>
                  </p:pic>
                </p:oleObj>
              </mc:Fallback>
            </mc:AlternateContent>
          </a:graphicData>
        </a:graphic>
      </p:graphicFrame>
      <p:sp>
        <p:nvSpPr>
          <p:cNvPr id="68612" name="Text Box 8"/>
          <p:cNvSpPr txBox="1"/>
          <p:nvPr/>
        </p:nvSpPr>
        <p:spPr>
          <a:xfrm>
            <a:off x="539750" y="930275"/>
            <a:ext cx="2927350" cy="457200"/>
          </a:xfrm>
          <a:prstGeom prst="rect">
            <a:avLst/>
          </a:prstGeom>
          <a:noFill/>
          <a:ln w="9525">
            <a:noFill/>
          </a:ln>
        </p:spPr>
        <p:txBody>
          <a:bodyPr wrap="none">
            <a:spAutoFit/>
          </a:bodyPr>
          <a:lstStyle/>
          <a:p>
            <a:r>
              <a:rPr lang="zh-CN" altLang="en-US" b="1" dirty="0">
                <a:solidFill>
                  <a:srgbClr val="FF0066"/>
                </a:solidFill>
                <a:latin typeface="Times New Roman" panose="02020603050405020304" pitchFamily="18" charset="0"/>
              </a:rPr>
              <a:t>三、噪声系数的计算</a:t>
            </a:r>
            <a:endParaRPr lang="zh-CN" altLang="en-US" b="1" dirty="0">
              <a:solidFill>
                <a:srgbClr val="FF0066"/>
              </a:solidFill>
              <a:latin typeface="Times New Roman" panose="02020603050405020304" pitchFamily="18" charset="0"/>
            </a:endParaRPr>
          </a:p>
        </p:txBody>
      </p:sp>
      <p:sp>
        <p:nvSpPr>
          <p:cNvPr id="68613" name="Text Box 9"/>
          <p:cNvSpPr txBox="1"/>
          <p:nvPr/>
        </p:nvSpPr>
        <p:spPr>
          <a:xfrm>
            <a:off x="684213" y="1412875"/>
            <a:ext cx="2724150" cy="396875"/>
          </a:xfrm>
          <a:prstGeom prst="rect">
            <a:avLst/>
          </a:prstGeom>
          <a:noFill/>
          <a:ln w="9525">
            <a:noFill/>
          </a:ln>
        </p:spPr>
        <p:txBody>
          <a:bodyPr wrap="none">
            <a:spAutoFit/>
          </a:bodyPr>
          <a:lstStyle/>
          <a:p>
            <a:r>
              <a:rPr lang="en-US" altLang="zh-CN" sz="2000" dirty="0">
                <a:solidFill>
                  <a:schemeClr val="accent2"/>
                </a:solidFill>
                <a:latin typeface="Times New Roman" panose="02020603050405020304" pitchFamily="18" charset="0"/>
              </a:rPr>
              <a:t>2. </a:t>
            </a:r>
            <a:r>
              <a:rPr lang="zh-CN" altLang="en-US" sz="2000" dirty="0">
                <a:solidFill>
                  <a:schemeClr val="accent2"/>
                </a:solidFill>
                <a:latin typeface="Times New Roman" panose="02020603050405020304" pitchFamily="18" charset="0"/>
              </a:rPr>
              <a:t>级联网络的噪声系数</a:t>
            </a:r>
            <a:endParaRPr lang="zh-CN" altLang="en-US" sz="2000" dirty="0">
              <a:solidFill>
                <a:schemeClr val="accent2"/>
              </a:solidFill>
              <a:latin typeface="Times New Roman" panose="02020603050405020304" pitchFamily="18" charset="0"/>
            </a:endParaRPr>
          </a:p>
        </p:txBody>
      </p:sp>
      <p:grpSp>
        <p:nvGrpSpPr>
          <p:cNvPr id="3" name="Group 19"/>
          <p:cNvGrpSpPr/>
          <p:nvPr/>
        </p:nvGrpSpPr>
        <p:grpSpPr>
          <a:xfrm>
            <a:off x="1784668" y="405766"/>
            <a:ext cx="5334000" cy="519113"/>
            <a:chOff x="1306" y="452"/>
            <a:chExt cx="3360" cy="327"/>
          </a:xfrm>
        </p:grpSpPr>
        <p:sp>
          <p:nvSpPr>
            <p:cNvPr id="4" name="Rectangle 20"/>
            <p:cNvSpPr/>
            <p:nvPr/>
          </p:nvSpPr>
          <p:spPr>
            <a:xfrm>
              <a:off x="1306" y="45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2.4  </a:t>
              </a:r>
              <a:r>
                <a:rPr lang="zh-CN" altLang="en-US" sz="2800" b="1" dirty="0">
                  <a:solidFill>
                    <a:schemeClr val="accent2"/>
                  </a:solidFill>
                  <a:latin typeface="Times New Roman" panose="02020603050405020304" pitchFamily="18" charset="0"/>
                </a:rPr>
                <a:t>噪声系数</a:t>
              </a:r>
              <a:endParaRPr lang="zh-CN" altLang="en-US" sz="2800" b="1" dirty="0">
                <a:solidFill>
                  <a:schemeClr val="accent2"/>
                </a:solidFill>
                <a:latin typeface="Times New Roman" panose="02020603050405020304" pitchFamily="18" charset="0"/>
              </a:endParaRPr>
            </a:p>
          </p:txBody>
        </p:sp>
        <p:sp>
          <p:nvSpPr>
            <p:cNvPr id="5" name="Line 21"/>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7" name="Text Box 4"/>
          <p:cNvSpPr txBox="1"/>
          <p:nvPr/>
        </p:nvSpPr>
        <p:spPr>
          <a:xfrm>
            <a:off x="466725" y="930275"/>
            <a:ext cx="2927350" cy="457200"/>
          </a:xfrm>
          <a:prstGeom prst="rect">
            <a:avLst/>
          </a:prstGeom>
          <a:noFill/>
          <a:ln w="9525">
            <a:noFill/>
          </a:ln>
        </p:spPr>
        <p:txBody>
          <a:bodyPr wrap="none">
            <a:spAutoFit/>
          </a:bodyPr>
          <a:lstStyle/>
          <a:p>
            <a:r>
              <a:rPr lang="zh-CN" altLang="en-US" b="1" dirty="0">
                <a:solidFill>
                  <a:srgbClr val="FF0066"/>
                </a:solidFill>
                <a:latin typeface="Times New Roman" panose="02020603050405020304" pitchFamily="18" charset="0"/>
              </a:rPr>
              <a:t>三、噪声系数的计算</a:t>
            </a:r>
            <a:endParaRPr lang="zh-CN" altLang="en-US" b="1" dirty="0">
              <a:solidFill>
                <a:srgbClr val="FF0066"/>
              </a:solidFill>
              <a:latin typeface="Times New Roman" panose="02020603050405020304" pitchFamily="18" charset="0"/>
            </a:endParaRPr>
          </a:p>
        </p:txBody>
      </p:sp>
      <p:sp>
        <p:nvSpPr>
          <p:cNvPr id="69638" name="Text Box 5"/>
          <p:cNvSpPr txBox="1"/>
          <p:nvPr/>
        </p:nvSpPr>
        <p:spPr>
          <a:xfrm>
            <a:off x="611188" y="1412875"/>
            <a:ext cx="2724150" cy="396875"/>
          </a:xfrm>
          <a:prstGeom prst="rect">
            <a:avLst/>
          </a:prstGeom>
          <a:noFill/>
          <a:ln w="9525">
            <a:noFill/>
          </a:ln>
        </p:spPr>
        <p:txBody>
          <a:bodyPr wrap="none">
            <a:spAutoFit/>
          </a:bodyPr>
          <a:lstStyle/>
          <a:p>
            <a:r>
              <a:rPr lang="en-US" altLang="zh-CN" sz="2000" dirty="0">
                <a:solidFill>
                  <a:schemeClr val="accent2"/>
                </a:solidFill>
                <a:latin typeface="Times New Roman" panose="02020603050405020304" pitchFamily="18" charset="0"/>
              </a:rPr>
              <a:t>2. </a:t>
            </a:r>
            <a:r>
              <a:rPr lang="zh-CN" altLang="en-US" sz="2000" dirty="0">
                <a:solidFill>
                  <a:schemeClr val="accent2"/>
                </a:solidFill>
                <a:latin typeface="Times New Roman" panose="02020603050405020304" pitchFamily="18" charset="0"/>
              </a:rPr>
              <a:t>级联网络的噪声系数</a:t>
            </a:r>
            <a:endParaRPr lang="zh-CN" altLang="en-US" sz="2000" dirty="0">
              <a:solidFill>
                <a:schemeClr val="accent2"/>
              </a:solidFill>
              <a:latin typeface="Times New Roman" panose="02020603050405020304" pitchFamily="18" charset="0"/>
            </a:endParaRPr>
          </a:p>
        </p:txBody>
      </p:sp>
      <p:sp>
        <p:nvSpPr>
          <p:cNvPr id="69640" name="Rectangle 9"/>
          <p:cNvSpPr/>
          <p:nvPr/>
        </p:nvSpPr>
        <p:spPr>
          <a:xfrm>
            <a:off x="395288" y="1773238"/>
            <a:ext cx="8280400" cy="1066800"/>
          </a:xfrm>
          <a:prstGeom prst="rect">
            <a:avLst/>
          </a:prstGeom>
          <a:noFill/>
          <a:ln w="9525">
            <a:noFill/>
          </a:ln>
        </p:spPr>
        <p:txBody>
          <a:bodyPr>
            <a:spAutoFit/>
          </a:bodyPr>
          <a:lstStyle/>
          <a:p>
            <a:r>
              <a:rPr lang="en-US" altLang="zh-CN" dirty="0">
                <a:latin typeface="Times New Roman" panose="02020603050405020304" pitchFamily="18" charset="0"/>
              </a:rPr>
              <a:t> </a:t>
            </a:r>
            <a:r>
              <a:rPr lang="zh-CN" altLang="en-US" sz="2000" b="1" dirty="0">
                <a:latin typeface="Times New Roman" panose="02020603050405020304" pitchFamily="18" charset="0"/>
              </a:rPr>
              <a:t>例  </a:t>
            </a:r>
            <a:r>
              <a:rPr lang="zh-CN" altLang="en-US" sz="2000" dirty="0">
                <a:latin typeface="Times New Roman" panose="02020603050405020304" pitchFamily="18" charset="0"/>
              </a:rPr>
              <a:t> 下图 是一接收机的前端电路</a:t>
            </a:r>
            <a:r>
              <a:rPr lang="en-US" altLang="zh-CN" sz="2000" dirty="0">
                <a:latin typeface="Times New Roman" panose="02020603050405020304" pitchFamily="18" charset="0"/>
              </a:rPr>
              <a:t>, </a:t>
            </a:r>
            <a:r>
              <a:rPr lang="zh-CN" altLang="en-US" sz="2000" dirty="0">
                <a:latin typeface="Times New Roman" panose="02020603050405020304" pitchFamily="18" charset="0"/>
              </a:rPr>
              <a:t>高频放大器和场效应管混频器的噪声系数和功率增益如图所示。 试求前端电路的噪声系数</a:t>
            </a:r>
            <a:r>
              <a:rPr lang="en-US" altLang="zh-CN" sz="2000" dirty="0">
                <a:latin typeface="Times New Roman" panose="02020603050405020304" pitchFamily="18" charset="0"/>
              </a:rPr>
              <a:t>(</a:t>
            </a:r>
            <a:r>
              <a:rPr lang="zh-CN" altLang="en-US" sz="2000" dirty="0">
                <a:latin typeface="Times New Roman" panose="02020603050405020304" pitchFamily="18" charset="0"/>
              </a:rPr>
              <a:t>设本振产生的噪声忽略不计</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p:txBody>
      </p:sp>
      <p:graphicFrame>
        <p:nvGraphicFramePr>
          <p:cNvPr id="69634" name="Object 10"/>
          <p:cNvGraphicFramePr/>
          <p:nvPr/>
        </p:nvGraphicFramePr>
        <p:xfrm>
          <a:off x="3886200" y="2492375"/>
          <a:ext cx="5257800" cy="2698750"/>
        </p:xfrm>
        <a:graphic>
          <a:graphicData uri="http://schemas.openxmlformats.org/presentationml/2006/ole">
            <mc:AlternateContent xmlns:mc="http://schemas.openxmlformats.org/markup-compatibility/2006">
              <mc:Choice xmlns:v="urn:schemas-microsoft-com:vml" Requires="v">
                <p:oleObj spid="_x0000_s2" name="" r:id="rId1" imgW="2887980" imgH="1481455" progId="Visio.Drawing.4">
                  <p:embed/>
                </p:oleObj>
              </mc:Choice>
              <mc:Fallback>
                <p:oleObj name="" r:id="rId1" imgW="2887980" imgH="1481455" progId="Visio.Drawing.4">
                  <p:embed/>
                  <p:pic>
                    <p:nvPicPr>
                      <p:cNvPr id="0" name="图片 3076"/>
                      <p:cNvPicPr/>
                      <p:nvPr/>
                    </p:nvPicPr>
                    <p:blipFill>
                      <a:blip r:embed="rId2"/>
                      <a:stretch>
                        <a:fillRect/>
                      </a:stretch>
                    </p:blipFill>
                    <p:spPr>
                      <a:xfrm>
                        <a:off x="3886200" y="2492375"/>
                        <a:ext cx="5257800" cy="2698750"/>
                      </a:xfrm>
                      <a:prstGeom prst="rect">
                        <a:avLst/>
                      </a:prstGeom>
                      <a:noFill/>
                      <a:ln w="38100">
                        <a:noFill/>
                        <a:miter/>
                      </a:ln>
                    </p:spPr>
                  </p:pic>
                </p:oleObj>
              </mc:Fallback>
            </mc:AlternateContent>
          </a:graphicData>
        </a:graphic>
      </p:graphicFrame>
      <p:sp>
        <p:nvSpPr>
          <p:cNvPr id="419851" name="Rectangle 11"/>
          <p:cNvSpPr/>
          <p:nvPr/>
        </p:nvSpPr>
        <p:spPr>
          <a:xfrm>
            <a:off x="323850" y="2852738"/>
            <a:ext cx="3313113" cy="885825"/>
          </a:xfrm>
          <a:prstGeom prst="rect">
            <a:avLst/>
          </a:prstGeom>
          <a:noFill/>
          <a:ln w="9525">
            <a:noFill/>
          </a:ln>
        </p:spPr>
        <p:txBody>
          <a:bodyPr>
            <a:spAutoFit/>
          </a:bodyPr>
          <a:lstStyle/>
          <a:p>
            <a:pPr>
              <a:lnSpc>
                <a:spcPct val="130000"/>
              </a:lnSpc>
              <a:spcBef>
                <a:spcPct val="20000"/>
              </a:spcBef>
            </a:pPr>
            <a:r>
              <a:rPr lang="en-US" altLang="zh-CN" sz="2000" dirty="0">
                <a:latin typeface="Times New Roman" panose="02020603050405020304" pitchFamily="18" charset="0"/>
              </a:rPr>
              <a:t> </a:t>
            </a:r>
            <a:r>
              <a:rPr lang="zh-CN" altLang="en-US" sz="2000" b="1" dirty="0">
                <a:latin typeface="Times New Roman" panose="02020603050405020304" pitchFamily="18" charset="0"/>
              </a:rPr>
              <a:t>解</a:t>
            </a:r>
            <a:r>
              <a:rPr lang="zh-CN" altLang="en-US" sz="2000" dirty="0">
                <a:latin typeface="Times New Roman" panose="02020603050405020304" pitchFamily="18" charset="0"/>
              </a:rPr>
              <a:t>   将图中的噪声系数和增益化为倍数</a:t>
            </a:r>
            <a:r>
              <a:rPr lang="en-US" altLang="zh-CN" sz="2000" dirty="0">
                <a:latin typeface="Times New Roman" panose="02020603050405020304" pitchFamily="18" charset="0"/>
              </a:rPr>
              <a:t>, </a:t>
            </a:r>
            <a:r>
              <a:rPr lang="zh-CN" altLang="en-US" sz="2000" dirty="0">
                <a:latin typeface="Times New Roman" panose="02020603050405020304" pitchFamily="18" charset="0"/>
              </a:rPr>
              <a:t>有</a:t>
            </a:r>
            <a:endParaRPr lang="zh-CN" altLang="en-US" sz="2000" dirty="0">
              <a:latin typeface="Times New Roman" panose="02020603050405020304" pitchFamily="18" charset="0"/>
            </a:endParaRPr>
          </a:p>
        </p:txBody>
      </p:sp>
      <p:graphicFrame>
        <p:nvGraphicFramePr>
          <p:cNvPr id="419852" name="Object 12"/>
          <p:cNvGraphicFramePr/>
          <p:nvPr/>
        </p:nvGraphicFramePr>
        <p:xfrm>
          <a:off x="427038" y="4111625"/>
          <a:ext cx="4257675" cy="889000"/>
        </p:xfrm>
        <a:graphic>
          <a:graphicData uri="http://schemas.openxmlformats.org/presentationml/2006/ole">
            <mc:AlternateContent xmlns:mc="http://schemas.openxmlformats.org/markup-compatibility/2006">
              <mc:Choice xmlns:v="urn:schemas-microsoft-com:vml" Requires="v">
                <p:oleObj spid="_x0000_s3" name="" r:id="rId3" imgW="2551430" imgH="533400" progId="Equation.DSMT4">
                  <p:embed/>
                </p:oleObj>
              </mc:Choice>
              <mc:Fallback>
                <p:oleObj name="" r:id="rId3" imgW="2551430" imgH="533400" progId="Equation.DSMT4">
                  <p:embed/>
                  <p:pic>
                    <p:nvPicPr>
                      <p:cNvPr id="0" name="图片 3080"/>
                      <p:cNvPicPr/>
                      <p:nvPr/>
                    </p:nvPicPr>
                    <p:blipFill>
                      <a:blip r:embed="rId4"/>
                      <a:stretch>
                        <a:fillRect/>
                      </a:stretch>
                    </p:blipFill>
                    <p:spPr>
                      <a:xfrm>
                        <a:off x="427038" y="4111625"/>
                        <a:ext cx="4257675" cy="889000"/>
                      </a:xfrm>
                      <a:prstGeom prst="rect">
                        <a:avLst/>
                      </a:prstGeom>
                      <a:noFill/>
                      <a:ln w="38100">
                        <a:noFill/>
                        <a:miter/>
                      </a:ln>
                    </p:spPr>
                  </p:pic>
                </p:oleObj>
              </mc:Fallback>
            </mc:AlternateContent>
          </a:graphicData>
        </a:graphic>
      </p:graphicFrame>
      <p:sp>
        <p:nvSpPr>
          <p:cNvPr id="419853" name="Text Box 13"/>
          <p:cNvSpPr txBox="1"/>
          <p:nvPr/>
        </p:nvSpPr>
        <p:spPr>
          <a:xfrm>
            <a:off x="179388" y="5084763"/>
            <a:ext cx="4033837" cy="457200"/>
          </a:xfrm>
          <a:prstGeom prst="rect">
            <a:avLst/>
          </a:prstGeom>
          <a:noFill/>
          <a:ln w="9525">
            <a:noFill/>
          </a:ln>
        </p:spPr>
        <p:txBody>
          <a:bodyPr>
            <a:spAutoFit/>
          </a:bodyPr>
          <a:lstStyle/>
          <a:p>
            <a:pPr>
              <a:spcBef>
                <a:spcPct val="50000"/>
              </a:spcBef>
            </a:pPr>
            <a:r>
              <a:rPr lang="zh-CN" altLang="en-US" sz="2000" dirty="0">
                <a:latin typeface="Times New Roman" panose="02020603050405020304" pitchFamily="18" charset="0"/>
              </a:rPr>
              <a:t>因此</a:t>
            </a:r>
            <a:r>
              <a:rPr lang="en-US" altLang="zh-CN" sz="2000" dirty="0">
                <a:latin typeface="Times New Roman" panose="02020603050405020304" pitchFamily="18" charset="0"/>
              </a:rPr>
              <a:t>, </a:t>
            </a:r>
            <a:r>
              <a:rPr lang="zh-CN" altLang="en-US" sz="2000" dirty="0">
                <a:latin typeface="Times New Roman" panose="02020603050405020304" pitchFamily="18" charset="0"/>
              </a:rPr>
              <a:t>前端电路的噪声系数为</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graphicFrame>
        <p:nvGraphicFramePr>
          <p:cNvPr id="419854" name="Object 14"/>
          <p:cNvGraphicFramePr/>
          <p:nvPr/>
        </p:nvGraphicFramePr>
        <p:xfrm>
          <a:off x="1042988" y="5661025"/>
          <a:ext cx="5638800" cy="879475"/>
        </p:xfrm>
        <a:graphic>
          <a:graphicData uri="http://schemas.openxmlformats.org/presentationml/2006/ole">
            <mc:AlternateContent xmlns:mc="http://schemas.openxmlformats.org/markup-compatibility/2006">
              <mc:Choice xmlns:v="urn:schemas-microsoft-com:vml" Requires="v">
                <p:oleObj spid="_x0000_s4" name="" r:id="rId5" imgW="2767330" imgH="431800" progId="Equation.DSMT4">
                  <p:embed/>
                </p:oleObj>
              </mc:Choice>
              <mc:Fallback>
                <p:oleObj name="" r:id="rId5" imgW="2767330" imgH="431800" progId="Equation.DSMT4">
                  <p:embed/>
                  <p:pic>
                    <p:nvPicPr>
                      <p:cNvPr id="0" name="图片 3077"/>
                      <p:cNvPicPr/>
                      <p:nvPr/>
                    </p:nvPicPr>
                    <p:blipFill>
                      <a:blip r:embed="rId6"/>
                      <a:stretch>
                        <a:fillRect/>
                      </a:stretch>
                    </p:blipFill>
                    <p:spPr>
                      <a:xfrm>
                        <a:off x="1042988" y="5661025"/>
                        <a:ext cx="5638800" cy="879475"/>
                      </a:xfrm>
                      <a:prstGeom prst="rect">
                        <a:avLst/>
                      </a:prstGeom>
                      <a:noFill/>
                      <a:ln w="38100">
                        <a:noFill/>
                        <a:miter/>
                      </a:ln>
                    </p:spPr>
                  </p:pic>
                </p:oleObj>
              </mc:Fallback>
            </mc:AlternateContent>
          </a:graphicData>
        </a:graphic>
      </p:graphicFrame>
      <p:grpSp>
        <p:nvGrpSpPr>
          <p:cNvPr id="5" name="Group 19"/>
          <p:cNvGrpSpPr/>
          <p:nvPr/>
        </p:nvGrpSpPr>
        <p:grpSpPr>
          <a:xfrm>
            <a:off x="1784668" y="405766"/>
            <a:ext cx="5334000" cy="519113"/>
            <a:chOff x="1306" y="452"/>
            <a:chExt cx="3360" cy="327"/>
          </a:xfrm>
        </p:grpSpPr>
        <p:sp>
          <p:nvSpPr>
            <p:cNvPr id="6" name="Rectangle 20"/>
            <p:cNvSpPr/>
            <p:nvPr/>
          </p:nvSpPr>
          <p:spPr>
            <a:xfrm>
              <a:off x="1306" y="45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2.4  </a:t>
              </a:r>
              <a:r>
                <a:rPr lang="zh-CN" altLang="en-US" sz="2800" b="1" dirty="0">
                  <a:solidFill>
                    <a:schemeClr val="accent2"/>
                  </a:solidFill>
                  <a:latin typeface="Times New Roman" panose="02020603050405020304" pitchFamily="18" charset="0"/>
                </a:rPr>
                <a:t>噪声系数</a:t>
              </a:r>
              <a:endParaRPr lang="zh-CN" altLang="en-US" sz="2800" b="1" dirty="0">
                <a:solidFill>
                  <a:schemeClr val="accent2"/>
                </a:solidFill>
                <a:latin typeface="Times New Roman" panose="02020603050405020304" pitchFamily="18" charset="0"/>
              </a:endParaRPr>
            </a:p>
          </p:txBody>
        </p:sp>
        <p:sp>
          <p:nvSpPr>
            <p:cNvPr id="7" name="Line 21"/>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4"/>
          <p:cNvSpPr txBox="1"/>
          <p:nvPr/>
        </p:nvSpPr>
        <p:spPr>
          <a:xfrm>
            <a:off x="466725" y="930275"/>
            <a:ext cx="2927350" cy="457200"/>
          </a:xfrm>
          <a:prstGeom prst="rect">
            <a:avLst/>
          </a:prstGeom>
          <a:noFill/>
          <a:ln w="9525">
            <a:noFill/>
          </a:ln>
        </p:spPr>
        <p:txBody>
          <a:bodyPr wrap="none">
            <a:spAutoFit/>
          </a:bodyPr>
          <a:lstStyle/>
          <a:p>
            <a:r>
              <a:rPr lang="zh-CN" altLang="en-US" b="1" dirty="0">
                <a:solidFill>
                  <a:srgbClr val="FF0066"/>
                </a:solidFill>
                <a:latin typeface="Times New Roman" panose="02020603050405020304" pitchFamily="18" charset="0"/>
              </a:rPr>
              <a:t>三、噪声系数的计算</a:t>
            </a:r>
            <a:endParaRPr lang="zh-CN" altLang="en-US" b="1" dirty="0">
              <a:solidFill>
                <a:srgbClr val="FF0066"/>
              </a:solidFill>
              <a:latin typeface="Times New Roman" panose="02020603050405020304" pitchFamily="18" charset="0"/>
            </a:endParaRPr>
          </a:p>
        </p:txBody>
      </p:sp>
      <p:sp>
        <p:nvSpPr>
          <p:cNvPr id="86019" name="Text Box 5"/>
          <p:cNvSpPr txBox="1"/>
          <p:nvPr/>
        </p:nvSpPr>
        <p:spPr>
          <a:xfrm>
            <a:off x="611188" y="1363663"/>
            <a:ext cx="3255010" cy="521970"/>
          </a:xfrm>
          <a:prstGeom prst="rect">
            <a:avLst/>
          </a:prstGeom>
          <a:noFill/>
          <a:ln w="9525">
            <a:noFill/>
          </a:ln>
        </p:spPr>
        <p:txBody>
          <a:bodyPr wrap="none">
            <a:spAutoFit/>
          </a:bodyPr>
          <a:lstStyle/>
          <a:p>
            <a:r>
              <a:rPr lang="en-US" altLang="zh-CN" sz="2800" dirty="0">
                <a:latin typeface="Times New Roman" panose="02020603050405020304" pitchFamily="18" charset="0"/>
              </a:rPr>
              <a:t> </a:t>
            </a:r>
            <a:r>
              <a:rPr lang="en-US" altLang="zh-CN" b="1" dirty="0">
                <a:solidFill>
                  <a:schemeClr val="accent2"/>
                </a:solidFill>
                <a:latin typeface="Times New Roman" panose="02020603050405020304" pitchFamily="18" charset="0"/>
              </a:rPr>
              <a:t>3</a:t>
            </a:r>
            <a:r>
              <a:rPr lang="zh-CN" altLang="en-US" b="1" dirty="0">
                <a:solidFill>
                  <a:schemeClr val="accent2"/>
                </a:solidFill>
                <a:latin typeface="Times New Roman" panose="02020603050405020304" pitchFamily="18" charset="0"/>
              </a:rPr>
              <a:t>． 噪声系数与灵敏度</a:t>
            </a:r>
            <a:endParaRPr lang="zh-CN" altLang="en-US" b="1" dirty="0">
              <a:solidFill>
                <a:schemeClr val="accent2"/>
              </a:solidFill>
              <a:latin typeface="Times New Roman" panose="02020603050405020304" pitchFamily="18" charset="0"/>
            </a:endParaRPr>
          </a:p>
        </p:txBody>
      </p:sp>
      <p:sp>
        <p:nvSpPr>
          <p:cNvPr id="420873" name="Rectangle 9"/>
          <p:cNvSpPr/>
          <p:nvPr/>
        </p:nvSpPr>
        <p:spPr>
          <a:xfrm>
            <a:off x="395288" y="1844675"/>
            <a:ext cx="7848600" cy="2335530"/>
          </a:xfrm>
          <a:prstGeom prst="rect">
            <a:avLst/>
          </a:prstGeom>
          <a:noFill/>
          <a:ln w="9525">
            <a:noFill/>
          </a:ln>
        </p:spPr>
        <p:txBody>
          <a:bodyPr>
            <a:spAutoFit/>
          </a:bodyPr>
          <a:lstStyle/>
          <a:p>
            <a:pPr>
              <a:lnSpc>
                <a:spcPts val="3500"/>
              </a:lnSpc>
            </a:pPr>
            <a:r>
              <a:rPr lang="en-US" altLang="zh-CN" dirty="0">
                <a:latin typeface="Times New Roman" panose="02020603050405020304" pitchFamily="18" charset="0"/>
              </a:rPr>
              <a:t>      </a:t>
            </a:r>
            <a:r>
              <a:rPr lang="zh-CN" altLang="en-US" dirty="0">
                <a:latin typeface="Times New Roman" panose="02020603050405020304" pitchFamily="18" charset="0"/>
              </a:rPr>
              <a:t>噪声系数是用来衡量部件</a:t>
            </a:r>
            <a:r>
              <a:rPr lang="en-US" altLang="zh-CN" dirty="0">
                <a:latin typeface="Times New Roman" panose="02020603050405020304" pitchFamily="18" charset="0"/>
              </a:rPr>
              <a:t>(</a:t>
            </a:r>
            <a:r>
              <a:rPr lang="zh-CN" altLang="en-US" dirty="0">
                <a:latin typeface="Times New Roman" panose="02020603050405020304" pitchFamily="18" charset="0"/>
              </a:rPr>
              <a:t>如放大器</a:t>
            </a:r>
            <a:r>
              <a:rPr lang="en-US" altLang="zh-CN" dirty="0">
                <a:latin typeface="Times New Roman" panose="02020603050405020304" pitchFamily="18" charset="0"/>
              </a:rPr>
              <a:t>)</a:t>
            </a:r>
            <a:r>
              <a:rPr lang="zh-CN" altLang="en-US" dirty="0">
                <a:latin typeface="Times New Roman" panose="02020603050405020304" pitchFamily="18" charset="0"/>
              </a:rPr>
              <a:t>和系统</a:t>
            </a:r>
            <a:r>
              <a:rPr lang="en-US" altLang="zh-CN" dirty="0">
                <a:latin typeface="Times New Roman" panose="02020603050405020304" pitchFamily="18" charset="0"/>
              </a:rPr>
              <a:t>(</a:t>
            </a:r>
            <a:r>
              <a:rPr lang="zh-CN" altLang="en-US" dirty="0">
                <a:latin typeface="Times New Roman" panose="02020603050405020304" pitchFamily="18" charset="0"/>
              </a:rPr>
              <a:t>如接收机</a:t>
            </a:r>
            <a:r>
              <a:rPr lang="en-US" altLang="zh-CN" dirty="0">
                <a:latin typeface="Times New Roman" panose="02020603050405020304" pitchFamily="18" charset="0"/>
              </a:rPr>
              <a:t>)</a:t>
            </a:r>
            <a:r>
              <a:rPr lang="zh-CN" altLang="en-US" dirty="0">
                <a:latin typeface="Times New Roman" panose="02020603050405020304" pitchFamily="18" charset="0"/>
              </a:rPr>
              <a:t>噪声性能的重要参数。</a:t>
            </a:r>
            <a:endParaRPr lang="zh-CN" altLang="en-US" dirty="0">
              <a:latin typeface="Times New Roman" panose="02020603050405020304" pitchFamily="18" charset="0"/>
            </a:endParaRPr>
          </a:p>
          <a:p>
            <a:pPr>
              <a:lnSpc>
                <a:spcPts val="3500"/>
              </a:lnSpc>
            </a:pPr>
            <a:r>
              <a:rPr lang="zh-CN" altLang="en-US" dirty="0">
                <a:latin typeface="Times New Roman" panose="02020603050405020304" pitchFamily="18" charset="0"/>
              </a:rPr>
              <a:t>     而当信号一定时，噪声性能的好坏又决定输出端的信号噪声比。同时，当要求一定的输出信噪比时，它又决定放大或接收微弱信号的能力。这种能力可用</a:t>
            </a:r>
            <a:r>
              <a:rPr lang="zh-CN" altLang="en-US" dirty="0">
                <a:solidFill>
                  <a:schemeClr val="accent2"/>
                </a:solidFill>
                <a:latin typeface="Times New Roman" panose="02020603050405020304" pitchFamily="18" charset="0"/>
              </a:rPr>
              <a:t>灵敏度</a:t>
            </a:r>
            <a:r>
              <a:rPr lang="zh-CN" altLang="en-US" dirty="0">
                <a:latin typeface="Times New Roman" panose="02020603050405020304" pitchFamily="18" charset="0"/>
              </a:rPr>
              <a:t>来衡量。</a:t>
            </a:r>
            <a:endParaRPr lang="zh-CN" altLang="en-US" dirty="0">
              <a:latin typeface="Times New Roman" panose="02020603050405020304" pitchFamily="18" charset="0"/>
            </a:endParaRPr>
          </a:p>
        </p:txBody>
      </p:sp>
      <p:sp>
        <p:nvSpPr>
          <p:cNvPr id="420874" name="Text Box 10"/>
          <p:cNvSpPr txBox="1"/>
          <p:nvPr/>
        </p:nvSpPr>
        <p:spPr>
          <a:xfrm>
            <a:off x="395288" y="4220845"/>
            <a:ext cx="7848600" cy="1050290"/>
          </a:xfrm>
          <a:prstGeom prst="rect">
            <a:avLst/>
          </a:prstGeom>
          <a:noFill/>
          <a:ln w="9525">
            <a:noFill/>
          </a:ln>
        </p:spPr>
        <p:txBody>
          <a:bodyPr>
            <a:spAutoFit/>
          </a:bodyPr>
          <a:lstStyle/>
          <a:p>
            <a:pPr>
              <a:lnSpc>
                <a:spcPct val="130000"/>
              </a:lnSpc>
              <a:spcBef>
                <a:spcPct val="20000"/>
              </a:spcBef>
            </a:pPr>
            <a:r>
              <a:rPr lang="zh-CN" altLang="en-US" dirty="0">
                <a:solidFill>
                  <a:schemeClr val="accent2"/>
                </a:solidFill>
                <a:latin typeface="Times New Roman" panose="02020603050405020304" pitchFamily="18" charset="0"/>
              </a:rPr>
              <a:t>灵敏度</a:t>
            </a:r>
            <a:r>
              <a:rPr lang="zh-CN" altLang="en-US" dirty="0">
                <a:latin typeface="Times New Roman" panose="02020603050405020304" pitchFamily="18" charset="0"/>
              </a:rPr>
              <a:t>就是保持接收机输出端信噪比一定时</a:t>
            </a:r>
            <a:r>
              <a:rPr lang="en-US" altLang="zh-CN" dirty="0">
                <a:latin typeface="Times New Roman" panose="02020603050405020304" pitchFamily="18" charset="0"/>
              </a:rPr>
              <a:t>, </a:t>
            </a:r>
            <a:r>
              <a:rPr lang="zh-CN" altLang="en-US" dirty="0">
                <a:latin typeface="Times New Roman" panose="02020603050405020304" pitchFamily="18" charset="0"/>
              </a:rPr>
              <a:t>接收机输入的</a:t>
            </a:r>
            <a:r>
              <a:rPr lang="zh-CN" altLang="en-US" dirty="0">
                <a:solidFill>
                  <a:schemeClr val="accent2"/>
                </a:solidFill>
                <a:latin typeface="Times New Roman" panose="02020603050405020304" pitchFamily="18" charset="0"/>
              </a:rPr>
              <a:t>最小信号电压或功率</a:t>
            </a:r>
            <a:r>
              <a:rPr lang="en-US" altLang="zh-CN" dirty="0">
                <a:latin typeface="Times New Roman" panose="02020603050405020304" pitchFamily="18" charset="0"/>
              </a:rPr>
              <a:t>(</a:t>
            </a:r>
            <a:r>
              <a:rPr lang="zh-CN" altLang="en-US" dirty="0">
                <a:latin typeface="Times New Roman" panose="02020603050405020304" pitchFamily="18" charset="0"/>
              </a:rPr>
              <a:t>设接收机有足够的增益</a:t>
            </a:r>
            <a:r>
              <a:rPr lang="en-US" altLang="zh-CN" dirty="0">
                <a:latin typeface="Times New Roman" panose="02020603050405020304" pitchFamily="18" charset="0"/>
              </a:rPr>
              <a:t>)</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grpSp>
        <p:nvGrpSpPr>
          <p:cNvPr id="2" name="Group 19"/>
          <p:cNvGrpSpPr/>
          <p:nvPr/>
        </p:nvGrpSpPr>
        <p:grpSpPr>
          <a:xfrm>
            <a:off x="1784668" y="405766"/>
            <a:ext cx="5334000" cy="519113"/>
            <a:chOff x="1306" y="452"/>
            <a:chExt cx="3360" cy="327"/>
          </a:xfrm>
        </p:grpSpPr>
        <p:sp>
          <p:nvSpPr>
            <p:cNvPr id="3" name="Rectangle 20"/>
            <p:cNvSpPr/>
            <p:nvPr/>
          </p:nvSpPr>
          <p:spPr>
            <a:xfrm>
              <a:off x="1306" y="45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2.4  </a:t>
              </a:r>
              <a:r>
                <a:rPr lang="zh-CN" altLang="en-US" sz="2800" b="1" dirty="0">
                  <a:solidFill>
                    <a:schemeClr val="accent2"/>
                  </a:solidFill>
                  <a:latin typeface="Times New Roman" panose="02020603050405020304" pitchFamily="18" charset="0"/>
                </a:rPr>
                <a:t>噪声系数</a:t>
              </a:r>
              <a:endParaRPr lang="zh-CN" altLang="en-US" sz="2800" b="1" dirty="0">
                <a:solidFill>
                  <a:schemeClr val="accent2"/>
                </a:solidFill>
                <a:latin typeface="Times New Roman" panose="02020603050405020304" pitchFamily="18" charset="0"/>
              </a:endParaRPr>
            </a:p>
          </p:txBody>
        </p:sp>
        <p:sp>
          <p:nvSpPr>
            <p:cNvPr id="4" name="Line 21"/>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2" name="Text Box 4"/>
          <p:cNvSpPr txBox="1"/>
          <p:nvPr/>
        </p:nvSpPr>
        <p:spPr>
          <a:xfrm>
            <a:off x="466725" y="930275"/>
            <a:ext cx="2927350" cy="457200"/>
          </a:xfrm>
          <a:prstGeom prst="rect">
            <a:avLst/>
          </a:prstGeom>
          <a:noFill/>
          <a:ln w="9525">
            <a:noFill/>
          </a:ln>
        </p:spPr>
        <p:txBody>
          <a:bodyPr wrap="none">
            <a:spAutoFit/>
          </a:bodyPr>
          <a:lstStyle/>
          <a:p>
            <a:r>
              <a:rPr lang="zh-CN" altLang="en-US" b="1" dirty="0">
                <a:solidFill>
                  <a:srgbClr val="FF0066"/>
                </a:solidFill>
                <a:latin typeface="Times New Roman" panose="02020603050405020304" pitchFamily="18" charset="0"/>
              </a:rPr>
              <a:t>三、噪声系数的计算</a:t>
            </a:r>
            <a:endParaRPr lang="zh-CN" altLang="en-US" b="1" dirty="0">
              <a:solidFill>
                <a:srgbClr val="FF0066"/>
              </a:solidFill>
              <a:latin typeface="Times New Roman" panose="02020603050405020304" pitchFamily="18" charset="0"/>
            </a:endParaRPr>
          </a:p>
        </p:txBody>
      </p:sp>
      <p:sp>
        <p:nvSpPr>
          <p:cNvPr id="70663" name="Text Box 5"/>
          <p:cNvSpPr txBox="1"/>
          <p:nvPr/>
        </p:nvSpPr>
        <p:spPr>
          <a:xfrm>
            <a:off x="611188" y="1363663"/>
            <a:ext cx="2736850" cy="457200"/>
          </a:xfrm>
          <a:prstGeom prst="rect">
            <a:avLst/>
          </a:prstGeom>
          <a:noFill/>
          <a:ln w="9525">
            <a:noFill/>
          </a:ln>
        </p:spPr>
        <p:txBody>
          <a:bodyPr wrap="none">
            <a:spAutoFit/>
          </a:bodyPr>
          <a:lstStyle/>
          <a:p>
            <a:r>
              <a:rPr lang="en-US" altLang="zh-CN" dirty="0">
                <a:latin typeface="Times New Roman" panose="02020603050405020304" pitchFamily="18" charset="0"/>
              </a:rPr>
              <a:t> </a:t>
            </a:r>
            <a:r>
              <a:rPr lang="en-US" altLang="zh-CN" sz="2000" b="1" dirty="0">
                <a:solidFill>
                  <a:schemeClr val="accent2"/>
                </a:solidFill>
                <a:latin typeface="Times New Roman" panose="02020603050405020304" pitchFamily="18" charset="0"/>
              </a:rPr>
              <a:t>3</a:t>
            </a:r>
            <a:r>
              <a:rPr lang="zh-CN" altLang="en-US" sz="2000" b="1" dirty="0">
                <a:solidFill>
                  <a:schemeClr val="accent2"/>
                </a:solidFill>
                <a:latin typeface="Times New Roman" panose="02020603050405020304" pitchFamily="18" charset="0"/>
              </a:rPr>
              <a:t>． 噪声系数与灵敏度</a:t>
            </a:r>
            <a:endParaRPr lang="zh-CN" altLang="en-US" sz="2000" b="1" dirty="0">
              <a:solidFill>
                <a:schemeClr val="accent2"/>
              </a:solidFill>
              <a:latin typeface="Times New Roman" panose="02020603050405020304" pitchFamily="18" charset="0"/>
            </a:endParaRPr>
          </a:p>
        </p:txBody>
      </p:sp>
      <p:sp>
        <p:nvSpPr>
          <p:cNvPr id="70665" name="Text Box 9"/>
          <p:cNvSpPr txBox="1"/>
          <p:nvPr/>
        </p:nvSpPr>
        <p:spPr>
          <a:xfrm>
            <a:off x="684213" y="1844675"/>
            <a:ext cx="8013700" cy="1006475"/>
          </a:xfrm>
          <a:prstGeom prst="rect">
            <a:avLst/>
          </a:prstGeom>
          <a:noFill/>
          <a:ln w="9525">
            <a:noFill/>
          </a:ln>
        </p:spPr>
        <p:txBody>
          <a:bodyPr>
            <a:spAutoFit/>
          </a:bodyPr>
          <a:lstStyle/>
          <a:p>
            <a:r>
              <a:rPr lang="zh-CN" altLang="en-US" sz="2000" dirty="0">
                <a:latin typeface="Times New Roman" panose="02020603050405020304" pitchFamily="18" charset="0"/>
              </a:rPr>
              <a:t>例：某一电视接收机，正常接收时，所需最小信号噪声功率比为</a:t>
            </a:r>
            <a:r>
              <a:rPr lang="en-US" altLang="zh-CN" sz="2000" dirty="0">
                <a:latin typeface="Times New Roman" panose="02020603050405020304" pitchFamily="18" charset="0"/>
              </a:rPr>
              <a:t>20dB</a:t>
            </a:r>
            <a:r>
              <a:rPr lang="zh-CN" altLang="en-US" sz="2000" dirty="0">
                <a:latin typeface="Times New Roman" panose="02020603050405020304" pitchFamily="18" charset="0"/>
              </a:rPr>
              <a:t>，电视机接收机带宽为</a:t>
            </a:r>
            <a:r>
              <a:rPr lang="en-US" altLang="zh-CN" sz="2000" dirty="0">
                <a:latin typeface="Times New Roman" panose="02020603050405020304" pitchFamily="18" charset="0"/>
              </a:rPr>
              <a:t>6MHz</a:t>
            </a:r>
            <a:r>
              <a:rPr lang="zh-CN" altLang="en-US" sz="2000" dirty="0">
                <a:latin typeface="Times New Roman" panose="02020603050405020304" pitchFamily="18" charset="0"/>
              </a:rPr>
              <a:t>，接收机前端电路的噪声系数为</a:t>
            </a:r>
            <a:r>
              <a:rPr lang="en-US" altLang="zh-CN" sz="2000" dirty="0">
                <a:latin typeface="Times New Roman" panose="02020603050405020304" pitchFamily="18" charset="0"/>
              </a:rPr>
              <a:t>10dB</a:t>
            </a:r>
            <a:r>
              <a:rPr lang="zh-CN" altLang="en-US" sz="2000" dirty="0">
                <a:latin typeface="Times New Roman" panose="02020603050405020304" pitchFamily="18" charset="0"/>
              </a:rPr>
              <a:t>，则接收机前端电路输入端的信号电平至少为多大？</a:t>
            </a:r>
            <a:endParaRPr lang="zh-CN" altLang="en-US" sz="2000" dirty="0">
              <a:latin typeface="Times New Roman" panose="02020603050405020304" pitchFamily="18" charset="0"/>
            </a:endParaRPr>
          </a:p>
        </p:txBody>
      </p:sp>
      <p:graphicFrame>
        <p:nvGraphicFramePr>
          <p:cNvPr id="421898" name="Object 10"/>
          <p:cNvGraphicFramePr/>
          <p:nvPr/>
        </p:nvGraphicFramePr>
        <p:xfrm>
          <a:off x="2124075" y="3573463"/>
          <a:ext cx="4537075" cy="923925"/>
        </p:xfrm>
        <a:graphic>
          <a:graphicData uri="http://schemas.openxmlformats.org/presentationml/2006/ole">
            <mc:AlternateContent xmlns:mc="http://schemas.openxmlformats.org/markup-compatibility/2006">
              <mc:Choice xmlns:v="urn:schemas-microsoft-com:vml" Requires="v">
                <p:oleObj spid="_x0000_s2" name="" r:id="rId1" imgW="2868930" imgH="584200" progId="Equation.DSMT4">
                  <p:embed/>
                </p:oleObj>
              </mc:Choice>
              <mc:Fallback>
                <p:oleObj name="" r:id="rId1" imgW="2868930" imgH="584200" progId="Equation.DSMT4">
                  <p:embed/>
                  <p:pic>
                    <p:nvPicPr>
                      <p:cNvPr id="0" name="图片 3078"/>
                      <p:cNvPicPr/>
                      <p:nvPr/>
                    </p:nvPicPr>
                    <p:blipFill>
                      <a:blip r:embed="rId2"/>
                      <a:stretch>
                        <a:fillRect/>
                      </a:stretch>
                    </p:blipFill>
                    <p:spPr>
                      <a:xfrm>
                        <a:off x="2124075" y="3573463"/>
                        <a:ext cx="4537075" cy="923925"/>
                      </a:xfrm>
                      <a:prstGeom prst="rect">
                        <a:avLst/>
                      </a:prstGeom>
                      <a:noFill/>
                      <a:ln w="38100">
                        <a:noFill/>
                        <a:miter/>
                      </a:ln>
                    </p:spPr>
                  </p:pic>
                </p:oleObj>
              </mc:Fallback>
            </mc:AlternateContent>
          </a:graphicData>
        </a:graphic>
      </p:graphicFrame>
      <p:grpSp>
        <p:nvGrpSpPr>
          <p:cNvPr id="3" name="Group 15"/>
          <p:cNvGrpSpPr/>
          <p:nvPr/>
        </p:nvGrpSpPr>
        <p:grpSpPr>
          <a:xfrm>
            <a:off x="900113" y="2924175"/>
            <a:ext cx="6767512" cy="704850"/>
            <a:chOff x="295" y="2160"/>
            <a:chExt cx="4263" cy="444"/>
          </a:xfrm>
        </p:grpSpPr>
        <p:sp>
          <p:nvSpPr>
            <p:cNvPr id="70671" name="Text Box 13"/>
            <p:cNvSpPr txBox="1"/>
            <p:nvPr/>
          </p:nvSpPr>
          <p:spPr>
            <a:xfrm>
              <a:off x="295" y="2160"/>
              <a:ext cx="4263" cy="442"/>
            </a:xfrm>
            <a:prstGeom prst="rect">
              <a:avLst/>
            </a:prstGeom>
            <a:noFill/>
            <a:ln w="9525">
              <a:noFill/>
            </a:ln>
          </p:spPr>
          <p:txBody>
            <a:bodyPr>
              <a:spAutoFit/>
            </a:bodyPr>
            <a:lstStyle/>
            <a:p>
              <a:r>
                <a:rPr lang="zh-CN" altLang="en-US" sz="2000" dirty="0">
                  <a:latin typeface="Times New Roman" panose="02020603050405020304" pitchFamily="18" charset="0"/>
                </a:rPr>
                <a:t>解：依题意，要求的输出信噪比                              ，噪声系数                       ，根据噪声系数的定义有：</a:t>
              </a:r>
              <a:endParaRPr lang="zh-CN" altLang="en-US" sz="2000" dirty="0">
                <a:latin typeface="Times New Roman" panose="02020603050405020304" pitchFamily="18" charset="0"/>
              </a:endParaRPr>
            </a:p>
          </p:txBody>
        </p:sp>
        <p:graphicFrame>
          <p:nvGraphicFramePr>
            <p:cNvPr id="70660" name="Object 12"/>
            <p:cNvGraphicFramePr/>
            <p:nvPr/>
          </p:nvGraphicFramePr>
          <p:xfrm>
            <a:off x="2608" y="2160"/>
            <a:ext cx="1134" cy="275"/>
          </p:xfrm>
          <a:graphic>
            <a:graphicData uri="http://schemas.openxmlformats.org/presentationml/2006/ole">
              <mc:AlternateContent xmlns:mc="http://schemas.openxmlformats.org/markup-compatibility/2006">
                <mc:Choice xmlns:v="urn:schemas-microsoft-com:vml" Requires="v">
                  <p:oleObj spid="_x0000_s4" name="" r:id="rId3" imgW="1256030" imgH="304800" progId="Equation.DSMT4">
                    <p:embed/>
                  </p:oleObj>
                </mc:Choice>
                <mc:Fallback>
                  <p:oleObj name="" r:id="rId3" imgW="1256030" imgH="304800" progId="Equation.DSMT4">
                    <p:embed/>
                    <p:pic>
                      <p:nvPicPr>
                        <p:cNvPr id="0" name="图片 3081"/>
                        <p:cNvPicPr/>
                        <p:nvPr/>
                      </p:nvPicPr>
                      <p:blipFill>
                        <a:blip r:embed="rId4"/>
                        <a:stretch>
                          <a:fillRect/>
                        </a:stretch>
                      </p:blipFill>
                      <p:spPr>
                        <a:xfrm>
                          <a:off x="2608" y="2160"/>
                          <a:ext cx="1134" cy="275"/>
                        </a:xfrm>
                        <a:prstGeom prst="rect">
                          <a:avLst/>
                        </a:prstGeom>
                        <a:noFill/>
                        <a:ln w="38100">
                          <a:noFill/>
                          <a:miter/>
                        </a:ln>
                      </p:spPr>
                    </p:pic>
                  </p:oleObj>
                </mc:Fallback>
              </mc:AlternateContent>
            </a:graphicData>
          </a:graphic>
        </p:graphicFrame>
        <p:graphicFrame>
          <p:nvGraphicFramePr>
            <p:cNvPr id="70661" name="Object 14"/>
            <p:cNvGraphicFramePr/>
            <p:nvPr/>
          </p:nvGraphicFramePr>
          <p:xfrm>
            <a:off x="567" y="2387"/>
            <a:ext cx="952" cy="217"/>
          </p:xfrm>
          <a:graphic>
            <a:graphicData uri="http://schemas.openxmlformats.org/presentationml/2006/ole">
              <mc:AlternateContent xmlns:mc="http://schemas.openxmlformats.org/markup-compatibility/2006">
                <mc:Choice xmlns:v="urn:schemas-microsoft-com:vml" Requires="v">
                  <p:oleObj spid="_x0000_s5" name="" r:id="rId5" imgW="1002665" imgH="228600" progId="Equation.DSMT4">
                    <p:embed/>
                  </p:oleObj>
                </mc:Choice>
                <mc:Fallback>
                  <p:oleObj name="" r:id="rId5" imgW="1002665" imgH="228600" progId="Equation.DSMT4">
                    <p:embed/>
                    <p:pic>
                      <p:nvPicPr>
                        <p:cNvPr id="0" name="图片 3075"/>
                        <p:cNvPicPr/>
                        <p:nvPr/>
                      </p:nvPicPr>
                      <p:blipFill>
                        <a:blip r:embed="rId6"/>
                        <a:stretch>
                          <a:fillRect/>
                        </a:stretch>
                      </p:blipFill>
                      <p:spPr>
                        <a:xfrm>
                          <a:off x="567" y="2387"/>
                          <a:ext cx="952" cy="217"/>
                        </a:xfrm>
                        <a:prstGeom prst="rect">
                          <a:avLst/>
                        </a:prstGeom>
                        <a:noFill/>
                        <a:ln w="38100">
                          <a:noFill/>
                          <a:miter/>
                        </a:ln>
                      </p:spPr>
                    </p:pic>
                  </p:oleObj>
                </mc:Fallback>
              </mc:AlternateContent>
            </a:graphicData>
          </a:graphic>
        </p:graphicFrame>
      </p:grpSp>
      <p:sp>
        <p:nvSpPr>
          <p:cNvPr id="421904" name="Text Box 16"/>
          <p:cNvSpPr txBox="1"/>
          <p:nvPr/>
        </p:nvSpPr>
        <p:spPr>
          <a:xfrm>
            <a:off x="827088" y="4508500"/>
            <a:ext cx="2771775" cy="396875"/>
          </a:xfrm>
          <a:prstGeom prst="rect">
            <a:avLst/>
          </a:prstGeom>
          <a:noFill/>
          <a:ln w="9525">
            <a:noFill/>
          </a:ln>
        </p:spPr>
        <p:txBody>
          <a:bodyPr>
            <a:spAutoFit/>
          </a:bodyPr>
          <a:lstStyle/>
          <a:p>
            <a:r>
              <a:rPr lang="zh-CN" altLang="en-US" sz="2000" dirty="0">
                <a:latin typeface="Times New Roman" panose="02020603050405020304" pitchFamily="18" charset="0"/>
              </a:rPr>
              <a:t>因为：</a:t>
            </a:r>
            <a:r>
              <a:rPr lang="en-US" altLang="zh-CN" sz="2000" i="1" dirty="0">
                <a:latin typeface="Times New Roman" panose="02020603050405020304" pitchFamily="18" charset="0"/>
              </a:rPr>
              <a:t>N</a:t>
            </a:r>
            <a:r>
              <a:rPr lang="en-US" altLang="zh-CN" sz="2000" i="1" baseline="-25000" dirty="0">
                <a:latin typeface="Times New Roman" panose="02020603050405020304" pitchFamily="18" charset="0"/>
              </a:rPr>
              <a:t>i</a:t>
            </a:r>
            <a:r>
              <a:rPr lang="en-US" altLang="zh-CN" sz="2000" i="1" dirty="0">
                <a:latin typeface="Times New Roman" panose="02020603050405020304" pitchFamily="18" charset="0"/>
              </a:rPr>
              <a:t>=kTB</a:t>
            </a:r>
            <a:r>
              <a:rPr lang="zh-CN" altLang="en-US" sz="2000" i="1" dirty="0">
                <a:latin typeface="Times New Roman" panose="02020603050405020304" pitchFamily="18" charset="0"/>
              </a:rPr>
              <a:t>，</a:t>
            </a:r>
            <a:r>
              <a:rPr lang="zh-CN" altLang="en-US" sz="2000" dirty="0">
                <a:latin typeface="Times New Roman" panose="02020603050405020304" pitchFamily="18" charset="0"/>
              </a:rPr>
              <a:t>故：</a:t>
            </a:r>
            <a:endParaRPr lang="zh-CN" altLang="en-US" sz="2000" baseline="-25000" dirty="0">
              <a:latin typeface="Times New Roman" panose="02020603050405020304" pitchFamily="18" charset="0"/>
            </a:endParaRPr>
          </a:p>
        </p:txBody>
      </p:sp>
      <p:sp>
        <p:nvSpPr>
          <p:cNvPr id="421905" name="Text Box 17"/>
          <p:cNvSpPr txBox="1"/>
          <p:nvPr/>
        </p:nvSpPr>
        <p:spPr>
          <a:xfrm>
            <a:off x="900113" y="4941888"/>
            <a:ext cx="7308850" cy="396875"/>
          </a:xfrm>
          <a:prstGeom prst="rect">
            <a:avLst/>
          </a:prstGeom>
          <a:noFill/>
          <a:ln w="9525">
            <a:noFill/>
          </a:ln>
        </p:spPr>
        <p:txBody>
          <a:bodyPr>
            <a:spAutoFit/>
          </a:bodyPr>
          <a:lstStyle/>
          <a:p>
            <a:r>
              <a:rPr lang="en-US" altLang="zh-CN" sz="2000" i="1" dirty="0">
                <a:latin typeface="Times New Roman" panose="02020603050405020304" pitchFamily="18" charset="0"/>
              </a:rPr>
              <a:t>S</a:t>
            </a:r>
            <a:r>
              <a:rPr lang="en-US" altLang="zh-CN" sz="2000" i="1" baseline="-25000" dirty="0">
                <a:latin typeface="Times New Roman" panose="02020603050405020304" pitchFamily="18" charset="0"/>
              </a:rPr>
              <a:t>i</a:t>
            </a:r>
            <a:r>
              <a:rPr lang="en-US" altLang="zh-CN" sz="2000" i="1" dirty="0">
                <a:latin typeface="Times New Roman" panose="02020603050405020304" pitchFamily="18" charset="0"/>
              </a:rPr>
              <a:t>=kTB×1000=1000×1.37×10-23 ×290×6× 106=23.8pW</a:t>
            </a:r>
            <a:endParaRPr lang="en-US" altLang="zh-CN" sz="2000" b="1" i="1" dirty="0">
              <a:latin typeface="Times New Roman" panose="02020603050405020304" pitchFamily="18" charset="0"/>
            </a:endParaRPr>
          </a:p>
        </p:txBody>
      </p:sp>
      <p:sp>
        <p:nvSpPr>
          <p:cNvPr id="421906" name="Text Box 18"/>
          <p:cNvSpPr txBox="1"/>
          <p:nvPr/>
        </p:nvSpPr>
        <p:spPr>
          <a:xfrm>
            <a:off x="827088" y="5373688"/>
            <a:ext cx="4987925" cy="396875"/>
          </a:xfrm>
          <a:prstGeom prst="rect">
            <a:avLst/>
          </a:prstGeom>
          <a:noFill/>
          <a:ln w="9525">
            <a:noFill/>
          </a:ln>
        </p:spPr>
        <p:txBody>
          <a:bodyPr>
            <a:spAutoFit/>
          </a:bodyPr>
          <a:lstStyle/>
          <a:p>
            <a:r>
              <a:rPr lang="zh-CN" altLang="en-US" sz="2000" dirty="0">
                <a:latin typeface="Times New Roman" panose="02020603050405020304" pitchFamily="18" charset="0"/>
              </a:rPr>
              <a:t>即要求的输入信号功率为</a:t>
            </a:r>
            <a:r>
              <a:rPr lang="en-US" altLang="zh-CN" sz="2000" dirty="0">
                <a:latin typeface="Times New Roman" panose="02020603050405020304" pitchFamily="18" charset="0"/>
              </a:rPr>
              <a:t>23.8pW</a:t>
            </a:r>
            <a:endParaRPr lang="en-US" altLang="zh-CN" sz="2000" dirty="0">
              <a:latin typeface="Times New Roman" panose="02020603050405020304" pitchFamily="18" charset="0"/>
            </a:endParaRPr>
          </a:p>
        </p:txBody>
      </p:sp>
      <p:sp>
        <p:nvSpPr>
          <p:cNvPr id="421907" name="Text Box 19"/>
          <p:cNvSpPr txBox="1"/>
          <p:nvPr/>
        </p:nvSpPr>
        <p:spPr>
          <a:xfrm>
            <a:off x="611188" y="5876925"/>
            <a:ext cx="7200900" cy="396875"/>
          </a:xfrm>
          <a:prstGeom prst="rect">
            <a:avLst/>
          </a:prstGeom>
          <a:noFill/>
          <a:ln w="9525">
            <a:noFill/>
          </a:ln>
        </p:spPr>
        <p:txBody>
          <a:bodyPr>
            <a:spAutoFit/>
          </a:bodyPr>
          <a:lstStyle/>
          <a:p>
            <a:r>
              <a:rPr lang="zh-CN" altLang="en-US" sz="2000" dirty="0">
                <a:latin typeface="Times New Roman" panose="02020603050405020304" pitchFamily="18" charset="0"/>
              </a:rPr>
              <a:t>假设信号源内阻为</a:t>
            </a:r>
            <a:r>
              <a:rPr lang="en-US" altLang="zh-CN" sz="2000" dirty="0">
                <a:latin typeface="Times New Roman" panose="02020603050405020304" pitchFamily="18" charset="0"/>
              </a:rPr>
              <a:t>75Ω</a:t>
            </a:r>
            <a:r>
              <a:rPr lang="zh-CN" altLang="en-US" sz="2000" dirty="0">
                <a:latin typeface="Times New Roman" panose="02020603050405020304" pitchFamily="18" charset="0"/>
              </a:rPr>
              <a:t>，则所需的最小信号电势为：</a:t>
            </a:r>
            <a:endParaRPr lang="zh-CN" altLang="en-US" sz="2000" dirty="0">
              <a:latin typeface="Times New Roman" panose="02020603050405020304" pitchFamily="18" charset="0"/>
            </a:endParaRPr>
          </a:p>
        </p:txBody>
      </p:sp>
      <p:graphicFrame>
        <p:nvGraphicFramePr>
          <p:cNvPr id="421908" name="Object 20"/>
          <p:cNvGraphicFramePr/>
          <p:nvPr/>
        </p:nvGraphicFramePr>
        <p:xfrm>
          <a:off x="1908175" y="6237288"/>
          <a:ext cx="3384550" cy="422275"/>
        </p:xfrm>
        <a:graphic>
          <a:graphicData uri="http://schemas.openxmlformats.org/presentationml/2006/ole">
            <mc:AlternateContent xmlns:mc="http://schemas.openxmlformats.org/markup-compatibility/2006">
              <mc:Choice xmlns:v="urn:schemas-microsoft-com:vml" Requires="v">
                <p:oleObj spid="_x0000_s6" name="" r:id="rId7" imgW="2792730" imgH="292100" progId="Equation.DSMT4">
                  <p:embed/>
                </p:oleObj>
              </mc:Choice>
              <mc:Fallback>
                <p:oleObj name="" r:id="rId7" imgW="2792730" imgH="292100" progId="Equation.DSMT4">
                  <p:embed/>
                  <p:pic>
                    <p:nvPicPr>
                      <p:cNvPr id="0" name="图片 3079"/>
                      <p:cNvPicPr/>
                      <p:nvPr/>
                    </p:nvPicPr>
                    <p:blipFill>
                      <a:blip r:embed="rId8"/>
                      <a:stretch>
                        <a:fillRect/>
                      </a:stretch>
                    </p:blipFill>
                    <p:spPr>
                      <a:xfrm>
                        <a:off x="1908175" y="6237288"/>
                        <a:ext cx="3384550" cy="422275"/>
                      </a:xfrm>
                      <a:prstGeom prst="rect">
                        <a:avLst/>
                      </a:prstGeom>
                      <a:noFill/>
                      <a:ln w="38100">
                        <a:noFill/>
                        <a:miter/>
                      </a:ln>
                    </p:spPr>
                  </p:pic>
                </p:oleObj>
              </mc:Fallback>
            </mc:AlternateContent>
          </a:graphicData>
        </a:graphic>
      </p:graphicFrame>
      <p:grpSp>
        <p:nvGrpSpPr>
          <p:cNvPr id="7" name="Group 19"/>
          <p:cNvGrpSpPr/>
          <p:nvPr/>
        </p:nvGrpSpPr>
        <p:grpSpPr>
          <a:xfrm>
            <a:off x="1784668" y="405766"/>
            <a:ext cx="5334000" cy="519113"/>
            <a:chOff x="1306" y="452"/>
            <a:chExt cx="3360" cy="327"/>
          </a:xfrm>
        </p:grpSpPr>
        <p:sp>
          <p:nvSpPr>
            <p:cNvPr id="8" name="Rectangle 20"/>
            <p:cNvSpPr/>
            <p:nvPr/>
          </p:nvSpPr>
          <p:spPr>
            <a:xfrm>
              <a:off x="1306" y="45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2.4  </a:t>
              </a:r>
              <a:r>
                <a:rPr lang="zh-CN" altLang="en-US" sz="2800" b="1" dirty="0">
                  <a:solidFill>
                    <a:schemeClr val="accent2"/>
                  </a:solidFill>
                  <a:latin typeface="Times New Roman" panose="02020603050405020304" pitchFamily="18" charset="0"/>
                </a:rPr>
                <a:t>噪声系数</a:t>
              </a:r>
              <a:endParaRPr lang="zh-CN" altLang="en-US" sz="2800" b="1" dirty="0">
                <a:solidFill>
                  <a:schemeClr val="accent2"/>
                </a:solidFill>
                <a:latin typeface="Times New Roman" panose="02020603050405020304" pitchFamily="18" charset="0"/>
              </a:endParaRPr>
            </a:p>
          </p:txBody>
        </p:sp>
        <p:sp>
          <p:nvSpPr>
            <p:cNvPr id="9" name="Line 21"/>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4"/>
          <p:cNvSpPr txBox="1"/>
          <p:nvPr/>
        </p:nvSpPr>
        <p:spPr>
          <a:xfrm>
            <a:off x="466725" y="930275"/>
            <a:ext cx="2927350" cy="457200"/>
          </a:xfrm>
          <a:prstGeom prst="rect">
            <a:avLst/>
          </a:prstGeom>
          <a:noFill/>
          <a:ln w="9525">
            <a:noFill/>
          </a:ln>
        </p:spPr>
        <p:txBody>
          <a:bodyPr wrap="none">
            <a:spAutoFit/>
          </a:bodyPr>
          <a:lstStyle/>
          <a:p>
            <a:r>
              <a:rPr lang="zh-CN" altLang="en-US" b="1" dirty="0">
                <a:solidFill>
                  <a:srgbClr val="FF0066"/>
                </a:solidFill>
                <a:latin typeface="Times New Roman" panose="02020603050405020304" pitchFamily="18" charset="0"/>
              </a:rPr>
              <a:t>三、噪声系数的计算</a:t>
            </a:r>
            <a:endParaRPr lang="zh-CN" altLang="en-US" b="1" dirty="0">
              <a:solidFill>
                <a:srgbClr val="FF0066"/>
              </a:solidFill>
              <a:latin typeface="Times New Roman" panose="02020603050405020304" pitchFamily="18" charset="0"/>
            </a:endParaRPr>
          </a:p>
        </p:txBody>
      </p:sp>
      <p:sp>
        <p:nvSpPr>
          <p:cNvPr id="87043" name="Text Box 5"/>
          <p:cNvSpPr txBox="1"/>
          <p:nvPr/>
        </p:nvSpPr>
        <p:spPr>
          <a:xfrm>
            <a:off x="611188" y="1363663"/>
            <a:ext cx="2736850" cy="457200"/>
          </a:xfrm>
          <a:prstGeom prst="rect">
            <a:avLst/>
          </a:prstGeom>
          <a:noFill/>
          <a:ln w="9525">
            <a:noFill/>
          </a:ln>
        </p:spPr>
        <p:txBody>
          <a:bodyPr wrap="none">
            <a:spAutoFit/>
          </a:bodyPr>
          <a:lstStyle/>
          <a:p>
            <a:r>
              <a:rPr lang="en-US" altLang="zh-CN" dirty="0">
                <a:latin typeface="Times New Roman" panose="02020603050405020304" pitchFamily="18" charset="0"/>
              </a:rPr>
              <a:t> </a:t>
            </a:r>
            <a:r>
              <a:rPr lang="en-US" altLang="zh-CN" sz="2000" b="1" dirty="0">
                <a:solidFill>
                  <a:schemeClr val="accent2"/>
                </a:solidFill>
                <a:latin typeface="Times New Roman" panose="02020603050405020304" pitchFamily="18" charset="0"/>
              </a:rPr>
              <a:t>3</a:t>
            </a:r>
            <a:r>
              <a:rPr lang="zh-CN" altLang="en-US" sz="2000" b="1" dirty="0">
                <a:solidFill>
                  <a:schemeClr val="accent2"/>
                </a:solidFill>
                <a:latin typeface="Times New Roman" panose="02020603050405020304" pitchFamily="18" charset="0"/>
              </a:rPr>
              <a:t>． 噪声系数与灵敏度</a:t>
            </a:r>
            <a:endParaRPr lang="zh-CN" altLang="en-US" sz="2000" b="1" dirty="0">
              <a:solidFill>
                <a:schemeClr val="accent2"/>
              </a:solidFill>
              <a:latin typeface="Times New Roman" panose="02020603050405020304" pitchFamily="18" charset="0"/>
            </a:endParaRPr>
          </a:p>
        </p:txBody>
      </p:sp>
      <p:sp>
        <p:nvSpPr>
          <p:cNvPr id="422921" name="Text Box 9"/>
          <p:cNvSpPr txBox="1"/>
          <p:nvPr/>
        </p:nvSpPr>
        <p:spPr>
          <a:xfrm>
            <a:off x="684213" y="1947863"/>
            <a:ext cx="3232150" cy="396875"/>
          </a:xfrm>
          <a:prstGeom prst="rect">
            <a:avLst/>
          </a:prstGeom>
          <a:noFill/>
          <a:ln w="9525">
            <a:noFill/>
          </a:ln>
        </p:spPr>
        <p:txBody>
          <a:bodyPr wrap="none">
            <a:spAutoFit/>
          </a:bodyPr>
          <a:lstStyle/>
          <a:p>
            <a:r>
              <a:rPr lang="zh-CN" altLang="en-US" sz="2000" dirty="0">
                <a:latin typeface="Times New Roman" panose="02020603050405020304" pitchFamily="18" charset="0"/>
              </a:rPr>
              <a:t>提高接收机灵敏度的途径：</a:t>
            </a:r>
            <a:endParaRPr lang="zh-CN" altLang="en-US" sz="2000" dirty="0">
              <a:latin typeface="Times New Roman" panose="02020603050405020304" pitchFamily="18" charset="0"/>
            </a:endParaRPr>
          </a:p>
        </p:txBody>
      </p:sp>
      <p:sp>
        <p:nvSpPr>
          <p:cNvPr id="422922" name="Text Box 10"/>
          <p:cNvSpPr txBox="1"/>
          <p:nvPr/>
        </p:nvSpPr>
        <p:spPr>
          <a:xfrm>
            <a:off x="1187450" y="2398713"/>
            <a:ext cx="4022725" cy="701675"/>
          </a:xfrm>
          <a:prstGeom prst="rect">
            <a:avLst/>
          </a:prstGeom>
          <a:noFill/>
          <a:ln w="9525">
            <a:noFill/>
          </a:ln>
        </p:spPr>
        <p:txBody>
          <a:bodyPr wrap="none">
            <a:spAutoFit/>
          </a:bodyPr>
          <a:lstStyle/>
          <a:p>
            <a:r>
              <a:rPr lang="zh-CN" altLang="en-US" sz="2000" dirty="0">
                <a:latin typeface="Times New Roman" panose="02020603050405020304" pitchFamily="18" charset="0"/>
              </a:rPr>
              <a:t>（</a:t>
            </a:r>
            <a:r>
              <a:rPr lang="en-US" altLang="zh-CN" sz="2000" dirty="0">
                <a:latin typeface="Times New Roman" panose="02020603050405020304" pitchFamily="18" charset="0"/>
              </a:rPr>
              <a:t>1</a:t>
            </a:r>
            <a:r>
              <a:rPr lang="zh-CN" altLang="en-US" sz="2000" dirty="0">
                <a:latin typeface="Times New Roman" panose="02020603050405020304" pitchFamily="18" charset="0"/>
              </a:rPr>
              <a:t>）尽量降低接收机的噪声系数</a:t>
            </a:r>
            <a:endParaRPr lang="zh-CN" altLang="en-US" sz="2000" dirty="0">
              <a:latin typeface="Times New Roman" panose="02020603050405020304" pitchFamily="18" charset="0"/>
            </a:endParaRPr>
          </a:p>
          <a:p>
            <a:r>
              <a:rPr lang="zh-CN" altLang="en-US" sz="2000" dirty="0">
                <a:latin typeface="Times New Roman" panose="02020603050405020304" pitchFamily="18" charset="0"/>
              </a:rPr>
              <a:t>（</a:t>
            </a:r>
            <a:r>
              <a:rPr lang="en-US" altLang="zh-CN" sz="2000" dirty="0">
                <a:latin typeface="Times New Roman" panose="02020603050405020304" pitchFamily="18" charset="0"/>
              </a:rPr>
              <a:t>2</a:t>
            </a:r>
            <a:r>
              <a:rPr lang="zh-CN" altLang="en-US" sz="2000" dirty="0">
                <a:latin typeface="Times New Roman" panose="02020603050405020304" pitchFamily="18" charset="0"/>
              </a:rPr>
              <a:t>）降低接收机前端设备的温度</a:t>
            </a:r>
            <a:r>
              <a:rPr lang="en-US" altLang="zh-CN" sz="2000" dirty="0">
                <a:latin typeface="Times New Roman" panose="02020603050405020304" pitchFamily="18" charset="0"/>
              </a:rPr>
              <a:t>T</a:t>
            </a:r>
            <a:endParaRPr lang="en-US" altLang="zh-CN" sz="2000" dirty="0">
              <a:latin typeface="Times New Roman" panose="02020603050405020304" pitchFamily="18" charset="0"/>
            </a:endParaRPr>
          </a:p>
        </p:txBody>
      </p:sp>
      <p:sp>
        <p:nvSpPr>
          <p:cNvPr id="422923" name="Text Box 11"/>
          <p:cNvSpPr txBox="1"/>
          <p:nvPr/>
        </p:nvSpPr>
        <p:spPr>
          <a:xfrm>
            <a:off x="684213" y="3140075"/>
            <a:ext cx="8229600" cy="706755"/>
          </a:xfrm>
          <a:prstGeom prst="rect">
            <a:avLst/>
          </a:prstGeom>
          <a:noFill/>
          <a:ln w="9525">
            <a:noFill/>
          </a:ln>
        </p:spPr>
        <p:txBody>
          <a:bodyPr>
            <a:spAutoFit/>
          </a:bodyPr>
          <a:lstStyle/>
          <a:p>
            <a:r>
              <a:rPr lang="zh-CN" altLang="en-US" sz="2000" dirty="0">
                <a:latin typeface="Times New Roman" panose="02020603050405020304" pitchFamily="18" charset="0"/>
              </a:rPr>
              <a:t>注：并非</a:t>
            </a:r>
            <a:r>
              <a:rPr lang="en-US" altLang="zh-CN" sz="2000" dirty="0">
                <a:latin typeface="Times New Roman" panose="02020603050405020304" pitchFamily="18" charset="0"/>
              </a:rPr>
              <a:t>N</a:t>
            </a:r>
            <a:r>
              <a:rPr lang="en-US" altLang="zh-CN" sz="2000" baseline="-25000" dirty="0">
                <a:latin typeface="Times New Roman" panose="02020603050405020304" pitchFamily="18" charset="0"/>
              </a:rPr>
              <a:t>F</a:t>
            </a:r>
            <a:r>
              <a:rPr lang="zh-CN" altLang="en-US" sz="2000" dirty="0">
                <a:latin typeface="Times New Roman" panose="02020603050405020304" pitchFamily="18" charset="0"/>
              </a:rPr>
              <a:t>越小越好，要根据外部干扰和噪声的情况来考虑，当外部干扰和噪声电平很高时，接收机</a:t>
            </a:r>
            <a:r>
              <a:rPr lang="en-US" altLang="zh-CN" sz="2000" dirty="0">
                <a:latin typeface="Times New Roman" panose="02020603050405020304" pitchFamily="18" charset="0"/>
              </a:rPr>
              <a:t>N</a:t>
            </a:r>
            <a:r>
              <a:rPr lang="en-US" altLang="zh-CN" sz="2000" baseline="-25000" dirty="0">
                <a:latin typeface="Times New Roman" panose="02020603050405020304" pitchFamily="18" charset="0"/>
              </a:rPr>
              <a:t>F </a:t>
            </a:r>
            <a:r>
              <a:rPr lang="en-US" altLang="zh-CN" sz="2000" dirty="0">
                <a:latin typeface="Times New Roman" panose="02020603050405020304" pitchFamily="18" charset="0"/>
              </a:rPr>
              <a:t>↓↓</a:t>
            </a:r>
            <a:r>
              <a:rPr lang="zh-CN" altLang="en-US" sz="2000" dirty="0">
                <a:latin typeface="Times New Roman" panose="02020603050405020304" pitchFamily="18" charset="0"/>
              </a:rPr>
              <a:t>，</a:t>
            </a:r>
            <a:r>
              <a:rPr lang="zh-CN" altLang="en-US" sz="2000" dirty="0">
                <a:solidFill>
                  <a:srgbClr val="FF0066"/>
                </a:solidFill>
                <a:latin typeface="Times New Roman" panose="02020603050405020304" pitchFamily="18" charset="0"/>
              </a:rPr>
              <a:t>灵敏度很高是没有必要的。</a:t>
            </a:r>
            <a:endParaRPr lang="zh-CN" altLang="en-US" sz="2000" dirty="0">
              <a:solidFill>
                <a:srgbClr val="FF0066"/>
              </a:solidFill>
              <a:latin typeface="Times New Roman" panose="02020603050405020304" pitchFamily="18" charset="0"/>
            </a:endParaRPr>
          </a:p>
        </p:txBody>
      </p:sp>
      <p:sp>
        <p:nvSpPr>
          <p:cNvPr id="422927" name="Text Box 15"/>
          <p:cNvSpPr txBox="1"/>
          <p:nvPr/>
        </p:nvSpPr>
        <p:spPr>
          <a:xfrm>
            <a:off x="735013" y="4221163"/>
            <a:ext cx="7437437" cy="822325"/>
          </a:xfrm>
          <a:prstGeom prst="rect">
            <a:avLst/>
          </a:prstGeom>
          <a:noFill/>
          <a:ln w="9525">
            <a:noFill/>
          </a:ln>
        </p:spPr>
        <p:txBody>
          <a:bodyPr>
            <a:spAutoFit/>
          </a:bodyPr>
          <a:lstStyle/>
          <a:p>
            <a:r>
              <a:rPr lang="zh-CN" altLang="en-US" dirty="0">
                <a:latin typeface="Times New Roman" panose="02020603050405020304" pitchFamily="18" charset="0"/>
              </a:rPr>
              <a:t>这是因为当噪声系数很小时，则输入信号电平很低，可能使得信号淹没在噪声中</a:t>
            </a:r>
            <a:endParaRPr lang="zh-CN" altLang="en-US" dirty="0">
              <a:latin typeface="Times New Roman" panose="02020603050405020304" pitchFamily="18" charset="0"/>
            </a:endParaRPr>
          </a:p>
        </p:txBody>
      </p:sp>
      <p:grpSp>
        <p:nvGrpSpPr>
          <p:cNvPr id="2" name="Group 19"/>
          <p:cNvGrpSpPr/>
          <p:nvPr/>
        </p:nvGrpSpPr>
        <p:grpSpPr>
          <a:xfrm>
            <a:off x="1784668" y="405766"/>
            <a:ext cx="5334000" cy="519113"/>
            <a:chOff x="1306" y="452"/>
            <a:chExt cx="3360" cy="327"/>
          </a:xfrm>
        </p:grpSpPr>
        <p:sp>
          <p:nvSpPr>
            <p:cNvPr id="3" name="Rectangle 20"/>
            <p:cNvSpPr/>
            <p:nvPr/>
          </p:nvSpPr>
          <p:spPr>
            <a:xfrm>
              <a:off x="1306" y="452"/>
              <a:ext cx="3360" cy="327"/>
            </a:xfrm>
            <a:prstGeom prst="rect">
              <a:avLst/>
            </a:prstGeom>
            <a:noFill/>
            <a:ln w="9525">
              <a:noFill/>
            </a:ln>
          </p:spPr>
          <p:txBody>
            <a:bodyPr lIns="92075" tIns="46038" rIns="92075" bIns="46038">
              <a:spAutoFit/>
            </a:bodyPr>
            <a:lstStyle/>
            <a:p>
              <a:pPr algn="ctr">
                <a:spcBef>
                  <a:spcPct val="50000"/>
                </a:spcBef>
              </a:pPr>
              <a:r>
                <a:rPr lang="en-US" altLang="zh-CN" sz="2800" b="1" dirty="0">
                  <a:solidFill>
                    <a:schemeClr val="accent2"/>
                  </a:solidFill>
                  <a:latin typeface="Times New Roman" panose="02020603050405020304" pitchFamily="18" charset="0"/>
                </a:rPr>
                <a:t>2.4  </a:t>
              </a:r>
              <a:r>
                <a:rPr lang="zh-CN" altLang="en-US" sz="2800" b="1" dirty="0">
                  <a:solidFill>
                    <a:schemeClr val="accent2"/>
                  </a:solidFill>
                  <a:latin typeface="Times New Roman" panose="02020603050405020304" pitchFamily="18" charset="0"/>
                </a:rPr>
                <a:t>噪声系数</a:t>
              </a:r>
              <a:endParaRPr lang="zh-CN" altLang="en-US" sz="2800" b="1" dirty="0">
                <a:solidFill>
                  <a:schemeClr val="accent2"/>
                </a:solidFill>
                <a:latin typeface="Times New Roman" panose="02020603050405020304" pitchFamily="18" charset="0"/>
              </a:endParaRPr>
            </a:p>
          </p:txBody>
        </p:sp>
        <p:sp>
          <p:nvSpPr>
            <p:cNvPr id="4" name="Line 21"/>
            <p:cNvSpPr/>
            <p:nvPr/>
          </p:nvSpPr>
          <p:spPr>
            <a:xfrm>
              <a:off x="1474" y="754"/>
              <a:ext cx="3024" cy="0"/>
            </a:xfrm>
            <a:prstGeom prst="line">
              <a:avLst/>
            </a:prstGeom>
            <a:ln w="57150" cap="flat" cmpd="tri">
              <a:solidFill>
                <a:srgbClr val="FF00FF"/>
              </a:solidFill>
              <a:prstDash val="solid"/>
              <a:headEnd type="none" w="sm" len="sm"/>
              <a:tailEnd type="none" w="sm" len="sm"/>
            </a:ln>
          </p:spPr>
        </p:sp>
      </p:grpSp>
    </p:spTree>
  </p:cSld>
  <p:clrMapOvr>
    <a:masterClrMapping/>
  </p:clrMapOvr>
  <p:transition spd="med">
    <p:zoom/>
  </p:transition>
</p:sld>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663300"/>
      </a:hlink>
      <a:folHlink>
        <a:srgbClr val="996633"/>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13870</Words>
  <Application>WPS 演示</Application>
  <PresentationFormat>全屏显示(4:3)</PresentationFormat>
  <Paragraphs>1312</Paragraphs>
  <Slides>96</Slides>
  <Notes>2</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375</vt:i4>
      </vt:variant>
      <vt:variant>
        <vt:lpstr>幻灯片标题</vt:lpstr>
      </vt:variant>
      <vt:variant>
        <vt:i4>96</vt:i4>
      </vt:variant>
    </vt:vector>
  </HeadingPairs>
  <TitlesOfParts>
    <vt:vector size="486" baseType="lpstr">
      <vt:lpstr>Arial</vt:lpstr>
      <vt:lpstr>宋体</vt:lpstr>
      <vt:lpstr>Wingdings</vt:lpstr>
      <vt:lpstr>Times New Roman</vt:lpstr>
      <vt:lpstr>华文新魏</vt:lpstr>
      <vt:lpstr>微软雅黑</vt:lpstr>
      <vt:lpstr>Wingdings</vt:lpstr>
      <vt:lpstr>Arial Unicode MS</vt:lpstr>
      <vt:lpstr>Symbol</vt:lpstr>
      <vt:lpstr>仿宋</vt:lpstr>
      <vt:lpstr>Cambria Math</vt:lpstr>
      <vt:lpstr>MS Mincho</vt:lpstr>
      <vt:lpstr>SWAstro</vt:lpstr>
      <vt:lpstr>MS PGothic</vt:lpstr>
      <vt:lpstr>默认设计模板</vt:lpstr>
      <vt:lpstr>Visio.Drawing.6</vt:lpstr>
      <vt:lpstr>Equation.DSMT4</vt:lpstr>
      <vt:lpstr>Visio.Drawing.4</vt:lpstr>
      <vt:lpstr>Visio.Drawing.4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Visio.Drawing.6</vt:lpstr>
      <vt:lpstr>Equation.DSMT4</vt:lpstr>
      <vt:lpstr>Equation.DSMT4</vt:lpstr>
      <vt:lpstr>Equation.DSMT4</vt:lpstr>
      <vt:lpstr>Equation.DSMT4</vt:lpstr>
      <vt:lpstr>Visio.Drawing.4</vt:lpstr>
      <vt:lpstr>Equation.DSMT4</vt:lpstr>
      <vt:lpstr>Equation.DSMT4</vt:lpstr>
      <vt:lpstr>Equation.DSMT4</vt:lpstr>
      <vt:lpstr>Equation.DSMT4</vt:lpstr>
      <vt:lpstr>Equation.DSMT4</vt:lpstr>
      <vt:lpstr>Equation.DSMT4</vt:lpstr>
      <vt:lpstr>Equation.DSMT4</vt:lpstr>
      <vt:lpstr>Equation.DSMT4</vt:lpstr>
      <vt:lpstr>Visio.Drawing.4</vt:lpstr>
      <vt:lpstr>Equation.3</vt:lpstr>
      <vt:lpstr>Equation.3</vt:lpstr>
      <vt:lpstr>Equation.DSMT4</vt:lpstr>
      <vt:lpstr>Equation.DSMT4</vt:lpstr>
      <vt:lpstr>Equation.DSMT4</vt:lpstr>
      <vt:lpstr>Equation.DSMT4</vt:lpstr>
      <vt:lpstr>Visio.Drawing.6</vt:lpstr>
      <vt:lpstr>Equation.3</vt:lpstr>
      <vt:lpstr>Visio.Drawing.4</vt:lpstr>
      <vt:lpstr>Equation.DSMT4</vt:lpstr>
      <vt:lpstr>Equation.DSMT4</vt:lpstr>
      <vt:lpstr>Equation.DSMT4</vt:lpstr>
      <vt:lpstr>Equation.DSMT4</vt:lpstr>
      <vt:lpstr>Visio.Drawing.4</vt:lpstr>
      <vt:lpstr>Visio.Drawing.6</vt:lpstr>
      <vt:lpstr>Visio.Drawing.6</vt:lpstr>
      <vt:lpstr>Equation.DSMT4</vt:lpstr>
      <vt:lpstr>Visio.Drawing.6</vt:lpstr>
      <vt:lpstr>Equation.DSMT4</vt:lpstr>
      <vt:lpstr>Equation.DSMT4</vt:lpstr>
      <vt:lpstr>Equation.DSMT4</vt:lpstr>
      <vt:lpstr>Equation.DSMT4</vt:lpstr>
      <vt:lpstr>Equation.DSMT4</vt:lpstr>
      <vt:lpstr>Equation.DSMT4</vt:lpstr>
      <vt:lpstr>Equation.DSMT4</vt:lpstr>
      <vt:lpstr>Equation.DSMT4</vt:lpstr>
      <vt:lpstr>Equation.DSMT4</vt:lpstr>
      <vt:lpstr>Visio.Drawing.11</vt:lpstr>
      <vt:lpstr>Equation.DSMT4</vt:lpstr>
      <vt:lpstr>Visio.Drawing.6</vt:lpstr>
      <vt:lpstr>Visio.Drawing.11</vt:lpstr>
      <vt:lpstr>Equation.DSMT4</vt:lpstr>
      <vt:lpstr>Equation.DSMT4</vt:lpstr>
      <vt:lpstr>Equation.DSMT4</vt:lpstr>
      <vt:lpstr>Equation.DSMT4</vt:lpstr>
      <vt:lpstr>Visio.Drawing.6</vt:lpstr>
      <vt:lpstr>Equation.DSMT4</vt:lpstr>
      <vt:lpstr>Equation.DSMT4</vt:lpstr>
      <vt:lpstr>Equation.DSMT4</vt:lpstr>
      <vt:lpstr>Equation.DSMT4</vt:lpstr>
      <vt:lpstr>Visio.Drawing.6</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Visio.Drawing.4</vt:lpstr>
      <vt:lpstr>Equation.DSMT4</vt:lpstr>
      <vt:lpstr>Equation.DSMT4</vt:lpstr>
      <vt:lpstr>Equation.DSMT4</vt:lpstr>
      <vt:lpstr>Equation.DSMT4</vt:lpstr>
      <vt:lpstr>Equation.DSMT4</vt:lpstr>
      <vt:lpstr>Equation.DSMT4</vt:lpstr>
      <vt:lpstr>Equation.DSMT4</vt:lpstr>
      <vt:lpstr>Equation.DSMT4</vt:lpstr>
      <vt:lpstr>Equation.DSMT4</vt:lpstr>
      <vt:lpstr>Visio.Drawing.6</vt:lpstr>
      <vt:lpstr>Equation.DSMT4</vt:lpstr>
      <vt:lpstr>Equation.DSMT4</vt:lpstr>
      <vt:lpstr>Equation.DSMT4</vt:lpstr>
      <vt:lpstr>Equation.DSMT4</vt:lpstr>
      <vt:lpstr>Equation.DSMT4</vt:lpstr>
      <vt:lpstr>Equation.DSMT4</vt:lpstr>
      <vt:lpstr>Equation.DSMT4</vt:lpstr>
      <vt:lpstr>Equation.DSMT4</vt:lpstr>
      <vt:lpstr>Visio.Drawing.6</vt:lpstr>
      <vt:lpstr>Visio.Drawing.6</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Visio.Drawing.6</vt:lpstr>
      <vt:lpstr>Visio.Drawing.6</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Visio.Drawing.4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Photoshop.Image.6</vt:lpstr>
      <vt:lpstr>Photoshop.Image.6</vt:lpstr>
      <vt:lpstr>Visio.Drawing.6</vt:lpstr>
      <vt:lpstr>Visio.Drawing.6</vt:lpstr>
      <vt:lpstr>Visio.Drawing.6</vt:lpstr>
      <vt:lpstr>Equation.DSMT4</vt:lpstr>
      <vt:lpstr>Equation.DSMT4</vt:lpstr>
      <vt:lpstr>Equation.DSMT4</vt:lpstr>
      <vt:lpstr>Equation.DSMT4</vt:lpstr>
      <vt:lpstr>Equation.DSMT4</vt:lpstr>
      <vt:lpstr>Equation.DSMT4</vt:lpstr>
      <vt:lpstr>Visio.Drawing.6</vt:lpstr>
      <vt:lpstr>Visio.Drawing.6</vt:lpstr>
      <vt:lpstr>Visio.Drawing.6</vt:lpstr>
      <vt:lpstr>Equation.DSMT4</vt:lpstr>
      <vt:lpstr>Equation.DSMT4</vt:lpstr>
      <vt:lpstr>Equation.DSMT4</vt:lpstr>
      <vt:lpstr>Equation.DSMT4</vt:lpstr>
      <vt:lpstr>Equation.DSMT4</vt:lpstr>
      <vt:lpstr>Equation.DSMT4</vt:lpstr>
      <vt:lpstr>Equation.DSMT4</vt:lpstr>
      <vt:lpstr>Visio.Drawing.6</vt:lpstr>
      <vt:lpstr>Visio.Drawing.6</vt:lpstr>
      <vt:lpstr>Visio.Drawing.6</vt:lpstr>
      <vt:lpstr>Visio.Drawing.6</vt:lpstr>
      <vt:lpstr>Visio.Drawing.6</vt:lpstr>
      <vt:lpstr>Equation.DSMT4</vt:lpstr>
      <vt:lpstr>Equation.DSMT4</vt:lpstr>
      <vt:lpstr>Equation.DSMT4</vt:lpstr>
      <vt:lpstr>Equation.DSMT4</vt:lpstr>
      <vt:lpstr>Visio.Drawing.4</vt:lpstr>
      <vt:lpstr>Visio.Drawing.6</vt:lpstr>
      <vt:lpstr>Equation.DSMT4</vt:lpstr>
      <vt:lpstr>Equation.DSMT4</vt:lpstr>
      <vt:lpstr>Equation.DSMT4</vt:lpstr>
      <vt:lpstr>Equation.DSMT4</vt:lpstr>
      <vt:lpstr>Equation.DSMT4</vt:lpstr>
      <vt:lpstr>Equation.DSMT4</vt:lpstr>
      <vt:lpstr>Equation.DSMT4</vt:lpstr>
      <vt:lpstr>Equation.DSMT4</vt:lpstr>
      <vt:lpstr>Visio.Drawing.6</vt:lpstr>
      <vt:lpstr>Visio.Drawing.6</vt:lpstr>
      <vt:lpstr>Equation.DSMT4</vt:lpstr>
      <vt:lpstr>Equation.DSMT4</vt:lpstr>
      <vt:lpstr>Equation.DSMT4</vt:lpstr>
      <vt:lpstr>Equation.DSMT4</vt:lpstr>
      <vt:lpstr>Equation.DSMT4</vt:lpstr>
      <vt:lpstr>Visio.Drawing.6</vt:lpstr>
      <vt:lpstr>Visio.Drawing.6</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Photoshop.Image.6</vt:lpstr>
      <vt:lpstr>Visio.Drawing.6</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Visio.Drawing.4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Visio.Drawing.11</vt:lpstr>
      <vt:lpstr>Equation.DSMT4</vt:lpstr>
      <vt:lpstr>Equation.DSMT4</vt:lpstr>
      <vt:lpstr>Visio.Drawing.4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Visio.Drawing.4</vt:lpstr>
      <vt:lpstr>Equation.DSMT4</vt:lpstr>
      <vt:lpstr>Equation.DSMT4</vt:lpstr>
      <vt:lpstr>Equation.DSMT4</vt:lpstr>
      <vt:lpstr>Equation.DSMT4</vt:lpstr>
      <vt:lpstr>Equation.DSMT4</vt:lpstr>
      <vt:lpstr>Equation.DSMT4</vt:lpstr>
      <vt:lpstr>Equation.DSMT4</vt:lpstr>
      <vt:lpstr>Equation.DSMT4</vt:lpstr>
      <vt:lpstr>Equation.DSMT4</vt:lpstr>
      <vt:lpstr>Visio.Drawing.6</vt:lpstr>
      <vt:lpstr>Equation.DSMT4</vt:lpstr>
      <vt:lpstr>Visio.Drawing.6</vt:lpstr>
      <vt:lpstr>Visio.Drawing.6</vt:lpstr>
      <vt:lpstr>Equation.DSMT4</vt:lpstr>
      <vt:lpstr>Equation.DSMT4</vt:lpstr>
      <vt:lpstr>Equation.DSMT4</vt:lpstr>
      <vt:lpstr>Equation.DSMT4</vt:lpstr>
      <vt:lpstr>Equation.DSMT4</vt:lpstr>
      <vt:lpstr>Equation.DSMT4</vt:lpstr>
      <vt:lpstr>Equation.DSMT4</vt:lpstr>
      <vt:lpstr>Visio.Drawing.6</vt:lpstr>
      <vt:lpstr>Equation.DSMT4</vt:lpstr>
      <vt:lpstr>Equation.DSMT4</vt:lpstr>
      <vt:lpstr>Equation.DSMT4</vt:lpstr>
      <vt:lpstr>Equation.KSEE3</vt:lpstr>
      <vt:lpstr>Equation.DSMT4</vt:lpstr>
      <vt:lpstr>Equation.DSMT4</vt:lpstr>
      <vt:lpstr>Visio.Drawing.6</vt:lpstr>
      <vt:lpstr>Visio.Drawing.6</vt:lpstr>
      <vt:lpstr>Equation.DSMT4</vt:lpstr>
      <vt:lpstr>Equation.DSMT4</vt:lpstr>
      <vt:lpstr>Visio.Drawing.6</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Visio.Drawing.6</vt:lpstr>
      <vt:lpstr>Visio.Drawing.6</vt:lpstr>
      <vt:lpstr>Visio.Drawing.4</vt:lpstr>
      <vt:lpstr>Equation.DSMT4</vt:lpstr>
      <vt:lpstr>Equation.DSMT4</vt:lpstr>
      <vt:lpstr>Equation.DSMT4</vt:lpstr>
      <vt:lpstr>Equation.DSMT4</vt:lpstr>
      <vt:lpstr>Equation.DSMT4</vt:lpstr>
      <vt:lpstr>Equation.DSMT4</vt:lpstr>
      <vt:lpstr>Equation.DSMT4</vt:lpstr>
      <vt:lpstr>Visio.Drawing.6</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Visio.Drawing.6</vt:lpstr>
      <vt:lpstr>Visio.Drawing.6</vt:lpstr>
      <vt:lpstr>Visio.Drawing.6</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gdmmmj</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高频电路基础 </dc:title>
  <dc:creator>付卫红</dc:creator>
  <cp:lastModifiedBy>wuqin</cp:lastModifiedBy>
  <cp:revision>229</cp:revision>
  <dcterms:created xsi:type="dcterms:W3CDTF">2002-06-24T00:07:00Z</dcterms:created>
  <dcterms:modified xsi:type="dcterms:W3CDTF">2026-09-14T15:08:11Z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2052-12.1.0.28022</vt:lpwstr>
  </property>
  <property fmtid="{D5CDD505-2E9C-101B-9397-08002B2CF9AE}" pid="3" name="ICV">
    <vt:lpwstr>6445190BB58F43B490BE0F4C98E1A382_12</vt:lpwstr>
  </property>
</Properties>
</file>