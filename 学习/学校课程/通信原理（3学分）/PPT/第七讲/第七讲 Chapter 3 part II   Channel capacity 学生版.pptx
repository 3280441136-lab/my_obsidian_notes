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75" r:id="rId5"/>
  </p:sldMasterIdLst>
  <p:notesMasterIdLst>
    <p:notesMasterId r:id="rId23"/>
  </p:notesMasterIdLst>
  <p:sldIdLst>
    <p:sldId id="412" r:id="rId6"/>
    <p:sldId id="799" r:id="rId7"/>
    <p:sldId id="798" r:id="rId8"/>
    <p:sldId id="797" r:id="rId9"/>
    <p:sldId id="871" r:id="rId10"/>
    <p:sldId id="691" r:id="rId11"/>
    <p:sldId id="869" r:id="rId12"/>
    <p:sldId id="676" r:id="rId13"/>
    <p:sldId id="847" r:id="rId14"/>
    <p:sldId id="882" r:id="rId15"/>
    <p:sldId id="891" r:id="rId16"/>
    <p:sldId id="864" r:id="rId17"/>
    <p:sldId id="867" r:id="rId18"/>
    <p:sldId id="868" r:id="rId19"/>
    <p:sldId id="757" r:id="rId20"/>
    <p:sldId id="828" r:id="rId21"/>
    <p:sldId id="747" r:id="rId22"/>
    <p:sldId id="892" r:id="rId24"/>
    <p:sldId id="883" r:id="rId25"/>
    <p:sldId id="858" r:id="rId26"/>
    <p:sldId id="886" r:id="rId27"/>
    <p:sldId id="859" r:id="rId28"/>
    <p:sldId id="340" r:id="rId29"/>
    <p:sldId id="677" r:id="rId30"/>
    <p:sldId id="874" r:id="rId31"/>
    <p:sldId id="780" r:id="rId32"/>
    <p:sldId id="854" r:id="rId33"/>
    <p:sldId id="870" r:id="rId34"/>
    <p:sldId id="876" r:id="rId35"/>
    <p:sldId id="878" r:id="rId36"/>
    <p:sldId id="879" r:id="rId37"/>
    <p:sldId id="844" r:id="rId38"/>
    <p:sldId id="851" r:id="rId39"/>
    <p:sldId id="855" r:id="rId40"/>
    <p:sldId id="856" r:id="rId41"/>
    <p:sldId id="884" r:id="rId42"/>
    <p:sldId id="555" r:id="rId43"/>
    <p:sldId id="681" r:id="rId44"/>
    <p:sldId id="790" r:id="rId45"/>
    <p:sldId id="890" r:id="rId46"/>
    <p:sldId id="817" r:id="rId47"/>
    <p:sldId id="818" r:id="rId48"/>
  </p:sldIdLst>
  <p:sldSz cx="9144000" cy="6858000" type="screen4x3"/>
  <p:notesSz cx="9144000" cy="68580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uzhu" initials="Juli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CC"/>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343" autoAdjust="0"/>
    <p:restoredTop sz="95244" autoAdjust="0"/>
  </p:normalViewPr>
  <p:slideViewPr>
    <p:cSldViewPr snapToGrid="0">
      <p:cViewPr varScale="1">
        <p:scale>
          <a:sx n="96" d="100"/>
          <a:sy n="96" d="100"/>
        </p:scale>
        <p:origin x="48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3" Type="http://schemas.openxmlformats.org/officeDocument/2006/relationships/tags" Target="tags/tag1.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Master" Target="slideMasters/slideMaster4.xml"/><Relationship Id="rId49" Type="http://schemas.openxmlformats.org/officeDocument/2006/relationships/presProps" Target="presProps.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notesMaster" Target="notesMasters/notesMaster1.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AB4DA8D4-D1C7-4661-968A-EA71FE7BB23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81AB3BF-FFF8-4BF5-8951-BB7D44BEDDB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028950" y="857250"/>
            <a:ext cx="3086100" cy="2314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281AB3BF-FFF8-4BF5-8951-BB7D44BEDDB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028950" y="857250"/>
            <a:ext cx="3086100" cy="2314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281AB3BF-FFF8-4BF5-8951-BB7D44BEDDB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a:xfrm>
            <a:off x="3028950" y="857250"/>
            <a:ext cx="3086100" cy="2314575"/>
          </a:xfrm>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香农公式给出了通信系统所能达到的极限信息传输速率，但是，香农公式只证明了理想通信系统的“存在性”，却没有指出这种通信系统的实现方法。 </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47CC414-12BA-4AED-ACB5-D176269ACC5B}" type="slidenum">
              <a:rPr lang="en-US" altLang="zh-CN"/>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a:xfrm>
            <a:off x="3028950" y="857250"/>
            <a:ext cx="3086100" cy="2314575"/>
          </a:xfrm>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香农公式给出了通信系统所能达到的极限信息传输速率，但是，香农公式只证明了理想通信系统的“存在性”，却没有指出这种通信系统的实现方法。 </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47CC414-12BA-4AED-ACB5-D176269ACC5B}" type="slidenum">
              <a:rPr lang="en-US" altLang="zh-CN"/>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a:xfrm>
            <a:off x="3028950" y="857250"/>
            <a:ext cx="3086100" cy="2314575"/>
          </a:xfrm>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香农公式给出了通信系统所能达到的极限信息传输速率，但是，香农公式只证明了理想通信系统的“存在性”，却没有指出这种通信系统的实现方法。 </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47CC414-12BA-4AED-ACB5-D176269ACC5B}" type="slidenum">
              <a:rPr lang="en-US" altLang="zh-CN"/>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891B897-4A42-48FA-975F-8C0ADFEBCFB3}" type="slidenum">
              <a:rPr lang="en-US" altLang="zh-CN" smtClean="0"/>
            </a:fld>
            <a:r>
              <a:rPr lang="en-US" altLang="zh-CN"/>
              <a:t>/69</a:t>
            </a:r>
            <a:endParaRPr lang="en-US" altLang="zh-CN"/>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3"/>
            <a:ext cx="7793037" cy="919162"/>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27101" y="1538288"/>
            <a:ext cx="3944938" cy="4951412"/>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5024438" y="1538288"/>
            <a:ext cx="3944937" cy="2398712"/>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5024438" y="4089400"/>
            <a:ext cx="3944937" cy="2400300"/>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11"/>
          <p:cNvSpPr>
            <a:spLocks noGrp="1" noChangeArrowheads="1"/>
          </p:cNvSpPr>
          <p:nvPr>
            <p:ph type="dt" sz="half" idx="10"/>
          </p:nvPr>
        </p:nvSpPr>
        <p:spPr/>
        <p:txBody>
          <a:bodyPr/>
          <a:lstStyle>
            <a:lvl1pPr>
              <a:defRPr/>
            </a:lvl1pPr>
          </a:lstStyle>
          <a:p>
            <a:pPr>
              <a:defRPr/>
            </a:pPr>
            <a:endParaRPr lang="en-US" altLang="zh-CN"/>
          </a:p>
        </p:txBody>
      </p:sp>
      <p:sp>
        <p:nvSpPr>
          <p:cNvPr id="7" name="Rectangle 12"/>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defTabSz="914400">
              <a:defRPr/>
            </a:pPr>
            <a:endParaRPr lang="zh-CN" altLang="en-US"/>
          </a:p>
        </p:txBody>
      </p:sp>
      <p:sp>
        <p:nvSpPr>
          <p:cNvPr id="5" name="Footer Placeholder 4"/>
          <p:cNvSpPr>
            <a:spLocks noGrp="1"/>
          </p:cNvSpPr>
          <p:nvPr>
            <p:ph type="ftr" sz="quarter" idx="11"/>
          </p:nvPr>
        </p:nvSpPr>
        <p:spPr/>
        <p:txBody>
          <a:bodyPr/>
          <a:lstStyle/>
          <a:p>
            <a:pPr defTabSz="914400">
              <a:defRPr/>
            </a:pP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defTabSz="914400">
              <a:defRPr/>
            </a:pPr>
            <a:endParaRPr lang="zh-CN" altLang="en-US"/>
          </a:p>
        </p:txBody>
      </p:sp>
      <p:sp>
        <p:nvSpPr>
          <p:cNvPr id="5" name="Footer Placeholder 4"/>
          <p:cNvSpPr>
            <a:spLocks noGrp="1"/>
          </p:cNvSpPr>
          <p:nvPr>
            <p:ph type="ftr" sz="quarter" idx="11"/>
          </p:nvPr>
        </p:nvSpPr>
        <p:spPr/>
        <p:txBody>
          <a:bodyPr/>
          <a:lstStyle/>
          <a:p>
            <a:pPr defTabSz="914400">
              <a:defRPr/>
            </a:pP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pPr defTabSz="914400">
              <a:defRPr/>
            </a:pPr>
            <a:endParaRPr lang="zh-CN" altLang="en-US"/>
          </a:p>
        </p:txBody>
      </p:sp>
      <p:sp>
        <p:nvSpPr>
          <p:cNvPr id="5" name="Footer Placeholder 4"/>
          <p:cNvSpPr>
            <a:spLocks noGrp="1"/>
          </p:cNvSpPr>
          <p:nvPr>
            <p:ph type="ftr" sz="quarter" idx="11"/>
          </p:nvPr>
        </p:nvSpPr>
        <p:spPr/>
        <p:txBody>
          <a:bodyPr/>
          <a:lstStyle/>
          <a:p>
            <a:pPr defTabSz="914400">
              <a:defRPr/>
            </a:pPr>
            <a:endParaRPr lang="zh-CN" alt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pPr defTabSz="914400">
              <a:defRPr/>
            </a:pPr>
            <a:endParaRPr lang="zh-CN" altLang="en-US"/>
          </a:p>
        </p:txBody>
      </p:sp>
      <p:sp>
        <p:nvSpPr>
          <p:cNvPr id="6" name="Footer Placeholder 5"/>
          <p:cNvSpPr>
            <a:spLocks noGrp="1"/>
          </p:cNvSpPr>
          <p:nvPr>
            <p:ph type="ftr" sz="quarter" idx="11"/>
          </p:nvPr>
        </p:nvSpPr>
        <p:spPr/>
        <p:txBody>
          <a:bodyPr/>
          <a:lstStyle/>
          <a:p>
            <a:pPr defTabSz="914400">
              <a:defRPr/>
            </a:pPr>
            <a:endParaRPr lang="zh-CN" alt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pPr defTabSz="914400">
              <a:defRPr/>
            </a:pPr>
            <a:endParaRPr lang="zh-CN" altLang="en-US"/>
          </a:p>
        </p:txBody>
      </p:sp>
      <p:sp>
        <p:nvSpPr>
          <p:cNvPr id="8" name="Footer Placeholder 7"/>
          <p:cNvSpPr>
            <a:spLocks noGrp="1"/>
          </p:cNvSpPr>
          <p:nvPr>
            <p:ph type="ftr" sz="quarter" idx="11"/>
          </p:nvPr>
        </p:nvSpPr>
        <p:spPr/>
        <p:txBody>
          <a:bodyPr/>
          <a:lstStyle/>
          <a:p>
            <a:pPr defTabSz="914400">
              <a:defRPr/>
            </a:pPr>
            <a:endParaRPr lang="zh-CN" alt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defTabSz="914400">
              <a:defRPr/>
            </a:pPr>
            <a:endParaRPr lang="zh-CN" altLang="en-US"/>
          </a:p>
        </p:txBody>
      </p:sp>
      <p:sp>
        <p:nvSpPr>
          <p:cNvPr id="4" name="Footer Placeholder 3"/>
          <p:cNvSpPr>
            <a:spLocks noGrp="1"/>
          </p:cNvSpPr>
          <p:nvPr>
            <p:ph type="ftr" sz="quarter" idx="11"/>
          </p:nvPr>
        </p:nvSpPr>
        <p:spPr/>
        <p:txBody>
          <a:bodyPr/>
          <a:lstStyle/>
          <a:p>
            <a:pPr defTabSz="914400">
              <a:defRPr/>
            </a:pPr>
            <a:endParaRPr lang="zh-CN" alt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914400">
              <a:defRPr/>
            </a:pPr>
            <a:endParaRPr lang="zh-CN" altLang="en-US"/>
          </a:p>
        </p:txBody>
      </p:sp>
      <p:sp>
        <p:nvSpPr>
          <p:cNvPr id="3" name="Footer Placeholder 2"/>
          <p:cNvSpPr>
            <a:spLocks noGrp="1"/>
          </p:cNvSpPr>
          <p:nvPr>
            <p:ph type="ftr" sz="quarter" idx="11"/>
          </p:nvPr>
        </p:nvSpPr>
        <p:spPr/>
        <p:txBody>
          <a:bodyPr/>
          <a:lstStyle/>
          <a:p>
            <a:pPr defTabSz="914400">
              <a:defRPr/>
            </a:pPr>
            <a:endParaRPr lang="zh-CN" altLang="en-US"/>
          </a:p>
        </p:txBody>
      </p:sp>
      <p:sp>
        <p:nvSpPr>
          <p:cNvPr id="5" name="文本框 6"/>
          <p:cNvSpPr txBox="1"/>
          <p:nvPr userDrawn="1"/>
        </p:nvSpPr>
        <p:spPr>
          <a:xfrm>
            <a:off x="143828" y="1"/>
            <a:ext cx="7398503" cy="646331"/>
          </a:xfrm>
          <a:prstGeom prst="rect">
            <a:avLst/>
          </a:prstGeom>
          <a:noFill/>
          <a:ln w="9525">
            <a:noFill/>
          </a:ln>
        </p:spPr>
        <p:txBody>
          <a:bodyPr wrap="square" anchor="t" anchorCtr="0">
            <a:spAutoFit/>
          </a:bodyPr>
          <a:lstStyle/>
          <a:p>
            <a:pPr lvl="0" eaLnBrk="0" hangingPunct="0"/>
            <a:r>
              <a:rPr lang="en-US" altLang="zh-CN" dirty="0">
                <a:solidFill>
                  <a:srgbClr val="0070C0"/>
                </a:solidFill>
                <a:latin typeface="Arial" panose="020B0604020202020204" pitchFamily="34" charset="0"/>
                <a:ea typeface="宋体" panose="02010600030101010101" pitchFamily="2" charset="-122"/>
              </a:rPr>
              <a:t>Principles of Communications      Chapter 2  Random Processes—— Part 1</a:t>
            </a:r>
            <a:endParaRPr lang="en-US" altLang="zh-CN" dirty="0">
              <a:solidFill>
                <a:srgbClr val="0070C0"/>
              </a:solidFill>
              <a:latin typeface="Arial" panose="020B0604020202020204" pitchFamily="34" charset="0"/>
              <a:ea typeface="宋体" panose="02010600030101010101"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defTabSz="914400">
              <a:defRPr/>
            </a:pPr>
            <a:endParaRPr lang="zh-CN" altLang="en-US"/>
          </a:p>
        </p:txBody>
      </p:sp>
      <p:sp>
        <p:nvSpPr>
          <p:cNvPr id="6" name="Footer Placeholder 5"/>
          <p:cNvSpPr>
            <a:spLocks noGrp="1"/>
          </p:cNvSpPr>
          <p:nvPr>
            <p:ph type="ftr" sz="quarter" idx="11"/>
          </p:nvPr>
        </p:nvSpPr>
        <p:spPr/>
        <p:txBody>
          <a:bodyPr/>
          <a:lstStyle/>
          <a:p>
            <a:pPr defTabSz="914400">
              <a:defRPr/>
            </a:pPr>
            <a:endParaRPr lang="zh-CN" alt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defTabSz="914400">
              <a:defRPr/>
            </a:pPr>
            <a:endParaRPr lang="zh-CN" altLang="en-US"/>
          </a:p>
        </p:txBody>
      </p:sp>
      <p:sp>
        <p:nvSpPr>
          <p:cNvPr id="6" name="Footer Placeholder 5"/>
          <p:cNvSpPr>
            <a:spLocks noGrp="1"/>
          </p:cNvSpPr>
          <p:nvPr>
            <p:ph type="ftr" sz="quarter" idx="11"/>
          </p:nvPr>
        </p:nvSpPr>
        <p:spPr/>
        <p:txBody>
          <a:bodyPr/>
          <a:lstStyle/>
          <a:p>
            <a:pPr defTabSz="914400">
              <a:defRPr/>
            </a:pPr>
            <a:endParaRPr lang="zh-CN" alt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defTabSz="914400">
              <a:defRPr/>
            </a:pPr>
            <a:endParaRPr lang="zh-CN" altLang="en-US"/>
          </a:p>
        </p:txBody>
      </p:sp>
      <p:sp>
        <p:nvSpPr>
          <p:cNvPr id="5" name="Footer Placeholder 4"/>
          <p:cNvSpPr>
            <a:spLocks noGrp="1"/>
          </p:cNvSpPr>
          <p:nvPr>
            <p:ph type="ftr" sz="quarter" idx="11"/>
          </p:nvPr>
        </p:nvSpPr>
        <p:spPr/>
        <p:txBody>
          <a:bodyPr/>
          <a:lstStyle/>
          <a:p>
            <a:pPr defTabSz="914400">
              <a:defRPr/>
            </a:pPr>
            <a:endParaRPr lang="zh-CN" alt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defTabSz="914400">
              <a:defRPr/>
            </a:pPr>
            <a:endParaRPr lang="zh-CN" altLang="en-US"/>
          </a:p>
        </p:txBody>
      </p:sp>
      <p:sp>
        <p:nvSpPr>
          <p:cNvPr id="5" name="Footer Placeholder 4"/>
          <p:cNvSpPr>
            <a:spLocks noGrp="1"/>
          </p:cNvSpPr>
          <p:nvPr>
            <p:ph type="ftr" sz="quarter" idx="11"/>
          </p:nvPr>
        </p:nvSpPr>
        <p:spPr/>
        <p:txBody>
          <a:bodyPr/>
          <a:lstStyle/>
          <a:p>
            <a:pPr defTabSz="914400">
              <a:defRPr/>
            </a:pPr>
            <a:endParaRPr lang="zh-CN" altLang="en-US"/>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FEAC4BDC-F0C8-4D86-BBC0-2FE13A9F7553}" type="slidenum">
              <a:rPr lang="en-US" altLang="zh-CN"/>
            </a:fld>
            <a:r>
              <a:rPr lang="en-US" altLang="zh-CN"/>
              <a:t>/69</a:t>
            </a:r>
            <a:endParaRPr lang="en-US" altLang="zh-CN"/>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150940" y="214313"/>
            <a:ext cx="7793037" cy="919162"/>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27102" y="1538288"/>
            <a:ext cx="3944938" cy="2398712"/>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quarter" idx="2"/>
          </p:nvPr>
        </p:nvSpPr>
        <p:spPr>
          <a:xfrm>
            <a:off x="5024438" y="1538288"/>
            <a:ext cx="3944937" cy="2398712"/>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27102" y="4089400"/>
            <a:ext cx="3944938" cy="2400300"/>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5024438" y="4089400"/>
            <a:ext cx="3944937" cy="2400300"/>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a:xfrm>
            <a:off x="6858000" y="6248400"/>
            <a:ext cx="1905000" cy="457200"/>
          </a:xfrm>
          <a:prstGeom prst="rect">
            <a:avLst/>
          </a:prstGeom>
        </p:spPr>
        <p:txBody>
          <a:bodyPr/>
          <a:lstStyle>
            <a:lvl1pPr>
              <a:defRPr/>
            </a:lvl1pPr>
          </a:lstStyle>
          <a:p>
            <a:fld id="{66B3B8EB-B6A4-4388-AD54-72480ABF0356}" type="slidenum">
              <a:rPr lang="en-US" altLang="zh-CN" smtClean="0"/>
            </a:fld>
            <a:r>
              <a:rPr lang="en-US" altLang="zh-CN" dirty="0"/>
              <a:t>/54</a:t>
            </a:r>
            <a:endParaRPr lang="en-US" altLang="zh-CN"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1.png"/><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4.xml"/><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891B897-4A42-48FA-975F-8C0ADFEBCFB3}" type="slidenum">
              <a:rPr lang="en-US" altLang="zh-CN" smtClean="0"/>
            </a:fld>
            <a:r>
              <a:rPr lang="en-US" altLang="zh-CN"/>
              <a:t>/69</a:t>
            </a: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defRPr/>
            </a:pPr>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defRPr/>
            </a:pPr>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6013" y="333375"/>
            <a:ext cx="5715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lstStyle/>
          <a:p>
            <a:pPr lvl="0"/>
            <a:r>
              <a:rPr lang="zh-CN" altLang="en-US"/>
              <a:t>标题</a:t>
            </a:r>
            <a:endParaRPr lang="zh-CN" altLang="en-US"/>
          </a:p>
        </p:txBody>
      </p:sp>
      <p:sp>
        <p:nvSpPr>
          <p:cNvPr id="1027" name="Rectangle 3"/>
          <p:cNvSpPr>
            <a:spLocks noGrp="1" noChangeArrowheads="1"/>
          </p:cNvSpPr>
          <p:nvPr>
            <p:ph type="body" idx="1"/>
          </p:nvPr>
        </p:nvSpPr>
        <p:spPr bwMode="auto">
          <a:xfrm>
            <a:off x="539751" y="1219200"/>
            <a:ext cx="80645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r>
              <a:rPr lang="en-US" altLang="zh-CN"/>
              <a:t>first</a:t>
            </a:r>
            <a:endParaRPr lang="en-US" altLang="zh-CN"/>
          </a:p>
          <a:p>
            <a:pPr lvl="1"/>
            <a:r>
              <a:rPr lang="zh-CN" altLang="en-US"/>
              <a:t>第二级</a:t>
            </a:r>
            <a:r>
              <a:rPr lang="en-US" altLang="zh-CN"/>
              <a:t>second</a:t>
            </a:r>
            <a:endParaRPr lang="en-US" altLang="zh-CN"/>
          </a:p>
          <a:p>
            <a:pPr lvl="2"/>
            <a:r>
              <a:rPr lang="zh-CN" altLang="en-US"/>
              <a:t>第三级</a:t>
            </a:r>
            <a:r>
              <a:rPr lang="en-US" altLang="zh-CN"/>
              <a:t>third</a:t>
            </a:r>
            <a:endParaRPr lang="en-US" altLang="zh-CN"/>
          </a:p>
          <a:p>
            <a:pPr lvl="3"/>
            <a:r>
              <a:rPr lang="zh-CN" altLang="en-US"/>
              <a:t>第四级</a:t>
            </a:r>
            <a:r>
              <a:rPr lang="en-US" altLang="zh-CN"/>
              <a:t>forth</a:t>
            </a:r>
            <a:endParaRPr lang="en-US" altLang="zh-CN"/>
          </a:p>
        </p:txBody>
      </p:sp>
      <p:sp>
        <p:nvSpPr>
          <p:cNvPr id="4100" name="Rectangle 4"/>
          <p:cNvSpPr>
            <a:spLocks noGrp="1" noChangeArrowheads="1"/>
          </p:cNvSpPr>
          <p:nvPr>
            <p:ph type="dt" sz="half" idx="2"/>
          </p:nvPr>
        </p:nvSpPr>
        <p:spPr bwMode="auto">
          <a:xfrm>
            <a:off x="304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0" hangingPunct="0">
              <a:lnSpc>
                <a:spcPct val="100000"/>
              </a:lnSpc>
              <a:spcBef>
                <a:spcPct val="0"/>
              </a:spcBef>
              <a:spcAft>
                <a:spcPct val="0"/>
              </a:spcAft>
              <a:buClrTx/>
              <a:buFontTx/>
              <a:buNone/>
              <a:defRPr sz="1200" b="0">
                <a:solidFill>
                  <a:srgbClr val="FF00FF"/>
                </a:solidFill>
                <a:latin typeface="Tahoma" panose="020B0604030504040204" pitchFamily="34" charset="0"/>
                <a:ea typeface="宋体" panose="02010600030101010101" pitchFamily="2" charset="-122"/>
              </a:defRPr>
            </a:lvl1pPr>
          </a:lstStyle>
          <a:p>
            <a:pPr>
              <a:defRPr/>
            </a:pPr>
            <a:endParaRPr lang="zh-CN" altLang="en-US"/>
          </a:p>
        </p:txBody>
      </p:sp>
      <p:sp>
        <p:nvSpPr>
          <p:cNvPr id="4101" name="Rectangle 5"/>
          <p:cNvSpPr>
            <a:spLocks noGrp="1" noChangeArrowheads="1"/>
          </p:cNvSpPr>
          <p:nvPr>
            <p:ph type="ftr" sz="quarter" idx="3"/>
          </p:nvPr>
        </p:nvSpPr>
        <p:spPr bwMode="auto">
          <a:xfrm>
            <a:off x="2362200" y="6248400"/>
            <a:ext cx="4343400" cy="457200"/>
          </a:xfrm>
          <a:prstGeom prst="rect">
            <a:avLst/>
          </a:prstGeom>
          <a:noFill/>
          <a:ln w="9525">
            <a:noFill/>
            <a:miter lim="800000"/>
          </a:ln>
          <a:effectLst/>
        </p:spPr>
        <p:txBody>
          <a:bodyPr vert="horz" wrap="square" lIns="91440" tIns="45720" rIns="91440" bIns="45720" numCol="1" anchor="t" anchorCtr="0" compatLnSpc="1"/>
          <a:lstStyle>
            <a:lvl1pPr eaLnBrk="0" hangingPunct="0">
              <a:lnSpc>
                <a:spcPct val="100000"/>
              </a:lnSpc>
              <a:spcBef>
                <a:spcPct val="0"/>
              </a:spcBef>
              <a:spcAft>
                <a:spcPct val="0"/>
              </a:spcAft>
              <a:buClrTx/>
              <a:buFontTx/>
              <a:buNone/>
              <a:defRPr sz="1350" b="0">
                <a:solidFill>
                  <a:srgbClr val="FF00FF"/>
                </a:solidFill>
                <a:latin typeface="Tahoma" panose="020B0604030504040204" pitchFamily="34" charset="0"/>
                <a:ea typeface="华文新魏" panose="02010800040101010101" pitchFamily="2" charset="-122"/>
              </a:defRPr>
            </a:lvl1pPr>
          </a:lstStyle>
          <a:p>
            <a:pPr>
              <a:defRPr/>
            </a:pPr>
            <a:endParaRPr lang="zh-CN" altLang="en-US"/>
          </a:p>
        </p:txBody>
      </p:sp>
      <p:sp>
        <p:nvSpPr>
          <p:cNvPr id="4102" name="Rectangle 6"/>
          <p:cNvSpPr>
            <a:spLocks noGrp="1" noChangeArrowheads="1"/>
          </p:cNvSpPr>
          <p:nvPr>
            <p:ph type="sldNum" sz="quarter" idx="4"/>
          </p:nvPr>
        </p:nvSpPr>
        <p:spPr bwMode="auto">
          <a:xfrm>
            <a:off x="68580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smtClean="0">
                <a:solidFill>
                  <a:srgbClr val="FF00FF"/>
                </a:solidFill>
                <a:latin typeface="Tahoma" panose="020B0604030504040204" pitchFamily="34" charset="0"/>
              </a:defRPr>
            </a:lvl1pPr>
          </a:lstStyle>
          <a:p>
            <a:pPr>
              <a:defRPr/>
            </a:pPr>
            <a:fld id="{F891B897-4A42-48FA-975F-8C0ADFEBCFB3}" type="slidenum">
              <a:rPr lang="en-US" altLang="zh-CN"/>
            </a:fld>
            <a:r>
              <a:rPr lang="en-US" altLang="zh-CN"/>
              <a:t>/69</a:t>
            </a:r>
            <a:endParaRPr lang="en-US" altLang="zh-CN"/>
          </a:p>
        </p:txBody>
      </p:sp>
      <p:sp>
        <p:nvSpPr>
          <p:cNvPr id="1031" name="Freeform 7"/>
          <p:cNvSpPr/>
          <p:nvPr/>
        </p:nvSpPr>
        <p:spPr bwMode="auto">
          <a:xfrm>
            <a:off x="0" y="0"/>
            <a:ext cx="9144000" cy="304800"/>
          </a:xfrm>
          <a:custGeom>
            <a:avLst/>
            <a:gdLst>
              <a:gd name="T0" fmla="*/ 0 w 5495"/>
              <a:gd name="T1" fmla="*/ 0 h 106"/>
              <a:gd name="T2" fmla="*/ 5494 w 5495"/>
              <a:gd name="T3" fmla="*/ 0 h 106"/>
              <a:gd name="T4" fmla="*/ 5494 w 5495"/>
              <a:gd name="T5" fmla="*/ 105 h 106"/>
              <a:gd name="T6" fmla="*/ 0 w 5495"/>
              <a:gd name="T7" fmla="*/ 105 h 106"/>
              <a:gd name="T8" fmla="*/ 0 w 5495"/>
              <a:gd name="T9" fmla="*/ 0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95" h="106">
                <a:moveTo>
                  <a:pt x="0" y="0"/>
                </a:moveTo>
                <a:lnTo>
                  <a:pt x="5494" y="0"/>
                </a:lnTo>
                <a:lnTo>
                  <a:pt x="5494" y="105"/>
                </a:lnTo>
                <a:lnTo>
                  <a:pt x="0" y="105"/>
                </a:lnTo>
                <a:lnTo>
                  <a:pt x="0" y="0"/>
                </a:lnTo>
              </a:path>
            </a:pathLst>
          </a:custGeom>
          <a:gradFill rotWithShape="0">
            <a:gsLst>
              <a:gs pos="0">
                <a:srgbClr val="B2D5FF"/>
              </a:gs>
              <a:gs pos="100000">
                <a:srgbClr val="0073FF"/>
              </a:gs>
            </a:gsLst>
            <a:lin ang="0" scaled="1"/>
          </a:gra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sz="1350"/>
          </a:p>
        </p:txBody>
      </p:sp>
    </p:spTree>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ctr" rtl="0" eaLnBrk="0" fontAlgn="base" hangingPunct="0">
        <a:spcBef>
          <a:spcPct val="0"/>
        </a:spcBef>
        <a:spcAft>
          <a:spcPct val="0"/>
        </a:spcAft>
        <a:defRPr kumimoji="1" sz="2700" b="1">
          <a:solidFill>
            <a:srgbClr val="FF3300"/>
          </a:solidFill>
          <a:latin typeface="+mj-lt"/>
          <a:ea typeface="+mj-ea"/>
          <a:cs typeface="+mj-cs"/>
        </a:defRPr>
      </a:lvl1pPr>
      <a:lvl2pPr algn="ctr" rtl="0" eaLnBrk="0" fontAlgn="base" hangingPunct="0">
        <a:spcBef>
          <a:spcPct val="0"/>
        </a:spcBef>
        <a:spcAft>
          <a:spcPct val="0"/>
        </a:spcAft>
        <a:defRPr kumimoji="1" sz="2700" b="1">
          <a:solidFill>
            <a:srgbClr val="FF3300"/>
          </a:solidFill>
          <a:latin typeface="Times New Roman" panose="02020603050405020304" pitchFamily="18" charset="0"/>
          <a:ea typeface="楷体_GB2312" pitchFamily="49" charset="-122"/>
        </a:defRPr>
      </a:lvl2pPr>
      <a:lvl3pPr algn="ctr" rtl="0" eaLnBrk="0" fontAlgn="base" hangingPunct="0">
        <a:spcBef>
          <a:spcPct val="0"/>
        </a:spcBef>
        <a:spcAft>
          <a:spcPct val="0"/>
        </a:spcAft>
        <a:defRPr kumimoji="1" sz="2700" b="1">
          <a:solidFill>
            <a:srgbClr val="FF3300"/>
          </a:solidFill>
          <a:latin typeface="Times New Roman" panose="02020603050405020304" pitchFamily="18" charset="0"/>
          <a:ea typeface="楷体_GB2312" pitchFamily="49" charset="-122"/>
        </a:defRPr>
      </a:lvl3pPr>
      <a:lvl4pPr algn="ctr" rtl="0" eaLnBrk="0" fontAlgn="base" hangingPunct="0">
        <a:spcBef>
          <a:spcPct val="0"/>
        </a:spcBef>
        <a:spcAft>
          <a:spcPct val="0"/>
        </a:spcAft>
        <a:defRPr kumimoji="1" sz="2700" b="1">
          <a:solidFill>
            <a:srgbClr val="FF3300"/>
          </a:solidFill>
          <a:latin typeface="Times New Roman" panose="02020603050405020304" pitchFamily="18" charset="0"/>
          <a:ea typeface="楷体_GB2312" pitchFamily="49" charset="-122"/>
        </a:defRPr>
      </a:lvl4pPr>
      <a:lvl5pPr algn="ctr" rtl="0" eaLnBrk="0" fontAlgn="base" hangingPunct="0">
        <a:spcBef>
          <a:spcPct val="0"/>
        </a:spcBef>
        <a:spcAft>
          <a:spcPct val="0"/>
        </a:spcAft>
        <a:defRPr kumimoji="1" sz="2700" b="1">
          <a:solidFill>
            <a:srgbClr val="FF3300"/>
          </a:solidFill>
          <a:latin typeface="Times New Roman" panose="02020603050405020304" pitchFamily="18" charset="0"/>
          <a:ea typeface="楷体_GB2312" pitchFamily="49" charset="-122"/>
        </a:defRPr>
      </a:lvl5pPr>
      <a:lvl6pPr marL="342900" algn="ctr" rtl="0" fontAlgn="base">
        <a:spcBef>
          <a:spcPct val="0"/>
        </a:spcBef>
        <a:spcAft>
          <a:spcPct val="0"/>
        </a:spcAft>
        <a:defRPr kumimoji="1" sz="2700" b="1">
          <a:solidFill>
            <a:srgbClr val="FF3300"/>
          </a:solidFill>
          <a:latin typeface="Times New Roman" panose="02020603050405020304" pitchFamily="18" charset="0"/>
          <a:ea typeface="楷体_GB2312" pitchFamily="49" charset="-122"/>
        </a:defRPr>
      </a:lvl6pPr>
      <a:lvl7pPr marL="685800" algn="ctr" rtl="0" fontAlgn="base">
        <a:spcBef>
          <a:spcPct val="0"/>
        </a:spcBef>
        <a:spcAft>
          <a:spcPct val="0"/>
        </a:spcAft>
        <a:defRPr kumimoji="1" sz="2700" b="1">
          <a:solidFill>
            <a:srgbClr val="FF3300"/>
          </a:solidFill>
          <a:latin typeface="Times New Roman" panose="02020603050405020304" pitchFamily="18" charset="0"/>
          <a:ea typeface="楷体_GB2312" pitchFamily="49" charset="-122"/>
        </a:defRPr>
      </a:lvl7pPr>
      <a:lvl8pPr marL="1028700" algn="ctr" rtl="0" fontAlgn="base">
        <a:spcBef>
          <a:spcPct val="0"/>
        </a:spcBef>
        <a:spcAft>
          <a:spcPct val="0"/>
        </a:spcAft>
        <a:defRPr kumimoji="1" sz="2700" b="1">
          <a:solidFill>
            <a:srgbClr val="FF3300"/>
          </a:solidFill>
          <a:latin typeface="Times New Roman" panose="02020603050405020304" pitchFamily="18" charset="0"/>
          <a:ea typeface="楷体_GB2312" pitchFamily="49" charset="-122"/>
        </a:defRPr>
      </a:lvl8pPr>
      <a:lvl9pPr marL="1371600" algn="ctr" rtl="0" fontAlgn="base">
        <a:spcBef>
          <a:spcPct val="0"/>
        </a:spcBef>
        <a:spcAft>
          <a:spcPct val="0"/>
        </a:spcAft>
        <a:defRPr kumimoji="1" sz="2700" b="1">
          <a:solidFill>
            <a:srgbClr val="FF3300"/>
          </a:solidFill>
          <a:latin typeface="Times New Roman" panose="02020603050405020304" pitchFamily="18" charset="0"/>
          <a:ea typeface="楷体_GB2312" pitchFamily="49" charset="-122"/>
        </a:defRPr>
      </a:lvl9pPr>
    </p:titleStyle>
    <p:bodyStyle>
      <a:lvl1pPr marL="257175" indent="-257175" algn="l" rtl="0" eaLnBrk="0" fontAlgn="base" hangingPunct="0">
        <a:lnSpc>
          <a:spcPct val="115000"/>
        </a:lnSpc>
        <a:spcBef>
          <a:spcPct val="20000"/>
        </a:spcBef>
        <a:spcAft>
          <a:spcPct val="20000"/>
        </a:spcAft>
        <a:buClr>
          <a:srgbClr val="FF3300"/>
        </a:buClr>
        <a:buFont typeface="Wingdings" panose="05000000000000000000" pitchFamily="2" charset="2"/>
        <a:buBlip>
          <a:blip r:embed="rId2"/>
        </a:buBlip>
        <a:defRPr kumimoji="1" sz="2100" b="1">
          <a:solidFill>
            <a:schemeClr val="tx1"/>
          </a:solidFill>
          <a:latin typeface="+mn-lt"/>
          <a:ea typeface="+mn-ea"/>
          <a:cs typeface="+mn-cs"/>
        </a:defRPr>
      </a:lvl1pPr>
      <a:lvl2pPr marL="557530" indent="-214630" algn="l" rtl="0" eaLnBrk="0" fontAlgn="base" hangingPunct="0">
        <a:lnSpc>
          <a:spcPct val="115000"/>
        </a:lnSpc>
        <a:spcBef>
          <a:spcPct val="20000"/>
        </a:spcBef>
        <a:spcAft>
          <a:spcPct val="20000"/>
        </a:spcAft>
        <a:buClr>
          <a:srgbClr val="FF3300"/>
        </a:buClr>
        <a:buFont typeface="Wingdings" panose="05000000000000000000" pitchFamily="2" charset="2"/>
        <a:buChar char="v"/>
        <a:defRPr kumimoji="1" sz="1800" b="1">
          <a:solidFill>
            <a:schemeClr val="tx1"/>
          </a:solidFill>
          <a:latin typeface="+mn-lt"/>
          <a:ea typeface="+mn-ea"/>
        </a:defRPr>
      </a:lvl2pPr>
      <a:lvl3pPr marL="857250" indent="-171450" algn="l" rtl="0" eaLnBrk="0" fontAlgn="base" hangingPunct="0">
        <a:lnSpc>
          <a:spcPct val="115000"/>
        </a:lnSpc>
        <a:spcBef>
          <a:spcPct val="20000"/>
        </a:spcBef>
        <a:spcAft>
          <a:spcPct val="20000"/>
        </a:spcAft>
        <a:buClr>
          <a:srgbClr val="0000FF"/>
        </a:buClr>
        <a:buFont typeface="Wingdings" panose="05000000000000000000" pitchFamily="2" charset="2"/>
        <a:buChar char="Ø"/>
        <a:defRPr kumimoji="1" sz="1650" b="1">
          <a:solidFill>
            <a:schemeClr val="tx1"/>
          </a:solidFill>
          <a:latin typeface="+mn-lt"/>
          <a:ea typeface="+mn-ea"/>
        </a:defRPr>
      </a:lvl3pPr>
      <a:lvl4pPr marL="1200150" indent="-171450" algn="l" rtl="0" eaLnBrk="0" fontAlgn="base" hangingPunct="0">
        <a:lnSpc>
          <a:spcPct val="115000"/>
        </a:lnSpc>
        <a:spcBef>
          <a:spcPct val="20000"/>
        </a:spcBef>
        <a:spcAft>
          <a:spcPct val="20000"/>
        </a:spcAft>
        <a:buClr>
          <a:srgbClr val="FF3300"/>
        </a:buClr>
        <a:buChar char="•"/>
        <a:defRPr kumimoji="1" sz="1500" b="1">
          <a:solidFill>
            <a:schemeClr val="tx1"/>
          </a:solidFill>
          <a:latin typeface="+mn-lt"/>
          <a:ea typeface="+mn-ea"/>
        </a:defRPr>
      </a:lvl4pPr>
      <a:lvl5pPr marL="1543050" indent="-171450" algn="l" rtl="0" eaLnBrk="0" fontAlgn="base" hangingPunct="0">
        <a:spcBef>
          <a:spcPct val="20000"/>
        </a:spcBef>
        <a:spcAft>
          <a:spcPct val="0"/>
        </a:spcAft>
        <a:buChar char="»"/>
        <a:defRPr kumimoji="1" sz="1500">
          <a:solidFill>
            <a:schemeClr val="tx1"/>
          </a:solidFill>
          <a:latin typeface="+mj-lt"/>
          <a:ea typeface="宋体" panose="02010600030101010101" pitchFamily="2" charset="-122"/>
        </a:defRPr>
      </a:lvl5pPr>
      <a:lvl6pPr marL="1885950" indent="-171450" algn="l" rtl="0" fontAlgn="base">
        <a:spcBef>
          <a:spcPct val="20000"/>
        </a:spcBef>
        <a:spcAft>
          <a:spcPct val="0"/>
        </a:spcAft>
        <a:buChar char="»"/>
        <a:defRPr kumimoji="1" sz="1500">
          <a:solidFill>
            <a:schemeClr val="tx1"/>
          </a:solidFill>
          <a:latin typeface="+mj-lt"/>
          <a:ea typeface="宋体" panose="02010600030101010101" pitchFamily="2" charset="-122"/>
        </a:defRPr>
      </a:lvl6pPr>
      <a:lvl7pPr marL="2228850" indent="-171450" algn="l" rtl="0" fontAlgn="base">
        <a:spcBef>
          <a:spcPct val="20000"/>
        </a:spcBef>
        <a:spcAft>
          <a:spcPct val="0"/>
        </a:spcAft>
        <a:buChar char="»"/>
        <a:defRPr kumimoji="1" sz="1500">
          <a:solidFill>
            <a:schemeClr val="tx1"/>
          </a:solidFill>
          <a:latin typeface="+mj-lt"/>
          <a:ea typeface="宋体" panose="02010600030101010101" pitchFamily="2" charset="-122"/>
        </a:defRPr>
      </a:lvl7pPr>
      <a:lvl8pPr marL="2571750" indent="-171450" algn="l" rtl="0" fontAlgn="base">
        <a:spcBef>
          <a:spcPct val="20000"/>
        </a:spcBef>
        <a:spcAft>
          <a:spcPct val="0"/>
        </a:spcAft>
        <a:buChar char="»"/>
        <a:defRPr kumimoji="1" sz="1500">
          <a:solidFill>
            <a:schemeClr val="tx1"/>
          </a:solidFill>
          <a:latin typeface="+mj-lt"/>
          <a:ea typeface="宋体" panose="02010600030101010101" pitchFamily="2" charset="-122"/>
        </a:defRPr>
      </a:lvl8pPr>
      <a:lvl9pPr marL="2914650" indent="-171450" algn="l" rtl="0" fontAlgn="base">
        <a:spcBef>
          <a:spcPct val="20000"/>
        </a:spcBef>
        <a:spcAft>
          <a:spcPct val="0"/>
        </a:spcAft>
        <a:buChar char="»"/>
        <a:defRPr kumimoji="1" sz="1500">
          <a:solidFill>
            <a:schemeClr val="tx1"/>
          </a:solidFill>
          <a:latin typeface="+mj-lt"/>
          <a:ea typeface="宋体" panose="02010600030101010101" pitchFamily="2" charset="-122"/>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5.wmf"/><Relationship Id="rId7" Type="http://schemas.openxmlformats.org/officeDocument/2006/relationships/oleObject" Target="../embeddings/oleObject5.bin"/><Relationship Id="rId6" Type="http://schemas.openxmlformats.org/officeDocument/2006/relationships/image" Target="../media/image24.wmf"/><Relationship Id="rId5" Type="http://schemas.openxmlformats.org/officeDocument/2006/relationships/oleObject" Target="../embeddings/oleObject4.bin"/><Relationship Id="rId4" Type="http://schemas.openxmlformats.org/officeDocument/2006/relationships/image" Target="../media/image23.wmf"/><Relationship Id="rId3" Type="http://schemas.openxmlformats.org/officeDocument/2006/relationships/oleObject" Target="../embeddings/oleObject3.bin"/><Relationship Id="rId2" Type="http://schemas.openxmlformats.org/officeDocument/2006/relationships/image" Target="../media/image22.wmf"/><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6.xml"/><Relationship Id="rId2" Type="http://schemas.openxmlformats.org/officeDocument/2006/relationships/image" Target="../media/image28.png"/><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6.xml"/><Relationship Id="rId2" Type="http://schemas.openxmlformats.org/officeDocument/2006/relationships/image" Target="../media/image28.png"/><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9.wmf"/><Relationship Id="rId3" Type="http://schemas.openxmlformats.org/officeDocument/2006/relationships/oleObject" Target="../embeddings/oleObject8.bin"/><Relationship Id="rId2" Type="http://schemas.openxmlformats.org/officeDocument/2006/relationships/image" Target="../media/image26.wmf"/><Relationship Id="rId1"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31.png"/><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vmlDrawing" Target="../drawings/vmlDrawing5.vml"/><Relationship Id="rId7"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34.wmf"/><Relationship Id="rId2" Type="http://schemas.openxmlformats.org/officeDocument/2006/relationships/oleObject" Target="../embeddings/oleObject9.bin"/><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1.png"/><Relationship Id="rId1" Type="http://schemas.openxmlformats.org/officeDocument/2006/relationships/image" Target="../media/image40.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5.png"/></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jpeg"/><Relationship Id="rId1"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p:cNvSpPr>
          <p:nvPr>
            <p:ph type="ctrTitle"/>
          </p:nvPr>
        </p:nvSpPr>
        <p:spPr>
          <a:xfrm>
            <a:off x="-561561" y="1092284"/>
            <a:ext cx="9491869" cy="3156230"/>
          </a:xfrm>
        </p:spPr>
        <p:txBody>
          <a:bodyPr vert="horz" wrap="square" lIns="91440" tIns="45720" rIns="91440" bIns="45720" anchor="ctr" anchorCtr="1">
            <a:normAutofit fontScale="90000"/>
          </a:bodyPr>
          <a:lstStyle/>
          <a:p>
            <a:pPr algn="l" eaLnBrk="1" hangingPunct="1">
              <a:lnSpc>
                <a:spcPct val="120000"/>
              </a:lnSpc>
              <a:buClrTx/>
              <a:buSzTx/>
              <a:buFontTx/>
            </a:pPr>
            <a:br>
              <a:rPr lang="en-US" altLang="zh-CN" sz="3200" dirty="0">
                <a:latin typeface="Times New Roman" panose="02020603050405020304" pitchFamily="18" charset="0"/>
                <a:ea typeface="黑体" panose="02010609060101010101" pitchFamily="49" charset="-122"/>
                <a:cs typeface="Times New Roman" panose="02020603050405020304" pitchFamily="18" charset="0"/>
              </a:rPr>
            </a:b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4400" b="1" dirty="0">
                <a:latin typeface="Times New Roman" panose="02020603050405020304" pitchFamily="18" charset="0"/>
                <a:ea typeface="黑体" panose="02010609060101010101" pitchFamily="49" charset="-122"/>
                <a:cs typeface="Times New Roman" panose="02020603050405020304" pitchFamily="18" charset="0"/>
              </a:rPr>
              <a:t>Principles of communications </a:t>
            </a:r>
            <a:br>
              <a:rPr lang="en-US" altLang="zh-CN" sz="4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br>
            <a:br>
              <a:rPr lang="en-US" altLang="zh-CN" sz="4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br>
            <a:r>
              <a:rPr lang="en-US" altLang="zh-CN" sz="3600" b="1" dirty="0">
                <a:latin typeface="Times New Roman" panose="02020603050405020304" pitchFamily="18" charset="0"/>
                <a:ea typeface="黑体" panose="02010609060101010101" pitchFamily="49" charset="-122"/>
                <a:cs typeface="Times New Roman" panose="02020603050405020304" pitchFamily="18" charset="0"/>
              </a:rPr>
              <a:t>                Chapter 3  Channel—Part II</a:t>
            </a:r>
            <a:br>
              <a:rPr lang="en-US" altLang="zh-CN" sz="3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br>
            <a:r>
              <a:rPr lang="en-US" altLang="zh-CN" sz="49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Channel Capacity</a:t>
            </a:r>
            <a:br>
              <a:rPr lang="en-US" altLang="zh-CN" sz="49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br>
            <a:r>
              <a:rPr lang="en-US" altLang="zh-CN" sz="49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49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4900" b="1" dirty="0">
                <a:latin typeface="Times New Roman" panose="02020603050405020304" pitchFamily="18" charset="0"/>
                <a:ea typeface="黑体" panose="02010609060101010101" pitchFamily="49" charset="-122"/>
                <a:cs typeface="Times New Roman" panose="02020603050405020304" pitchFamily="18" charset="0"/>
              </a:rPr>
              <a:t>信道容量</a:t>
            </a:r>
            <a:br>
              <a:rPr lang="en-US" altLang="zh-CN" sz="4400" dirty="0">
                <a:ea typeface="黑体" panose="02010609060101010101" pitchFamily="49" charset="-122"/>
              </a:rPr>
            </a:br>
            <a:r>
              <a:rPr lang="en-US" altLang="zh-CN" sz="4400" dirty="0">
                <a:ea typeface="黑体" panose="02010609060101010101" pitchFamily="49" charset="-122"/>
              </a:rPr>
              <a:t>                                              </a:t>
            </a:r>
            <a:br>
              <a:rPr lang="en-US" altLang="zh-CN" sz="4400" dirty="0">
                <a:ea typeface="黑体" panose="02010609060101010101" pitchFamily="49" charset="-122"/>
              </a:rPr>
            </a:br>
            <a:r>
              <a:rPr lang="en-US" altLang="zh-CN" sz="4400" dirty="0">
                <a:ea typeface="黑体" panose="02010609060101010101" pitchFamily="49" charset="-122"/>
              </a:rPr>
              <a:t>                                 </a:t>
            </a:r>
            <a:endParaRPr lang="en-US" altLang="zh-CN" sz="4400" dirty="0">
              <a:ea typeface="黑体" panose="02010609060101010101" pitchFamily="49" charset="-122"/>
            </a:endParaRPr>
          </a:p>
        </p:txBody>
      </p:sp>
      <p:pic>
        <p:nvPicPr>
          <p:cNvPr id="4" name="图片 3"/>
          <p:cNvPicPr>
            <a:picLocks noChangeAspect="1"/>
          </p:cNvPicPr>
          <p:nvPr/>
        </p:nvPicPr>
        <p:blipFill rotWithShape="1">
          <a:blip r:embed="rId1" cstate="print"/>
          <a:srcRect t="51528"/>
          <a:stretch>
            <a:fillRect/>
          </a:stretch>
        </p:blipFill>
        <p:spPr>
          <a:xfrm>
            <a:off x="273388" y="4895577"/>
            <a:ext cx="8448136" cy="1728144"/>
          </a:xfrm>
          <a:prstGeom prst="rect">
            <a:avLst/>
          </a:prstGeom>
          <a:ln>
            <a:noFill/>
          </a:ln>
          <a:effectLst>
            <a:outerShdw blurRad="190500" algn="tl" rotWithShape="0">
              <a:srgbClr val="000000">
                <a:alpha val="70000"/>
              </a:srgbClr>
            </a:outerShdw>
          </a:effectLst>
        </p:spPr>
      </p:pic>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表格 17"/>
          <p:cNvGraphicFramePr>
            <a:graphicFrameLocks noGrp="1"/>
          </p:cNvGraphicFramePr>
          <p:nvPr/>
        </p:nvGraphicFramePr>
        <p:xfrm>
          <a:off x="0" y="1580321"/>
          <a:ext cx="9074424" cy="4716692"/>
        </p:xfrm>
        <a:graphic>
          <a:graphicData uri="http://schemas.openxmlformats.org/drawingml/2006/table">
            <a:tbl>
              <a:tblPr firstRow="1" bandRow="1">
                <a:tableStyleId>{5C22544A-7EE6-4342-B048-85BDC9FD1C3A}</a:tableStyleId>
              </a:tblPr>
              <a:tblGrid>
                <a:gridCol w="3024808"/>
                <a:gridCol w="3024808"/>
                <a:gridCol w="3024808"/>
              </a:tblGrid>
              <a:tr h="2358346">
                <a:tc>
                  <a:txBody>
                    <a:bodyPr/>
                    <a:lstStyle/>
                    <a:p>
                      <a:endParaRPr lang="zh-CN" altLang="en-US" dirty="0"/>
                    </a:p>
                  </a:txBody>
                  <a:tcPr>
                    <a:solidFill>
                      <a:schemeClr val="accent1">
                        <a:alpha val="34000"/>
                      </a:schemeClr>
                    </a:solidFill>
                  </a:tcPr>
                </a:tc>
                <a:tc>
                  <a:txBody>
                    <a:bodyPr/>
                    <a:lstStyle/>
                    <a:p>
                      <a:endParaRPr lang="zh-CN" altLang="en-US" dirty="0"/>
                    </a:p>
                  </a:txBody>
                  <a:tcPr>
                    <a:solidFill>
                      <a:schemeClr val="accent1">
                        <a:alpha val="34000"/>
                      </a:schemeClr>
                    </a:solidFill>
                  </a:tcPr>
                </a:tc>
                <a:tc>
                  <a:txBody>
                    <a:bodyPr/>
                    <a:lstStyle/>
                    <a:p>
                      <a:endParaRPr lang="zh-CN" altLang="en-US" dirty="0"/>
                    </a:p>
                  </a:txBody>
                  <a:tcPr>
                    <a:solidFill>
                      <a:schemeClr val="accent1">
                        <a:alpha val="34000"/>
                      </a:schemeClr>
                    </a:solidFill>
                  </a:tcPr>
                </a:tc>
              </a:tr>
              <a:tr h="2358346">
                <a:tc>
                  <a:txBody>
                    <a:bodyPr/>
                    <a:lstStyle/>
                    <a:p>
                      <a:endParaRPr lang="zh-CN" altLang="en-US" dirty="0"/>
                    </a:p>
                  </a:txBody>
                  <a:tcPr>
                    <a:solidFill>
                      <a:schemeClr val="accent1">
                        <a:tint val="40000"/>
                        <a:alpha val="34000"/>
                      </a:schemeClr>
                    </a:solidFill>
                  </a:tcPr>
                </a:tc>
                <a:tc>
                  <a:txBody>
                    <a:bodyPr/>
                    <a:lstStyle/>
                    <a:p>
                      <a:endParaRPr lang="zh-CN" altLang="en-US" dirty="0"/>
                    </a:p>
                  </a:txBody>
                  <a:tcPr>
                    <a:solidFill>
                      <a:schemeClr val="accent1">
                        <a:tint val="40000"/>
                        <a:alpha val="34000"/>
                      </a:schemeClr>
                    </a:solidFill>
                  </a:tcPr>
                </a:tc>
                <a:tc>
                  <a:txBody>
                    <a:bodyPr/>
                    <a:lstStyle/>
                    <a:p>
                      <a:endParaRPr lang="zh-CN" altLang="en-US" dirty="0"/>
                    </a:p>
                  </a:txBody>
                  <a:tcPr>
                    <a:solidFill>
                      <a:schemeClr val="accent1">
                        <a:tint val="40000"/>
                        <a:alpha val="34000"/>
                      </a:schemeClr>
                    </a:solidFill>
                  </a:tcPr>
                </a:tc>
              </a:tr>
            </a:tbl>
          </a:graphicData>
        </a:graphic>
      </p:graphicFrame>
      <p:pic>
        <p:nvPicPr>
          <p:cNvPr id="18" name="图片 17"/>
          <p:cNvPicPr>
            <a:picLocks noChangeAspect="1"/>
          </p:cNvPicPr>
          <p:nvPr/>
        </p:nvPicPr>
        <p:blipFill>
          <a:blip r:embed="rId1"/>
          <a:stretch>
            <a:fillRect/>
          </a:stretch>
        </p:blipFill>
        <p:spPr>
          <a:xfrm>
            <a:off x="3054907" y="1823050"/>
            <a:ext cx="2964609" cy="1197654"/>
          </a:xfrm>
          <a:prstGeom prst="rect">
            <a:avLst/>
          </a:prstGeom>
        </p:spPr>
      </p:pic>
      <p:pic>
        <p:nvPicPr>
          <p:cNvPr id="20" name="Picture 6" descr="still23-1"/>
          <p:cNvPicPr>
            <a:picLocks noChangeAspect="1" noChangeArrowheads="1"/>
          </p:cNvPicPr>
          <p:nvPr/>
        </p:nvPicPr>
        <p:blipFill>
          <a:blip r:embed="rId2">
            <a:extLst>
              <a:ext uri="{28A0092B-C50C-407E-A947-70E740481C1C}">
                <a14:useLocalDpi xmlns:a14="http://schemas.microsoft.com/office/drawing/2010/main" val="0"/>
              </a:ext>
            </a:extLst>
          </a:blip>
          <a:srcRect t="11935" b="3978"/>
          <a:stretch>
            <a:fillRect/>
          </a:stretch>
        </p:blipFill>
        <p:spPr bwMode="auto">
          <a:xfrm>
            <a:off x="0" y="1626851"/>
            <a:ext cx="2807770" cy="187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5981" y="1707261"/>
            <a:ext cx="2533636" cy="153235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9"/>
          <p:cNvPicPr/>
          <p:nvPr/>
        </p:nvPicPr>
        <p:blipFill>
          <a:blip r:embed="rId4" cstate="print">
            <a:extLst>
              <a:ext uri="{28A0092B-C50C-407E-A947-70E740481C1C}">
                <a14:useLocalDpi xmlns:a14="http://schemas.microsoft.com/office/drawing/2010/main" val="0"/>
              </a:ext>
            </a:extLst>
          </a:blip>
          <a:srcRect/>
          <a:stretch>
            <a:fillRect/>
          </a:stretch>
        </p:blipFill>
        <p:spPr>
          <a:xfrm>
            <a:off x="0" y="4036743"/>
            <a:ext cx="2897915" cy="1878638"/>
          </a:xfrm>
          <a:prstGeom prst="rect">
            <a:avLst/>
          </a:prstGeom>
          <a:noFill/>
          <a:ln>
            <a:noFill/>
          </a:ln>
        </p:spPr>
      </p:pic>
      <p:pic>
        <p:nvPicPr>
          <p:cNvPr id="23" name="Picture 42"/>
          <p:cNvPicPr/>
          <p:nvPr/>
        </p:nvPicPr>
        <p:blipFill>
          <a:blip r:embed="rId5" cstate="print">
            <a:extLst>
              <a:ext uri="{28A0092B-C50C-407E-A947-70E740481C1C}">
                <a14:useLocalDpi xmlns:a14="http://schemas.microsoft.com/office/drawing/2010/main" val="0"/>
              </a:ext>
            </a:extLst>
          </a:blip>
          <a:srcRect/>
          <a:stretch>
            <a:fillRect/>
          </a:stretch>
        </p:blipFill>
        <p:spPr>
          <a:xfrm>
            <a:off x="3257304" y="4245346"/>
            <a:ext cx="2629559" cy="1685771"/>
          </a:xfrm>
          <a:prstGeom prst="rect">
            <a:avLst/>
          </a:prstGeom>
          <a:noFill/>
          <a:ln>
            <a:noFill/>
          </a:ln>
        </p:spPr>
      </p:pic>
      <p:pic>
        <p:nvPicPr>
          <p:cNvPr id="24"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9172" y="4023401"/>
            <a:ext cx="2482764" cy="1963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583913" y="3402240"/>
            <a:ext cx="4967337" cy="369332"/>
          </a:xfrm>
          <a:prstGeom prst="rect">
            <a:avLst/>
          </a:prstGeom>
          <a:noFill/>
        </p:spPr>
        <p:txBody>
          <a:bodyPr wrap="square">
            <a:spAutoFit/>
          </a:bodyPr>
          <a:lstStyle/>
          <a:p>
            <a:r>
              <a:rPr lang="en-US" altLang="zh-CN" b="1" dirty="0"/>
              <a:t>Twisted pairs</a:t>
            </a:r>
            <a:endParaRPr lang="en-US" altLang="zh-CN" b="1" dirty="0"/>
          </a:p>
        </p:txBody>
      </p:sp>
      <p:sp>
        <p:nvSpPr>
          <p:cNvPr id="13" name="文本框 12"/>
          <p:cNvSpPr txBox="1"/>
          <p:nvPr/>
        </p:nvSpPr>
        <p:spPr>
          <a:xfrm>
            <a:off x="4116058" y="3411332"/>
            <a:ext cx="4967337" cy="369332"/>
          </a:xfrm>
          <a:prstGeom prst="rect">
            <a:avLst/>
          </a:prstGeom>
          <a:noFill/>
        </p:spPr>
        <p:txBody>
          <a:bodyPr wrap="square">
            <a:spAutoFit/>
          </a:bodyPr>
          <a:lstStyle/>
          <a:p>
            <a:r>
              <a:rPr lang="en-US" altLang="zh-CN" b="1" dirty="0"/>
              <a:t>Coaxial cable</a:t>
            </a:r>
            <a:endParaRPr lang="en-US" altLang="zh-CN" b="1" dirty="0"/>
          </a:p>
        </p:txBody>
      </p:sp>
      <p:sp>
        <p:nvSpPr>
          <p:cNvPr id="15" name="文本框 14"/>
          <p:cNvSpPr txBox="1"/>
          <p:nvPr/>
        </p:nvSpPr>
        <p:spPr>
          <a:xfrm>
            <a:off x="7682799" y="3393148"/>
            <a:ext cx="1634327" cy="369332"/>
          </a:xfrm>
          <a:prstGeom prst="rect">
            <a:avLst/>
          </a:prstGeom>
          <a:noFill/>
        </p:spPr>
        <p:txBody>
          <a:bodyPr wrap="square">
            <a:spAutoFit/>
          </a:bodyPr>
          <a:lstStyle/>
          <a:p>
            <a:r>
              <a:rPr lang="en-US" altLang="zh-CN" b="1" dirty="0"/>
              <a:t>Optical Fiber</a:t>
            </a:r>
            <a:endParaRPr lang="en-US" altLang="zh-CN" b="1" dirty="0"/>
          </a:p>
        </p:txBody>
      </p:sp>
      <p:sp>
        <p:nvSpPr>
          <p:cNvPr id="25" name="文本框 24"/>
          <p:cNvSpPr txBox="1"/>
          <p:nvPr/>
        </p:nvSpPr>
        <p:spPr>
          <a:xfrm>
            <a:off x="583913" y="5921531"/>
            <a:ext cx="4967337" cy="369332"/>
          </a:xfrm>
          <a:prstGeom prst="rect">
            <a:avLst/>
          </a:prstGeom>
          <a:noFill/>
        </p:spPr>
        <p:txBody>
          <a:bodyPr wrap="square">
            <a:spAutoFit/>
          </a:bodyPr>
          <a:lstStyle/>
          <a:p>
            <a:r>
              <a:rPr lang="en-US" altLang="zh-CN" b="1" dirty="0">
                <a:solidFill>
                  <a:srgbClr val="0070C0"/>
                </a:solidFill>
              </a:rPr>
              <a:t>Ground wave</a:t>
            </a:r>
            <a:endParaRPr lang="en-US" altLang="zh-CN" b="1" dirty="0">
              <a:solidFill>
                <a:srgbClr val="0070C0"/>
              </a:solidFill>
            </a:endParaRPr>
          </a:p>
        </p:txBody>
      </p:sp>
      <p:sp>
        <p:nvSpPr>
          <p:cNvPr id="26" name="文本框 25"/>
          <p:cNvSpPr txBox="1"/>
          <p:nvPr/>
        </p:nvSpPr>
        <p:spPr>
          <a:xfrm>
            <a:off x="4193670" y="5930623"/>
            <a:ext cx="4967337" cy="369332"/>
          </a:xfrm>
          <a:prstGeom prst="rect">
            <a:avLst/>
          </a:prstGeom>
          <a:noFill/>
        </p:spPr>
        <p:txBody>
          <a:bodyPr wrap="square">
            <a:spAutoFit/>
          </a:bodyPr>
          <a:lstStyle/>
          <a:p>
            <a:r>
              <a:rPr lang="en-US" altLang="zh-CN" b="1" dirty="0">
                <a:solidFill>
                  <a:srgbClr val="0070C0"/>
                </a:solidFill>
              </a:rPr>
              <a:t>Short Wave</a:t>
            </a:r>
            <a:endParaRPr lang="en-US" altLang="zh-CN" b="1" dirty="0">
              <a:solidFill>
                <a:srgbClr val="0070C0"/>
              </a:solidFill>
            </a:endParaRPr>
          </a:p>
        </p:txBody>
      </p:sp>
      <p:sp>
        <p:nvSpPr>
          <p:cNvPr id="27" name="文本框 26"/>
          <p:cNvSpPr txBox="1"/>
          <p:nvPr/>
        </p:nvSpPr>
        <p:spPr>
          <a:xfrm>
            <a:off x="7667137" y="5782911"/>
            <a:ext cx="1212747" cy="646331"/>
          </a:xfrm>
          <a:prstGeom prst="rect">
            <a:avLst/>
          </a:prstGeom>
          <a:noFill/>
        </p:spPr>
        <p:txBody>
          <a:bodyPr wrap="square">
            <a:spAutoFit/>
          </a:bodyPr>
          <a:lstStyle/>
          <a:p>
            <a:r>
              <a:rPr lang="en-US" altLang="zh-CN" b="1" dirty="0">
                <a:solidFill>
                  <a:srgbClr val="0070C0"/>
                </a:solidFill>
              </a:rPr>
              <a:t>Satellite</a:t>
            </a:r>
            <a:br>
              <a:rPr lang="en-US" altLang="zh-CN" b="1" dirty="0">
                <a:solidFill>
                  <a:srgbClr val="0070C0"/>
                </a:solidFill>
              </a:rPr>
            </a:br>
            <a:r>
              <a:rPr lang="en-US" altLang="zh-CN" b="1" dirty="0">
                <a:solidFill>
                  <a:srgbClr val="0070C0"/>
                </a:solidFill>
              </a:rPr>
              <a:t>(LOS)</a:t>
            </a:r>
            <a:endParaRPr lang="en-US" altLang="zh-CN" b="1" dirty="0">
              <a:solidFill>
                <a:srgbClr val="0070C0"/>
              </a:solidFill>
            </a:endParaRPr>
          </a:p>
        </p:txBody>
      </p:sp>
      <p:sp>
        <p:nvSpPr>
          <p:cNvPr id="4" name="Rectangle 2"/>
          <p:cNvSpPr>
            <a:spLocks noGrp="1"/>
          </p:cNvSpPr>
          <p:nvPr/>
        </p:nvSpPr>
        <p:spPr>
          <a:xfrm>
            <a:off x="0" y="0"/>
            <a:ext cx="9094304" cy="736600"/>
          </a:xfrm>
          <a:prstGeom prst="rect">
            <a:avLst/>
          </a:prstGeom>
          <a:solidFill>
            <a:schemeClr val="accent5">
              <a:lumMod val="60000"/>
              <a:lumOff val="40000"/>
            </a:schemeClr>
          </a:solidFill>
          <a:ln w="9525">
            <a:noFill/>
          </a:ln>
        </p:spPr>
        <p:txBody>
          <a:bodyPr vert="horz" wrap="square" lIns="91440" tIns="45720" rIns="91440" bIns="45720" anchor="ctr" anchorCtr="1"/>
          <a:lstStyle>
            <a:lvl1pPr algn="ctr" rtl="0" eaLnBrk="0" fontAlgn="base" hangingPunct="0">
              <a:spcBef>
                <a:spcPct val="0"/>
              </a:spcBef>
              <a:spcAft>
                <a:spcPct val="0"/>
              </a:spcAft>
              <a:defRPr sz="3600" b="1">
                <a:solidFill>
                  <a:srgbClr val="FF3300"/>
                </a:solidFill>
                <a:latin typeface="+mj-lt"/>
                <a:ea typeface="+mj-ea"/>
                <a:cs typeface="楷体_GB2312"/>
              </a:defRPr>
            </a:lvl1pPr>
            <a:lvl2pPr algn="ctr" rtl="0" eaLnBrk="0" fontAlgn="base" hangingPunct="0">
              <a:spcBef>
                <a:spcPct val="0"/>
              </a:spcBef>
              <a:spcAft>
                <a:spcPct val="0"/>
              </a:spcAft>
              <a:defRPr sz="3600" b="1">
                <a:solidFill>
                  <a:srgbClr val="FF3300"/>
                </a:solidFill>
                <a:latin typeface="Times New Roman" panose="02020603050405020304" pitchFamily="18" charset="0"/>
                <a:ea typeface="楷体_GB2312" pitchFamily="49" charset="-122"/>
                <a:cs typeface="楷体_GB2312"/>
              </a:defRPr>
            </a:lvl2pPr>
            <a:lvl3pPr algn="ctr" rtl="0" eaLnBrk="0" fontAlgn="base" hangingPunct="0">
              <a:spcBef>
                <a:spcPct val="0"/>
              </a:spcBef>
              <a:spcAft>
                <a:spcPct val="0"/>
              </a:spcAft>
              <a:defRPr sz="3600" b="1">
                <a:solidFill>
                  <a:srgbClr val="FF3300"/>
                </a:solidFill>
                <a:latin typeface="Times New Roman" panose="02020603050405020304" pitchFamily="18" charset="0"/>
                <a:ea typeface="楷体_GB2312" pitchFamily="49" charset="-122"/>
                <a:cs typeface="楷体_GB2312"/>
              </a:defRPr>
            </a:lvl3pPr>
            <a:lvl4pPr algn="ctr" rtl="0" eaLnBrk="0" fontAlgn="base" hangingPunct="0">
              <a:spcBef>
                <a:spcPct val="0"/>
              </a:spcBef>
              <a:spcAft>
                <a:spcPct val="0"/>
              </a:spcAft>
              <a:defRPr sz="3600" b="1">
                <a:solidFill>
                  <a:srgbClr val="FF3300"/>
                </a:solidFill>
                <a:latin typeface="Times New Roman" panose="02020603050405020304" pitchFamily="18" charset="0"/>
                <a:ea typeface="楷体_GB2312" pitchFamily="49" charset="-122"/>
                <a:cs typeface="楷体_GB2312"/>
              </a:defRPr>
            </a:lvl4pPr>
            <a:lvl5pPr algn="ctr" rtl="0" eaLnBrk="0" fontAlgn="base" hangingPunct="0">
              <a:spcBef>
                <a:spcPct val="0"/>
              </a:spcBef>
              <a:spcAft>
                <a:spcPct val="0"/>
              </a:spcAft>
              <a:defRPr sz="3600" b="1">
                <a:solidFill>
                  <a:srgbClr val="FF3300"/>
                </a:solidFill>
                <a:latin typeface="Times New Roman" panose="02020603050405020304" pitchFamily="18" charset="0"/>
                <a:ea typeface="楷体_GB2312" pitchFamily="49" charset="-122"/>
                <a:cs typeface="楷体_GB2312"/>
              </a:defRPr>
            </a:lvl5pPr>
            <a:lvl6pPr marL="457200" algn="ctr" rtl="0" fontAlgn="base">
              <a:spcBef>
                <a:spcPct val="0"/>
              </a:spcBef>
              <a:spcAft>
                <a:spcPct val="0"/>
              </a:spcAft>
              <a:defRPr kumimoji="1" sz="3600" b="1">
                <a:solidFill>
                  <a:srgbClr val="FF3300"/>
                </a:solidFill>
                <a:latin typeface="Times New Roman" panose="02020603050405020304" pitchFamily="18" charset="0"/>
                <a:ea typeface="楷体_GB2312" pitchFamily="49" charset="-122"/>
              </a:defRPr>
            </a:lvl6pPr>
            <a:lvl7pPr marL="914400" algn="ctr" rtl="0" fontAlgn="base">
              <a:spcBef>
                <a:spcPct val="0"/>
              </a:spcBef>
              <a:spcAft>
                <a:spcPct val="0"/>
              </a:spcAft>
              <a:defRPr kumimoji="1" sz="3600" b="1">
                <a:solidFill>
                  <a:srgbClr val="FF3300"/>
                </a:solidFill>
                <a:latin typeface="Times New Roman" panose="02020603050405020304" pitchFamily="18" charset="0"/>
                <a:ea typeface="楷体_GB2312" pitchFamily="49" charset="-122"/>
              </a:defRPr>
            </a:lvl7pPr>
            <a:lvl8pPr marL="1371600" algn="ctr" rtl="0" fontAlgn="base">
              <a:spcBef>
                <a:spcPct val="0"/>
              </a:spcBef>
              <a:spcAft>
                <a:spcPct val="0"/>
              </a:spcAft>
              <a:defRPr kumimoji="1" sz="3600" b="1">
                <a:solidFill>
                  <a:srgbClr val="FF3300"/>
                </a:solidFill>
                <a:latin typeface="Times New Roman" panose="02020603050405020304" pitchFamily="18" charset="0"/>
                <a:ea typeface="楷体_GB2312" pitchFamily="49" charset="-122"/>
              </a:defRPr>
            </a:lvl8pPr>
            <a:lvl9pPr marL="1828800" algn="ctr" rtl="0" fontAlgn="base">
              <a:spcBef>
                <a:spcPct val="0"/>
              </a:spcBef>
              <a:spcAft>
                <a:spcPct val="0"/>
              </a:spcAft>
              <a:defRPr kumimoji="1" sz="3600" b="1">
                <a:solidFill>
                  <a:srgbClr val="FF3300"/>
                </a:solidFill>
                <a:latin typeface="Times New Roman" panose="02020603050405020304" pitchFamily="18" charset="0"/>
                <a:ea typeface="楷体_GB2312" pitchFamily="49" charset="-122"/>
              </a:defRPr>
            </a:lvl9pPr>
          </a:lstStyle>
          <a:p>
            <a:pPr marL="0" marR="0" lvl="0" indent="0" algn="ctr" defTabSz="4572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Light" panose="02010600030101010101" pitchFamily="2" charset="-122"/>
                <a:cs typeface="Times New Roman" panose="02020603050405020304" pitchFamily="18" charset="0"/>
              </a:rPr>
              <a:t>Chapter 3</a:t>
            </a:r>
            <a:r>
              <a:rPr lang="en-US" altLang="zh-CN"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 </a:t>
            </a:r>
            <a:r>
              <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Light" panose="02010600030101010101" pitchFamily="2" charset="-122"/>
                <a:cs typeface="Times New Roman" panose="02020603050405020304" pitchFamily="18" charset="0"/>
              </a:rPr>
              <a:t>Channel — Part II</a:t>
            </a:r>
            <a:endPar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Light" panose="02010600030101010101" pitchFamily="2"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917"/>
            <a:ext cx="9163879" cy="456832"/>
          </a:xfrm>
          <a:solidFill>
            <a:schemeClr val="accent5">
              <a:lumMod val="60000"/>
              <a:lumOff val="40000"/>
            </a:schemeClr>
          </a:solidFill>
          <a:ln w="9525">
            <a:noFill/>
          </a:ln>
        </p:spPr>
        <p:txBody>
          <a:bodyPr vert="horz" wrap="square" lIns="91440" tIns="45720" rIns="91440" bIns="45720" anchor="ctr" anchorCtr="1">
            <a:normAutofit fontScale="90000"/>
          </a:bodyPr>
          <a:lstStyle/>
          <a:p>
            <a:pPr algn="ctr" defTabSz="457200" fontAlgn="base">
              <a:lnSpc>
                <a:spcPct val="100000"/>
              </a:lnSpc>
              <a:spcAft>
                <a:spcPct val="0"/>
              </a:spcAft>
            </a:pPr>
            <a:r>
              <a:rPr lang="en-US" altLang="zh-CN" sz="36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bandwidth B and </a:t>
            </a:r>
            <a:r>
              <a:rPr lang="en-US" altLang="zh-CN" sz="36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Calibri" panose="020F0502020204030204"/>
              </a:rPr>
              <a:t>Information rate </a:t>
            </a:r>
            <a:r>
              <a:rPr lang="en-US" altLang="zh-CN" sz="3600" b="1" i="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R</a:t>
            </a:r>
            <a:r>
              <a:rPr lang="en-US" altLang="zh-CN" sz="2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b</a:t>
            </a:r>
            <a:endParaRPr lang="zh-CN" altLang="en-US" sz="2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
        <p:nvSpPr>
          <p:cNvPr id="7" name="文本框 6"/>
          <p:cNvSpPr txBox="1"/>
          <p:nvPr/>
        </p:nvSpPr>
        <p:spPr>
          <a:xfrm>
            <a:off x="2611339" y="886851"/>
            <a:ext cx="6482965" cy="1815882"/>
          </a:xfrm>
          <a:prstGeom prst="rect">
            <a:avLst/>
          </a:prstGeom>
          <a:noFill/>
        </p:spPr>
        <p:txBody>
          <a:bodyPr wrap="square">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Channel bandwidth B </a:t>
            </a:r>
            <a:r>
              <a:rPr lang="en-US" altLang="zh-CN" sz="2800" b="1" dirty="0">
                <a:latin typeface="Times New Roman" panose="02020603050405020304" pitchFamily="18" charset="0"/>
                <a:cs typeface="Times New Roman" panose="02020603050405020304" pitchFamily="18" charset="0"/>
              </a:rPr>
              <a:t>is a key parameter in communication systems, describing the ability of a communication channel to transmit signals or data.</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pic>
        <p:nvPicPr>
          <p:cNvPr id="20" name="图片 19"/>
          <p:cNvPicPr>
            <a:picLocks noChangeAspect="1"/>
          </p:cNvPicPr>
          <p:nvPr/>
        </p:nvPicPr>
        <p:blipFill>
          <a:blip r:embed="rId1"/>
          <a:stretch>
            <a:fillRect/>
          </a:stretch>
        </p:blipFill>
        <p:spPr>
          <a:xfrm>
            <a:off x="624572" y="886851"/>
            <a:ext cx="1904398" cy="1789065"/>
          </a:xfrm>
          <a:prstGeom prst="rect">
            <a:avLst/>
          </a:prstGeom>
        </p:spPr>
      </p:pic>
      <p:graphicFrame>
        <p:nvGraphicFramePr>
          <p:cNvPr id="21" name="表格 20"/>
          <p:cNvGraphicFramePr>
            <a:graphicFrameLocks noGrp="1"/>
          </p:cNvGraphicFramePr>
          <p:nvPr/>
        </p:nvGraphicFramePr>
        <p:xfrm>
          <a:off x="379695" y="4682582"/>
          <a:ext cx="8714609" cy="731520"/>
        </p:xfrm>
        <a:graphic>
          <a:graphicData uri="http://schemas.openxmlformats.org/drawingml/2006/table">
            <a:tbl>
              <a:tblPr firstRow="1" bandRow="1">
                <a:tableStyleId>{8A107856-5554-42FB-B03E-39F5DBC370BA}</a:tableStyleId>
              </a:tblPr>
              <a:tblGrid>
                <a:gridCol w="1336140"/>
                <a:gridCol w="3903224"/>
                <a:gridCol w="3475245"/>
              </a:tblGrid>
              <a:tr h="681342">
                <a:tc>
                  <a:txBody>
                    <a:bodyPr/>
                    <a:lstStyle/>
                    <a:p>
                      <a:r>
                        <a:rPr lang="en-US" b="1" dirty="0">
                          <a:solidFill>
                            <a:schemeClr val="tx1"/>
                          </a:solidFill>
                          <a:effectLst/>
                        </a:rPr>
                        <a:t>Channel</a:t>
                      </a:r>
                      <a:endParaRPr lang="en-US" b="1" dirty="0">
                        <a:solidFill>
                          <a:schemeClr val="tx1"/>
                        </a:solidFill>
                        <a:effectLst/>
                      </a:endParaRPr>
                    </a:p>
                  </a:txBody>
                  <a:tcPr marL="137160" marR="137160" marT="91440" marB="91440" anchor="ctr"/>
                </a:tc>
                <a:tc>
                  <a:txBody>
                    <a:bodyPr/>
                    <a:lstStyle/>
                    <a:p>
                      <a:r>
                        <a:rPr lang="en-US" sz="2400" b="1" i="1" dirty="0">
                          <a:solidFill>
                            <a:schemeClr val="tx1"/>
                          </a:solidFill>
                          <a:effectLst/>
                        </a:rPr>
                        <a:t>B</a:t>
                      </a:r>
                      <a:r>
                        <a:rPr lang="en-US" b="1" dirty="0">
                          <a:solidFill>
                            <a:schemeClr val="tx1"/>
                          </a:solidFill>
                          <a:effectLst/>
                        </a:rPr>
                        <a:t> (Bandwidth)</a:t>
                      </a:r>
                      <a:endParaRPr lang="en-US" b="1" dirty="0">
                        <a:solidFill>
                          <a:schemeClr val="tx1"/>
                        </a:solidFill>
                        <a:effectLst/>
                      </a:endParaRPr>
                    </a:p>
                  </a:txBody>
                  <a:tcPr marL="137160" marR="137160" marT="91440" marB="91440" anchor="ctr"/>
                </a:tc>
                <a:tc>
                  <a:txBody>
                    <a:bodyPr/>
                    <a:lstStyle/>
                    <a:p>
                      <a:r>
                        <a:rPr lang="en-US" sz="3600" b="1" i="1" dirty="0">
                          <a:solidFill>
                            <a:schemeClr val="tx1"/>
                          </a:solidFill>
                          <a:effectLst/>
                          <a:latin typeface="KaTeX_Math"/>
                        </a:rPr>
                        <a:t>R</a:t>
                      </a:r>
                      <a:r>
                        <a:rPr lang="en-US" b="1" i="1" dirty="0">
                          <a:solidFill>
                            <a:schemeClr val="tx1"/>
                          </a:solidFill>
                          <a:effectLst/>
                          <a:latin typeface="KaTeX_Math"/>
                        </a:rPr>
                        <a:t>b</a:t>
                      </a:r>
                      <a:r>
                        <a:rPr lang="en-US" b="1" dirty="0">
                          <a:solidFill>
                            <a:schemeClr val="tx1"/>
                          </a:solidFill>
                          <a:effectLst/>
                          <a:latin typeface="KaTeX_Main"/>
                        </a:rPr>
                        <a:t>​</a:t>
                      </a:r>
                      <a:r>
                        <a:rPr lang="en-US" b="1" dirty="0">
                          <a:solidFill>
                            <a:schemeClr val="tx1"/>
                          </a:solidFill>
                          <a:effectLst/>
                        </a:rPr>
                        <a:t> </a:t>
                      </a:r>
                      <a:r>
                        <a:rPr lang="en-US" sz="2400" b="1" dirty="0">
                          <a:solidFill>
                            <a:schemeClr val="tx1"/>
                          </a:solidFill>
                          <a:effectLst/>
                        </a:rPr>
                        <a:t>(bps)</a:t>
                      </a:r>
                      <a:endParaRPr lang="en-US" sz="2400" b="1" dirty="0">
                        <a:solidFill>
                          <a:schemeClr val="tx1"/>
                        </a:solidFill>
                        <a:effectLst/>
                      </a:endParaRPr>
                    </a:p>
                  </a:txBody>
                  <a:tcPr marL="137160" marR="137160" marT="91440" marB="91440" anchor="ctr"/>
                </a:tc>
              </a:tr>
            </a:tbl>
          </a:graphicData>
        </a:graphic>
      </p:graphicFrame>
      <p:graphicFrame>
        <p:nvGraphicFramePr>
          <p:cNvPr id="22" name="表格 21"/>
          <p:cNvGraphicFramePr>
            <a:graphicFrameLocks noGrp="1"/>
          </p:cNvGraphicFramePr>
          <p:nvPr/>
        </p:nvGraphicFramePr>
        <p:xfrm>
          <a:off x="379694" y="5403153"/>
          <a:ext cx="8714610" cy="731520"/>
        </p:xfrm>
        <a:graphic>
          <a:graphicData uri="http://schemas.openxmlformats.org/drawingml/2006/table">
            <a:tbl>
              <a:tblPr firstRow="1" bandRow="1">
                <a:tableStyleId>{8A107856-5554-42FB-B03E-39F5DBC370BA}</a:tableStyleId>
              </a:tblPr>
              <a:tblGrid>
                <a:gridCol w="1336140"/>
                <a:gridCol w="3903225"/>
                <a:gridCol w="3475245"/>
              </a:tblGrid>
              <a:tr h="681342">
                <a:tc>
                  <a:txBody>
                    <a:bodyPr/>
                    <a:lstStyle/>
                    <a:p>
                      <a:r>
                        <a:rPr lang="en-US" b="1" dirty="0" err="1">
                          <a:solidFill>
                            <a:srgbClr val="0070C0"/>
                          </a:solidFill>
                          <a:effectLst/>
                        </a:rPr>
                        <a:t>Wifi</a:t>
                      </a:r>
                      <a:endParaRPr lang="en-US" b="1" dirty="0">
                        <a:solidFill>
                          <a:srgbClr val="0070C0"/>
                        </a:solidFill>
                        <a:effectLst/>
                      </a:endParaRPr>
                    </a:p>
                  </a:txBody>
                  <a:tcPr marL="137160" marR="137160" marT="91440" marB="91440" anchor="ctr"/>
                </a:tc>
                <a:tc>
                  <a:txBody>
                    <a:bodyPr/>
                    <a:lstStyle/>
                    <a:p>
                      <a:r>
                        <a:rPr lang="en-US" b="1" dirty="0">
                          <a:solidFill>
                            <a:srgbClr val="0070C0"/>
                          </a:solidFill>
                          <a:effectLst/>
                        </a:rPr>
                        <a:t>Depends on standard</a:t>
                      </a:r>
                      <a:endParaRPr lang="en-US" b="1" dirty="0">
                        <a:solidFill>
                          <a:srgbClr val="0070C0"/>
                        </a:solidFill>
                        <a:effectLst/>
                      </a:endParaRPr>
                    </a:p>
                    <a:p>
                      <a:r>
                        <a:rPr lang="en-US" b="1" dirty="0">
                          <a:solidFill>
                            <a:srgbClr val="0070C0"/>
                          </a:solidFill>
                          <a:effectLst/>
                        </a:rPr>
                        <a:t> (e.g., ~20 - 160 MHz for Wi-Fi 6)</a:t>
                      </a:r>
                      <a:endParaRPr lang="en-US" b="1" dirty="0">
                        <a:solidFill>
                          <a:srgbClr val="0070C0"/>
                        </a:solidFill>
                        <a:effectLst/>
                      </a:endParaRPr>
                    </a:p>
                  </a:txBody>
                  <a:tcPr marL="137160" marR="137160" marT="91440" marB="91440" anchor="ctr"/>
                </a:tc>
                <a:tc>
                  <a:txBody>
                    <a:bodyPr/>
                    <a:lstStyle/>
                    <a:p>
                      <a:r>
                        <a:rPr lang="en-US" b="1" dirty="0">
                          <a:solidFill>
                            <a:srgbClr val="FF0000"/>
                          </a:solidFill>
                          <a:effectLst/>
                        </a:rPr>
                        <a:t>Up to ~9.6 Gbps (Wi-Fi 7)</a:t>
                      </a:r>
                      <a:endParaRPr lang="en-US" b="1" dirty="0">
                        <a:solidFill>
                          <a:srgbClr val="FF0000"/>
                        </a:solidFill>
                        <a:effectLst/>
                      </a:endParaRPr>
                    </a:p>
                  </a:txBody>
                  <a:tcPr marL="137160" marR="137160" marT="91440" marB="91440" anchor="ctr"/>
                </a:tc>
              </a:tr>
            </a:tbl>
          </a:graphicData>
        </a:graphic>
      </p:graphicFrame>
      <p:sp>
        <p:nvSpPr>
          <p:cNvPr id="28" name="文本框 27"/>
          <p:cNvSpPr txBox="1"/>
          <p:nvPr/>
        </p:nvSpPr>
        <p:spPr>
          <a:xfrm>
            <a:off x="214694" y="2839943"/>
            <a:ext cx="8714610" cy="1659429"/>
          </a:xfrm>
          <a:prstGeom prst="rect">
            <a:avLst/>
          </a:prstGeom>
          <a:noFill/>
        </p:spPr>
        <p:txBody>
          <a:bodyPr wrap="square">
            <a:spAutoFit/>
          </a:bodyPr>
          <a:lstStyle/>
          <a:p>
            <a:pPr marL="0" lvl="3" algn="just">
              <a:spcBef>
                <a:spcPts val="700"/>
              </a:spcBef>
              <a:buClr>
                <a:srgbClr val="0070C0"/>
              </a:buClr>
              <a:buSzPct val="50000"/>
              <a:defRPr/>
            </a:pPr>
            <a:r>
              <a:rPr lang="en-US" altLang="zh-CN" sz="3200" b="1" dirty="0">
                <a:solidFill>
                  <a:srgbClr val="0070C0"/>
                </a:solidFill>
                <a:latin typeface="Times New Roman" panose="02020603050405020304" pitchFamily="18" charset="0"/>
                <a:cs typeface="Times New Roman" panose="02020603050405020304" pitchFamily="18" charset="0"/>
                <a:sym typeface="Calibri" panose="020F0502020204030204"/>
              </a:rPr>
              <a:t>  Information rate </a:t>
            </a:r>
            <a:r>
              <a:rPr lang="en-US" altLang="zh-CN" sz="3200" b="1" i="1" dirty="0">
                <a:solidFill>
                  <a:srgbClr val="0070C0"/>
                </a:solidFill>
                <a:latin typeface="Times New Roman" panose="02020603050405020304" pitchFamily="18" charset="0"/>
                <a:cs typeface="Times New Roman" panose="02020603050405020304" pitchFamily="18" charset="0"/>
                <a:sym typeface="Calibri" panose="020F0502020204030204"/>
              </a:rPr>
              <a:t>R</a:t>
            </a:r>
            <a:r>
              <a:rPr lang="en-US" altLang="zh-CN" sz="2000" b="1" dirty="0">
                <a:solidFill>
                  <a:srgbClr val="0070C0"/>
                </a:solidFill>
                <a:latin typeface="Times New Roman" panose="02020603050405020304" pitchFamily="18" charset="0"/>
                <a:cs typeface="Times New Roman" panose="02020603050405020304" pitchFamily="18" charset="0"/>
                <a:sym typeface="Calibri" panose="020F0502020204030204"/>
              </a:rPr>
              <a:t>b</a:t>
            </a:r>
            <a:r>
              <a:rPr lang="zh-CN" altLang="en-US" sz="3200" b="1" dirty="0">
                <a:solidFill>
                  <a:srgbClr val="0070C0"/>
                </a:solidFill>
                <a:latin typeface="Times New Roman" panose="02020603050405020304" pitchFamily="18" charset="0"/>
                <a:cs typeface="Times New Roman" panose="02020603050405020304" pitchFamily="18" charset="0"/>
                <a:sym typeface="Calibri" panose="020F0502020204030204"/>
              </a:rPr>
              <a:t>：</a:t>
            </a:r>
            <a:endParaRPr lang="en-US" altLang="zh-CN" sz="3200" b="1" dirty="0">
              <a:solidFill>
                <a:srgbClr val="0070C0"/>
              </a:solidFill>
              <a:latin typeface="Times New Roman" panose="02020603050405020304" pitchFamily="18" charset="0"/>
              <a:cs typeface="Times New Roman" panose="02020603050405020304" pitchFamily="18" charset="0"/>
              <a:sym typeface="Calibri" panose="020F0502020204030204"/>
            </a:endParaRPr>
          </a:p>
          <a:p>
            <a:pPr marL="0" lvl="3" algn="just">
              <a:spcBef>
                <a:spcPts val="700"/>
              </a:spcBef>
              <a:buClr>
                <a:srgbClr val="0070C0"/>
              </a:buClr>
              <a:buSzPct val="50000"/>
              <a:defRPr/>
            </a:pPr>
            <a:r>
              <a:rPr lang="en-US" altLang="zh-CN" sz="3200" b="1" dirty="0">
                <a:latin typeface="Times New Roman" panose="02020603050405020304" pitchFamily="18" charset="0"/>
                <a:cs typeface="Times New Roman" panose="02020603050405020304" pitchFamily="18" charset="0"/>
                <a:sym typeface="Calibri" panose="020F0502020204030204"/>
              </a:rPr>
              <a:t>the average information content transmitted in unit time, the unit is b/s or bps.</a:t>
            </a:r>
            <a:endParaRPr lang="en-US" altLang="zh-CN" sz="3200" b="1" dirty="0">
              <a:latin typeface="Times New Roman" panose="02020603050405020304" pitchFamily="18" charset="0"/>
              <a:cs typeface="Times New Roman" panose="02020603050405020304" pitchFamily="18" charset="0"/>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9023" y="220349"/>
            <a:ext cx="7620000" cy="762000"/>
          </a:xfrm>
        </p:spPr>
        <p:txBody>
          <a:bodyPr/>
          <a:lstStyle/>
          <a:p>
            <a:r>
              <a:rPr lang="en-US" altLang="zh-CN" dirty="0"/>
              <a:t>  Discussion</a:t>
            </a:r>
            <a:endParaRPr lang="zh-CN" altLang="en-US" dirty="0"/>
          </a:p>
        </p:txBody>
      </p:sp>
      <p:graphicFrame>
        <p:nvGraphicFramePr>
          <p:cNvPr id="5" name="表格 5"/>
          <p:cNvGraphicFramePr>
            <a:graphicFrameLocks noGrp="1"/>
          </p:cNvGraphicFramePr>
          <p:nvPr>
            <p:ph idx="1"/>
          </p:nvPr>
        </p:nvGraphicFramePr>
        <p:xfrm>
          <a:off x="0" y="-45667"/>
          <a:ext cx="9094304" cy="6765138"/>
        </p:xfrm>
        <a:graphic>
          <a:graphicData uri="http://schemas.openxmlformats.org/drawingml/2006/table">
            <a:tbl>
              <a:tblPr firstRow="1" bandRow="1">
                <a:tableStyleId>{8A107856-5554-42FB-B03E-39F5DBC370BA}</a:tableStyleId>
              </a:tblPr>
              <a:tblGrid>
                <a:gridCol w="1355508"/>
                <a:gridCol w="3959807"/>
                <a:gridCol w="3778989"/>
              </a:tblGrid>
              <a:tr h="451345">
                <a:tc>
                  <a:txBody>
                    <a:bodyPr/>
                    <a:lstStyle/>
                    <a:p>
                      <a:pPr algn="ctr"/>
                      <a:r>
                        <a:rPr lang="en-US" sz="2400" b="1" i="0" dirty="0">
                          <a:solidFill>
                            <a:schemeClr val="tx1"/>
                          </a:solidFill>
                          <a:effectLst/>
                        </a:rPr>
                        <a:t>Channel</a:t>
                      </a:r>
                      <a:endParaRPr lang="en-US" sz="2400" b="1" i="0" dirty="0">
                        <a:solidFill>
                          <a:schemeClr val="tx1"/>
                        </a:solidFill>
                        <a:effectLst/>
                      </a:endParaRPr>
                    </a:p>
                  </a:txBody>
                  <a:tcPr marL="137160" marR="137160" marT="91440" marB="91440" anchor="ctr"/>
                </a:tc>
                <a:tc>
                  <a:txBody>
                    <a:bodyPr/>
                    <a:lstStyle/>
                    <a:p>
                      <a:pPr algn="ctr"/>
                      <a:r>
                        <a:rPr lang="en-US" sz="2400" b="1" i="0" dirty="0">
                          <a:solidFill>
                            <a:schemeClr val="tx1"/>
                          </a:solidFill>
                          <a:effectLst/>
                        </a:rPr>
                        <a:t>B (Bandwidth)</a:t>
                      </a:r>
                      <a:endParaRPr lang="en-US" sz="2400" b="1" i="0" dirty="0">
                        <a:solidFill>
                          <a:schemeClr val="tx1"/>
                        </a:solidFill>
                        <a:effectLst/>
                      </a:endParaRPr>
                    </a:p>
                  </a:txBody>
                  <a:tcPr marL="137160" marR="137160" marT="91440" marB="91440" anchor="ctr"/>
                </a:tc>
                <a:tc>
                  <a:txBody>
                    <a:bodyPr/>
                    <a:lstStyle/>
                    <a:p>
                      <a:pPr algn="ctr"/>
                      <a:r>
                        <a:rPr lang="en-US" sz="2400" b="1" i="0" dirty="0">
                          <a:solidFill>
                            <a:schemeClr val="tx1"/>
                          </a:solidFill>
                          <a:effectLst/>
                          <a:latin typeface="KaTeX_Math"/>
                        </a:rPr>
                        <a:t>R</a:t>
                      </a:r>
                      <a:r>
                        <a:rPr lang="en-US" sz="1800" b="1" i="0" dirty="0">
                          <a:solidFill>
                            <a:schemeClr val="tx1"/>
                          </a:solidFill>
                          <a:effectLst/>
                          <a:latin typeface="KaTeX_Math"/>
                        </a:rPr>
                        <a:t>b</a:t>
                      </a:r>
                      <a:r>
                        <a:rPr lang="en-US" sz="2400" b="1" i="0" dirty="0">
                          <a:solidFill>
                            <a:schemeClr val="tx1"/>
                          </a:solidFill>
                          <a:effectLst/>
                          <a:latin typeface="KaTeX_Main"/>
                        </a:rPr>
                        <a:t>​</a:t>
                      </a:r>
                      <a:r>
                        <a:rPr lang="en-US" sz="2400" b="1" i="0" dirty="0">
                          <a:solidFill>
                            <a:schemeClr val="tx1"/>
                          </a:solidFill>
                          <a:effectLst/>
                        </a:rPr>
                        <a:t> (bps)</a:t>
                      </a:r>
                      <a:endParaRPr lang="en-US" sz="2400" b="1" i="0" dirty="0">
                        <a:solidFill>
                          <a:schemeClr val="tx1"/>
                        </a:solidFill>
                        <a:effectLst/>
                      </a:endParaRPr>
                    </a:p>
                  </a:txBody>
                  <a:tcPr marL="137160" marR="137160" marT="91440" marB="91440" anchor="ctr"/>
                </a:tc>
              </a:tr>
              <a:tr h="1015526">
                <a:tc>
                  <a:txBody>
                    <a:bodyPr/>
                    <a:lstStyle/>
                    <a:p>
                      <a:r>
                        <a:rPr lang="en-US" sz="2000" b="1" dirty="0">
                          <a:effectLst/>
                        </a:rPr>
                        <a:t>Twisted pairs</a:t>
                      </a:r>
                      <a:endParaRPr lang="en-US" sz="2000" b="1" dirty="0">
                        <a:effectLst/>
                      </a:endParaRPr>
                    </a:p>
                  </a:txBody>
                  <a:tcPr marL="137160" marR="137160" marT="91440" marB="91440" anchor="ctr">
                    <a:solidFill>
                      <a:schemeClr val="accent6">
                        <a:lumMod val="20000"/>
                        <a:lumOff val="80000"/>
                      </a:schemeClr>
                    </a:solidFill>
                  </a:tcPr>
                </a:tc>
                <a:tc>
                  <a:txBody>
                    <a:bodyPr/>
                    <a:lstStyle/>
                    <a:p>
                      <a:endParaRPr lang="en-US" sz="2000" b="1" dirty="0">
                        <a:effectLst/>
                      </a:endParaRPr>
                    </a:p>
                  </a:txBody>
                  <a:tcPr marL="137160" marR="137160" marT="91440" marB="91440" anchor="ctr">
                    <a:solidFill>
                      <a:schemeClr val="accent6">
                        <a:lumMod val="20000"/>
                        <a:lumOff val="80000"/>
                      </a:schemeClr>
                    </a:solidFill>
                  </a:tcPr>
                </a:tc>
                <a:tc>
                  <a:txBody>
                    <a:bodyPr/>
                    <a:lstStyle/>
                    <a:p>
                      <a:endParaRPr lang="en-US" sz="2000" b="1" dirty="0">
                        <a:effectLst/>
                      </a:endParaRPr>
                    </a:p>
                  </a:txBody>
                  <a:tcPr marL="137160" marR="137160" marT="91440" marB="91440" anchor="ctr">
                    <a:solidFill>
                      <a:schemeClr val="accent6">
                        <a:lumMod val="20000"/>
                        <a:lumOff val="80000"/>
                      </a:schemeClr>
                    </a:solidFill>
                  </a:tcPr>
                </a:tc>
              </a:tr>
              <a:tr h="733435">
                <a:tc>
                  <a:txBody>
                    <a:bodyPr/>
                    <a:lstStyle/>
                    <a:p>
                      <a:pPr marL="0" algn="l" defTabSz="914400" rtl="0" eaLnBrk="1" latinLnBrk="0" hangingPunct="1"/>
                      <a:r>
                        <a:rPr lang="en-US" sz="2000" b="1" kern="1200" dirty="0">
                          <a:solidFill>
                            <a:srgbClr val="0070C0"/>
                          </a:solidFill>
                          <a:effectLst/>
                          <a:latin typeface="+mn-lt"/>
                          <a:ea typeface="+mn-ea"/>
                          <a:cs typeface="+mn-cs"/>
                        </a:rPr>
                        <a:t>Coaxial cable</a:t>
                      </a:r>
                      <a:endParaRPr lang="en-US" sz="2000" b="1" kern="1200" dirty="0">
                        <a:solidFill>
                          <a:srgbClr val="0070C0"/>
                        </a:solidFill>
                        <a:effectLst/>
                        <a:latin typeface="+mn-lt"/>
                        <a:ea typeface="+mn-ea"/>
                        <a:cs typeface="+mn-cs"/>
                      </a:endParaRPr>
                    </a:p>
                  </a:txBody>
                  <a:tcPr marL="137160" marR="137160" marT="91440" marB="91440" anchor="ctr"/>
                </a:tc>
                <a:tc>
                  <a:txBody>
                    <a:bodyPr/>
                    <a:lstStyle/>
                    <a:p>
                      <a:pPr marL="0" algn="l" defTabSz="914400" rtl="0" eaLnBrk="1" latinLnBrk="0" hangingPunct="1"/>
                      <a:endParaRPr lang="en-US" sz="2000" b="1" kern="1200" dirty="0">
                        <a:solidFill>
                          <a:srgbClr val="0070C0"/>
                        </a:solidFill>
                        <a:effectLst/>
                        <a:latin typeface="+mn-lt"/>
                        <a:ea typeface="+mn-ea"/>
                        <a:cs typeface="+mn-cs"/>
                      </a:endParaRPr>
                    </a:p>
                  </a:txBody>
                  <a:tcPr marL="137160" marR="137160" marT="91440" marB="91440" anchor="ctr"/>
                </a:tc>
                <a:tc>
                  <a:txBody>
                    <a:bodyPr/>
                    <a:lstStyle/>
                    <a:p>
                      <a:pPr marL="0" algn="l" defTabSz="914400" rtl="0" eaLnBrk="1" latinLnBrk="0" hangingPunct="1"/>
                      <a:endParaRPr lang="en-US" sz="2000" b="1" kern="1200" dirty="0">
                        <a:solidFill>
                          <a:srgbClr val="0070C0"/>
                        </a:solidFill>
                        <a:effectLst/>
                        <a:latin typeface="+mn-lt"/>
                        <a:ea typeface="+mn-ea"/>
                        <a:cs typeface="+mn-cs"/>
                      </a:endParaRPr>
                    </a:p>
                  </a:txBody>
                  <a:tcPr marL="137160" marR="137160" marT="91440" marB="91440" anchor="ctr"/>
                </a:tc>
              </a:tr>
              <a:tr h="733435">
                <a:tc>
                  <a:txBody>
                    <a:bodyPr/>
                    <a:lstStyle/>
                    <a:p>
                      <a:r>
                        <a:rPr lang="en-US" sz="2000" b="1" dirty="0">
                          <a:effectLst/>
                        </a:rPr>
                        <a:t>Optical Fiber</a:t>
                      </a:r>
                      <a:endParaRPr lang="en-US" sz="2000" b="1" dirty="0">
                        <a:effectLst/>
                      </a:endParaRPr>
                    </a:p>
                  </a:txBody>
                  <a:tcPr marL="137160" marR="137160" marT="91440" marB="91440" anchor="ctr">
                    <a:solidFill>
                      <a:schemeClr val="accent6">
                        <a:lumMod val="20000"/>
                        <a:lumOff val="80000"/>
                      </a:schemeClr>
                    </a:solidFill>
                  </a:tcPr>
                </a:tc>
                <a:tc>
                  <a:txBody>
                    <a:bodyPr/>
                    <a:lstStyle/>
                    <a:p>
                      <a:endParaRPr lang="en-US" sz="2000" b="1" dirty="0">
                        <a:effectLst/>
                      </a:endParaRPr>
                    </a:p>
                  </a:txBody>
                  <a:tcPr marL="137160" marR="137160" marT="91440" marB="91440" anchor="ctr">
                    <a:solidFill>
                      <a:schemeClr val="accent6">
                        <a:lumMod val="20000"/>
                        <a:lumOff val="80000"/>
                      </a:schemeClr>
                    </a:solidFill>
                  </a:tcPr>
                </a:tc>
                <a:tc>
                  <a:txBody>
                    <a:bodyPr/>
                    <a:lstStyle/>
                    <a:p>
                      <a:endParaRPr lang="en-US" sz="2000" b="1" dirty="0">
                        <a:effectLst/>
                      </a:endParaRPr>
                    </a:p>
                  </a:txBody>
                  <a:tcPr marL="137160" marR="137160" marT="91440" marB="91440" anchor="ctr">
                    <a:solidFill>
                      <a:schemeClr val="accent6">
                        <a:lumMod val="20000"/>
                        <a:lumOff val="80000"/>
                      </a:schemeClr>
                    </a:solidFill>
                  </a:tcPr>
                </a:tc>
              </a:tr>
              <a:tr h="733435">
                <a:tc>
                  <a:txBody>
                    <a:bodyPr/>
                    <a:lstStyle/>
                    <a:p>
                      <a:pPr marL="0" algn="l" defTabSz="914400" rtl="0" eaLnBrk="1" latinLnBrk="0" hangingPunct="1"/>
                      <a:r>
                        <a:rPr lang="en-US" sz="2000" b="1" kern="1200" dirty="0">
                          <a:solidFill>
                            <a:schemeClr val="dk1"/>
                          </a:solidFill>
                          <a:effectLst/>
                          <a:latin typeface="+mn-lt"/>
                          <a:ea typeface="+mn-ea"/>
                          <a:cs typeface="+mn-cs"/>
                        </a:rPr>
                        <a:t>Ground wave</a:t>
                      </a:r>
                      <a:endParaRPr lang="en-US" sz="2000" b="1" kern="1200" dirty="0">
                        <a:solidFill>
                          <a:schemeClr val="dk1"/>
                        </a:solidFill>
                        <a:effectLst/>
                        <a:latin typeface="+mn-lt"/>
                        <a:ea typeface="+mn-ea"/>
                        <a:cs typeface="+mn-cs"/>
                      </a:endParaRPr>
                    </a:p>
                  </a:txBody>
                  <a:tcPr marL="137160" marR="137160" marT="91440" marB="91440" anchor="ctr"/>
                </a:tc>
                <a:tc>
                  <a:txBody>
                    <a:bodyPr/>
                    <a:lstStyle/>
                    <a:p>
                      <a:pPr marL="0" algn="l" defTabSz="914400" rtl="0" eaLnBrk="1" latinLnBrk="0" hangingPunct="1"/>
                      <a:endParaRPr lang="en-US" sz="2000" b="1" kern="1200" dirty="0">
                        <a:solidFill>
                          <a:schemeClr val="dk1"/>
                        </a:solidFill>
                        <a:effectLst/>
                        <a:latin typeface="+mn-lt"/>
                        <a:ea typeface="+mn-ea"/>
                        <a:cs typeface="+mn-cs"/>
                      </a:endParaRPr>
                    </a:p>
                  </a:txBody>
                  <a:tcPr marL="137160" marR="137160" marT="91440" marB="91440" anchor="ctr"/>
                </a:tc>
                <a:tc>
                  <a:txBody>
                    <a:bodyPr/>
                    <a:lstStyle/>
                    <a:p>
                      <a:pPr marL="0" algn="l" defTabSz="914400" rtl="0" eaLnBrk="1" latinLnBrk="0" hangingPunct="1"/>
                      <a:endParaRPr lang="en-US" sz="2000" b="1" kern="1200" dirty="0">
                        <a:solidFill>
                          <a:schemeClr val="dk1"/>
                        </a:solidFill>
                        <a:effectLst/>
                        <a:latin typeface="+mn-lt"/>
                        <a:ea typeface="+mn-ea"/>
                        <a:cs typeface="+mn-cs"/>
                      </a:endParaRPr>
                    </a:p>
                  </a:txBody>
                  <a:tcPr marL="137160" marR="137160" marT="91440" marB="91440" anchor="ctr"/>
                </a:tc>
              </a:tr>
              <a:tr h="733435">
                <a:tc>
                  <a:txBody>
                    <a:bodyPr/>
                    <a:lstStyle/>
                    <a:p>
                      <a:r>
                        <a:rPr lang="en-US" sz="2000" b="1" dirty="0">
                          <a:solidFill>
                            <a:srgbClr val="0070C0"/>
                          </a:solidFill>
                          <a:effectLst/>
                        </a:rPr>
                        <a:t>Short Wave</a:t>
                      </a:r>
                      <a:endParaRPr lang="en-US" sz="2000" b="1" dirty="0">
                        <a:solidFill>
                          <a:srgbClr val="0070C0"/>
                        </a:solidFill>
                        <a:effectLst/>
                      </a:endParaRPr>
                    </a:p>
                  </a:txBody>
                  <a:tcPr marL="137160" marR="137160" marT="91440" marB="91440" anchor="ctr">
                    <a:solidFill>
                      <a:schemeClr val="accent6">
                        <a:lumMod val="20000"/>
                        <a:lumOff val="80000"/>
                      </a:schemeClr>
                    </a:solidFill>
                  </a:tcPr>
                </a:tc>
                <a:tc>
                  <a:txBody>
                    <a:bodyPr/>
                    <a:lstStyle/>
                    <a:p>
                      <a:endParaRPr lang="en-US" sz="2000" b="1" dirty="0">
                        <a:solidFill>
                          <a:srgbClr val="0070C0"/>
                        </a:solidFill>
                        <a:effectLst/>
                      </a:endParaRPr>
                    </a:p>
                  </a:txBody>
                  <a:tcPr marL="137160" marR="137160" marT="91440" marB="91440" anchor="ctr">
                    <a:solidFill>
                      <a:schemeClr val="accent6">
                        <a:lumMod val="20000"/>
                        <a:lumOff val="80000"/>
                      </a:schemeClr>
                    </a:solidFill>
                  </a:tcPr>
                </a:tc>
                <a:tc>
                  <a:txBody>
                    <a:bodyPr/>
                    <a:lstStyle/>
                    <a:p>
                      <a:endParaRPr lang="en-US" sz="2000" b="1" dirty="0">
                        <a:solidFill>
                          <a:srgbClr val="0070C0"/>
                        </a:solidFill>
                        <a:effectLst/>
                      </a:endParaRPr>
                    </a:p>
                  </a:txBody>
                  <a:tcPr marL="137160" marR="137160" marT="91440" marB="91440" anchor="ctr">
                    <a:solidFill>
                      <a:schemeClr val="accent6">
                        <a:lumMod val="20000"/>
                        <a:lumOff val="80000"/>
                      </a:schemeClr>
                    </a:solidFill>
                  </a:tcPr>
                </a:tc>
              </a:tr>
              <a:tr h="1297617">
                <a:tc>
                  <a:txBody>
                    <a:bodyPr/>
                    <a:lstStyle/>
                    <a:p>
                      <a:pPr marL="0" algn="l" defTabSz="914400" rtl="0" eaLnBrk="1" latinLnBrk="0" hangingPunct="1"/>
                      <a:r>
                        <a:rPr lang="en-US" sz="2000" b="1" kern="1200" dirty="0">
                          <a:solidFill>
                            <a:schemeClr val="dk1"/>
                          </a:solidFill>
                          <a:effectLst/>
                          <a:latin typeface="+mn-lt"/>
                          <a:ea typeface="+mn-ea"/>
                          <a:cs typeface="+mn-cs"/>
                        </a:rPr>
                        <a:t>Satellite</a:t>
                      </a:r>
                      <a:br>
                        <a:rPr lang="en-US" sz="2000" b="1" kern="1200" dirty="0">
                          <a:solidFill>
                            <a:schemeClr val="dk1"/>
                          </a:solidFill>
                          <a:effectLst/>
                          <a:latin typeface="+mn-lt"/>
                          <a:ea typeface="+mn-ea"/>
                          <a:cs typeface="+mn-cs"/>
                        </a:rPr>
                      </a:br>
                      <a:r>
                        <a:rPr lang="en-US" sz="2000" b="1" kern="1200" dirty="0">
                          <a:solidFill>
                            <a:schemeClr val="dk1"/>
                          </a:solidFill>
                          <a:effectLst/>
                          <a:latin typeface="+mn-lt"/>
                          <a:ea typeface="+mn-ea"/>
                          <a:cs typeface="+mn-cs"/>
                        </a:rPr>
                        <a:t>(LOS)</a:t>
                      </a:r>
                      <a:endParaRPr lang="en-US" sz="2000" b="1" kern="1200" dirty="0">
                        <a:solidFill>
                          <a:schemeClr val="dk1"/>
                        </a:solidFill>
                        <a:effectLst/>
                        <a:latin typeface="+mn-lt"/>
                        <a:ea typeface="+mn-ea"/>
                        <a:cs typeface="+mn-cs"/>
                      </a:endParaRPr>
                    </a:p>
                  </a:txBody>
                  <a:tcPr marL="137160" marR="137160" marT="91440" marB="91440" anchor="ctr"/>
                </a:tc>
                <a:tc>
                  <a:txBody>
                    <a:bodyPr/>
                    <a:lstStyle/>
                    <a:p>
                      <a:pPr marL="0" algn="l" defTabSz="914400" rtl="0" eaLnBrk="1" latinLnBrk="0" hangingPunct="1"/>
                      <a:endParaRPr lang="en-US" sz="2000" b="1" kern="1200" dirty="0">
                        <a:solidFill>
                          <a:schemeClr val="dk1"/>
                        </a:solidFill>
                        <a:effectLst/>
                        <a:latin typeface="+mn-lt"/>
                        <a:ea typeface="+mn-ea"/>
                        <a:cs typeface="+mn-cs"/>
                      </a:endParaRPr>
                    </a:p>
                  </a:txBody>
                  <a:tcPr marL="137160" marR="137160" marT="91440" marB="91440" anchor="ctr"/>
                </a:tc>
                <a:tc>
                  <a:txBody>
                    <a:bodyPr/>
                    <a:lstStyle/>
                    <a:p>
                      <a:pPr marL="0" algn="l" defTabSz="914400" rtl="0" eaLnBrk="1" latinLnBrk="0" hangingPunct="1"/>
                      <a:endParaRPr lang="en-US" sz="2000" b="1" kern="1200" dirty="0">
                        <a:solidFill>
                          <a:schemeClr val="dk1"/>
                        </a:solidFill>
                        <a:effectLst/>
                        <a:latin typeface="+mn-lt"/>
                        <a:ea typeface="+mn-ea"/>
                        <a:cs typeface="+mn-cs"/>
                      </a:endParaRPr>
                    </a:p>
                  </a:txBody>
                  <a:tcPr marL="137160" marR="137160" marT="91440" marB="91440" anchor="ctr"/>
                </a:tc>
              </a:tr>
              <a:tr h="733435">
                <a:tc>
                  <a:txBody>
                    <a:bodyPr/>
                    <a:lstStyle/>
                    <a:p>
                      <a:r>
                        <a:rPr lang="en-US" sz="2000" b="1" dirty="0" err="1">
                          <a:solidFill>
                            <a:srgbClr val="0070C0"/>
                          </a:solidFill>
                          <a:effectLst/>
                        </a:rPr>
                        <a:t>Wifi</a:t>
                      </a:r>
                      <a:endParaRPr lang="en-US" sz="2000" b="1" dirty="0">
                        <a:solidFill>
                          <a:srgbClr val="0070C0"/>
                        </a:solidFill>
                        <a:effectLst/>
                      </a:endParaRPr>
                    </a:p>
                  </a:txBody>
                  <a:tcPr marL="137160" marR="137160" marT="91440" marB="91440" anchor="ctr">
                    <a:solidFill>
                      <a:schemeClr val="accent6">
                        <a:lumMod val="20000"/>
                        <a:lumOff val="80000"/>
                      </a:schemeClr>
                    </a:solidFill>
                  </a:tcPr>
                </a:tc>
                <a:tc>
                  <a:txBody>
                    <a:bodyPr/>
                    <a:lstStyle/>
                    <a:p>
                      <a:endParaRPr lang="en-US" sz="2000" b="1" dirty="0">
                        <a:solidFill>
                          <a:srgbClr val="0070C0"/>
                        </a:solidFill>
                        <a:effectLst/>
                      </a:endParaRPr>
                    </a:p>
                  </a:txBody>
                  <a:tcPr marL="137160" marR="137160" marT="91440" marB="91440" anchor="ctr">
                    <a:solidFill>
                      <a:schemeClr val="accent6">
                        <a:lumMod val="20000"/>
                        <a:lumOff val="80000"/>
                      </a:schemeClr>
                    </a:solidFill>
                  </a:tcPr>
                </a:tc>
                <a:tc>
                  <a:txBody>
                    <a:bodyPr/>
                    <a:lstStyle/>
                    <a:p>
                      <a:endParaRPr lang="en-US" sz="2000" b="1" dirty="0">
                        <a:solidFill>
                          <a:srgbClr val="0070C0"/>
                        </a:solidFill>
                        <a:effectLst/>
                      </a:endParaRPr>
                    </a:p>
                  </a:txBody>
                  <a:tcPr marL="137160" marR="137160" marT="91440" marB="91440" anchor="ctr">
                    <a:solidFill>
                      <a:schemeClr val="accent6">
                        <a:lumMod val="20000"/>
                        <a:lumOff val="80000"/>
                      </a:schemeClr>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内容占位符 7"/>
          <p:cNvGraphicFramePr>
            <a:graphicFrameLocks noGrp="1"/>
          </p:cNvGraphicFramePr>
          <p:nvPr>
            <p:ph idx="1"/>
          </p:nvPr>
        </p:nvGraphicFramePr>
        <p:xfrm>
          <a:off x="149087" y="119269"/>
          <a:ext cx="8878128" cy="5600704"/>
        </p:xfrm>
        <a:graphic>
          <a:graphicData uri="http://schemas.openxmlformats.org/drawingml/2006/table">
            <a:tbl>
              <a:tblPr firstRow="1" bandRow="1">
                <a:tableStyleId>{5C22544A-7EE6-4342-B048-85BDC9FD1C3A}</a:tableStyleId>
              </a:tblPr>
              <a:tblGrid>
                <a:gridCol w="2959376"/>
                <a:gridCol w="2959376"/>
                <a:gridCol w="2959376"/>
              </a:tblGrid>
              <a:tr h="700088">
                <a:tc>
                  <a:txBody>
                    <a:bodyPr/>
                    <a:lstStyle/>
                    <a:p>
                      <a:pPr algn="l">
                        <a:buNone/>
                      </a:pPr>
                      <a:r>
                        <a:rPr lang="zh-CN" sz="2800" b="1">
                          <a:effectLst/>
                        </a:rPr>
                        <a:t>Channel</a:t>
                      </a:r>
                      <a:endParaRPr lang="zh-CN" sz="2800" b="1">
                        <a:effectLst/>
                      </a:endParaRPr>
                    </a:p>
                  </a:txBody>
                  <a:tcPr marL="38100" marR="38100" marT="38100" marB="38100" anchor="ctr"/>
                </a:tc>
                <a:tc>
                  <a:txBody>
                    <a:bodyPr/>
                    <a:lstStyle/>
                    <a:p>
                      <a:pPr algn="l">
                        <a:buNone/>
                      </a:pPr>
                      <a:r>
                        <a:rPr lang="zh-CN" sz="2800" b="1" dirty="0">
                          <a:effectLst/>
                        </a:rPr>
                        <a:t>B (Bandwidth)</a:t>
                      </a:r>
                      <a:endParaRPr lang="zh-CN" sz="2800" b="1" dirty="0">
                        <a:effectLst/>
                      </a:endParaRPr>
                    </a:p>
                  </a:txBody>
                  <a:tcPr marL="38100" marR="38100" marT="38100" marB="38100" anchor="ctr"/>
                </a:tc>
                <a:tc>
                  <a:txBody>
                    <a:bodyPr/>
                    <a:lstStyle/>
                    <a:p>
                      <a:pPr algn="l">
                        <a:buNone/>
                      </a:pPr>
                      <a:r>
                        <a:rPr lang="zh-CN" sz="2800" b="1" dirty="0">
                          <a:effectLst/>
                        </a:rPr>
                        <a:t>R</a:t>
                      </a:r>
                      <a:r>
                        <a:rPr lang="en-US" altLang="zh-CN" sz="2800" b="1" dirty="0">
                          <a:effectLst/>
                        </a:rPr>
                        <a:t>b</a:t>
                      </a:r>
                      <a:r>
                        <a:rPr lang="zh-CN" sz="2800" b="1" dirty="0">
                          <a:effectLst/>
                        </a:rPr>
                        <a:t>​ (bps)</a:t>
                      </a:r>
                      <a:endParaRPr lang="zh-CN" sz="2800" b="1" dirty="0">
                        <a:effectLst/>
                      </a:endParaRPr>
                    </a:p>
                  </a:txBody>
                  <a:tcPr marL="38100" marR="38100" marT="38100" marB="38100" anchor="ctr"/>
                </a:tc>
              </a:tr>
              <a:tr h="700088">
                <a:tc>
                  <a:txBody>
                    <a:bodyPr/>
                    <a:lstStyle/>
                    <a:p>
                      <a:pPr algn="l">
                        <a:buNone/>
                      </a:pPr>
                      <a:r>
                        <a:rPr lang="zh-CN" sz="2800">
                          <a:effectLst/>
                        </a:rPr>
                        <a:t>Twisted pairs</a:t>
                      </a:r>
                      <a:endParaRPr lang="zh-CN" sz="2800">
                        <a:effectLst/>
                      </a:endParaRPr>
                    </a:p>
                  </a:txBody>
                  <a:tcPr marL="38100" marR="38100" marT="38100" marB="38100" anchor="ctr"/>
                </a:tc>
                <a:tc>
                  <a:txBody>
                    <a:bodyPr/>
                    <a:lstStyle/>
                    <a:p>
                      <a:pPr algn="l">
                        <a:buNone/>
                      </a:pPr>
                      <a:r>
                        <a:rPr lang="zh-CN" sz="2800">
                          <a:effectLst/>
                        </a:rPr>
                        <a:t>~100/250 MHz</a:t>
                      </a:r>
                      <a:endParaRPr lang="zh-CN" sz="2800">
                        <a:effectLst/>
                      </a:endParaRPr>
                    </a:p>
                  </a:txBody>
                  <a:tcPr marL="38100" marR="38100" marT="38100" marB="38100" anchor="ctr"/>
                </a:tc>
                <a:tc>
                  <a:txBody>
                    <a:bodyPr/>
                    <a:lstStyle/>
                    <a:p>
                      <a:pPr algn="l">
                        <a:buNone/>
                      </a:pPr>
                      <a:r>
                        <a:rPr lang="en-US" altLang="zh-CN" sz="2800" dirty="0">
                          <a:effectLst/>
                        </a:rPr>
                        <a:t>~</a:t>
                      </a:r>
                      <a:r>
                        <a:rPr lang="zh-CN" sz="2800" dirty="0">
                          <a:effectLst/>
                        </a:rPr>
                        <a:t>1 Gbps</a:t>
                      </a:r>
                      <a:endParaRPr lang="zh-CN" sz="2800" dirty="0">
                        <a:effectLst/>
                      </a:endParaRPr>
                    </a:p>
                  </a:txBody>
                  <a:tcPr marL="38100" marR="38100" marT="38100" marB="38100" anchor="ctr"/>
                </a:tc>
              </a:tr>
              <a:tr h="700088">
                <a:tc>
                  <a:txBody>
                    <a:bodyPr/>
                    <a:lstStyle/>
                    <a:p>
                      <a:pPr algn="l">
                        <a:buNone/>
                      </a:pPr>
                      <a:r>
                        <a:rPr lang="zh-CN" sz="2800">
                          <a:effectLst/>
                        </a:rPr>
                        <a:t>Coaxial cable</a:t>
                      </a:r>
                      <a:endParaRPr lang="zh-CN" sz="2800">
                        <a:effectLst/>
                      </a:endParaRPr>
                    </a:p>
                  </a:txBody>
                  <a:tcPr marL="38100" marR="38100" marT="38100" marB="38100" anchor="ctr"/>
                </a:tc>
                <a:tc>
                  <a:txBody>
                    <a:bodyPr/>
                    <a:lstStyle/>
                    <a:p>
                      <a:pPr algn="l">
                        <a:buNone/>
                      </a:pPr>
                      <a:r>
                        <a:rPr lang="zh-CN" sz="2800">
                          <a:effectLst/>
                        </a:rPr>
                        <a:t>~1 GHz</a:t>
                      </a:r>
                      <a:endParaRPr lang="zh-CN" sz="2800">
                        <a:effectLst/>
                      </a:endParaRPr>
                    </a:p>
                  </a:txBody>
                  <a:tcPr marL="38100" marR="38100" marT="38100" marB="38100" anchor="ctr"/>
                </a:tc>
                <a:tc>
                  <a:txBody>
                    <a:bodyPr/>
                    <a:lstStyle/>
                    <a:p>
                      <a:pPr algn="l">
                        <a:buNone/>
                      </a:pPr>
                      <a:r>
                        <a:rPr lang="zh-CN" sz="2800">
                          <a:effectLst/>
                        </a:rPr>
                        <a:t>~10 Gbps</a:t>
                      </a:r>
                      <a:endParaRPr lang="zh-CN" sz="2800">
                        <a:effectLst/>
                      </a:endParaRPr>
                    </a:p>
                  </a:txBody>
                  <a:tcPr marL="38100" marR="38100" marT="38100" marB="38100" anchor="ctr"/>
                </a:tc>
              </a:tr>
              <a:tr h="700088">
                <a:tc>
                  <a:txBody>
                    <a:bodyPr/>
                    <a:lstStyle/>
                    <a:p>
                      <a:pPr algn="l">
                        <a:buNone/>
                      </a:pPr>
                      <a:r>
                        <a:rPr lang="zh-CN" sz="2800">
                          <a:effectLst/>
                        </a:rPr>
                        <a:t>Optical Fiber</a:t>
                      </a:r>
                      <a:endParaRPr lang="zh-CN" sz="2800">
                        <a:effectLst/>
                      </a:endParaRPr>
                    </a:p>
                  </a:txBody>
                  <a:tcPr marL="38100" marR="38100" marT="38100" marB="38100" anchor="ctr"/>
                </a:tc>
                <a:tc>
                  <a:txBody>
                    <a:bodyPr/>
                    <a:lstStyle/>
                    <a:p>
                      <a:pPr algn="l">
                        <a:buNone/>
                      </a:pPr>
                      <a:r>
                        <a:rPr lang="zh-CN" sz="2800">
                          <a:effectLst/>
                        </a:rPr>
                        <a:t>~THz</a:t>
                      </a:r>
                      <a:endParaRPr lang="zh-CN" sz="2800">
                        <a:effectLst/>
                      </a:endParaRPr>
                    </a:p>
                  </a:txBody>
                  <a:tcPr marL="38100" marR="38100" marT="38100" marB="38100" anchor="ctr"/>
                </a:tc>
                <a:tc>
                  <a:txBody>
                    <a:bodyPr/>
                    <a:lstStyle/>
                    <a:p>
                      <a:pPr algn="l">
                        <a:buNone/>
                      </a:pPr>
                      <a:r>
                        <a:rPr lang="zh-CN" sz="2800">
                          <a:effectLst/>
                        </a:rPr>
                        <a:t>~100 Gbps</a:t>
                      </a:r>
                      <a:endParaRPr lang="zh-CN" sz="2800">
                        <a:effectLst/>
                      </a:endParaRPr>
                    </a:p>
                  </a:txBody>
                  <a:tcPr marL="38100" marR="38100" marT="38100" marB="38100" anchor="ctr"/>
                </a:tc>
              </a:tr>
              <a:tr h="700088">
                <a:tc>
                  <a:txBody>
                    <a:bodyPr/>
                    <a:lstStyle/>
                    <a:p>
                      <a:pPr algn="l">
                        <a:buNone/>
                      </a:pPr>
                      <a:r>
                        <a:rPr lang="zh-CN" sz="2800">
                          <a:effectLst/>
                        </a:rPr>
                        <a:t>Ground wave</a:t>
                      </a:r>
                      <a:endParaRPr lang="zh-CN" sz="2800">
                        <a:effectLst/>
                      </a:endParaRPr>
                    </a:p>
                  </a:txBody>
                  <a:tcPr marL="38100" marR="38100" marT="38100" marB="38100" anchor="ctr"/>
                </a:tc>
                <a:tc>
                  <a:txBody>
                    <a:bodyPr/>
                    <a:lstStyle/>
                    <a:p>
                      <a:pPr algn="l">
                        <a:buNone/>
                      </a:pPr>
                      <a:r>
                        <a:rPr lang="zh-CN" sz="2800">
                          <a:effectLst/>
                        </a:rPr>
                        <a:t>~kHz~MHz</a:t>
                      </a:r>
                      <a:endParaRPr lang="zh-CN" sz="2800">
                        <a:effectLst/>
                      </a:endParaRPr>
                    </a:p>
                  </a:txBody>
                  <a:tcPr marL="38100" marR="38100" marT="38100" marB="38100" anchor="ctr"/>
                </a:tc>
                <a:tc>
                  <a:txBody>
                    <a:bodyPr/>
                    <a:lstStyle/>
                    <a:p>
                      <a:pPr algn="l">
                        <a:buNone/>
                      </a:pPr>
                      <a:r>
                        <a:rPr lang="zh-CN" sz="2800">
                          <a:effectLst/>
                        </a:rPr>
                        <a:t>~Mbps</a:t>
                      </a:r>
                      <a:endParaRPr lang="zh-CN" sz="2800">
                        <a:effectLst/>
                      </a:endParaRPr>
                    </a:p>
                  </a:txBody>
                  <a:tcPr marL="38100" marR="38100" marT="38100" marB="38100" anchor="ctr"/>
                </a:tc>
              </a:tr>
              <a:tr h="700088">
                <a:tc>
                  <a:txBody>
                    <a:bodyPr/>
                    <a:lstStyle/>
                    <a:p>
                      <a:pPr algn="l">
                        <a:buNone/>
                      </a:pPr>
                      <a:r>
                        <a:rPr lang="zh-CN" sz="2800">
                          <a:effectLst/>
                        </a:rPr>
                        <a:t>Short Wave</a:t>
                      </a:r>
                      <a:endParaRPr lang="zh-CN" sz="2800">
                        <a:effectLst/>
                      </a:endParaRPr>
                    </a:p>
                  </a:txBody>
                  <a:tcPr marL="38100" marR="38100" marT="38100" marB="38100" anchor="ctr"/>
                </a:tc>
                <a:tc>
                  <a:txBody>
                    <a:bodyPr/>
                    <a:lstStyle/>
                    <a:p>
                      <a:pPr algn="l">
                        <a:buNone/>
                      </a:pPr>
                      <a:r>
                        <a:rPr lang="zh-CN" sz="2800">
                          <a:effectLst/>
                        </a:rPr>
                        <a:t>~MHz</a:t>
                      </a:r>
                      <a:endParaRPr lang="zh-CN" sz="2800">
                        <a:effectLst/>
                      </a:endParaRPr>
                    </a:p>
                  </a:txBody>
                  <a:tcPr marL="38100" marR="38100" marT="38100" marB="38100" anchor="ctr"/>
                </a:tc>
                <a:tc>
                  <a:txBody>
                    <a:bodyPr/>
                    <a:lstStyle/>
                    <a:p>
                      <a:pPr algn="l">
                        <a:buNone/>
                      </a:pPr>
                      <a:r>
                        <a:rPr lang="zh-CN" sz="2800">
                          <a:effectLst/>
                        </a:rPr>
                        <a:t>~tens kbps</a:t>
                      </a:r>
                      <a:endParaRPr lang="zh-CN" sz="2800">
                        <a:effectLst/>
                      </a:endParaRPr>
                    </a:p>
                  </a:txBody>
                  <a:tcPr marL="38100" marR="38100" marT="38100" marB="38100" anchor="ctr"/>
                </a:tc>
              </a:tr>
              <a:tr h="700088">
                <a:tc>
                  <a:txBody>
                    <a:bodyPr/>
                    <a:lstStyle/>
                    <a:p>
                      <a:pPr algn="l">
                        <a:buNone/>
                      </a:pPr>
                      <a:r>
                        <a:rPr lang="zh-CN" sz="2800">
                          <a:effectLst/>
                        </a:rPr>
                        <a:t>Satellite (LOS)</a:t>
                      </a:r>
                      <a:endParaRPr lang="zh-CN" sz="2800">
                        <a:effectLst/>
                      </a:endParaRPr>
                    </a:p>
                  </a:txBody>
                  <a:tcPr marL="38100" marR="38100" marT="38100" marB="38100" anchor="ctr"/>
                </a:tc>
                <a:tc>
                  <a:txBody>
                    <a:bodyPr/>
                    <a:lstStyle/>
                    <a:p>
                      <a:pPr algn="l">
                        <a:buNone/>
                      </a:pPr>
                      <a:r>
                        <a:rPr lang="zh-CN" sz="2800">
                          <a:effectLst/>
                        </a:rPr>
                        <a:t>~500 MHz~GHz</a:t>
                      </a:r>
                      <a:endParaRPr lang="zh-CN" sz="2800">
                        <a:effectLst/>
                      </a:endParaRPr>
                    </a:p>
                  </a:txBody>
                  <a:tcPr marL="38100" marR="38100" marT="38100" marB="38100" anchor="ctr"/>
                </a:tc>
                <a:tc>
                  <a:txBody>
                    <a:bodyPr/>
                    <a:lstStyle/>
                    <a:p>
                      <a:pPr algn="l">
                        <a:buNone/>
                      </a:pPr>
                      <a:r>
                        <a:rPr lang="zh-CN" sz="2800" dirty="0">
                          <a:effectLst/>
                        </a:rPr>
                        <a:t>~100 Mbps</a:t>
                      </a:r>
                      <a:endParaRPr lang="zh-CN" sz="2800" dirty="0">
                        <a:effectLst/>
                      </a:endParaRPr>
                    </a:p>
                  </a:txBody>
                  <a:tcPr marL="38100" marR="38100" marT="38100" marB="38100" anchor="ctr"/>
                </a:tc>
              </a:tr>
              <a:tr h="700088">
                <a:tc>
                  <a:txBody>
                    <a:bodyPr/>
                    <a:lstStyle/>
                    <a:p>
                      <a:pPr algn="l">
                        <a:buNone/>
                      </a:pPr>
                      <a:r>
                        <a:rPr lang="zh-CN" sz="2800">
                          <a:effectLst/>
                        </a:rPr>
                        <a:t>Wifi</a:t>
                      </a:r>
                      <a:endParaRPr lang="zh-CN" sz="2800">
                        <a:effectLst/>
                      </a:endParaRPr>
                    </a:p>
                  </a:txBody>
                  <a:tcPr marL="38100" marR="38100" marT="38100" marB="38100" anchor="ctr"/>
                </a:tc>
                <a:tc>
                  <a:txBody>
                    <a:bodyPr/>
                    <a:lstStyle/>
                    <a:p>
                      <a:pPr algn="l">
                        <a:buNone/>
                      </a:pPr>
                      <a:r>
                        <a:rPr lang="zh-CN" sz="2800">
                          <a:effectLst/>
                        </a:rPr>
                        <a:t>~20–160 MHz</a:t>
                      </a:r>
                      <a:endParaRPr lang="zh-CN" sz="2800">
                        <a:effectLst/>
                      </a:endParaRPr>
                    </a:p>
                  </a:txBody>
                  <a:tcPr marL="38100" marR="38100" marT="38100" marB="38100" anchor="ctr"/>
                </a:tc>
                <a:tc>
                  <a:txBody>
                    <a:bodyPr/>
                    <a:lstStyle/>
                    <a:p>
                      <a:pPr algn="l">
                        <a:buNone/>
                      </a:pPr>
                      <a:r>
                        <a:rPr lang="zh-CN" sz="2800" dirty="0">
                          <a:effectLst/>
                        </a:rPr>
                        <a:t>~9.6 Gbps</a:t>
                      </a:r>
                      <a:endParaRPr lang="zh-CN" sz="2800" dirty="0">
                        <a:effectLst/>
                      </a:endParaRPr>
                    </a:p>
                  </a:txBody>
                  <a:tcPr marL="38100" marR="38100" marT="38100" marB="38100" anchor="ctr"/>
                </a:tc>
              </a:tr>
            </a:tbl>
          </a:graphicData>
        </a:graphic>
      </p:graphicFrame>
      <p:sp>
        <p:nvSpPr>
          <p:cNvPr id="10" name="文本框 9"/>
          <p:cNvSpPr txBox="1"/>
          <p:nvPr/>
        </p:nvSpPr>
        <p:spPr>
          <a:xfrm>
            <a:off x="0" y="5719973"/>
            <a:ext cx="9278178" cy="954107"/>
          </a:xfrm>
          <a:prstGeom prst="rect">
            <a:avLst/>
          </a:prstGeom>
          <a:noFill/>
        </p:spPr>
        <p:txBody>
          <a:bodyPr wrap="square">
            <a:spAutoFit/>
          </a:bodyPr>
          <a:lstStyle/>
          <a:p>
            <a:r>
              <a:rPr lang="zh-CN" altLang="zh-CN" sz="2800" dirty="0"/>
              <a:t>Bandwidth is limited by the transmission medium</a:t>
            </a:r>
            <a:r>
              <a:rPr lang="en-US" altLang="zh-CN" sz="2800" dirty="0"/>
              <a:t>.</a:t>
            </a:r>
            <a:endParaRPr lang="en-US" altLang="zh-CN" sz="2800" dirty="0"/>
          </a:p>
          <a:p>
            <a:r>
              <a:rPr lang="zh-CN" altLang="zh-CN" sz="2800" dirty="0"/>
              <a:t>Transmission rate has an upper limit called </a:t>
            </a:r>
            <a:r>
              <a:rPr lang="zh-CN" altLang="zh-CN" sz="2800" b="1" dirty="0">
                <a:solidFill>
                  <a:srgbClr val="FF0000"/>
                </a:solidFill>
              </a:rPr>
              <a:t>channel capacity</a:t>
            </a:r>
            <a:r>
              <a:rPr lang="zh-CN" altLang="zh-CN" sz="2800" dirty="0"/>
              <a:t>.</a:t>
            </a:r>
            <a:endParaRPr lang="zh-CN" altLang="en-US" sz="2800" dirty="0"/>
          </a:p>
        </p:txBody>
      </p:sp>
      <p:sp>
        <p:nvSpPr>
          <p:cNvPr id="11" name="文本框 10"/>
          <p:cNvSpPr txBox="1"/>
          <p:nvPr/>
        </p:nvSpPr>
        <p:spPr>
          <a:xfrm>
            <a:off x="4497458" y="248024"/>
            <a:ext cx="4576968" cy="1200329"/>
          </a:xfrm>
          <a:prstGeom prst="rect">
            <a:avLst/>
          </a:prstGeom>
          <a:noFill/>
        </p:spPr>
        <p:txBody>
          <a:bodyPr wrap="square">
            <a:spAutoFit/>
          </a:bodyPr>
          <a:lstStyle/>
          <a:p>
            <a:pPr algn="ctr"/>
            <a:r>
              <a:rPr lang="en-US" altLang="zh-CN" sz="7200" dirty="0">
                <a:ln w="0"/>
                <a:solidFill>
                  <a:srgbClr val="FF33CC"/>
                </a:solidFill>
                <a:effectLst>
                  <a:outerShdw blurRad="38100" dist="25400" dir="5400000" algn="ctr" rotWithShape="0">
                    <a:srgbClr val="6E747A">
                      <a:alpha val="43000"/>
                    </a:srgbClr>
                  </a:outerShdw>
                </a:effectLst>
              </a:rPr>
              <a:t>Maximum</a:t>
            </a:r>
            <a:endParaRPr lang="zh-CN" altLang="en-US" sz="7200" dirty="0">
              <a:ln w="0"/>
              <a:solidFill>
                <a:srgbClr val="FF33CC"/>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en-US" altLang="zh-CN" dirty="0"/>
            </a:br>
            <a:endParaRPr lang="zh-CN" altLang="en-US" dirty="0"/>
          </a:p>
        </p:txBody>
      </p:sp>
      <p:pic>
        <p:nvPicPr>
          <p:cNvPr id="1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7757" y="696212"/>
            <a:ext cx="4135278" cy="2911236"/>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p:cNvSpPr txBox="1"/>
          <p:nvPr/>
        </p:nvSpPr>
        <p:spPr>
          <a:xfrm>
            <a:off x="887169" y="3868291"/>
            <a:ext cx="3116315" cy="369332"/>
          </a:xfrm>
          <a:prstGeom prst="rect">
            <a:avLst/>
          </a:prstGeom>
          <a:noFill/>
        </p:spPr>
        <p:txBody>
          <a:bodyPr wrap="square" rtlCol="0">
            <a:spAutoFit/>
          </a:bodyPr>
          <a:lstStyle/>
          <a:p>
            <a:r>
              <a:rPr lang="zh-CN" altLang="en-US" dirty="0"/>
              <a:t>高速公路最大容量</a:t>
            </a:r>
            <a:r>
              <a:rPr lang="en-US" altLang="zh-CN" dirty="0"/>
              <a:t>(</a:t>
            </a:r>
            <a:r>
              <a:rPr lang="zh-CN" altLang="en-US" dirty="0"/>
              <a:t>车辆</a:t>
            </a:r>
            <a:r>
              <a:rPr lang="en-US" altLang="zh-CN" dirty="0"/>
              <a:t>)</a:t>
            </a:r>
            <a:endParaRPr lang="zh-CN" altLang="en-US" dirty="0"/>
          </a:p>
        </p:txBody>
      </p:sp>
      <p:pic>
        <p:nvPicPr>
          <p:cNvPr id="7" name="图片 6"/>
          <p:cNvPicPr>
            <a:picLocks noChangeAspect="1"/>
          </p:cNvPicPr>
          <p:nvPr/>
        </p:nvPicPr>
        <p:blipFill>
          <a:blip r:embed="rId2"/>
          <a:stretch>
            <a:fillRect/>
          </a:stretch>
        </p:blipFill>
        <p:spPr>
          <a:xfrm>
            <a:off x="4818736" y="780731"/>
            <a:ext cx="4174053" cy="2785490"/>
          </a:xfrm>
          <a:prstGeom prst="rect">
            <a:avLst/>
          </a:prstGeom>
        </p:spPr>
      </p:pic>
      <p:sp>
        <p:nvSpPr>
          <p:cNvPr id="20" name="文本框 19"/>
          <p:cNvSpPr txBox="1"/>
          <p:nvPr/>
        </p:nvSpPr>
        <p:spPr>
          <a:xfrm>
            <a:off x="5551533" y="3729602"/>
            <a:ext cx="3222595" cy="400110"/>
          </a:xfrm>
          <a:prstGeom prst="rect">
            <a:avLst/>
          </a:prstGeom>
          <a:noFill/>
        </p:spPr>
        <p:txBody>
          <a:bodyPr wrap="square" rtlCol="0">
            <a:spAutoFit/>
          </a:bodyPr>
          <a:lstStyle/>
          <a:p>
            <a:r>
              <a:rPr lang="zh-CN" altLang="en-US" sz="2000" dirty="0"/>
              <a:t>光缆的最大容量 </a:t>
            </a:r>
            <a:r>
              <a:rPr lang="en-US" altLang="zh-CN" sz="2000" dirty="0"/>
              <a:t>(</a:t>
            </a:r>
            <a:r>
              <a:rPr lang="zh-CN" altLang="en-US" sz="2000" dirty="0"/>
              <a:t>信息量</a:t>
            </a:r>
            <a:r>
              <a:rPr lang="en-US" altLang="zh-CN" sz="2000" dirty="0"/>
              <a:t>)</a:t>
            </a:r>
            <a:endParaRPr lang="zh-CN" altLang="en-US" sz="2000" dirty="0"/>
          </a:p>
        </p:txBody>
      </p:sp>
      <p:sp>
        <p:nvSpPr>
          <p:cNvPr id="3" name="标题 1"/>
          <p:cNvSpPr txBox="1"/>
          <p:nvPr/>
        </p:nvSpPr>
        <p:spPr>
          <a:xfrm>
            <a:off x="0" y="42917"/>
            <a:ext cx="9163879" cy="456832"/>
          </a:xfrm>
          <a:prstGeom prst="rect">
            <a:avLst/>
          </a:prstGeom>
          <a:solidFill>
            <a:schemeClr val="accent5">
              <a:lumMod val="60000"/>
              <a:lumOff val="40000"/>
            </a:schemeClr>
          </a:solidFill>
          <a:ln w="9525">
            <a:noFill/>
          </a:ln>
        </p:spPr>
        <p:txBody>
          <a:bodyPr vert="horz" wrap="square" lIns="91440" tIns="45720" rIns="91440" bIns="45720" rtlCol="0" anchor="ctr" anchorCtr="1">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457200" fontAlgn="base">
              <a:lnSpc>
                <a:spcPct val="100000"/>
              </a:lnSpc>
              <a:spcAft>
                <a:spcPct val="0"/>
              </a:spcAft>
            </a:pPr>
            <a:r>
              <a:rPr lang="en-US" altLang="zh-CN" sz="36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6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a:t>
            </a:r>
            <a:endParaRPr lang="zh-CN" altLang="en-US" sz="2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7397" y="4430311"/>
            <a:ext cx="4174053" cy="2266351"/>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5321450" y="4802941"/>
            <a:ext cx="3592467" cy="1384995"/>
          </a:xfrm>
          <a:prstGeom prst="rect">
            <a:avLst/>
          </a:prstGeom>
          <a:noFill/>
        </p:spPr>
        <p:txBody>
          <a:bodyPr wrap="square">
            <a:spAutoFit/>
          </a:bodyPr>
          <a:lstStyle/>
          <a:p>
            <a:r>
              <a:rPr lang="zh-CN" altLang="zh-CN" sz="2800" dirty="0"/>
              <a:t>How to compute the channel capacity of a communication system</a:t>
            </a:r>
            <a:r>
              <a:rPr lang="zh-CN" altLang="en-US" sz="2800" dirty="0"/>
              <a:t>？</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690" y="1452372"/>
            <a:ext cx="8064500" cy="4876800"/>
          </a:xfrm>
        </p:spPr>
        <p:txBody>
          <a:bodyPr/>
          <a:lstStyle/>
          <a:p>
            <a:r>
              <a:rPr lang="en-US" altLang="zh-CN" b="0" dirty="0">
                <a:solidFill>
                  <a:srgbClr val="C00000"/>
                </a:solidFill>
              </a:rPr>
              <a:t>A Mathematical Theory of Communication</a:t>
            </a:r>
            <a:r>
              <a:rPr lang="zh-CN" altLang="en-US" b="0" dirty="0">
                <a:solidFill>
                  <a:srgbClr val="C00000"/>
                </a:solidFill>
              </a:rPr>
              <a:t>，</a:t>
            </a:r>
            <a:endParaRPr lang="en-US" altLang="zh-CN" b="0" dirty="0">
              <a:solidFill>
                <a:srgbClr val="C00000"/>
              </a:solidFill>
            </a:endParaRPr>
          </a:p>
          <a:p>
            <a:pPr marL="0" indent="0">
              <a:buNone/>
            </a:pPr>
            <a:r>
              <a:rPr lang="en-US" altLang="zh-CN" b="0" i="1" dirty="0"/>
              <a:t>The Bell System Technical Journal,</a:t>
            </a:r>
            <a:r>
              <a:rPr lang="en-US" altLang="zh-CN" dirty="0"/>
              <a:t> </a:t>
            </a:r>
            <a:r>
              <a:rPr lang="en-US" altLang="zh-CN" b="0" dirty="0"/>
              <a:t>1948</a:t>
            </a:r>
            <a:endParaRPr lang="en-US" altLang="zh-CN" dirty="0"/>
          </a:p>
          <a:p>
            <a:r>
              <a:rPr lang="en-US" altLang="zh-CN" b="0" dirty="0"/>
              <a:t>Fifty Years of Shannon Theory</a:t>
            </a:r>
            <a:r>
              <a:rPr lang="zh-CN" altLang="en-US" b="0" dirty="0"/>
              <a:t>，</a:t>
            </a:r>
            <a:r>
              <a:rPr lang="en-US" altLang="zh-CN" b="0" dirty="0"/>
              <a:t>IEEE 1998</a:t>
            </a:r>
            <a:br>
              <a:rPr lang="en-US" altLang="zh-CN" dirty="0"/>
            </a:br>
            <a:br>
              <a:rPr lang="en-US" altLang="zh-CN" dirty="0"/>
            </a:br>
            <a:endParaRPr lang="zh-CN" altLang="en-US" dirty="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9974" y="3315376"/>
            <a:ext cx="4027055" cy="3013796"/>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5471" y="3372188"/>
            <a:ext cx="4237082" cy="3013796"/>
          </a:xfrm>
          <a:prstGeom prst="rect">
            <a:avLst/>
          </a:prstGeom>
        </p:spPr>
      </p:pic>
      <p:sp>
        <p:nvSpPr>
          <p:cNvPr id="4" name="文本框 3"/>
          <p:cNvSpPr txBox="1"/>
          <p:nvPr/>
        </p:nvSpPr>
        <p:spPr>
          <a:xfrm>
            <a:off x="7103787" y="3059668"/>
            <a:ext cx="2191355" cy="369332"/>
          </a:xfrm>
          <a:prstGeom prst="rect">
            <a:avLst/>
          </a:prstGeom>
          <a:noFill/>
        </p:spPr>
        <p:txBody>
          <a:bodyPr wrap="square" rtlCol="0">
            <a:spAutoFit/>
          </a:bodyPr>
          <a:lstStyle/>
          <a:p>
            <a:r>
              <a:rPr lang="zh-CN" altLang="en-US" dirty="0"/>
              <a:t>天才简史</a:t>
            </a:r>
            <a:r>
              <a:rPr lang="en-US" altLang="zh-CN" dirty="0"/>
              <a:t>——</a:t>
            </a:r>
            <a:r>
              <a:rPr lang="zh-CN" altLang="en-US" dirty="0"/>
              <a:t>香农</a:t>
            </a:r>
            <a:endParaRPr lang="zh-CN" altLang="en-US" dirty="0"/>
          </a:p>
        </p:txBody>
      </p:sp>
      <p:sp>
        <p:nvSpPr>
          <p:cNvPr id="16" name="标题 1"/>
          <p:cNvSpPr txBox="1"/>
          <p:nvPr/>
        </p:nvSpPr>
        <p:spPr>
          <a:xfrm>
            <a:off x="0" y="42917"/>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3787" y="538242"/>
            <a:ext cx="1960535" cy="2580064"/>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37272" y="647435"/>
            <a:ext cx="8803585" cy="478155"/>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defRPr/>
            </a:pP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Shannon</a:t>
            </a:r>
            <a:r>
              <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  </a:t>
            </a: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theorem</a:t>
            </a:r>
            <a:r>
              <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 </a:t>
            </a: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香农定理</a:t>
            </a:r>
            <a:endPar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1518" y="1381013"/>
            <a:ext cx="8695953" cy="5715525"/>
          </a:xfrm>
        </p:spPr>
        <p:txBody>
          <a:bodyPr>
            <a:normAutofit/>
          </a:bodyPr>
          <a:lstStyle/>
          <a:p>
            <a:r>
              <a:rPr lang="en-US" altLang="zh-CN" b="1" dirty="0">
                <a:latin typeface="Times New Roman" panose="02020603050405020304" pitchFamily="18" charset="0"/>
                <a:cs typeface="Times New Roman" panose="02020603050405020304" pitchFamily="18" charset="0"/>
              </a:rPr>
              <a:t>Definition</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Discrete </a:t>
            </a:r>
            <a:r>
              <a:rPr lang="en-US" altLang="zh-CN"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Channel Capacity    </a:t>
            </a:r>
            <a:r>
              <a:rPr lang="zh-CN" altLang="en-US"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离散信道容量</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Continous </a:t>
            </a:r>
            <a:r>
              <a:rPr lang="en-US" altLang="zh-CN"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Channel Capacity </a:t>
            </a:r>
            <a:r>
              <a:rPr lang="zh-CN" altLang="en-US"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连续信道容量</a:t>
            </a:r>
            <a:endParaRPr lang="zh-CN"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Examples</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Extension </a:t>
            </a:r>
            <a:r>
              <a:rPr lang="zh-CN" altLang="en-US" b="1" dirty="0">
                <a:latin typeface="Times New Roman" panose="02020603050405020304" pitchFamily="18" charset="0"/>
                <a:cs typeface="Times New Roman" panose="02020603050405020304" pitchFamily="18" charset="0"/>
              </a:rPr>
              <a:t>扩展</a:t>
            </a:r>
            <a:br>
              <a:rPr lang="en-US" altLang="zh-CN" dirty="0"/>
            </a:br>
            <a:br>
              <a:rPr lang="en-US" altLang="zh-CN" dirty="0"/>
            </a:br>
            <a:endParaRPr lang="zh-CN" altLang="en-US" dirty="0"/>
          </a:p>
        </p:txBody>
      </p:sp>
      <p:sp>
        <p:nvSpPr>
          <p:cNvPr id="16" name="标题 1"/>
          <p:cNvSpPr txBox="1"/>
          <p:nvPr/>
        </p:nvSpPr>
        <p:spPr>
          <a:xfrm>
            <a:off x="16528" y="326182"/>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329" y="700183"/>
            <a:ext cx="9051671" cy="6242300"/>
          </a:xfrm>
        </p:spPr>
        <p:txBody>
          <a:bodyPr>
            <a:normAutofit/>
          </a:bodyPr>
          <a:lstStyle/>
          <a:p>
            <a:r>
              <a:rPr lang="en-US" altLang="zh-CN" sz="4700" b="1" dirty="0">
                <a:solidFill>
                  <a:srgbClr val="FF0000"/>
                </a:solidFill>
              </a:rPr>
              <a:t>Definition</a:t>
            </a:r>
            <a:endParaRPr lang="en-US" altLang="zh-CN" sz="4700" b="1" dirty="0">
              <a:solidFill>
                <a:srgbClr val="FF0000"/>
              </a:solidFill>
            </a:endParaRPr>
          </a:p>
          <a:p>
            <a:pPr marL="0" indent="0">
              <a:lnSpc>
                <a:spcPct val="170000"/>
              </a:lnSpc>
              <a:buNone/>
            </a:pPr>
            <a:r>
              <a:rPr lang="en-US" altLang="zh-CN" b="1" dirty="0">
                <a:solidFill>
                  <a:srgbClr val="FF0000"/>
                </a:solidFill>
                <a:latin typeface="Times New Roman" panose="02020603050405020304" pitchFamily="18" charset="0"/>
                <a:cs typeface="Times New Roman" panose="02020603050405020304" pitchFamily="18" charset="0"/>
              </a:rPr>
              <a:t>     </a:t>
            </a:r>
            <a:r>
              <a:rPr lang="zh-CN" altLang="zh-CN" b="1" dirty="0">
                <a:latin typeface="Times New Roman" panose="02020603050405020304" pitchFamily="18" charset="0"/>
                <a:cs typeface="Times New Roman" panose="02020603050405020304" pitchFamily="18" charset="0"/>
              </a:rPr>
              <a:t>Channel capacity</a:t>
            </a:r>
            <a:r>
              <a:rPr lang="zh-CN" altLang="zh-CN" dirty="0">
                <a:latin typeface="Times New Roman" panose="02020603050405020304" pitchFamily="18" charset="0"/>
                <a:cs typeface="Times New Roman" panose="02020603050405020304" pitchFamily="18" charset="0"/>
              </a:rPr>
              <a:t>: For a given channel, it is the </a:t>
            </a:r>
            <a:r>
              <a:rPr lang="zh-CN" altLang="zh-CN" b="1" dirty="0">
                <a:solidFill>
                  <a:srgbClr val="00B050"/>
                </a:solidFill>
                <a:latin typeface="Times New Roman" panose="02020603050405020304" pitchFamily="18" charset="0"/>
                <a:cs typeface="Times New Roman" panose="02020603050405020304" pitchFamily="18" charset="0"/>
              </a:rPr>
              <a:t>maximum average information‑transmission rate</a:t>
            </a:r>
            <a:r>
              <a:rPr lang="zh-CN" altLang="zh-CN" dirty="0">
                <a:latin typeface="Times New Roman" panose="02020603050405020304" pitchFamily="18" charset="0"/>
                <a:cs typeface="Times New Roman" panose="02020603050405020304" pitchFamily="18" charset="0"/>
              </a:rPr>
              <a:t> that can be transmitted error‑free, representing an </a:t>
            </a:r>
            <a:r>
              <a:rPr lang="zh-CN" altLang="zh-CN" b="1" dirty="0">
                <a:latin typeface="Times New Roman" panose="02020603050405020304" pitchFamily="18" charset="0"/>
                <a:cs typeface="Times New Roman" panose="02020603050405020304" pitchFamily="18" charset="0"/>
              </a:rPr>
              <a:t>inherent limiting parameter of the channel itself</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对于给定信道，信道能够无差错传输的最大平均信息速率，是信道本身固有的极限参数。</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16" name="标题 1"/>
          <p:cNvSpPr txBox="1"/>
          <p:nvPr/>
        </p:nvSpPr>
        <p:spPr>
          <a:xfrm>
            <a:off x="0" y="42917"/>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1518" y="1381013"/>
            <a:ext cx="8695953" cy="5715525"/>
          </a:xfrm>
        </p:spPr>
        <p:txBody>
          <a:bodyPr>
            <a:normAutofit/>
          </a:bodyPr>
          <a:lstStyle/>
          <a:p>
            <a:r>
              <a:rPr lang="en-US" altLang="zh-CN" b="1" dirty="0">
                <a:latin typeface="Times New Roman" panose="02020603050405020304" pitchFamily="18" charset="0"/>
                <a:cs typeface="Times New Roman" panose="02020603050405020304" pitchFamily="18" charset="0"/>
              </a:rPr>
              <a:t>Definition</a:t>
            </a:r>
            <a:endParaRPr lang="en-US" altLang="zh-CN" b="1" dirty="0">
              <a:latin typeface="Times New Roman" panose="02020603050405020304" pitchFamily="18" charset="0"/>
              <a:cs typeface="Times New Roman" panose="02020603050405020304" pitchFamily="18" charset="0"/>
            </a:endParaRPr>
          </a:p>
          <a:p>
            <a:r>
              <a:rPr lang="en-US" altLang="zh-CN" b="1" dirty="0">
                <a:solidFill>
                  <a:srgbClr val="FF0000"/>
                </a:solidFill>
                <a:latin typeface="Times New Roman" panose="02020603050405020304" pitchFamily="18" charset="0"/>
                <a:cs typeface="Times New Roman" panose="02020603050405020304" pitchFamily="18" charset="0"/>
              </a:rPr>
              <a:t>Discrete </a:t>
            </a:r>
            <a:r>
              <a:rPr lang="en-US" altLang="zh-CN" b="1" dirty="0">
                <a:solidFill>
                  <a:srgbClr val="FF0000"/>
                </a:solidFill>
                <a:latin typeface="Times New Roman" panose="02020603050405020304" pitchFamily="18" charset="0"/>
                <a:ea typeface="等线 Light" panose="02010600030101010101" pitchFamily="2" charset="-122"/>
                <a:cs typeface="Times New Roman" panose="02020603050405020304" pitchFamily="18" charset="0"/>
                <a:sym typeface="+mn-ea"/>
              </a:rPr>
              <a:t>Channel Capacity    </a:t>
            </a:r>
            <a:r>
              <a:rPr lang="zh-CN" altLang="en-US" b="1" dirty="0">
                <a:solidFill>
                  <a:srgbClr val="FF0000"/>
                </a:solidFill>
                <a:latin typeface="Times New Roman" panose="02020603050405020304" pitchFamily="18" charset="0"/>
                <a:ea typeface="等线 Light" panose="02010600030101010101" pitchFamily="2" charset="-122"/>
                <a:cs typeface="Times New Roman" panose="02020603050405020304" pitchFamily="18" charset="0"/>
                <a:sym typeface="+mn-ea"/>
              </a:rPr>
              <a:t>离散信道容量</a:t>
            </a:r>
            <a:endParaRPr lang="en-US" altLang="zh-CN" b="1" dirty="0">
              <a:solidFill>
                <a:srgbClr val="FF0000"/>
              </a:solidFill>
              <a:latin typeface="Times New Roman" panose="02020603050405020304" pitchFamily="18" charset="0"/>
              <a:cs typeface="Times New Roman" panose="02020603050405020304" pitchFamily="18" charset="0"/>
            </a:endParaRPr>
          </a:p>
          <a:p>
            <a:r>
              <a:rPr lang="en-US" altLang="zh-CN" b="1" dirty="0">
                <a:solidFill>
                  <a:srgbClr val="FF0000"/>
                </a:solidFill>
                <a:latin typeface="Times New Roman" panose="02020603050405020304" pitchFamily="18" charset="0"/>
                <a:cs typeface="Times New Roman" panose="02020603050405020304" pitchFamily="18" charset="0"/>
              </a:rPr>
              <a:t>Continous </a:t>
            </a:r>
            <a:r>
              <a:rPr lang="en-US" altLang="zh-CN" b="1" dirty="0">
                <a:solidFill>
                  <a:srgbClr val="FF0000"/>
                </a:solidFill>
                <a:latin typeface="Times New Roman" panose="02020603050405020304" pitchFamily="18" charset="0"/>
                <a:ea typeface="等线 Light" panose="02010600030101010101" pitchFamily="2" charset="-122"/>
                <a:cs typeface="Times New Roman" panose="02020603050405020304" pitchFamily="18" charset="0"/>
                <a:sym typeface="+mn-ea"/>
              </a:rPr>
              <a:t>Channel Capacity </a:t>
            </a:r>
            <a:r>
              <a:rPr lang="zh-CN" altLang="en-US" b="1" dirty="0">
                <a:solidFill>
                  <a:srgbClr val="FF0000"/>
                </a:solidFill>
                <a:latin typeface="Times New Roman" panose="02020603050405020304" pitchFamily="18" charset="0"/>
                <a:ea typeface="等线 Light" panose="02010600030101010101" pitchFamily="2" charset="-122"/>
                <a:cs typeface="Times New Roman" panose="02020603050405020304" pitchFamily="18" charset="0"/>
                <a:sym typeface="+mn-ea"/>
              </a:rPr>
              <a:t>连续信道容量</a:t>
            </a:r>
            <a:endParaRPr lang="zh-CN" altLang="en-US" b="1" dirty="0">
              <a:solidFill>
                <a:srgbClr val="FF0000"/>
              </a:solidFill>
              <a:latin typeface="Times New Roman" panose="02020603050405020304" pitchFamily="18" charset="0"/>
              <a:ea typeface="等线 Light" panose="02010600030101010101" pitchFamily="2" charset="-122"/>
              <a:cs typeface="Times New Roman" panose="02020603050405020304" pitchFamily="18" charset="0"/>
              <a:sym typeface="+mn-ea"/>
            </a:endParaRPr>
          </a:p>
          <a:p>
            <a:r>
              <a:rPr lang="en-US" altLang="zh-CN" b="1" dirty="0">
                <a:latin typeface="Times New Roman" panose="02020603050405020304" pitchFamily="18" charset="0"/>
                <a:cs typeface="Times New Roman" panose="02020603050405020304" pitchFamily="18" charset="0"/>
              </a:rPr>
              <a:t>Examples</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Extension </a:t>
            </a:r>
            <a:r>
              <a:rPr lang="zh-CN" altLang="en-US" b="1" dirty="0">
                <a:latin typeface="Times New Roman" panose="02020603050405020304" pitchFamily="18" charset="0"/>
                <a:cs typeface="Times New Roman" panose="02020603050405020304" pitchFamily="18" charset="0"/>
              </a:rPr>
              <a:t>扩展</a:t>
            </a:r>
            <a:br>
              <a:rPr lang="en-US" altLang="zh-CN" dirty="0"/>
            </a:br>
            <a:br>
              <a:rPr lang="en-US" altLang="zh-CN" dirty="0"/>
            </a:br>
            <a:endParaRPr lang="zh-CN" altLang="en-US" dirty="0"/>
          </a:p>
        </p:txBody>
      </p:sp>
      <p:sp>
        <p:nvSpPr>
          <p:cNvPr id="16" name="标题 1"/>
          <p:cNvSpPr txBox="1"/>
          <p:nvPr/>
        </p:nvSpPr>
        <p:spPr>
          <a:xfrm>
            <a:off x="16528" y="326182"/>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6" name="Rectangle 5"/>
          <p:cNvSpPr>
            <a:spLocks noChangeArrowheads="1"/>
          </p:cNvSpPr>
          <p:nvPr/>
        </p:nvSpPr>
        <p:spPr bwMode="auto">
          <a:xfrm>
            <a:off x="-411060" y="468844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498" name="文本框 13"/>
          <p:cNvSpPr txBox="1"/>
          <p:nvPr/>
        </p:nvSpPr>
        <p:spPr>
          <a:xfrm>
            <a:off x="3394645" y="2717993"/>
            <a:ext cx="914400"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0499" name="文本框 15"/>
          <p:cNvSpPr txBox="1"/>
          <p:nvPr/>
        </p:nvSpPr>
        <p:spPr>
          <a:xfrm>
            <a:off x="3394645" y="2717993"/>
            <a:ext cx="914400"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7" name="文本框 16"/>
          <p:cNvSpPr txBox="1"/>
          <p:nvPr/>
        </p:nvSpPr>
        <p:spPr>
          <a:xfrm>
            <a:off x="-125160" y="479726"/>
            <a:ext cx="5769664" cy="583565"/>
          </a:xfrm>
          <a:prstGeom prst="rect">
            <a:avLst/>
          </a:prstGeom>
          <a:noFill/>
        </p:spPr>
        <p:txBody>
          <a:bodyPr wrap="square">
            <a:spAutoFit/>
          </a:bodyPr>
          <a:lstStyle/>
          <a:p>
            <a:pPr lvl="0" algn="ctr" defTabSz="914400" fontAlgn="base">
              <a:spcBef>
                <a:spcPct val="0"/>
              </a:spcBef>
              <a:spcAft>
                <a:spcPct val="0"/>
              </a:spcAft>
              <a:defRPr/>
            </a:pPr>
            <a:r>
              <a:rPr lang="en-US" altLang="zh-CN" sz="3200" b="1" dirty="0">
                <a:solidFill>
                  <a:srgbClr val="C00000"/>
                </a:solidFill>
                <a:latin typeface="Calibri" panose="020F0502020204030204"/>
                <a:ea typeface="等线" panose="02010600030101010101" charset="-122"/>
              </a:rPr>
              <a:t>Discrete 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离散</a:t>
            </a:r>
            <a:endParaRPr lang="zh-CN" altLang="en-US" sz="3200" b="1" dirty="0">
              <a:solidFill>
                <a:srgbClr val="C00000"/>
              </a:solidFill>
              <a:latin typeface="Calibri" panose="020F0502020204030204"/>
              <a:ea typeface="等线" panose="02010600030101010101" charset="-122"/>
            </a:endParaRPr>
          </a:p>
        </p:txBody>
      </p:sp>
      <p:grpSp>
        <p:nvGrpSpPr>
          <p:cNvPr id="18" name="Group 10"/>
          <p:cNvGrpSpPr>
            <a:grpSpLocks noChangeAspect="1"/>
          </p:cNvGrpSpPr>
          <p:nvPr/>
        </p:nvGrpSpPr>
        <p:grpSpPr bwMode="auto">
          <a:xfrm>
            <a:off x="1753173" y="1676290"/>
            <a:ext cx="5535612" cy="3498851"/>
            <a:chOff x="4042" y="2628"/>
            <a:chExt cx="3825" cy="2710"/>
          </a:xfrm>
        </p:grpSpPr>
        <p:sp>
          <p:nvSpPr>
            <p:cNvPr id="19" name="AutoShape 11"/>
            <p:cNvSpPr>
              <a:spLocks noChangeAspect="1" noChangeArrowheads="1"/>
            </p:cNvSpPr>
            <p:nvPr/>
          </p:nvSpPr>
          <p:spPr bwMode="auto">
            <a:xfrm>
              <a:off x="4042" y="2628"/>
              <a:ext cx="3825" cy="2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b="1"/>
            </a:p>
          </p:txBody>
        </p:sp>
        <p:sp>
          <p:nvSpPr>
            <p:cNvPr id="20" name="Text Box 12"/>
            <p:cNvSpPr txBox="1">
              <a:spLocks noChangeArrowheads="1"/>
            </p:cNvSpPr>
            <p:nvPr/>
          </p:nvSpPr>
          <p:spPr bwMode="auto">
            <a:xfrm>
              <a:off x="5292" y="3130"/>
              <a:ext cx="793"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i="1" dirty="0">
                  <a:latin typeface="Times New Roman" panose="02020603050405020304" pitchFamily="18" charset="0"/>
                </a:rPr>
                <a:t>P</a:t>
              </a:r>
              <a:r>
                <a:rPr lang="en-US" altLang="zh-CN" sz="1400" b="1" dirty="0">
                  <a:latin typeface="Times New Roman" panose="02020603050405020304" pitchFamily="18" charset="0"/>
                </a:rPr>
                <a:t>(1 / 0)</a:t>
              </a:r>
              <a:endParaRPr lang="en-US" altLang="zh-CN" sz="2800" b="1" dirty="0"/>
            </a:p>
          </p:txBody>
        </p:sp>
        <p:sp>
          <p:nvSpPr>
            <p:cNvPr id="21" name="Text Box 13"/>
            <p:cNvSpPr txBox="1">
              <a:spLocks noChangeArrowheads="1"/>
            </p:cNvSpPr>
            <p:nvPr/>
          </p:nvSpPr>
          <p:spPr bwMode="auto">
            <a:xfrm>
              <a:off x="4699" y="3728"/>
              <a:ext cx="793"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i="1" dirty="0">
                  <a:latin typeface="Times New Roman" panose="02020603050405020304" pitchFamily="18" charset="0"/>
                </a:rPr>
                <a:t>P</a:t>
              </a:r>
              <a:r>
                <a:rPr lang="en-US" altLang="zh-CN" sz="1400" b="1" dirty="0">
                  <a:latin typeface="Times New Roman" panose="02020603050405020304" pitchFamily="18" charset="0"/>
                </a:rPr>
                <a:t>(0 / 1)</a:t>
              </a:r>
              <a:endParaRPr lang="en-US" altLang="zh-CN" sz="2800" b="1" dirty="0"/>
            </a:p>
          </p:txBody>
        </p:sp>
        <p:sp>
          <p:nvSpPr>
            <p:cNvPr id="22" name="Text Box 14"/>
            <p:cNvSpPr txBox="1">
              <a:spLocks noChangeArrowheads="1"/>
            </p:cNvSpPr>
            <p:nvPr/>
          </p:nvSpPr>
          <p:spPr bwMode="auto">
            <a:xfrm>
              <a:off x="4174" y="2886"/>
              <a:ext cx="4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a:latin typeface="Times New Roman" panose="02020603050405020304" pitchFamily="18" charset="0"/>
                </a:rPr>
                <a:t>0</a:t>
              </a:r>
              <a:endParaRPr lang="en-US" altLang="zh-CN" sz="2800" b="1"/>
            </a:p>
          </p:txBody>
        </p:sp>
        <p:sp>
          <p:nvSpPr>
            <p:cNvPr id="23" name="Text Box 15"/>
            <p:cNvSpPr txBox="1">
              <a:spLocks noChangeArrowheads="1"/>
            </p:cNvSpPr>
            <p:nvPr/>
          </p:nvSpPr>
          <p:spPr bwMode="auto">
            <a:xfrm>
              <a:off x="7438" y="2886"/>
              <a:ext cx="4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a:latin typeface="Times New Roman" panose="02020603050405020304" pitchFamily="18" charset="0"/>
                </a:rPr>
                <a:t>0</a:t>
              </a:r>
              <a:endParaRPr lang="en-US" altLang="zh-CN" sz="2800" b="1"/>
            </a:p>
          </p:txBody>
        </p:sp>
        <p:sp>
          <p:nvSpPr>
            <p:cNvPr id="24" name="Text Box 16"/>
            <p:cNvSpPr txBox="1">
              <a:spLocks noChangeArrowheads="1"/>
            </p:cNvSpPr>
            <p:nvPr/>
          </p:nvSpPr>
          <p:spPr bwMode="auto">
            <a:xfrm>
              <a:off x="7412" y="3991"/>
              <a:ext cx="4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a:latin typeface="Times New Roman" panose="02020603050405020304" pitchFamily="18" charset="0"/>
                </a:rPr>
                <a:t>1</a:t>
              </a:r>
              <a:endParaRPr lang="en-US" altLang="zh-CN" sz="2800" b="1"/>
            </a:p>
          </p:txBody>
        </p:sp>
        <p:sp>
          <p:nvSpPr>
            <p:cNvPr id="25" name="Text Box 17"/>
            <p:cNvSpPr txBox="1">
              <a:spLocks noChangeArrowheads="1"/>
            </p:cNvSpPr>
            <p:nvPr/>
          </p:nvSpPr>
          <p:spPr bwMode="auto">
            <a:xfrm>
              <a:off x="4135" y="3991"/>
              <a:ext cx="4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a:latin typeface="Times New Roman" panose="02020603050405020304" pitchFamily="18" charset="0"/>
                </a:rPr>
                <a:t>1</a:t>
              </a:r>
              <a:endParaRPr lang="en-US" altLang="zh-CN" sz="2800" b="1"/>
            </a:p>
          </p:txBody>
        </p:sp>
        <p:grpSp>
          <p:nvGrpSpPr>
            <p:cNvPr id="26" name="Group 18"/>
            <p:cNvGrpSpPr/>
            <p:nvPr/>
          </p:nvGrpSpPr>
          <p:grpSpPr bwMode="auto">
            <a:xfrm>
              <a:off x="5603" y="2662"/>
              <a:ext cx="807" cy="1935"/>
              <a:chOff x="5604" y="2662"/>
              <a:chExt cx="807" cy="1935"/>
            </a:xfrm>
          </p:grpSpPr>
          <p:sp>
            <p:nvSpPr>
              <p:cNvPr id="36" name="Text Box 19"/>
              <p:cNvSpPr txBox="1">
                <a:spLocks noChangeArrowheads="1"/>
              </p:cNvSpPr>
              <p:nvPr/>
            </p:nvSpPr>
            <p:spPr bwMode="auto">
              <a:xfrm>
                <a:off x="5617" y="2662"/>
                <a:ext cx="794"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i="1">
                    <a:latin typeface="Times New Roman" panose="02020603050405020304" pitchFamily="18" charset="0"/>
                  </a:rPr>
                  <a:t>P</a:t>
                </a:r>
                <a:r>
                  <a:rPr lang="en-US" altLang="zh-CN" sz="1400" b="1">
                    <a:latin typeface="Times New Roman" panose="02020603050405020304" pitchFamily="18" charset="0"/>
                  </a:rPr>
                  <a:t>(0 / 0)</a:t>
                </a:r>
                <a:endParaRPr lang="en-US" altLang="zh-CN" sz="2800" b="1"/>
              </a:p>
            </p:txBody>
          </p:sp>
          <p:sp>
            <p:nvSpPr>
              <p:cNvPr id="37" name="Text Box 20"/>
              <p:cNvSpPr txBox="1">
                <a:spLocks noChangeArrowheads="1"/>
              </p:cNvSpPr>
              <p:nvPr/>
            </p:nvSpPr>
            <p:spPr bwMode="auto">
              <a:xfrm>
                <a:off x="5604" y="4196"/>
                <a:ext cx="794"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i="1" dirty="0">
                    <a:latin typeface="Times New Roman" panose="02020603050405020304" pitchFamily="18" charset="0"/>
                  </a:rPr>
                  <a:t>P</a:t>
                </a:r>
                <a:r>
                  <a:rPr lang="en-US" altLang="zh-CN" sz="1400" b="1" dirty="0">
                    <a:latin typeface="Times New Roman" panose="02020603050405020304" pitchFamily="18" charset="0"/>
                  </a:rPr>
                  <a:t>(1 / 1)</a:t>
                </a:r>
                <a:endParaRPr lang="en-US" altLang="zh-CN" sz="2800" b="1" dirty="0"/>
              </a:p>
            </p:txBody>
          </p:sp>
        </p:grpSp>
        <p:grpSp>
          <p:nvGrpSpPr>
            <p:cNvPr id="27" name="Group 21"/>
            <p:cNvGrpSpPr/>
            <p:nvPr/>
          </p:nvGrpSpPr>
          <p:grpSpPr bwMode="auto">
            <a:xfrm>
              <a:off x="4485" y="3068"/>
              <a:ext cx="2991" cy="1118"/>
              <a:chOff x="4486" y="3068"/>
              <a:chExt cx="2991" cy="1119"/>
            </a:xfrm>
          </p:grpSpPr>
          <p:grpSp>
            <p:nvGrpSpPr>
              <p:cNvPr id="31" name="Group 22"/>
              <p:cNvGrpSpPr/>
              <p:nvPr/>
            </p:nvGrpSpPr>
            <p:grpSpPr bwMode="auto">
              <a:xfrm>
                <a:off x="4486" y="3068"/>
                <a:ext cx="2991" cy="1119"/>
                <a:chOff x="4486" y="3068"/>
                <a:chExt cx="2991" cy="1119"/>
              </a:xfrm>
            </p:grpSpPr>
            <p:sp>
              <p:nvSpPr>
                <p:cNvPr id="34" name="Line 23"/>
                <p:cNvSpPr>
                  <a:spLocks noChangeShapeType="1"/>
                </p:cNvSpPr>
                <p:nvPr/>
              </p:nvSpPr>
              <p:spPr bwMode="auto">
                <a:xfrm>
                  <a:off x="4486" y="3068"/>
                  <a:ext cx="2991"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b="1"/>
                </a:p>
              </p:txBody>
            </p:sp>
            <p:sp>
              <p:nvSpPr>
                <p:cNvPr id="35" name="Line 24"/>
                <p:cNvSpPr>
                  <a:spLocks noChangeShapeType="1"/>
                </p:cNvSpPr>
                <p:nvPr/>
              </p:nvSpPr>
              <p:spPr bwMode="auto">
                <a:xfrm>
                  <a:off x="4486" y="4186"/>
                  <a:ext cx="2991"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b="1"/>
                </a:p>
              </p:txBody>
            </p:sp>
          </p:grpSp>
          <p:sp>
            <p:nvSpPr>
              <p:cNvPr id="32" name="Line 25"/>
              <p:cNvSpPr>
                <a:spLocks noChangeShapeType="1"/>
              </p:cNvSpPr>
              <p:nvPr/>
            </p:nvSpPr>
            <p:spPr bwMode="auto">
              <a:xfrm>
                <a:off x="4486" y="3068"/>
                <a:ext cx="2991" cy="111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b="1"/>
              </a:p>
            </p:txBody>
          </p:sp>
          <p:sp>
            <p:nvSpPr>
              <p:cNvPr id="33" name="Line 26"/>
              <p:cNvSpPr>
                <a:spLocks noChangeShapeType="1"/>
              </p:cNvSpPr>
              <p:nvPr/>
            </p:nvSpPr>
            <p:spPr bwMode="auto">
              <a:xfrm flipV="1">
                <a:off x="4486" y="3068"/>
                <a:ext cx="2965" cy="111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b="1" dirty="0"/>
              </a:p>
            </p:txBody>
          </p:sp>
        </p:grpSp>
        <p:grpSp>
          <p:nvGrpSpPr>
            <p:cNvPr id="28" name="Group 28"/>
            <p:cNvGrpSpPr/>
            <p:nvPr/>
          </p:nvGrpSpPr>
          <p:grpSpPr bwMode="auto">
            <a:xfrm>
              <a:off x="4042" y="3377"/>
              <a:ext cx="3824" cy="364"/>
              <a:chOff x="4043" y="3377"/>
              <a:chExt cx="3824" cy="364"/>
            </a:xfrm>
          </p:grpSpPr>
          <p:sp>
            <p:nvSpPr>
              <p:cNvPr id="29" name="Text Box 29"/>
              <p:cNvSpPr txBox="1">
                <a:spLocks noChangeArrowheads="1"/>
              </p:cNvSpPr>
              <p:nvPr/>
            </p:nvSpPr>
            <p:spPr bwMode="auto">
              <a:xfrm>
                <a:off x="4043" y="3403"/>
                <a:ext cx="85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dirty="0">
                    <a:latin typeface="Times New Roman" panose="02020603050405020304" pitchFamily="18" charset="0"/>
                  </a:rPr>
                  <a:t>Transmitter</a:t>
                </a:r>
                <a:endParaRPr lang="zh-CN" altLang="en-US" sz="2800" b="1" dirty="0"/>
              </a:p>
            </p:txBody>
          </p:sp>
          <p:sp>
            <p:nvSpPr>
              <p:cNvPr id="30" name="Text Box 30"/>
              <p:cNvSpPr txBox="1">
                <a:spLocks noChangeArrowheads="1"/>
              </p:cNvSpPr>
              <p:nvPr/>
            </p:nvSpPr>
            <p:spPr bwMode="auto">
              <a:xfrm>
                <a:off x="7126" y="3377"/>
                <a:ext cx="74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dirty="0">
                    <a:latin typeface="Times New Roman" panose="02020603050405020304" pitchFamily="18" charset="0"/>
                  </a:rPr>
                  <a:t>Receiver</a:t>
                </a:r>
                <a:endParaRPr lang="zh-CN" altLang="en-US" sz="2800" b="1" dirty="0"/>
              </a:p>
            </p:txBody>
          </p:sp>
        </p:grpSp>
      </p:grpSp>
      <p:sp>
        <p:nvSpPr>
          <p:cNvPr id="38" name="文本框 37"/>
          <p:cNvSpPr txBox="1"/>
          <p:nvPr/>
        </p:nvSpPr>
        <p:spPr>
          <a:xfrm>
            <a:off x="511171" y="2741465"/>
            <a:ext cx="4805568" cy="646331"/>
          </a:xfrm>
          <a:prstGeom prst="rect">
            <a:avLst/>
          </a:prstGeom>
          <a:noFill/>
        </p:spPr>
        <p:txBody>
          <a:bodyPr wrap="square">
            <a:spAutoFit/>
          </a:bodyPr>
          <a:lstStyle/>
          <a:p>
            <a:r>
              <a:rPr lang="en-US" altLang="zh-CN" sz="3600" i="1" dirty="0">
                <a:solidFill>
                  <a:srgbClr val="FF0000"/>
                </a:solidFill>
              </a:rPr>
              <a:t>H(x)</a:t>
            </a:r>
            <a:endParaRPr lang="en-US" altLang="zh-CN" sz="3600" i="1" dirty="0">
              <a:solidFill>
                <a:srgbClr val="FF0000"/>
              </a:solidFill>
            </a:endParaRPr>
          </a:p>
        </p:txBody>
      </p:sp>
      <p:sp>
        <p:nvSpPr>
          <p:cNvPr id="39" name="文本框 38"/>
          <p:cNvSpPr txBox="1"/>
          <p:nvPr/>
        </p:nvSpPr>
        <p:spPr>
          <a:xfrm>
            <a:off x="6505013" y="2741464"/>
            <a:ext cx="4805568" cy="646331"/>
          </a:xfrm>
          <a:prstGeom prst="rect">
            <a:avLst/>
          </a:prstGeom>
          <a:noFill/>
        </p:spPr>
        <p:txBody>
          <a:bodyPr wrap="square">
            <a:spAutoFit/>
          </a:bodyPr>
          <a:lstStyle/>
          <a:p>
            <a:r>
              <a:rPr lang="en-US" altLang="zh-CN" sz="3600" i="1" dirty="0">
                <a:solidFill>
                  <a:srgbClr val="FF0000"/>
                </a:solidFill>
              </a:rPr>
              <a:t>H(y) </a:t>
            </a:r>
            <a:endParaRPr lang="zh-CN" altLang="en-US" dirty="0"/>
          </a:p>
        </p:txBody>
      </p:sp>
      <p:sp>
        <p:nvSpPr>
          <p:cNvPr id="41" name="文本框 40"/>
          <p:cNvSpPr txBox="1"/>
          <p:nvPr/>
        </p:nvSpPr>
        <p:spPr>
          <a:xfrm>
            <a:off x="3464230" y="3674863"/>
            <a:ext cx="6110080" cy="646331"/>
          </a:xfrm>
          <a:prstGeom prst="rect">
            <a:avLst/>
          </a:prstGeom>
          <a:noFill/>
        </p:spPr>
        <p:txBody>
          <a:bodyPr wrap="square">
            <a:spAutoFit/>
          </a:bodyPr>
          <a:lstStyle/>
          <a:p>
            <a:r>
              <a:rPr kumimoji="0" lang="en-US" altLang="zh-CN" sz="3600" b="0" i="1" u="none" strike="noStrike" kern="1200" cap="none" spc="0" normalizeH="0" baseline="0" noProof="0" dirty="0">
                <a:ln>
                  <a:noFill/>
                </a:ln>
                <a:solidFill>
                  <a:srgbClr val="FF0000"/>
                </a:solidFill>
                <a:effectLst/>
                <a:uLnTx/>
                <a:uFillTx/>
                <a:latin typeface="Times New Roman" panose="02020603050405020304"/>
                <a:cs typeface="+mn-cs"/>
              </a:rPr>
              <a:t>H(x/y)</a:t>
            </a:r>
            <a:endParaRPr lang="zh-CN" altLang="en-US" dirty="0"/>
          </a:p>
        </p:txBody>
      </p:sp>
      <p:sp>
        <p:nvSpPr>
          <p:cNvPr id="2" name="标题 1"/>
          <p:cNvSpPr txBox="1"/>
          <p:nvPr/>
        </p:nvSpPr>
        <p:spPr>
          <a:xfrm>
            <a:off x="0" y="42917"/>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
        <p:nvSpPr>
          <p:cNvPr id="3" name="文本框 2"/>
          <p:cNvSpPr txBox="1"/>
          <p:nvPr/>
        </p:nvSpPr>
        <p:spPr>
          <a:xfrm>
            <a:off x="3662038" y="1766339"/>
            <a:ext cx="2535544" cy="584775"/>
          </a:xfrm>
          <a:prstGeom prst="rect">
            <a:avLst/>
          </a:prstGeom>
          <a:noFill/>
        </p:spPr>
        <p:txBody>
          <a:bodyPr wrap="square" rtlCol="0">
            <a:spAutoFit/>
          </a:bodyPr>
          <a:lstStyle/>
          <a:p>
            <a:r>
              <a:rPr lang="en-US" altLang="zh-CN" sz="3200" dirty="0">
                <a:solidFill>
                  <a:srgbClr val="00B050"/>
                </a:solidFill>
              </a:rPr>
              <a:t>Channel</a:t>
            </a:r>
            <a:endParaRPr lang="zh-CN" altLang="en-US" sz="3200" dirty="0">
              <a:solidFill>
                <a:srgbClr val="00B05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6" name="Rectangle 5"/>
          <p:cNvSpPr>
            <a:spLocks noChangeArrowheads="1"/>
          </p:cNvSpPr>
          <p:nvPr/>
        </p:nvSpPr>
        <p:spPr bwMode="auto">
          <a:xfrm>
            <a:off x="-411060" y="468844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498" name="文本框 13"/>
          <p:cNvSpPr txBox="1"/>
          <p:nvPr/>
        </p:nvSpPr>
        <p:spPr>
          <a:xfrm>
            <a:off x="3455605" y="2072833"/>
            <a:ext cx="914400"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0499" name="文本框 15"/>
          <p:cNvSpPr txBox="1"/>
          <p:nvPr/>
        </p:nvSpPr>
        <p:spPr>
          <a:xfrm>
            <a:off x="3455605" y="2072833"/>
            <a:ext cx="914400"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5" name="图片 4"/>
          <p:cNvPicPr>
            <a:picLocks noChangeAspect="1"/>
          </p:cNvPicPr>
          <p:nvPr/>
        </p:nvPicPr>
        <p:blipFill>
          <a:blip r:embed="rId1"/>
          <a:stretch>
            <a:fillRect/>
          </a:stretch>
        </p:blipFill>
        <p:spPr>
          <a:xfrm>
            <a:off x="241624" y="3499718"/>
            <a:ext cx="8755886" cy="2023653"/>
          </a:xfrm>
          <a:prstGeom prst="rect">
            <a:avLst/>
          </a:prstGeom>
        </p:spPr>
      </p:pic>
      <p:graphicFrame>
        <p:nvGraphicFramePr>
          <p:cNvPr id="10" name="Object 12"/>
          <p:cNvGraphicFramePr>
            <a:graphicFrameLocks noChangeAspect="1"/>
          </p:cNvGraphicFramePr>
          <p:nvPr/>
        </p:nvGraphicFramePr>
        <p:xfrm>
          <a:off x="2724329" y="5288946"/>
          <a:ext cx="3662284" cy="754706"/>
        </p:xfrm>
        <a:graphic>
          <a:graphicData uri="http://schemas.openxmlformats.org/presentationml/2006/ole">
            <mc:AlternateContent xmlns:mc="http://schemas.openxmlformats.org/markup-compatibility/2006">
              <mc:Choice xmlns:v="urn:schemas-microsoft-com:vml" Requires="v">
                <p:oleObj spid="_x0000_s0" name="Equation" r:id="rId2" imgW="38709600" imgH="6096000" progId="Equation.DSMT4">
                  <p:embed/>
                </p:oleObj>
              </mc:Choice>
              <mc:Fallback>
                <p:oleObj name="Equation" r:id="rId2" imgW="38709600" imgH="6096000" progId="Equation.DSMT4">
                  <p:embed/>
                  <p:pic>
                    <p:nvPicPr>
                      <p:cNvPr id="0" name="Object 12"/>
                      <p:cNvPicPr>
                        <a:picLocks noChangeAspect="1" noChangeArrowheads="1"/>
                      </p:cNvPicPr>
                      <p:nvPr/>
                    </p:nvPicPr>
                    <p:blipFill>
                      <a:blip r:embed="rId3"/>
                      <a:srcRect/>
                      <a:stretch>
                        <a:fillRect/>
                      </a:stretch>
                    </p:blipFill>
                    <p:spPr bwMode="auto">
                      <a:xfrm>
                        <a:off x="2724329" y="5288946"/>
                        <a:ext cx="3662284" cy="754706"/>
                      </a:xfrm>
                      <a:prstGeom prst="rect">
                        <a:avLst/>
                      </a:prstGeom>
                      <a:noFill/>
                    </p:spPr>
                  </p:pic>
                </p:oleObj>
              </mc:Fallback>
            </mc:AlternateContent>
          </a:graphicData>
        </a:graphic>
      </p:graphicFrame>
      <p:pic>
        <p:nvPicPr>
          <p:cNvPr id="16" name="图片 15"/>
          <p:cNvPicPr>
            <a:picLocks noChangeAspect="1"/>
          </p:cNvPicPr>
          <p:nvPr/>
        </p:nvPicPr>
        <p:blipFill>
          <a:blip r:embed="rId4"/>
          <a:stretch>
            <a:fillRect/>
          </a:stretch>
        </p:blipFill>
        <p:spPr>
          <a:xfrm>
            <a:off x="0" y="5923624"/>
            <a:ext cx="9144000" cy="590995"/>
          </a:xfrm>
          <a:prstGeom prst="rect">
            <a:avLst/>
          </a:prstGeom>
        </p:spPr>
      </p:pic>
      <p:sp>
        <p:nvSpPr>
          <p:cNvPr id="17" name="文本框 16"/>
          <p:cNvSpPr txBox="1"/>
          <p:nvPr/>
        </p:nvSpPr>
        <p:spPr>
          <a:xfrm>
            <a:off x="-125160" y="479726"/>
            <a:ext cx="5769664" cy="583565"/>
          </a:xfrm>
          <a:prstGeom prst="rect">
            <a:avLst/>
          </a:prstGeom>
          <a:noFill/>
        </p:spPr>
        <p:txBody>
          <a:bodyPr wrap="square">
            <a:spAutoFit/>
          </a:bodyPr>
          <a:lstStyle/>
          <a:p>
            <a:pPr lvl="0" algn="ctr" defTabSz="914400" fontAlgn="base">
              <a:spcBef>
                <a:spcPct val="0"/>
              </a:spcBef>
              <a:spcAft>
                <a:spcPct val="0"/>
              </a:spcAft>
              <a:defRPr/>
            </a:pPr>
            <a:r>
              <a:rPr lang="en-US" altLang="zh-CN" sz="3200" b="1" dirty="0">
                <a:solidFill>
                  <a:srgbClr val="C00000"/>
                </a:solidFill>
                <a:latin typeface="Calibri" panose="020F0502020204030204"/>
                <a:ea typeface="等线" panose="02010600030101010101" charset="-122"/>
              </a:rPr>
              <a:t>Discrete 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离散</a:t>
            </a:r>
            <a:endParaRPr lang="zh-CN" altLang="en-US" sz="3200" b="1" dirty="0">
              <a:solidFill>
                <a:srgbClr val="C00000"/>
              </a:solidFill>
              <a:latin typeface="Calibri" panose="020F0502020204030204"/>
              <a:ea typeface="等线" panose="02010600030101010101" charset="-122"/>
            </a:endParaRPr>
          </a:p>
        </p:txBody>
      </p:sp>
      <p:grpSp>
        <p:nvGrpSpPr>
          <p:cNvPr id="18" name="Group 10"/>
          <p:cNvGrpSpPr>
            <a:grpSpLocks noChangeAspect="1"/>
          </p:cNvGrpSpPr>
          <p:nvPr/>
        </p:nvGrpSpPr>
        <p:grpSpPr bwMode="auto">
          <a:xfrm>
            <a:off x="1804194" y="1126442"/>
            <a:ext cx="5535612" cy="3498851"/>
            <a:chOff x="4042" y="2628"/>
            <a:chExt cx="3825" cy="2710"/>
          </a:xfrm>
        </p:grpSpPr>
        <p:sp>
          <p:nvSpPr>
            <p:cNvPr id="19" name="AutoShape 11"/>
            <p:cNvSpPr>
              <a:spLocks noChangeAspect="1" noChangeArrowheads="1"/>
            </p:cNvSpPr>
            <p:nvPr/>
          </p:nvSpPr>
          <p:spPr bwMode="auto">
            <a:xfrm>
              <a:off x="4042" y="2628"/>
              <a:ext cx="3825" cy="2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b="1"/>
            </a:p>
          </p:txBody>
        </p:sp>
        <p:sp>
          <p:nvSpPr>
            <p:cNvPr id="20" name="Text Box 12"/>
            <p:cNvSpPr txBox="1">
              <a:spLocks noChangeArrowheads="1"/>
            </p:cNvSpPr>
            <p:nvPr/>
          </p:nvSpPr>
          <p:spPr bwMode="auto">
            <a:xfrm>
              <a:off x="5292" y="3130"/>
              <a:ext cx="793"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i="1">
                  <a:latin typeface="Times New Roman" panose="02020603050405020304" pitchFamily="18" charset="0"/>
                </a:rPr>
                <a:t>P</a:t>
              </a:r>
              <a:r>
                <a:rPr lang="en-US" altLang="zh-CN" sz="1400" b="1">
                  <a:latin typeface="Times New Roman" panose="02020603050405020304" pitchFamily="18" charset="0"/>
                </a:rPr>
                <a:t>(1 / 0)</a:t>
              </a:r>
              <a:endParaRPr lang="en-US" altLang="zh-CN" sz="2800" b="1"/>
            </a:p>
          </p:txBody>
        </p:sp>
        <p:sp>
          <p:nvSpPr>
            <p:cNvPr id="21" name="Text Box 13"/>
            <p:cNvSpPr txBox="1">
              <a:spLocks noChangeArrowheads="1"/>
            </p:cNvSpPr>
            <p:nvPr/>
          </p:nvSpPr>
          <p:spPr bwMode="auto">
            <a:xfrm>
              <a:off x="4699" y="3728"/>
              <a:ext cx="793"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i="1" dirty="0">
                  <a:latin typeface="Times New Roman" panose="02020603050405020304" pitchFamily="18" charset="0"/>
                </a:rPr>
                <a:t>P</a:t>
              </a:r>
              <a:r>
                <a:rPr lang="en-US" altLang="zh-CN" sz="1400" b="1" dirty="0">
                  <a:latin typeface="Times New Roman" panose="02020603050405020304" pitchFamily="18" charset="0"/>
                </a:rPr>
                <a:t>(0 / 1)</a:t>
              </a:r>
              <a:endParaRPr lang="en-US" altLang="zh-CN" sz="2800" b="1" dirty="0"/>
            </a:p>
          </p:txBody>
        </p:sp>
        <p:sp>
          <p:nvSpPr>
            <p:cNvPr id="22" name="Text Box 14"/>
            <p:cNvSpPr txBox="1">
              <a:spLocks noChangeArrowheads="1"/>
            </p:cNvSpPr>
            <p:nvPr/>
          </p:nvSpPr>
          <p:spPr bwMode="auto">
            <a:xfrm>
              <a:off x="4174" y="2886"/>
              <a:ext cx="4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a:latin typeface="Times New Roman" panose="02020603050405020304" pitchFamily="18" charset="0"/>
                </a:rPr>
                <a:t>0</a:t>
              </a:r>
              <a:endParaRPr lang="en-US" altLang="zh-CN" sz="2800" b="1"/>
            </a:p>
          </p:txBody>
        </p:sp>
        <p:sp>
          <p:nvSpPr>
            <p:cNvPr id="23" name="Text Box 15"/>
            <p:cNvSpPr txBox="1">
              <a:spLocks noChangeArrowheads="1"/>
            </p:cNvSpPr>
            <p:nvPr/>
          </p:nvSpPr>
          <p:spPr bwMode="auto">
            <a:xfrm>
              <a:off x="7438" y="2886"/>
              <a:ext cx="4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a:latin typeface="Times New Roman" panose="02020603050405020304" pitchFamily="18" charset="0"/>
                </a:rPr>
                <a:t>0</a:t>
              </a:r>
              <a:endParaRPr lang="en-US" altLang="zh-CN" sz="2800" b="1"/>
            </a:p>
          </p:txBody>
        </p:sp>
        <p:sp>
          <p:nvSpPr>
            <p:cNvPr id="24" name="Text Box 16"/>
            <p:cNvSpPr txBox="1">
              <a:spLocks noChangeArrowheads="1"/>
            </p:cNvSpPr>
            <p:nvPr/>
          </p:nvSpPr>
          <p:spPr bwMode="auto">
            <a:xfrm>
              <a:off x="7412" y="3991"/>
              <a:ext cx="4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a:latin typeface="Times New Roman" panose="02020603050405020304" pitchFamily="18" charset="0"/>
                </a:rPr>
                <a:t>1</a:t>
              </a:r>
              <a:endParaRPr lang="en-US" altLang="zh-CN" sz="2800" b="1"/>
            </a:p>
          </p:txBody>
        </p:sp>
        <p:sp>
          <p:nvSpPr>
            <p:cNvPr id="25" name="Text Box 17"/>
            <p:cNvSpPr txBox="1">
              <a:spLocks noChangeArrowheads="1"/>
            </p:cNvSpPr>
            <p:nvPr/>
          </p:nvSpPr>
          <p:spPr bwMode="auto">
            <a:xfrm>
              <a:off x="4135" y="3991"/>
              <a:ext cx="4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a:latin typeface="Times New Roman" panose="02020603050405020304" pitchFamily="18" charset="0"/>
                </a:rPr>
                <a:t>1</a:t>
              </a:r>
              <a:endParaRPr lang="en-US" altLang="zh-CN" sz="2800" b="1"/>
            </a:p>
          </p:txBody>
        </p:sp>
        <p:grpSp>
          <p:nvGrpSpPr>
            <p:cNvPr id="26" name="Group 18"/>
            <p:cNvGrpSpPr/>
            <p:nvPr/>
          </p:nvGrpSpPr>
          <p:grpSpPr bwMode="auto">
            <a:xfrm>
              <a:off x="5603" y="2662"/>
              <a:ext cx="807" cy="1935"/>
              <a:chOff x="5604" y="2662"/>
              <a:chExt cx="807" cy="1935"/>
            </a:xfrm>
          </p:grpSpPr>
          <p:sp>
            <p:nvSpPr>
              <p:cNvPr id="36" name="Text Box 19"/>
              <p:cNvSpPr txBox="1">
                <a:spLocks noChangeArrowheads="1"/>
              </p:cNvSpPr>
              <p:nvPr/>
            </p:nvSpPr>
            <p:spPr bwMode="auto">
              <a:xfrm>
                <a:off x="5617" y="2662"/>
                <a:ext cx="794"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i="1">
                    <a:latin typeface="Times New Roman" panose="02020603050405020304" pitchFamily="18" charset="0"/>
                  </a:rPr>
                  <a:t>P</a:t>
                </a:r>
                <a:r>
                  <a:rPr lang="en-US" altLang="zh-CN" sz="1400" b="1">
                    <a:latin typeface="Times New Roman" panose="02020603050405020304" pitchFamily="18" charset="0"/>
                  </a:rPr>
                  <a:t>(0 / 0)</a:t>
                </a:r>
                <a:endParaRPr lang="en-US" altLang="zh-CN" sz="2800" b="1"/>
              </a:p>
            </p:txBody>
          </p:sp>
          <p:sp>
            <p:nvSpPr>
              <p:cNvPr id="37" name="Text Box 20"/>
              <p:cNvSpPr txBox="1">
                <a:spLocks noChangeArrowheads="1"/>
              </p:cNvSpPr>
              <p:nvPr/>
            </p:nvSpPr>
            <p:spPr bwMode="auto">
              <a:xfrm>
                <a:off x="5604" y="4196"/>
                <a:ext cx="794"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i="1" dirty="0">
                    <a:latin typeface="Times New Roman" panose="02020603050405020304" pitchFamily="18" charset="0"/>
                  </a:rPr>
                  <a:t>P</a:t>
                </a:r>
                <a:r>
                  <a:rPr lang="en-US" altLang="zh-CN" sz="1400" b="1" dirty="0">
                    <a:latin typeface="Times New Roman" panose="02020603050405020304" pitchFamily="18" charset="0"/>
                  </a:rPr>
                  <a:t>(1 / 1)</a:t>
                </a:r>
                <a:endParaRPr lang="en-US" altLang="zh-CN" sz="2800" b="1" dirty="0"/>
              </a:p>
            </p:txBody>
          </p:sp>
        </p:grpSp>
        <p:grpSp>
          <p:nvGrpSpPr>
            <p:cNvPr id="27" name="Group 21"/>
            <p:cNvGrpSpPr/>
            <p:nvPr/>
          </p:nvGrpSpPr>
          <p:grpSpPr bwMode="auto">
            <a:xfrm>
              <a:off x="4485" y="3068"/>
              <a:ext cx="2991" cy="1118"/>
              <a:chOff x="4486" y="3068"/>
              <a:chExt cx="2991" cy="1119"/>
            </a:xfrm>
          </p:grpSpPr>
          <p:grpSp>
            <p:nvGrpSpPr>
              <p:cNvPr id="31" name="Group 22"/>
              <p:cNvGrpSpPr/>
              <p:nvPr/>
            </p:nvGrpSpPr>
            <p:grpSpPr bwMode="auto">
              <a:xfrm>
                <a:off x="4486" y="3068"/>
                <a:ext cx="2991" cy="1119"/>
                <a:chOff x="4486" y="3068"/>
                <a:chExt cx="2991" cy="1119"/>
              </a:xfrm>
            </p:grpSpPr>
            <p:sp>
              <p:nvSpPr>
                <p:cNvPr id="34" name="Line 23"/>
                <p:cNvSpPr>
                  <a:spLocks noChangeShapeType="1"/>
                </p:cNvSpPr>
                <p:nvPr/>
              </p:nvSpPr>
              <p:spPr bwMode="auto">
                <a:xfrm>
                  <a:off x="4486" y="3068"/>
                  <a:ext cx="2991"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b="1"/>
                </a:p>
              </p:txBody>
            </p:sp>
            <p:sp>
              <p:nvSpPr>
                <p:cNvPr id="35" name="Line 24"/>
                <p:cNvSpPr>
                  <a:spLocks noChangeShapeType="1"/>
                </p:cNvSpPr>
                <p:nvPr/>
              </p:nvSpPr>
              <p:spPr bwMode="auto">
                <a:xfrm>
                  <a:off x="4486" y="4186"/>
                  <a:ext cx="2991"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b="1"/>
                </a:p>
              </p:txBody>
            </p:sp>
          </p:grpSp>
          <p:sp>
            <p:nvSpPr>
              <p:cNvPr id="32" name="Line 25"/>
              <p:cNvSpPr>
                <a:spLocks noChangeShapeType="1"/>
              </p:cNvSpPr>
              <p:nvPr/>
            </p:nvSpPr>
            <p:spPr bwMode="auto">
              <a:xfrm>
                <a:off x="4486" y="3068"/>
                <a:ext cx="2991" cy="111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b="1"/>
              </a:p>
            </p:txBody>
          </p:sp>
          <p:sp>
            <p:nvSpPr>
              <p:cNvPr id="33" name="Line 26"/>
              <p:cNvSpPr>
                <a:spLocks noChangeShapeType="1"/>
              </p:cNvSpPr>
              <p:nvPr/>
            </p:nvSpPr>
            <p:spPr bwMode="auto">
              <a:xfrm flipV="1">
                <a:off x="4486" y="3068"/>
                <a:ext cx="2965" cy="111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b="1" dirty="0"/>
              </a:p>
            </p:txBody>
          </p:sp>
        </p:grpSp>
        <p:grpSp>
          <p:nvGrpSpPr>
            <p:cNvPr id="28" name="Group 28"/>
            <p:cNvGrpSpPr/>
            <p:nvPr/>
          </p:nvGrpSpPr>
          <p:grpSpPr bwMode="auto">
            <a:xfrm>
              <a:off x="4042" y="3377"/>
              <a:ext cx="3824" cy="364"/>
              <a:chOff x="4043" y="3377"/>
              <a:chExt cx="3824" cy="364"/>
            </a:xfrm>
          </p:grpSpPr>
          <p:sp>
            <p:nvSpPr>
              <p:cNvPr id="29" name="Text Box 29"/>
              <p:cNvSpPr txBox="1">
                <a:spLocks noChangeArrowheads="1"/>
              </p:cNvSpPr>
              <p:nvPr/>
            </p:nvSpPr>
            <p:spPr bwMode="auto">
              <a:xfrm>
                <a:off x="4043" y="3403"/>
                <a:ext cx="85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dirty="0">
                    <a:latin typeface="Times New Roman" panose="02020603050405020304" pitchFamily="18" charset="0"/>
                  </a:rPr>
                  <a:t>Transmitter</a:t>
                </a:r>
                <a:endParaRPr lang="zh-CN" altLang="en-US" sz="2800" b="1" dirty="0"/>
              </a:p>
            </p:txBody>
          </p:sp>
          <p:sp>
            <p:nvSpPr>
              <p:cNvPr id="30" name="Text Box 30"/>
              <p:cNvSpPr txBox="1">
                <a:spLocks noChangeArrowheads="1"/>
              </p:cNvSpPr>
              <p:nvPr/>
            </p:nvSpPr>
            <p:spPr bwMode="auto">
              <a:xfrm>
                <a:off x="7126" y="3377"/>
                <a:ext cx="74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1400" b="1" dirty="0">
                    <a:latin typeface="Times New Roman" panose="02020603050405020304" pitchFamily="18" charset="0"/>
                  </a:rPr>
                  <a:t>Receiver</a:t>
                </a:r>
                <a:endParaRPr lang="zh-CN" altLang="en-US" sz="2800" b="1" dirty="0"/>
              </a:p>
            </p:txBody>
          </p:sp>
        </p:grpSp>
      </p:grpSp>
      <p:sp>
        <p:nvSpPr>
          <p:cNvPr id="38" name="文本框 37"/>
          <p:cNvSpPr txBox="1"/>
          <p:nvPr/>
        </p:nvSpPr>
        <p:spPr>
          <a:xfrm>
            <a:off x="572131" y="2096305"/>
            <a:ext cx="4805568" cy="646331"/>
          </a:xfrm>
          <a:prstGeom prst="rect">
            <a:avLst/>
          </a:prstGeom>
          <a:noFill/>
        </p:spPr>
        <p:txBody>
          <a:bodyPr wrap="square">
            <a:spAutoFit/>
          </a:bodyPr>
          <a:lstStyle/>
          <a:p>
            <a:r>
              <a:rPr lang="en-US" altLang="zh-CN" sz="3600" i="1" dirty="0">
                <a:solidFill>
                  <a:srgbClr val="FF0000"/>
                </a:solidFill>
              </a:rPr>
              <a:t>H(x)</a:t>
            </a:r>
            <a:endParaRPr lang="en-US" altLang="zh-CN" sz="3600" i="1" dirty="0">
              <a:solidFill>
                <a:srgbClr val="FF0000"/>
              </a:solidFill>
            </a:endParaRPr>
          </a:p>
        </p:txBody>
      </p:sp>
      <p:sp>
        <p:nvSpPr>
          <p:cNvPr id="39" name="文本框 38"/>
          <p:cNvSpPr txBox="1"/>
          <p:nvPr/>
        </p:nvSpPr>
        <p:spPr>
          <a:xfrm>
            <a:off x="6565973" y="2096304"/>
            <a:ext cx="4805568" cy="646331"/>
          </a:xfrm>
          <a:prstGeom prst="rect">
            <a:avLst/>
          </a:prstGeom>
          <a:noFill/>
        </p:spPr>
        <p:txBody>
          <a:bodyPr wrap="square">
            <a:spAutoFit/>
          </a:bodyPr>
          <a:lstStyle/>
          <a:p>
            <a:r>
              <a:rPr lang="en-US" altLang="zh-CN" sz="3600" i="1" dirty="0">
                <a:solidFill>
                  <a:srgbClr val="FF0000"/>
                </a:solidFill>
              </a:rPr>
              <a:t>H(y) </a:t>
            </a:r>
            <a:endParaRPr lang="zh-CN" altLang="en-US" dirty="0"/>
          </a:p>
        </p:txBody>
      </p:sp>
      <p:sp>
        <p:nvSpPr>
          <p:cNvPr id="41" name="文本框 40"/>
          <p:cNvSpPr txBox="1"/>
          <p:nvPr/>
        </p:nvSpPr>
        <p:spPr>
          <a:xfrm>
            <a:off x="3525190" y="3029703"/>
            <a:ext cx="6110080" cy="646331"/>
          </a:xfrm>
          <a:prstGeom prst="rect">
            <a:avLst/>
          </a:prstGeom>
          <a:noFill/>
        </p:spPr>
        <p:txBody>
          <a:bodyPr wrap="square">
            <a:spAutoFit/>
          </a:bodyPr>
          <a:lstStyle/>
          <a:p>
            <a:r>
              <a:rPr kumimoji="0" lang="en-US" altLang="zh-CN" sz="3600" b="0" i="1" u="none" strike="noStrike" kern="1200" cap="none" spc="0" normalizeH="0" baseline="0" noProof="0" dirty="0">
                <a:ln>
                  <a:noFill/>
                </a:ln>
                <a:solidFill>
                  <a:srgbClr val="FF0000"/>
                </a:solidFill>
                <a:effectLst/>
                <a:uLnTx/>
                <a:uFillTx/>
                <a:latin typeface="Times New Roman" panose="02020603050405020304"/>
                <a:cs typeface="+mn-cs"/>
              </a:rPr>
              <a:t>H(x/y)</a:t>
            </a:r>
            <a:endParaRPr lang="zh-CN" altLang="en-US" dirty="0"/>
          </a:p>
        </p:txBody>
      </p:sp>
      <p:sp>
        <p:nvSpPr>
          <p:cNvPr id="2" name="标题 1"/>
          <p:cNvSpPr txBox="1"/>
          <p:nvPr/>
        </p:nvSpPr>
        <p:spPr>
          <a:xfrm>
            <a:off x="0" y="42917"/>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
        <p:nvSpPr>
          <p:cNvPr id="3" name="文本框 2"/>
          <p:cNvSpPr txBox="1"/>
          <p:nvPr/>
        </p:nvSpPr>
        <p:spPr>
          <a:xfrm>
            <a:off x="2989442" y="1188504"/>
            <a:ext cx="2535544" cy="584775"/>
          </a:xfrm>
          <a:prstGeom prst="rect">
            <a:avLst/>
          </a:prstGeom>
          <a:noFill/>
        </p:spPr>
        <p:txBody>
          <a:bodyPr wrap="square" rtlCol="0">
            <a:spAutoFit/>
          </a:bodyPr>
          <a:lstStyle/>
          <a:p>
            <a:r>
              <a:rPr lang="en-US" altLang="zh-CN" sz="3200" dirty="0">
                <a:solidFill>
                  <a:srgbClr val="00B050"/>
                </a:solidFill>
              </a:rPr>
              <a:t>Channel</a:t>
            </a:r>
            <a:endParaRPr lang="zh-CN" altLang="en-US" sz="3200" dirty="0">
              <a:solidFill>
                <a:srgbClr val="00B05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6" name="Rectangle 5"/>
          <p:cNvSpPr>
            <a:spLocks noChangeArrowheads="1"/>
          </p:cNvSpPr>
          <p:nvPr/>
        </p:nvSpPr>
        <p:spPr bwMode="auto">
          <a:xfrm>
            <a:off x="-411060" y="468844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99390" y="966670"/>
            <a:ext cx="8289235" cy="5011716"/>
          </a:xfrm>
          <a:prstGeom prst="rect">
            <a:avLst/>
          </a:prstGeom>
        </p:spPr>
      </p:pic>
      <p:pic>
        <p:nvPicPr>
          <p:cNvPr id="6" name="图片 5"/>
          <p:cNvPicPr>
            <a:picLocks noChangeAspect="1"/>
          </p:cNvPicPr>
          <p:nvPr/>
        </p:nvPicPr>
        <p:blipFill>
          <a:blip r:embed="rId2"/>
          <a:stretch>
            <a:fillRect/>
          </a:stretch>
        </p:blipFill>
        <p:spPr>
          <a:xfrm>
            <a:off x="455993" y="5861512"/>
            <a:ext cx="5037673" cy="668975"/>
          </a:xfrm>
          <a:prstGeom prst="rect">
            <a:avLst/>
          </a:prstGeom>
        </p:spPr>
      </p:pic>
      <p:sp>
        <p:nvSpPr>
          <p:cNvPr id="2" name="文本框 1"/>
          <p:cNvSpPr txBox="1"/>
          <p:nvPr/>
        </p:nvSpPr>
        <p:spPr>
          <a:xfrm>
            <a:off x="-206425" y="423460"/>
            <a:ext cx="5769664" cy="584775"/>
          </a:xfrm>
          <a:prstGeom prst="rect">
            <a:avLst/>
          </a:prstGeom>
          <a:noFill/>
        </p:spPr>
        <p:txBody>
          <a:bodyPr wrap="square">
            <a:spAutoFit/>
          </a:bodyPr>
          <a:lstStyle/>
          <a:p>
            <a:pPr lvl="0" algn="ctr" defTabSz="914400" fontAlgn="base">
              <a:spcBef>
                <a:spcPct val="0"/>
              </a:spcBef>
              <a:spcAft>
                <a:spcPct val="0"/>
              </a:spcAft>
              <a:defRPr/>
            </a:pPr>
            <a:r>
              <a:rPr lang="en-US" altLang="zh-CN" sz="3200" b="1" dirty="0">
                <a:solidFill>
                  <a:srgbClr val="C00000"/>
                </a:solidFill>
                <a:latin typeface="Calibri" panose="020F0502020204030204"/>
                <a:ea typeface="等线" panose="02010600030101010101" charset="-122"/>
              </a:rPr>
              <a:t>Discrete 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离散</a:t>
            </a:r>
            <a:endParaRPr lang="zh-CN" altLang="en-US" sz="3200" b="1" dirty="0">
              <a:solidFill>
                <a:srgbClr val="C00000"/>
              </a:solidFill>
              <a:latin typeface="Calibri" panose="020F0502020204030204"/>
              <a:ea typeface="等线" panose="02010600030101010101" charset="-122"/>
            </a:endParaRPr>
          </a:p>
        </p:txBody>
      </p:sp>
      <p:sp>
        <p:nvSpPr>
          <p:cNvPr id="4" name="标题 1"/>
          <p:cNvSpPr txBox="1"/>
          <p:nvPr/>
        </p:nvSpPr>
        <p:spPr>
          <a:xfrm>
            <a:off x="0" y="42917"/>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6" name="Rectangle 5"/>
          <p:cNvSpPr>
            <a:spLocks noChangeArrowheads="1"/>
          </p:cNvSpPr>
          <p:nvPr/>
        </p:nvSpPr>
        <p:spPr bwMode="auto">
          <a:xfrm>
            <a:off x="-411060" y="468844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7" name="文本框 16"/>
          <p:cNvSpPr txBox="1"/>
          <p:nvPr/>
        </p:nvSpPr>
        <p:spPr>
          <a:xfrm>
            <a:off x="0" y="222788"/>
            <a:ext cx="8249688" cy="584775"/>
          </a:xfrm>
          <a:prstGeom prst="rect">
            <a:avLst/>
          </a:prstGeom>
          <a:noFill/>
        </p:spPr>
        <p:txBody>
          <a:bodyPr wrap="square">
            <a:spAutoFit/>
          </a:bodyPr>
          <a:lstStyle/>
          <a:p>
            <a:pPr lvl="0" algn="ctr" defTabSz="914400" fontAlgn="base">
              <a:spcBef>
                <a:spcPct val="0"/>
              </a:spcBef>
              <a:spcAft>
                <a:spcPct val="0"/>
              </a:spcAft>
              <a:defRPr/>
            </a:pPr>
            <a:r>
              <a:rPr lang="en-US" altLang="zh-CN" sz="3200" b="1" dirty="0">
                <a:solidFill>
                  <a:srgbClr val="C00000"/>
                </a:solidFill>
                <a:latin typeface="Calibri" panose="020F0502020204030204"/>
                <a:ea typeface="等线" panose="02010600030101010101" charset="-122"/>
              </a:rPr>
              <a:t>Discrete Channel capacity——example</a:t>
            </a:r>
            <a:endParaRPr lang="zh-CN" altLang="en-US" sz="3200" b="1" dirty="0">
              <a:solidFill>
                <a:srgbClr val="C00000"/>
              </a:solidFill>
              <a:latin typeface="Calibri" panose="020F0502020204030204"/>
              <a:ea typeface="等线" panose="02010600030101010101" charset="-122"/>
            </a:endParaRPr>
          </a:p>
        </p:txBody>
      </p:sp>
      <p:pic>
        <p:nvPicPr>
          <p:cNvPr id="3" name="图片 2"/>
          <p:cNvPicPr>
            <a:picLocks noChangeAspect="1"/>
          </p:cNvPicPr>
          <p:nvPr/>
        </p:nvPicPr>
        <p:blipFill>
          <a:blip r:embed="rId1"/>
          <a:stretch>
            <a:fillRect/>
          </a:stretch>
        </p:blipFill>
        <p:spPr>
          <a:xfrm>
            <a:off x="0" y="972435"/>
            <a:ext cx="9144000" cy="371600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p:nvPr/>
        </p:nvSpPr>
        <p:spPr>
          <a:xfrm>
            <a:off x="217407" y="1185145"/>
            <a:ext cx="6178858" cy="461665"/>
          </a:xfrm>
          <a:prstGeom prst="rect">
            <a:avLst/>
          </a:prstGeom>
          <a:noFill/>
        </p:spPr>
        <p:txBody>
          <a:bodyPr wrap="square">
            <a:spAutoFit/>
          </a:bodyPr>
          <a:lstStyle/>
          <a:p>
            <a:r>
              <a:rPr lang="en-US" altLang="zh-CN" sz="2400" b="1" dirty="0"/>
              <a:t>Mutual information </a:t>
            </a:r>
            <a:endParaRPr lang="zh-CN" altLang="en-US" sz="2400" b="1" dirty="0"/>
          </a:p>
        </p:txBody>
      </p:sp>
      <p:sp>
        <p:nvSpPr>
          <p:cNvPr id="9" name="箭头: 下 8"/>
          <p:cNvSpPr/>
          <p:nvPr/>
        </p:nvSpPr>
        <p:spPr>
          <a:xfrm>
            <a:off x="3730773" y="2919588"/>
            <a:ext cx="184731" cy="9558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2" name="Object 4"/>
          <p:cNvGraphicFramePr>
            <a:graphicFrameLocks noChangeAspect="1"/>
          </p:cNvGraphicFramePr>
          <p:nvPr/>
        </p:nvGraphicFramePr>
        <p:xfrm>
          <a:off x="2218358" y="5493641"/>
          <a:ext cx="3631565" cy="864235"/>
        </p:xfrm>
        <a:graphic>
          <a:graphicData uri="http://schemas.openxmlformats.org/presentationml/2006/ole">
            <mc:AlternateContent xmlns:mc="http://schemas.openxmlformats.org/markup-compatibility/2006">
              <mc:Choice xmlns:v="urn:schemas-microsoft-com:vml" Requires="v">
                <p:oleObj spid="_x0000_s0" name="Equation" r:id="rId1" imgW="1930400" imgH="457200" progId="Equation.DSMT4">
                  <p:embed/>
                </p:oleObj>
              </mc:Choice>
              <mc:Fallback>
                <p:oleObj name="Equation" r:id="rId1" imgW="1930400" imgH="457200" progId="Equation.DSMT4">
                  <p:embed/>
                  <p:pic>
                    <p:nvPicPr>
                      <p:cNvPr id="0" name="Object 4"/>
                      <p:cNvPicPr>
                        <a:picLocks noChangeAspect="1" noChangeArrowheads="1"/>
                      </p:cNvPicPr>
                      <p:nvPr/>
                    </p:nvPicPr>
                    <p:blipFill>
                      <a:blip r:embed="rId2"/>
                      <a:srcRect/>
                      <a:stretch>
                        <a:fillRect/>
                      </a:stretch>
                    </p:blipFill>
                    <p:spPr bwMode="auto">
                      <a:xfrm>
                        <a:off x="2218358" y="5493641"/>
                        <a:ext cx="3631565" cy="864235"/>
                      </a:xfrm>
                      <a:prstGeom prst="rect">
                        <a:avLst/>
                      </a:prstGeom>
                      <a:solidFill>
                        <a:srgbClr val="92D050">
                          <a:alpha val="52000"/>
                        </a:srgbClr>
                      </a:solidFill>
                    </p:spPr>
                  </p:pic>
                </p:oleObj>
              </mc:Fallback>
            </mc:AlternateContent>
          </a:graphicData>
        </a:graphic>
      </p:graphicFrame>
      <p:sp>
        <p:nvSpPr>
          <p:cNvPr id="22" name="箭头: 右 21"/>
          <p:cNvSpPr/>
          <p:nvPr/>
        </p:nvSpPr>
        <p:spPr>
          <a:xfrm rot="5400000">
            <a:off x="3672241" y="5066969"/>
            <a:ext cx="419713" cy="1450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492851" y="4814535"/>
            <a:ext cx="1716372" cy="646331"/>
          </a:xfrm>
          <a:prstGeom prst="rect">
            <a:avLst/>
          </a:prstGeom>
          <a:noFill/>
        </p:spPr>
        <p:txBody>
          <a:bodyPr wrap="square" rtlCol="0">
            <a:spAutoFit/>
          </a:bodyPr>
          <a:lstStyle/>
          <a:p>
            <a:r>
              <a:rPr lang="en-US" altLang="zh-CN" b="1" dirty="0">
                <a:solidFill>
                  <a:srgbClr val="7030A0"/>
                </a:solidFill>
              </a:rPr>
              <a:t>Nyquist rate</a:t>
            </a:r>
            <a:endParaRPr lang="en-US" altLang="zh-CN" b="1" dirty="0">
              <a:solidFill>
                <a:srgbClr val="7030A0"/>
              </a:solidFill>
            </a:endParaRPr>
          </a:p>
          <a:p>
            <a:r>
              <a:rPr lang="en-US" altLang="zh-CN" b="1" dirty="0">
                <a:solidFill>
                  <a:srgbClr val="7030A0"/>
                </a:solidFill>
              </a:rPr>
              <a:t>   </a:t>
            </a:r>
            <a:r>
              <a:rPr lang="en-US" altLang="zh-CN" b="1" i="1" dirty="0">
                <a:solidFill>
                  <a:srgbClr val="FF0000"/>
                </a:solidFill>
              </a:rPr>
              <a:t>K</a:t>
            </a:r>
            <a:r>
              <a:rPr lang="en-US" altLang="zh-CN" b="1" dirty="0">
                <a:solidFill>
                  <a:srgbClr val="FF0000"/>
                </a:solidFill>
              </a:rPr>
              <a:t>=2B</a:t>
            </a:r>
            <a:r>
              <a:rPr lang="en-US" altLang="zh-CN" b="1" i="1" dirty="0">
                <a:solidFill>
                  <a:srgbClr val="FF0000"/>
                </a:solidFill>
              </a:rPr>
              <a:t>T</a:t>
            </a:r>
            <a:endParaRPr lang="zh-CN" altLang="en-US" b="1" i="1" dirty="0">
              <a:solidFill>
                <a:srgbClr val="FF0000"/>
              </a:solidFill>
            </a:endParaRPr>
          </a:p>
        </p:txBody>
      </p:sp>
      <p:sp>
        <p:nvSpPr>
          <p:cNvPr id="29" name="文本框 28"/>
          <p:cNvSpPr txBox="1"/>
          <p:nvPr/>
        </p:nvSpPr>
        <p:spPr>
          <a:xfrm>
            <a:off x="4034141" y="4953034"/>
            <a:ext cx="2246050" cy="369332"/>
          </a:xfrm>
          <a:prstGeom prst="rect">
            <a:avLst/>
          </a:prstGeom>
          <a:noFill/>
        </p:spPr>
        <p:txBody>
          <a:bodyPr wrap="square" rtlCol="0">
            <a:spAutoFit/>
          </a:bodyPr>
          <a:lstStyle/>
          <a:p>
            <a:r>
              <a:rPr lang="en-US" altLang="zh-CN" dirty="0"/>
              <a:t>Unit time is K/T</a:t>
            </a:r>
            <a:endParaRPr lang="zh-CN" altLang="en-US" dirty="0"/>
          </a:p>
        </p:txBody>
      </p:sp>
      <p:graphicFrame>
        <p:nvGraphicFramePr>
          <p:cNvPr id="2" name="对象 1">
            <a:hlinkClick r:id="" action="ppaction://ole?verb=0"/>
          </p:cNvPr>
          <p:cNvGraphicFramePr>
            <a:graphicFrameLocks noChangeAspect="1"/>
          </p:cNvGraphicFramePr>
          <p:nvPr/>
        </p:nvGraphicFramePr>
        <p:xfrm>
          <a:off x="2970440" y="1268624"/>
          <a:ext cx="3425825" cy="1030287"/>
        </p:xfrm>
        <a:graphic>
          <a:graphicData uri="http://schemas.openxmlformats.org/presentationml/2006/ole">
            <mc:AlternateContent xmlns:mc="http://schemas.openxmlformats.org/markup-compatibility/2006">
              <mc:Choice xmlns:v="urn:schemas-microsoft-com:vml" Requires="v">
                <p:oleObj spid="_x0000_s0" name="Equation" r:id="rId3" imgW="34442400" imgH="10363200" progId="Equation.DSMT4">
                  <p:embed/>
                </p:oleObj>
              </mc:Choice>
              <mc:Fallback>
                <p:oleObj name="Equation" r:id="rId3" imgW="34442400" imgH="10363200" progId="Equation.DSMT4">
                  <p:embed/>
                  <p:pic>
                    <p:nvPicPr>
                      <p:cNvPr id="0" name="图片 2051"/>
                      <p:cNvPicPr/>
                      <p:nvPr/>
                    </p:nvPicPr>
                    <p:blipFill>
                      <a:blip r:embed="rId4"/>
                      <a:stretch>
                        <a:fillRect/>
                      </a:stretch>
                    </p:blipFill>
                    <p:spPr>
                      <a:xfrm>
                        <a:off x="2970440" y="1268624"/>
                        <a:ext cx="3425825" cy="1030287"/>
                      </a:xfrm>
                      <a:prstGeom prst="rect">
                        <a:avLst/>
                      </a:prstGeom>
                    </p:spPr>
                  </p:pic>
                </p:oleObj>
              </mc:Fallback>
            </mc:AlternateContent>
          </a:graphicData>
        </a:graphic>
      </p:graphicFrame>
      <p:sp>
        <p:nvSpPr>
          <p:cNvPr id="5" name="文本框 4"/>
          <p:cNvSpPr txBox="1"/>
          <p:nvPr/>
        </p:nvSpPr>
        <p:spPr>
          <a:xfrm>
            <a:off x="3163562" y="2842459"/>
            <a:ext cx="184731" cy="369332"/>
          </a:xfrm>
          <a:prstGeom prst="rect">
            <a:avLst/>
          </a:prstGeom>
          <a:noFill/>
        </p:spPr>
        <p:txBody>
          <a:bodyPr wrap="none" rtlCol="0" anchor="t">
            <a:spAutoFit/>
          </a:bodyPr>
          <a:lstStyle/>
          <a:p>
            <a:pPr algn="l"/>
            <a:endParaRPr lang="zh-CN" altLang="en-US"/>
          </a:p>
        </p:txBody>
      </p:sp>
      <p:graphicFrame>
        <p:nvGraphicFramePr>
          <p:cNvPr id="7" name="对象 6">
            <a:hlinkClick r:id="" action="ppaction://ole?verb=0"/>
          </p:cNvPr>
          <p:cNvGraphicFramePr>
            <a:graphicFrameLocks noChangeAspect="1"/>
          </p:cNvGraphicFramePr>
          <p:nvPr/>
        </p:nvGraphicFramePr>
        <p:xfrm>
          <a:off x="1788160" y="2246347"/>
          <a:ext cx="4385292" cy="880120"/>
        </p:xfrm>
        <a:graphic>
          <a:graphicData uri="http://schemas.openxmlformats.org/presentationml/2006/ole">
            <mc:AlternateContent xmlns:mc="http://schemas.openxmlformats.org/markup-compatibility/2006">
              <mc:Choice xmlns:v="urn:schemas-microsoft-com:vml" Requires="v">
                <p:oleObj spid="_x0000_s0" name="Equation" r:id="rId5" imgW="46329600" imgH="7924800" progId="Equation.DSMT4">
                  <p:embed/>
                </p:oleObj>
              </mc:Choice>
              <mc:Fallback>
                <p:oleObj name="Equation" r:id="rId5" imgW="46329600" imgH="7924800" progId="Equation.DSMT4">
                  <p:embed/>
                  <p:pic>
                    <p:nvPicPr>
                      <p:cNvPr id="0" name="图片 3073"/>
                      <p:cNvPicPr/>
                      <p:nvPr/>
                    </p:nvPicPr>
                    <p:blipFill>
                      <a:blip r:embed="rId6"/>
                      <a:stretch>
                        <a:fillRect/>
                      </a:stretch>
                    </p:blipFill>
                    <p:spPr>
                      <a:xfrm>
                        <a:off x="1788160" y="2246347"/>
                        <a:ext cx="4385292" cy="880120"/>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2417190" y="3887347"/>
          <a:ext cx="2996627" cy="1009516"/>
        </p:xfrm>
        <a:graphic>
          <a:graphicData uri="http://schemas.openxmlformats.org/presentationml/2006/ole">
            <mc:AlternateContent xmlns:mc="http://schemas.openxmlformats.org/markup-compatibility/2006">
              <mc:Choice xmlns:v="urn:schemas-microsoft-com:vml" Requires="v">
                <p:oleObj spid="_x0000_s0" name="Equation" r:id="rId7" imgW="28041600" imgH="9448800" progId="Equation.DSMT4">
                  <p:embed/>
                </p:oleObj>
              </mc:Choice>
              <mc:Fallback>
                <p:oleObj name="Equation" r:id="rId7" imgW="28041600" imgH="9448800" progId="Equation.DSMT4">
                  <p:embed/>
                  <p:pic>
                    <p:nvPicPr>
                      <p:cNvPr id="0" name="图片 3074"/>
                      <p:cNvPicPr/>
                      <p:nvPr/>
                    </p:nvPicPr>
                    <p:blipFill>
                      <a:blip r:embed="rId8"/>
                      <a:stretch>
                        <a:fillRect/>
                      </a:stretch>
                    </p:blipFill>
                    <p:spPr>
                      <a:xfrm>
                        <a:off x="2417190" y="3887347"/>
                        <a:ext cx="2996627" cy="1009516"/>
                      </a:xfrm>
                      <a:prstGeom prst="rect">
                        <a:avLst/>
                      </a:prstGeom>
                    </p:spPr>
                  </p:pic>
                </p:oleObj>
              </mc:Fallback>
            </mc:AlternateContent>
          </a:graphicData>
        </a:graphic>
      </p:graphicFrame>
      <p:sp>
        <p:nvSpPr>
          <p:cNvPr id="11" name="文本框 10"/>
          <p:cNvSpPr txBox="1"/>
          <p:nvPr/>
        </p:nvSpPr>
        <p:spPr>
          <a:xfrm>
            <a:off x="2337819" y="3237982"/>
            <a:ext cx="4572000" cy="707886"/>
          </a:xfrm>
          <a:prstGeom prst="rect">
            <a:avLst/>
          </a:prstGeom>
          <a:noFill/>
        </p:spPr>
        <p:txBody>
          <a:bodyPr wrap="square">
            <a:spAutoFit/>
          </a:bodyPr>
          <a:lstStyle/>
          <a:p>
            <a:pPr algn="ctr"/>
            <a:r>
              <a:rPr lang="en-US" altLang="zh-CN" sz="2000" b="1" dirty="0">
                <a:solidFill>
                  <a:schemeClr val="accent2"/>
                </a:solidFill>
              </a:rPr>
              <a:t>Gaussian </a:t>
            </a:r>
            <a:endParaRPr lang="en-US" altLang="zh-CN" sz="2000" b="1" dirty="0">
              <a:solidFill>
                <a:schemeClr val="accent2"/>
              </a:solidFill>
            </a:endParaRPr>
          </a:p>
          <a:p>
            <a:pPr algn="ctr"/>
            <a:r>
              <a:rPr lang="en-US" altLang="zh-CN" sz="2000" b="1" dirty="0">
                <a:solidFill>
                  <a:schemeClr val="accent2"/>
                </a:solidFill>
              </a:rPr>
              <a:t>distribution</a:t>
            </a:r>
            <a:endParaRPr lang="zh-CN" altLang="en-US" sz="2000" b="1" dirty="0">
              <a:solidFill>
                <a:schemeClr val="accent2"/>
              </a:solidFill>
            </a:endParaRPr>
          </a:p>
        </p:txBody>
      </p:sp>
      <p:sp>
        <p:nvSpPr>
          <p:cNvPr id="13" name="文本框 12"/>
          <p:cNvSpPr txBox="1"/>
          <p:nvPr/>
        </p:nvSpPr>
        <p:spPr>
          <a:xfrm>
            <a:off x="6396265" y="2447473"/>
            <a:ext cx="4572000" cy="523220"/>
          </a:xfrm>
          <a:prstGeom prst="rect">
            <a:avLst/>
          </a:prstGeom>
          <a:noFill/>
        </p:spPr>
        <p:txBody>
          <a:bodyPr wrap="square">
            <a:spAutoFit/>
          </a:bodyPr>
          <a:lstStyle/>
          <a:p>
            <a:r>
              <a:rPr lang="en-US" altLang="zh-CN" sz="2800" dirty="0">
                <a:solidFill>
                  <a:schemeClr val="accent1">
                    <a:lumMod val="75000"/>
                  </a:schemeClr>
                </a:solidFill>
              </a:rPr>
              <a:t>—</a:t>
            </a:r>
            <a:r>
              <a:rPr kumimoji="0" lang="zh-CN" altLang="zh-CN" sz="2800" b="1" i="0" u="none" strike="noStrike" kern="1200" cap="none" spc="0" normalizeH="0" baseline="0" noProof="0" dirty="0">
                <a:ln>
                  <a:noFill/>
                </a:ln>
                <a:solidFill>
                  <a:schemeClr val="accent1">
                    <a:lumMod val="75000"/>
                  </a:schemeClr>
                </a:solidFill>
                <a:effectLst/>
                <a:uLnTx/>
                <a:uFillTx/>
                <a:latin typeface="Calibri" panose="020F0502020204030204"/>
                <a:ea typeface="等线" panose="02010600030101010101" charset="-122"/>
                <a:cs typeface="+mn-cs"/>
              </a:rPr>
              <a:t>Hartley</a:t>
            </a:r>
            <a:r>
              <a:rPr kumimoji="0" lang="en-US" altLang="zh-CN" sz="2800" b="1" i="0" u="none" strike="noStrike" kern="1200" cap="none" spc="0" normalizeH="0" baseline="0" noProof="0" dirty="0">
                <a:ln>
                  <a:noFill/>
                </a:ln>
                <a:solidFill>
                  <a:schemeClr val="accent1">
                    <a:lumMod val="75000"/>
                  </a:schemeClr>
                </a:solidFill>
                <a:effectLst/>
                <a:uLnTx/>
                <a:uFillTx/>
                <a:latin typeface="Calibri" panose="020F0502020204030204"/>
                <a:ea typeface="等线" panose="02010600030101010101" charset="-122"/>
                <a:cs typeface="+mn-cs"/>
              </a:rPr>
              <a:t>   </a:t>
            </a:r>
            <a:r>
              <a:rPr kumimoji="0" lang="en-US" altLang="zh-CN" sz="2400" b="1" i="0" u="none" strike="noStrike" kern="1200" cap="none" spc="0" normalizeH="0" baseline="0" noProof="0" dirty="0">
                <a:ln>
                  <a:noFill/>
                </a:ln>
                <a:solidFill>
                  <a:schemeClr val="accent1">
                    <a:lumMod val="75000"/>
                  </a:schemeClr>
                </a:solidFill>
                <a:effectLst/>
                <a:uLnTx/>
                <a:uFillTx/>
                <a:latin typeface="Calibri" panose="020F0502020204030204"/>
                <a:ea typeface="等线" panose="02010600030101010101" charset="-122"/>
                <a:cs typeface="+mn-cs"/>
              </a:rPr>
              <a:t>Y1928</a:t>
            </a:r>
            <a:endParaRPr lang="zh-CN" altLang="en-US" sz="2400" dirty="0">
              <a:solidFill>
                <a:schemeClr val="accent1">
                  <a:lumMod val="75000"/>
                </a:schemeClr>
              </a:solidFill>
            </a:endParaRPr>
          </a:p>
        </p:txBody>
      </p:sp>
      <p:sp>
        <p:nvSpPr>
          <p:cNvPr id="14" name="文本框 13"/>
          <p:cNvSpPr txBox="1"/>
          <p:nvPr/>
        </p:nvSpPr>
        <p:spPr>
          <a:xfrm>
            <a:off x="6280191" y="5608841"/>
            <a:ext cx="4572000" cy="523220"/>
          </a:xfrm>
          <a:prstGeom prst="rect">
            <a:avLst/>
          </a:prstGeom>
          <a:noFill/>
        </p:spPr>
        <p:txBody>
          <a:bodyPr wrap="square">
            <a:spAutoFit/>
          </a:bodyPr>
          <a:lstStyle/>
          <a:p>
            <a:r>
              <a:rPr lang="en-US" altLang="zh-CN" sz="2800" b="1" dirty="0">
                <a:solidFill>
                  <a:schemeClr val="accent1">
                    <a:lumMod val="75000"/>
                  </a:schemeClr>
                </a:solidFill>
              </a:rPr>
              <a:t>—Shannon </a:t>
            </a:r>
            <a:r>
              <a:rPr lang="en-US" altLang="zh-CN" sz="2400" b="1" dirty="0">
                <a:solidFill>
                  <a:schemeClr val="accent1">
                    <a:lumMod val="75000"/>
                  </a:schemeClr>
                </a:solidFill>
              </a:rPr>
              <a:t>Y1948</a:t>
            </a:r>
            <a:endParaRPr lang="zh-CN" altLang="en-US" sz="2400" b="1" dirty="0">
              <a:solidFill>
                <a:schemeClr val="accent1">
                  <a:lumMod val="75000"/>
                </a:schemeClr>
              </a:solidFill>
            </a:endParaRPr>
          </a:p>
        </p:txBody>
      </p:sp>
      <p:sp>
        <p:nvSpPr>
          <p:cNvPr id="12" name="文本框 11"/>
          <p:cNvSpPr txBox="1"/>
          <p:nvPr/>
        </p:nvSpPr>
        <p:spPr>
          <a:xfrm>
            <a:off x="184886" y="725939"/>
            <a:ext cx="8101174" cy="478155"/>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defRPr/>
            </a:pP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Shannon</a:t>
            </a:r>
            <a:r>
              <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a:t>
            </a: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Hartley theorem</a:t>
            </a:r>
            <a:r>
              <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 </a:t>
            </a: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香农</a:t>
            </a:r>
            <a:r>
              <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a:t>
            </a: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哈特利定理</a:t>
            </a:r>
            <a:endPar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endParaRPr>
          </a:p>
        </p:txBody>
      </p:sp>
      <p:sp>
        <p:nvSpPr>
          <p:cNvPr id="4" name="标题 1"/>
          <p:cNvSpPr txBox="1"/>
          <p:nvPr/>
        </p:nvSpPr>
        <p:spPr>
          <a:xfrm>
            <a:off x="0" y="42917"/>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nodePh="1">
                                  <p:stCondLst>
                                    <p:cond delay="0"/>
                                  </p:stCondLst>
                                  <p:endCondLst>
                                    <p:cond evt="begin" delay="0">
                                      <p:tn val="21"/>
                                    </p:cond>
                                  </p:end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2" grpId="0" animBg="1"/>
      <p:bldP spid="28" grpId="0"/>
      <p:bldP spid="29" grpId="0"/>
      <p:bldP spid="5" grpId="0"/>
      <p:bldP spid="11"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3"/>
          <p:cNvSpPr>
            <a:spLocks noGrp="1" noChangeArrowheads="1"/>
          </p:cNvSpPr>
          <p:nvPr>
            <p:ph idx="1"/>
          </p:nvPr>
        </p:nvSpPr>
        <p:spPr>
          <a:xfrm>
            <a:off x="-429056" y="3000124"/>
            <a:ext cx="10162604" cy="5589587"/>
          </a:xfrm>
        </p:spPr>
        <p:txBody>
          <a:bodyPr>
            <a:normAutofit/>
          </a:bodyPr>
          <a:lstStyle/>
          <a:p>
            <a:pPr lvl="2" eaLnBrk="1" hangingPunct="1">
              <a:buFont typeface="Wingdings" panose="05000000000000000000" pitchFamily="2" charset="2"/>
              <a:buNone/>
            </a:pPr>
            <a:endParaRPr lang="en-US" altLang="zh-CN" dirty="0"/>
          </a:p>
          <a:p>
            <a:pPr lvl="2" eaLnBrk="1" hangingPunct="1">
              <a:buFont typeface="Wingdings" panose="05000000000000000000" pitchFamily="2" charset="2"/>
              <a:buNone/>
            </a:pPr>
            <a:endParaRPr lang="zh-CN" altLang="en-US" sz="2800" dirty="0"/>
          </a:p>
          <a:p>
            <a:pPr lvl="2" eaLnBrk="1" hangingPunct="1">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Where  </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average transmitted power</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W</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noise power</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W</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channel bandwidth</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Hz</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zh-CN" altLang="en-US" sz="2400" b="1"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20487" name="Rectangle 5"/>
          <p:cNvSpPr>
            <a:spLocks noChangeArrowheads="1"/>
          </p:cNvSpPr>
          <p:nvPr/>
        </p:nvSpPr>
        <p:spPr bwMode="auto">
          <a:xfrm>
            <a:off x="19879" y="331825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base" hangingPunct="1">
              <a:spcBef>
                <a:spcPct val="0"/>
              </a:spcBef>
              <a:spcAft>
                <a:spcPct val="0"/>
              </a:spcAft>
              <a:defRPr/>
            </a:pPr>
            <a:endParaRPr lang="zh-CN" altLang="en-US">
              <a:solidFill>
                <a:srgbClr val="000000"/>
              </a:solidFill>
            </a:endParaRPr>
          </a:p>
        </p:txBody>
      </p:sp>
      <p:graphicFrame>
        <p:nvGraphicFramePr>
          <p:cNvPr id="69636" name="Object 4"/>
          <p:cNvGraphicFramePr>
            <a:graphicFrameLocks noChangeAspect="1"/>
          </p:cNvGraphicFramePr>
          <p:nvPr/>
        </p:nvGraphicFramePr>
        <p:xfrm>
          <a:off x="2052203" y="2485419"/>
          <a:ext cx="4275748" cy="979122"/>
        </p:xfrm>
        <a:graphic>
          <a:graphicData uri="http://schemas.openxmlformats.org/presentationml/2006/ole">
            <mc:AlternateContent xmlns:mc="http://schemas.openxmlformats.org/markup-compatibility/2006">
              <mc:Choice xmlns:v="urn:schemas-microsoft-com:vml" Requires="v">
                <p:oleObj spid="_x0000_s0" name="公式" r:id="rId1" imgW="1866900" imgH="431800" progId="Equation.3">
                  <p:embed/>
                </p:oleObj>
              </mc:Choice>
              <mc:Fallback>
                <p:oleObj name="公式" r:id="rId1" imgW="1866900" imgH="431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203" y="2485419"/>
                        <a:ext cx="4275748" cy="979122"/>
                      </a:xfrm>
                      <a:prstGeom prst="rect">
                        <a:avLst/>
                      </a:prstGeom>
                      <a:noFill/>
                    </p:spPr>
                  </p:pic>
                </p:oleObj>
              </mc:Fallback>
            </mc:AlternateContent>
          </a:graphicData>
        </a:graphic>
      </p:graphicFrame>
      <p:sp>
        <p:nvSpPr>
          <p:cNvPr id="20488" name="Rectangle 7"/>
          <p:cNvSpPr>
            <a:spLocks noChangeArrowheads="1"/>
          </p:cNvSpPr>
          <p:nvPr/>
        </p:nvSpPr>
        <p:spPr bwMode="auto">
          <a:xfrm>
            <a:off x="19879" y="328968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base" hangingPunct="1">
              <a:spcBef>
                <a:spcPct val="0"/>
              </a:spcBef>
              <a:spcAft>
                <a:spcPct val="0"/>
              </a:spcAft>
              <a:defRPr/>
            </a:pPr>
            <a:endParaRPr lang="zh-CN" altLang="en-US">
              <a:solidFill>
                <a:srgbClr val="000000"/>
              </a:solidFill>
            </a:endParaRPr>
          </a:p>
        </p:txBody>
      </p:sp>
      <p:sp>
        <p:nvSpPr>
          <p:cNvPr id="5" name="文本框 4"/>
          <p:cNvSpPr txBox="1"/>
          <p:nvPr/>
        </p:nvSpPr>
        <p:spPr>
          <a:xfrm>
            <a:off x="112244" y="1365327"/>
            <a:ext cx="9252087" cy="892552"/>
          </a:xfrm>
          <a:prstGeom prst="rect">
            <a:avLst/>
          </a:prstGeom>
          <a:noFill/>
        </p:spPr>
        <p:txBody>
          <a:bodyPr wrap="square">
            <a:spAutoFit/>
          </a:bodyPr>
          <a:lstStyle/>
          <a:p>
            <a:r>
              <a:rPr lang="zh-CN" altLang="zh-CN" sz="2600" b="1" dirty="0">
                <a:latin typeface="Times New Roman" panose="02020603050405020304" pitchFamily="18" charset="0"/>
                <a:cs typeface="Times New Roman" panose="02020603050405020304" pitchFamily="18" charset="0"/>
              </a:rPr>
              <a:t>For a </a:t>
            </a:r>
            <a:r>
              <a:rPr lang="zh-CN" altLang="zh-CN" sz="2600" b="1" dirty="0">
                <a:solidFill>
                  <a:srgbClr val="FF0000"/>
                </a:solidFill>
                <a:latin typeface="Times New Roman" panose="02020603050405020304" pitchFamily="18" charset="0"/>
                <a:cs typeface="Times New Roman" panose="02020603050405020304" pitchFamily="18" charset="0"/>
              </a:rPr>
              <a:t>continuous additive white Gaussian noise (AWGN) channel</a:t>
            </a:r>
            <a:r>
              <a:rPr lang="zh-CN" altLang="zh-CN" sz="2600" b="1" dirty="0">
                <a:latin typeface="Times New Roman" panose="02020603050405020304" pitchFamily="18" charset="0"/>
                <a:cs typeface="Times New Roman" panose="02020603050405020304" pitchFamily="18" charset="0"/>
              </a:rPr>
              <a:t>, the channel capacity is:</a:t>
            </a:r>
            <a:endParaRPr lang="zh-CN" altLang="en-US" sz="2600" b="1"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112244" y="763839"/>
            <a:ext cx="8101174" cy="478155"/>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defRPr/>
            </a:pP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Shannon</a:t>
            </a:r>
            <a:r>
              <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a:t>
            </a: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Hartley theorem</a:t>
            </a:r>
            <a:r>
              <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 </a:t>
            </a: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香农</a:t>
            </a:r>
            <a:r>
              <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a:t>
            </a:r>
            <a:r>
              <a:rPr kumimoji="0" lang="zh-CN"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哈特利定理</a:t>
            </a:r>
            <a:endParaRPr kumimoji="0" lang="en-US" altLang="zh-CN"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endParaRPr>
          </a:p>
        </p:txBody>
      </p:sp>
      <p:sp>
        <p:nvSpPr>
          <p:cNvPr id="4" name="标题 1"/>
          <p:cNvSpPr txBox="1"/>
          <p:nvPr/>
        </p:nvSpPr>
        <p:spPr>
          <a:xfrm>
            <a:off x="0" y="42917"/>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
        <p:nvSpPr>
          <p:cNvPr id="6" name="文本框 5"/>
          <p:cNvSpPr txBox="1"/>
          <p:nvPr/>
        </p:nvSpPr>
        <p:spPr>
          <a:xfrm>
            <a:off x="251423" y="5222671"/>
            <a:ext cx="8859520" cy="892552"/>
          </a:xfrm>
          <a:prstGeom prst="rect">
            <a:avLst/>
          </a:prstGeom>
          <a:noFill/>
        </p:spPr>
        <p:txBody>
          <a:bodyPr wrap="square">
            <a:spAutoFit/>
          </a:bodyPr>
          <a:lstStyle/>
          <a:p>
            <a:r>
              <a:rPr lang="zh-CN" altLang="zh-CN" sz="2600" b="1" dirty="0">
                <a:latin typeface="Times New Roman" panose="02020603050405020304" pitchFamily="18" charset="0"/>
                <a:cs typeface="Times New Roman" panose="02020603050405020304" pitchFamily="18" charset="0"/>
              </a:rPr>
              <a:t>What is the difference </a:t>
            </a:r>
            <a:endParaRPr lang="en-US" altLang="zh-CN" sz="2600" b="1" dirty="0">
              <a:latin typeface="Times New Roman" panose="02020603050405020304" pitchFamily="18" charset="0"/>
              <a:cs typeface="Times New Roman" panose="02020603050405020304" pitchFamily="18" charset="0"/>
            </a:endParaRPr>
          </a:p>
          <a:p>
            <a:r>
              <a:rPr lang="zh-CN" altLang="zh-CN" sz="2600" b="1" dirty="0">
                <a:latin typeface="Times New Roman" panose="02020603050405020304" pitchFamily="18" charset="0"/>
                <a:cs typeface="Times New Roman" panose="02020603050405020304" pitchFamily="18" charset="0"/>
              </a:rPr>
              <a:t>between discrete and continuous channel capacity?</a:t>
            </a:r>
            <a:endParaRPr lang="zh-CN" altLang="en-US" sz="26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486">
                                            <p:txEl>
                                              <p:pRg st="5" end="5"/>
                                            </p:txEl>
                                          </p:spTgt>
                                        </p:tgtEl>
                                        <p:attrNameLst>
                                          <p:attrName>style.visibility</p:attrName>
                                        </p:attrNameLst>
                                      </p:cBhvr>
                                      <p:to>
                                        <p:strVal val="visible"/>
                                      </p:to>
                                    </p:set>
                                    <p:animEffect transition="in" filter="fade">
                                      <p:cBhvr>
                                        <p:cTn id="15" dur="500"/>
                                        <p:tgtEl>
                                          <p:spTgt spid="20486">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99168" y="-135785"/>
            <a:ext cx="9653707" cy="1692771"/>
          </a:xfrm>
          <a:prstGeom prst="rect">
            <a:avLst/>
          </a:prstGeom>
          <a:noFill/>
        </p:spPr>
        <p:txBody>
          <a:bodyPr wrap="square">
            <a:spAutoFit/>
          </a:bodyPr>
          <a:lstStyle/>
          <a:p>
            <a:pPr marL="0" marR="0" lvl="0" indent="0" algn="l" defTabSz="457200" rtl="0" eaLnBrk="1" fontAlgn="auto" latinLnBrk="0" hangingPunct="1">
              <a:lnSpc>
                <a:spcPct val="125000"/>
              </a:lnSpc>
              <a:spcBef>
                <a:spcPts val="0"/>
              </a:spcBef>
              <a:spcAft>
                <a:spcPts val="0"/>
              </a:spcAft>
              <a:buClrTx/>
              <a:buSzTx/>
              <a:buFontTx/>
              <a:buNone/>
              <a:defRPr/>
            </a:pPr>
            <a:r>
              <a:rPr kumimoji="0" lang="zh-CN" altLang="zh-CN" sz="32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3.2 Channel models 信道模型</a:t>
            </a:r>
            <a:endParaRPr kumimoji="0" lang="zh-CN" altLang="zh-CN" sz="32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rPr>
              <a:t>  --</a:t>
            </a:r>
            <a:r>
              <a:rPr kumimoji="0" lang="zh-CN"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rPr>
              <a:t>Modulation channel model（调制解调模型）</a:t>
            </a:r>
            <a:endParaRPr kumimoji="0" lang="zh-CN"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rPr>
              <a:t>  --</a:t>
            </a:r>
            <a:r>
              <a:rPr kumimoji="0" lang="zh-CN"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rPr>
              <a:t>Coding channel model（编码信道模型）</a:t>
            </a:r>
            <a:endParaRPr kumimoji="0" lang="zh-CN"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endParaRPr>
          </a:p>
        </p:txBody>
      </p:sp>
      <p:sp>
        <p:nvSpPr>
          <p:cNvPr id="7" name="矩形 6"/>
          <p:cNvSpPr/>
          <p:nvPr/>
        </p:nvSpPr>
        <p:spPr>
          <a:xfrm>
            <a:off x="1926162" y="3368083"/>
            <a:ext cx="1170943" cy="634817"/>
          </a:xfrm>
          <a:prstGeom prst="rect">
            <a:avLst/>
          </a:prstGeom>
          <a:solidFill>
            <a:srgbClr val="FFFFFF"/>
          </a:solidFill>
          <a:ln w="28575">
            <a:solidFill>
              <a:schemeClr val="tx1"/>
            </a:solidFill>
            <a:miter/>
          </a:ln>
        </p:spPr>
        <p:txBody>
          <a:bodyPr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Channel encoder</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8" name="矩形 7"/>
          <p:cNvSpPr/>
          <p:nvPr/>
        </p:nvSpPr>
        <p:spPr>
          <a:xfrm>
            <a:off x="5852903" y="3385250"/>
            <a:ext cx="1171577" cy="634816"/>
          </a:xfrm>
          <a:prstGeom prst="rect">
            <a:avLst/>
          </a:prstGeom>
          <a:solidFill>
            <a:srgbClr val="FFFFFF"/>
          </a:solidFill>
          <a:ln w="28575">
            <a:solidFill>
              <a:schemeClr val="tx1"/>
            </a:solidFill>
            <a:miter/>
          </a:ln>
        </p:spPr>
        <p:txBody>
          <a:bodyPr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Channel decoder</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9" name="矩形 8"/>
          <p:cNvSpPr/>
          <p:nvPr/>
        </p:nvSpPr>
        <p:spPr>
          <a:xfrm>
            <a:off x="1652212" y="2166108"/>
            <a:ext cx="1718840" cy="377018"/>
          </a:xfrm>
          <a:prstGeom prst="rect">
            <a:avLst/>
          </a:prstGeom>
          <a:solidFill>
            <a:srgbClr val="FFFFFF"/>
          </a:solidFill>
          <a:ln w="28575">
            <a:solidFill>
              <a:schemeClr val="tx1"/>
            </a:solidFill>
            <a:miter/>
          </a:ln>
        </p:spPr>
        <p:txBody>
          <a:bodyPr wrap="square"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Source encoder</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0" name="矩形 9"/>
          <p:cNvSpPr/>
          <p:nvPr/>
        </p:nvSpPr>
        <p:spPr>
          <a:xfrm>
            <a:off x="5494292" y="2194560"/>
            <a:ext cx="1803790" cy="377018"/>
          </a:xfrm>
          <a:prstGeom prst="rect">
            <a:avLst/>
          </a:prstGeom>
          <a:solidFill>
            <a:srgbClr val="FFFFFF"/>
          </a:solidFill>
          <a:ln w="28575">
            <a:solidFill>
              <a:schemeClr val="tx1"/>
            </a:solidFill>
            <a:miter/>
          </a:ln>
        </p:spPr>
        <p:txBody>
          <a:bodyPr wrap="square"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Source  decoder</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1" name="矩形 10"/>
          <p:cNvSpPr/>
          <p:nvPr/>
        </p:nvSpPr>
        <p:spPr>
          <a:xfrm>
            <a:off x="1767062" y="4483895"/>
            <a:ext cx="1337580" cy="377018"/>
          </a:xfrm>
          <a:prstGeom prst="rect">
            <a:avLst/>
          </a:prstGeom>
          <a:solidFill>
            <a:srgbClr val="FFFFFF"/>
          </a:solidFill>
          <a:ln w="28575">
            <a:solidFill>
              <a:schemeClr val="tx1"/>
            </a:solidFill>
            <a:miter/>
          </a:ln>
        </p:spPr>
        <p:txBody>
          <a:bodyPr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a:t>
            </a: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Modulator</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2" name="矩形 11"/>
          <p:cNvSpPr/>
          <p:nvPr/>
        </p:nvSpPr>
        <p:spPr>
          <a:xfrm>
            <a:off x="5648715" y="4411844"/>
            <a:ext cx="1685291" cy="392407"/>
          </a:xfrm>
          <a:prstGeom prst="rect">
            <a:avLst/>
          </a:prstGeom>
          <a:solidFill>
            <a:srgbClr val="FFFFFF"/>
          </a:solidFill>
          <a:ln w="28575">
            <a:solidFill>
              <a:schemeClr val="tx1"/>
            </a:solidFill>
            <a:miter/>
          </a:ln>
        </p:spPr>
        <p:txBody>
          <a:bodyPr lIns="34286" tIns="34286" rIns="34286" bIns="34286">
            <a:spAutoFit/>
          </a:bodyPr>
          <a:lstStyle>
            <a:lvl1pPr defTabSz="914400">
              <a:defRPr sz="21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lang="en-US"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a:t>
            </a:r>
            <a:r>
              <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Demodulator</a:t>
            </a:r>
            <a:endPar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3" name="矩形 12"/>
          <p:cNvSpPr/>
          <p:nvPr/>
        </p:nvSpPr>
        <p:spPr>
          <a:xfrm>
            <a:off x="3900634" y="4997672"/>
            <a:ext cx="1117600" cy="352613"/>
          </a:xfrm>
          <a:prstGeom prst="rect">
            <a:avLst/>
          </a:prstGeom>
          <a:solidFill>
            <a:srgbClr val="FFFFFF"/>
          </a:solidFill>
          <a:ln w="28575">
            <a:solidFill>
              <a:srgbClr val="000000"/>
            </a:solidFill>
            <a:miter/>
          </a:ln>
        </p:spPr>
        <p:txBody>
          <a:bodyPr lIns="34286" tIns="34286" rIns="34286" bIns="34286">
            <a:spAutoFit/>
          </a:bodyPr>
          <a:lstStyle>
            <a:lvl1pPr defTabSz="914400">
              <a:defRPr sz="21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channel</a:t>
            </a:r>
            <a:endPar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4" name="矩形 13"/>
          <p:cNvSpPr/>
          <p:nvPr/>
        </p:nvSpPr>
        <p:spPr>
          <a:xfrm>
            <a:off x="1275473" y="1582367"/>
            <a:ext cx="2519896" cy="392407"/>
          </a:xfrm>
          <a:prstGeom prst="rect">
            <a:avLst/>
          </a:prstGeom>
          <a:solidFill>
            <a:srgbClr val="FFFFFF"/>
          </a:solidFill>
          <a:ln w="28575">
            <a:solidFill>
              <a:srgbClr val="002060"/>
            </a:solidFill>
            <a:miter/>
          </a:ln>
        </p:spPr>
        <p:txBody>
          <a:bodyPr wrap="square" lIns="34286" tIns="34286" rIns="34286" bIns="34286">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9pPr>
          </a:lstStyle>
          <a:p>
            <a:pPr marL="0" marR="0" lvl="0" indent="0" algn="l" defTabSz="914400" rtl="0" eaLnBrk="1" fontAlgn="auto" latinLnBrk="0" hangingPunct="0">
              <a:lnSpc>
                <a:spcPct val="100000"/>
              </a:lnSpc>
              <a:spcBef>
                <a:spcPts val="0"/>
              </a:spcBef>
              <a:spcAft>
                <a:spcPts val="0"/>
              </a:spcAft>
              <a:buClrTx/>
              <a:buSzTx/>
              <a:buFontTx/>
              <a:buNone/>
              <a:defRPr sz="2100">
                <a:latin typeface="Calibri" panose="020F0502020204030204"/>
                <a:ea typeface="Calibri" panose="020F0502020204030204"/>
                <a:cs typeface="Calibri" panose="020F0502020204030204"/>
                <a:sym typeface="Calibri" panose="020F0502020204030204"/>
              </a:defRPr>
            </a:pPr>
            <a:r>
              <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Source of </a:t>
            </a: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information</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5" name="矩形 14"/>
          <p:cNvSpPr/>
          <p:nvPr/>
        </p:nvSpPr>
        <p:spPr>
          <a:xfrm>
            <a:off x="5305901" y="1611382"/>
            <a:ext cx="2221818" cy="377018"/>
          </a:xfrm>
          <a:prstGeom prst="rect">
            <a:avLst/>
          </a:prstGeom>
          <a:solidFill>
            <a:srgbClr val="FFFFFF"/>
          </a:solidFill>
          <a:ln w="28575">
            <a:solidFill>
              <a:srgbClr val="002060"/>
            </a:solidFill>
            <a:miter/>
          </a:ln>
        </p:spPr>
        <p:txBody>
          <a:bodyPr wrap="square"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User of</a:t>
            </a:r>
            <a:r>
              <a:rPr kumimoji="0" lang="en-US"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a:t>
            </a: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information</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6" name="矩形 15"/>
          <p:cNvSpPr/>
          <p:nvPr/>
        </p:nvSpPr>
        <p:spPr>
          <a:xfrm>
            <a:off x="1802852" y="2808503"/>
            <a:ext cx="1417561" cy="330016"/>
          </a:xfrm>
          <a:prstGeom prst="rect">
            <a:avLst/>
          </a:prstGeom>
          <a:solidFill>
            <a:srgbClr val="FFFFFF"/>
          </a:solidFill>
          <a:ln w="28575">
            <a:solidFill>
              <a:schemeClr val="tx1"/>
            </a:solidFill>
            <a:prstDash val="sysDot"/>
            <a:miter/>
          </a:ln>
        </p:spPr>
        <p:txBody>
          <a:bodyPr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Encryption</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7" name="矩形 16"/>
          <p:cNvSpPr/>
          <p:nvPr/>
        </p:nvSpPr>
        <p:spPr>
          <a:xfrm>
            <a:off x="5754377" y="2783976"/>
            <a:ext cx="1422603" cy="330016"/>
          </a:xfrm>
          <a:prstGeom prst="rect">
            <a:avLst/>
          </a:prstGeom>
          <a:solidFill>
            <a:srgbClr val="FFFFFF"/>
          </a:solidFill>
          <a:ln w="28575">
            <a:solidFill>
              <a:schemeClr val="tx1"/>
            </a:solidFill>
            <a:prstDash val="sysDot"/>
            <a:miter/>
          </a:ln>
        </p:spPr>
        <p:txBody>
          <a:bodyPr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Decryption</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20" name="矩形 19"/>
          <p:cNvSpPr/>
          <p:nvPr/>
        </p:nvSpPr>
        <p:spPr>
          <a:xfrm>
            <a:off x="1015468" y="4232464"/>
            <a:ext cx="7315732" cy="2485836"/>
          </a:xfrm>
          <a:prstGeom prst="rect">
            <a:avLst/>
          </a:prstGeom>
          <a:noFill/>
          <a:ln w="25400" cap="flat">
            <a:solidFill>
              <a:schemeClr val="accent1"/>
            </a:solidFill>
            <a:prstDash val="dash"/>
            <a:round/>
          </a:ln>
        </p:spPr>
        <p:style>
          <a:lnRef idx="0">
            <a:srgbClr val="FFFFFF"/>
          </a:lnRef>
          <a:fillRef idx="0">
            <a:srgbClr val="FFFFFF"/>
          </a:fillRef>
          <a:effectRef idx="0">
            <a:srgbClr val="FFFFFF"/>
          </a:effectRef>
          <a:fontRef idx="none"/>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57" name="矩形 56"/>
          <p:cNvSpPr/>
          <p:nvPr/>
        </p:nvSpPr>
        <p:spPr>
          <a:xfrm>
            <a:off x="1469370" y="4970206"/>
            <a:ext cx="6576080" cy="1145764"/>
          </a:xfrm>
          <a:prstGeom prst="rect">
            <a:avLst/>
          </a:prstGeom>
          <a:noFill/>
          <a:ln w="25400" cap="flat">
            <a:solidFill>
              <a:srgbClr val="FF0000"/>
            </a:solidFill>
            <a:prstDash val="dash"/>
            <a:round/>
          </a:ln>
        </p:spPr>
        <p:style>
          <a:lnRef idx="0">
            <a:srgbClr val="FFFFFF"/>
          </a:lnRef>
          <a:fillRef idx="0">
            <a:srgbClr val="FFFFFF"/>
          </a:fillRef>
          <a:effectRef idx="0">
            <a:srgbClr val="FFFFFF"/>
          </a:effectRef>
          <a:fontRef idx="none"/>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59" name="箭头: 下 58"/>
          <p:cNvSpPr/>
          <p:nvPr/>
        </p:nvSpPr>
        <p:spPr>
          <a:xfrm>
            <a:off x="2414964" y="1989506"/>
            <a:ext cx="86969" cy="164402"/>
          </a:xfrm>
          <a:prstGeom prst="downArrow">
            <a:avLst/>
          </a:prstGeom>
          <a:ln>
            <a:solidFill>
              <a:schemeClr val="tx1"/>
            </a:solidFill>
          </a:ln>
        </p:spPr>
        <p:style>
          <a:lnRef idx="2">
            <a:schemeClr val="accent2"/>
          </a:lnRef>
          <a:fillRef idx="1">
            <a:schemeClr val="lt1"/>
          </a:fillRef>
          <a:effectRef idx="0">
            <a:schemeClr val="accent2"/>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60" name="箭头: 下 59"/>
          <p:cNvSpPr/>
          <p:nvPr/>
        </p:nvSpPr>
        <p:spPr>
          <a:xfrm>
            <a:off x="2423274" y="2571505"/>
            <a:ext cx="45719" cy="205165"/>
          </a:xfrm>
          <a:prstGeom prst="downArrow">
            <a:avLst/>
          </a:prstGeom>
          <a:ln>
            <a:solidFill>
              <a:schemeClr val="tx1"/>
            </a:solidFill>
          </a:ln>
        </p:spPr>
        <p:style>
          <a:lnRef idx="2">
            <a:schemeClr val="accent2"/>
          </a:lnRef>
          <a:fillRef idx="1">
            <a:schemeClr val="lt1"/>
          </a:fillRef>
          <a:effectRef idx="0">
            <a:schemeClr val="accent2"/>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63" name="箭头: 下 62"/>
          <p:cNvSpPr/>
          <p:nvPr/>
        </p:nvSpPr>
        <p:spPr>
          <a:xfrm>
            <a:off x="2414964" y="4029271"/>
            <a:ext cx="45719" cy="368702"/>
          </a:xfrm>
          <a:prstGeom prst="downArrow">
            <a:avLst/>
          </a:prstGeom>
          <a:ln>
            <a:solidFill>
              <a:schemeClr val="tx1"/>
            </a:solidFill>
          </a:ln>
        </p:spPr>
        <p:style>
          <a:lnRef idx="2">
            <a:schemeClr val="accent2"/>
          </a:lnRef>
          <a:fillRef idx="1">
            <a:schemeClr val="lt1"/>
          </a:fillRef>
          <a:effectRef idx="0">
            <a:schemeClr val="accent2"/>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48" name="箭头: 下 2047"/>
          <p:cNvSpPr/>
          <p:nvPr/>
        </p:nvSpPr>
        <p:spPr>
          <a:xfrm>
            <a:off x="2435852" y="3150718"/>
            <a:ext cx="45719" cy="205165"/>
          </a:xfrm>
          <a:prstGeom prst="downArrow">
            <a:avLst/>
          </a:prstGeom>
          <a:ln>
            <a:solidFill>
              <a:schemeClr val="tx1"/>
            </a:solidFill>
          </a:ln>
        </p:spPr>
        <p:style>
          <a:lnRef idx="2">
            <a:schemeClr val="accent2"/>
          </a:lnRef>
          <a:fillRef idx="1">
            <a:schemeClr val="lt1"/>
          </a:fillRef>
          <a:effectRef idx="0">
            <a:schemeClr val="accent2"/>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49" name="箭头: 直角上 2048"/>
          <p:cNvSpPr/>
          <p:nvPr/>
        </p:nvSpPr>
        <p:spPr>
          <a:xfrm rot="5400000">
            <a:off x="2952322" y="4304666"/>
            <a:ext cx="403357" cy="1478076"/>
          </a:xfrm>
          <a:prstGeom prst="bentUpArrow">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50" name="箭头: 上 2049"/>
          <p:cNvSpPr/>
          <p:nvPr/>
        </p:nvSpPr>
        <p:spPr>
          <a:xfrm>
            <a:off x="6380749" y="4036034"/>
            <a:ext cx="79545" cy="352613"/>
          </a:xfrm>
          <a:prstGeom prst="up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51" name="箭头: 上 2050"/>
          <p:cNvSpPr/>
          <p:nvPr/>
        </p:nvSpPr>
        <p:spPr>
          <a:xfrm>
            <a:off x="6396187" y="3147057"/>
            <a:ext cx="45719" cy="221026"/>
          </a:xfrm>
          <a:prstGeom prst="up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52" name="箭头: 上 2051"/>
          <p:cNvSpPr/>
          <p:nvPr/>
        </p:nvSpPr>
        <p:spPr>
          <a:xfrm>
            <a:off x="6373327" y="2546418"/>
            <a:ext cx="45719" cy="221026"/>
          </a:xfrm>
          <a:prstGeom prst="up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55" name="箭头: 上 2054"/>
          <p:cNvSpPr/>
          <p:nvPr/>
        </p:nvSpPr>
        <p:spPr>
          <a:xfrm>
            <a:off x="6373326" y="2004932"/>
            <a:ext cx="86969" cy="169338"/>
          </a:xfrm>
          <a:prstGeom prst="up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56" name="箭头: 直角上 2055"/>
          <p:cNvSpPr/>
          <p:nvPr/>
        </p:nvSpPr>
        <p:spPr>
          <a:xfrm>
            <a:off x="5010257" y="4780425"/>
            <a:ext cx="1530243" cy="403357"/>
          </a:xfrm>
          <a:prstGeom prst="bentUpArrow">
            <a:avLst>
              <a:gd name="adj1" fmla="val 25000"/>
              <a:gd name="adj2" fmla="val 23994"/>
              <a:gd name="adj3" fmla="val 25000"/>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60" name="矩形"/>
          <p:cNvSpPr/>
          <p:nvPr/>
        </p:nvSpPr>
        <p:spPr>
          <a:xfrm>
            <a:off x="3973810" y="5678776"/>
            <a:ext cx="916491" cy="352613"/>
          </a:xfrm>
          <a:prstGeom prst="rect">
            <a:avLst/>
          </a:prstGeom>
          <a:solidFill>
            <a:srgbClr val="FFFFFF"/>
          </a:solidFill>
          <a:ln w="9525" cap="flat">
            <a:solidFill>
              <a:srgbClr val="000000"/>
            </a:solidFill>
            <a:prstDash val="solid"/>
            <a:miter lim="800000"/>
          </a:ln>
          <a:effectLst/>
        </p:spPr>
        <p:txBody>
          <a:bodyPr wrap="square" lIns="45718" tIns="45718" rIns="45718" bIns="45718" numCol="1"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9pPr>
          </a:lstStyle>
          <a:p>
            <a:pPr marL="0" marR="0" lvl="0" indent="0" algn="ctr" defTabSz="457200" rtl="0" eaLnBrk="1" fontAlgn="auto" latinLnBrk="0" hangingPunct="0">
              <a:lnSpc>
                <a:spcPct val="100000"/>
              </a:lnSpc>
              <a:spcBef>
                <a:spcPts val="0"/>
              </a:spcBef>
              <a:spcAft>
                <a:spcPts val="0"/>
              </a:spcAft>
              <a:buClrTx/>
              <a:buSzTx/>
              <a:buFontTx/>
              <a:buNone/>
              <a:defRPr sz="1200">
                <a:latin typeface="Calibri" panose="020F0502020204030204"/>
                <a:ea typeface="Calibri" panose="020F0502020204030204"/>
                <a:cs typeface="Calibri" panose="020F0502020204030204"/>
                <a:sym typeface="Calibri" panose="020F0502020204030204"/>
              </a:defRPr>
            </a:pPr>
            <a:r>
              <a:rPr kumimoji="0" lang="en-US" altLang="zh-CN"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Noise</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2061" name="箭头: 上 2060"/>
          <p:cNvSpPr/>
          <p:nvPr/>
        </p:nvSpPr>
        <p:spPr>
          <a:xfrm>
            <a:off x="4409195" y="5433506"/>
            <a:ext cx="45719" cy="221026"/>
          </a:xfrm>
          <a:prstGeom prst="up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63" name="文本框 2062"/>
          <p:cNvSpPr txBox="1"/>
          <p:nvPr/>
        </p:nvSpPr>
        <p:spPr>
          <a:xfrm>
            <a:off x="4572000" y="5654532"/>
            <a:ext cx="490496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    Modulation channel</a:t>
            </a:r>
            <a:endParaRPr kumimoji="0" lang="zh-CN" altLang="en-US"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endParaRPr>
          </a:p>
        </p:txBody>
      </p:sp>
      <p:sp>
        <p:nvSpPr>
          <p:cNvPr id="2066" name="文本框 2065"/>
          <p:cNvSpPr txBox="1"/>
          <p:nvPr/>
        </p:nvSpPr>
        <p:spPr>
          <a:xfrm>
            <a:off x="5775992" y="6131938"/>
            <a:ext cx="5267324"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2800" b="1" i="0" u="none" strike="noStrike" kern="1200" cap="none" spc="0" normalizeH="0" baseline="0" noProof="0" dirty="0">
                <a:ln>
                  <a:noFill/>
                </a:ln>
                <a:solidFill>
                  <a:srgbClr val="4472C4">
                    <a:lumMod val="75000"/>
                  </a:srgbClr>
                </a:solidFill>
                <a:effectLst/>
                <a:uLnTx/>
                <a:uFillTx/>
                <a:latin typeface="Calibri" panose="020F0502020204030204"/>
                <a:ea typeface="等线" panose="02010600030101010101" charset="-122"/>
                <a:cs typeface="+mn-cs"/>
              </a:rPr>
              <a:t>Coding channel </a:t>
            </a:r>
            <a:endParaRPr kumimoji="0" lang="zh-CN" altLang="en-US" sz="2800" b="0" i="0" u="none" strike="noStrike" kern="1200" cap="none" spc="0" normalizeH="0" baseline="0" noProof="0" dirty="0">
              <a:ln>
                <a:noFill/>
              </a:ln>
              <a:solidFill>
                <a:srgbClr val="4472C4">
                  <a:lumMod val="75000"/>
                </a:srgbClr>
              </a:solidFill>
              <a:effectLst/>
              <a:uLnTx/>
              <a:uFillTx/>
              <a:latin typeface="Calibri" panose="020F0502020204030204"/>
              <a:ea typeface="等线" panose="02010600030101010101" charset="-122"/>
              <a:cs typeface="+mn-cs"/>
            </a:endParaRPr>
          </a:p>
        </p:txBody>
      </p:sp>
      <p:pic>
        <p:nvPicPr>
          <p:cNvPr id="2067" name="图片 2066"/>
          <p:cNvPicPr>
            <a:picLocks noChangeAspect="1"/>
          </p:cNvPicPr>
          <p:nvPr/>
        </p:nvPicPr>
        <p:blipFill>
          <a:blip r:embed="rId1"/>
          <a:stretch>
            <a:fillRect/>
          </a:stretch>
        </p:blipFill>
        <p:spPr>
          <a:xfrm>
            <a:off x="3104642" y="4252402"/>
            <a:ext cx="2435971" cy="647055"/>
          </a:xfrm>
          <a:prstGeom prst="rect">
            <a:avLst/>
          </a:prstGeom>
        </p:spPr>
      </p:pic>
      <p:pic>
        <p:nvPicPr>
          <p:cNvPr id="2068" name="图片 2067"/>
          <p:cNvPicPr>
            <a:picLocks noChangeAspect="1"/>
          </p:cNvPicPr>
          <p:nvPr/>
        </p:nvPicPr>
        <p:blipFill>
          <a:blip r:embed="rId2"/>
          <a:stretch>
            <a:fillRect/>
          </a:stretch>
        </p:blipFill>
        <p:spPr>
          <a:xfrm>
            <a:off x="1489540" y="5289581"/>
            <a:ext cx="2435971" cy="65539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99168" y="-135785"/>
            <a:ext cx="9653707" cy="1692771"/>
          </a:xfrm>
          <a:prstGeom prst="rect">
            <a:avLst/>
          </a:prstGeom>
          <a:noFill/>
        </p:spPr>
        <p:txBody>
          <a:bodyPr wrap="square">
            <a:spAutoFit/>
          </a:bodyPr>
          <a:lstStyle/>
          <a:p>
            <a:pPr marL="0" marR="0" lvl="0" indent="0" algn="l" defTabSz="457200" rtl="0" eaLnBrk="1" fontAlgn="auto" latinLnBrk="0" hangingPunct="1">
              <a:lnSpc>
                <a:spcPct val="125000"/>
              </a:lnSpc>
              <a:spcBef>
                <a:spcPts val="0"/>
              </a:spcBef>
              <a:spcAft>
                <a:spcPts val="0"/>
              </a:spcAft>
              <a:buClrTx/>
              <a:buSzTx/>
              <a:buFontTx/>
              <a:buNone/>
              <a:defRPr/>
            </a:pPr>
            <a:r>
              <a:rPr kumimoji="0" lang="zh-CN" altLang="zh-CN" sz="32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3.2 Channel models 信道模型</a:t>
            </a:r>
            <a:endParaRPr kumimoji="0" lang="zh-CN" altLang="zh-CN" sz="32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rPr>
              <a:t>  --</a:t>
            </a:r>
            <a:r>
              <a:rPr kumimoji="0" lang="zh-CN"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rPr>
              <a:t>Modulation channel model（调制解调模型）</a:t>
            </a:r>
            <a:endParaRPr kumimoji="0" lang="zh-CN"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rPr>
              <a:t>  --</a:t>
            </a:r>
            <a:r>
              <a:rPr kumimoji="0" lang="zh-CN"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rPr>
              <a:t>Coding channel model（编码信道模型）</a:t>
            </a:r>
            <a:endParaRPr kumimoji="0" lang="zh-CN" altLang="zh-CN" sz="3200" b="1" i="0" u="none" strike="noStrike" kern="1200" cap="none" spc="0" normalizeH="0" baseline="0" noProof="0" dirty="0">
              <a:ln>
                <a:noFill/>
              </a:ln>
              <a:solidFill>
                <a:prstClr val="black"/>
              </a:solidFill>
              <a:effectLst/>
              <a:uLnTx/>
              <a:uFillTx/>
              <a:latin typeface="Calibri" panose="020F0502020204030204"/>
              <a:ea typeface="等线" panose="02010600030101010101" charset="-122"/>
              <a:cs typeface="+mn-cs"/>
            </a:endParaRPr>
          </a:p>
        </p:txBody>
      </p:sp>
      <p:sp>
        <p:nvSpPr>
          <p:cNvPr id="7" name="矩形 6"/>
          <p:cNvSpPr/>
          <p:nvPr/>
        </p:nvSpPr>
        <p:spPr>
          <a:xfrm>
            <a:off x="1926162" y="3368083"/>
            <a:ext cx="1170943" cy="634817"/>
          </a:xfrm>
          <a:prstGeom prst="rect">
            <a:avLst/>
          </a:prstGeom>
          <a:solidFill>
            <a:srgbClr val="FFFFFF"/>
          </a:solidFill>
          <a:ln w="28575">
            <a:solidFill>
              <a:schemeClr val="tx1"/>
            </a:solidFill>
            <a:miter/>
          </a:ln>
        </p:spPr>
        <p:txBody>
          <a:bodyPr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Channel encoder</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8" name="矩形 7"/>
          <p:cNvSpPr/>
          <p:nvPr/>
        </p:nvSpPr>
        <p:spPr>
          <a:xfrm>
            <a:off x="5852903" y="3385250"/>
            <a:ext cx="1171577" cy="634816"/>
          </a:xfrm>
          <a:prstGeom prst="rect">
            <a:avLst/>
          </a:prstGeom>
          <a:solidFill>
            <a:srgbClr val="FFFFFF"/>
          </a:solidFill>
          <a:ln w="28575">
            <a:solidFill>
              <a:schemeClr val="tx1"/>
            </a:solidFill>
            <a:miter/>
          </a:ln>
        </p:spPr>
        <p:txBody>
          <a:bodyPr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Channel decoder</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1" name="矩形 10"/>
          <p:cNvSpPr/>
          <p:nvPr/>
        </p:nvSpPr>
        <p:spPr>
          <a:xfrm>
            <a:off x="1767062" y="4483895"/>
            <a:ext cx="1337580" cy="377018"/>
          </a:xfrm>
          <a:prstGeom prst="rect">
            <a:avLst/>
          </a:prstGeom>
          <a:solidFill>
            <a:srgbClr val="FFFFFF"/>
          </a:solidFill>
          <a:ln w="28575">
            <a:solidFill>
              <a:schemeClr val="tx1"/>
            </a:solidFill>
            <a:miter/>
          </a:ln>
        </p:spPr>
        <p:txBody>
          <a:bodyPr lIns="34286" tIns="34286" rIns="34286" bIns="34286">
            <a:spAutoFit/>
          </a:bodyPr>
          <a:lstStyle>
            <a:lvl1pPr defTabSz="914400">
              <a:defRPr sz="20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a:t>
            </a:r>
            <a:r>
              <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Modulator</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2" name="矩形 11"/>
          <p:cNvSpPr/>
          <p:nvPr/>
        </p:nvSpPr>
        <p:spPr>
          <a:xfrm>
            <a:off x="5648715" y="4411844"/>
            <a:ext cx="1685291" cy="392407"/>
          </a:xfrm>
          <a:prstGeom prst="rect">
            <a:avLst/>
          </a:prstGeom>
          <a:solidFill>
            <a:srgbClr val="FFFFFF"/>
          </a:solidFill>
          <a:ln w="28575">
            <a:solidFill>
              <a:schemeClr val="tx1"/>
            </a:solidFill>
            <a:miter/>
          </a:ln>
        </p:spPr>
        <p:txBody>
          <a:bodyPr lIns="34286" tIns="34286" rIns="34286" bIns="34286">
            <a:spAutoFit/>
          </a:bodyPr>
          <a:lstStyle>
            <a:lvl1pPr defTabSz="914400">
              <a:defRPr sz="21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lang="en-US"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a:t>
            </a:r>
            <a:r>
              <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Demodulator</a:t>
            </a:r>
            <a:endPar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3" name="矩形 12"/>
          <p:cNvSpPr/>
          <p:nvPr/>
        </p:nvSpPr>
        <p:spPr>
          <a:xfrm>
            <a:off x="3900634" y="4997672"/>
            <a:ext cx="1117600" cy="352613"/>
          </a:xfrm>
          <a:prstGeom prst="rect">
            <a:avLst/>
          </a:prstGeom>
          <a:solidFill>
            <a:srgbClr val="FFFFFF"/>
          </a:solidFill>
          <a:ln w="28575">
            <a:solidFill>
              <a:srgbClr val="000000"/>
            </a:solidFill>
            <a:miter/>
          </a:ln>
        </p:spPr>
        <p:txBody>
          <a:bodyPr lIns="34286" tIns="34286" rIns="34286" bIns="34286">
            <a:spAutoFit/>
          </a:bodyPr>
          <a:lstStyle>
            <a:lvl1pPr defTabSz="914400">
              <a:defRPr sz="2100">
                <a:latin typeface="Calibri" panose="020F0502020204030204"/>
                <a:ea typeface="Calibri" panose="020F0502020204030204"/>
                <a:cs typeface="Calibri" panose="020F0502020204030204"/>
                <a:sym typeface="Calibri" panose="020F0502020204030204"/>
              </a:defRPr>
            </a:lvl1pPr>
          </a:lstStyle>
          <a:p>
            <a:pPr marL="0" marR="0" lvl="0" indent="0" algn="l" defTabSz="914400" rtl="0" eaLnBrk="1" fontAlgn="auto" latinLnBrk="0" hangingPunct="0">
              <a:lnSpc>
                <a:spcPct val="100000"/>
              </a:lnSpc>
              <a:spcBef>
                <a:spcPts val="0"/>
              </a:spcBef>
              <a:spcAft>
                <a:spcPts val="0"/>
              </a:spcAft>
              <a:buClrTx/>
              <a:buSzTx/>
              <a:buFontTx/>
              <a:buNone/>
              <a:defRPr/>
            </a:pPr>
            <a:r>
              <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channel</a:t>
            </a:r>
            <a:endParaRPr kumimoji="0" sz="21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20" name="矩形 19"/>
          <p:cNvSpPr/>
          <p:nvPr/>
        </p:nvSpPr>
        <p:spPr>
          <a:xfrm>
            <a:off x="1015468" y="4232464"/>
            <a:ext cx="7315732" cy="2485836"/>
          </a:xfrm>
          <a:prstGeom prst="rect">
            <a:avLst/>
          </a:prstGeom>
          <a:noFill/>
          <a:ln w="25400" cap="flat">
            <a:solidFill>
              <a:schemeClr val="accent1"/>
            </a:solidFill>
            <a:prstDash val="dash"/>
            <a:round/>
          </a:ln>
        </p:spPr>
        <p:style>
          <a:lnRef idx="0">
            <a:srgbClr val="FFFFFF"/>
          </a:lnRef>
          <a:fillRef idx="0">
            <a:srgbClr val="FFFFFF"/>
          </a:fillRef>
          <a:effectRef idx="0">
            <a:srgbClr val="FFFFFF"/>
          </a:effectRef>
          <a:fontRef idx="none"/>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57" name="矩形 56"/>
          <p:cNvSpPr/>
          <p:nvPr/>
        </p:nvSpPr>
        <p:spPr>
          <a:xfrm>
            <a:off x="1469370" y="4970206"/>
            <a:ext cx="6576080" cy="1145764"/>
          </a:xfrm>
          <a:prstGeom prst="rect">
            <a:avLst/>
          </a:prstGeom>
          <a:noFill/>
          <a:ln w="25400" cap="flat">
            <a:solidFill>
              <a:srgbClr val="FF0000"/>
            </a:solidFill>
            <a:prstDash val="dash"/>
            <a:round/>
          </a:ln>
        </p:spPr>
        <p:style>
          <a:lnRef idx="0">
            <a:srgbClr val="FFFFFF"/>
          </a:lnRef>
          <a:fillRef idx="0">
            <a:srgbClr val="FFFFFF"/>
          </a:fillRef>
          <a:effectRef idx="0">
            <a:srgbClr val="FFFFFF"/>
          </a:effectRef>
          <a:fontRef idx="none"/>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63" name="箭头: 下 62"/>
          <p:cNvSpPr/>
          <p:nvPr/>
        </p:nvSpPr>
        <p:spPr>
          <a:xfrm>
            <a:off x="2414964" y="4029271"/>
            <a:ext cx="45719" cy="368702"/>
          </a:xfrm>
          <a:prstGeom prst="downArrow">
            <a:avLst/>
          </a:prstGeom>
          <a:ln>
            <a:solidFill>
              <a:schemeClr val="tx1"/>
            </a:solidFill>
          </a:ln>
        </p:spPr>
        <p:style>
          <a:lnRef idx="2">
            <a:schemeClr val="accent2"/>
          </a:lnRef>
          <a:fillRef idx="1">
            <a:schemeClr val="lt1"/>
          </a:fillRef>
          <a:effectRef idx="0">
            <a:schemeClr val="accent2"/>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49" name="箭头: 直角上 2048"/>
          <p:cNvSpPr/>
          <p:nvPr/>
        </p:nvSpPr>
        <p:spPr>
          <a:xfrm rot="5400000">
            <a:off x="2952322" y="4304666"/>
            <a:ext cx="403357" cy="1478076"/>
          </a:xfrm>
          <a:prstGeom prst="bentUpArrow">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50" name="箭头: 上 2049"/>
          <p:cNvSpPr/>
          <p:nvPr/>
        </p:nvSpPr>
        <p:spPr>
          <a:xfrm>
            <a:off x="6380749" y="4036034"/>
            <a:ext cx="79545" cy="352613"/>
          </a:xfrm>
          <a:prstGeom prst="up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56" name="箭头: 直角上 2055"/>
          <p:cNvSpPr/>
          <p:nvPr/>
        </p:nvSpPr>
        <p:spPr>
          <a:xfrm>
            <a:off x="5010257" y="4780425"/>
            <a:ext cx="1530243" cy="403357"/>
          </a:xfrm>
          <a:prstGeom prst="bentUpArrow">
            <a:avLst>
              <a:gd name="adj1" fmla="val 25000"/>
              <a:gd name="adj2" fmla="val 23994"/>
              <a:gd name="adj3" fmla="val 25000"/>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60" name="矩形"/>
          <p:cNvSpPr/>
          <p:nvPr/>
        </p:nvSpPr>
        <p:spPr>
          <a:xfrm>
            <a:off x="3973810" y="5678776"/>
            <a:ext cx="916491" cy="352613"/>
          </a:xfrm>
          <a:prstGeom prst="rect">
            <a:avLst/>
          </a:prstGeom>
          <a:solidFill>
            <a:srgbClr val="FFFFFF"/>
          </a:solidFill>
          <a:ln w="9525" cap="flat">
            <a:solidFill>
              <a:srgbClr val="000000"/>
            </a:solidFill>
            <a:prstDash val="solid"/>
            <a:miter lim="800000"/>
          </a:ln>
          <a:effectLst/>
        </p:spPr>
        <p:txBody>
          <a:bodyPr wrap="square" lIns="45718" tIns="45718" rIns="45718" bIns="45718" numCol="1"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Helvetica"/>
              </a:defRPr>
            </a:lvl9pPr>
          </a:lstStyle>
          <a:p>
            <a:pPr marL="0" marR="0" lvl="0" indent="0" algn="ctr" defTabSz="457200" rtl="0" eaLnBrk="1" fontAlgn="auto" latinLnBrk="0" hangingPunct="0">
              <a:lnSpc>
                <a:spcPct val="100000"/>
              </a:lnSpc>
              <a:spcBef>
                <a:spcPts val="0"/>
              </a:spcBef>
              <a:spcAft>
                <a:spcPts val="0"/>
              </a:spcAft>
              <a:buClrTx/>
              <a:buSzTx/>
              <a:buFontTx/>
              <a:buNone/>
              <a:defRPr sz="1200">
                <a:latin typeface="Calibri" panose="020F0502020204030204"/>
                <a:ea typeface="Calibri" panose="020F0502020204030204"/>
                <a:cs typeface="Calibri" panose="020F0502020204030204"/>
                <a:sym typeface="Calibri" panose="020F0502020204030204"/>
              </a:defRPr>
            </a:pPr>
            <a:r>
              <a:rPr kumimoji="0" lang="en-US" altLang="zh-CN"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Noise</a:t>
            </a:r>
            <a:endParaRPr kumimoji="0" sz="20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2061" name="箭头: 上 2060"/>
          <p:cNvSpPr/>
          <p:nvPr/>
        </p:nvSpPr>
        <p:spPr>
          <a:xfrm>
            <a:off x="4409195" y="5433506"/>
            <a:ext cx="45719" cy="221026"/>
          </a:xfrm>
          <a:prstGeom prst="up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1"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dk1"/>
                </a:solidFill>
                <a:effectLst/>
                <a:uFillTx/>
                <a:latin typeface="+mj-lt"/>
                <a:ea typeface="+mj-ea"/>
                <a:cs typeface="+mj-cs"/>
                <a:sym typeface="Helvetica"/>
              </a:defRPr>
            </a:lvl9p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Helvetica"/>
              <a:ea typeface="等线 Light" panose="02010600030101010101" pitchFamily="2" charset="-122"/>
              <a:cs typeface="Helvetica"/>
              <a:sym typeface="Helvetica"/>
            </a:endParaRPr>
          </a:p>
        </p:txBody>
      </p:sp>
      <p:sp>
        <p:nvSpPr>
          <p:cNvPr id="2063" name="文本框 2062"/>
          <p:cNvSpPr txBox="1"/>
          <p:nvPr/>
        </p:nvSpPr>
        <p:spPr>
          <a:xfrm>
            <a:off x="4572000" y="5654532"/>
            <a:ext cx="490496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rPr>
              <a:t>    Modulation channel</a:t>
            </a:r>
            <a:endParaRPr kumimoji="0" lang="zh-CN" altLang="en-US" sz="2800" b="1" i="0" u="none" strike="noStrike" kern="1200" cap="none" spc="0" normalizeH="0" baseline="0" noProof="0" dirty="0">
              <a:ln>
                <a:noFill/>
              </a:ln>
              <a:solidFill>
                <a:srgbClr val="C00000"/>
              </a:solidFill>
              <a:effectLst/>
              <a:uLnTx/>
              <a:uFillTx/>
              <a:latin typeface="Calibri" panose="020F0502020204030204"/>
              <a:ea typeface="等线" panose="02010600030101010101" charset="-122"/>
              <a:cs typeface="+mn-cs"/>
            </a:endParaRPr>
          </a:p>
        </p:txBody>
      </p:sp>
      <p:sp>
        <p:nvSpPr>
          <p:cNvPr id="2066" name="文本框 2065"/>
          <p:cNvSpPr txBox="1"/>
          <p:nvPr/>
        </p:nvSpPr>
        <p:spPr>
          <a:xfrm>
            <a:off x="5775992" y="6131938"/>
            <a:ext cx="5267324"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2800" b="1" i="0" u="none" strike="noStrike" kern="1200" cap="none" spc="0" normalizeH="0" baseline="0" noProof="0" dirty="0">
                <a:ln>
                  <a:noFill/>
                </a:ln>
                <a:solidFill>
                  <a:srgbClr val="4472C4">
                    <a:lumMod val="75000"/>
                  </a:srgbClr>
                </a:solidFill>
                <a:effectLst/>
                <a:uLnTx/>
                <a:uFillTx/>
                <a:latin typeface="Calibri" panose="020F0502020204030204"/>
                <a:ea typeface="等线" panose="02010600030101010101" charset="-122"/>
                <a:cs typeface="+mn-cs"/>
              </a:rPr>
              <a:t>Coding channel </a:t>
            </a:r>
            <a:endParaRPr kumimoji="0" lang="zh-CN" altLang="en-US" sz="2800" b="0" i="0" u="none" strike="noStrike" kern="1200" cap="none" spc="0" normalizeH="0" baseline="0" noProof="0" dirty="0">
              <a:ln>
                <a:noFill/>
              </a:ln>
              <a:solidFill>
                <a:srgbClr val="4472C4">
                  <a:lumMod val="75000"/>
                </a:srgbClr>
              </a:solidFill>
              <a:effectLst/>
              <a:uLnTx/>
              <a:uFillTx/>
              <a:latin typeface="Calibri" panose="020F0502020204030204"/>
              <a:ea typeface="等线" panose="02010600030101010101" charset="-122"/>
              <a:cs typeface="+mn-cs"/>
            </a:endParaRPr>
          </a:p>
        </p:txBody>
      </p:sp>
      <p:pic>
        <p:nvPicPr>
          <p:cNvPr id="2067" name="图片 2066"/>
          <p:cNvPicPr>
            <a:picLocks noChangeAspect="1"/>
          </p:cNvPicPr>
          <p:nvPr/>
        </p:nvPicPr>
        <p:blipFill>
          <a:blip r:embed="rId1"/>
          <a:stretch>
            <a:fillRect/>
          </a:stretch>
        </p:blipFill>
        <p:spPr>
          <a:xfrm>
            <a:off x="3104642" y="4252402"/>
            <a:ext cx="2435971" cy="647055"/>
          </a:xfrm>
          <a:prstGeom prst="rect">
            <a:avLst/>
          </a:prstGeom>
        </p:spPr>
      </p:pic>
      <p:pic>
        <p:nvPicPr>
          <p:cNvPr id="2068" name="图片 2067"/>
          <p:cNvPicPr>
            <a:picLocks noChangeAspect="1"/>
          </p:cNvPicPr>
          <p:nvPr/>
        </p:nvPicPr>
        <p:blipFill>
          <a:blip r:embed="rId2"/>
          <a:stretch>
            <a:fillRect/>
          </a:stretch>
        </p:blipFill>
        <p:spPr>
          <a:xfrm>
            <a:off x="1489540" y="5289581"/>
            <a:ext cx="2435971" cy="655392"/>
          </a:xfrm>
          <a:prstGeom prst="rect">
            <a:avLst/>
          </a:prstGeom>
        </p:spPr>
      </p:pic>
      <p:sp>
        <p:nvSpPr>
          <p:cNvPr id="3" name="文本框 2"/>
          <p:cNvSpPr txBox="1"/>
          <p:nvPr/>
        </p:nvSpPr>
        <p:spPr>
          <a:xfrm>
            <a:off x="409122" y="1548542"/>
            <a:ext cx="7827010" cy="1668277"/>
          </a:xfrm>
          <a:prstGeom prst="rect">
            <a:avLst/>
          </a:prstGeom>
          <a:noFill/>
        </p:spPr>
        <p:txBody>
          <a:bodyPr wrap="square">
            <a:spAutoFit/>
          </a:bodyPr>
          <a:lstStyle/>
          <a:p>
            <a:pPr>
              <a:lnSpc>
                <a:spcPct val="125000"/>
              </a:lnSpc>
            </a:pPr>
            <a:r>
              <a:rPr lang="zh-CN" altLang="zh-CN" sz="2800" b="1" dirty="0">
                <a:highlight>
                  <a:srgbClr val="FFFF00"/>
                </a:highlight>
              </a:rPr>
              <a:t>The modulation channel is a real physical channel, </a:t>
            </a:r>
            <a:endParaRPr lang="en-US" altLang="zh-CN" sz="2800" b="1" dirty="0">
              <a:highlight>
                <a:srgbClr val="FFFF00"/>
              </a:highlight>
            </a:endParaRPr>
          </a:p>
          <a:p>
            <a:pPr>
              <a:lnSpc>
                <a:spcPct val="125000"/>
              </a:lnSpc>
            </a:pPr>
            <a:r>
              <a:rPr lang="zh-CN" altLang="zh-CN" sz="2800" b="1" dirty="0">
                <a:highlight>
                  <a:srgbClr val="FFFF00"/>
                </a:highlight>
              </a:rPr>
              <a:t>while the coding channel is merely an abstract model with statistical properties. </a:t>
            </a:r>
            <a:endParaRPr lang="en-US" altLang="zh-CN" sz="2800" b="1" dirty="0">
              <a:highlight>
                <a:srgbClr val="FFFF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1518" y="1240043"/>
            <a:ext cx="8695953" cy="5715525"/>
          </a:xfrm>
        </p:spPr>
        <p:txBody>
          <a:bodyPr>
            <a:normAutofit/>
          </a:bodyPr>
          <a:lstStyle/>
          <a:p>
            <a:pPr>
              <a:lnSpc>
                <a:spcPct val="150000"/>
              </a:lnSpc>
            </a:pPr>
            <a:r>
              <a:rPr lang="en-US" altLang="zh-CN" b="1" dirty="0">
                <a:latin typeface="Times New Roman" panose="02020603050405020304" pitchFamily="18" charset="0"/>
                <a:cs typeface="Times New Roman" panose="02020603050405020304" pitchFamily="18" charset="0"/>
              </a:rPr>
              <a:t>Discrete </a:t>
            </a:r>
            <a:r>
              <a:rPr lang="en-US" altLang="zh-CN"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Channel Capacity    </a:t>
            </a:r>
            <a:r>
              <a:rPr lang="zh-CN" altLang="en-US"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离散信道容量</a:t>
            </a:r>
            <a:endParaRPr lang="zh-CN" altLang="en-US"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endParaRPr>
          </a:p>
          <a:p>
            <a:pPr marL="0" indent="0">
              <a:lnSpc>
                <a:spcPct val="130000"/>
              </a:lnSpc>
              <a:spcAft>
                <a:spcPts val="0"/>
              </a:spcAft>
              <a:buNone/>
            </a:pPr>
            <a:r>
              <a:rPr lang="en-US" altLang="zh-CN" b="1" dirty="0">
                <a:solidFill>
                  <a:srgbClr val="FF0000"/>
                </a:solidFill>
                <a:latin typeface="Times New Roman" panose="02020603050405020304" pitchFamily="18" charset="0"/>
                <a:cs typeface="Times New Roman" panose="02020603050405020304" pitchFamily="18" charset="0"/>
                <a:sym typeface="+mn-ea"/>
              </a:rPr>
              <a:t>    </a:t>
            </a:r>
            <a:r>
              <a:rPr lang="zh-CN" altLang="en-US" b="1" dirty="0">
                <a:solidFill>
                  <a:srgbClr val="FF0000"/>
                </a:solidFill>
                <a:latin typeface="Times New Roman" panose="02020603050405020304" pitchFamily="18" charset="0"/>
                <a:cs typeface="Times New Roman" panose="02020603050405020304" pitchFamily="18" charset="0"/>
                <a:sym typeface="+mn-ea"/>
              </a:rPr>
              <a:t>离散信道模型：高层抽象</a:t>
            </a:r>
            <a:endParaRPr lang="zh-CN" altLang="en-US" b="1" dirty="0">
              <a:solidFill>
                <a:srgbClr val="FF0000"/>
              </a:solidFill>
              <a:latin typeface="Times New Roman" panose="02020603050405020304" pitchFamily="18" charset="0"/>
              <a:cs typeface="Times New Roman" panose="02020603050405020304" pitchFamily="18" charset="0"/>
            </a:endParaRPr>
          </a:p>
          <a:p>
            <a:pPr marL="0" indent="0">
              <a:lnSpc>
                <a:spcPct val="130000"/>
              </a:lnSpc>
              <a:spcAft>
                <a:spcPts val="0"/>
              </a:spcAft>
              <a:buNone/>
            </a:pPr>
            <a:r>
              <a:rPr lang="zh-CN" altLang="en-US" b="1" dirty="0">
                <a:latin typeface="Times New Roman" panose="02020603050405020304" pitchFamily="18" charset="0"/>
                <a:cs typeface="Times New Roman" panose="02020603050405020304" pitchFamily="18" charset="0"/>
                <a:sym typeface="+mn-ea"/>
              </a:rPr>
              <a:t> </a:t>
            </a:r>
            <a:r>
              <a:rPr lang="en-US" altLang="zh-CN" b="1" dirty="0">
                <a:latin typeface="Times New Roman" panose="02020603050405020304" pitchFamily="18" charset="0"/>
                <a:cs typeface="Times New Roman" panose="02020603050405020304" pitchFamily="18" charset="0"/>
                <a:sym typeface="+mn-ea"/>
              </a:rPr>
              <a:t> </a:t>
            </a:r>
            <a:r>
              <a:rPr lang="zh-CN" altLang="en-US" b="1" dirty="0">
                <a:latin typeface="Times New Roman" panose="02020603050405020304" pitchFamily="18" charset="0"/>
                <a:cs typeface="Times New Roman" panose="02020603050405020304" pitchFamily="18" charset="0"/>
                <a:sym typeface="+mn-ea"/>
              </a:rPr>
              <a:t>用转移概率表征物理介质带来的差错。</a:t>
            </a:r>
            <a:endParaRPr lang="en-US" altLang="zh-CN" b="1" dirty="0">
              <a:latin typeface="Times New Roman" panose="02020603050405020304" pitchFamily="18" charset="0"/>
              <a:cs typeface="Times New Roman" panose="02020603050405020304" pitchFamily="18" charset="0"/>
            </a:endParaRPr>
          </a:p>
          <a:p>
            <a:pPr>
              <a:lnSpc>
                <a:spcPct val="150000"/>
              </a:lnSpc>
            </a:pPr>
            <a:r>
              <a:rPr lang="en-US" altLang="zh-CN" b="1" dirty="0">
                <a:latin typeface="Times New Roman" panose="02020603050405020304" pitchFamily="18" charset="0"/>
                <a:cs typeface="Times New Roman" panose="02020603050405020304" pitchFamily="18" charset="0"/>
              </a:rPr>
              <a:t>Continous </a:t>
            </a:r>
            <a:r>
              <a:rPr lang="en-US" altLang="zh-CN"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Channel Capacity </a:t>
            </a:r>
            <a:r>
              <a:rPr lang="zh-CN" altLang="en-US"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sym typeface="+mn-ea"/>
              </a:rPr>
              <a:t>连续信道容量</a:t>
            </a:r>
            <a:endParaRPr lang="zh-CN" altLang="zh-CN" b="1" dirty="0">
              <a:latin typeface="Times New Roman" panose="02020603050405020304" pitchFamily="18" charset="0"/>
              <a:cs typeface="Times New Roman" panose="02020603050405020304" pitchFamily="18" charset="0"/>
            </a:endParaRPr>
          </a:p>
          <a:p>
            <a:pPr marL="0" indent="0">
              <a:lnSpc>
                <a:spcPct val="130000"/>
              </a:lnSpc>
              <a:spcAft>
                <a:spcPts val="0"/>
              </a:spcAft>
              <a:buNone/>
            </a:pPr>
            <a:r>
              <a:rPr lang="en-US" altLang="zh-CN" b="1" dirty="0">
                <a:latin typeface="Times New Roman" panose="02020603050405020304" pitchFamily="18" charset="0"/>
                <a:cs typeface="Times New Roman" panose="02020603050405020304" pitchFamily="18" charset="0"/>
              </a:rPr>
              <a:t>    </a:t>
            </a:r>
            <a:r>
              <a:rPr lang="zh-CN" altLang="en-US" b="1" dirty="0">
                <a:solidFill>
                  <a:srgbClr val="FF0000"/>
                </a:solidFill>
                <a:latin typeface="Times New Roman" panose="02020603050405020304" pitchFamily="18" charset="0"/>
                <a:cs typeface="Times New Roman" panose="02020603050405020304" pitchFamily="18" charset="0"/>
              </a:rPr>
              <a:t>连续 </a:t>
            </a:r>
            <a:r>
              <a:rPr lang="en-US" altLang="zh-CN" b="1" dirty="0">
                <a:solidFill>
                  <a:srgbClr val="FF0000"/>
                </a:solidFill>
                <a:latin typeface="Times New Roman" panose="02020603050405020304" pitchFamily="18" charset="0"/>
                <a:cs typeface="Times New Roman" panose="02020603050405020304" pitchFamily="18" charset="0"/>
              </a:rPr>
              <a:t>AWGN </a:t>
            </a:r>
            <a:r>
              <a:rPr lang="zh-CN" altLang="en-US" b="1" dirty="0">
                <a:solidFill>
                  <a:srgbClr val="FF0000"/>
                </a:solidFill>
                <a:latin typeface="Times New Roman" panose="02020603050405020304" pitchFamily="18" charset="0"/>
                <a:cs typeface="Times New Roman" panose="02020603050405020304" pitchFamily="18" charset="0"/>
              </a:rPr>
              <a:t>信道模型：底层物理视角</a:t>
            </a:r>
            <a:endParaRPr lang="zh-CN" altLang="en-US" b="1" dirty="0">
              <a:latin typeface="Times New Roman" panose="02020603050405020304" pitchFamily="18" charset="0"/>
              <a:cs typeface="Times New Roman" panose="02020603050405020304" pitchFamily="18" charset="0"/>
            </a:endParaRPr>
          </a:p>
          <a:p>
            <a:pPr marL="0" indent="0">
              <a:lnSpc>
                <a:spcPct val="130000"/>
              </a:lnSpc>
              <a:spcAft>
                <a:spcPts val="0"/>
              </a:spcAft>
              <a:buNone/>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直接使用</a:t>
            </a:r>
            <a:r>
              <a:rPr lang="zh-CN" altLang="en-US" b="1" dirty="0">
                <a:highlight>
                  <a:srgbClr val="00FF00"/>
                </a:highlight>
                <a:latin typeface="Times New Roman" panose="02020603050405020304" pitchFamily="18" charset="0"/>
                <a:cs typeface="Times New Roman" panose="02020603050405020304" pitchFamily="18" charset="0"/>
              </a:rPr>
              <a:t>带宽、功率、噪声功率</a:t>
            </a:r>
            <a:r>
              <a:rPr lang="zh-CN" altLang="en-US" b="1" dirty="0">
                <a:latin typeface="Times New Roman" panose="02020603050405020304" pitchFamily="18" charset="0"/>
                <a:cs typeface="Times New Roman" panose="02020603050405020304" pitchFamily="18" charset="0"/>
              </a:rPr>
              <a:t>这些物理介质参数。</a:t>
            </a:r>
            <a:br>
              <a:rPr lang="en-US" altLang="zh-CN" dirty="0"/>
            </a:br>
            <a:br>
              <a:rPr lang="en-US" altLang="zh-CN" dirty="0"/>
            </a:br>
            <a:endParaRPr lang="zh-CN" altLang="en-US" dirty="0"/>
          </a:p>
        </p:txBody>
      </p:sp>
      <p:sp>
        <p:nvSpPr>
          <p:cNvPr id="16" name="标题 1"/>
          <p:cNvSpPr txBox="1"/>
          <p:nvPr/>
        </p:nvSpPr>
        <p:spPr>
          <a:xfrm>
            <a:off x="16528" y="326182"/>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3"/>
          <p:cNvSpPr>
            <a:spLocks noGrp="1" noChangeArrowheads="1"/>
          </p:cNvSpPr>
          <p:nvPr>
            <p:ph idx="1"/>
          </p:nvPr>
        </p:nvSpPr>
        <p:spPr>
          <a:xfrm>
            <a:off x="-602990" y="1703068"/>
            <a:ext cx="10162604" cy="5589587"/>
          </a:xfrm>
        </p:spPr>
        <p:txBody>
          <a:bodyPr>
            <a:normAutofit/>
          </a:bodyPr>
          <a:lstStyle/>
          <a:p>
            <a:pPr lvl="2" eaLnBrk="1" hangingPunct="1">
              <a:buFont typeface="Wingdings" panose="05000000000000000000" pitchFamily="2" charset="2"/>
              <a:buNone/>
            </a:pPr>
            <a:endParaRPr lang="en-US" altLang="zh-CN" dirty="0"/>
          </a:p>
          <a:p>
            <a:pPr lvl="2" eaLnBrk="1" hangingPunct="1">
              <a:buFont typeface="Wingdings" panose="05000000000000000000" pitchFamily="2" charset="2"/>
              <a:buNone/>
            </a:pPr>
            <a:endParaRPr lang="zh-CN" altLang="en-US" sz="2800" dirty="0"/>
          </a:p>
          <a:p>
            <a:pPr lvl="2" eaLnBrk="1" hangingPunct="1">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Where  </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average transmitted power</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W</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noise power</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W</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channel bandwidth</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Hz</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Suppose single power spectral density is </a:t>
            </a:r>
            <a:r>
              <a:rPr lang="en-US" altLang="zh-CN" sz="2400" b="1" i="1" dirty="0">
                <a:latin typeface="Times New Roman" panose="02020603050405020304" pitchFamily="18" charset="0"/>
                <a:cs typeface="Times New Roman" panose="02020603050405020304" pitchFamily="18" charset="0"/>
              </a:rPr>
              <a:t>n</a:t>
            </a:r>
            <a:r>
              <a:rPr lang="en-US" altLang="zh-CN" sz="2400" b="1" baseline="-25000"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N</a:t>
            </a:r>
            <a:r>
              <a:rPr lang="en-US" altLang="zh-CN" sz="2400" b="1" dirty="0">
                <a:solidFill>
                  <a:srgbClr val="FF0000"/>
                </a:solidFill>
                <a:latin typeface="Times New Roman" panose="02020603050405020304" pitchFamily="18" charset="0"/>
                <a:cs typeface="Times New Roman" panose="02020603050405020304" pitchFamily="18" charset="0"/>
              </a:rPr>
              <a:t> = </a:t>
            </a:r>
            <a:r>
              <a:rPr lang="en-US" altLang="zh-CN" sz="2400" b="1" i="1" dirty="0">
                <a:solidFill>
                  <a:srgbClr val="FF0000"/>
                </a:solidFill>
                <a:latin typeface="Times New Roman" panose="02020603050405020304" pitchFamily="18" charset="0"/>
                <a:cs typeface="Times New Roman" panose="02020603050405020304" pitchFamily="18" charset="0"/>
              </a:rPr>
              <a:t>n</a:t>
            </a:r>
            <a:r>
              <a:rPr lang="en-US" altLang="zh-CN" sz="2400" b="1" baseline="-25000" dirty="0">
                <a:solidFill>
                  <a:srgbClr val="FF0000"/>
                </a:solidFill>
                <a:latin typeface="Times New Roman" panose="02020603050405020304" pitchFamily="18" charset="0"/>
                <a:cs typeface="Times New Roman" panose="02020603050405020304" pitchFamily="18" charset="0"/>
              </a:rPr>
              <a:t>0</a:t>
            </a:r>
            <a:r>
              <a:rPr lang="en-US" altLang="zh-CN" sz="2400" b="1" i="1" dirty="0">
                <a:solidFill>
                  <a:srgbClr val="FF0000"/>
                </a:solidFill>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en-US" altLang="zh-CN" sz="2400" b="1" dirty="0">
                <a:latin typeface="Times New Roman" panose="02020603050405020304" pitchFamily="18" charset="0"/>
                <a:cs typeface="Times New Roman" panose="02020603050405020304" pitchFamily="18" charset="0"/>
              </a:rPr>
              <a:t>The channel capacity can be rewritten as</a:t>
            </a:r>
            <a:r>
              <a:rPr lang="zh-CN" altLang="en-US"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endParaRPr lang="en-US" altLang="zh-CN" dirty="0"/>
          </a:p>
          <a:p>
            <a:pPr lvl="2" eaLnBrk="1" hangingPunct="1">
              <a:buFont typeface="Wingdings" panose="05000000000000000000" pitchFamily="2" charset="2"/>
              <a:buNone/>
            </a:pPr>
            <a:endParaRPr lang="en-US" altLang="zh-CN" dirty="0"/>
          </a:p>
          <a:p>
            <a:pPr lvl="2" eaLnBrk="1" hangingPunct="1">
              <a:buFont typeface="Wingdings" panose="05000000000000000000" pitchFamily="2" charset="2"/>
              <a:buNone/>
            </a:pPr>
            <a:endParaRPr lang="en-US" altLang="zh-CN" dirty="0"/>
          </a:p>
          <a:p>
            <a:pPr lvl="2" eaLnBrk="1" hangingPunct="1">
              <a:buFont typeface="Wingdings" panose="05000000000000000000" pitchFamily="2" charset="2"/>
              <a:buNone/>
            </a:pPr>
            <a:endParaRPr lang="en-US" altLang="zh-CN" dirty="0"/>
          </a:p>
          <a:p>
            <a:pPr lvl="2" eaLnBrk="1" hangingPunct="1">
              <a:buFont typeface="Wingdings" panose="05000000000000000000" pitchFamily="2" charset="2"/>
              <a:buNone/>
            </a:pPr>
            <a:r>
              <a:rPr lang="zh-CN" altLang="zh-CN" b="1" dirty="0">
                <a:latin typeface="Times New Roman" panose="02020603050405020304" pitchFamily="18" charset="0"/>
                <a:cs typeface="Times New Roman" panose="02020603050405020304" pitchFamily="18" charset="0"/>
              </a:rPr>
              <a:t>From the above equation, the capacity  of a continuous channel depends on </a:t>
            </a:r>
            <a:endParaRPr lang="en-US" altLang="zh-CN" b="1"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t</a:t>
            </a:r>
            <a:r>
              <a:rPr lang="zh-CN" altLang="zh-CN" b="1" dirty="0">
                <a:latin typeface="Times New Roman" panose="02020603050405020304" pitchFamily="18" charset="0"/>
                <a:cs typeface="Times New Roman" panose="02020603050405020304" pitchFamily="18" charset="0"/>
              </a:rPr>
              <a:t>hre</a:t>
            </a:r>
            <a:r>
              <a:rPr lang="en-US" altLang="zh-CN" b="1" dirty="0">
                <a:latin typeface="Times New Roman" panose="02020603050405020304" pitchFamily="18" charset="0"/>
                <a:cs typeface="Times New Roman" panose="02020603050405020304" pitchFamily="18" charset="0"/>
              </a:rPr>
              <a:t>e </a:t>
            </a:r>
            <a:r>
              <a:rPr lang="zh-CN" altLang="zh-CN" b="1" dirty="0">
                <a:latin typeface="Times New Roman" panose="02020603050405020304" pitchFamily="18" charset="0"/>
                <a:cs typeface="Times New Roman" panose="02020603050405020304" pitchFamily="18" charset="0"/>
              </a:rPr>
              <a:t>factors: channel bandwidth </a:t>
            </a:r>
            <a:r>
              <a:rPr lang="zh-CN" altLang="zh-CN" sz="2400" b="1" i="1" dirty="0">
                <a:solidFill>
                  <a:srgbClr val="FF0000"/>
                </a:solidFill>
                <a:latin typeface="Times New Roman" panose="02020603050405020304" pitchFamily="18" charset="0"/>
                <a:cs typeface="Times New Roman" panose="02020603050405020304" pitchFamily="18" charset="0"/>
              </a:rPr>
              <a:t>B</a:t>
            </a:r>
            <a:r>
              <a:rPr lang="zh-CN" altLang="zh-CN" b="1" dirty="0">
                <a:latin typeface="Times New Roman" panose="02020603050405020304" pitchFamily="18" charset="0"/>
                <a:cs typeface="Times New Roman" panose="02020603050405020304" pitchFamily="18" charset="0"/>
              </a:rPr>
              <a:t>, signal power </a:t>
            </a:r>
            <a:r>
              <a:rPr lang="zh-CN" altLang="zh-CN" b="1" i="1" dirty="0">
                <a:solidFill>
                  <a:srgbClr val="FF0000"/>
                </a:solidFill>
                <a:latin typeface="Times New Roman" panose="02020603050405020304" pitchFamily="18" charset="0"/>
                <a:cs typeface="Times New Roman" panose="02020603050405020304" pitchFamily="18" charset="0"/>
              </a:rPr>
              <a:t>S</a:t>
            </a:r>
            <a:r>
              <a:rPr lang="zh-CN" altLang="zh-CN" b="1" dirty="0">
                <a:latin typeface="Times New Roman" panose="02020603050405020304" pitchFamily="18" charset="0"/>
                <a:cs typeface="Times New Roman" panose="02020603050405020304" pitchFamily="18" charset="0"/>
              </a:rPr>
              <a:t>, and noise</a:t>
            </a:r>
            <a:r>
              <a:rPr lang="en-US" altLang="zh-CN" b="1" dirty="0">
                <a:latin typeface="Times New Roman" panose="02020603050405020304" pitchFamily="18" charset="0"/>
                <a:cs typeface="Times New Roman" panose="02020603050405020304" pitchFamily="18" charset="0"/>
              </a:rPr>
              <a:t>’s</a:t>
            </a:r>
            <a:r>
              <a:rPr lang="zh-CN" altLang="zh-CN"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PSD</a:t>
            </a:r>
            <a:r>
              <a:rPr lang="zh-CN" altLang="zh-CN" b="1" dirty="0">
                <a:latin typeface="Times New Roman" panose="02020603050405020304" pitchFamily="18" charset="0"/>
                <a:cs typeface="Times New Roman" panose="02020603050405020304" pitchFamily="18" charset="0"/>
              </a:rPr>
              <a:t> </a:t>
            </a:r>
            <a:r>
              <a:rPr lang="en-US" altLang="zh-CN" sz="2400" b="1" i="1" dirty="0">
                <a:solidFill>
                  <a:srgbClr val="FF0000"/>
                </a:solidFill>
                <a:latin typeface="Times New Roman" panose="02020603050405020304" pitchFamily="18" charset="0"/>
                <a:cs typeface="Times New Roman" panose="02020603050405020304" pitchFamily="18" charset="0"/>
              </a:rPr>
              <a:t>n</a:t>
            </a:r>
            <a:r>
              <a:rPr lang="en-US" altLang="zh-CN" sz="1600" b="1" dirty="0">
                <a:solidFill>
                  <a:srgbClr val="FF0000"/>
                </a:solidFill>
                <a:latin typeface="Times New Roman" panose="02020603050405020304" pitchFamily="18" charset="0"/>
                <a:cs typeface="Times New Roman" panose="02020603050405020304" pitchFamily="18" charset="0"/>
              </a:rPr>
              <a:t>o</a:t>
            </a:r>
            <a:r>
              <a:rPr lang="zh-CN"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20487" name="Rectangle 5"/>
          <p:cNvSpPr>
            <a:spLocks noChangeArrowheads="1"/>
          </p:cNvSpPr>
          <p:nvPr/>
        </p:nvSpPr>
        <p:spPr bwMode="auto">
          <a:xfrm>
            <a:off x="1" y="30300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base" hangingPunct="1">
              <a:spcBef>
                <a:spcPct val="0"/>
              </a:spcBef>
              <a:spcAft>
                <a:spcPct val="0"/>
              </a:spcAft>
              <a:defRPr/>
            </a:pPr>
            <a:endParaRPr lang="zh-CN" altLang="en-US">
              <a:solidFill>
                <a:srgbClr val="000000"/>
              </a:solidFill>
            </a:endParaRPr>
          </a:p>
        </p:txBody>
      </p:sp>
      <p:graphicFrame>
        <p:nvGraphicFramePr>
          <p:cNvPr id="69636" name="Object 4"/>
          <p:cNvGraphicFramePr>
            <a:graphicFrameLocks noChangeAspect="1"/>
          </p:cNvGraphicFramePr>
          <p:nvPr/>
        </p:nvGraphicFramePr>
        <p:xfrm>
          <a:off x="2340438" y="1650172"/>
          <a:ext cx="4275748" cy="979122"/>
        </p:xfrm>
        <a:graphic>
          <a:graphicData uri="http://schemas.openxmlformats.org/presentationml/2006/ole">
            <mc:AlternateContent xmlns:mc="http://schemas.openxmlformats.org/markup-compatibility/2006">
              <mc:Choice xmlns:v="urn:schemas-microsoft-com:vml" Requires="v">
                <p:oleObj spid="_x0000_s0" name="公式" r:id="rId1" imgW="1866900" imgH="431800" progId="Equation.3">
                  <p:embed/>
                </p:oleObj>
              </mc:Choice>
              <mc:Fallback>
                <p:oleObj name="公式" r:id="rId1" imgW="1866900" imgH="431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0438" y="1650172"/>
                        <a:ext cx="4275748" cy="979122"/>
                      </a:xfrm>
                      <a:prstGeom prst="rect">
                        <a:avLst/>
                      </a:prstGeom>
                      <a:noFill/>
                    </p:spPr>
                  </p:pic>
                </p:oleObj>
              </mc:Fallback>
            </mc:AlternateContent>
          </a:graphicData>
        </a:graphic>
      </p:graphicFrame>
      <p:sp>
        <p:nvSpPr>
          <p:cNvPr id="20488" name="Rectangle 7"/>
          <p:cNvSpPr>
            <a:spLocks noChangeArrowheads="1"/>
          </p:cNvSpPr>
          <p:nvPr/>
        </p:nvSpPr>
        <p:spPr bwMode="auto">
          <a:xfrm>
            <a:off x="1" y="30014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base" hangingPunct="1">
              <a:spcBef>
                <a:spcPct val="0"/>
              </a:spcBef>
              <a:spcAft>
                <a:spcPct val="0"/>
              </a:spcAft>
              <a:defRPr/>
            </a:pPr>
            <a:endParaRPr lang="zh-CN" altLang="en-US">
              <a:solidFill>
                <a:srgbClr val="000000"/>
              </a:solidFill>
            </a:endParaRPr>
          </a:p>
        </p:txBody>
      </p:sp>
      <p:graphicFrame>
        <p:nvGraphicFramePr>
          <p:cNvPr id="69638" name="Object 6"/>
          <p:cNvGraphicFramePr>
            <a:graphicFrameLocks noChangeAspect="1"/>
          </p:cNvGraphicFramePr>
          <p:nvPr/>
        </p:nvGraphicFramePr>
        <p:xfrm>
          <a:off x="1866917" y="4582344"/>
          <a:ext cx="4813873" cy="1072061"/>
        </p:xfrm>
        <a:graphic>
          <a:graphicData uri="http://schemas.openxmlformats.org/presentationml/2006/ole">
            <mc:AlternateContent xmlns:mc="http://schemas.openxmlformats.org/markup-compatibility/2006">
              <mc:Choice xmlns:v="urn:schemas-microsoft-com:vml" Requires="v">
                <p:oleObj spid="_x0000_s0" name="公式" r:id="rId3" imgW="1968500" imgH="482600" progId="Equation.3">
                  <p:embed/>
                </p:oleObj>
              </mc:Choice>
              <mc:Fallback>
                <p:oleObj name="公式" r:id="rId3" imgW="1968500" imgH="482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6917" y="4582344"/>
                        <a:ext cx="4813873" cy="1072061"/>
                      </a:xfrm>
                      <a:prstGeom prst="rect">
                        <a:avLst/>
                      </a:prstGeom>
                      <a:noFill/>
                      <a:ln w="22225">
                        <a:solidFill>
                          <a:srgbClr val="0070C0"/>
                        </a:solidFill>
                      </a:ln>
                    </p:spPr>
                  </p:pic>
                </p:oleObj>
              </mc:Fallback>
            </mc:AlternateContent>
          </a:graphicData>
        </a:graphic>
      </p:graphicFrame>
      <p:sp>
        <p:nvSpPr>
          <p:cNvPr id="2" name="Rectangle 2"/>
          <p:cNvSpPr txBox="1">
            <a:spLocks noChangeArrowheads="1"/>
          </p:cNvSpPr>
          <p:nvPr/>
        </p:nvSpPr>
        <p:spPr bwMode="auto">
          <a:xfrm>
            <a:off x="0" y="-33665"/>
            <a:ext cx="9144000" cy="821199"/>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defPPr>
              <a:defRPr lang="en-US"/>
            </a:defPPr>
            <a:lvl1pPr fontAlgn="base">
              <a:lnSpc>
                <a:spcPct val="100000"/>
              </a:lnSpc>
              <a:spcBef>
                <a:spcPct val="0"/>
              </a:spcBef>
              <a:spcAft>
                <a:spcPct val="0"/>
              </a:spcAft>
              <a:buNone/>
              <a:defRPr sz="3200" b="1">
                <a:solidFill>
                  <a:prstClr val="black"/>
                </a:solidFill>
                <a:latin typeface="Times New Roman" panose="02020603050405020304" pitchFamily="18" charset="0"/>
                <a:ea typeface="等线 Light" panose="02010600030101010101" pitchFamily="2" charset="-122"/>
                <a:cs typeface="Times New Roman" panose="02020603050405020304" pitchFamily="18" charset="0"/>
              </a:defRPr>
            </a:lvl1pPr>
          </a:lstStyle>
          <a:p>
            <a:endParaRPr lang="zh-CN" altLang="en-US" dirty="0"/>
          </a:p>
        </p:txBody>
      </p:sp>
      <p:sp>
        <p:nvSpPr>
          <p:cNvPr id="3" name="文本框 2"/>
          <p:cNvSpPr txBox="1"/>
          <p:nvPr/>
        </p:nvSpPr>
        <p:spPr>
          <a:xfrm>
            <a:off x="97641" y="43237"/>
            <a:ext cx="8761343" cy="769441"/>
          </a:xfrm>
          <a:prstGeom prst="rect">
            <a:avLst/>
          </a:prstGeom>
          <a:noFill/>
        </p:spPr>
        <p:txBody>
          <a:bodyPr wrap="square" rtlCol="0">
            <a:spAutoFit/>
          </a:bodyPr>
          <a:lstStyle/>
          <a:p>
            <a:r>
              <a:rPr lang="zh-CN" altLang="en-US" sz="4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zh-CN" sz="4400" dirty="0"/>
              <a:t>Channel capacity——</a:t>
            </a:r>
            <a:r>
              <a:rPr lang="zh-CN" altLang="en-US" sz="4400" b="1" dirty="0">
                <a:ln w="12700">
                  <a:solidFill>
                    <a:schemeClr val="accent1"/>
                  </a:solidFill>
                  <a:prstDash val="solid"/>
                </a:ln>
                <a:solidFill>
                  <a:schemeClr val="accent2"/>
                </a:solidFill>
                <a:effectLst>
                  <a:outerShdw dist="38100" dir="2640000" algn="bl" rotWithShape="0">
                    <a:schemeClr val="accent1"/>
                  </a:outerShdw>
                </a:effectLst>
              </a:rPr>
              <a:t>香农定理</a:t>
            </a:r>
            <a:endParaRPr lang="zh-CN" altLang="en-US" sz="4400" dirty="0">
              <a:solidFill>
                <a:schemeClr val="accent2"/>
              </a:solidFill>
            </a:endParaRPr>
          </a:p>
        </p:txBody>
      </p:sp>
      <p:sp>
        <p:nvSpPr>
          <p:cNvPr id="5" name="文本框 4"/>
          <p:cNvSpPr txBox="1"/>
          <p:nvPr/>
        </p:nvSpPr>
        <p:spPr>
          <a:xfrm>
            <a:off x="184732" y="728335"/>
            <a:ext cx="9252087" cy="892552"/>
          </a:xfrm>
          <a:prstGeom prst="rect">
            <a:avLst/>
          </a:prstGeom>
          <a:noFill/>
        </p:spPr>
        <p:txBody>
          <a:bodyPr wrap="square">
            <a:spAutoFit/>
          </a:bodyPr>
          <a:lstStyle/>
          <a:p>
            <a:r>
              <a:rPr lang="zh-CN" altLang="zh-CN" sz="2600" b="1" dirty="0">
                <a:latin typeface="Times New Roman" panose="02020603050405020304" pitchFamily="18" charset="0"/>
                <a:cs typeface="Times New Roman" panose="02020603050405020304" pitchFamily="18" charset="0"/>
              </a:rPr>
              <a:t>For a </a:t>
            </a:r>
            <a:r>
              <a:rPr lang="zh-CN" altLang="zh-CN" sz="2600" b="1" dirty="0">
                <a:solidFill>
                  <a:srgbClr val="FF0000"/>
                </a:solidFill>
                <a:latin typeface="Times New Roman" panose="02020603050405020304" pitchFamily="18" charset="0"/>
                <a:cs typeface="Times New Roman" panose="02020603050405020304" pitchFamily="18" charset="0"/>
              </a:rPr>
              <a:t>continuous additive white Gaussian noise (AWGN) channel</a:t>
            </a:r>
            <a:r>
              <a:rPr lang="zh-CN" altLang="zh-CN" sz="2600" b="1" dirty="0">
                <a:latin typeface="Times New Roman" panose="02020603050405020304" pitchFamily="18" charset="0"/>
                <a:cs typeface="Times New Roman" panose="02020603050405020304" pitchFamily="18" charset="0"/>
              </a:rPr>
              <a:t>, the channel capacity is:</a:t>
            </a:r>
            <a:endParaRPr lang="zh-CN" altLang="en-US" sz="2600" b="1"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7349987" y="5486400"/>
            <a:ext cx="1282148" cy="369332"/>
          </a:xfrm>
          <a:prstGeom prst="rect">
            <a:avLst/>
          </a:prstGeom>
          <a:noFill/>
        </p:spPr>
        <p:txBody>
          <a:bodyPr wrap="square" rtlCol="0">
            <a:spAutoFit/>
          </a:bodyPr>
          <a:lstStyle/>
          <a:p>
            <a:r>
              <a:rPr lang="zh-CN" altLang="en-US" b="1" dirty="0">
                <a:solidFill>
                  <a:srgbClr val="FF0000"/>
                </a:solidFill>
              </a:rPr>
              <a:t>三要素</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486">
                                            <p:txEl>
                                              <p:pRg st="5" end="5"/>
                                            </p:txEl>
                                          </p:spTgt>
                                        </p:tgtEl>
                                        <p:attrNameLst>
                                          <p:attrName>style.visibility</p:attrName>
                                        </p:attrNameLst>
                                      </p:cBhvr>
                                      <p:to>
                                        <p:strVal val="visible"/>
                                      </p:to>
                                    </p:set>
                                    <p:animEffect transition="in" filter="fade">
                                      <p:cBhvr>
                                        <p:cTn id="15" dur="500"/>
                                        <p:tgtEl>
                                          <p:spTgt spid="20486">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0486">
                                            <p:txEl>
                                              <p:pRg st="6" end="6"/>
                                            </p:txEl>
                                          </p:spTgt>
                                        </p:tgtEl>
                                        <p:attrNameLst>
                                          <p:attrName>style.visibility</p:attrName>
                                        </p:attrNameLst>
                                      </p:cBhvr>
                                      <p:to>
                                        <p:strVal val="visible"/>
                                      </p:to>
                                    </p:set>
                                    <p:animEffect transition="in" filter="fade">
                                      <p:cBhvr>
                                        <p:cTn id="20" dur="500"/>
                                        <p:tgtEl>
                                          <p:spTgt spid="20486">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9638"/>
                                        </p:tgtEl>
                                        <p:attrNameLst>
                                          <p:attrName>style.visibility</p:attrName>
                                        </p:attrNameLst>
                                      </p:cBhvr>
                                      <p:to>
                                        <p:strVal val="visible"/>
                                      </p:to>
                                    </p:set>
                                    <p:animEffect transition="in" filter="fade">
                                      <p:cBhvr>
                                        <p:cTn id="25" dur="500"/>
                                        <p:tgtEl>
                                          <p:spTgt spid="6963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0486">
                                            <p:txEl>
                                              <p:pRg st="11" end="11"/>
                                            </p:txEl>
                                          </p:spTgt>
                                        </p:tgtEl>
                                        <p:attrNameLst>
                                          <p:attrName>style.visibility</p:attrName>
                                        </p:attrNameLst>
                                      </p:cBhvr>
                                      <p:to>
                                        <p:strVal val="visible"/>
                                      </p:to>
                                    </p:set>
                                    <p:animEffect transition="in" filter="fade">
                                      <p:cBhvr>
                                        <p:cTn id="30" dur="500"/>
                                        <p:tgtEl>
                                          <p:spTgt spid="20486">
                                            <p:txEl>
                                              <p:pRg st="11" end="1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486">
                                            <p:txEl>
                                              <p:pRg st="12" end="12"/>
                                            </p:txEl>
                                          </p:spTgt>
                                        </p:tgtEl>
                                        <p:attrNameLst>
                                          <p:attrName>style.visibility</p:attrName>
                                        </p:attrNameLst>
                                      </p:cBhvr>
                                      <p:to>
                                        <p:strVal val="visible"/>
                                      </p:to>
                                    </p:set>
                                    <p:animEffect transition="in" filter="fade">
                                      <p:cBhvr>
                                        <p:cTn id="35" dur="500"/>
                                        <p:tgtEl>
                                          <p:spTgt spid="20486">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5" name="Picture 4"/>
          <p:cNvPicPr>
            <a:picLocks noChangeAspect="1" noChangeArrowheads="1"/>
          </p:cNvPicPr>
          <p:nvPr/>
        </p:nvPicPr>
        <p:blipFill>
          <a:blip r:embed="rId1">
            <a:extLst>
              <a:ext uri="{28A0092B-C50C-407E-A947-70E740481C1C}">
                <a14:useLocalDpi xmlns:a14="http://schemas.microsoft.com/office/drawing/2010/main" val="0"/>
              </a:ext>
            </a:extLst>
          </a:blip>
          <a:srcRect t="56712" b="-2083"/>
          <a:stretch>
            <a:fillRect/>
          </a:stretch>
        </p:blipFill>
        <p:spPr bwMode="auto">
          <a:xfrm>
            <a:off x="2441223" y="48023"/>
            <a:ext cx="36957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2"/>
          <a:stretch>
            <a:fillRect/>
          </a:stretch>
        </p:blipFill>
        <p:spPr>
          <a:xfrm>
            <a:off x="314551" y="1317219"/>
            <a:ext cx="8877676" cy="2587824"/>
          </a:xfrm>
          <a:prstGeom prst="rect">
            <a:avLst/>
          </a:prstGeom>
        </p:spPr>
      </p:pic>
      <p:sp>
        <p:nvSpPr>
          <p:cNvPr id="2" name="矩形: 圆角 1"/>
          <p:cNvSpPr/>
          <p:nvPr/>
        </p:nvSpPr>
        <p:spPr>
          <a:xfrm>
            <a:off x="4348370" y="1317219"/>
            <a:ext cx="670891" cy="49170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4753389" y="2762346"/>
            <a:ext cx="3360810" cy="49170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473900" y="1908406"/>
            <a:ext cx="8670099" cy="55151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473900" y="3363275"/>
            <a:ext cx="7204078" cy="4619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5" name="Picture 4"/>
          <p:cNvPicPr>
            <a:picLocks noChangeAspect="1" noChangeArrowheads="1"/>
          </p:cNvPicPr>
          <p:nvPr/>
        </p:nvPicPr>
        <p:blipFill>
          <a:blip r:embed="rId1">
            <a:extLst>
              <a:ext uri="{28A0092B-C50C-407E-A947-70E740481C1C}">
                <a14:useLocalDpi xmlns:a14="http://schemas.microsoft.com/office/drawing/2010/main" val="0"/>
              </a:ext>
            </a:extLst>
          </a:blip>
          <a:srcRect t="56712" b="-2083"/>
          <a:stretch>
            <a:fillRect/>
          </a:stretch>
        </p:blipFill>
        <p:spPr bwMode="auto">
          <a:xfrm>
            <a:off x="2972967" y="58334"/>
            <a:ext cx="36957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2"/>
          <a:stretch>
            <a:fillRect/>
          </a:stretch>
        </p:blipFill>
        <p:spPr>
          <a:xfrm>
            <a:off x="314551" y="1317219"/>
            <a:ext cx="8877676" cy="2587824"/>
          </a:xfrm>
          <a:prstGeom prst="rect">
            <a:avLst/>
          </a:prstGeom>
        </p:spPr>
      </p:pic>
      <p:grpSp>
        <p:nvGrpSpPr>
          <p:cNvPr id="2" name="Group 5"/>
          <p:cNvGrpSpPr/>
          <p:nvPr/>
        </p:nvGrpSpPr>
        <p:grpSpPr bwMode="auto">
          <a:xfrm>
            <a:off x="2149268" y="3692386"/>
            <a:ext cx="5208242" cy="3219221"/>
            <a:chOff x="6450" y="4290"/>
            <a:chExt cx="3930" cy="2445"/>
          </a:xfrm>
        </p:grpSpPr>
        <p:sp>
          <p:nvSpPr>
            <p:cNvPr id="3" name="Text Box 6"/>
            <p:cNvSpPr txBox="1">
              <a:spLocks noChangeArrowheads="1"/>
            </p:cNvSpPr>
            <p:nvPr/>
          </p:nvSpPr>
          <p:spPr bwMode="auto">
            <a:xfrm>
              <a:off x="6450" y="6300"/>
              <a:ext cx="379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fontAlgn="base" hangingPunct="1">
                <a:spcBef>
                  <a:spcPct val="0"/>
                </a:spcBef>
                <a:spcAft>
                  <a:spcPct val="0"/>
                </a:spcAft>
                <a:defRPr/>
              </a:pPr>
              <a:r>
                <a:rPr lang="en-US" altLang="zh-CN" sz="2000" dirty="0">
                  <a:solidFill>
                    <a:srgbClr val="000000"/>
                  </a:solidFill>
                  <a:latin typeface="Times New Roman" panose="02020603050405020304" pitchFamily="18" charset="0"/>
                </a:rPr>
                <a:t>      Figure The relation between</a:t>
              </a:r>
              <a:r>
                <a:rPr lang="en-US" altLang="zh-CN" sz="2000" i="1" dirty="0">
                  <a:solidFill>
                    <a:srgbClr val="000000"/>
                  </a:solidFill>
                  <a:latin typeface="Times New Roman" panose="02020603050405020304" pitchFamily="18" charset="0"/>
                </a:rPr>
                <a:t> C </a:t>
              </a:r>
              <a:r>
                <a:rPr lang="en-US" altLang="zh-CN" sz="2000" dirty="0">
                  <a:solidFill>
                    <a:srgbClr val="000000"/>
                  </a:solidFill>
                  <a:latin typeface="Times New Roman" panose="02020603050405020304" pitchFamily="18" charset="0"/>
                </a:rPr>
                <a:t>and </a:t>
              </a:r>
              <a:r>
                <a:rPr lang="en-US" altLang="zh-CN" sz="2000" i="1" dirty="0">
                  <a:solidFill>
                    <a:srgbClr val="000000"/>
                  </a:solidFill>
                  <a:latin typeface="Times New Roman" panose="02020603050405020304" pitchFamily="18" charset="0"/>
                </a:rPr>
                <a:t>B</a:t>
              </a:r>
              <a:endParaRPr lang="zh-CN" altLang="en-US" sz="3200" i="1" dirty="0">
                <a:solidFill>
                  <a:srgbClr val="000000"/>
                </a:solidFill>
              </a:endParaRPr>
            </a:p>
          </p:txBody>
        </p:sp>
        <p:grpSp>
          <p:nvGrpSpPr>
            <p:cNvPr id="5" name="Group 7"/>
            <p:cNvGrpSpPr/>
            <p:nvPr/>
          </p:nvGrpSpPr>
          <p:grpSpPr bwMode="auto">
            <a:xfrm>
              <a:off x="6450" y="4290"/>
              <a:ext cx="3930" cy="2209"/>
              <a:chOff x="6450" y="4290"/>
              <a:chExt cx="3930" cy="2209"/>
            </a:xfrm>
          </p:grpSpPr>
          <p:pic>
            <p:nvPicPr>
              <p:cNvPr id="6" name="Picture 8" descr="有噪信道容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0" y="4428"/>
                <a:ext cx="2730" cy="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9"/>
              <p:cNvSpPr txBox="1">
                <a:spLocks noChangeArrowheads="1"/>
              </p:cNvSpPr>
              <p:nvPr/>
            </p:nvSpPr>
            <p:spPr bwMode="auto">
              <a:xfrm>
                <a:off x="6450" y="4935"/>
                <a:ext cx="720"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fontAlgn="base" hangingPunct="1">
                  <a:spcBef>
                    <a:spcPct val="0"/>
                  </a:spcBef>
                  <a:spcAft>
                    <a:spcPct val="0"/>
                  </a:spcAft>
                  <a:defRPr/>
                </a:pPr>
                <a:r>
                  <a:rPr lang="en-US" altLang="zh-CN" sz="2000" i="1">
                    <a:solidFill>
                      <a:srgbClr val="000000"/>
                    </a:solidFill>
                    <a:latin typeface="Times New Roman" panose="02020603050405020304" pitchFamily="18" charset="0"/>
                  </a:rPr>
                  <a:t>S</a:t>
                </a:r>
                <a:r>
                  <a:rPr lang="en-US" altLang="zh-CN" sz="2000">
                    <a:solidFill>
                      <a:srgbClr val="000000"/>
                    </a:solidFill>
                    <a:latin typeface="Times New Roman" panose="02020603050405020304" pitchFamily="18" charset="0"/>
                  </a:rPr>
                  <a:t>/</a:t>
                </a:r>
                <a:r>
                  <a:rPr lang="en-US" altLang="zh-CN" sz="2000" i="1">
                    <a:solidFill>
                      <a:srgbClr val="000000"/>
                    </a:solidFill>
                    <a:latin typeface="Times New Roman" panose="02020603050405020304" pitchFamily="18" charset="0"/>
                  </a:rPr>
                  <a:t>n</a:t>
                </a:r>
                <a:r>
                  <a:rPr lang="en-US" altLang="zh-CN" sz="2000" baseline="-25000">
                    <a:solidFill>
                      <a:srgbClr val="000000"/>
                    </a:solidFill>
                    <a:latin typeface="Times New Roman" panose="02020603050405020304" pitchFamily="18" charset="0"/>
                  </a:rPr>
                  <a:t>0</a:t>
                </a:r>
                <a:endParaRPr lang="en-US" altLang="zh-CN" sz="3600">
                  <a:solidFill>
                    <a:srgbClr val="000000"/>
                  </a:solidFill>
                </a:endParaRPr>
              </a:p>
            </p:txBody>
          </p:sp>
          <p:sp>
            <p:nvSpPr>
              <p:cNvPr id="8" name="Text Box 10"/>
              <p:cNvSpPr txBox="1">
                <a:spLocks noChangeArrowheads="1"/>
              </p:cNvSpPr>
              <p:nvPr/>
            </p:nvSpPr>
            <p:spPr bwMode="auto">
              <a:xfrm>
                <a:off x="7605" y="6049"/>
                <a:ext cx="720"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fontAlgn="base" hangingPunct="1">
                  <a:spcBef>
                    <a:spcPct val="0"/>
                  </a:spcBef>
                  <a:spcAft>
                    <a:spcPct val="0"/>
                  </a:spcAft>
                  <a:defRPr/>
                </a:pPr>
                <a:r>
                  <a:rPr lang="en-US" altLang="zh-CN" sz="2000" i="1" dirty="0">
                    <a:solidFill>
                      <a:srgbClr val="000000"/>
                    </a:solidFill>
                    <a:latin typeface="Times New Roman" panose="02020603050405020304" pitchFamily="18" charset="0"/>
                  </a:rPr>
                  <a:t>S</a:t>
                </a:r>
                <a:r>
                  <a:rPr lang="en-US" altLang="zh-CN" sz="2000" dirty="0">
                    <a:solidFill>
                      <a:srgbClr val="000000"/>
                    </a:solidFill>
                    <a:latin typeface="Times New Roman" panose="02020603050405020304" pitchFamily="18" charset="0"/>
                  </a:rPr>
                  <a:t>/</a:t>
                </a:r>
                <a:r>
                  <a:rPr lang="en-US" altLang="zh-CN" sz="2000" i="1" dirty="0">
                    <a:solidFill>
                      <a:srgbClr val="000000"/>
                    </a:solidFill>
                    <a:latin typeface="Times New Roman" panose="02020603050405020304" pitchFamily="18" charset="0"/>
                  </a:rPr>
                  <a:t>n</a:t>
                </a:r>
                <a:r>
                  <a:rPr lang="en-US" altLang="zh-CN" sz="2000" baseline="-25000" dirty="0">
                    <a:solidFill>
                      <a:srgbClr val="000000"/>
                    </a:solidFill>
                    <a:latin typeface="Times New Roman" panose="02020603050405020304" pitchFamily="18" charset="0"/>
                  </a:rPr>
                  <a:t>0</a:t>
                </a:r>
                <a:endParaRPr lang="en-US" altLang="zh-CN" sz="3600" dirty="0">
                  <a:solidFill>
                    <a:srgbClr val="000000"/>
                  </a:solidFill>
                </a:endParaRPr>
              </a:p>
            </p:txBody>
          </p:sp>
          <p:sp>
            <p:nvSpPr>
              <p:cNvPr id="9" name="Text Box 11"/>
              <p:cNvSpPr txBox="1">
                <a:spLocks noChangeArrowheads="1"/>
              </p:cNvSpPr>
              <p:nvPr/>
            </p:nvSpPr>
            <p:spPr bwMode="auto">
              <a:xfrm>
                <a:off x="9660" y="5865"/>
                <a:ext cx="720"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fontAlgn="base" hangingPunct="1">
                  <a:spcBef>
                    <a:spcPct val="0"/>
                  </a:spcBef>
                  <a:spcAft>
                    <a:spcPct val="0"/>
                  </a:spcAft>
                  <a:defRPr/>
                </a:pPr>
                <a:r>
                  <a:rPr lang="en-US" altLang="zh-CN" sz="2000" i="1">
                    <a:solidFill>
                      <a:srgbClr val="000000"/>
                    </a:solidFill>
                    <a:latin typeface="Times New Roman" panose="02020603050405020304" pitchFamily="18" charset="0"/>
                  </a:rPr>
                  <a:t>B</a:t>
                </a:r>
                <a:endParaRPr lang="en-US" altLang="zh-CN" sz="3600">
                  <a:solidFill>
                    <a:srgbClr val="000000"/>
                  </a:solidFill>
                </a:endParaRPr>
              </a:p>
            </p:txBody>
          </p:sp>
          <p:sp>
            <p:nvSpPr>
              <p:cNvPr id="11" name="Text Box 12"/>
              <p:cNvSpPr txBox="1">
                <a:spLocks noChangeArrowheads="1"/>
              </p:cNvSpPr>
              <p:nvPr/>
            </p:nvSpPr>
            <p:spPr bwMode="auto">
              <a:xfrm>
                <a:off x="6585" y="4290"/>
                <a:ext cx="720"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fontAlgn="base" hangingPunct="1">
                  <a:spcBef>
                    <a:spcPct val="0"/>
                  </a:spcBef>
                  <a:spcAft>
                    <a:spcPct val="0"/>
                  </a:spcAft>
                  <a:defRPr/>
                </a:pPr>
                <a:r>
                  <a:rPr lang="en-US" altLang="zh-CN" sz="2000" i="1">
                    <a:solidFill>
                      <a:srgbClr val="000000"/>
                    </a:solidFill>
                    <a:latin typeface="Times New Roman" panose="02020603050405020304" pitchFamily="18" charset="0"/>
                  </a:rPr>
                  <a:t>C</a:t>
                </a:r>
                <a:r>
                  <a:rPr lang="en-US" altLang="zh-CN" sz="2000" i="1" baseline="-25000">
                    <a:solidFill>
                      <a:srgbClr val="000000"/>
                    </a:solidFill>
                    <a:latin typeface="Times New Roman" panose="02020603050405020304" pitchFamily="18" charset="0"/>
                  </a:rPr>
                  <a:t>t</a:t>
                </a:r>
                <a:endParaRPr lang="en-US" altLang="zh-CN" sz="3600">
                  <a:solidFill>
                    <a:srgbClr val="000000"/>
                  </a:solidFill>
                </a:endParaRPr>
              </a:p>
            </p:txBody>
          </p:sp>
          <p:sp>
            <p:nvSpPr>
              <p:cNvPr id="12" name="Text Box 13"/>
              <p:cNvSpPr txBox="1">
                <a:spLocks noChangeArrowheads="1"/>
              </p:cNvSpPr>
              <p:nvPr/>
            </p:nvSpPr>
            <p:spPr bwMode="auto">
              <a:xfrm>
                <a:off x="7654" y="4428"/>
                <a:ext cx="1275"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fontAlgn="base" hangingPunct="1">
                  <a:spcBef>
                    <a:spcPct val="0"/>
                  </a:spcBef>
                  <a:spcAft>
                    <a:spcPct val="0"/>
                  </a:spcAft>
                  <a:defRPr/>
                </a:pPr>
                <a:r>
                  <a:rPr lang="en-US" altLang="zh-CN" sz="2000" dirty="0">
                    <a:solidFill>
                      <a:srgbClr val="000000"/>
                    </a:solidFill>
                    <a:latin typeface="Times New Roman" panose="02020603050405020304" pitchFamily="18" charset="0"/>
                  </a:rPr>
                  <a:t>1.44(</a:t>
                </a:r>
                <a:r>
                  <a:rPr lang="en-US" altLang="zh-CN" sz="2000" i="1" dirty="0">
                    <a:solidFill>
                      <a:srgbClr val="000000"/>
                    </a:solidFill>
                    <a:latin typeface="Times New Roman" panose="02020603050405020304" pitchFamily="18" charset="0"/>
                  </a:rPr>
                  <a:t>S</a:t>
                </a:r>
                <a:r>
                  <a:rPr lang="en-US" altLang="zh-CN" sz="2000" dirty="0">
                    <a:solidFill>
                      <a:srgbClr val="000000"/>
                    </a:solidFill>
                    <a:latin typeface="Times New Roman" panose="02020603050405020304" pitchFamily="18" charset="0"/>
                  </a:rPr>
                  <a:t>/</a:t>
                </a:r>
                <a:r>
                  <a:rPr lang="en-US" altLang="zh-CN" sz="2000" i="1" dirty="0">
                    <a:solidFill>
                      <a:srgbClr val="000000"/>
                    </a:solidFill>
                    <a:latin typeface="Times New Roman" panose="02020603050405020304" pitchFamily="18" charset="0"/>
                  </a:rPr>
                  <a:t>n</a:t>
                </a:r>
                <a:r>
                  <a:rPr lang="en-US" altLang="zh-CN" sz="2000" baseline="-25000" dirty="0">
                    <a:solidFill>
                      <a:srgbClr val="000000"/>
                    </a:solidFill>
                    <a:latin typeface="Times New Roman" panose="02020603050405020304" pitchFamily="18" charset="0"/>
                  </a:rPr>
                  <a:t>0</a:t>
                </a:r>
                <a:r>
                  <a:rPr lang="en-US" altLang="zh-CN" sz="2000" dirty="0">
                    <a:solidFill>
                      <a:srgbClr val="000000"/>
                    </a:solidFill>
                    <a:latin typeface="Times New Roman" panose="02020603050405020304" pitchFamily="18" charset="0"/>
                  </a:rPr>
                  <a:t>)</a:t>
                </a:r>
                <a:endParaRPr lang="en-US" altLang="zh-CN" sz="3600" dirty="0">
                  <a:solidFill>
                    <a:srgbClr val="000000"/>
                  </a:solidFill>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3899800" y="3905043"/>
            <a:ext cx="4214399" cy="979818"/>
          </a:xfrm>
          <a:prstGeom prst="rect">
            <a:avLst/>
          </a:prstGeom>
        </p:spPr>
      </p:pic>
      <p:graphicFrame>
        <p:nvGraphicFramePr>
          <p:cNvPr id="119815" name="Object 7"/>
          <p:cNvGraphicFramePr>
            <a:graphicFrameLocks noChangeAspect="1"/>
          </p:cNvGraphicFramePr>
          <p:nvPr/>
        </p:nvGraphicFramePr>
        <p:xfrm>
          <a:off x="1612209" y="4595938"/>
          <a:ext cx="1887538" cy="447675"/>
        </p:xfrm>
        <a:graphic>
          <a:graphicData uri="http://schemas.openxmlformats.org/presentationml/2006/ole">
            <mc:AlternateContent xmlns:mc="http://schemas.openxmlformats.org/markup-compatibility/2006">
              <mc:Choice xmlns:v="urn:schemas-microsoft-com:vml" Requires="v">
                <p:oleObj spid="_x0000_s0" name="Equation" r:id="rId2" imgW="965200" imgH="228600" progId="Equation.DSMT4">
                  <p:embed/>
                </p:oleObj>
              </mc:Choice>
              <mc:Fallback>
                <p:oleObj name="Equation" r:id="rId2" imgW="965200" imgH="22860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2209" y="4595938"/>
                        <a:ext cx="1887538" cy="447675"/>
                      </a:xfrm>
                      <a:prstGeom prst="rect">
                        <a:avLst/>
                      </a:prstGeom>
                      <a:noFill/>
                      <a:ln w="9525">
                        <a:solidFill>
                          <a:srgbClr val="66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3D3D99"/>
                              </a:outerShdw>
                            </a:effectLst>
                          </a14:hiddenEffects>
                        </a:ext>
                      </a:extLst>
                    </p:spPr>
                  </p:pic>
                </p:oleObj>
              </mc:Fallback>
            </mc:AlternateContent>
          </a:graphicData>
        </a:graphic>
      </p:graphicFrame>
      <p:sp>
        <p:nvSpPr>
          <p:cNvPr id="22" name="矩形 21"/>
          <p:cNvSpPr>
            <a:spLocks noChangeArrowheads="1"/>
          </p:cNvSpPr>
          <p:nvPr/>
        </p:nvSpPr>
        <p:spPr bwMode="auto">
          <a:xfrm>
            <a:off x="364436" y="4062538"/>
            <a:ext cx="13324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solidFill>
                  <a:srgbClr val="0000CC"/>
                </a:solidFill>
              </a:rPr>
              <a:t>Example</a:t>
            </a:r>
            <a:endParaRPr lang="zh-CN" altLang="en-US" dirty="0"/>
          </a:p>
        </p:txBody>
      </p:sp>
      <p:sp>
        <p:nvSpPr>
          <p:cNvPr id="24" name="左大括号 23"/>
          <p:cNvSpPr/>
          <p:nvPr/>
        </p:nvSpPr>
        <p:spPr bwMode="auto">
          <a:xfrm>
            <a:off x="3564836" y="4462586"/>
            <a:ext cx="269875" cy="844550"/>
          </a:xfrm>
          <a:prstGeom prst="leftBrace">
            <a:avLst>
              <a:gd name="adj1" fmla="val 8331"/>
              <a:gd name="adj2" fmla="val 50000"/>
            </a:avLst>
          </a:prstGeom>
          <a:noFill/>
          <a:ln w="28575" algn="ctr">
            <a:solidFill>
              <a:srgbClr val="0000CC"/>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0000CC"/>
              </a:solidFill>
            </a:endParaRPr>
          </a:p>
        </p:txBody>
      </p:sp>
      <p:pic>
        <p:nvPicPr>
          <p:cNvPr id="73735" name="Picture 4"/>
          <p:cNvPicPr>
            <a:picLocks noChangeAspect="1" noChangeArrowheads="1"/>
          </p:cNvPicPr>
          <p:nvPr/>
        </p:nvPicPr>
        <p:blipFill>
          <a:blip r:embed="rId4">
            <a:extLst>
              <a:ext uri="{28A0092B-C50C-407E-A947-70E740481C1C}">
                <a14:useLocalDpi xmlns:a14="http://schemas.microsoft.com/office/drawing/2010/main" val="0"/>
              </a:ext>
            </a:extLst>
          </a:blip>
          <a:srcRect t="56712" b="-2083"/>
          <a:stretch>
            <a:fillRect/>
          </a:stretch>
        </p:blipFill>
        <p:spPr bwMode="auto">
          <a:xfrm>
            <a:off x="2441223" y="48023"/>
            <a:ext cx="36957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5"/>
          <a:stretch>
            <a:fillRect/>
          </a:stretch>
        </p:blipFill>
        <p:spPr>
          <a:xfrm>
            <a:off x="314551" y="1317219"/>
            <a:ext cx="8877676" cy="2587824"/>
          </a:xfrm>
          <a:prstGeom prst="rect">
            <a:avLst/>
          </a:prstGeom>
        </p:spPr>
      </p:pic>
      <p:pic>
        <p:nvPicPr>
          <p:cNvPr id="15" name="图片 14"/>
          <p:cNvPicPr>
            <a:picLocks noChangeAspect="1"/>
          </p:cNvPicPr>
          <p:nvPr/>
        </p:nvPicPr>
        <p:blipFill>
          <a:blip r:embed="rId6"/>
          <a:stretch>
            <a:fillRect/>
          </a:stretch>
        </p:blipFill>
        <p:spPr>
          <a:xfrm>
            <a:off x="3984810" y="4827903"/>
            <a:ext cx="3930697" cy="831493"/>
          </a:xfrm>
          <a:prstGeom prst="rect">
            <a:avLst/>
          </a:prstGeom>
        </p:spPr>
      </p:pic>
      <p:cxnSp>
        <p:nvCxnSpPr>
          <p:cNvPr id="18" name="直接连接符 17"/>
          <p:cNvCxnSpPr/>
          <p:nvPr/>
        </p:nvCxnSpPr>
        <p:spPr>
          <a:xfrm>
            <a:off x="100859" y="3918050"/>
            <a:ext cx="9091368" cy="0"/>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21" name="文本框 20"/>
          <p:cNvSpPr txBox="1"/>
          <p:nvPr/>
        </p:nvSpPr>
        <p:spPr>
          <a:xfrm>
            <a:off x="658467" y="5659396"/>
            <a:ext cx="7113931" cy="954107"/>
          </a:xfrm>
          <a:prstGeom prst="rect">
            <a:avLst/>
          </a:prstGeom>
          <a:noFill/>
        </p:spPr>
        <p:txBody>
          <a:bodyPr wrap="square">
            <a:spAutoFit/>
          </a:bodyPr>
          <a:lstStyle/>
          <a:p>
            <a:r>
              <a:rPr lang="zh-CN" altLang="zh-CN" sz="2800" b="1" dirty="0">
                <a:solidFill>
                  <a:srgbClr val="FF0000"/>
                </a:solidFill>
              </a:rPr>
              <a:t>Conclusion:</a:t>
            </a:r>
            <a:r>
              <a:rPr lang="en-US" altLang="zh-CN" sz="2800" b="1" dirty="0">
                <a:solidFill>
                  <a:srgbClr val="FF0000"/>
                </a:solidFill>
              </a:rPr>
              <a:t>B </a:t>
            </a:r>
            <a:r>
              <a:rPr lang="zh-CN" altLang="zh-CN" sz="2800" b="1" dirty="0">
                <a:solidFill>
                  <a:srgbClr val="FF0000"/>
                </a:solidFill>
              </a:rPr>
              <a:t>and </a:t>
            </a:r>
            <a:r>
              <a:rPr lang="en-US" altLang="zh-CN" sz="2800" b="1" dirty="0">
                <a:solidFill>
                  <a:srgbClr val="FF0000"/>
                </a:solidFill>
              </a:rPr>
              <a:t>S/N </a:t>
            </a:r>
            <a:r>
              <a:rPr lang="zh-CN" altLang="zh-CN" sz="2800" b="1" dirty="0">
                <a:solidFill>
                  <a:srgbClr val="FF0000"/>
                </a:solidFill>
              </a:rPr>
              <a:t>can be traded off.</a:t>
            </a:r>
            <a:endParaRPr lang="en-US" altLang="zh-CN" sz="2800" b="1" dirty="0">
              <a:solidFill>
                <a:srgbClr val="FF0000"/>
              </a:solidFill>
            </a:endParaRPr>
          </a:p>
          <a:p>
            <a:r>
              <a:rPr lang="zh-CN" altLang="en-US" sz="2800" b="1" dirty="0"/>
              <a:t>                    带宽和信噪比可以互换</a:t>
            </a:r>
            <a:endParaRPr lang="zh-CN" altLang="en-US" sz="2800" b="1" dirty="0"/>
          </a:p>
        </p:txBody>
      </p:sp>
      <p:sp>
        <p:nvSpPr>
          <p:cNvPr id="3" name="文本框 2"/>
          <p:cNvSpPr txBox="1"/>
          <p:nvPr/>
        </p:nvSpPr>
        <p:spPr>
          <a:xfrm>
            <a:off x="4845327" y="5386201"/>
            <a:ext cx="4601816" cy="369332"/>
          </a:xfrm>
          <a:prstGeom prst="rect">
            <a:avLst/>
          </a:prstGeom>
          <a:noFill/>
        </p:spPr>
        <p:txBody>
          <a:bodyPr wrap="square">
            <a:spAutoFit/>
          </a:bodyPr>
          <a:lstStyle/>
          <a:p>
            <a:r>
              <a:rPr lang="zh-CN" altLang="zh-CN" dirty="0"/>
              <a:t>Reduce the requirement </a:t>
            </a:r>
            <a:r>
              <a:rPr lang="zh-CN" altLang="zh-CN" b="1" dirty="0"/>
              <a:t>on</a:t>
            </a:r>
            <a:r>
              <a:rPr lang="zh-CN" altLang="zh-CN" dirty="0"/>
              <a:t> SNR</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98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animBg="1"/>
      <p:bldP spid="21"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0" y="-33665"/>
            <a:ext cx="9144000" cy="821199"/>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defPPr>
              <a:defRPr lang="en-US"/>
            </a:defPPr>
            <a:lvl1pPr fontAlgn="base">
              <a:lnSpc>
                <a:spcPct val="100000"/>
              </a:lnSpc>
              <a:spcBef>
                <a:spcPct val="0"/>
              </a:spcBef>
              <a:spcAft>
                <a:spcPct val="0"/>
              </a:spcAft>
              <a:buNone/>
              <a:defRPr sz="3200" b="1">
                <a:solidFill>
                  <a:prstClr val="black"/>
                </a:solidFill>
                <a:latin typeface="Times New Roman" panose="02020603050405020304" pitchFamily="18" charset="0"/>
                <a:ea typeface="等线 Light" panose="02010600030101010101" pitchFamily="2" charset="-122"/>
                <a:cs typeface="Times New Roman" panose="02020603050405020304" pitchFamily="18" charset="0"/>
              </a:defRPr>
            </a:lvl1pPr>
          </a:lstStyle>
          <a:p>
            <a:endParaRPr lang="zh-CN" altLang="en-US" dirty="0"/>
          </a:p>
        </p:txBody>
      </p:sp>
      <p:sp>
        <p:nvSpPr>
          <p:cNvPr id="8" name="文本框 7"/>
          <p:cNvSpPr txBox="1"/>
          <p:nvPr/>
        </p:nvSpPr>
        <p:spPr>
          <a:xfrm>
            <a:off x="97641" y="43237"/>
            <a:ext cx="8761343" cy="769441"/>
          </a:xfrm>
          <a:prstGeom prst="rect">
            <a:avLst/>
          </a:prstGeom>
          <a:noFill/>
        </p:spPr>
        <p:txBody>
          <a:bodyPr wrap="square" rtlCol="0">
            <a:spAutoFit/>
          </a:bodyPr>
          <a:lstStyle/>
          <a:p>
            <a:r>
              <a:rPr lang="zh-CN" altLang="en-US" sz="4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zh-CN" sz="4400" dirty="0"/>
              <a:t>3.4 Channel capacity——</a:t>
            </a:r>
            <a:r>
              <a:rPr lang="en-US" altLang="zh-CN" sz="4400" b="1" dirty="0">
                <a:ln w="12700">
                  <a:solidFill>
                    <a:schemeClr val="accent1"/>
                  </a:solidFill>
                  <a:prstDash val="solid"/>
                </a:ln>
                <a:solidFill>
                  <a:schemeClr val="bg1"/>
                </a:solidFill>
                <a:effectLst>
                  <a:outerShdw dist="38100" dir="2640000" algn="bl" rotWithShape="0">
                    <a:schemeClr val="accent1"/>
                  </a:outerShdw>
                </a:effectLst>
              </a:rPr>
              <a:t>Examples</a:t>
            </a:r>
            <a:endParaRPr lang="zh-CN" altLang="en-US" sz="4400" dirty="0">
              <a:solidFill>
                <a:schemeClr val="bg1"/>
              </a:solidFill>
            </a:endParaRPr>
          </a:p>
        </p:txBody>
      </p:sp>
      <p:pic>
        <p:nvPicPr>
          <p:cNvPr id="3" name="图片 2"/>
          <p:cNvPicPr>
            <a:picLocks noChangeAspect="1"/>
          </p:cNvPicPr>
          <p:nvPr/>
        </p:nvPicPr>
        <p:blipFill>
          <a:blip r:embed="rId1"/>
          <a:stretch>
            <a:fillRect/>
          </a:stretch>
        </p:blipFill>
        <p:spPr>
          <a:xfrm>
            <a:off x="33129" y="986325"/>
            <a:ext cx="9144000" cy="2218739"/>
          </a:xfrm>
          <a:prstGeom prst="rect">
            <a:avLst/>
          </a:prstGeom>
        </p:spPr>
      </p:pic>
      <p:pic>
        <p:nvPicPr>
          <p:cNvPr id="11" name="图片 10"/>
          <p:cNvPicPr>
            <a:picLocks noChangeAspect="1"/>
          </p:cNvPicPr>
          <p:nvPr/>
        </p:nvPicPr>
        <p:blipFill>
          <a:blip r:embed="rId2"/>
          <a:stretch>
            <a:fillRect/>
          </a:stretch>
        </p:blipFill>
        <p:spPr>
          <a:xfrm>
            <a:off x="4293544" y="2793354"/>
            <a:ext cx="1717972" cy="372797"/>
          </a:xfrm>
          <a:prstGeom prst="rect">
            <a:avLst/>
          </a:prstGeom>
          <a:ln w="15875">
            <a:solidFill>
              <a:srgbClr val="00B05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0" y="-33665"/>
            <a:ext cx="9144000" cy="821199"/>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defPPr>
              <a:defRPr lang="en-US"/>
            </a:defPPr>
            <a:lvl1pPr fontAlgn="base">
              <a:lnSpc>
                <a:spcPct val="100000"/>
              </a:lnSpc>
              <a:spcBef>
                <a:spcPct val="0"/>
              </a:spcBef>
              <a:spcAft>
                <a:spcPct val="0"/>
              </a:spcAft>
              <a:buNone/>
              <a:defRPr sz="3200" b="1">
                <a:solidFill>
                  <a:prstClr val="black"/>
                </a:solidFill>
                <a:latin typeface="Times New Roman" panose="02020603050405020304" pitchFamily="18" charset="0"/>
                <a:ea typeface="等线 Light" panose="02010600030101010101" pitchFamily="2" charset="-122"/>
                <a:cs typeface="Times New Roman" panose="02020603050405020304" pitchFamily="18" charset="0"/>
              </a:defRPr>
            </a:lvl1pPr>
          </a:lstStyle>
          <a:p>
            <a:endParaRPr lang="zh-CN" altLang="en-US" dirty="0"/>
          </a:p>
        </p:txBody>
      </p:sp>
      <p:sp>
        <p:nvSpPr>
          <p:cNvPr id="8" name="文本框 7"/>
          <p:cNvSpPr txBox="1"/>
          <p:nvPr/>
        </p:nvSpPr>
        <p:spPr>
          <a:xfrm>
            <a:off x="97641" y="43237"/>
            <a:ext cx="8761343" cy="769441"/>
          </a:xfrm>
          <a:prstGeom prst="rect">
            <a:avLst/>
          </a:prstGeom>
          <a:noFill/>
        </p:spPr>
        <p:txBody>
          <a:bodyPr wrap="square" rtlCol="0">
            <a:spAutoFit/>
          </a:bodyPr>
          <a:lstStyle/>
          <a:p>
            <a:r>
              <a:rPr lang="zh-CN" altLang="en-US" sz="4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zh-CN" sz="4400" dirty="0"/>
              <a:t>3.4 Channel capacity——</a:t>
            </a:r>
            <a:r>
              <a:rPr lang="en-US" altLang="zh-CN" sz="4400" b="1" dirty="0">
                <a:ln w="12700">
                  <a:solidFill>
                    <a:schemeClr val="accent1"/>
                  </a:solidFill>
                  <a:prstDash val="solid"/>
                </a:ln>
                <a:solidFill>
                  <a:schemeClr val="bg1"/>
                </a:solidFill>
                <a:effectLst>
                  <a:outerShdw dist="38100" dir="2640000" algn="bl" rotWithShape="0">
                    <a:schemeClr val="accent1"/>
                  </a:outerShdw>
                </a:effectLst>
              </a:rPr>
              <a:t>Examples</a:t>
            </a:r>
            <a:endParaRPr lang="zh-CN" altLang="en-US" sz="4400" dirty="0">
              <a:solidFill>
                <a:schemeClr val="bg1"/>
              </a:solidFill>
            </a:endParaRPr>
          </a:p>
        </p:txBody>
      </p:sp>
      <p:pic>
        <p:nvPicPr>
          <p:cNvPr id="4" name="图片 3"/>
          <p:cNvPicPr>
            <a:picLocks noChangeAspect="1"/>
          </p:cNvPicPr>
          <p:nvPr/>
        </p:nvPicPr>
        <p:blipFill>
          <a:blip r:embed="rId1"/>
          <a:stretch>
            <a:fillRect/>
          </a:stretch>
        </p:blipFill>
        <p:spPr>
          <a:xfrm>
            <a:off x="-39757" y="956235"/>
            <a:ext cx="9144000" cy="1681378"/>
          </a:xfrm>
          <a:prstGeom prst="rect">
            <a:avLst/>
          </a:prstGeom>
        </p:spPr>
      </p:pic>
      <p:cxnSp>
        <p:nvCxnSpPr>
          <p:cNvPr id="3" name="直接连接符 2"/>
          <p:cNvCxnSpPr/>
          <p:nvPr/>
        </p:nvCxnSpPr>
        <p:spPr>
          <a:xfrm>
            <a:off x="97641" y="1997765"/>
            <a:ext cx="1716250"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2"/>
          <a:stretch>
            <a:fillRect/>
          </a:stretch>
        </p:blipFill>
        <p:spPr>
          <a:xfrm>
            <a:off x="587141" y="2865361"/>
            <a:ext cx="7443675" cy="319014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99389" y="167095"/>
            <a:ext cx="9044611" cy="4078605"/>
          </a:xfrm>
          <a:prstGeom prst="rect">
            <a:avLst/>
          </a:prstGeom>
          <a:noFill/>
        </p:spPr>
        <p:txBody>
          <a:bodyPr wrap="squar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3  </a:t>
            </a:r>
            <a:r>
              <a:rPr lang="en-US" altLang="zh-CN" sz="2400" b="1" dirty="0">
                <a:latin typeface="Times New Roman" panose="02020603050405020304" pitchFamily="18" charset="0"/>
                <a:cs typeface="Times New Roman" panose="02020603050405020304" pitchFamily="18" charset="0"/>
              </a:rPr>
              <a:t>(25</a:t>
            </a:r>
            <a:r>
              <a:rPr lang="zh-CN" altLang="en-US" sz="2400" b="1" dirty="0">
                <a:latin typeface="Times New Roman" panose="02020603050405020304" pitchFamily="18" charset="0"/>
                <a:cs typeface="Times New Roman" panose="02020603050405020304" pitchFamily="18" charset="0"/>
              </a:rPr>
              <a:t>年期末</a:t>
            </a:r>
            <a:r>
              <a:rPr lang="en-US" altLang="zh-CN" sz="2400" b="1"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A geosynchronous satellite同步卫星 communication link has a carrier frequency of 14 GHz, the system bandwidth is 36 MHz between the transmitter and the receiver, and a signal to-noise ratio (SNR) of 30dB at the receiver.① </a:t>
            </a:r>
            <a:r>
              <a:rPr lang="en-US" altLang="zh-CN" sz="2400" dirty="0">
                <a:latin typeface="Times New Roman" panose="02020603050405020304" pitchFamily="18" charset="0"/>
                <a:cs typeface="Times New Roman" panose="02020603050405020304" pitchFamily="18" charset="0"/>
                <a:sym typeface="+mn-ea"/>
              </a:rPr>
              <a:t>Calculate the channel capacity.</a:t>
            </a: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zh-CN" altLang="zh-CN" sz="2400" dirty="0">
                <a:latin typeface="Times New Roman" panose="02020603050405020304" pitchFamily="18" charset="0"/>
                <a:cs typeface="Times New Roman" panose="02020603050405020304" pitchFamily="18" charset="0"/>
              </a:rPr>
              <a:t>(提示: The SNR in dB must first be converted to a linear value.)</a:t>
            </a:r>
            <a:endParaRPr lang="zh-CN" altLang="zh-CN" sz="2400" dirty="0">
              <a:latin typeface="Times New Roman" panose="02020603050405020304" pitchFamily="18" charset="0"/>
              <a:cs typeface="Times New Roman" panose="02020603050405020304" pitchFamily="18" charset="0"/>
            </a:endParaRPr>
          </a:p>
          <a:p>
            <a:pPr>
              <a:lnSpc>
                <a:spcPct val="120000"/>
              </a:lnSpc>
            </a:pPr>
            <a:r>
              <a:rPr lang="zh-CN" altLang="zh-CN" sz="2400" dirty="0">
                <a:latin typeface="Times New Roman" panose="02020603050405020304" pitchFamily="18" charset="0"/>
                <a:cs typeface="Times New Roman" panose="02020603050405020304" pitchFamily="18" charset="0"/>
              </a:rPr>
              <a:t>②If the satellite communication link is affected by space rain attenuation, resulting in the receiver SNR dropping to 10dB while the bandwidth remains unchanged, how will the channel capacity change, calculate it.</a:t>
            </a:r>
            <a:endParaRPr lang="zh-CN" altLang="zh-C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7504" y="555498"/>
            <a:ext cx="8328992" cy="2270558"/>
          </a:xfrm>
          <a:prstGeom prst="rect">
            <a:avLst/>
          </a:prstGeom>
          <a:noFill/>
        </p:spPr>
        <p:txBody>
          <a:bodyPr wrap="square">
            <a:spAutoFit/>
          </a:bodyPr>
          <a:lstStyle/>
          <a:p>
            <a:pPr>
              <a:lnSpc>
                <a:spcPct val="120000"/>
              </a:lnSpc>
            </a:pPr>
            <a:r>
              <a:rPr lang="zh-CN" altLang="zh-CN" sz="2400" dirty="0">
                <a:latin typeface="Times New Roman" panose="02020603050405020304" pitchFamily="18" charset="0"/>
                <a:cs typeface="Times New Roman" panose="02020603050405020304" pitchFamily="18" charset="0"/>
              </a:rPr>
              <a:t>③What intuitive impact(影响) does this change have on the service bearing capacity(服务承载能力) of satellite communication (e.g., high-definition video transmission高清视频传输, large data backhaul大数据回传)? 即简单讨论对通信服务质量的影响。</a:t>
            </a:r>
            <a:endParaRPr lang="zh-CN" altLang="zh-C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1518" y="1381013"/>
            <a:ext cx="8695953" cy="5715525"/>
          </a:xfrm>
        </p:spPr>
        <p:txBody>
          <a:bodyPr>
            <a:normAutofit/>
          </a:bodyPr>
          <a:lstStyle/>
          <a:p>
            <a:r>
              <a:rPr lang="en-US" altLang="zh-CN" sz="2400" dirty="0">
                <a:solidFill>
                  <a:srgbClr val="00B050"/>
                </a:solidFill>
                <a:latin typeface="Times New Roman" panose="02020603050405020304" pitchFamily="18" charset="0"/>
                <a:cs typeface="Times New Roman" panose="02020603050405020304" pitchFamily="18" charset="0"/>
              </a:rPr>
              <a:t>Definition</a:t>
            </a:r>
            <a:endParaRPr lang="en-US" altLang="zh-CN" sz="2400" dirty="0">
              <a:solidFill>
                <a:srgbClr val="00B050"/>
              </a:solidFill>
              <a:latin typeface="Times New Roman" panose="02020603050405020304" pitchFamily="18" charset="0"/>
              <a:cs typeface="Times New Roman" panose="02020603050405020304" pitchFamily="18" charset="0"/>
            </a:endParaRPr>
          </a:p>
          <a:p>
            <a:r>
              <a:rPr lang="en-US" altLang="zh-CN" sz="2400" dirty="0">
                <a:solidFill>
                  <a:srgbClr val="00B050"/>
                </a:solidFill>
                <a:latin typeface="Times New Roman" panose="02020603050405020304" pitchFamily="18" charset="0"/>
                <a:cs typeface="Times New Roman" panose="02020603050405020304" pitchFamily="18" charset="0"/>
              </a:rPr>
              <a:t>Discrete </a:t>
            </a:r>
            <a:r>
              <a:rPr lang="en-US" altLang="zh-CN" sz="2400" dirty="0">
                <a:solidFill>
                  <a:srgbClr val="00B050"/>
                </a:solidFill>
                <a:latin typeface="Times New Roman" panose="02020603050405020304" pitchFamily="18" charset="0"/>
                <a:ea typeface="等线 Light" panose="02010600030101010101" pitchFamily="2" charset="-122"/>
                <a:cs typeface="Times New Roman" panose="02020603050405020304" pitchFamily="18" charset="0"/>
                <a:sym typeface="+mn-ea"/>
              </a:rPr>
              <a:t>Channel Capacity    </a:t>
            </a:r>
            <a:r>
              <a:rPr lang="zh-CN" altLang="en-US" sz="2400" dirty="0">
                <a:solidFill>
                  <a:srgbClr val="00B050"/>
                </a:solidFill>
                <a:latin typeface="Times New Roman" panose="02020603050405020304" pitchFamily="18" charset="0"/>
                <a:ea typeface="等线 Light" panose="02010600030101010101" pitchFamily="2" charset="-122"/>
                <a:cs typeface="Times New Roman" panose="02020603050405020304" pitchFamily="18" charset="0"/>
                <a:sym typeface="+mn-ea"/>
              </a:rPr>
              <a:t>离散信道容量</a:t>
            </a:r>
            <a:endParaRPr lang="en-US" altLang="zh-CN" sz="2400" dirty="0">
              <a:solidFill>
                <a:srgbClr val="00B050"/>
              </a:solidFill>
              <a:latin typeface="Times New Roman" panose="02020603050405020304" pitchFamily="18" charset="0"/>
              <a:cs typeface="Times New Roman" panose="02020603050405020304" pitchFamily="18" charset="0"/>
            </a:endParaRPr>
          </a:p>
          <a:p>
            <a:r>
              <a:rPr lang="en-US" altLang="zh-CN" sz="2400" dirty="0">
                <a:solidFill>
                  <a:srgbClr val="00B050"/>
                </a:solidFill>
                <a:latin typeface="Times New Roman" panose="02020603050405020304" pitchFamily="18" charset="0"/>
                <a:cs typeface="Times New Roman" panose="02020603050405020304" pitchFamily="18" charset="0"/>
              </a:rPr>
              <a:t>Continous </a:t>
            </a:r>
            <a:r>
              <a:rPr lang="en-US" altLang="zh-CN" sz="2400" dirty="0">
                <a:solidFill>
                  <a:srgbClr val="00B050"/>
                </a:solidFill>
                <a:latin typeface="Times New Roman" panose="02020603050405020304" pitchFamily="18" charset="0"/>
                <a:ea typeface="等线 Light" panose="02010600030101010101" pitchFamily="2" charset="-122"/>
                <a:cs typeface="Times New Roman" panose="02020603050405020304" pitchFamily="18" charset="0"/>
                <a:sym typeface="+mn-ea"/>
              </a:rPr>
              <a:t>Channel Capacity </a:t>
            </a:r>
            <a:r>
              <a:rPr lang="zh-CN" altLang="en-US" sz="2400" dirty="0">
                <a:solidFill>
                  <a:srgbClr val="00B050"/>
                </a:solidFill>
                <a:latin typeface="Times New Roman" panose="02020603050405020304" pitchFamily="18" charset="0"/>
                <a:ea typeface="等线 Light" panose="02010600030101010101" pitchFamily="2" charset="-122"/>
                <a:cs typeface="Times New Roman" panose="02020603050405020304" pitchFamily="18" charset="0"/>
                <a:sym typeface="+mn-ea"/>
              </a:rPr>
              <a:t>连续信道容量</a:t>
            </a:r>
            <a:endParaRPr lang="zh-CN" altLang="zh-CN" sz="2400" dirty="0">
              <a:solidFill>
                <a:srgbClr val="00B050"/>
              </a:solidFill>
              <a:latin typeface="Times New Roman" panose="02020603050405020304" pitchFamily="18" charset="0"/>
              <a:cs typeface="Times New Roman" panose="02020603050405020304" pitchFamily="18" charset="0"/>
            </a:endParaRPr>
          </a:p>
          <a:p>
            <a:r>
              <a:rPr lang="en-US" altLang="zh-CN" sz="2400" dirty="0">
                <a:solidFill>
                  <a:srgbClr val="00B050"/>
                </a:solidFill>
                <a:latin typeface="Times New Roman" panose="02020603050405020304" pitchFamily="18" charset="0"/>
                <a:cs typeface="Times New Roman" panose="02020603050405020304" pitchFamily="18" charset="0"/>
              </a:rPr>
              <a:t>Examples</a:t>
            </a:r>
            <a:endParaRPr lang="en-US" altLang="zh-CN" sz="2400" dirty="0">
              <a:solidFill>
                <a:srgbClr val="00B050"/>
              </a:solidFill>
              <a:latin typeface="Times New Roman" panose="02020603050405020304" pitchFamily="18" charset="0"/>
              <a:cs typeface="Times New Roman" panose="02020603050405020304" pitchFamily="18" charset="0"/>
            </a:endParaRPr>
          </a:p>
          <a:p>
            <a:r>
              <a:rPr lang="en-US" altLang="zh-CN" sz="2400" b="1" dirty="0">
                <a:solidFill>
                  <a:srgbClr val="FF0000"/>
                </a:solidFill>
                <a:latin typeface="Times New Roman" panose="02020603050405020304" pitchFamily="18" charset="0"/>
                <a:cs typeface="Times New Roman" panose="02020603050405020304" pitchFamily="18" charset="0"/>
              </a:rPr>
              <a:t>Extension </a:t>
            </a:r>
            <a:r>
              <a:rPr lang="zh-CN" altLang="en-US" sz="2400" b="1" dirty="0">
                <a:solidFill>
                  <a:srgbClr val="FF0000"/>
                </a:solidFill>
                <a:latin typeface="Times New Roman" panose="02020603050405020304" pitchFamily="18" charset="0"/>
                <a:cs typeface="Times New Roman" panose="02020603050405020304" pitchFamily="18" charset="0"/>
              </a:rPr>
              <a:t>扩展</a:t>
            </a:r>
            <a:br>
              <a:rPr lang="en-US" altLang="zh-CN" dirty="0"/>
            </a:br>
            <a:br>
              <a:rPr lang="en-US" altLang="zh-CN" dirty="0"/>
            </a:br>
            <a:endParaRPr lang="zh-CN" altLang="en-US" dirty="0"/>
          </a:p>
        </p:txBody>
      </p:sp>
      <p:sp>
        <p:nvSpPr>
          <p:cNvPr id="16" name="标题 1"/>
          <p:cNvSpPr txBox="1"/>
          <p:nvPr/>
        </p:nvSpPr>
        <p:spPr>
          <a:xfrm>
            <a:off x="16528" y="326182"/>
            <a:ext cx="9110943" cy="456832"/>
          </a:xfrm>
          <a:prstGeom prst="rect">
            <a:avLst/>
          </a:prstGeom>
          <a:solidFill>
            <a:schemeClr val="accent5">
              <a:lumMod val="60000"/>
              <a:lumOff val="40000"/>
            </a:schemeClr>
          </a:solidFill>
          <a:ln w="9525">
            <a:noFill/>
          </a:ln>
        </p:spPr>
        <p:txBody>
          <a:bodyPr vert="horz" wrap="square" lIns="91440" tIns="45720" rIns="91440" bIns="45720" rtlCol="0" anchor="ctr" anchorCtr="1">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fontAlgn="base">
              <a:lnSpc>
                <a:spcPct val="100000"/>
              </a:lnSpc>
              <a:spcAft>
                <a:spcPct val="0"/>
              </a:spcAft>
            </a:pPr>
            <a:r>
              <a:rPr lang="en-US" altLang="zh-CN"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Channel Capacity:</a:t>
            </a:r>
            <a:r>
              <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rPr>
              <a:t>信道容量                       </a:t>
            </a:r>
            <a:endParaRPr lang="zh-CN" altLang="en-US" sz="3200" b="1" dirty="0">
              <a:solidFill>
                <a:prstClr val="black"/>
              </a:solidFill>
              <a:latin typeface="Times New Roman" panose="02020603050405020304" pitchFamily="18" charset="0"/>
              <a:ea typeface="等线 Light" panose="02010600030101010101" pitchFamily="2" charset="-122"/>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728341"/>
            <a:ext cx="9144000" cy="4102543"/>
          </a:xfrm>
          <a:prstGeom prst="rect">
            <a:avLst/>
          </a:prstGeom>
        </p:spPr>
      </p:pic>
      <p:sp>
        <p:nvSpPr>
          <p:cNvPr id="4" name="矩形 3"/>
          <p:cNvSpPr/>
          <p:nvPr/>
        </p:nvSpPr>
        <p:spPr>
          <a:xfrm>
            <a:off x="-64605" y="3473726"/>
            <a:ext cx="9099274" cy="18834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226599" y="0"/>
            <a:ext cx="7793037" cy="919162"/>
          </a:xfrm>
        </p:spPr>
        <p:txBody>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Extension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楷体" panose="02010609060101010101" pitchFamily="49" charset="-122"/>
                <a:ea typeface="楷体" panose="02010609060101010101" pitchFamily="49" charset="-122"/>
                <a:cs typeface="Times New Roman" panose="02020603050405020304" pitchFamily="18" charset="0"/>
              </a:rPr>
              <a:t>拓展</a:t>
            </a:r>
            <a:r>
              <a:rPr lang="en-US" altLang="zh-CN" dirty="0">
                <a:latin typeface="楷体" panose="02010609060101010101" pitchFamily="49" charset="-122"/>
                <a:ea typeface="楷体" panose="02010609060101010101" pitchFamily="49" charset="-122"/>
                <a:cs typeface="Times New Roman" panose="02020603050405020304" pitchFamily="18" charset="0"/>
              </a:rPr>
              <a:t>——example</a:t>
            </a:r>
            <a:endParaRPr lang="zh-CN" altLang="en-US" dirty="0">
              <a:latin typeface="楷体" panose="02010609060101010101" pitchFamily="49" charset="-122"/>
              <a:ea typeface="楷体" panose="02010609060101010101" pitchFamily="49" charset="-122"/>
              <a:cs typeface="Times New Roman" panose="02020603050405020304" pitchFamily="18" charset="0"/>
            </a:endParaRPr>
          </a:p>
        </p:txBody>
      </p:sp>
      <p:pic>
        <p:nvPicPr>
          <p:cNvPr id="9" name="图片 8"/>
          <p:cNvPicPr>
            <a:picLocks noChangeAspect="1"/>
          </p:cNvPicPr>
          <p:nvPr/>
        </p:nvPicPr>
        <p:blipFill>
          <a:blip r:embed="rId2"/>
          <a:stretch>
            <a:fillRect/>
          </a:stretch>
        </p:blipFill>
        <p:spPr>
          <a:xfrm>
            <a:off x="0" y="4830884"/>
            <a:ext cx="9144000" cy="96596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a:stretch>
            <a:fillRect/>
          </a:stretch>
        </p:blipFill>
        <p:spPr>
          <a:xfrm>
            <a:off x="501927" y="853547"/>
            <a:ext cx="7608404" cy="794908"/>
          </a:xfrm>
          <a:prstGeom prst="rect">
            <a:avLst/>
          </a:prstGeom>
        </p:spPr>
      </p:pic>
      <p:pic>
        <p:nvPicPr>
          <p:cNvPr id="4" name="图片 3"/>
          <p:cNvPicPr>
            <a:picLocks noChangeAspect="1"/>
          </p:cNvPicPr>
          <p:nvPr/>
        </p:nvPicPr>
        <p:blipFill>
          <a:blip r:embed="rId2"/>
          <a:stretch>
            <a:fillRect/>
          </a:stretch>
        </p:blipFill>
        <p:spPr>
          <a:xfrm>
            <a:off x="59690" y="1541145"/>
            <a:ext cx="9084945" cy="1927225"/>
          </a:xfrm>
          <a:prstGeom prst="rect">
            <a:avLst/>
          </a:prstGeom>
        </p:spPr>
      </p:pic>
      <p:sp>
        <p:nvSpPr>
          <p:cNvPr id="6" name="文本框 5"/>
          <p:cNvSpPr txBox="1"/>
          <p:nvPr/>
        </p:nvSpPr>
        <p:spPr>
          <a:xfrm>
            <a:off x="140389" y="3677503"/>
            <a:ext cx="8789919" cy="523220"/>
          </a:xfrm>
          <a:prstGeom prst="rect">
            <a:avLst/>
          </a:prstGeom>
          <a:noFill/>
        </p:spPr>
        <p:txBody>
          <a:bodyPr wrap="square">
            <a:spAutoFit/>
          </a:bodyPr>
          <a:lstStyle/>
          <a:p>
            <a:r>
              <a:rPr lang="zh-CN" altLang="zh-CN" sz="2800" b="1" dirty="0">
                <a:solidFill>
                  <a:srgbClr val="FF0000"/>
                </a:solidFill>
              </a:rPr>
              <a:t>Higher-order modulation gets closer to channel capacity.</a:t>
            </a:r>
            <a:endParaRPr lang="zh-CN" altLang="en-US" sz="2800" b="1" dirty="0">
              <a:solidFill>
                <a:srgbClr val="FF0000"/>
              </a:solidFill>
            </a:endParaRPr>
          </a:p>
        </p:txBody>
      </p:sp>
      <p:pic>
        <p:nvPicPr>
          <p:cNvPr id="8" name="图片 7"/>
          <p:cNvPicPr>
            <a:picLocks noChangeAspect="1"/>
          </p:cNvPicPr>
          <p:nvPr/>
        </p:nvPicPr>
        <p:blipFill>
          <a:blip r:embed="rId3"/>
          <a:stretch>
            <a:fillRect/>
          </a:stretch>
        </p:blipFill>
        <p:spPr>
          <a:xfrm>
            <a:off x="260942" y="451887"/>
            <a:ext cx="1160354" cy="481570"/>
          </a:xfrm>
          <a:prstGeom prst="rect">
            <a:avLst/>
          </a:prstGeom>
        </p:spPr>
      </p:pic>
      <p:sp>
        <p:nvSpPr>
          <p:cNvPr id="11" name="文本框 10"/>
          <p:cNvSpPr txBox="1"/>
          <p:nvPr/>
        </p:nvSpPr>
        <p:spPr>
          <a:xfrm>
            <a:off x="177040" y="4235872"/>
            <a:ext cx="8789919" cy="2246769"/>
          </a:xfrm>
          <a:prstGeom prst="rect">
            <a:avLst/>
          </a:prstGeom>
          <a:noFill/>
        </p:spPr>
        <p:txBody>
          <a:bodyPr wrap="square">
            <a:spAutoFit/>
          </a:bodyPr>
          <a:lstStyle/>
          <a:p>
            <a:pPr>
              <a:buNone/>
            </a:pPr>
            <a:r>
              <a:rPr lang="zh-CN" altLang="zh-CN" sz="2800" b="1" dirty="0">
                <a:solidFill>
                  <a:srgbClr val="FF0000"/>
                </a:solidFill>
              </a:rPr>
              <a:t>Higher-order modulation </a:t>
            </a:r>
            <a:r>
              <a:rPr lang="zh-CN" altLang="zh-CN" sz="2800" b="1" dirty="0"/>
              <a:t>brings </a:t>
            </a:r>
            <a:r>
              <a:rPr lang="zh-CN" altLang="zh-CN" sz="2800" b="1" dirty="0">
                <a:solidFill>
                  <a:srgbClr val="FF0000"/>
                </a:solidFill>
              </a:rPr>
              <a:t>higher BER</a:t>
            </a:r>
            <a:r>
              <a:rPr lang="zh-CN" altLang="zh-CN" sz="2800" b="1" dirty="0"/>
              <a:t>, and good channel coding is needed to improve the reliability of the communication system.</a:t>
            </a:r>
            <a:endParaRPr lang="zh-CN" altLang="zh-CN" sz="2800" b="1" dirty="0"/>
          </a:p>
          <a:p>
            <a:pPr>
              <a:buNone/>
            </a:pPr>
            <a:r>
              <a:rPr lang="zh-CN" altLang="zh-CN" sz="2800" b="1" dirty="0">
                <a:solidFill>
                  <a:srgbClr val="00B050"/>
                </a:solidFill>
              </a:rPr>
              <a:t>高阶调制误码率更高，需要优良的信道编码来提升通信系统的可靠性。</a:t>
            </a:r>
            <a:endParaRPr lang="zh-CN" altLang="zh-CN" sz="2800" b="1" dirty="0">
              <a:solidFill>
                <a:srgbClr val="00B050"/>
              </a:solidFill>
            </a:endParaRPr>
          </a:p>
        </p:txBody>
      </p:sp>
      <p:sp>
        <p:nvSpPr>
          <p:cNvPr id="2" name="矩形 1"/>
          <p:cNvSpPr/>
          <p:nvPr/>
        </p:nvSpPr>
        <p:spPr>
          <a:xfrm>
            <a:off x="2334895" y="970280"/>
            <a:ext cx="5645150" cy="573405"/>
          </a:xfrm>
          <a:prstGeom prst="rect">
            <a:avLst/>
          </a:prstGeom>
          <a:solidFill>
            <a:schemeClr val="bg1"/>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 name="矩形 2"/>
          <p:cNvSpPr/>
          <p:nvPr/>
        </p:nvSpPr>
        <p:spPr>
          <a:xfrm>
            <a:off x="2396490" y="2132330"/>
            <a:ext cx="1765300" cy="573405"/>
          </a:xfrm>
          <a:prstGeom prst="rect">
            <a:avLst/>
          </a:prstGeom>
          <a:solidFill>
            <a:schemeClr val="bg1"/>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矩形 4"/>
          <p:cNvSpPr/>
          <p:nvPr/>
        </p:nvSpPr>
        <p:spPr>
          <a:xfrm>
            <a:off x="6280785" y="2132330"/>
            <a:ext cx="2863215" cy="573405"/>
          </a:xfrm>
          <a:prstGeom prst="rect">
            <a:avLst/>
          </a:prstGeom>
          <a:solidFill>
            <a:schemeClr val="bg1"/>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矩形 6"/>
          <p:cNvSpPr/>
          <p:nvPr/>
        </p:nvSpPr>
        <p:spPr>
          <a:xfrm>
            <a:off x="1998980" y="2855595"/>
            <a:ext cx="6047740" cy="573405"/>
          </a:xfrm>
          <a:prstGeom prst="rect">
            <a:avLst/>
          </a:prstGeom>
          <a:solidFill>
            <a:schemeClr val="bg1"/>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a:stretch>
            <a:fillRect/>
          </a:stretch>
        </p:blipFill>
        <p:spPr>
          <a:xfrm>
            <a:off x="501927" y="853547"/>
            <a:ext cx="7608404" cy="794908"/>
          </a:xfrm>
          <a:prstGeom prst="rect">
            <a:avLst/>
          </a:prstGeom>
        </p:spPr>
      </p:pic>
      <p:pic>
        <p:nvPicPr>
          <p:cNvPr id="4" name="图片 3"/>
          <p:cNvPicPr>
            <a:picLocks noChangeAspect="1"/>
          </p:cNvPicPr>
          <p:nvPr/>
        </p:nvPicPr>
        <p:blipFill>
          <a:blip r:embed="rId2"/>
          <a:stretch>
            <a:fillRect/>
          </a:stretch>
        </p:blipFill>
        <p:spPr>
          <a:xfrm>
            <a:off x="64604" y="1437475"/>
            <a:ext cx="9144000" cy="1927064"/>
          </a:xfrm>
          <a:prstGeom prst="rect">
            <a:avLst/>
          </a:prstGeom>
        </p:spPr>
      </p:pic>
      <p:pic>
        <p:nvPicPr>
          <p:cNvPr id="8" name="图片 7"/>
          <p:cNvPicPr>
            <a:picLocks noChangeAspect="1"/>
          </p:cNvPicPr>
          <p:nvPr/>
        </p:nvPicPr>
        <p:blipFill>
          <a:blip r:embed="rId3"/>
          <a:stretch>
            <a:fillRect/>
          </a:stretch>
        </p:blipFill>
        <p:spPr>
          <a:xfrm>
            <a:off x="260942" y="451887"/>
            <a:ext cx="1160354" cy="481570"/>
          </a:xfrm>
          <a:prstGeom prst="rect">
            <a:avLst/>
          </a:prstGeom>
        </p:spPr>
      </p:pic>
      <p:sp>
        <p:nvSpPr>
          <p:cNvPr id="3" name="文本框 2"/>
          <p:cNvSpPr txBox="1"/>
          <p:nvPr/>
        </p:nvSpPr>
        <p:spPr>
          <a:xfrm>
            <a:off x="208722" y="3579887"/>
            <a:ext cx="8408504" cy="1815882"/>
          </a:xfrm>
          <a:prstGeom prst="rect">
            <a:avLst/>
          </a:prstGeom>
          <a:noFill/>
        </p:spPr>
        <p:txBody>
          <a:bodyPr wrap="square">
            <a:spAutoFit/>
          </a:bodyPr>
          <a:lstStyle/>
          <a:p>
            <a:r>
              <a:rPr lang="zh-CN" altLang="zh-CN" sz="2800" b="1" dirty="0">
                <a:solidFill>
                  <a:srgbClr val="FF0000"/>
                </a:solidFill>
              </a:rPr>
              <a:t>Modulation</a:t>
            </a:r>
            <a:r>
              <a:rPr lang="zh-CN" altLang="zh-CN" sz="2800" b="1" dirty="0"/>
              <a:t>: improves communication effectiveness (faster transmission, higher spectral efficiency) </a:t>
            </a:r>
            <a:endParaRPr lang="en-US" altLang="zh-CN" sz="2800" b="1" dirty="0"/>
          </a:p>
          <a:p>
            <a:r>
              <a:rPr lang="zh-CN" altLang="zh-CN" sz="2800" b="1" dirty="0">
                <a:solidFill>
                  <a:srgbClr val="FF0000"/>
                </a:solidFill>
              </a:rPr>
              <a:t>Channel coding</a:t>
            </a:r>
            <a:r>
              <a:rPr lang="zh-CN" altLang="zh-CN" sz="2800" b="1" dirty="0"/>
              <a:t>: guarantees communication reliability (accurate transmission, lower bit error rate)</a:t>
            </a:r>
            <a:endParaRPr lang="zh-CN" altLang="en-US" sz="2800" b="1" dirty="0"/>
          </a:p>
        </p:txBody>
      </p:sp>
      <p:sp>
        <p:nvSpPr>
          <p:cNvPr id="7" name="文本框 6"/>
          <p:cNvSpPr txBox="1"/>
          <p:nvPr/>
        </p:nvSpPr>
        <p:spPr>
          <a:xfrm>
            <a:off x="303144" y="5452006"/>
            <a:ext cx="7951303" cy="954107"/>
          </a:xfrm>
          <a:prstGeom prst="rect">
            <a:avLst/>
          </a:prstGeom>
          <a:noFill/>
        </p:spPr>
        <p:txBody>
          <a:bodyPr wrap="square">
            <a:spAutoFit/>
          </a:bodyPr>
          <a:lstStyle/>
          <a:p>
            <a:r>
              <a:rPr lang="zh-CN" altLang="zh-CN" sz="2800" b="1" dirty="0">
                <a:solidFill>
                  <a:srgbClr val="00B050"/>
                </a:solidFill>
              </a:rPr>
              <a:t>调制：提升通信有效性（传得快，频谱效率） </a:t>
            </a:r>
            <a:endParaRPr lang="en-US" altLang="zh-CN" sz="2800" b="1" dirty="0">
              <a:solidFill>
                <a:srgbClr val="00B050"/>
              </a:solidFill>
            </a:endParaRPr>
          </a:p>
          <a:p>
            <a:r>
              <a:rPr lang="zh-CN" altLang="zh-CN" sz="2800" b="1" dirty="0">
                <a:solidFill>
                  <a:srgbClr val="00B050"/>
                </a:solidFill>
              </a:rPr>
              <a:t>信道编码：保障通信可靠性（传得准，降低误码）</a:t>
            </a:r>
            <a:endParaRPr lang="zh-CN" altLang="en-US" sz="2800" b="1" dirty="0">
              <a:solidFill>
                <a:srgbClr val="00B05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1"/>
          <p:cNvGrpSpPr>
            <a:grpSpLocks noChangeAspect="1"/>
          </p:cNvGrpSpPr>
          <p:nvPr/>
        </p:nvGrpSpPr>
        <p:grpSpPr bwMode="auto">
          <a:xfrm>
            <a:off x="636221" y="653930"/>
            <a:ext cx="7523687" cy="3973800"/>
            <a:chOff x="2863" y="647"/>
            <a:chExt cx="6257" cy="3304"/>
          </a:xfrm>
          <a:noFill/>
        </p:grpSpPr>
        <p:sp>
          <p:nvSpPr>
            <p:cNvPr id="8" name="AutoShape 47"/>
            <p:cNvSpPr>
              <a:spLocks noChangeAspect="1" noChangeArrowheads="1" noTextEdit="1"/>
            </p:cNvSpPr>
            <p:nvPr/>
          </p:nvSpPr>
          <p:spPr bwMode="auto">
            <a:xfrm>
              <a:off x="2863" y="647"/>
              <a:ext cx="6257" cy="3189"/>
            </a:xfrm>
            <a:prstGeom prst="rect">
              <a:avLst/>
            </a:prstGeom>
            <a:grpFill/>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9" name="Text Box 46"/>
            <p:cNvSpPr txBox="1">
              <a:spLocks noChangeArrowheads="1"/>
            </p:cNvSpPr>
            <p:nvPr/>
          </p:nvSpPr>
          <p:spPr bwMode="auto">
            <a:xfrm>
              <a:off x="3229" y="1050"/>
              <a:ext cx="486" cy="2447"/>
            </a:xfrm>
            <a:prstGeom prst="rect">
              <a:avLst/>
            </a:prstGeom>
            <a:grpFill/>
            <a:ln w="9525">
              <a:solidFill>
                <a:srgbClr val="000000"/>
              </a:solidFill>
              <a:miter lim="800000"/>
            </a:ln>
          </p:spPr>
          <p:txBody>
            <a:bodyPr vert="eaVert" wrap="square" lIns="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Transmitter</a:t>
              </a:r>
              <a:endParaRPr kumimoji="0" lang="en-US" altLang="zh-CN" sz="2400" b="0" i="0" u="none" strike="noStrike" kern="1200" cap="none" spc="0" normalizeH="0" baseline="0" noProof="0" dirty="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nvGrpSpPr>
            <p:cNvPr id="10" name="Group 41"/>
            <p:cNvGrpSpPr/>
            <p:nvPr/>
          </p:nvGrpSpPr>
          <p:grpSpPr bwMode="auto">
            <a:xfrm>
              <a:off x="3720" y="1067"/>
              <a:ext cx="835" cy="362"/>
              <a:chOff x="3150" y="9377"/>
              <a:chExt cx="835" cy="362"/>
            </a:xfrm>
            <a:grpFill/>
          </p:grpSpPr>
          <p:grpSp>
            <p:nvGrpSpPr>
              <p:cNvPr id="50" name="Group 43"/>
              <p:cNvGrpSpPr/>
              <p:nvPr/>
            </p:nvGrpSpPr>
            <p:grpSpPr bwMode="auto">
              <a:xfrm>
                <a:off x="3596" y="9377"/>
                <a:ext cx="389" cy="362"/>
                <a:chOff x="3497" y="9183"/>
                <a:chExt cx="389" cy="362"/>
              </a:xfrm>
              <a:grpFill/>
            </p:grpSpPr>
            <p:sp>
              <p:nvSpPr>
                <p:cNvPr id="52" name="AutoShape 45"/>
                <p:cNvSpPr>
                  <a:spLocks noChangeArrowheads="1"/>
                </p:cNvSpPr>
                <p:nvPr/>
              </p:nvSpPr>
              <p:spPr bwMode="auto">
                <a:xfrm flipV="1">
                  <a:off x="3497" y="9188"/>
                  <a:ext cx="389" cy="222"/>
                </a:xfrm>
                <a:prstGeom prst="triangle">
                  <a:avLst>
                    <a:gd name="adj" fmla="val 4987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53" name="AutoShape 44"/>
                <p:cNvSpPr>
                  <a:spLocks noChangeShapeType="1"/>
                </p:cNvSpPr>
                <p:nvPr/>
              </p:nvSpPr>
              <p:spPr bwMode="auto">
                <a:xfrm>
                  <a:off x="3690" y="9183"/>
                  <a:ext cx="1" cy="36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51" name="AutoShape 42"/>
              <p:cNvSpPr>
                <a:spLocks noChangeShapeType="1"/>
              </p:cNvSpPr>
              <p:nvPr/>
            </p:nvSpPr>
            <p:spPr bwMode="auto">
              <a:xfrm>
                <a:off x="3150" y="9734"/>
                <a:ext cx="647" cy="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grpSp>
          <p:nvGrpSpPr>
            <p:cNvPr id="11" name="Group 36"/>
            <p:cNvGrpSpPr/>
            <p:nvPr/>
          </p:nvGrpSpPr>
          <p:grpSpPr bwMode="auto">
            <a:xfrm>
              <a:off x="3729" y="1718"/>
              <a:ext cx="835" cy="362"/>
              <a:chOff x="3150" y="9377"/>
              <a:chExt cx="835" cy="362"/>
            </a:xfrm>
            <a:grpFill/>
          </p:grpSpPr>
          <p:grpSp>
            <p:nvGrpSpPr>
              <p:cNvPr id="46" name="Group 38"/>
              <p:cNvGrpSpPr/>
              <p:nvPr/>
            </p:nvGrpSpPr>
            <p:grpSpPr bwMode="auto">
              <a:xfrm>
                <a:off x="3596" y="9377"/>
                <a:ext cx="389" cy="362"/>
                <a:chOff x="3497" y="9183"/>
                <a:chExt cx="389" cy="362"/>
              </a:xfrm>
              <a:grpFill/>
            </p:grpSpPr>
            <p:sp>
              <p:nvSpPr>
                <p:cNvPr id="48" name="AutoShape 40"/>
                <p:cNvSpPr>
                  <a:spLocks noChangeArrowheads="1"/>
                </p:cNvSpPr>
                <p:nvPr/>
              </p:nvSpPr>
              <p:spPr bwMode="auto">
                <a:xfrm flipV="1">
                  <a:off x="3497" y="9188"/>
                  <a:ext cx="389" cy="222"/>
                </a:xfrm>
                <a:prstGeom prst="triangle">
                  <a:avLst>
                    <a:gd name="adj" fmla="val 4987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49" name="AutoShape 39"/>
                <p:cNvSpPr>
                  <a:spLocks noChangeShapeType="1"/>
                </p:cNvSpPr>
                <p:nvPr/>
              </p:nvSpPr>
              <p:spPr bwMode="auto">
                <a:xfrm>
                  <a:off x="3690" y="9183"/>
                  <a:ext cx="1" cy="36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47" name="AutoShape 37"/>
              <p:cNvSpPr>
                <a:spLocks noChangeShapeType="1"/>
              </p:cNvSpPr>
              <p:nvPr/>
            </p:nvSpPr>
            <p:spPr bwMode="auto">
              <a:xfrm>
                <a:off x="3150" y="9734"/>
                <a:ext cx="647" cy="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12" name="Text Box 35"/>
            <p:cNvSpPr txBox="1">
              <a:spLocks noChangeArrowheads="1"/>
            </p:cNvSpPr>
            <p:nvPr/>
          </p:nvSpPr>
          <p:spPr bwMode="auto">
            <a:xfrm>
              <a:off x="7949" y="1105"/>
              <a:ext cx="486" cy="2447"/>
            </a:xfrm>
            <a:prstGeom prst="rect">
              <a:avLst/>
            </a:prstGeom>
            <a:grpFill/>
            <a:ln w="9525">
              <a:solidFill>
                <a:srgbClr val="000000"/>
              </a:solidFill>
              <a:miter lim="800000"/>
            </a:ln>
          </p:spPr>
          <p:txBody>
            <a:bodyPr vert="eaVert" wrap="square" lIns="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Receiver</a:t>
              </a:r>
              <a:endParaRPr kumimoji="0" lang="en-US" altLang="zh-CN" sz="2400" b="0" i="0" u="none" strike="noStrike" kern="1200" cap="none" spc="0" normalizeH="0" baseline="0" noProof="0" dirty="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nvGrpSpPr>
            <p:cNvPr id="13" name="Group 30"/>
            <p:cNvGrpSpPr/>
            <p:nvPr/>
          </p:nvGrpSpPr>
          <p:grpSpPr bwMode="auto">
            <a:xfrm>
              <a:off x="7121" y="1106"/>
              <a:ext cx="828" cy="377"/>
              <a:chOff x="7121" y="1036"/>
              <a:chExt cx="828" cy="377"/>
            </a:xfrm>
            <a:grpFill/>
          </p:grpSpPr>
          <p:grpSp>
            <p:nvGrpSpPr>
              <p:cNvPr id="42" name="Group 32"/>
              <p:cNvGrpSpPr/>
              <p:nvPr/>
            </p:nvGrpSpPr>
            <p:grpSpPr bwMode="auto">
              <a:xfrm>
                <a:off x="7121" y="1036"/>
                <a:ext cx="356" cy="357"/>
                <a:chOff x="7141" y="1105"/>
                <a:chExt cx="356" cy="357"/>
              </a:xfrm>
              <a:grpFill/>
            </p:grpSpPr>
            <p:sp>
              <p:nvSpPr>
                <p:cNvPr id="44" name="AutoShape 34"/>
                <p:cNvSpPr>
                  <a:spLocks noChangeArrowheads="1"/>
                </p:cNvSpPr>
                <p:nvPr/>
              </p:nvSpPr>
              <p:spPr bwMode="auto">
                <a:xfrm flipV="1">
                  <a:off x="7141" y="1105"/>
                  <a:ext cx="356" cy="233"/>
                </a:xfrm>
                <a:prstGeom prst="triangle">
                  <a:avLst>
                    <a:gd name="adj" fmla="val 5000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45" name="AutoShape 33"/>
                <p:cNvSpPr>
                  <a:spLocks noChangeShapeType="1"/>
                </p:cNvSpPr>
                <p:nvPr/>
              </p:nvSpPr>
              <p:spPr bwMode="auto">
                <a:xfrm>
                  <a:off x="7317" y="1110"/>
                  <a:ext cx="7" cy="35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43" name="AutoShape 31"/>
              <p:cNvSpPr>
                <a:spLocks noChangeShapeType="1"/>
              </p:cNvSpPr>
              <p:nvPr/>
            </p:nvSpPr>
            <p:spPr bwMode="auto">
              <a:xfrm>
                <a:off x="7305" y="1394"/>
                <a:ext cx="644" cy="19"/>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14" name="Text Box 29"/>
            <p:cNvSpPr txBox="1">
              <a:spLocks noChangeArrowheads="1"/>
            </p:cNvSpPr>
            <p:nvPr/>
          </p:nvSpPr>
          <p:spPr bwMode="auto">
            <a:xfrm>
              <a:off x="3781" y="3600"/>
              <a:ext cx="4234" cy="351"/>
            </a:xfrm>
            <a:prstGeom prst="rect">
              <a:avLst/>
            </a:prstGeom>
            <a:grpFill/>
            <a:ln w="9525">
              <a:noFill/>
              <a:miter lim="800000"/>
            </a:ln>
          </p:spPr>
          <p:txBody>
            <a:bodyPr vert="horz" wrap="square" lIns="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3399"/>
                  </a:solidFill>
                  <a:effectLst/>
                  <a:uLnTx/>
                  <a:uFillTx/>
                  <a:latin typeface="Garamond" panose="02020404030301010803" pitchFamily="18" charset="0"/>
                  <a:ea typeface="宋体" panose="02010600030101010101" pitchFamily="2" charset="-122"/>
                  <a:cs typeface="+mn-cs"/>
                </a:rPr>
                <a:t>MIMO Communication System</a:t>
              </a:r>
              <a:endParaRPr kumimoji="0" lang="en-US" altLang="zh-CN" sz="3200" b="1" i="0" u="none" strike="noStrike" kern="1200" cap="none" spc="0" normalizeH="0" baseline="0" noProof="0" dirty="0">
                <a:ln>
                  <a:noFill/>
                </a:ln>
                <a:solidFill>
                  <a:srgbClr val="003399"/>
                </a:solidFill>
                <a:effectLst/>
                <a:uLnTx/>
                <a:uFillTx/>
                <a:latin typeface="Garamond" panose="02020404030301010803" pitchFamily="18" charset="0"/>
                <a:ea typeface="宋体" panose="02010600030101010101" pitchFamily="2" charset="-122"/>
                <a:cs typeface="+mn-cs"/>
              </a:endParaRPr>
            </a:p>
          </p:txBody>
        </p:sp>
        <p:grpSp>
          <p:nvGrpSpPr>
            <p:cNvPr id="15" name="Group 24"/>
            <p:cNvGrpSpPr/>
            <p:nvPr/>
          </p:nvGrpSpPr>
          <p:grpSpPr bwMode="auto">
            <a:xfrm>
              <a:off x="3715" y="2804"/>
              <a:ext cx="835" cy="362"/>
              <a:chOff x="3150" y="9377"/>
              <a:chExt cx="835" cy="362"/>
            </a:xfrm>
            <a:grpFill/>
          </p:grpSpPr>
          <p:grpSp>
            <p:nvGrpSpPr>
              <p:cNvPr id="38" name="Group 26"/>
              <p:cNvGrpSpPr/>
              <p:nvPr/>
            </p:nvGrpSpPr>
            <p:grpSpPr bwMode="auto">
              <a:xfrm>
                <a:off x="3596" y="9377"/>
                <a:ext cx="389" cy="362"/>
                <a:chOff x="3497" y="9183"/>
                <a:chExt cx="389" cy="362"/>
              </a:xfrm>
              <a:grpFill/>
            </p:grpSpPr>
            <p:sp>
              <p:nvSpPr>
                <p:cNvPr id="40" name="AutoShape 28"/>
                <p:cNvSpPr>
                  <a:spLocks noChangeArrowheads="1"/>
                </p:cNvSpPr>
                <p:nvPr/>
              </p:nvSpPr>
              <p:spPr bwMode="auto">
                <a:xfrm flipV="1">
                  <a:off x="3497" y="9188"/>
                  <a:ext cx="389" cy="222"/>
                </a:xfrm>
                <a:prstGeom prst="triangle">
                  <a:avLst>
                    <a:gd name="adj" fmla="val 4987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41" name="AutoShape 27"/>
                <p:cNvSpPr>
                  <a:spLocks noChangeShapeType="1"/>
                </p:cNvSpPr>
                <p:nvPr/>
              </p:nvSpPr>
              <p:spPr bwMode="auto">
                <a:xfrm>
                  <a:off x="3690" y="9183"/>
                  <a:ext cx="1" cy="36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39" name="AutoShape 25"/>
              <p:cNvSpPr>
                <a:spLocks noChangeShapeType="1"/>
              </p:cNvSpPr>
              <p:nvPr/>
            </p:nvSpPr>
            <p:spPr bwMode="auto">
              <a:xfrm>
                <a:off x="3150" y="9734"/>
                <a:ext cx="647" cy="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16" name="Text Box 23"/>
            <p:cNvSpPr txBox="1">
              <a:spLocks noChangeArrowheads="1"/>
            </p:cNvSpPr>
            <p:nvPr/>
          </p:nvSpPr>
          <p:spPr bwMode="auto">
            <a:xfrm>
              <a:off x="3886" y="2262"/>
              <a:ext cx="504" cy="689"/>
            </a:xfrm>
            <a:prstGeom prst="rect">
              <a:avLst/>
            </a:prstGeom>
            <a:grpFill/>
            <a:ln w="9525">
              <a:noFill/>
              <a:miter lim="800000"/>
            </a:ln>
          </p:spPr>
          <p:txBody>
            <a:bodyPr vert="eaVert" wrap="square" lIns="7200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endParaRPr kumimoji="0" lang="en-US" altLang="zh-CN" sz="2400" b="0" i="0" u="none" strike="noStrike" kern="1200" cap="none" spc="0" normalizeH="0" baseline="0" noProof="0" dirty="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nvGrpSpPr>
            <p:cNvPr id="17" name="Group 18"/>
            <p:cNvGrpSpPr/>
            <p:nvPr/>
          </p:nvGrpSpPr>
          <p:grpSpPr bwMode="auto">
            <a:xfrm>
              <a:off x="7121" y="1698"/>
              <a:ext cx="828" cy="377"/>
              <a:chOff x="7121" y="1036"/>
              <a:chExt cx="828" cy="377"/>
            </a:xfrm>
            <a:grpFill/>
          </p:grpSpPr>
          <p:grpSp>
            <p:nvGrpSpPr>
              <p:cNvPr id="34" name="Group 20"/>
              <p:cNvGrpSpPr/>
              <p:nvPr/>
            </p:nvGrpSpPr>
            <p:grpSpPr bwMode="auto">
              <a:xfrm>
                <a:off x="7121" y="1036"/>
                <a:ext cx="356" cy="357"/>
                <a:chOff x="7141" y="1105"/>
                <a:chExt cx="356" cy="357"/>
              </a:xfrm>
              <a:grpFill/>
            </p:grpSpPr>
            <p:sp>
              <p:nvSpPr>
                <p:cNvPr id="36" name="AutoShape 22"/>
                <p:cNvSpPr>
                  <a:spLocks noChangeArrowheads="1"/>
                </p:cNvSpPr>
                <p:nvPr/>
              </p:nvSpPr>
              <p:spPr bwMode="auto">
                <a:xfrm flipV="1">
                  <a:off x="7141" y="1105"/>
                  <a:ext cx="356" cy="233"/>
                </a:xfrm>
                <a:prstGeom prst="triangle">
                  <a:avLst>
                    <a:gd name="adj" fmla="val 5000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37" name="AutoShape 21"/>
                <p:cNvSpPr>
                  <a:spLocks noChangeShapeType="1"/>
                </p:cNvSpPr>
                <p:nvPr/>
              </p:nvSpPr>
              <p:spPr bwMode="auto">
                <a:xfrm>
                  <a:off x="7317" y="1110"/>
                  <a:ext cx="7" cy="35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35" name="AutoShape 19"/>
              <p:cNvSpPr>
                <a:spLocks noChangeShapeType="1"/>
              </p:cNvSpPr>
              <p:nvPr/>
            </p:nvSpPr>
            <p:spPr bwMode="auto">
              <a:xfrm>
                <a:off x="7305" y="1394"/>
                <a:ext cx="644" cy="19"/>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grpSp>
          <p:nvGrpSpPr>
            <p:cNvPr id="18" name="Group 13"/>
            <p:cNvGrpSpPr/>
            <p:nvPr/>
          </p:nvGrpSpPr>
          <p:grpSpPr bwMode="auto">
            <a:xfrm>
              <a:off x="7121" y="2784"/>
              <a:ext cx="828" cy="377"/>
              <a:chOff x="7121" y="1036"/>
              <a:chExt cx="828" cy="377"/>
            </a:xfrm>
            <a:grpFill/>
          </p:grpSpPr>
          <p:grpSp>
            <p:nvGrpSpPr>
              <p:cNvPr id="30" name="Group 15"/>
              <p:cNvGrpSpPr/>
              <p:nvPr/>
            </p:nvGrpSpPr>
            <p:grpSpPr bwMode="auto">
              <a:xfrm>
                <a:off x="7121" y="1036"/>
                <a:ext cx="356" cy="357"/>
                <a:chOff x="7141" y="1105"/>
                <a:chExt cx="356" cy="357"/>
              </a:xfrm>
              <a:grpFill/>
            </p:grpSpPr>
            <p:sp>
              <p:nvSpPr>
                <p:cNvPr id="32" name="AutoShape 17"/>
                <p:cNvSpPr>
                  <a:spLocks noChangeArrowheads="1"/>
                </p:cNvSpPr>
                <p:nvPr/>
              </p:nvSpPr>
              <p:spPr bwMode="auto">
                <a:xfrm flipV="1">
                  <a:off x="7141" y="1105"/>
                  <a:ext cx="356" cy="233"/>
                </a:xfrm>
                <a:prstGeom prst="triangle">
                  <a:avLst>
                    <a:gd name="adj" fmla="val 5000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33" name="AutoShape 16"/>
                <p:cNvSpPr>
                  <a:spLocks noChangeShapeType="1"/>
                </p:cNvSpPr>
                <p:nvPr/>
              </p:nvSpPr>
              <p:spPr bwMode="auto">
                <a:xfrm>
                  <a:off x="7317" y="1110"/>
                  <a:ext cx="7" cy="35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31" name="AutoShape 14"/>
              <p:cNvSpPr>
                <a:spLocks noChangeShapeType="1"/>
              </p:cNvSpPr>
              <p:nvPr/>
            </p:nvSpPr>
            <p:spPr bwMode="auto">
              <a:xfrm>
                <a:off x="7305" y="1394"/>
                <a:ext cx="644" cy="19"/>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grpSp>
          <p:nvGrpSpPr>
            <p:cNvPr id="19" name="Group 2"/>
            <p:cNvGrpSpPr/>
            <p:nvPr/>
          </p:nvGrpSpPr>
          <p:grpSpPr bwMode="auto">
            <a:xfrm>
              <a:off x="4705" y="1111"/>
              <a:ext cx="2309" cy="1926"/>
              <a:chOff x="4705" y="1111"/>
              <a:chExt cx="2309" cy="1926"/>
            </a:xfrm>
            <a:grpFill/>
          </p:grpSpPr>
          <p:sp>
            <p:nvSpPr>
              <p:cNvPr id="21" name="AutoShape 11"/>
              <p:cNvSpPr>
                <a:spLocks noChangeShapeType="1"/>
              </p:cNvSpPr>
              <p:nvPr/>
            </p:nvSpPr>
            <p:spPr bwMode="auto">
              <a:xfrm>
                <a:off x="4847" y="1235"/>
                <a:ext cx="2156" cy="50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2" name="AutoShape 10"/>
              <p:cNvSpPr>
                <a:spLocks noChangeShapeType="1"/>
              </p:cNvSpPr>
              <p:nvPr/>
            </p:nvSpPr>
            <p:spPr bwMode="auto">
              <a:xfrm flipV="1">
                <a:off x="4847" y="1235"/>
                <a:ext cx="2102" cy="501"/>
              </a:xfrm>
              <a:prstGeom prst="straightConnector1">
                <a:avLst/>
              </a:prstGeom>
              <a:grpFill/>
              <a:ln w="9525">
                <a:solidFill>
                  <a:srgbClr val="FF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3" name="AutoShape 9"/>
              <p:cNvSpPr>
                <a:spLocks noChangeShapeType="1"/>
              </p:cNvSpPr>
              <p:nvPr/>
            </p:nvSpPr>
            <p:spPr bwMode="auto">
              <a:xfrm>
                <a:off x="4888" y="1111"/>
                <a:ext cx="2091" cy="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4" name="AutoShape 8"/>
              <p:cNvSpPr>
                <a:spLocks noChangeShapeType="1"/>
              </p:cNvSpPr>
              <p:nvPr/>
            </p:nvSpPr>
            <p:spPr bwMode="auto">
              <a:xfrm>
                <a:off x="4889" y="1901"/>
                <a:ext cx="2125" cy="1"/>
              </a:xfrm>
              <a:prstGeom prst="straightConnector1">
                <a:avLst/>
              </a:prstGeom>
              <a:grpFill/>
              <a:ln w="9525">
                <a:solidFill>
                  <a:srgbClr val="FF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5" name="AutoShape 7"/>
              <p:cNvSpPr>
                <a:spLocks noChangeShapeType="1"/>
              </p:cNvSpPr>
              <p:nvPr/>
            </p:nvSpPr>
            <p:spPr bwMode="auto">
              <a:xfrm>
                <a:off x="4884" y="1320"/>
                <a:ext cx="2065" cy="1434"/>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6" name="AutoShape 6"/>
              <p:cNvSpPr>
                <a:spLocks noChangeShapeType="1"/>
              </p:cNvSpPr>
              <p:nvPr/>
            </p:nvSpPr>
            <p:spPr bwMode="auto">
              <a:xfrm>
                <a:off x="4858" y="1997"/>
                <a:ext cx="2156" cy="960"/>
              </a:xfrm>
              <a:prstGeom prst="straightConnector1">
                <a:avLst/>
              </a:prstGeom>
              <a:grpFill/>
              <a:ln w="9525">
                <a:solidFill>
                  <a:srgbClr val="FF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7" name="AutoShape 5"/>
              <p:cNvSpPr>
                <a:spLocks noChangeShapeType="1"/>
              </p:cNvSpPr>
              <p:nvPr/>
            </p:nvSpPr>
            <p:spPr bwMode="auto">
              <a:xfrm flipV="1">
                <a:off x="4705" y="1345"/>
                <a:ext cx="2309" cy="1530"/>
              </a:xfrm>
              <a:prstGeom prst="straightConnector1">
                <a:avLst/>
              </a:prstGeom>
              <a:grpFill/>
              <a:ln w="9525">
                <a:solidFill>
                  <a:srgbClr val="31849B"/>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8" name="AutoShape 4"/>
              <p:cNvSpPr>
                <a:spLocks noChangeShapeType="1"/>
              </p:cNvSpPr>
              <p:nvPr/>
            </p:nvSpPr>
            <p:spPr bwMode="auto">
              <a:xfrm flipV="1">
                <a:off x="4730" y="1997"/>
                <a:ext cx="2284" cy="995"/>
              </a:xfrm>
              <a:prstGeom prst="straightConnector1">
                <a:avLst/>
              </a:prstGeom>
              <a:grpFill/>
              <a:ln w="9525">
                <a:solidFill>
                  <a:srgbClr val="31849B"/>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9" name="AutoShape 3"/>
              <p:cNvSpPr>
                <a:spLocks noChangeShapeType="1"/>
              </p:cNvSpPr>
              <p:nvPr/>
            </p:nvSpPr>
            <p:spPr bwMode="auto">
              <a:xfrm>
                <a:off x="4730" y="3023"/>
                <a:ext cx="2260" cy="14"/>
              </a:xfrm>
              <a:prstGeom prst="straightConnector1">
                <a:avLst/>
              </a:prstGeom>
              <a:grpFill/>
              <a:ln w="9525">
                <a:solidFill>
                  <a:srgbClr val="31849B"/>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20" name="Text Box 12"/>
            <p:cNvSpPr txBox="1">
              <a:spLocks noChangeArrowheads="1"/>
            </p:cNvSpPr>
            <p:nvPr/>
          </p:nvSpPr>
          <p:spPr bwMode="auto">
            <a:xfrm>
              <a:off x="7499" y="2262"/>
              <a:ext cx="412" cy="689"/>
            </a:xfrm>
            <a:prstGeom prst="rect">
              <a:avLst/>
            </a:prstGeom>
            <a:grpFill/>
            <a:ln w="9525">
              <a:noFill/>
              <a:miter lim="800000"/>
            </a:ln>
          </p:spPr>
          <p:txBody>
            <a:bodyPr vert="eaVert" wrap="square" lIns="7200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endParaRPr kumimoji="0" lang="en-US" altLang="zh-CN" sz="2400" b="0" i="0" u="none" strike="noStrike" kern="1200" cap="none" spc="0" normalizeH="0" baseline="0" noProof="0" dirty="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54" name="标题 1"/>
          <p:cNvSpPr>
            <a:spLocks noGrp="1"/>
          </p:cNvSpPr>
          <p:nvPr>
            <p:ph type="title"/>
          </p:nvPr>
        </p:nvSpPr>
        <p:spPr>
          <a:xfrm>
            <a:off x="0" y="-46476"/>
            <a:ext cx="8917401" cy="919162"/>
          </a:xfrm>
        </p:spPr>
        <p:txBody>
          <a:bodyPr>
            <a:normAutofit fontScale="90000"/>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Extension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楷体" panose="02010609060101010101" pitchFamily="49" charset="-122"/>
                <a:ea typeface="楷体" panose="02010609060101010101" pitchFamily="49" charset="-122"/>
                <a:cs typeface="Times New Roman" panose="02020603050405020304" pitchFamily="18" charset="0"/>
              </a:rPr>
              <a:t>拓展：</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MIMO communication</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 name="文本框 57"/>
          <p:cNvSpPr txBox="1"/>
          <p:nvPr/>
        </p:nvSpPr>
        <p:spPr>
          <a:xfrm>
            <a:off x="0" y="4780622"/>
            <a:ext cx="9238422" cy="1969770"/>
          </a:xfrm>
          <a:prstGeom prst="rect">
            <a:avLst/>
          </a:prstGeom>
          <a:noFill/>
        </p:spPr>
        <p:txBody>
          <a:bodyPr wrap="square">
            <a:spAutoFit/>
          </a:bodyPr>
          <a:lstStyle/>
          <a:p>
            <a:r>
              <a:rPr lang="zh-CN" altLang="zh-CN" sz="2400" b="1" dirty="0">
                <a:solidFill>
                  <a:srgbClr val="C00000"/>
                </a:solidFill>
                <a:latin typeface="Times New Roman" panose="02020603050405020304" pitchFamily="18" charset="0"/>
                <a:cs typeface="Times New Roman" panose="02020603050405020304" pitchFamily="18" charset="0"/>
              </a:rPr>
              <a:t>MIMO multiplexing</a:t>
            </a:r>
            <a:r>
              <a:rPr lang="zh-CN" altLang="en-US" sz="2400" b="1" dirty="0">
                <a:solidFill>
                  <a:srgbClr val="C00000"/>
                </a:solidFill>
                <a:latin typeface="Times New Roman" panose="02020603050405020304" pitchFamily="18" charset="0"/>
                <a:cs typeface="Times New Roman" panose="02020603050405020304" pitchFamily="18" charset="0"/>
              </a:rPr>
              <a:t>复用</a:t>
            </a:r>
            <a:r>
              <a:rPr lang="zh-CN" altLang="zh-CN" sz="2400" dirty="0">
                <a:latin typeface="Times New Roman" panose="02020603050405020304" pitchFamily="18" charset="0"/>
                <a:cs typeface="Times New Roman" panose="02020603050405020304" pitchFamily="18" charset="0"/>
              </a:rPr>
              <a:t>: multiple antennas send different information to multiply data rate.多天线传输相互独立的信息，</a:t>
            </a:r>
            <a:r>
              <a:rPr lang="zh-CN" altLang="zh-CN" sz="2400" b="1" dirty="0">
                <a:latin typeface="Times New Roman" panose="02020603050405020304" pitchFamily="18" charset="0"/>
                <a:cs typeface="Times New Roman" panose="02020603050405020304" pitchFamily="18" charset="0"/>
              </a:rPr>
              <a:t>信息传输速率可以成倍提升。</a:t>
            </a:r>
            <a:endParaRPr lang="en-US" altLang="zh-CN" sz="2400" b="1" dirty="0">
              <a:latin typeface="Times New Roman" panose="02020603050405020304" pitchFamily="18" charset="0"/>
              <a:cs typeface="Times New Roman" panose="02020603050405020304" pitchFamily="18" charset="0"/>
            </a:endParaRPr>
          </a:p>
          <a:p>
            <a:r>
              <a:rPr lang="zh-CN" altLang="zh-CN" sz="2400" dirty="0">
                <a:latin typeface="Times New Roman" panose="02020603050405020304" pitchFamily="18" charset="0"/>
                <a:cs typeface="Times New Roman" panose="02020603050405020304" pitchFamily="18" charset="0"/>
              </a:rPr>
              <a:t> MIMO diversity</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分集</a:t>
            </a:r>
            <a:r>
              <a:rPr lang="zh-CN" altLang="zh-CN" sz="2400" dirty="0">
                <a:latin typeface="Times New Roman" panose="02020603050405020304" pitchFamily="18" charset="0"/>
                <a:cs typeface="Times New Roman" panose="02020603050405020304" pitchFamily="18" charset="0"/>
              </a:rPr>
              <a:t>: multiple antennas send the same information to enhance system reliability.多天线发送相同信息，增强系统可靠性</a:t>
            </a:r>
            <a:r>
              <a:rPr lang="zh-CN" altLang="zh-CN" sz="2600" dirty="0">
                <a:latin typeface="Times New Roman" panose="02020603050405020304" pitchFamily="18" charset="0"/>
                <a:cs typeface="Times New Roman" panose="02020603050405020304" pitchFamily="18" charset="0"/>
              </a:rPr>
              <a:t>。</a:t>
            </a:r>
            <a:endParaRPr lang="zh-CN" alt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1"/>
          <p:cNvGrpSpPr>
            <a:grpSpLocks noChangeAspect="1"/>
          </p:cNvGrpSpPr>
          <p:nvPr/>
        </p:nvGrpSpPr>
        <p:grpSpPr bwMode="auto">
          <a:xfrm>
            <a:off x="646160" y="2775934"/>
            <a:ext cx="7523687" cy="3973800"/>
            <a:chOff x="2863" y="647"/>
            <a:chExt cx="6257" cy="3304"/>
          </a:xfrm>
          <a:noFill/>
        </p:grpSpPr>
        <p:sp>
          <p:nvSpPr>
            <p:cNvPr id="8" name="AutoShape 47"/>
            <p:cNvSpPr>
              <a:spLocks noChangeAspect="1" noChangeArrowheads="1" noTextEdit="1"/>
            </p:cNvSpPr>
            <p:nvPr/>
          </p:nvSpPr>
          <p:spPr bwMode="auto">
            <a:xfrm>
              <a:off x="2863" y="647"/>
              <a:ext cx="6257" cy="3189"/>
            </a:xfrm>
            <a:prstGeom prst="rect">
              <a:avLst/>
            </a:prstGeom>
            <a:grpFill/>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9" name="Text Box 46"/>
            <p:cNvSpPr txBox="1">
              <a:spLocks noChangeArrowheads="1"/>
            </p:cNvSpPr>
            <p:nvPr/>
          </p:nvSpPr>
          <p:spPr bwMode="auto">
            <a:xfrm>
              <a:off x="3229" y="1050"/>
              <a:ext cx="486" cy="2447"/>
            </a:xfrm>
            <a:prstGeom prst="rect">
              <a:avLst/>
            </a:prstGeom>
            <a:grpFill/>
            <a:ln w="9525">
              <a:solidFill>
                <a:srgbClr val="000000"/>
              </a:solidFill>
              <a:miter lim="800000"/>
            </a:ln>
          </p:spPr>
          <p:txBody>
            <a:bodyPr vert="eaVert" wrap="square" lIns="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Transmitter</a:t>
              </a:r>
              <a:endParaRPr kumimoji="0" lang="en-US" altLang="zh-CN" sz="2400" b="0" i="0" u="none" strike="noStrike" kern="1200" cap="none" spc="0" normalizeH="0" baseline="0" noProof="0" dirty="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nvGrpSpPr>
            <p:cNvPr id="10" name="Group 41"/>
            <p:cNvGrpSpPr/>
            <p:nvPr/>
          </p:nvGrpSpPr>
          <p:grpSpPr bwMode="auto">
            <a:xfrm>
              <a:off x="3720" y="1067"/>
              <a:ext cx="835" cy="362"/>
              <a:chOff x="3150" y="9377"/>
              <a:chExt cx="835" cy="362"/>
            </a:xfrm>
            <a:grpFill/>
          </p:grpSpPr>
          <p:grpSp>
            <p:nvGrpSpPr>
              <p:cNvPr id="50" name="Group 43"/>
              <p:cNvGrpSpPr/>
              <p:nvPr/>
            </p:nvGrpSpPr>
            <p:grpSpPr bwMode="auto">
              <a:xfrm>
                <a:off x="3596" y="9377"/>
                <a:ext cx="389" cy="362"/>
                <a:chOff x="3497" y="9183"/>
                <a:chExt cx="389" cy="362"/>
              </a:xfrm>
              <a:grpFill/>
            </p:grpSpPr>
            <p:sp>
              <p:nvSpPr>
                <p:cNvPr id="52" name="AutoShape 45"/>
                <p:cNvSpPr>
                  <a:spLocks noChangeArrowheads="1"/>
                </p:cNvSpPr>
                <p:nvPr/>
              </p:nvSpPr>
              <p:spPr bwMode="auto">
                <a:xfrm flipV="1">
                  <a:off x="3497" y="9188"/>
                  <a:ext cx="389" cy="222"/>
                </a:xfrm>
                <a:prstGeom prst="triangle">
                  <a:avLst>
                    <a:gd name="adj" fmla="val 4987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53" name="AutoShape 44"/>
                <p:cNvSpPr>
                  <a:spLocks noChangeShapeType="1"/>
                </p:cNvSpPr>
                <p:nvPr/>
              </p:nvSpPr>
              <p:spPr bwMode="auto">
                <a:xfrm>
                  <a:off x="3690" y="9183"/>
                  <a:ext cx="1" cy="36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51" name="AutoShape 42"/>
              <p:cNvSpPr>
                <a:spLocks noChangeShapeType="1"/>
              </p:cNvSpPr>
              <p:nvPr/>
            </p:nvSpPr>
            <p:spPr bwMode="auto">
              <a:xfrm>
                <a:off x="3150" y="9734"/>
                <a:ext cx="647" cy="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grpSp>
          <p:nvGrpSpPr>
            <p:cNvPr id="11" name="Group 36"/>
            <p:cNvGrpSpPr/>
            <p:nvPr/>
          </p:nvGrpSpPr>
          <p:grpSpPr bwMode="auto">
            <a:xfrm>
              <a:off x="3729" y="1718"/>
              <a:ext cx="835" cy="362"/>
              <a:chOff x="3150" y="9377"/>
              <a:chExt cx="835" cy="362"/>
            </a:xfrm>
            <a:grpFill/>
          </p:grpSpPr>
          <p:grpSp>
            <p:nvGrpSpPr>
              <p:cNvPr id="46" name="Group 38"/>
              <p:cNvGrpSpPr/>
              <p:nvPr/>
            </p:nvGrpSpPr>
            <p:grpSpPr bwMode="auto">
              <a:xfrm>
                <a:off x="3596" y="9377"/>
                <a:ext cx="389" cy="362"/>
                <a:chOff x="3497" y="9183"/>
                <a:chExt cx="389" cy="362"/>
              </a:xfrm>
              <a:grpFill/>
            </p:grpSpPr>
            <p:sp>
              <p:nvSpPr>
                <p:cNvPr id="48" name="AutoShape 40"/>
                <p:cNvSpPr>
                  <a:spLocks noChangeArrowheads="1"/>
                </p:cNvSpPr>
                <p:nvPr/>
              </p:nvSpPr>
              <p:spPr bwMode="auto">
                <a:xfrm flipV="1">
                  <a:off x="3497" y="9188"/>
                  <a:ext cx="389" cy="222"/>
                </a:xfrm>
                <a:prstGeom prst="triangle">
                  <a:avLst>
                    <a:gd name="adj" fmla="val 4987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49" name="AutoShape 39"/>
                <p:cNvSpPr>
                  <a:spLocks noChangeShapeType="1"/>
                </p:cNvSpPr>
                <p:nvPr/>
              </p:nvSpPr>
              <p:spPr bwMode="auto">
                <a:xfrm>
                  <a:off x="3690" y="9183"/>
                  <a:ext cx="1" cy="36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47" name="AutoShape 37"/>
              <p:cNvSpPr>
                <a:spLocks noChangeShapeType="1"/>
              </p:cNvSpPr>
              <p:nvPr/>
            </p:nvSpPr>
            <p:spPr bwMode="auto">
              <a:xfrm>
                <a:off x="3150" y="9734"/>
                <a:ext cx="647" cy="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12" name="Text Box 35"/>
            <p:cNvSpPr txBox="1">
              <a:spLocks noChangeArrowheads="1"/>
            </p:cNvSpPr>
            <p:nvPr/>
          </p:nvSpPr>
          <p:spPr bwMode="auto">
            <a:xfrm>
              <a:off x="7949" y="1105"/>
              <a:ext cx="486" cy="2447"/>
            </a:xfrm>
            <a:prstGeom prst="rect">
              <a:avLst/>
            </a:prstGeom>
            <a:grpFill/>
            <a:ln w="9525">
              <a:solidFill>
                <a:srgbClr val="000000"/>
              </a:solidFill>
              <a:miter lim="800000"/>
            </a:ln>
          </p:spPr>
          <p:txBody>
            <a:bodyPr vert="eaVert" wrap="square" lIns="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Receiver</a:t>
              </a:r>
              <a:endParaRPr kumimoji="0" lang="en-US" altLang="zh-CN" sz="2400" b="0" i="0" u="none" strike="noStrike" kern="1200" cap="none" spc="0" normalizeH="0" baseline="0" noProof="0" dirty="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nvGrpSpPr>
            <p:cNvPr id="13" name="Group 30"/>
            <p:cNvGrpSpPr/>
            <p:nvPr/>
          </p:nvGrpSpPr>
          <p:grpSpPr bwMode="auto">
            <a:xfrm>
              <a:off x="7121" y="1106"/>
              <a:ext cx="828" cy="377"/>
              <a:chOff x="7121" y="1036"/>
              <a:chExt cx="828" cy="377"/>
            </a:xfrm>
            <a:grpFill/>
          </p:grpSpPr>
          <p:grpSp>
            <p:nvGrpSpPr>
              <p:cNvPr id="42" name="Group 32"/>
              <p:cNvGrpSpPr/>
              <p:nvPr/>
            </p:nvGrpSpPr>
            <p:grpSpPr bwMode="auto">
              <a:xfrm>
                <a:off x="7121" y="1036"/>
                <a:ext cx="356" cy="357"/>
                <a:chOff x="7141" y="1105"/>
                <a:chExt cx="356" cy="357"/>
              </a:xfrm>
              <a:grpFill/>
            </p:grpSpPr>
            <p:sp>
              <p:nvSpPr>
                <p:cNvPr id="44" name="AutoShape 34"/>
                <p:cNvSpPr>
                  <a:spLocks noChangeArrowheads="1"/>
                </p:cNvSpPr>
                <p:nvPr/>
              </p:nvSpPr>
              <p:spPr bwMode="auto">
                <a:xfrm flipV="1">
                  <a:off x="7141" y="1105"/>
                  <a:ext cx="356" cy="233"/>
                </a:xfrm>
                <a:prstGeom prst="triangle">
                  <a:avLst>
                    <a:gd name="adj" fmla="val 5000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45" name="AutoShape 33"/>
                <p:cNvSpPr>
                  <a:spLocks noChangeShapeType="1"/>
                </p:cNvSpPr>
                <p:nvPr/>
              </p:nvSpPr>
              <p:spPr bwMode="auto">
                <a:xfrm>
                  <a:off x="7317" y="1110"/>
                  <a:ext cx="7" cy="35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43" name="AutoShape 31"/>
              <p:cNvSpPr>
                <a:spLocks noChangeShapeType="1"/>
              </p:cNvSpPr>
              <p:nvPr/>
            </p:nvSpPr>
            <p:spPr bwMode="auto">
              <a:xfrm>
                <a:off x="7305" y="1394"/>
                <a:ext cx="644" cy="19"/>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14" name="Text Box 29"/>
            <p:cNvSpPr txBox="1">
              <a:spLocks noChangeArrowheads="1"/>
            </p:cNvSpPr>
            <p:nvPr/>
          </p:nvSpPr>
          <p:spPr bwMode="auto">
            <a:xfrm>
              <a:off x="3781" y="3600"/>
              <a:ext cx="4234" cy="351"/>
            </a:xfrm>
            <a:prstGeom prst="rect">
              <a:avLst/>
            </a:prstGeom>
            <a:grpFill/>
            <a:ln w="9525">
              <a:noFill/>
              <a:miter lim="800000"/>
            </a:ln>
          </p:spPr>
          <p:txBody>
            <a:bodyPr vert="horz" wrap="square" lIns="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3399"/>
                  </a:solidFill>
                  <a:effectLst/>
                  <a:uLnTx/>
                  <a:uFillTx/>
                  <a:latin typeface="Garamond" panose="02020404030301010803" pitchFamily="18" charset="0"/>
                  <a:ea typeface="宋体" panose="02010600030101010101" pitchFamily="2" charset="-122"/>
                  <a:cs typeface="+mn-cs"/>
                </a:rPr>
                <a:t>MIMO Communication System</a:t>
              </a:r>
              <a:endParaRPr kumimoji="0" lang="en-US" altLang="zh-CN" sz="3200" b="1" i="0" u="none" strike="noStrike" kern="1200" cap="none" spc="0" normalizeH="0" baseline="0" noProof="0" dirty="0">
                <a:ln>
                  <a:noFill/>
                </a:ln>
                <a:solidFill>
                  <a:srgbClr val="003399"/>
                </a:solidFill>
                <a:effectLst/>
                <a:uLnTx/>
                <a:uFillTx/>
                <a:latin typeface="Garamond" panose="02020404030301010803" pitchFamily="18" charset="0"/>
                <a:ea typeface="宋体" panose="02010600030101010101" pitchFamily="2" charset="-122"/>
                <a:cs typeface="+mn-cs"/>
              </a:endParaRPr>
            </a:p>
          </p:txBody>
        </p:sp>
        <p:grpSp>
          <p:nvGrpSpPr>
            <p:cNvPr id="15" name="Group 24"/>
            <p:cNvGrpSpPr/>
            <p:nvPr/>
          </p:nvGrpSpPr>
          <p:grpSpPr bwMode="auto">
            <a:xfrm>
              <a:off x="3715" y="2804"/>
              <a:ext cx="835" cy="362"/>
              <a:chOff x="3150" y="9377"/>
              <a:chExt cx="835" cy="362"/>
            </a:xfrm>
            <a:grpFill/>
          </p:grpSpPr>
          <p:grpSp>
            <p:nvGrpSpPr>
              <p:cNvPr id="38" name="Group 26"/>
              <p:cNvGrpSpPr/>
              <p:nvPr/>
            </p:nvGrpSpPr>
            <p:grpSpPr bwMode="auto">
              <a:xfrm>
                <a:off x="3596" y="9377"/>
                <a:ext cx="389" cy="362"/>
                <a:chOff x="3497" y="9183"/>
                <a:chExt cx="389" cy="362"/>
              </a:xfrm>
              <a:grpFill/>
            </p:grpSpPr>
            <p:sp>
              <p:nvSpPr>
                <p:cNvPr id="40" name="AutoShape 28"/>
                <p:cNvSpPr>
                  <a:spLocks noChangeArrowheads="1"/>
                </p:cNvSpPr>
                <p:nvPr/>
              </p:nvSpPr>
              <p:spPr bwMode="auto">
                <a:xfrm flipV="1">
                  <a:off x="3497" y="9188"/>
                  <a:ext cx="389" cy="222"/>
                </a:xfrm>
                <a:prstGeom prst="triangle">
                  <a:avLst>
                    <a:gd name="adj" fmla="val 4987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41" name="AutoShape 27"/>
                <p:cNvSpPr>
                  <a:spLocks noChangeShapeType="1"/>
                </p:cNvSpPr>
                <p:nvPr/>
              </p:nvSpPr>
              <p:spPr bwMode="auto">
                <a:xfrm>
                  <a:off x="3690" y="9183"/>
                  <a:ext cx="1" cy="36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39" name="AutoShape 25"/>
              <p:cNvSpPr>
                <a:spLocks noChangeShapeType="1"/>
              </p:cNvSpPr>
              <p:nvPr/>
            </p:nvSpPr>
            <p:spPr bwMode="auto">
              <a:xfrm>
                <a:off x="3150" y="9734"/>
                <a:ext cx="647" cy="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16" name="Text Box 23"/>
            <p:cNvSpPr txBox="1">
              <a:spLocks noChangeArrowheads="1"/>
            </p:cNvSpPr>
            <p:nvPr/>
          </p:nvSpPr>
          <p:spPr bwMode="auto">
            <a:xfrm>
              <a:off x="3886" y="2262"/>
              <a:ext cx="504" cy="689"/>
            </a:xfrm>
            <a:prstGeom prst="rect">
              <a:avLst/>
            </a:prstGeom>
            <a:grpFill/>
            <a:ln w="9525">
              <a:noFill/>
              <a:miter lim="800000"/>
            </a:ln>
          </p:spPr>
          <p:txBody>
            <a:bodyPr vert="eaVert" wrap="square" lIns="7200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endParaRPr kumimoji="0" lang="en-US" altLang="zh-CN" sz="2400" b="0" i="0" u="none" strike="noStrike" kern="1200" cap="none" spc="0" normalizeH="0" baseline="0" noProof="0" dirty="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nvGrpSpPr>
            <p:cNvPr id="17" name="Group 18"/>
            <p:cNvGrpSpPr/>
            <p:nvPr/>
          </p:nvGrpSpPr>
          <p:grpSpPr bwMode="auto">
            <a:xfrm>
              <a:off x="7121" y="1698"/>
              <a:ext cx="828" cy="377"/>
              <a:chOff x="7121" y="1036"/>
              <a:chExt cx="828" cy="377"/>
            </a:xfrm>
            <a:grpFill/>
          </p:grpSpPr>
          <p:grpSp>
            <p:nvGrpSpPr>
              <p:cNvPr id="34" name="Group 20"/>
              <p:cNvGrpSpPr/>
              <p:nvPr/>
            </p:nvGrpSpPr>
            <p:grpSpPr bwMode="auto">
              <a:xfrm>
                <a:off x="7121" y="1036"/>
                <a:ext cx="356" cy="357"/>
                <a:chOff x="7141" y="1105"/>
                <a:chExt cx="356" cy="357"/>
              </a:xfrm>
              <a:grpFill/>
            </p:grpSpPr>
            <p:sp>
              <p:nvSpPr>
                <p:cNvPr id="36" name="AutoShape 22"/>
                <p:cNvSpPr>
                  <a:spLocks noChangeArrowheads="1"/>
                </p:cNvSpPr>
                <p:nvPr/>
              </p:nvSpPr>
              <p:spPr bwMode="auto">
                <a:xfrm flipV="1">
                  <a:off x="7141" y="1105"/>
                  <a:ext cx="356" cy="233"/>
                </a:xfrm>
                <a:prstGeom prst="triangle">
                  <a:avLst>
                    <a:gd name="adj" fmla="val 5000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37" name="AutoShape 21"/>
                <p:cNvSpPr>
                  <a:spLocks noChangeShapeType="1"/>
                </p:cNvSpPr>
                <p:nvPr/>
              </p:nvSpPr>
              <p:spPr bwMode="auto">
                <a:xfrm>
                  <a:off x="7317" y="1110"/>
                  <a:ext cx="7" cy="35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35" name="AutoShape 19"/>
              <p:cNvSpPr>
                <a:spLocks noChangeShapeType="1"/>
              </p:cNvSpPr>
              <p:nvPr/>
            </p:nvSpPr>
            <p:spPr bwMode="auto">
              <a:xfrm>
                <a:off x="7305" y="1394"/>
                <a:ext cx="644" cy="19"/>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grpSp>
          <p:nvGrpSpPr>
            <p:cNvPr id="18" name="Group 13"/>
            <p:cNvGrpSpPr/>
            <p:nvPr/>
          </p:nvGrpSpPr>
          <p:grpSpPr bwMode="auto">
            <a:xfrm>
              <a:off x="7121" y="2784"/>
              <a:ext cx="828" cy="377"/>
              <a:chOff x="7121" y="1036"/>
              <a:chExt cx="828" cy="377"/>
            </a:xfrm>
            <a:grpFill/>
          </p:grpSpPr>
          <p:grpSp>
            <p:nvGrpSpPr>
              <p:cNvPr id="30" name="Group 15"/>
              <p:cNvGrpSpPr/>
              <p:nvPr/>
            </p:nvGrpSpPr>
            <p:grpSpPr bwMode="auto">
              <a:xfrm>
                <a:off x="7121" y="1036"/>
                <a:ext cx="356" cy="357"/>
                <a:chOff x="7141" y="1105"/>
                <a:chExt cx="356" cy="357"/>
              </a:xfrm>
              <a:grpFill/>
            </p:grpSpPr>
            <p:sp>
              <p:nvSpPr>
                <p:cNvPr id="32" name="AutoShape 17"/>
                <p:cNvSpPr>
                  <a:spLocks noChangeArrowheads="1"/>
                </p:cNvSpPr>
                <p:nvPr/>
              </p:nvSpPr>
              <p:spPr bwMode="auto">
                <a:xfrm flipV="1">
                  <a:off x="7141" y="1105"/>
                  <a:ext cx="356" cy="233"/>
                </a:xfrm>
                <a:prstGeom prst="triangle">
                  <a:avLst>
                    <a:gd name="adj" fmla="val 50000"/>
                  </a:avLst>
                </a:prstGeom>
                <a:grpFill/>
                <a:ln w="9525">
                  <a:solidFill>
                    <a:srgbClr val="000000"/>
                  </a:solidFill>
                  <a:miter lim="800000"/>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33" name="AutoShape 16"/>
                <p:cNvSpPr>
                  <a:spLocks noChangeShapeType="1"/>
                </p:cNvSpPr>
                <p:nvPr/>
              </p:nvSpPr>
              <p:spPr bwMode="auto">
                <a:xfrm>
                  <a:off x="7317" y="1110"/>
                  <a:ext cx="7" cy="352"/>
                </a:xfrm>
                <a:prstGeom prst="straightConnector1">
                  <a:avLst/>
                </a:prstGeom>
                <a:grpFill/>
                <a:ln w="9525">
                  <a:solidFill>
                    <a:srgbClr val="000000"/>
                  </a:solidFill>
                  <a:roun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31" name="AutoShape 14"/>
              <p:cNvSpPr>
                <a:spLocks noChangeShapeType="1"/>
              </p:cNvSpPr>
              <p:nvPr/>
            </p:nvSpPr>
            <p:spPr bwMode="auto">
              <a:xfrm>
                <a:off x="7305" y="1394"/>
                <a:ext cx="644" cy="19"/>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grpSp>
          <p:nvGrpSpPr>
            <p:cNvPr id="19" name="Group 2"/>
            <p:cNvGrpSpPr/>
            <p:nvPr/>
          </p:nvGrpSpPr>
          <p:grpSpPr bwMode="auto">
            <a:xfrm>
              <a:off x="4705" y="1111"/>
              <a:ext cx="2309" cy="1926"/>
              <a:chOff x="4705" y="1111"/>
              <a:chExt cx="2309" cy="1926"/>
            </a:xfrm>
            <a:grpFill/>
          </p:grpSpPr>
          <p:sp>
            <p:nvSpPr>
              <p:cNvPr id="21" name="AutoShape 11"/>
              <p:cNvSpPr>
                <a:spLocks noChangeShapeType="1"/>
              </p:cNvSpPr>
              <p:nvPr/>
            </p:nvSpPr>
            <p:spPr bwMode="auto">
              <a:xfrm>
                <a:off x="4847" y="1235"/>
                <a:ext cx="2156" cy="50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2" name="AutoShape 10"/>
              <p:cNvSpPr>
                <a:spLocks noChangeShapeType="1"/>
              </p:cNvSpPr>
              <p:nvPr/>
            </p:nvSpPr>
            <p:spPr bwMode="auto">
              <a:xfrm flipV="1">
                <a:off x="4847" y="1235"/>
                <a:ext cx="2102" cy="501"/>
              </a:xfrm>
              <a:prstGeom prst="straightConnector1">
                <a:avLst/>
              </a:prstGeom>
              <a:grpFill/>
              <a:ln w="9525">
                <a:solidFill>
                  <a:srgbClr val="FF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3" name="AutoShape 9"/>
              <p:cNvSpPr>
                <a:spLocks noChangeShapeType="1"/>
              </p:cNvSpPr>
              <p:nvPr/>
            </p:nvSpPr>
            <p:spPr bwMode="auto">
              <a:xfrm>
                <a:off x="4888" y="1111"/>
                <a:ext cx="2091" cy="1"/>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4" name="AutoShape 8"/>
              <p:cNvSpPr>
                <a:spLocks noChangeShapeType="1"/>
              </p:cNvSpPr>
              <p:nvPr/>
            </p:nvSpPr>
            <p:spPr bwMode="auto">
              <a:xfrm>
                <a:off x="4889" y="1901"/>
                <a:ext cx="2125" cy="1"/>
              </a:xfrm>
              <a:prstGeom prst="straightConnector1">
                <a:avLst/>
              </a:prstGeom>
              <a:grpFill/>
              <a:ln w="9525">
                <a:solidFill>
                  <a:srgbClr val="FF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5" name="AutoShape 7"/>
              <p:cNvSpPr>
                <a:spLocks noChangeShapeType="1"/>
              </p:cNvSpPr>
              <p:nvPr/>
            </p:nvSpPr>
            <p:spPr bwMode="auto">
              <a:xfrm>
                <a:off x="4884" y="1320"/>
                <a:ext cx="2065" cy="1434"/>
              </a:xfrm>
              <a:prstGeom prst="straightConnector1">
                <a:avLst/>
              </a:prstGeom>
              <a:grpFill/>
              <a:ln w="9525">
                <a:solidFill>
                  <a:srgbClr val="00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6" name="AutoShape 6"/>
              <p:cNvSpPr>
                <a:spLocks noChangeShapeType="1"/>
              </p:cNvSpPr>
              <p:nvPr/>
            </p:nvSpPr>
            <p:spPr bwMode="auto">
              <a:xfrm>
                <a:off x="4858" y="1997"/>
                <a:ext cx="2156" cy="960"/>
              </a:xfrm>
              <a:prstGeom prst="straightConnector1">
                <a:avLst/>
              </a:prstGeom>
              <a:grpFill/>
              <a:ln w="9525">
                <a:solidFill>
                  <a:srgbClr val="FF0000"/>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7" name="AutoShape 5"/>
              <p:cNvSpPr>
                <a:spLocks noChangeShapeType="1"/>
              </p:cNvSpPr>
              <p:nvPr/>
            </p:nvSpPr>
            <p:spPr bwMode="auto">
              <a:xfrm flipV="1">
                <a:off x="4705" y="1345"/>
                <a:ext cx="2309" cy="1530"/>
              </a:xfrm>
              <a:prstGeom prst="straightConnector1">
                <a:avLst/>
              </a:prstGeom>
              <a:grpFill/>
              <a:ln w="9525">
                <a:solidFill>
                  <a:srgbClr val="31849B"/>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8" name="AutoShape 4"/>
              <p:cNvSpPr>
                <a:spLocks noChangeShapeType="1"/>
              </p:cNvSpPr>
              <p:nvPr/>
            </p:nvSpPr>
            <p:spPr bwMode="auto">
              <a:xfrm flipV="1">
                <a:off x="4730" y="1997"/>
                <a:ext cx="2284" cy="995"/>
              </a:xfrm>
              <a:prstGeom prst="straightConnector1">
                <a:avLst/>
              </a:prstGeom>
              <a:grpFill/>
              <a:ln w="9525">
                <a:solidFill>
                  <a:srgbClr val="31849B"/>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sp>
            <p:nvSpPr>
              <p:cNvPr id="29" name="AutoShape 3"/>
              <p:cNvSpPr>
                <a:spLocks noChangeShapeType="1"/>
              </p:cNvSpPr>
              <p:nvPr/>
            </p:nvSpPr>
            <p:spPr bwMode="auto">
              <a:xfrm>
                <a:off x="4730" y="3023"/>
                <a:ext cx="2260" cy="14"/>
              </a:xfrm>
              <a:prstGeom prst="straightConnector1">
                <a:avLst/>
              </a:prstGeom>
              <a:grpFill/>
              <a:ln w="9525">
                <a:solidFill>
                  <a:srgbClr val="31849B"/>
                </a:solidFill>
                <a:round/>
                <a:tailEnd type="triangle" w="med" len="med"/>
              </a:ln>
            </p:spPr>
            <p:txBody>
              <a:bodyPr vert="horz" wrap="square" lIns="91440" tIns="45720" rIns="91440" bIns="45720" numCol="1" anchor="t"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20" name="Text Box 12"/>
            <p:cNvSpPr txBox="1">
              <a:spLocks noChangeArrowheads="1"/>
            </p:cNvSpPr>
            <p:nvPr/>
          </p:nvSpPr>
          <p:spPr bwMode="auto">
            <a:xfrm>
              <a:off x="7499" y="2262"/>
              <a:ext cx="412" cy="689"/>
            </a:xfrm>
            <a:prstGeom prst="rect">
              <a:avLst/>
            </a:prstGeom>
            <a:grpFill/>
            <a:ln w="9525">
              <a:noFill/>
              <a:miter lim="800000"/>
            </a:ln>
          </p:spPr>
          <p:txBody>
            <a:bodyPr vert="eaVert" wrap="square" lIns="72000" tIns="0" rIns="0" bIns="0" numCol="1" anchor="ctr" anchorCtr="0" compatLnSpc="1"/>
            <a:lstStyle>
              <a:defPPr>
                <a:defRPr lang="zh-CN"/>
              </a:defPPr>
              <a:lvl1pPr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514"/>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endParaRPr kumimoji="0" lang="en-US" altLang="zh-CN" sz="2400" b="0" i="0" u="none" strike="noStrike" kern="1200" cap="none" spc="0" normalizeH="0" baseline="0" noProof="0" dirty="0">
                <a:ln>
                  <a:noFill/>
                </a:ln>
                <a:solidFill>
                  <a:srgbClr val="000514"/>
                </a:solidFill>
                <a:effectLst/>
                <a:uLnTx/>
                <a:uFillTx/>
                <a:latin typeface="Garamond" panose="02020404030301010803" pitchFamily="18" charset="0"/>
                <a:ea typeface="宋体" panose="02010600030101010101" pitchFamily="2" charset="-122"/>
                <a:cs typeface="+mn-cs"/>
              </a:endParaRPr>
            </a:p>
          </p:txBody>
        </p:sp>
      </p:grpSp>
      <p:sp>
        <p:nvSpPr>
          <p:cNvPr id="54" name="标题 1"/>
          <p:cNvSpPr>
            <a:spLocks noGrp="1"/>
          </p:cNvSpPr>
          <p:nvPr>
            <p:ph type="title"/>
          </p:nvPr>
        </p:nvSpPr>
        <p:spPr>
          <a:xfrm>
            <a:off x="0" y="-46476"/>
            <a:ext cx="8917401" cy="919162"/>
          </a:xfrm>
        </p:spPr>
        <p:txBody>
          <a:bodyPr>
            <a:normAutofit fontScale="90000"/>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Extension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楷体" panose="02010609060101010101" pitchFamily="49" charset="-122"/>
                <a:ea typeface="楷体" panose="02010609060101010101" pitchFamily="49" charset="-122"/>
                <a:cs typeface="Times New Roman" panose="02020603050405020304" pitchFamily="18" charset="0"/>
              </a:rPr>
              <a:t>拓展：</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MIMO communication</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620581" y="1654804"/>
            <a:ext cx="7349986" cy="1259444"/>
          </a:xfrm>
          <a:prstGeom prst="rect">
            <a:avLst/>
          </a:prstGeom>
        </p:spPr>
      </p:pic>
      <p:sp>
        <p:nvSpPr>
          <p:cNvPr id="4" name="文本框 3"/>
          <p:cNvSpPr txBox="1"/>
          <p:nvPr/>
        </p:nvSpPr>
        <p:spPr>
          <a:xfrm>
            <a:off x="0" y="895152"/>
            <a:ext cx="7732644" cy="523220"/>
          </a:xfrm>
          <a:prstGeom prst="rect">
            <a:avLst/>
          </a:prstGeom>
          <a:noFill/>
        </p:spPr>
        <p:txBody>
          <a:bodyPr wrap="square">
            <a:spAutoFit/>
          </a:bodyPr>
          <a:lstStyle/>
          <a:p>
            <a:r>
              <a:rPr lang="zh-CN" altLang="zh-CN" sz="2800" dirty="0"/>
              <a:t>The standard channel capacity formula for MIMO:</a:t>
            </a:r>
            <a:endParaRPr lang="zh-CN"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25551" y="984073"/>
            <a:ext cx="7349986" cy="1259444"/>
          </a:xfrm>
          <a:prstGeom prst="rect">
            <a:avLst/>
          </a:prstGeom>
        </p:spPr>
      </p:pic>
      <p:sp>
        <p:nvSpPr>
          <p:cNvPr id="4" name="文本框 3"/>
          <p:cNvSpPr txBox="1"/>
          <p:nvPr/>
        </p:nvSpPr>
        <p:spPr>
          <a:xfrm>
            <a:off x="59634" y="235087"/>
            <a:ext cx="7732644" cy="523220"/>
          </a:xfrm>
          <a:prstGeom prst="rect">
            <a:avLst/>
          </a:prstGeom>
          <a:noFill/>
        </p:spPr>
        <p:txBody>
          <a:bodyPr wrap="square">
            <a:spAutoFit/>
          </a:bodyPr>
          <a:lstStyle/>
          <a:p>
            <a:r>
              <a:rPr lang="zh-CN" altLang="zh-CN" sz="2800" dirty="0"/>
              <a:t>The standard channel capacity formula for MIMO:</a:t>
            </a:r>
            <a:endParaRPr lang="zh-CN" altLang="en-US" sz="2800" dirty="0"/>
          </a:p>
        </p:txBody>
      </p:sp>
      <p:pic>
        <p:nvPicPr>
          <p:cNvPr id="5" name="图片 4"/>
          <p:cNvPicPr>
            <a:picLocks noChangeAspect="1"/>
          </p:cNvPicPr>
          <p:nvPr/>
        </p:nvPicPr>
        <p:blipFill>
          <a:blip r:embed="rId2"/>
          <a:stretch>
            <a:fillRect/>
          </a:stretch>
        </p:blipFill>
        <p:spPr>
          <a:xfrm>
            <a:off x="247862" y="2243517"/>
            <a:ext cx="4786520" cy="3277832"/>
          </a:xfrm>
          <a:prstGeom prst="rect">
            <a:avLst/>
          </a:prstGeom>
        </p:spPr>
      </p:pic>
      <p:pic>
        <p:nvPicPr>
          <p:cNvPr id="53" name="图片 52"/>
          <p:cNvPicPr>
            <a:picLocks noChangeAspect="1"/>
          </p:cNvPicPr>
          <p:nvPr/>
        </p:nvPicPr>
        <p:blipFill>
          <a:blip r:embed="rId3"/>
          <a:stretch>
            <a:fillRect/>
          </a:stretch>
        </p:blipFill>
        <p:spPr>
          <a:xfrm>
            <a:off x="4885083" y="4690718"/>
            <a:ext cx="4258917" cy="2167282"/>
          </a:xfrm>
          <a:prstGeom prst="rect">
            <a:avLst/>
          </a:prstGeom>
        </p:spPr>
      </p:pic>
      <p:sp>
        <p:nvSpPr>
          <p:cNvPr id="6" name="文本框 5"/>
          <p:cNvSpPr txBox="1"/>
          <p:nvPr/>
        </p:nvSpPr>
        <p:spPr>
          <a:xfrm>
            <a:off x="2779230" y="1947277"/>
            <a:ext cx="4604302" cy="369332"/>
          </a:xfrm>
          <a:prstGeom prst="rect">
            <a:avLst/>
          </a:prstGeom>
          <a:noFill/>
        </p:spPr>
        <p:txBody>
          <a:bodyPr wrap="square">
            <a:spAutoFit/>
          </a:bodyPr>
          <a:lstStyle/>
          <a:p>
            <a:r>
              <a:rPr lang="en-US" altLang="zh-CN" dirty="0">
                <a:solidFill>
                  <a:srgbClr val="00B050"/>
                </a:solidFill>
              </a:rPr>
              <a:t>det:</a:t>
            </a:r>
            <a:r>
              <a:rPr lang="zh-CN" altLang="zh-CN" dirty="0">
                <a:solidFill>
                  <a:srgbClr val="00B050"/>
                </a:solidFill>
              </a:rPr>
              <a:t>determinant</a:t>
            </a:r>
            <a:r>
              <a:rPr lang="en-US" altLang="zh-CN" dirty="0">
                <a:solidFill>
                  <a:srgbClr val="00B050"/>
                </a:solidFill>
              </a:rPr>
              <a:t> </a:t>
            </a:r>
            <a:r>
              <a:rPr lang="zh-CN" altLang="en-US" dirty="0">
                <a:solidFill>
                  <a:srgbClr val="00B050"/>
                </a:solidFill>
              </a:rPr>
              <a:t>行列式</a:t>
            </a:r>
            <a:endParaRPr lang="zh-CN" altLang="en-US" dirty="0">
              <a:solidFill>
                <a:srgbClr val="00B050"/>
              </a:solidFill>
            </a:endParaRPr>
          </a:p>
        </p:txBody>
      </p:sp>
      <p:pic>
        <p:nvPicPr>
          <p:cNvPr id="9" name="图片 8"/>
          <p:cNvPicPr>
            <a:picLocks noChangeAspect="1"/>
          </p:cNvPicPr>
          <p:nvPr/>
        </p:nvPicPr>
        <p:blipFill>
          <a:blip r:embed="rId4"/>
          <a:stretch>
            <a:fillRect/>
          </a:stretch>
        </p:blipFill>
        <p:spPr>
          <a:xfrm>
            <a:off x="5161200" y="2554106"/>
            <a:ext cx="4066601" cy="182582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74010" y="777179"/>
            <a:ext cx="7349986" cy="1259444"/>
          </a:xfrm>
          <a:prstGeom prst="rect">
            <a:avLst/>
          </a:prstGeom>
        </p:spPr>
      </p:pic>
      <p:sp>
        <p:nvSpPr>
          <p:cNvPr id="4" name="文本框 3"/>
          <p:cNvSpPr txBox="1"/>
          <p:nvPr/>
        </p:nvSpPr>
        <p:spPr>
          <a:xfrm>
            <a:off x="39756" y="219291"/>
            <a:ext cx="7732644" cy="523220"/>
          </a:xfrm>
          <a:prstGeom prst="rect">
            <a:avLst/>
          </a:prstGeom>
          <a:noFill/>
        </p:spPr>
        <p:txBody>
          <a:bodyPr wrap="square">
            <a:spAutoFit/>
          </a:bodyPr>
          <a:lstStyle/>
          <a:p>
            <a:r>
              <a:rPr lang="zh-CN" altLang="zh-CN" sz="2800" dirty="0"/>
              <a:t>The standard channel capacity formula for MIMO:</a:t>
            </a:r>
            <a:endParaRPr lang="zh-CN" altLang="en-US" sz="2800" dirty="0"/>
          </a:p>
        </p:txBody>
      </p:sp>
      <p:sp>
        <p:nvSpPr>
          <p:cNvPr id="6" name="文本框 5"/>
          <p:cNvSpPr txBox="1"/>
          <p:nvPr/>
        </p:nvSpPr>
        <p:spPr>
          <a:xfrm>
            <a:off x="-4972" y="1891140"/>
            <a:ext cx="8198542" cy="954107"/>
          </a:xfrm>
          <a:prstGeom prst="rect">
            <a:avLst/>
          </a:prstGeom>
          <a:noFill/>
        </p:spPr>
        <p:txBody>
          <a:bodyPr wrap="square">
            <a:spAutoFit/>
          </a:bodyPr>
          <a:lstStyle/>
          <a:p>
            <a:pPr>
              <a:buNone/>
            </a:pPr>
            <a:r>
              <a:rPr lang="zh-CN" altLang="zh-CN" sz="2800" dirty="0"/>
              <a:t>Approximate MIMO Capacity Formula </a:t>
            </a:r>
            <a:endParaRPr lang="en-US" altLang="zh-CN" sz="2800" dirty="0"/>
          </a:p>
          <a:p>
            <a:pPr>
              <a:buNone/>
            </a:pPr>
            <a:r>
              <a:rPr lang="zh-CN" altLang="zh-CN" sz="2800" dirty="0"/>
              <a:t>(High SNR &amp; Rich Scattering)</a:t>
            </a:r>
            <a:endParaRPr lang="zh-CN" altLang="zh-CN" sz="2800" dirty="0"/>
          </a:p>
        </p:txBody>
      </p:sp>
      <p:pic>
        <p:nvPicPr>
          <p:cNvPr id="8" name="图片 7"/>
          <p:cNvPicPr>
            <a:picLocks noChangeAspect="1"/>
          </p:cNvPicPr>
          <p:nvPr/>
        </p:nvPicPr>
        <p:blipFill>
          <a:blip r:embed="rId2"/>
          <a:stretch>
            <a:fillRect/>
          </a:stretch>
        </p:blipFill>
        <p:spPr>
          <a:xfrm>
            <a:off x="989394" y="2784998"/>
            <a:ext cx="7165212" cy="881025"/>
          </a:xfrm>
          <a:prstGeom prst="rect">
            <a:avLst/>
          </a:prstGeom>
        </p:spPr>
      </p:pic>
      <p:pic>
        <p:nvPicPr>
          <p:cNvPr id="10" name="图片 9"/>
          <p:cNvPicPr>
            <a:picLocks noChangeAspect="1"/>
          </p:cNvPicPr>
          <p:nvPr/>
        </p:nvPicPr>
        <p:blipFill>
          <a:blip r:embed="rId3"/>
          <a:stretch>
            <a:fillRect/>
          </a:stretch>
        </p:blipFill>
        <p:spPr>
          <a:xfrm>
            <a:off x="2041101" y="3998660"/>
            <a:ext cx="4815804" cy="921284"/>
          </a:xfrm>
          <a:prstGeom prst="rect">
            <a:avLst/>
          </a:prstGeom>
        </p:spPr>
      </p:pic>
      <p:sp>
        <p:nvSpPr>
          <p:cNvPr id="12" name="文本框 11"/>
          <p:cNvSpPr txBox="1"/>
          <p:nvPr/>
        </p:nvSpPr>
        <p:spPr>
          <a:xfrm>
            <a:off x="39756" y="3489534"/>
            <a:ext cx="4614240" cy="521970"/>
          </a:xfrm>
          <a:prstGeom prst="rect">
            <a:avLst/>
          </a:prstGeom>
          <a:noFill/>
        </p:spPr>
        <p:txBody>
          <a:bodyPr wrap="square">
            <a:spAutoFit/>
          </a:bodyPr>
          <a:lstStyle/>
          <a:p>
            <a:r>
              <a:rPr lang="zh-CN" altLang="zh-CN" sz="2800" b="1" dirty="0">
                <a:solidFill>
                  <a:srgbClr val="FF0000"/>
                </a:solidFill>
              </a:rPr>
              <a:t>Special Case: 2×2 MIMO</a:t>
            </a:r>
            <a:endParaRPr lang="zh-CN" altLang="zh-CN" sz="2800" b="1" dirty="0">
              <a:solidFill>
                <a:srgbClr val="FF0000"/>
              </a:solidFill>
            </a:endParaRPr>
          </a:p>
        </p:txBody>
      </p:sp>
      <p:pic>
        <p:nvPicPr>
          <p:cNvPr id="14" name="图片 13"/>
          <p:cNvPicPr>
            <a:picLocks noChangeAspect="1"/>
          </p:cNvPicPr>
          <p:nvPr/>
        </p:nvPicPr>
        <p:blipFill>
          <a:blip r:embed="rId4"/>
          <a:stretch>
            <a:fillRect/>
          </a:stretch>
        </p:blipFill>
        <p:spPr>
          <a:xfrm>
            <a:off x="491986" y="4860290"/>
            <a:ext cx="7662620" cy="1842974"/>
          </a:xfrm>
          <a:prstGeom prst="rect">
            <a:avLst/>
          </a:prstGeom>
          <a:ln w="15875">
            <a:solidFill>
              <a:schemeClr val="accent2">
                <a:lumMod val="75000"/>
              </a:schemeClr>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84563" y="490330"/>
            <a:ext cx="8198542" cy="954107"/>
          </a:xfrm>
          <a:prstGeom prst="rect">
            <a:avLst/>
          </a:prstGeom>
          <a:noFill/>
        </p:spPr>
        <p:txBody>
          <a:bodyPr wrap="square">
            <a:spAutoFit/>
          </a:bodyPr>
          <a:lstStyle/>
          <a:p>
            <a:pPr>
              <a:buNone/>
            </a:pPr>
            <a:r>
              <a:rPr lang="zh-CN" altLang="zh-CN" sz="2800" dirty="0"/>
              <a:t>Approximate MIMO Capacity Formula </a:t>
            </a:r>
            <a:endParaRPr lang="en-US" altLang="zh-CN" sz="2800" dirty="0"/>
          </a:p>
          <a:p>
            <a:pPr>
              <a:buNone/>
            </a:pPr>
            <a:r>
              <a:rPr lang="zh-CN" altLang="zh-CN" sz="2800" dirty="0"/>
              <a:t>(High SNR &amp; Rich Scattering)</a:t>
            </a:r>
            <a:endParaRPr lang="zh-CN" altLang="zh-CN" sz="2800" dirty="0"/>
          </a:p>
        </p:txBody>
      </p:sp>
      <p:pic>
        <p:nvPicPr>
          <p:cNvPr id="8" name="图片 7"/>
          <p:cNvPicPr>
            <a:picLocks noChangeAspect="1"/>
          </p:cNvPicPr>
          <p:nvPr/>
        </p:nvPicPr>
        <p:blipFill>
          <a:blip r:embed="rId1"/>
          <a:stretch>
            <a:fillRect/>
          </a:stretch>
        </p:blipFill>
        <p:spPr>
          <a:xfrm>
            <a:off x="989394" y="1557543"/>
            <a:ext cx="7165212" cy="881025"/>
          </a:xfrm>
          <a:prstGeom prst="rect">
            <a:avLst/>
          </a:prstGeom>
        </p:spPr>
      </p:pic>
      <p:graphicFrame>
        <p:nvGraphicFramePr>
          <p:cNvPr id="3" name="表格 2"/>
          <p:cNvGraphicFramePr/>
          <p:nvPr/>
        </p:nvGraphicFramePr>
        <p:xfrm>
          <a:off x="275590" y="2494915"/>
          <a:ext cx="8524240" cy="2425062"/>
        </p:xfrm>
        <a:graphic>
          <a:graphicData uri="http://schemas.openxmlformats.org/drawingml/2006/table">
            <a:tbl>
              <a:tblPr/>
              <a:tblGrid>
                <a:gridCol w="2131060"/>
                <a:gridCol w="2287270"/>
                <a:gridCol w="1974850"/>
                <a:gridCol w="2131060"/>
              </a:tblGrid>
              <a:tr h="0">
                <a:tc>
                  <a:txBody>
                    <a:bodyPr/>
                    <a:lstStyle/>
                    <a:p>
                      <a:pPr algn="ctr"/>
                      <a:r>
                        <a:rPr lang="en-US" altLang="zh-CN" sz="2400" dirty="0">
                          <a:latin typeface="Times New Roman" panose="02020603050405020304" pitchFamily="18" charset="0"/>
                          <a:cs typeface="Times New Roman" panose="02020603050405020304" pitchFamily="18" charset="0"/>
                        </a:rPr>
                        <a:t>Link</a:t>
                      </a:r>
                      <a:endParaRPr lang="en-US" altLang="zh-CN" sz="2400" dirty="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Antenna Config</a:t>
                      </a:r>
                      <a:endParaRPr lang="en-US" altLang="zh-CN" sz="2400" dirty="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min(</a:t>
                      </a:r>
                      <a:r>
                        <a:rPr lang="en-US" altLang="zh-CN" sz="2400" i="1" dirty="0" err="1">
                          <a:latin typeface="Times New Roman" panose="02020603050405020304" pitchFamily="18" charset="0"/>
                          <a:cs typeface="Times New Roman" panose="02020603050405020304" pitchFamily="18" charset="0"/>
                        </a:rPr>
                        <a:t>N</a:t>
                      </a:r>
                      <a:r>
                        <a:rPr lang="en-US" altLang="zh-CN" sz="2400" dirty="0" err="1">
                          <a:latin typeface="Times New Roman" panose="02020603050405020304" pitchFamily="18" charset="0"/>
                          <a:cs typeface="Times New Roman" panose="02020603050405020304" pitchFamily="18" charset="0"/>
                        </a:rPr>
                        <a:t>t</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r)</a:t>
                      </a:r>
                      <a:endParaRPr lang="en-US" altLang="zh-CN" sz="2400" dirty="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r>
                        <a:rPr lang="en-US" altLang="zh-CN" sz="2400">
                          <a:latin typeface="Times New Roman" panose="02020603050405020304" pitchFamily="18" charset="0"/>
                          <a:cs typeface="Times New Roman" panose="02020603050405020304" pitchFamily="18" charset="0"/>
                        </a:rPr>
                        <a:t>Channel Capacity</a:t>
                      </a:r>
                      <a:endParaRPr lang="en-US" altLang="zh-CN" sz="240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lstStyle/>
                    <a:p>
                      <a:pPr algn="ctr"/>
                      <a:r>
                        <a:rPr lang="en-US" altLang="zh-CN" sz="2400">
                          <a:latin typeface="Times New Roman" panose="02020603050405020304" pitchFamily="18" charset="0"/>
                          <a:cs typeface="Times New Roman" panose="02020603050405020304" pitchFamily="18" charset="0"/>
                        </a:rPr>
                        <a:t>Downlink</a:t>
                      </a:r>
                      <a:endParaRPr lang="en-US" altLang="zh-CN" sz="240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4×2 MIMO </a:t>
                      </a:r>
                      <a:endParaRPr lang="en-US" altLang="zh-CN" sz="2400" dirty="0">
                        <a:latin typeface="Times New Roman" panose="02020603050405020304" pitchFamily="18" charset="0"/>
                        <a:cs typeface="Times New Roman" panose="02020603050405020304" pitchFamily="18" charset="0"/>
                      </a:endParaRPr>
                    </a:p>
                    <a:p>
                      <a:pPr algn="ctr"/>
                      <a:r>
                        <a:rPr lang="en-US" altLang="zh-CN" sz="2400" dirty="0">
                          <a:latin typeface="Times New Roman" panose="02020603050405020304" pitchFamily="18" charset="0"/>
                          <a:cs typeface="Times New Roman" panose="02020603050405020304" pitchFamily="18" charset="0"/>
                        </a:rPr>
                        <a:t>(BS 4Tx, UE 2Rx)</a:t>
                      </a:r>
                      <a:endParaRPr lang="en-US" altLang="zh-CN" sz="2400" dirty="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endParaRPr lang="en-US" altLang="zh-CN" sz="2400" dirty="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endParaRPr lang="en-US" altLang="zh-CN" sz="2400" dirty="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lstStyle/>
                    <a:p>
                      <a:pPr algn="ctr"/>
                      <a:r>
                        <a:rPr lang="en-US" altLang="zh-CN" sz="2400">
                          <a:latin typeface="Times New Roman" panose="02020603050405020304" pitchFamily="18" charset="0"/>
                          <a:cs typeface="Times New Roman" panose="02020603050405020304" pitchFamily="18" charset="0"/>
                        </a:rPr>
                        <a:t>Uplink</a:t>
                      </a:r>
                      <a:endParaRPr lang="en-US" altLang="zh-CN" sz="240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r>
                        <a:rPr lang="en-US" altLang="zh-CN" sz="2400">
                          <a:latin typeface="Times New Roman" panose="02020603050405020304" pitchFamily="18" charset="0"/>
                          <a:cs typeface="Times New Roman" panose="02020603050405020304" pitchFamily="18" charset="0"/>
                        </a:rPr>
                        <a:t>1×4 </a:t>
                      </a:r>
                      <a:endParaRPr lang="en-US" altLang="zh-CN" sz="2400">
                        <a:latin typeface="Times New Roman" panose="02020603050405020304" pitchFamily="18" charset="0"/>
                        <a:cs typeface="Times New Roman" panose="02020603050405020304" pitchFamily="18" charset="0"/>
                      </a:endParaRPr>
                    </a:p>
                    <a:p>
                      <a:pPr algn="ctr"/>
                      <a:r>
                        <a:rPr lang="en-US" altLang="zh-CN" sz="2400">
                          <a:latin typeface="Times New Roman" panose="02020603050405020304" pitchFamily="18" charset="0"/>
                          <a:cs typeface="Times New Roman" panose="02020603050405020304" pitchFamily="18" charset="0"/>
                        </a:rPr>
                        <a:t>(UE 1Tx, BS 4Rx)</a:t>
                      </a:r>
                      <a:endParaRPr lang="en-US" altLang="zh-CN" sz="240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endParaRPr lang="en-US" altLang="zh-CN" sz="2400" dirty="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endParaRPr lang="en-US" altLang="zh-CN" sz="2400" dirty="0">
                        <a:latin typeface="Times New Roman" panose="02020603050405020304" pitchFamily="18" charset="0"/>
                        <a:cs typeface="Times New Roman" panose="02020603050405020304" pitchFamily="18" charset="0"/>
                      </a:endParaRPr>
                    </a:p>
                  </a:txBody>
                  <a:tcPr marL="38417" marR="38417" marT="38417" marB="3841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0910" y="60325"/>
            <a:ext cx="3133090" cy="170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标题 1"/>
          <p:cNvSpPr>
            <a:spLocks noGrp="1" noChangeArrowheads="1"/>
          </p:cNvSpPr>
          <p:nvPr>
            <p:ph type="title"/>
          </p:nvPr>
        </p:nvSpPr>
        <p:spPr/>
        <p:txBody>
          <a:bodyPr/>
          <a:lstStyle/>
          <a:p>
            <a:br>
              <a:rPr lang="en-US" altLang="zh-CN"/>
            </a:br>
            <a:endParaRPr lang="zh-CN" altLang="en-US"/>
          </a:p>
        </p:txBody>
      </p:sp>
      <p:sp>
        <p:nvSpPr>
          <p:cNvPr id="3" name="内容占位符 2"/>
          <p:cNvSpPr>
            <a:spLocks noGrp="1"/>
          </p:cNvSpPr>
          <p:nvPr>
            <p:ph idx="1"/>
          </p:nvPr>
        </p:nvSpPr>
        <p:spPr>
          <a:xfrm>
            <a:off x="71093" y="853610"/>
            <a:ext cx="8902423" cy="3657600"/>
          </a:xfrm>
        </p:spPr>
        <p:txBody>
          <a:bodyPr/>
          <a:lstStyle/>
          <a:p>
            <a:pPr>
              <a:defRPr/>
            </a:pPr>
            <a:r>
              <a:rPr lang="en-US" altLang="zh-CN" dirty="0">
                <a:latin typeface="Times New Roman" panose="02020603050405020304" pitchFamily="18" charset="0"/>
                <a:cs typeface="Times New Roman" panose="02020603050405020304" pitchFamily="18" charset="0"/>
              </a:rPr>
              <a:t>3.2 A voice-grade channel of the telephone network has a bandwidth of 3.4kHz.</a:t>
            </a:r>
            <a:endParaRPr lang="en-US" altLang="zh-CN" dirty="0">
              <a:latin typeface="Times New Roman" panose="02020603050405020304" pitchFamily="18" charset="0"/>
              <a:cs typeface="Times New Roman" panose="02020603050405020304" pitchFamily="18" charset="0"/>
            </a:endParaRPr>
          </a:p>
          <a:p>
            <a:pPr>
              <a:buFont typeface="Wingdings" panose="05000000000000000000" pitchFamily="2" charset="2"/>
              <a:buNone/>
              <a:defRPr/>
            </a:pPr>
            <a:r>
              <a:rPr lang="en-US" altLang="zh-CN" dirty="0">
                <a:latin typeface="Times New Roman" panose="02020603050405020304" pitchFamily="18" charset="0"/>
                <a:cs typeface="Times New Roman" panose="02020603050405020304" pitchFamily="18" charset="0"/>
              </a:rPr>
              <a:t>(a)Calculate the information capacity of the telephone channel for a signal-to-noise ratio of 30dB</a:t>
            </a:r>
            <a:endParaRPr lang="en-US" altLang="zh-CN" dirty="0">
              <a:latin typeface="Times New Roman" panose="02020603050405020304" pitchFamily="18" charset="0"/>
              <a:cs typeface="Times New Roman" panose="02020603050405020304" pitchFamily="18" charset="0"/>
            </a:endParaRPr>
          </a:p>
          <a:p>
            <a:pPr>
              <a:buFont typeface="Wingdings" panose="05000000000000000000" pitchFamily="2" charset="2"/>
              <a:buNone/>
              <a:defRPr/>
            </a:pPr>
            <a:r>
              <a:rPr lang="en-US" altLang="zh-CN" dirty="0">
                <a:latin typeface="Times New Roman" panose="02020603050405020304" pitchFamily="18" charset="0"/>
                <a:cs typeface="Times New Roman" panose="02020603050405020304" pitchFamily="18" charset="0"/>
              </a:rPr>
              <a:t>(b) Calculate the minimum SNR required to support information transmission through the telephone channel at the rate of 9600bps</a:t>
            </a:r>
            <a:endParaRPr lang="en-US" altLang="zh-CN" dirty="0">
              <a:latin typeface="Times New Roman" panose="02020603050405020304" pitchFamily="18" charset="0"/>
              <a:cs typeface="Times New Roman" panose="02020603050405020304" pitchFamily="18" charset="0"/>
            </a:endParaRPr>
          </a:p>
          <a:p>
            <a:pPr>
              <a:defRPr/>
            </a:pPr>
            <a:endParaRPr lang="zh-CN" altLang="en-US" dirty="0"/>
          </a:p>
        </p:txBody>
      </p:sp>
      <p:sp>
        <p:nvSpPr>
          <p:cNvPr id="4" name="文本框 3"/>
          <p:cNvSpPr txBox="1"/>
          <p:nvPr/>
        </p:nvSpPr>
        <p:spPr>
          <a:xfrm>
            <a:off x="71093" y="147703"/>
            <a:ext cx="3841812" cy="523220"/>
          </a:xfrm>
          <a:prstGeom prst="rect">
            <a:avLst/>
          </a:prstGeom>
          <a:noFill/>
        </p:spPr>
        <p:txBody>
          <a:bodyPr wrap="square" rtlCol="0">
            <a:spAutoFit/>
          </a:bodyPr>
          <a:lstStyle/>
          <a:p>
            <a:pPr defTabSz="685800"/>
            <a:r>
              <a:rPr lang="zh-CN" altLang="en-US" sz="2800" b="1" dirty="0">
                <a:solidFill>
                  <a:srgbClr val="000000"/>
                </a:solidFill>
                <a:latin typeface="Arial" panose="020B0604020202020204"/>
              </a:rPr>
              <a:t>作业</a:t>
            </a:r>
            <a:endParaRPr lang="zh-CN" altLang="en-US" sz="2800" b="1" dirty="0">
              <a:solidFill>
                <a:srgbClr val="000000"/>
              </a:solidFill>
              <a:latin typeface="Arial" panose="020B0604020202020204"/>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1085" y="-109331"/>
            <a:ext cx="7886700" cy="1325563"/>
          </a:xfrm>
        </p:spPr>
        <p:txBody>
          <a:bodyPr/>
          <a:lstStyle/>
          <a:p>
            <a:r>
              <a:rPr lang="en-US" altLang="zh-CN" dirty="0"/>
              <a:t>Mind map</a:t>
            </a:r>
            <a:endParaRPr lang="zh-CN" altLang="en-US" dirty="0"/>
          </a:p>
        </p:txBody>
      </p:sp>
      <p:pic>
        <p:nvPicPr>
          <p:cNvPr id="5" name="内容占位符 4"/>
          <p:cNvPicPr>
            <a:picLocks noGrp="1" noChangeAspect="1"/>
          </p:cNvPicPr>
          <p:nvPr>
            <p:ph idx="1"/>
          </p:nvPr>
        </p:nvPicPr>
        <p:blipFill>
          <a:blip r:embed="rId1"/>
          <a:stretch>
            <a:fillRect/>
          </a:stretch>
        </p:blipFill>
        <p:spPr>
          <a:xfrm>
            <a:off x="0" y="1325563"/>
            <a:ext cx="9044243" cy="478700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Thank-you-for-your-attention GIFs - Get the best GIF on GIPHY"/>
          <p:cNvPicPr>
            <a:picLocks noChangeAspect="1"/>
          </p:cNvPicPr>
          <p:nvPr/>
        </p:nvPicPr>
        <p:blipFill>
          <a:blip r:embed="rId1"/>
          <a:stretch>
            <a:fillRect/>
          </a:stretch>
        </p:blipFill>
        <p:spPr>
          <a:xfrm>
            <a:off x="0" y="478009"/>
            <a:ext cx="9144938" cy="609175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5641" y="1046867"/>
            <a:ext cx="9048115" cy="4351655"/>
          </a:xfrm>
        </p:spPr>
        <p:txBody>
          <a:bodyPr/>
          <a:lstStyle/>
          <a:p>
            <a:r>
              <a:rPr lang="zh-CN" altLang="en-US" b="1" dirty="0"/>
              <a:t>第一章</a:t>
            </a:r>
            <a:r>
              <a:rPr lang="en-US" altLang="zh-CN" b="1" dirty="0"/>
              <a:t> </a:t>
            </a:r>
            <a:r>
              <a:rPr lang="zh-CN" altLang="en-US" b="1" dirty="0"/>
              <a:t>习</a:t>
            </a:r>
            <a:r>
              <a:rPr lang="en-US" altLang="zh-CN" b="1" dirty="0"/>
              <a:t>  </a:t>
            </a:r>
            <a:r>
              <a:rPr lang="zh-CN" altLang="en-US" b="1" dirty="0"/>
              <a:t>题 </a:t>
            </a:r>
            <a:r>
              <a:rPr lang="en-US" altLang="zh-CN" b="1" dirty="0"/>
              <a:t>+  </a:t>
            </a:r>
            <a:r>
              <a:rPr lang="zh-CN" altLang="en-US" b="1" dirty="0"/>
              <a:t>思维导图  </a:t>
            </a:r>
            <a:r>
              <a:rPr lang="en-US" altLang="zh-CN" b="1" dirty="0"/>
              <a:t>+  </a:t>
            </a:r>
            <a:r>
              <a:rPr lang="zh-CN" altLang="zh-CN" b="1" dirty="0"/>
              <a:t>Brief summar</a:t>
            </a:r>
            <a:r>
              <a:rPr lang="en-US" altLang="zh-CN" b="1" dirty="0"/>
              <a:t>y(</a:t>
            </a:r>
            <a:r>
              <a:rPr lang="zh-CN" altLang="en-US" b="1" dirty="0"/>
              <a:t>精练）</a:t>
            </a:r>
            <a:endParaRPr lang="en-US" altLang="zh-CN" b="1" dirty="0"/>
          </a:p>
          <a:p>
            <a:r>
              <a:rPr lang="zh-CN" altLang="en-US" b="1" dirty="0"/>
              <a:t>第二章</a:t>
            </a:r>
            <a:r>
              <a:rPr lang="en-US" altLang="zh-CN" b="1" dirty="0"/>
              <a:t> </a:t>
            </a:r>
            <a:r>
              <a:rPr lang="zh-CN" altLang="en-US" b="1" dirty="0"/>
              <a:t>作业清单</a:t>
            </a:r>
            <a:endParaRPr lang="en-US" altLang="zh-CN" b="1" dirty="0"/>
          </a:p>
          <a:p>
            <a:pPr marL="0" indent="0">
              <a:buNone/>
            </a:pPr>
            <a:r>
              <a:rPr lang="en-US" altLang="zh-CN" b="1" dirty="0"/>
              <a:t>                + </a:t>
            </a:r>
            <a:r>
              <a:rPr lang="zh-CN" altLang="en-US" b="1" dirty="0"/>
              <a:t>思维导图（</a:t>
            </a:r>
            <a:r>
              <a:rPr lang="en-US" altLang="zh-CN" b="1" dirty="0"/>
              <a:t>2</a:t>
            </a:r>
            <a:r>
              <a:rPr lang="zh-CN" altLang="en-US" b="1" dirty="0"/>
              <a:t>人讨论完成，互签）</a:t>
            </a:r>
            <a:r>
              <a:rPr lang="zh-CN" altLang="en-US" b="1" dirty="0">
                <a:solidFill>
                  <a:srgbClr val="00B050"/>
                </a:solidFill>
              </a:rPr>
              <a:t>可打印可手写</a:t>
            </a:r>
            <a:endParaRPr lang="en-US" altLang="zh-CN" b="1" dirty="0">
              <a:solidFill>
                <a:srgbClr val="00B050"/>
              </a:solidFill>
            </a:endParaRPr>
          </a:p>
          <a:p>
            <a:pPr marL="0" indent="0">
              <a:buNone/>
            </a:pPr>
            <a:r>
              <a:rPr lang="en-US" altLang="zh-CN" b="1" dirty="0"/>
              <a:t>                + </a:t>
            </a:r>
            <a:r>
              <a:rPr lang="zh-CN" altLang="zh-CN" b="1" dirty="0"/>
              <a:t>Brief summar</a:t>
            </a:r>
            <a:r>
              <a:rPr lang="en-US" altLang="zh-CN" b="1" dirty="0"/>
              <a:t>y</a:t>
            </a:r>
            <a:r>
              <a:rPr lang="zh-CN" altLang="en-US" b="1" dirty="0"/>
              <a:t>（</a:t>
            </a:r>
            <a:r>
              <a:rPr lang="zh-CN" altLang="en-US" b="1" dirty="0"/>
              <a:t>精炼）</a:t>
            </a:r>
            <a:r>
              <a:rPr lang="zh-CN" altLang="en-US" b="1" dirty="0">
                <a:solidFill>
                  <a:srgbClr val="00B050"/>
                </a:solidFill>
              </a:rPr>
              <a:t>手写</a:t>
            </a:r>
            <a:endParaRPr lang="en-US" altLang="zh-CN" b="1" dirty="0"/>
          </a:p>
          <a:p>
            <a:pPr marL="0" indent="0">
              <a:buNone/>
            </a:pPr>
            <a:r>
              <a:rPr lang="en-US" altLang="zh-CN" b="1" dirty="0"/>
              <a:t> </a:t>
            </a:r>
            <a:endParaRPr lang="en-US" altLang="zh-CN" b="1" dirty="0"/>
          </a:p>
          <a:p>
            <a:r>
              <a:rPr lang="zh-CN" altLang="en-US" b="1" dirty="0">
                <a:solidFill>
                  <a:schemeClr val="bg2">
                    <a:lumMod val="90000"/>
                  </a:schemeClr>
                </a:solidFill>
                <a:sym typeface="+mn-ea"/>
              </a:rPr>
              <a:t>第三章</a:t>
            </a:r>
            <a:r>
              <a:rPr lang="en-US" altLang="zh-CN" b="1" dirty="0">
                <a:solidFill>
                  <a:schemeClr val="bg2">
                    <a:lumMod val="90000"/>
                  </a:schemeClr>
                </a:solidFill>
                <a:sym typeface="+mn-ea"/>
              </a:rPr>
              <a:t> </a:t>
            </a:r>
            <a:r>
              <a:rPr lang="zh-CN" altLang="en-US" b="1" dirty="0">
                <a:solidFill>
                  <a:schemeClr val="bg2">
                    <a:lumMod val="90000"/>
                  </a:schemeClr>
                </a:solidFill>
                <a:sym typeface="+mn-ea"/>
              </a:rPr>
              <a:t>作业清单</a:t>
            </a:r>
            <a:r>
              <a:rPr lang="en-US" altLang="zh-CN" b="1" dirty="0">
                <a:solidFill>
                  <a:schemeClr val="bg2">
                    <a:lumMod val="90000"/>
                  </a:schemeClr>
                </a:solidFill>
                <a:sym typeface="+mn-ea"/>
              </a:rPr>
              <a:t>+</a:t>
            </a:r>
            <a:r>
              <a:rPr lang="zh-CN" altLang="en-US" b="1" dirty="0">
                <a:solidFill>
                  <a:schemeClr val="bg2">
                    <a:lumMod val="90000"/>
                  </a:schemeClr>
                </a:solidFill>
                <a:sym typeface="+mn-ea"/>
              </a:rPr>
              <a:t>思维导图</a:t>
            </a:r>
            <a:r>
              <a:rPr lang="en-US" altLang="zh-CN" b="1" dirty="0">
                <a:solidFill>
                  <a:schemeClr val="bg2">
                    <a:lumMod val="90000"/>
                  </a:schemeClr>
                </a:solidFill>
                <a:sym typeface="+mn-ea"/>
              </a:rPr>
              <a:t>+summary</a:t>
            </a:r>
            <a:endParaRPr lang="en-US" altLang="zh-CN" b="1" dirty="0">
              <a:solidFill>
                <a:schemeClr val="bg2">
                  <a:lumMod val="90000"/>
                </a:schemeClr>
              </a:solidFill>
            </a:endParaRPr>
          </a:p>
          <a:p>
            <a:endParaRPr lang="en-US" altLang="zh-CN" dirty="0"/>
          </a:p>
          <a:p>
            <a:endParaRPr lang="en-US" altLang="zh-CN" dirty="0"/>
          </a:p>
        </p:txBody>
      </p:sp>
      <p:sp>
        <p:nvSpPr>
          <p:cNvPr id="7" name="矩形 6"/>
          <p:cNvSpPr/>
          <p:nvPr/>
        </p:nvSpPr>
        <p:spPr>
          <a:xfrm>
            <a:off x="2109028" y="-42545"/>
            <a:ext cx="4754880" cy="1198880"/>
          </a:xfrm>
          <a:prstGeom prst="rect">
            <a:avLst/>
          </a:prstGeom>
          <a:noFill/>
          <a:ln>
            <a:noFill/>
          </a:ln>
        </p:spPr>
        <p:txBody>
          <a:bodyPr wrap="none" rtlCol="0" anchor="t">
            <a:spAutoFit/>
          </a:bodyPr>
          <a:lstStyle/>
          <a:p>
            <a:pPr algn="ctr"/>
            <a:r>
              <a:rPr lang="zh-CN" altLang="en-US" sz="7200" b="1" dirty="0">
                <a:ln w="22225">
                  <a:solidFill>
                    <a:schemeClr val="accent2"/>
                  </a:solidFill>
                  <a:prstDash val="solid"/>
                </a:ln>
                <a:solidFill>
                  <a:schemeClr val="accent2">
                    <a:lumMod val="40000"/>
                    <a:lumOff val="60000"/>
                  </a:schemeClr>
                </a:solidFill>
                <a:effectLst/>
              </a:rPr>
              <a:t>双节大礼包</a:t>
            </a:r>
            <a:endParaRPr lang="zh-CN" altLang="en-US" sz="7200" b="1" dirty="0">
              <a:ln w="22225">
                <a:solidFill>
                  <a:schemeClr val="accent2"/>
                </a:solidFill>
                <a:prstDash val="solid"/>
              </a:ln>
              <a:solidFill>
                <a:schemeClr val="accent2">
                  <a:lumMod val="40000"/>
                  <a:lumOff val="60000"/>
                </a:schemeClr>
              </a:solidFill>
              <a:effectLst/>
            </a:endParaRPr>
          </a:p>
        </p:txBody>
      </p:sp>
      <p:pic>
        <p:nvPicPr>
          <p:cNvPr id="10" name="图片 9"/>
          <p:cNvPicPr>
            <a:picLocks noChangeAspect="1"/>
          </p:cNvPicPr>
          <p:nvPr/>
        </p:nvPicPr>
        <p:blipFill>
          <a:blip r:embed="rId1"/>
          <a:stretch>
            <a:fillRect/>
          </a:stretch>
        </p:blipFill>
        <p:spPr>
          <a:xfrm>
            <a:off x="0" y="3148330"/>
            <a:ext cx="9144000" cy="3429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18027" y="511866"/>
            <a:ext cx="8907945" cy="568029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5"/>
          <p:cNvPicPr>
            <a:picLocks noGrp="1" noChangeAspect="1"/>
          </p:cNvPicPr>
          <p:nvPr>
            <p:ph idx="1"/>
          </p:nvPr>
        </p:nvPicPr>
        <p:blipFill>
          <a:blip r:embed="rId1"/>
          <a:stretch>
            <a:fillRect/>
          </a:stretch>
        </p:blipFill>
        <p:spPr>
          <a:xfrm>
            <a:off x="38192" y="929309"/>
            <a:ext cx="9067615" cy="5177610"/>
          </a:xfrm>
        </p:spPr>
      </p:pic>
    </p:spTree>
  </p:cSld>
  <p:clrMapOvr>
    <a:masterClrMapping/>
  </p:clrMapOvr>
</p:sld>
</file>

<file path=ppt/tags/tag1.xml><?xml version="1.0" encoding="utf-8"?>
<p:tagLst xmlns:p="http://schemas.openxmlformats.org/presentationml/2006/main">
  <p:tag name="COMMONDATA" val="eyJoZGlkIjoiY2EwNjhmY2Y3YTFlZWM0NGNhMDM0MDkwZTU1ZDZkNTMifQ=="/>
</p:tagLst>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通信原理二">
  <a:themeElements>
    <a:clrScheme name="通信原理二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通信原理二">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rnd"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TW"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rnd"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TW"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通信原理二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通信原理二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通信原理二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通信原理二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通信原理二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通信原理二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通信原理二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7139</Words>
  <Application>WPS 演示</Application>
  <PresentationFormat>全屏显示(4:3)</PresentationFormat>
  <Paragraphs>471</Paragraphs>
  <Slides>42</Slides>
  <Notes>5</Notes>
  <HiddenSlides>1</HiddenSlides>
  <MMClips>0</MMClips>
  <ScaleCrop>false</ScaleCrop>
  <HeadingPairs>
    <vt:vector size="8" baseType="variant">
      <vt:variant>
        <vt:lpstr>已用的字体</vt:lpstr>
      </vt:variant>
      <vt:variant>
        <vt:i4>25</vt:i4>
      </vt:variant>
      <vt:variant>
        <vt:lpstr>主题</vt:lpstr>
      </vt:variant>
      <vt:variant>
        <vt:i4>4</vt:i4>
      </vt:variant>
      <vt:variant>
        <vt:lpstr>嵌入 OLE 服务器</vt:lpstr>
      </vt:variant>
      <vt:variant>
        <vt:i4>9</vt:i4>
      </vt:variant>
      <vt:variant>
        <vt:lpstr>幻灯片标题</vt:lpstr>
      </vt:variant>
      <vt:variant>
        <vt:i4>42</vt:i4>
      </vt:variant>
    </vt:vector>
  </HeadingPairs>
  <TitlesOfParts>
    <vt:vector size="80" baseType="lpstr">
      <vt:lpstr>Arial</vt:lpstr>
      <vt:lpstr>宋体</vt:lpstr>
      <vt:lpstr>Wingdings</vt:lpstr>
      <vt:lpstr>Tahoma</vt:lpstr>
      <vt:lpstr>华文新魏</vt:lpstr>
      <vt:lpstr>Times New Roman</vt:lpstr>
      <vt:lpstr>楷体_GB2312</vt:lpstr>
      <vt:lpstr>新宋体</vt:lpstr>
      <vt:lpstr>黑体</vt:lpstr>
      <vt:lpstr>楷体_GB2312</vt:lpstr>
      <vt:lpstr>等线 Light</vt:lpstr>
      <vt:lpstr>Calibri</vt:lpstr>
      <vt:lpstr>KaTeX_Math</vt:lpstr>
      <vt:lpstr>Segoe Print</vt:lpstr>
      <vt:lpstr>KaTeX_Main</vt:lpstr>
      <vt:lpstr>等线</vt:lpstr>
      <vt:lpstr>Calibri Light</vt:lpstr>
      <vt:lpstr>微软雅黑</vt:lpstr>
      <vt:lpstr>Arial Unicode MS</vt:lpstr>
      <vt:lpstr>Times New Roman</vt:lpstr>
      <vt:lpstr>Helvetica</vt:lpstr>
      <vt:lpstr>楷体</vt:lpstr>
      <vt:lpstr>Garamond</vt:lpstr>
      <vt:lpstr>Arial</vt:lpstr>
      <vt:lpstr>Calibri</vt:lpstr>
      <vt:lpstr>Office 2013 - 2022 主题</vt:lpstr>
      <vt:lpstr>1_Office 2013 - 2022 主题</vt:lpstr>
      <vt:lpstr>通信原理二</vt:lpstr>
      <vt:lpstr>2_Office 2013 - 2022 主题</vt:lpstr>
      <vt:lpstr>Equation.DSMT4</vt:lpstr>
      <vt:lpstr>Equation.DSMT4</vt:lpstr>
      <vt:lpstr>Equation.DSMT4</vt:lpstr>
      <vt:lpstr>Equation.DSMT4</vt:lpstr>
      <vt:lpstr>Equation.DSMT4</vt:lpstr>
      <vt:lpstr>Equation.3</vt:lpstr>
      <vt:lpstr>Equation.3</vt:lpstr>
      <vt:lpstr>Equation.3</vt:lpstr>
      <vt:lpstr>Equation.DSMT4</vt:lpstr>
      <vt:lpstr>           Principles of communications                   Chapter 3  Channel—Part II              Channel Capacity                    信道容量                                                                                 </vt:lpstr>
      <vt:lpstr>PowerPoint 演示文稿</vt:lpstr>
      <vt:lpstr>Channel bandwidth B and Information rate Rb</vt:lpstr>
      <vt:lpstr>  Discussion</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Extension 拓展——example</vt:lpstr>
      <vt:lpstr>PowerPoint 演示文稿</vt:lpstr>
      <vt:lpstr>PowerPoint 演示文稿</vt:lpstr>
      <vt:lpstr>Extension 拓展：MIMO communication</vt:lpstr>
      <vt:lpstr>Extension 拓展：MIMO communication</vt:lpstr>
      <vt:lpstr>PowerPoint 演示文稿</vt:lpstr>
      <vt:lpstr>PowerPoint 演示文稿</vt:lpstr>
      <vt:lpstr>PowerPoint 演示文稿</vt:lpstr>
      <vt:lpstr> </vt:lpstr>
      <vt:lpstr>Mind map</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2.14 Computer Experiments: Flat-Fading Channel</dc:title>
  <dc:creator>zhuzhu</dc:creator>
  <cp:lastModifiedBy>zyp</cp:lastModifiedBy>
  <cp:revision>624</cp:revision>
  <cp:lastPrinted>2022-10-03T07:59:00Z</cp:lastPrinted>
  <dcterms:created xsi:type="dcterms:W3CDTF">2019-07-27T08:10:00Z</dcterms:created>
  <dcterms:modified xsi:type="dcterms:W3CDTF">2026-09-29T02:18:54Z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2ABFCAAA8190482E98FCE8682E22AD92</vt:lpwstr>
  </property>
  <property fmtid="{D5CDD505-2E9C-101B-9397-08002B2CF9AE}" pid="3" name="KSOProductBuildVer">
    <vt:lpwstr>2052-12.1.0.29161</vt:lpwstr>
  </property>
</Properties>
</file>