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ink/ink1.xml" ContentType="application/inkml+xml"/>
  <Override PartName="/ppt/ink/ink2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36"/>
  </p:notesMasterIdLst>
  <p:handoutMasterIdLst>
    <p:handoutMasterId r:id="rId37"/>
  </p:handoutMasterIdLst>
  <p:sldIdLst>
    <p:sldId id="412" r:id="rId3"/>
    <p:sldId id="720" r:id="rId4"/>
    <p:sldId id="714" r:id="rId5"/>
    <p:sldId id="773" r:id="rId6"/>
    <p:sldId id="743" r:id="rId7"/>
    <p:sldId id="744" r:id="rId8"/>
    <p:sldId id="749" r:id="rId9"/>
    <p:sldId id="750" r:id="rId10"/>
    <p:sldId id="763" r:id="rId11"/>
    <p:sldId id="757" r:id="rId12"/>
    <p:sldId id="728" r:id="rId13"/>
    <p:sldId id="751" r:id="rId14"/>
    <p:sldId id="752" r:id="rId15"/>
    <p:sldId id="753" r:id="rId16"/>
    <p:sldId id="754" r:id="rId17"/>
    <p:sldId id="755" r:id="rId18"/>
    <p:sldId id="756" r:id="rId19"/>
    <p:sldId id="733" r:id="rId20"/>
    <p:sldId id="762" r:id="rId21"/>
    <p:sldId id="758" r:id="rId22"/>
    <p:sldId id="760" r:id="rId23"/>
    <p:sldId id="761" r:id="rId24"/>
    <p:sldId id="759" r:id="rId25"/>
    <p:sldId id="433" r:id="rId26"/>
    <p:sldId id="765" r:id="rId27"/>
    <p:sldId id="766" r:id="rId28"/>
    <p:sldId id="764" r:id="rId29"/>
    <p:sldId id="767" r:id="rId30"/>
    <p:sldId id="768" r:id="rId31"/>
    <p:sldId id="769" r:id="rId32"/>
    <p:sldId id="770" r:id="rId33"/>
    <p:sldId id="772" r:id="rId34"/>
    <p:sldId id="771" r:id="rId35"/>
  </p:sldIdLst>
  <p:sldSz cx="9144000" cy="6858000" type="screen4x3"/>
  <p:notesSz cx="10001250" cy="6829425"/>
  <p:kinsoku lang="zh-TW" invalStChars="!),.:;?]}，、。．；：？！︰…‥﹐﹑﹒﹔﹕﹖﹗｜–︱—︳?︴﹏）︶﹜︸〕︺】︼》︾〉﹀」﹂』﹄﹚﹜﹞’”〞′·" invalEndChars="([{（︵﹛︷〔︹【︻《︽〈︿「﹁『﹃﹙﹛﹝‘“〝‵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4FFB"/>
    <a:srgbClr val="F44E0C"/>
    <a:srgbClr val="EA1685"/>
    <a:srgbClr val="FF3399"/>
    <a:srgbClr val="FF0000"/>
    <a:srgbClr val="003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7"/>
    <p:restoredTop sz="95244"/>
  </p:normalViewPr>
  <p:slideViewPr>
    <p:cSldViewPr showGuides="1">
      <p:cViewPr varScale="1">
        <p:scale>
          <a:sx n="96" d="100"/>
          <a:sy n="96" d="100"/>
        </p:scale>
        <p:origin x="960" y="57"/>
      </p:cViewPr>
      <p:guideLst>
        <p:guide orient="horz" pos="211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 varScale="1">
      <p:scale>
        <a:sx n="1" d="1"/>
        <a:sy n="1" d="1"/>
      </p:scale>
      <p:origin x="0" y="-18456"/>
    </p:cViewPr>
  </p:sorterViewPr>
  <p:notesViewPr>
    <p:cSldViewPr>
      <p:cViewPr varScale="1">
        <p:scale>
          <a:sx n="60" d="100"/>
          <a:sy n="60" d="100"/>
        </p:scale>
        <p:origin x="3269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viewProps" Target="view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33410" cy="34255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chapter 2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665516" y="0"/>
            <a:ext cx="4333410" cy="34255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1E569DD-1583-40E4-8007-B8B35C9CB480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2026/9/16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3"/>
          </p:nvPr>
        </p:nvSpPr>
        <p:spPr>
          <a:xfrm>
            <a:off x="5665516" y="6486870"/>
            <a:ext cx="4333410" cy="342555"/>
          </a:xfrm>
          <a:prstGeom prst="rect">
            <a:avLst/>
          </a:prstGeom>
        </p:spPr>
        <p:txBody>
          <a:bodyPr vert="horz" lIns="91440" tIns="45720" rIns="91440" bIns="45720" rtlCol="0" anchor="b"/>
          <a:lstStyle/>
          <a:p>
            <a:pPr lvl="0" algn="r"/>
            <a:fld id="{9A0DB2DC-4C9A-4742-B13C-FB6460FD3503}" type="slidenum">
              <a:rPr lang="zh-CN" altLang="en-US" sz="1200" dirty="0"/>
              <a:t>‹#›</a:t>
            </a:fld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09-09T21:03:3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17388 10447 0,'-16'-14'94,"16"-25"-78,0-1-1,0-39 1,16 26-1,0-13 1,15 0 0,-16 39 15,-15 14-31,16 0 16,0-14-1,-1 1 1,1 13-1,31-14 1,-31 14 0,15-13-1,16 12 1,-16-12 0,0 12-1,48 14 1,-17 0-1,47 0 1,16 0 15,62-26-15,1 26 0,-110 13-1,32 0 1,-1 1-1,1-1 1,-32 0 0,-31 1-1,-47-2 1,31-12 0,-31 14-1,31-1 1,0 14-1,0-1 1,0 14 15,-15-14-15,31 27 0,-16 0-1,-15 13 1,15-13-1,0 13 1,-15-13 0,-16-13-1,15 26 1,-15-13 0,0-27-1,0 14 1,0 0-1,0-14 1,-15 0 15,-1 14-15,-62 13 0,-31 0-1,-31-13 1,-64 39-1,48-39 1,93-14 0,48-26-1,-1 0 32,-15 0-31,15 0-16,-31 0 15,-31 0-15,-94-40 32,31 14-17,-14 0 1,14 12 0,63-12-1,62 13 1,-15-14-1,0 14 1,15-13 0,-31-1-1,16-12 1,0 12 0,-1-26-1,1 27 1,16-14-1,15 27 1,-32-27 15,17 27-15,15-27 0,0 13-1,0-12 1,0 12-1,0-12 1,0-1 0,0 14-1,0 12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6-09-14T03:25:18"/>
    </inkml:context>
    <inkml:brush xml:id="br0">
      <inkml:brushProperty name="width" value="0.05292" units="cm"/>
      <inkml:brushProperty name="height" value="0.05292" units="cm"/>
      <inkml:brushProperty name="color" value="#92D050"/>
    </inkml:brush>
  </inkml:definitions>
  <inkml:trace contextRef="#ctx0" brushRef="#br0">8837 16723 0,'0'-25'62,"22"-49"-46,-1 37-1,11-37 1,1 11 0,75-85-1,-66 86 1,-42 50-16,12-26 15,-1 38 1,-1-12 0,-10 0 15,22-14 0,-12 26-15,-10-12-1,12 12 1,-2-12 0,12-13-1,43 0 1,-33-11 0,-10 23-1,-12 13 1,33-25-1,22-12 1,-11 12 0,0 13-1,-11 12 1,76-13 15,151 13-15,-131 0-1,99 0 1,64-12 0,-86 12-1,-87 0 1,-42 0 0,-55 0-16,-11 0 15,54 0 1,-31 0-1,-12 0 1,11 12 0,-10 1-1,21-1 17,43-12-17,11 12 1,0 1-1,-98-1 1,33-12 0,-22 0-1,12 13 1,11-13 0,-2 12-1,-31 0 1,1 1-1,20 0 1,-22 11 0,12 13 15,10 12-15,11 14-1,-10-1 1,-1-13-1,-21 13 1,0-25 0,-1 0-1,1 26 1,-11-1 0,0-13-1,0 1 1,-21 12-1,-1 0 1,11-12 0,-21-1-1,32-36 17,-22 24-17,1 0 1,-1-13-1,-10 26 1,21-38 0,0 14-1,-11 11 1,-21 12 0,33-24-1,-34 1 1,23-2-1,-23 1 1,23-1 0,-11 1-1,-22 0 17,33-13-17,-33 13 1,-43 0-1,-1-13 1,23 0 0,42-12-1,-10 0 1,1 0 0,-23 0-1,43 0 1,-42 0-1,-1 0 1,-32-12 0,-33 0-1,12 0 17,-1-38-17,32 50 1,-20-25-1,31 12 1,33 1 0,-10 0-1,9 0 1,0-13 0,-10 12-1,22 2 1,-32-2-1,21 13 1,-33-13 0,22 13-1,-21-25 17,42 13-17,-21-13 1,-21 13-1,0-1 1,10-11 0,0-2-1,32 26 1,-64-37 0,33 25-1,32-1 1,-11-11-1,31 12 1,2 12 0,-12-12-1,12-1 17,-1 0-17,0-11 1,0 24-1,-10-38 1,10 1 0,0 0-1,0-1 1,0-24 0,11 26-1,0 11 1,0-12-1,0 24 1,0 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409950" y="600075"/>
            <a:ext cx="3181350" cy="2386013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051" name="Rectangle 3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332106" y="3246687"/>
            <a:ext cx="7334716" cy="2874863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vert="horz" wrap="square" lIns="90488" tIns="44450" rIns="90488" bIns="4445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TW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PMingLiU" pitchFamily="18" charset="-120"/>
                <a:cs typeface="+mn-cs"/>
              </a:rPr>
              <a:t>Click to edit Master text styles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TW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PMingLiU" pitchFamily="18" charset="-120"/>
                <a:cs typeface="+mn-cs"/>
              </a:rPr>
              <a:t>Second level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TW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PMingLiU" pitchFamily="18" charset="-120"/>
                <a:cs typeface="+mn-cs"/>
              </a:rPr>
              <a:t>Third level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TW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PMingLiU" pitchFamily="18" charset="-120"/>
                <a:cs typeface="+mn-cs"/>
              </a:rPr>
              <a:t>Fourth level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TW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PMingLiU" pitchFamily="18" charset="-120"/>
                <a:cs typeface="+mn-cs"/>
              </a:rP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ahoma" panose="020B0604030504040204" pitchFamily="34" charset="0"/>
        <a:ea typeface="PMingLiU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ahoma" panose="020B0604030504040204" pitchFamily="34" charset="0"/>
        <a:ea typeface="PMingLiU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ahoma" panose="020B0604030504040204" pitchFamily="34" charset="0"/>
        <a:ea typeface="PMingLiU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ahoma" panose="020B0604030504040204" pitchFamily="34" charset="0"/>
        <a:ea typeface="PMingLiU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ahoma" panose="020B0604030504040204" pitchFamily="34" charset="0"/>
        <a:ea typeface="PMingLiU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409950" y="600075"/>
            <a:ext cx="3181350" cy="2386013"/>
          </a:xfrm>
        </p:spPr>
      </p:sp>
      <p:sp>
        <p:nvSpPr>
          <p:cNvPr id="48131" name="备注占位符 2"/>
          <p:cNvSpPr>
            <a:spLocks noGrp="1"/>
          </p:cNvSpPr>
          <p:nvPr>
            <p:ph type="body"/>
          </p:nvPr>
        </p:nvSpPr>
        <p:spPr>
          <a:xfrm>
            <a:off x="1332106" y="3246687"/>
            <a:ext cx="7334714" cy="2874863"/>
          </a:xfrm>
        </p:spPr>
        <p:txBody>
          <a:bodyPr wrap="square" lIns="90488" tIns="44450" rIns="90488" bIns="44450" anchor="t" anchorCtr="0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409950" y="600075"/>
            <a:ext cx="3181350" cy="2386013"/>
          </a:xfrm>
        </p:spPr>
      </p:sp>
      <p:sp>
        <p:nvSpPr>
          <p:cNvPr id="48131" name="备注占位符 2"/>
          <p:cNvSpPr>
            <a:spLocks noGrp="1"/>
          </p:cNvSpPr>
          <p:nvPr>
            <p:ph type="body"/>
          </p:nvPr>
        </p:nvSpPr>
        <p:spPr>
          <a:xfrm>
            <a:off x="1332106" y="3246687"/>
            <a:ext cx="7334714" cy="2874863"/>
          </a:xfrm>
        </p:spPr>
        <p:txBody>
          <a:bodyPr wrap="square" lIns="90488" tIns="44450" rIns="90488" bIns="44450" anchor="t" anchorCtr="0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409950" y="600075"/>
            <a:ext cx="3181350" cy="2386013"/>
          </a:xfrm>
        </p:spPr>
      </p:sp>
      <p:sp>
        <p:nvSpPr>
          <p:cNvPr id="48131" name="备注占位符 2"/>
          <p:cNvSpPr>
            <a:spLocks noGrp="1"/>
          </p:cNvSpPr>
          <p:nvPr>
            <p:ph type="body"/>
          </p:nvPr>
        </p:nvSpPr>
        <p:spPr>
          <a:xfrm>
            <a:off x="1332106" y="3246687"/>
            <a:ext cx="7334714" cy="2874863"/>
          </a:xfrm>
        </p:spPr>
        <p:txBody>
          <a:bodyPr wrap="square" lIns="90488" tIns="44450" rIns="90488" bIns="44450" anchor="t" anchorCtr="0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409950" y="600075"/>
            <a:ext cx="3181350" cy="2386013"/>
          </a:xfrm>
        </p:spPr>
      </p:sp>
      <p:sp>
        <p:nvSpPr>
          <p:cNvPr id="48131" name="备注占位符 2"/>
          <p:cNvSpPr>
            <a:spLocks noGrp="1"/>
          </p:cNvSpPr>
          <p:nvPr>
            <p:ph type="body"/>
          </p:nvPr>
        </p:nvSpPr>
        <p:spPr>
          <a:xfrm>
            <a:off x="1332106" y="3246687"/>
            <a:ext cx="7334714" cy="2874863"/>
          </a:xfrm>
        </p:spPr>
        <p:txBody>
          <a:bodyPr wrap="square" lIns="90488" tIns="44450" rIns="90488" bIns="44450" anchor="t" anchorCtr="0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409950" y="600075"/>
            <a:ext cx="3181350" cy="2386013"/>
          </a:xfrm>
        </p:spPr>
      </p:sp>
      <p:sp>
        <p:nvSpPr>
          <p:cNvPr id="48131" name="备注占位符 2"/>
          <p:cNvSpPr>
            <a:spLocks noGrp="1"/>
          </p:cNvSpPr>
          <p:nvPr>
            <p:ph type="body"/>
          </p:nvPr>
        </p:nvSpPr>
        <p:spPr>
          <a:xfrm>
            <a:off x="1332106" y="3246687"/>
            <a:ext cx="7334714" cy="2874863"/>
          </a:xfrm>
        </p:spPr>
        <p:txBody>
          <a:bodyPr wrap="square" lIns="90488" tIns="44450" rIns="90488" bIns="44450" anchor="t" anchorCtr="0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409950" y="600075"/>
            <a:ext cx="3181350" cy="2386013"/>
          </a:xfrm>
        </p:spPr>
      </p:sp>
      <p:sp>
        <p:nvSpPr>
          <p:cNvPr id="48131" name="备注占位符 2"/>
          <p:cNvSpPr>
            <a:spLocks noGrp="1"/>
          </p:cNvSpPr>
          <p:nvPr>
            <p:ph type="body"/>
          </p:nvPr>
        </p:nvSpPr>
        <p:spPr>
          <a:xfrm>
            <a:off x="1332106" y="3246687"/>
            <a:ext cx="7334714" cy="2874863"/>
          </a:xfrm>
        </p:spPr>
        <p:txBody>
          <a:bodyPr wrap="square" lIns="90488" tIns="44450" rIns="90488" bIns="44450" anchor="t" anchorCtr="0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409950" y="600075"/>
            <a:ext cx="3181350" cy="2386013"/>
          </a:xfrm>
        </p:spPr>
      </p:sp>
      <p:sp>
        <p:nvSpPr>
          <p:cNvPr id="48131" name="备注占位符 2"/>
          <p:cNvSpPr>
            <a:spLocks noGrp="1"/>
          </p:cNvSpPr>
          <p:nvPr>
            <p:ph type="body"/>
          </p:nvPr>
        </p:nvSpPr>
        <p:spPr>
          <a:xfrm>
            <a:off x="1332106" y="3246687"/>
            <a:ext cx="7334714" cy="2874863"/>
          </a:xfrm>
        </p:spPr>
        <p:txBody>
          <a:bodyPr wrap="square" lIns="90488" tIns="44450" rIns="90488" bIns="44450" anchor="t" anchorCtr="0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defRPr/>
            </a:pP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defRPr/>
            </a:pP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defRPr/>
            </a:pP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>
              <a:defRPr/>
            </a:pPr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defRPr/>
            </a:pP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>
              <a:defRPr/>
            </a:pPr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defRPr/>
            </a:pPr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>
              <a:defRPr/>
            </a:pPr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defRPr/>
            </a:pPr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>
              <a:defRPr/>
            </a:pPr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defRPr/>
            </a:pPr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defRPr/>
            </a:pP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>
              <a:defRPr/>
            </a:pPr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defRPr/>
            </a:pP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>
              <a:defRPr/>
            </a:pPr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defRPr/>
            </a:pP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>
              <a:defRPr/>
            </a:pPr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>
              <a:defRPr/>
            </a:pP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>
              <a:defRPr/>
            </a:pPr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455074"/>
            <a:ext cx="7772400" cy="1102519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77190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 fontAlgn="base"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 fontAlgn="base"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/>
              <a:t>‹#›</a:t>
            </a:fld>
            <a:r>
              <a:rPr lang="en-US" altLang="zh-CN" dirty="0">
                <a:sym typeface="+mn-ea"/>
              </a:rPr>
              <a:t>/81</a:t>
            </a:r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 fontAlgn="base"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 fontAlgn="base"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/>
              <a:t>‹#›</a:t>
            </a:fld>
            <a:r>
              <a:rPr lang="en-US" altLang="zh-CN" dirty="0"/>
              <a:t>/81</a:t>
            </a:r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4099" name="文本框 6"/>
          <p:cNvSpPr txBox="1"/>
          <p:nvPr userDrawn="1"/>
        </p:nvSpPr>
        <p:spPr>
          <a:xfrm>
            <a:off x="143830" y="2"/>
            <a:ext cx="6714173" cy="300082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lvl="0" eaLnBrk="0" hangingPunct="0"/>
            <a:r>
              <a:rPr lang="en-US" altLang="zh-CN" sz="1350" dirty="0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Principles of Communications         Chapter 2  Random Processes ——Part 1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 fontAlgn="base">
              <a:defRPr/>
            </a:pPr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 fontAlgn="base"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/>
              <a:t>‹#›</a:t>
            </a:fld>
            <a:r>
              <a:rPr lang="en-US" altLang="zh-CN" dirty="0">
                <a:sym typeface="+mn-ea"/>
              </a:rPr>
              <a:t>/81</a:t>
            </a:r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4099" name="文本框 6"/>
          <p:cNvSpPr txBox="1"/>
          <p:nvPr userDrawn="1"/>
        </p:nvSpPr>
        <p:spPr>
          <a:xfrm>
            <a:off x="143830" y="2"/>
            <a:ext cx="7398503" cy="300082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lvl="0" eaLnBrk="0" hangingPunct="0"/>
            <a:r>
              <a:rPr lang="en-US" altLang="zh-CN" sz="1350" dirty="0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Principles of Communications      Chapter 2  Random Processes—— Part 1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43000" y="1085850"/>
            <a:ext cx="5715000" cy="5715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39751" y="1771650"/>
            <a:ext cx="3956050" cy="36576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771650"/>
            <a:ext cx="3956050" cy="36576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 fontAlgn="base">
              <a:defRPr/>
            </a:pP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 fontAlgn="base"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/>
              <a:t>‹#›</a:t>
            </a:fld>
            <a:r>
              <a:rPr lang="en-US" altLang="zh-CN" dirty="0">
                <a:sym typeface="+mn-ea"/>
              </a:rPr>
              <a:t>/81</a:t>
            </a:r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4099" name="文本框 6"/>
          <p:cNvSpPr txBox="1"/>
          <p:nvPr userDrawn="1"/>
        </p:nvSpPr>
        <p:spPr>
          <a:xfrm>
            <a:off x="143830" y="0"/>
            <a:ext cx="7452509" cy="300082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lvl="0" eaLnBrk="0" hangingPunct="0"/>
            <a:r>
              <a:rPr lang="en-US" altLang="zh-CN" sz="1350" dirty="0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Principles of Communications     Chapter 2  Random Processes  Part 1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43000" y="1085850"/>
            <a:ext cx="5715000" cy="5715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39751" y="1771650"/>
            <a:ext cx="3956050" cy="36576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771650"/>
            <a:ext cx="3956050" cy="177165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657600"/>
            <a:ext cx="3956050" cy="177165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 fontAlgn="base">
              <a:defRPr/>
            </a:pPr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 fontAlgn="base">
              <a:defRPr/>
            </a:pP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/>
              <a:t>‹#›</a:t>
            </a:fld>
            <a:r>
              <a:rPr lang="en-US" altLang="zh-CN" dirty="0">
                <a:sym typeface="+mn-ea"/>
              </a:rPr>
              <a:t>/81</a:t>
            </a:r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4099" name="文本框 6"/>
          <p:cNvSpPr txBox="1"/>
          <p:nvPr userDrawn="1"/>
        </p:nvSpPr>
        <p:spPr>
          <a:xfrm>
            <a:off x="143830" y="2"/>
            <a:ext cx="7560521" cy="300082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lvl="0" eaLnBrk="0" hangingPunct="0"/>
            <a:r>
              <a:rPr lang="en-US" altLang="zh-CN" sz="1350" dirty="0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Principles of Communications          Chapter 2  Random Processes    Part 1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12138" y="1559724"/>
            <a:ext cx="7887066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pic>
        <p:nvPicPr>
          <p:cNvPr id="6" name="图片 3" descr="图片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144260" y="857352"/>
            <a:ext cx="2999745" cy="70219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95" name="文本框 9"/>
          <p:cNvSpPr txBox="1"/>
          <p:nvPr userDrawn="1"/>
        </p:nvSpPr>
        <p:spPr>
          <a:xfrm>
            <a:off x="263524" y="214318"/>
            <a:ext cx="6685916" cy="173186"/>
          </a:xfrm>
          <a:prstGeom prst="rect">
            <a:avLst/>
          </a:prstGeom>
          <a:ln w="12700">
            <a:miter lim="400000"/>
          </a:ln>
        </p:spPr>
        <p:txBody>
          <a:bodyPr lIns="25716" tIns="25716" rIns="25716" bIns="25716">
            <a:spAutoFit/>
          </a:bodyPr>
          <a:lstStyle/>
          <a:p>
            <a:pPr>
              <a:defRPr sz="1400">
                <a:solidFill>
                  <a:srgbClr val="4472C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r>
              <a:rPr sz="790">
                <a:solidFill>
                  <a:schemeClr val="tx2"/>
                </a:solidFill>
              </a:rPr>
              <a:t>Principle of Communications  Chapter 1 Introduction part </a:t>
            </a:r>
            <a:r>
              <a:rPr lang="en-US" sz="790">
                <a:solidFill>
                  <a:schemeClr val="tx2"/>
                </a:solidFill>
              </a:rPr>
              <a:t>2</a:t>
            </a:r>
            <a:r>
              <a:rPr sz="790">
                <a:solidFill>
                  <a:schemeClr val="tx2"/>
                </a:solidFill>
              </a:rPr>
              <a:t> </a:t>
            </a:r>
          </a:p>
        </p:txBody>
      </p:sp>
      <p:sp>
        <p:nvSpPr>
          <p:cNvPr id="3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8113776" y="5684223"/>
            <a:ext cx="401970" cy="154435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normAutofit/>
          </a:bodyPr>
          <a:lstStyle>
            <a:lvl1pPr algn="r">
              <a:defRPr sz="675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pPr>
              <a:defRPr/>
            </a:pPr>
            <a:fld id="{F891B897-4A42-48FA-975F-8C0ADFEBCFB3}" type="slidenum">
              <a:rPr lang="en-US" altLang="zh-CN"/>
              <a:t>‹#›</a:t>
            </a:fld>
            <a:r>
              <a:rPr lang="en-US" altLang="zh-CN"/>
              <a:t>/38</a:t>
            </a:r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800">
              <a:defRPr/>
            </a:pP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800"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smtClean="0"/>
              <a:t>‹#›</a:t>
            </a:fld>
            <a:r>
              <a:rPr lang="en-US" altLang="zh-CN">
                <a:sym typeface="+mn-ea"/>
              </a:rPr>
              <a:t>/81</a:t>
            </a:r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1143000" y="1085850"/>
            <a:ext cx="5715000" cy="571500"/>
          </a:xfrm>
          <a:prstGeom prst="rect">
            <a:avLst/>
          </a:prstGeom>
          <a:noFill/>
          <a:ln w="9525">
            <a:noFill/>
          </a:ln>
        </p:spPr>
        <p:txBody>
          <a:bodyPr anchor="ctr" anchorCtr="1"/>
          <a:lstStyle/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539355" y="1771650"/>
            <a:ext cx="8065294" cy="36576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r>
              <a:rPr lang="en-US" altLang="zh-CN" dirty="0"/>
              <a:t>first</a:t>
            </a:r>
          </a:p>
          <a:p>
            <a:pPr lvl="1"/>
            <a:r>
              <a:rPr lang="zh-CN" altLang="en-US" dirty="0"/>
              <a:t>第二级</a:t>
            </a:r>
            <a:r>
              <a:rPr lang="en-US" altLang="zh-CN" dirty="0"/>
              <a:t>second</a:t>
            </a:r>
          </a:p>
          <a:p>
            <a:pPr lvl="2"/>
            <a:r>
              <a:rPr lang="zh-CN" altLang="en-US" dirty="0"/>
              <a:t>第三级</a:t>
            </a:r>
            <a:r>
              <a:rPr lang="en-US" altLang="zh-CN" dirty="0"/>
              <a:t>third</a:t>
            </a:r>
          </a:p>
          <a:p>
            <a:pPr lvl="3"/>
            <a:r>
              <a:rPr lang="zh-CN" altLang="en-US" dirty="0"/>
              <a:t>第四级</a:t>
            </a:r>
            <a:r>
              <a:rPr lang="en-US" altLang="zh-CN" dirty="0"/>
              <a:t>forth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4800" y="5543550"/>
            <a:ext cx="1905000" cy="3429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 sz="1200" b="0">
                <a:solidFill>
                  <a:srgbClr val="FF00FF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 defTabSz="685800" fontAlgn="base">
              <a:defRPr/>
            </a:pPr>
            <a:endParaRPr lang="zh-CN" altLang="en-US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362200" y="5543550"/>
            <a:ext cx="4343400" cy="3429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 sz="1350" b="0">
                <a:solidFill>
                  <a:srgbClr val="FF00FF"/>
                </a:solidFill>
                <a:latin typeface="Tahoma" panose="020B0604030504040204" pitchFamily="34" charset="0"/>
                <a:ea typeface="华文新魏" panose="02010800040101010101" pitchFamily="2" charset="-122"/>
              </a:defRPr>
            </a:lvl1pPr>
          </a:lstStyle>
          <a:p>
            <a:pPr defTabSz="685800" fontAlgn="base">
              <a:defRPr/>
            </a:pPr>
            <a:endParaRPr lang="zh-CN" altLang="en-US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5543550"/>
            <a:ext cx="1905000" cy="3429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solidFill>
                  <a:srgbClr val="FF00FF"/>
                </a:solidFill>
                <a:latin typeface="Tahoma" panose="020B0604030504040204" pitchFamily="34" charset="0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/>
              <a:t>‹#›</a:t>
            </a:fld>
            <a:r>
              <a:rPr lang="en-US" altLang="zh-CN" dirty="0">
                <a:sym typeface="+mn-ea"/>
              </a:rPr>
              <a:t>/81</a:t>
            </a:r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1031" name="Freeform 7"/>
          <p:cNvSpPr/>
          <p:nvPr/>
        </p:nvSpPr>
        <p:spPr>
          <a:xfrm>
            <a:off x="0" y="0"/>
            <a:ext cx="9144000" cy="2286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0" y="0"/>
              </a:cxn>
            </a:cxnLst>
            <a:rect l="0" t="0" r="0" b="0"/>
            <a:pathLst>
              <a:path w="5495" h="106">
                <a:moveTo>
                  <a:pt x="0" y="0"/>
                </a:moveTo>
                <a:lnTo>
                  <a:pt x="5494" y="0"/>
                </a:lnTo>
                <a:lnTo>
                  <a:pt x="5494" y="105"/>
                </a:lnTo>
                <a:lnTo>
                  <a:pt x="0" y="105"/>
                </a:lnTo>
                <a:lnTo>
                  <a:pt x="0" y="0"/>
                </a:lnTo>
              </a:path>
            </a:pathLst>
          </a:custGeom>
          <a:gradFill rotWithShape="0">
            <a:gsLst>
              <a:gs pos="0">
                <a:srgbClr val="B2D5FF">
                  <a:alpha val="100000"/>
                </a:srgbClr>
              </a:gs>
              <a:gs pos="100000">
                <a:srgbClr val="0073FF">
                  <a:alpha val="100000"/>
                </a:srgbClr>
              </a:gs>
            </a:gsLst>
            <a:lin ang="0" scaled="1"/>
            <a:tileRect/>
          </a:gradFill>
          <a:ln w="12700">
            <a:noFill/>
          </a:ln>
        </p:spPr>
        <p:txBody>
          <a:bodyPr/>
          <a:lstStyle/>
          <a:p>
            <a:endParaRPr lang="zh-CN" altLang="en-US" sz="135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700" b="1">
          <a:solidFill>
            <a:srgbClr val="FF3300"/>
          </a:solidFill>
          <a:latin typeface="+mj-lt"/>
          <a:ea typeface="+mj-ea"/>
          <a:cs typeface="楷体_GB2312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700" b="1">
          <a:solidFill>
            <a:srgbClr val="FF3300"/>
          </a:solidFill>
          <a:latin typeface="Times New Roman" panose="02020603050405020304" pitchFamily="18" charset="0"/>
          <a:ea typeface="楷体_GB2312" pitchFamily="49" charset="-122"/>
          <a:cs typeface="楷体_GB231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700" b="1">
          <a:solidFill>
            <a:srgbClr val="FF3300"/>
          </a:solidFill>
          <a:latin typeface="Times New Roman" panose="02020603050405020304" pitchFamily="18" charset="0"/>
          <a:ea typeface="楷体_GB2312" pitchFamily="49" charset="-122"/>
          <a:cs typeface="楷体_GB231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700" b="1">
          <a:solidFill>
            <a:srgbClr val="FF3300"/>
          </a:solidFill>
          <a:latin typeface="Times New Roman" panose="02020603050405020304" pitchFamily="18" charset="0"/>
          <a:ea typeface="楷体_GB2312" pitchFamily="49" charset="-122"/>
          <a:cs typeface="楷体_GB231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700" b="1">
          <a:solidFill>
            <a:srgbClr val="FF3300"/>
          </a:solidFill>
          <a:latin typeface="Times New Roman" panose="02020603050405020304" pitchFamily="18" charset="0"/>
          <a:ea typeface="楷体_GB2312" pitchFamily="49" charset="-122"/>
          <a:cs typeface="楷体_GB2312"/>
        </a:defRPr>
      </a:lvl5pPr>
      <a:lvl6pPr marL="342900" algn="ctr" rtl="0" fontAlgn="base">
        <a:spcBef>
          <a:spcPct val="0"/>
        </a:spcBef>
        <a:spcAft>
          <a:spcPct val="0"/>
        </a:spcAft>
        <a:defRPr kumimoji="1" sz="2700" b="1">
          <a:solidFill>
            <a:srgbClr val="FF3300"/>
          </a:solidFill>
          <a:latin typeface="Times New Roman" panose="02020603050405020304" pitchFamily="18" charset="0"/>
          <a:ea typeface="楷体_GB2312" pitchFamily="49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kumimoji="1" sz="2700" b="1">
          <a:solidFill>
            <a:srgbClr val="FF3300"/>
          </a:solidFill>
          <a:latin typeface="Times New Roman" panose="02020603050405020304" pitchFamily="18" charset="0"/>
          <a:ea typeface="楷体_GB2312" pitchFamily="49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kumimoji="1" sz="2700" b="1">
          <a:solidFill>
            <a:srgbClr val="FF3300"/>
          </a:solidFill>
          <a:latin typeface="Times New Roman" panose="02020603050405020304" pitchFamily="18" charset="0"/>
          <a:ea typeface="楷体_GB2312" pitchFamily="49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kumimoji="1" sz="2700" b="1">
          <a:solidFill>
            <a:srgbClr val="FF3300"/>
          </a:solidFill>
          <a:latin typeface="Times New Roman" panose="02020603050405020304" pitchFamily="18" charset="0"/>
          <a:ea typeface="楷体_GB2312" pitchFamily="49" charset="-122"/>
        </a:defRPr>
      </a:lvl9pPr>
    </p:titleStyle>
    <p:bodyStyle>
      <a:lvl1pPr marL="257175" indent="-257175" algn="l" rtl="0" eaLnBrk="0" fontAlgn="base" hangingPunct="0">
        <a:lnSpc>
          <a:spcPct val="115000"/>
        </a:lnSpc>
        <a:spcBef>
          <a:spcPct val="20000"/>
        </a:spcBef>
        <a:spcAft>
          <a:spcPct val="20000"/>
        </a:spcAft>
        <a:buClr>
          <a:srgbClr val="FF3300"/>
        </a:buClr>
        <a:buFont typeface="Wingdings" panose="05000000000000000000" pitchFamily="2" charset="2"/>
        <a:buBlip>
          <a:blip r:embed="rId8"/>
        </a:buBlip>
        <a:defRPr sz="2100" b="1">
          <a:solidFill>
            <a:schemeClr val="tx1"/>
          </a:solidFill>
          <a:latin typeface="+mn-lt"/>
          <a:ea typeface="+mn-ea"/>
          <a:cs typeface="楷体_GB2312"/>
        </a:defRPr>
      </a:lvl1pPr>
      <a:lvl2pPr marL="557530" indent="-214630" algn="l" rtl="0" eaLnBrk="0" fontAlgn="base" hangingPunct="0">
        <a:lnSpc>
          <a:spcPct val="115000"/>
        </a:lnSpc>
        <a:spcBef>
          <a:spcPct val="20000"/>
        </a:spcBef>
        <a:spcAft>
          <a:spcPct val="20000"/>
        </a:spcAft>
        <a:buClr>
          <a:srgbClr val="FF3300"/>
        </a:buClr>
        <a:buFont typeface="Wingdings" panose="05000000000000000000" pitchFamily="2" charset="2"/>
        <a:buChar char="v"/>
        <a:defRPr sz="1800" b="1">
          <a:solidFill>
            <a:schemeClr val="tx1"/>
          </a:solidFill>
          <a:latin typeface="+mn-lt"/>
          <a:ea typeface="+mn-ea"/>
          <a:cs typeface="楷体_GB2312"/>
        </a:defRPr>
      </a:lvl2pPr>
      <a:lvl3pPr marL="857250" indent="-171450" algn="l" rtl="0" eaLnBrk="0" fontAlgn="base" hangingPunct="0">
        <a:lnSpc>
          <a:spcPct val="115000"/>
        </a:lnSpc>
        <a:spcBef>
          <a:spcPct val="20000"/>
        </a:spcBef>
        <a:spcAft>
          <a:spcPct val="20000"/>
        </a:spcAft>
        <a:buClr>
          <a:srgbClr val="0000FF"/>
        </a:buClr>
        <a:buFont typeface="Wingdings" panose="05000000000000000000" pitchFamily="2" charset="2"/>
        <a:buChar char="Ø"/>
        <a:defRPr sz="1650" b="1">
          <a:solidFill>
            <a:schemeClr val="tx1"/>
          </a:solidFill>
          <a:latin typeface="+mn-lt"/>
          <a:ea typeface="+mn-ea"/>
          <a:cs typeface="楷体_GB2312"/>
        </a:defRPr>
      </a:lvl3pPr>
      <a:lvl4pPr marL="1200150" indent="-171450" algn="l" rtl="0" eaLnBrk="0" fontAlgn="base" hangingPunct="0">
        <a:lnSpc>
          <a:spcPct val="115000"/>
        </a:lnSpc>
        <a:spcBef>
          <a:spcPct val="20000"/>
        </a:spcBef>
        <a:spcAft>
          <a:spcPct val="20000"/>
        </a:spcAft>
        <a:buClr>
          <a:srgbClr val="FF3300"/>
        </a:buClr>
        <a:buChar char="•"/>
        <a:defRPr sz="1500" b="1">
          <a:solidFill>
            <a:schemeClr val="tx1"/>
          </a:solidFill>
          <a:latin typeface="+mn-lt"/>
          <a:ea typeface="+mn-ea"/>
          <a:cs typeface="楷体_GB2312"/>
        </a:defRPr>
      </a:lvl4pPr>
      <a:lvl5pPr marL="1543050" indent="-17145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j-lt"/>
          <a:ea typeface="宋体" panose="02010600030101010101" pitchFamily="2" charset="-122"/>
          <a:cs typeface="楷体_GB2312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j-lt"/>
          <a:ea typeface="宋体" panose="02010600030101010101" pitchFamily="2" charset="-122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j-lt"/>
          <a:ea typeface="宋体" panose="02010600030101010101" pitchFamily="2" charset="-122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j-lt"/>
          <a:ea typeface="宋体" panose="02010600030101010101" pitchFamily="2" charset="-122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j-lt"/>
          <a:ea typeface="宋体" panose="02010600030101010101" pitchFamily="2" charset="-122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8.png"/><Relationship Id="rId5" Type="http://schemas.openxmlformats.org/officeDocument/2006/relationships/image" Target="../media/image14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42.wmf"/><Relationship Id="rId4" Type="http://schemas.openxmlformats.org/officeDocument/2006/relationships/oleObject" Target="../embeddings/oleObject2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3.wmf"/><Relationship Id="rId7" Type="http://schemas.openxmlformats.org/officeDocument/2006/relationships/image" Target="../media/image46.png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png"/><Relationship Id="rId4" Type="http://schemas.openxmlformats.org/officeDocument/2006/relationships/customXml" Target="../ink/ink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7" Type="http://schemas.openxmlformats.org/officeDocument/2006/relationships/image" Target="../media/image58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5" Type="http://schemas.openxmlformats.org/officeDocument/2006/relationships/image" Target="../media/image29.png"/><Relationship Id="rId4" Type="http://schemas.openxmlformats.org/officeDocument/2006/relationships/image" Target="../media/image6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7" Type="http://schemas.openxmlformats.org/officeDocument/2006/relationships/image" Target="../media/image7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3.png"/><Relationship Id="rId4" Type="http://schemas.openxmlformats.org/officeDocument/2006/relationships/image" Target="../media/image82.w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3.png"/><Relationship Id="rId4" Type="http://schemas.openxmlformats.org/officeDocument/2006/relationships/image" Target="../media/image82.w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3"/>
          <p:cNvSpPr>
            <a:spLocks noGrp="1"/>
          </p:cNvSpPr>
          <p:nvPr>
            <p:ph type="ctrTitle"/>
          </p:nvPr>
        </p:nvSpPr>
        <p:spPr>
          <a:xfrm>
            <a:off x="611560" y="1052736"/>
            <a:ext cx="7498922" cy="3543300"/>
          </a:xfrm>
        </p:spPr>
        <p:txBody>
          <a:bodyPr vert="horz" wrap="square" lIns="68580" tIns="34290" rIns="68580" bIns="34290" anchor="ctr" anchorCtr="1"/>
          <a:lstStyle/>
          <a:p>
            <a:pPr eaLnBrk="1" hangingPunct="1">
              <a:buClrTx/>
              <a:buSzTx/>
              <a:buFontTx/>
            </a:pPr>
            <a:br>
              <a:rPr lang="en-US" altLang="zh-CN" sz="32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</a:br>
            <a:r>
              <a:rPr lang="en-US" altLang="zh-CN" sz="40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Principles of communications </a:t>
            </a:r>
            <a:br>
              <a:rPr lang="en-US" altLang="zh-CN" sz="32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</a:br>
            <a:br>
              <a:rPr lang="en-US" altLang="zh-CN" sz="32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</a:br>
            <a:r>
              <a:rPr lang="en-US" altLang="zh-CN" sz="32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Chapter2  Random processes— Part II</a:t>
            </a:r>
            <a:br>
              <a:rPr lang="en-US" altLang="zh-CN" sz="32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</a:br>
            <a:r>
              <a:rPr lang="en-US" altLang="zh-CN" sz="3300" dirty="0">
                <a:ea typeface="黑体" panose="02010609060101010101" pitchFamily="49" charset="-122"/>
              </a:rPr>
              <a:t>                                              </a:t>
            </a:r>
            <a:br>
              <a:rPr lang="en-US" altLang="zh-CN" sz="3300" dirty="0">
                <a:ea typeface="黑体" panose="02010609060101010101" pitchFamily="49" charset="-122"/>
              </a:rPr>
            </a:br>
            <a:r>
              <a:rPr lang="en-US" altLang="zh-CN" sz="3300" dirty="0">
                <a:ea typeface="黑体" panose="02010609060101010101" pitchFamily="49" charset="-122"/>
              </a:rPr>
              <a:t>                                 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 cstate="print"/>
          <a:srcRect t="51528"/>
          <a:stretch>
            <a:fillRect/>
          </a:stretch>
        </p:blipFill>
        <p:spPr>
          <a:xfrm>
            <a:off x="0" y="4725144"/>
            <a:ext cx="9152405" cy="187220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  <p:transition spd="med">
    <p:rand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43000" y="998730"/>
            <a:ext cx="2618910" cy="658620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知识点回顾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6512" y="0"/>
            <a:ext cx="9122542" cy="685800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7944" y="2060848"/>
            <a:ext cx="4039810" cy="1571039"/>
          </a:xfrm>
          <a:prstGeom prst="rect">
            <a:avLst/>
          </a:prstGeom>
          <a:solidFill>
            <a:schemeClr val="bg1"/>
          </a:solidFill>
          <a:ln w="34925">
            <a:solidFill>
              <a:schemeClr val="accent1"/>
            </a:solidFill>
          </a:ln>
        </p:spPr>
      </p:pic>
      <p:sp>
        <p:nvSpPr>
          <p:cNvPr id="16" name="文本框 15"/>
          <p:cNvSpPr txBox="1"/>
          <p:nvPr/>
        </p:nvSpPr>
        <p:spPr>
          <a:xfrm>
            <a:off x="3419872" y="4365104"/>
            <a:ext cx="62646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solidFill>
                  <a:srgbClr val="FF0000"/>
                </a:solidFill>
              </a:rPr>
              <a:t>Stationary random process</a:t>
            </a:r>
            <a:endParaRPr lang="zh-CN" altLang="en-US" sz="4000" dirty="0">
              <a:solidFill>
                <a:srgbClr val="FF0000"/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3419872" y="116632"/>
            <a:ext cx="5544616" cy="6696744"/>
          </a:xfrm>
          <a:prstGeom prst="rect">
            <a:avLst/>
          </a:prstGeom>
          <a:noFill/>
          <a:ln w="254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2276872"/>
            <a:ext cx="5706462" cy="396456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文本框 5"/>
          <p:cNvSpPr txBox="1"/>
          <p:nvPr/>
        </p:nvSpPr>
        <p:spPr>
          <a:xfrm>
            <a:off x="3448209" y="2632756"/>
            <a:ext cx="162018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100" b="1" dirty="0">
                <a:solidFill>
                  <a:srgbClr val="FF0000"/>
                </a:solidFill>
              </a:rPr>
              <a:t>局部→ 整体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墨迹 2"/>
              <p14:cNvContentPartPr/>
              <p14:nvPr/>
            </p14:nvContentPartPr>
            <p14:xfrm>
              <a:off x="3851919" y="3429397"/>
              <a:ext cx="720080" cy="443070"/>
            </p14:xfrm>
          </p:contentPart>
        </mc:Choice>
        <mc:Fallback xmlns="">
          <p:pic>
            <p:nvPicPr>
              <p:cNvPr id="3" name="墨迹 2"/>
            </p:nvPicPr>
            <p:blipFill>
              <a:blip r:embed="rId4"/>
            </p:blipFill>
            <p:spPr>
              <a:xfrm>
                <a:off x="3851919" y="3429397"/>
                <a:ext cx="720080" cy="443070"/>
              </a:xfrm>
              <a:prstGeom prst="rect"/>
            </p:spPr>
          </p:pic>
        </mc:Fallback>
      </mc:AlternateContent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8223" y="3019108"/>
            <a:ext cx="1731781" cy="229942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294580" y="616560"/>
            <a:ext cx="62646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solidFill>
                  <a:srgbClr val="FF0000"/>
                </a:solidFill>
              </a:rPr>
              <a:t>Stationary random processes</a:t>
            </a:r>
            <a:endParaRPr lang="zh-CN" altLang="en-US" sz="4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23696" y="332893"/>
            <a:ext cx="2289941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100" b="1" dirty="0">
                <a:solidFill>
                  <a:srgbClr val="FF0000"/>
                </a:solidFill>
              </a:rPr>
              <a:t>Example 1</a:t>
            </a:r>
            <a:endParaRPr lang="zh-CN" altLang="en-US" sz="2100" b="1" dirty="0">
              <a:solidFill>
                <a:srgbClr val="FF0000"/>
              </a:solidFill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885" y="332740"/>
            <a:ext cx="5995035" cy="4265930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115" y="4869180"/>
            <a:ext cx="7813675" cy="1143635"/>
          </a:xfrm>
          <a:prstGeom prst="rect">
            <a:avLst/>
          </a:prstGeom>
          <a:ln w="19050">
            <a:solidFill>
              <a:schemeClr val="accent1"/>
            </a:solidFill>
            <a:prstDash val="dash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708" y="1623309"/>
            <a:ext cx="5547171" cy="1743397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058" y="3432834"/>
            <a:ext cx="6341194" cy="94788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1112" y="4487137"/>
            <a:ext cx="2562875" cy="986546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3250" y="1143422"/>
            <a:ext cx="3357354" cy="827517"/>
          </a:xfrm>
          <a:prstGeom prst="rect">
            <a:avLst/>
          </a:prstGeom>
          <a:ln w="19050">
            <a:solidFill>
              <a:schemeClr val="accent1"/>
            </a:solidFill>
            <a:prstDash val="dash"/>
          </a:ln>
        </p:spPr>
      </p:pic>
      <p:sp>
        <p:nvSpPr>
          <p:cNvPr id="2" name="矩形 1"/>
          <p:cNvSpPr/>
          <p:nvPr/>
        </p:nvSpPr>
        <p:spPr bwMode="auto">
          <a:xfrm>
            <a:off x="0" y="857250"/>
            <a:ext cx="9144000" cy="248307"/>
          </a:xfrm>
          <a:prstGeom prst="rect">
            <a:avLst/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68580" tIns="34290" rIns="68580" bIns="34290" numCol="1" rtlCol="0" anchor="t" anchorCtr="0" compatLnSpc="1"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lang="zh-CN" altLang="en-US" sz="135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 bwMode="auto">
          <a:xfrm>
            <a:off x="0" y="857250"/>
            <a:ext cx="9144000" cy="248307"/>
          </a:xfrm>
          <a:prstGeom prst="rect">
            <a:avLst/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68580" tIns="34290" rIns="68580" bIns="34290" numCol="1" rtlCol="0" anchor="t" anchorCtr="0" compatLnSpc="1"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lang="zh-CN" altLang="en-US" sz="135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094" y="857250"/>
            <a:ext cx="5955424" cy="213504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442" y="2992299"/>
            <a:ext cx="4214118" cy="48683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442" y="3601584"/>
            <a:ext cx="2277501" cy="859259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2862" y="3436182"/>
            <a:ext cx="2222236" cy="547734"/>
          </a:xfrm>
          <a:prstGeom prst="rect">
            <a:avLst/>
          </a:prstGeom>
          <a:ln w="19050">
            <a:solidFill>
              <a:schemeClr val="accent1"/>
            </a:solidFill>
            <a:prstDash val="dash"/>
          </a:ln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2942" y="3983916"/>
            <a:ext cx="4717721" cy="520577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2522" y="4504493"/>
            <a:ext cx="1969085" cy="1047472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6094" y="5464977"/>
            <a:ext cx="4679564" cy="49212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9A0DB2DC-4C9A-4742-B13C-FB6460FD3503}" type="slidenum">
              <a:rPr lang="en-US" altLang="zh-CN"/>
              <a:t>7</a:t>
            </a:fld>
            <a:r>
              <a:rPr lang="en-US" altLang="zh-CN">
                <a:sym typeface="+mn-ea"/>
              </a:rPr>
              <a:t>/81</a:t>
            </a:r>
            <a:endParaRPr lang="en-US" altLang="zh-CN" dirty="0">
              <a:latin typeface="Arial" panose="020B0604020202020204" pitchFamily="3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630" y="1562890"/>
            <a:ext cx="8690741" cy="186611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 bwMode="auto">
          <a:xfrm>
            <a:off x="0" y="857250"/>
            <a:ext cx="9144000" cy="248307"/>
          </a:xfrm>
          <a:prstGeom prst="rect">
            <a:avLst/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68580" tIns="34290" rIns="68580" bIns="34290" numCol="1" rtlCol="0" anchor="t" anchorCtr="0" compatLnSpc="1"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lang="zh-CN" altLang="en-US" sz="135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26630" y="1105557"/>
            <a:ext cx="228994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altLang="zh-CN" sz="2100" b="1" dirty="0">
                <a:solidFill>
                  <a:srgbClr val="FF0000"/>
                </a:solidFill>
                <a:latin typeface="Arial" panose="020B0604020202020204"/>
              </a:rPr>
              <a:t>Example 3</a:t>
            </a:r>
            <a:endParaRPr lang="zh-CN" altLang="en-US" sz="2100" b="1" dirty="0">
              <a:solidFill>
                <a:srgbClr val="FF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 bwMode="auto">
          <a:xfrm>
            <a:off x="0" y="908685"/>
            <a:ext cx="9144000" cy="248307"/>
          </a:xfrm>
          <a:prstGeom prst="rect">
            <a:avLst/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68580" tIns="34290" rIns="68580" bIns="34290" numCol="1" rtlCol="0" anchor="t" anchorCtr="0" compatLnSpc="1"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lang="zh-CN" altLang="en-US" sz="135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71" y="857250"/>
            <a:ext cx="7484351" cy="51435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3038" y="2509102"/>
            <a:ext cx="3384380" cy="352387"/>
          </a:xfrm>
          <a:prstGeom prst="rect">
            <a:avLst/>
          </a:prstGeom>
          <a:ln w="19050">
            <a:solidFill>
              <a:schemeClr val="accent1"/>
            </a:solidFill>
            <a:prstDash val="dash"/>
          </a:ln>
        </p:spPr>
      </p:pic>
      <p:sp>
        <p:nvSpPr>
          <p:cNvPr id="8" name="文本框 7"/>
          <p:cNvSpPr txBox="1"/>
          <p:nvPr/>
        </p:nvSpPr>
        <p:spPr>
          <a:xfrm>
            <a:off x="4698050" y="3141575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/>
            <a:r>
              <a:rPr lang="zh-CN" altLang="zh-CN" dirty="0">
                <a:solidFill>
                  <a:srgbClr val="00B0F0"/>
                </a:solidFill>
                <a:latin typeface="Arial" panose="020B0604020202020204"/>
              </a:rPr>
              <a:t>statistically independent</a:t>
            </a:r>
            <a:endParaRPr lang="zh-CN" altLang="en-US" dirty="0">
              <a:solidFill>
                <a:srgbClr val="00B0F0"/>
              </a:solidFill>
              <a:latin typeface="Arial" panose="020B0604020202020204"/>
            </a:endParaRPr>
          </a:p>
        </p:txBody>
      </p:sp>
      <p:sp>
        <p:nvSpPr>
          <p:cNvPr id="11" name="矩形: 圆角 10"/>
          <p:cNvSpPr/>
          <p:nvPr/>
        </p:nvSpPr>
        <p:spPr bwMode="auto">
          <a:xfrm>
            <a:off x="4129227" y="3429000"/>
            <a:ext cx="1347952" cy="346249"/>
          </a:xfrm>
          <a:prstGeom prst="roundRect">
            <a:avLst/>
          </a:prstGeom>
          <a:solidFill>
            <a:schemeClr val="lt1">
              <a:alpha val="4000"/>
            </a:schemeClr>
          </a:solidFill>
          <a:ln>
            <a:prstDash val="sys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68580" tIns="34290" rIns="68580" bIns="34290" numCol="1" rtlCol="0" anchor="t" anchorCtr="0" compatLnSpc="1"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lang="zh-CN" altLang="en-US" sz="135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" name="矩形: 圆角 11"/>
          <p:cNvSpPr/>
          <p:nvPr/>
        </p:nvSpPr>
        <p:spPr bwMode="auto">
          <a:xfrm>
            <a:off x="5541580" y="3451757"/>
            <a:ext cx="1738148" cy="342900"/>
          </a:xfrm>
          <a:prstGeom prst="roundRect">
            <a:avLst/>
          </a:prstGeom>
          <a:solidFill>
            <a:schemeClr val="lt1">
              <a:alpha val="4000"/>
            </a:schemeClr>
          </a:solidFill>
          <a:ln>
            <a:solidFill>
              <a:srgbClr val="FF0000"/>
            </a:solidFill>
            <a:prstDash val="sys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68580" tIns="34290" rIns="68580" bIns="34290" numCol="1" rtlCol="0" anchor="t" anchorCtr="0" compatLnSpc="1"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lang="zh-CN" altLang="en-US" sz="135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07950" y="692785"/>
            <a:ext cx="1296035" cy="215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TW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043940" y="836930"/>
            <a:ext cx="1296035" cy="215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TW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4439" y="1167322"/>
            <a:ext cx="4689638" cy="2447263"/>
          </a:xfrm>
          <a:prstGeom prst="rect">
            <a:avLst/>
          </a:prstGeom>
          <a:ln w="19050">
            <a:solidFill>
              <a:schemeClr val="accent1"/>
            </a:solidFill>
            <a:prstDash val="dash"/>
          </a:ln>
        </p:spPr>
      </p:pic>
      <p:sp>
        <p:nvSpPr>
          <p:cNvPr id="4" name="文本框 6"/>
          <p:cNvSpPr txBox="1"/>
          <p:nvPr/>
        </p:nvSpPr>
        <p:spPr>
          <a:xfrm>
            <a:off x="6813499" y="1276741"/>
            <a:ext cx="2021205" cy="456248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>
            <a:defPPr>
              <a:defRPr lang="zh-CN"/>
            </a:defPPr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defTabSz="685800"/>
            <a:r>
              <a:rPr lang="zh-CN" altLang="en-US" sz="24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维纳辛钦关系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942" y="2624604"/>
            <a:ext cx="591670" cy="34217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3987398"/>
            <a:ext cx="3904589" cy="141052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4583" y="3890410"/>
            <a:ext cx="4679417" cy="1690850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 bwMode="auto">
          <a:xfrm>
            <a:off x="1643903" y="2246748"/>
            <a:ext cx="1589137" cy="50559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68580" tIns="34290" rIns="68580" bIns="34290" numCol="1" rtlCol="0" anchor="t" anchorCtr="0" compatLnSpc="1"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1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modulator</a:t>
            </a:r>
            <a:endParaRPr lang="zh-CN" altLang="en-US" sz="2100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" name="箭头: 右 12"/>
          <p:cNvSpPr/>
          <p:nvPr/>
        </p:nvSpPr>
        <p:spPr bwMode="auto">
          <a:xfrm>
            <a:off x="584948" y="2427260"/>
            <a:ext cx="1058955" cy="79944"/>
          </a:xfrm>
          <a:prstGeom prst="rightArrow">
            <a:avLst/>
          </a:prstGeom>
          <a:solidFill>
            <a:schemeClr val="accent1"/>
          </a:solidFill>
          <a:ln w="12700" cap="rnd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68580" tIns="34290" rIns="68580" bIns="34290" numCol="1" rtlCol="0" anchor="t" anchorCtr="0" compatLnSpc="1"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lang="zh-CN" altLang="en-US" sz="135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" name="箭头: 右 13"/>
          <p:cNvSpPr/>
          <p:nvPr/>
        </p:nvSpPr>
        <p:spPr bwMode="auto">
          <a:xfrm>
            <a:off x="3242115" y="2427259"/>
            <a:ext cx="755701" cy="72287"/>
          </a:xfrm>
          <a:prstGeom prst="rightArrow">
            <a:avLst/>
          </a:prstGeom>
          <a:solidFill>
            <a:schemeClr val="accent1"/>
          </a:solidFill>
          <a:ln w="12700" cap="rnd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68580" tIns="34290" rIns="68580" bIns="34290" numCol="1" rtlCol="0" anchor="t" anchorCtr="0" compatLnSpc="1"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lang="zh-CN" altLang="en-US" sz="135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23231" y="5494911"/>
            <a:ext cx="8949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/>
            <a:r>
              <a:rPr lang="zh-CN" altLang="zh-CN" dirty="0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/>
              </a:rPr>
              <a:t>Power Spectra of Stationary Random Pulse Sequence Before and After Modulation</a:t>
            </a:r>
            <a:endParaRPr lang="zh-CN" altLang="en-US" dirty="0">
              <a:solidFill>
                <a:srgbClr val="FF0000"/>
              </a:solidFill>
              <a:highlight>
                <a:srgbClr val="FFFF00"/>
              </a:highlight>
              <a:latin typeface="Arial" panose="020B0604020202020204"/>
            </a:endParaRPr>
          </a:p>
        </p:txBody>
      </p:sp>
      <p:sp>
        <p:nvSpPr>
          <p:cNvPr id="17" name="箭头: 右 16"/>
          <p:cNvSpPr/>
          <p:nvPr/>
        </p:nvSpPr>
        <p:spPr bwMode="auto">
          <a:xfrm>
            <a:off x="3816300" y="4671515"/>
            <a:ext cx="633338" cy="72287"/>
          </a:xfrm>
          <a:prstGeom prst="rightArrow">
            <a:avLst/>
          </a:prstGeom>
          <a:solidFill>
            <a:schemeClr val="bg1"/>
          </a:solidFill>
          <a:ln w="12700" cap="rnd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68580" tIns="34290" rIns="68580" bIns="34290" numCol="1" rtlCol="0" anchor="t" anchorCtr="0" compatLnSpc="1"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lang="zh-CN" altLang="en-US" sz="135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58293" y="2581848"/>
            <a:ext cx="633338" cy="43477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7784" y="1350980"/>
            <a:ext cx="2448770" cy="170128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1720" y="3140968"/>
            <a:ext cx="4355976" cy="170090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9552" y="334466"/>
            <a:ext cx="7886700" cy="1325563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0706" y="1071066"/>
            <a:ext cx="8963172" cy="4351338"/>
          </a:xfrm>
        </p:spPr>
        <p:txBody>
          <a:bodyPr>
            <a:normAutofit fontScale="77500" lnSpcReduction="20000"/>
          </a:bodyPr>
          <a:lstStyle/>
          <a:p>
            <a:r>
              <a:rPr kumimoji="1"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Stationary Processes</a:t>
            </a:r>
            <a:r>
              <a:rPr kumimoji="1"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：局部替代整体</a:t>
            </a:r>
            <a:endParaRPr kumimoji="1"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1"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1"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1"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1"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Gaussian Random Processes</a:t>
            </a:r>
          </a:p>
          <a:p>
            <a:endParaRPr kumimoji="1"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1"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kumimoji="1" lang="en-US" altLang="zh-CN" dirty="0"/>
          </a:p>
          <a:p>
            <a:pPr marL="0" indent="0">
              <a:buNone/>
            </a:pPr>
            <a:endParaRPr kumimoji="1" lang="en-US" altLang="zh-CN" dirty="0"/>
          </a:p>
          <a:p>
            <a:pPr marL="0" indent="0">
              <a:buNone/>
            </a:pPr>
            <a:endParaRPr kumimoji="1" lang="en-US" altLang="zh-CN" dirty="0"/>
          </a:p>
          <a:p>
            <a:r>
              <a:rPr kumimoji="1" lang="zh-CN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Processes Passing through Linear Systems</a:t>
            </a:r>
            <a:endParaRPr kumimoji="1"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2"/>
          <p:cNvSpPr>
            <a:spLocks noGrp="1"/>
          </p:cNvSpPr>
          <p:nvPr/>
        </p:nvSpPr>
        <p:spPr>
          <a:xfrm>
            <a:off x="20230" y="268003"/>
            <a:ext cx="8712968" cy="736600"/>
          </a:xfrm>
          <a:prstGeom prst="rect">
            <a:avLst/>
          </a:prstGeom>
          <a:solidFill>
            <a:schemeClr val="accent1">
              <a:alpha val="25000"/>
            </a:schemeClr>
          </a:solidFill>
          <a:ln w="9525">
            <a:noFill/>
          </a:ln>
        </p:spPr>
        <p:txBody>
          <a:bodyPr vert="horz" wrap="square" lIns="91440" tIns="45720" rIns="91440" bIns="45720" anchor="ctr" anchorCtr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+mj-lt"/>
                <a:ea typeface="+mj-ea"/>
                <a:cs typeface="楷体_GB231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Chapter 2：Random Processes——Part II</a:t>
            </a:r>
          </a:p>
        </p:txBody>
      </p:sp>
      <p:pic>
        <p:nvPicPr>
          <p:cNvPr id="8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6264" y="5507020"/>
            <a:ext cx="3786888" cy="1325563"/>
          </a:xfrm>
          <a:prstGeom prst="rect">
            <a:avLst/>
          </a:prstGeom>
          <a:noFill/>
          <a:ln w="12700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720" y="3140968"/>
            <a:ext cx="4355976" cy="170090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9552" y="334466"/>
            <a:ext cx="7886700" cy="1325563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552" y="1090910"/>
            <a:ext cx="8963172" cy="4351338"/>
          </a:xfrm>
        </p:spPr>
        <p:txBody>
          <a:bodyPr>
            <a:normAutofit fontScale="85000" lnSpcReduction="20000"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Stationary Processes</a:t>
            </a:r>
          </a:p>
          <a:p>
            <a:pPr marL="0" indent="0">
              <a:buNone/>
            </a:pPr>
            <a:r>
              <a:rPr kumimoji="1"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--Definitions </a:t>
            </a:r>
            <a:r>
              <a:rPr kumimoji="1"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① ② </a:t>
            </a:r>
            <a:r>
              <a:rPr kumimoji="1"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Ergodicity</a:t>
            </a:r>
          </a:p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--Properties of the Autocorrelation Function</a:t>
            </a:r>
          </a:p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--Power spectral density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PSD</a:t>
            </a:r>
            <a:endParaRPr kumimoji="1" lang="en-US" altLang="zh-CN" dirty="0">
              <a:solidFill>
                <a:srgbClr val="FF0000"/>
              </a:solidFill>
            </a:endParaRPr>
          </a:p>
          <a:p>
            <a:r>
              <a:rPr kumimoji="1"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Gaussian Random Processes</a:t>
            </a:r>
          </a:p>
          <a:p>
            <a:endParaRPr kumimoji="1"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1"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1"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kumimoji="1" lang="en-US" altLang="zh-CN" dirty="0"/>
          </a:p>
          <a:p>
            <a:pPr marL="0" indent="0">
              <a:buNone/>
            </a:pPr>
            <a:endParaRPr kumimoji="1" lang="en-US" altLang="zh-CN" dirty="0"/>
          </a:p>
          <a:p>
            <a:r>
              <a:rPr kumimoji="1" lang="zh-CN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Processes Passing through Linear Systems</a:t>
            </a:r>
            <a:endParaRPr kumimoji="1"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2"/>
          <p:cNvSpPr>
            <a:spLocks noGrp="1"/>
          </p:cNvSpPr>
          <p:nvPr/>
        </p:nvSpPr>
        <p:spPr>
          <a:xfrm>
            <a:off x="20230" y="268003"/>
            <a:ext cx="8712968" cy="736600"/>
          </a:xfrm>
          <a:prstGeom prst="rect">
            <a:avLst/>
          </a:prstGeom>
          <a:solidFill>
            <a:schemeClr val="accent1">
              <a:alpha val="25000"/>
            </a:schemeClr>
          </a:solidFill>
          <a:ln w="9525">
            <a:noFill/>
          </a:ln>
        </p:spPr>
        <p:txBody>
          <a:bodyPr vert="horz" wrap="square" lIns="91440" tIns="45720" rIns="91440" bIns="45720" anchor="ctr" anchorCtr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+mj-lt"/>
                <a:ea typeface="+mj-ea"/>
                <a:cs typeface="楷体_GB231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Chapter 2：Random Processes——Part II</a:t>
            </a:r>
          </a:p>
        </p:txBody>
      </p:sp>
      <p:pic>
        <p:nvPicPr>
          <p:cNvPr id="8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3270" y="5264434"/>
            <a:ext cx="3786888" cy="1325563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9" name="Freeform 3"/>
          <p:cNvSpPr/>
          <p:nvPr/>
        </p:nvSpPr>
        <p:spPr>
          <a:xfrm>
            <a:off x="15408" y="1566211"/>
            <a:ext cx="592073" cy="377952"/>
          </a:xfrm>
          <a:custGeom>
            <a:avLst/>
            <a:gdLst>
              <a:gd name="connsiteX0" fmla="*/ 444245 w 592073"/>
              <a:gd name="connsiteY0" fmla="*/ 0 h 377952"/>
              <a:gd name="connsiteX1" fmla="*/ 444245 w 592073"/>
              <a:gd name="connsiteY1" fmla="*/ 94488 h 377952"/>
              <a:gd name="connsiteX2" fmla="*/ 0 w 592073"/>
              <a:gd name="connsiteY2" fmla="*/ 94488 h 377952"/>
              <a:gd name="connsiteX3" fmla="*/ 0 w 592073"/>
              <a:gd name="connsiteY3" fmla="*/ 283464 h 377952"/>
              <a:gd name="connsiteX4" fmla="*/ 444245 w 592073"/>
              <a:gd name="connsiteY4" fmla="*/ 283464 h 377952"/>
              <a:gd name="connsiteX5" fmla="*/ 444245 w 592073"/>
              <a:gd name="connsiteY5" fmla="*/ 377952 h 377952"/>
              <a:gd name="connsiteX6" fmla="*/ 592073 w 592073"/>
              <a:gd name="connsiteY6" fmla="*/ 188976 h 377952"/>
              <a:gd name="connsiteX7" fmla="*/ 444245 w 592073"/>
              <a:gd name="connsiteY7" fmla="*/ 0 h 377952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  <a:cxn ang="5">
                <a:pos x="connsiteX5" y="connsiteY5"/>
              </a:cxn>
              <a:cxn ang="6">
                <a:pos x="connsiteX6" y="connsiteY6"/>
              </a:cxn>
              <a:cxn ang="7">
                <a:pos x="connsiteX7" y="connsiteY7"/>
              </a:cxn>
            </a:cxnLst>
            <a:rect l="l" t="t" r="r" b="b"/>
            <a:pathLst>
              <a:path w="592073" h="377952">
                <a:moveTo>
                  <a:pt x="444245" y="0"/>
                </a:moveTo>
                <a:lnTo>
                  <a:pt x="444245" y="94488"/>
                </a:lnTo>
                <a:lnTo>
                  <a:pt x="0" y="94488"/>
                </a:lnTo>
                <a:lnTo>
                  <a:pt x="0" y="283464"/>
                </a:lnTo>
                <a:lnTo>
                  <a:pt x="444245" y="283464"/>
                </a:lnTo>
                <a:lnTo>
                  <a:pt x="444245" y="377952"/>
                </a:lnTo>
                <a:lnTo>
                  <a:pt x="592073" y="188976"/>
                </a:lnTo>
                <a:lnTo>
                  <a:pt x="444245" y="0"/>
                </a:lnTo>
              </a:path>
            </a:pathLst>
          </a:custGeom>
          <a:solidFill>
            <a:srgbClr val="618FFD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0" name="Freeform 3"/>
          <p:cNvSpPr/>
          <p:nvPr/>
        </p:nvSpPr>
        <p:spPr>
          <a:xfrm>
            <a:off x="2706" y="1551010"/>
            <a:ext cx="604773" cy="390652"/>
          </a:xfrm>
          <a:custGeom>
            <a:avLst/>
            <a:gdLst>
              <a:gd name="connsiteX0" fmla="*/ 450595 w 604773"/>
              <a:gd name="connsiteY0" fmla="*/ 6350 h 390652"/>
              <a:gd name="connsiteX1" fmla="*/ 450595 w 604773"/>
              <a:gd name="connsiteY1" fmla="*/ 100838 h 390652"/>
              <a:gd name="connsiteX2" fmla="*/ 6350 w 604773"/>
              <a:gd name="connsiteY2" fmla="*/ 100838 h 390652"/>
              <a:gd name="connsiteX3" fmla="*/ 6350 w 604773"/>
              <a:gd name="connsiteY3" fmla="*/ 289814 h 390652"/>
              <a:gd name="connsiteX4" fmla="*/ 450595 w 604773"/>
              <a:gd name="connsiteY4" fmla="*/ 289814 h 390652"/>
              <a:gd name="connsiteX5" fmla="*/ 450595 w 604773"/>
              <a:gd name="connsiteY5" fmla="*/ 384302 h 390652"/>
              <a:gd name="connsiteX6" fmla="*/ 598423 w 604773"/>
              <a:gd name="connsiteY6" fmla="*/ 195326 h 390652"/>
              <a:gd name="connsiteX7" fmla="*/ 450595 w 604773"/>
              <a:gd name="connsiteY7" fmla="*/ 6350 h 390652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  <a:cxn ang="5">
                <a:pos x="connsiteX5" y="connsiteY5"/>
              </a:cxn>
              <a:cxn ang="6">
                <a:pos x="connsiteX6" y="connsiteY6"/>
              </a:cxn>
              <a:cxn ang="7">
                <a:pos x="connsiteX7" y="connsiteY7"/>
              </a:cxn>
            </a:cxnLst>
            <a:rect l="l" t="t" r="r" b="b"/>
            <a:pathLst>
              <a:path w="604773" h="390652">
                <a:moveTo>
                  <a:pt x="450595" y="6350"/>
                </a:moveTo>
                <a:lnTo>
                  <a:pt x="450595" y="100838"/>
                </a:lnTo>
                <a:lnTo>
                  <a:pt x="6350" y="100838"/>
                </a:lnTo>
                <a:lnTo>
                  <a:pt x="6350" y="289814"/>
                </a:lnTo>
                <a:lnTo>
                  <a:pt x="450595" y="289814"/>
                </a:lnTo>
                <a:lnTo>
                  <a:pt x="450595" y="384302"/>
                </a:lnTo>
                <a:lnTo>
                  <a:pt x="598423" y="195326"/>
                </a:lnTo>
                <a:lnTo>
                  <a:pt x="450595" y="6350"/>
                </a:lnTo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00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9552" y="334466"/>
            <a:ext cx="7886700" cy="1325563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1071066"/>
            <a:ext cx="8963172" cy="4351338"/>
          </a:xfrm>
        </p:spPr>
        <p:txBody>
          <a:bodyPr>
            <a:normAutofit/>
          </a:bodyPr>
          <a:lstStyle/>
          <a:p>
            <a:r>
              <a:rPr kumimoji="1"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Stationary Processes</a:t>
            </a:r>
          </a:p>
          <a:p>
            <a:pPr marL="0" indent="0">
              <a:buNone/>
            </a:pPr>
            <a:r>
              <a:rPr kumimoji="1"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--Definitions </a:t>
            </a:r>
            <a:r>
              <a:rPr kumimoji="1"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①  </a:t>
            </a:r>
            <a:r>
              <a:rPr lang="zh-CN" altLang="zh-CN" b="1" dirty="0">
                <a:solidFill>
                  <a:srgbClr val="FF0000"/>
                </a:solidFill>
              </a:rPr>
              <a:t>Stationary in the strict-sense（严平稳）</a:t>
            </a:r>
            <a:endParaRPr kumimoji="1" lang="en-US" altLang="zh-C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2"/>
          <p:cNvSpPr>
            <a:spLocks noGrp="1"/>
          </p:cNvSpPr>
          <p:nvPr/>
        </p:nvSpPr>
        <p:spPr>
          <a:xfrm>
            <a:off x="20230" y="268003"/>
            <a:ext cx="8712968" cy="736600"/>
          </a:xfrm>
          <a:prstGeom prst="rect">
            <a:avLst/>
          </a:prstGeom>
          <a:solidFill>
            <a:schemeClr val="accent1">
              <a:alpha val="25000"/>
            </a:schemeClr>
          </a:solidFill>
          <a:ln w="9525">
            <a:noFill/>
          </a:ln>
        </p:spPr>
        <p:txBody>
          <a:bodyPr vert="horz" wrap="square" lIns="91440" tIns="45720" rIns="91440" bIns="45720" anchor="ctr" anchorCtr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+mj-lt"/>
                <a:ea typeface="+mj-ea"/>
                <a:cs typeface="楷体_GB231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Chapter 2：Random Processes——Part II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028" y="2012714"/>
            <a:ext cx="9144000" cy="1944827"/>
          </a:xfrm>
          <a:prstGeom prst="rect">
            <a:avLst/>
          </a:prstGeom>
        </p:spPr>
      </p:pic>
      <p:sp>
        <p:nvSpPr>
          <p:cNvPr id="11" name="箭头: 下 10"/>
          <p:cNvSpPr/>
          <p:nvPr/>
        </p:nvSpPr>
        <p:spPr>
          <a:xfrm>
            <a:off x="3707904" y="3950097"/>
            <a:ext cx="288032" cy="401430"/>
          </a:xfrm>
          <a:prstGeom prst="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980" y="4365928"/>
            <a:ext cx="7940968" cy="2245878"/>
          </a:xfrm>
          <a:prstGeom prst="rect">
            <a:avLst/>
          </a:prstGeom>
        </p:spPr>
      </p:pic>
      <p:sp>
        <p:nvSpPr>
          <p:cNvPr id="14" name="AutoShape 24"/>
          <p:cNvSpPr/>
          <p:nvPr/>
        </p:nvSpPr>
        <p:spPr>
          <a:xfrm>
            <a:off x="6372200" y="2852936"/>
            <a:ext cx="2756772" cy="465398"/>
          </a:xfrm>
          <a:prstGeom prst="wedgeRectCallout">
            <a:avLst>
              <a:gd name="adj1" fmla="val -45602"/>
              <a:gd name="adj2" fmla="val 114718"/>
            </a:avLst>
          </a:prstGeom>
          <a:solidFill>
            <a:srgbClr val="FFFF00"/>
          </a:solidFill>
          <a:ln w="12700" cap="rnd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Font typeface="Wingdings" panose="05000000000000000000" pitchFamily="2" charset="2"/>
              <a:buBlip>
                <a:blip r:embed="rId4"/>
              </a:buBlip>
              <a:defRPr sz="2800" b="1">
                <a:solidFill>
                  <a:schemeClr val="tx1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Font typeface="Wingdings" panose="05000000000000000000" pitchFamily="2" charset="2"/>
              <a:buChar char="v"/>
              <a:defRPr sz="2400" b="1">
                <a:solidFill>
                  <a:schemeClr val="tx1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0000FF"/>
              </a:buClr>
              <a:buFont typeface="Wingdings" panose="05000000000000000000" pitchFamily="2" charset="2"/>
              <a:buChar char="Ø"/>
              <a:defRPr sz="2200" b="1">
                <a:solidFill>
                  <a:schemeClr val="tx1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  <a:ea typeface="宋体" panose="02010600030101010101" pitchFamily="2" charset="-122"/>
                <a:cs typeface="楷体_GB2312"/>
              </a:defRPr>
            </a:lvl5pPr>
          </a:lstStyle>
          <a:p>
            <a:pPr marL="0" indent="0"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zh-CN" sz="1500" dirty="0">
                <a:solidFill>
                  <a:srgbClr val="FF0000"/>
                </a:solidFill>
                <a:ea typeface="宋体" panose="02010600030101010101" pitchFamily="2" charset="-122"/>
              </a:rPr>
              <a:t>Independent of the time origin</a:t>
            </a:r>
          </a:p>
          <a:p>
            <a:pPr marL="0" indent="0"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zh-CN" sz="1500" dirty="0">
                <a:solidFill>
                  <a:srgbClr val="FF0000"/>
                </a:solidFill>
                <a:ea typeface="宋体" panose="02010600030101010101" pitchFamily="2" charset="-122"/>
              </a:rPr>
              <a:t>(</a:t>
            </a:r>
            <a:r>
              <a:rPr lang="zh-CN" altLang="en-US" sz="1500" dirty="0">
                <a:solidFill>
                  <a:srgbClr val="FF0000"/>
                </a:solidFill>
                <a:ea typeface="宋体" panose="02010600030101010101" pitchFamily="2" charset="-122"/>
              </a:rPr>
              <a:t>与起点无关</a:t>
            </a:r>
            <a:r>
              <a:rPr lang="en-US" altLang="zh-CN" sz="1500" dirty="0">
                <a:solidFill>
                  <a:srgbClr val="FF0000"/>
                </a:solidFill>
                <a:ea typeface="宋体" panose="02010600030101010101" pitchFamily="2" charset="-122"/>
              </a:rPr>
              <a:t>)</a:t>
            </a:r>
            <a:endParaRPr lang="zh-CN" altLang="en-US" sz="1500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932040" y="4797152"/>
            <a:ext cx="1217055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zh-CN" altLang="en-US" sz="1500" dirty="0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与时间无关</a:t>
            </a:r>
            <a:endParaRPr lang="zh-CN" altLang="en-US" dirty="0"/>
          </a:p>
        </p:txBody>
      </p:sp>
      <p:sp>
        <p:nvSpPr>
          <p:cNvPr id="20" name="文本框 19"/>
          <p:cNvSpPr txBox="1"/>
          <p:nvPr/>
        </p:nvSpPr>
        <p:spPr>
          <a:xfrm>
            <a:off x="5845093" y="6262626"/>
            <a:ext cx="486727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zh-CN" altLang="en-US" sz="1500" dirty="0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只与时差有关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9552" y="334466"/>
            <a:ext cx="7886700" cy="1325563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1071066"/>
            <a:ext cx="8963172" cy="4351338"/>
          </a:xfrm>
        </p:spPr>
        <p:txBody>
          <a:bodyPr>
            <a:normAutofit/>
          </a:bodyPr>
          <a:lstStyle/>
          <a:p>
            <a:r>
              <a:rPr kumimoji="1"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Stationary Processes</a:t>
            </a:r>
          </a:p>
          <a:p>
            <a:pPr marL="0" indent="0">
              <a:buNone/>
            </a:pPr>
            <a:r>
              <a:rPr kumimoji="1"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--Definitions </a:t>
            </a:r>
            <a:r>
              <a:rPr kumimoji="1"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②  </a:t>
            </a:r>
            <a:r>
              <a:rPr lang="zh-CN" altLang="zh-CN" b="1" dirty="0">
                <a:solidFill>
                  <a:srgbClr val="FF0000"/>
                </a:solidFill>
              </a:rPr>
              <a:t>Stationary in </a:t>
            </a:r>
            <a:r>
              <a:rPr lang="en-US" altLang="zh-CN" b="1" dirty="0">
                <a:solidFill>
                  <a:srgbClr val="FF0000"/>
                </a:solidFill>
              </a:rPr>
              <a:t>wide</a:t>
            </a:r>
            <a:r>
              <a:rPr lang="zh-CN" altLang="zh-CN" b="1" dirty="0">
                <a:solidFill>
                  <a:srgbClr val="FF0000"/>
                </a:solidFill>
              </a:rPr>
              <a:t>-sense（</a:t>
            </a:r>
            <a:r>
              <a:rPr lang="zh-CN" altLang="en-US" b="1" dirty="0">
                <a:solidFill>
                  <a:srgbClr val="FF0000"/>
                </a:solidFill>
              </a:rPr>
              <a:t>宽</a:t>
            </a:r>
            <a:r>
              <a:rPr lang="zh-CN" altLang="zh-CN" b="1" dirty="0">
                <a:solidFill>
                  <a:srgbClr val="FF0000"/>
                </a:solidFill>
              </a:rPr>
              <a:t>平稳）</a:t>
            </a:r>
            <a:endParaRPr kumimoji="1" lang="en-US" altLang="zh-C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2"/>
          <p:cNvSpPr>
            <a:spLocks noGrp="1"/>
          </p:cNvSpPr>
          <p:nvPr/>
        </p:nvSpPr>
        <p:spPr>
          <a:xfrm>
            <a:off x="20230" y="268003"/>
            <a:ext cx="8712968" cy="736600"/>
          </a:xfrm>
          <a:prstGeom prst="rect">
            <a:avLst/>
          </a:prstGeom>
          <a:solidFill>
            <a:schemeClr val="accent1">
              <a:alpha val="25000"/>
            </a:schemeClr>
          </a:solidFill>
          <a:ln w="9525">
            <a:noFill/>
          </a:ln>
        </p:spPr>
        <p:txBody>
          <a:bodyPr vert="horz" wrap="square" lIns="91440" tIns="45720" rIns="91440" bIns="45720" anchor="ctr" anchorCtr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+mj-lt"/>
                <a:ea typeface="+mj-ea"/>
                <a:cs typeface="楷体_GB231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Chapter 2：Random Processes——Part II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6512" y="2158312"/>
            <a:ext cx="9144000" cy="1563756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442" y="3722068"/>
            <a:ext cx="8533756" cy="2044848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598" y="5806496"/>
            <a:ext cx="9144000" cy="432665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504" y="6255815"/>
            <a:ext cx="1584176" cy="50767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9552" y="334466"/>
            <a:ext cx="7886700" cy="1325563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1071066"/>
            <a:ext cx="9214692" cy="4351338"/>
          </a:xfrm>
        </p:spPr>
        <p:txBody>
          <a:bodyPr>
            <a:normAutofit/>
          </a:bodyPr>
          <a:lstStyle/>
          <a:p>
            <a:r>
              <a:rPr kumimoji="1"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Stationary Processes</a:t>
            </a:r>
          </a:p>
          <a:p>
            <a:pPr marL="0" indent="0">
              <a:buNone/>
            </a:pPr>
            <a:r>
              <a:rPr kumimoji="1"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--Definitions </a:t>
            </a:r>
            <a:r>
              <a:rPr kumimoji="1"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②  </a:t>
            </a:r>
            <a:r>
              <a:rPr lang="zh-CN" altLang="zh-CN" b="1" dirty="0">
                <a:solidFill>
                  <a:srgbClr val="FF0000"/>
                </a:solidFill>
              </a:rPr>
              <a:t>Stationary in </a:t>
            </a:r>
            <a:r>
              <a:rPr lang="en-US" altLang="zh-CN" b="1" dirty="0">
                <a:solidFill>
                  <a:srgbClr val="FF0000"/>
                </a:solidFill>
              </a:rPr>
              <a:t>wide</a:t>
            </a:r>
            <a:r>
              <a:rPr lang="zh-CN" altLang="zh-CN" b="1" dirty="0">
                <a:solidFill>
                  <a:srgbClr val="FF0000"/>
                </a:solidFill>
              </a:rPr>
              <a:t>-sense（</a:t>
            </a:r>
            <a:r>
              <a:rPr lang="zh-CN" altLang="en-US" b="1" dirty="0">
                <a:solidFill>
                  <a:srgbClr val="FF0000"/>
                </a:solidFill>
              </a:rPr>
              <a:t>宽</a:t>
            </a:r>
            <a:r>
              <a:rPr lang="zh-CN" altLang="zh-CN" b="1" dirty="0">
                <a:solidFill>
                  <a:srgbClr val="FF0000"/>
                </a:solidFill>
              </a:rPr>
              <a:t>平稳）</a:t>
            </a:r>
            <a:endParaRPr kumimoji="1" lang="en-US" altLang="zh-C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2"/>
          <p:cNvSpPr>
            <a:spLocks noGrp="1"/>
          </p:cNvSpPr>
          <p:nvPr/>
        </p:nvSpPr>
        <p:spPr>
          <a:xfrm>
            <a:off x="20230" y="268003"/>
            <a:ext cx="8712968" cy="736600"/>
          </a:xfrm>
          <a:prstGeom prst="rect">
            <a:avLst/>
          </a:prstGeom>
          <a:solidFill>
            <a:schemeClr val="accent1">
              <a:alpha val="25000"/>
            </a:schemeClr>
          </a:solidFill>
          <a:ln w="9525">
            <a:noFill/>
          </a:ln>
        </p:spPr>
        <p:txBody>
          <a:bodyPr vert="horz" wrap="square" lIns="91440" tIns="45720" rIns="91440" bIns="45720" anchor="ctr" anchorCtr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+mj-lt"/>
                <a:ea typeface="+mj-ea"/>
                <a:cs typeface="楷体_GB231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Chapter 2：Random Processes——Part II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182763" y="2009412"/>
            <a:ext cx="8963172" cy="1427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</a:rPr>
              <a:t>⭕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</a:rPr>
              <a:t>Mean is a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</a:rPr>
              <a:t>constant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</a:rPr>
              <a:t> and auto-correlation function depends only on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</a:endParaRPr>
          </a:p>
          <a:p>
            <a:pPr marL="556895" marR="0" lvl="1" indent="-213995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</a:rPr>
              <a:t>  ⭕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</a:rPr>
              <a:t>Often used in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</a:rPr>
              <a:t>practice.</a:t>
            </a:r>
          </a:p>
          <a:p>
            <a:pPr marL="556895" marR="0" lvl="1" indent="-213995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dirty="0">
                <a:solidFill>
                  <a:prstClr val="black"/>
                </a:solidFill>
                <a:latin typeface="Calibri" panose="020F0502020204030204"/>
                <a:ea typeface="等线" panose="02010600030101010101" charset="-122"/>
              </a:rPr>
              <a:t>  ⭕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</a:rPr>
              <a:t>Not necessary strictly stationary. 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4368" y="2028048"/>
            <a:ext cx="305488" cy="521126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5656" y="3436982"/>
            <a:ext cx="5631636" cy="1394187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37592" y="4728031"/>
            <a:ext cx="906881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zh-CN" altLang="zh-CN" sz="2400" dirty="0">
                <a:effectLst/>
              </a:rPr>
              <a:t>A strictly stationary random process is always wide-sense stationary </a:t>
            </a:r>
            <a:endParaRPr lang="en-US" altLang="zh-CN" sz="2400" dirty="0">
              <a:effectLst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zh-CN" altLang="zh-CN" sz="2400" dirty="0">
                <a:effectLst/>
              </a:rPr>
              <a:t>A wide-sense stationary process is </a:t>
            </a:r>
            <a:r>
              <a:rPr lang="zh-CN" altLang="zh-CN" sz="2400" b="1" dirty="0">
                <a:solidFill>
                  <a:srgbClr val="FF0000"/>
                </a:solidFill>
                <a:effectLst/>
              </a:rPr>
              <a:t>not necessarily</a:t>
            </a:r>
            <a:r>
              <a:rPr lang="zh-CN" altLang="zh-CN" sz="2400" dirty="0">
                <a:effectLst/>
              </a:rPr>
              <a:t> strictly stationary.</a:t>
            </a: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616" y="5661248"/>
            <a:ext cx="7677636" cy="964506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9552" y="334466"/>
            <a:ext cx="7886700" cy="1325563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-21903" y="809456"/>
            <a:ext cx="9214692" cy="4351338"/>
          </a:xfrm>
        </p:spPr>
        <p:txBody>
          <a:bodyPr>
            <a:normAutofit/>
          </a:bodyPr>
          <a:lstStyle/>
          <a:p>
            <a:r>
              <a:rPr kumimoji="1"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Stationary Processes </a:t>
            </a:r>
            <a:r>
              <a:rPr kumimoji="1"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—— </a:t>
            </a:r>
            <a:r>
              <a:rPr lang="zh-CN" altLang="zh-CN" b="1" dirty="0">
                <a:solidFill>
                  <a:srgbClr val="FF0000"/>
                </a:solidFill>
              </a:rPr>
              <a:t>各态历经性 Ergodicity</a:t>
            </a:r>
            <a:endParaRPr kumimoji="1" lang="en-US" altLang="zh-C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2"/>
          <p:cNvSpPr>
            <a:spLocks noGrp="1"/>
          </p:cNvSpPr>
          <p:nvPr/>
        </p:nvSpPr>
        <p:spPr>
          <a:xfrm>
            <a:off x="20230" y="-33834"/>
            <a:ext cx="8712968" cy="736600"/>
          </a:xfrm>
          <a:prstGeom prst="rect">
            <a:avLst/>
          </a:prstGeom>
          <a:solidFill>
            <a:schemeClr val="accent1">
              <a:alpha val="25000"/>
            </a:schemeClr>
          </a:solidFill>
          <a:ln w="9525">
            <a:noFill/>
          </a:ln>
        </p:spPr>
        <p:txBody>
          <a:bodyPr vert="horz" wrap="square" lIns="91440" tIns="45720" rIns="91440" bIns="45720" anchor="ctr" anchorCtr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+mj-lt"/>
                <a:ea typeface="+mj-ea"/>
                <a:cs typeface="楷体_GB231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Chapter 2：Random Processes——Part II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827584" y="5386131"/>
            <a:ext cx="51149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800" b="1" dirty="0">
                <a:solidFill>
                  <a:srgbClr val="FF0000"/>
                </a:solidFill>
              </a:rPr>
              <a:t>Ergodicity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5538" y="4909687"/>
            <a:ext cx="4039810" cy="1571039"/>
          </a:xfrm>
          <a:prstGeom prst="rect">
            <a:avLst/>
          </a:prstGeom>
          <a:solidFill>
            <a:schemeClr val="bg1"/>
          </a:solidFill>
          <a:ln w="34925">
            <a:solidFill>
              <a:schemeClr val="accent1"/>
            </a:solidFill>
          </a:ln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2817" y="1264971"/>
            <a:ext cx="9144000" cy="3439696"/>
          </a:xfrm>
          <a:prstGeom prst="rect">
            <a:avLst/>
          </a:prstGeom>
        </p:spPr>
      </p:pic>
      <p:cxnSp>
        <p:nvCxnSpPr>
          <p:cNvPr id="26" name="直接连接符 25"/>
          <p:cNvCxnSpPr/>
          <p:nvPr/>
        </p:nvCxnSpPr>
        <p:spPr>
          <a:xfrm>
            <a:off x="-32817" y="1264971"/>
            <a:ext cx="9144000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13443" y="2204864"/>
            <a:ext cx="9144000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-21903" y="3356992"/>
            <a:ext cx="9144000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-21903" y="4725144"/>
            <a:ext cx="9144000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 flipV="1">
            <a:off x="2051720" y="1264970"/>
            <a:ext cx="0" cy="3388166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 flipV="1">
            <a:off x="5292080" y="1264970"/>
            <a:ext cx="0" cy="3388166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9552" y="334466"/>
            <a:ext cx="7886700" cy="1325563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230" y="971376"/>
            <a:ext cx="9214692" cy="4351338"/>
          </a:xfrm>
        </p:spPr>
        <p:txBody>
          <a:bodyPr>
            <a:normAutofit/>
          </a:bodyPr>
          <a:lstStyle/>
          <a:p>
            <a:r>
              <a:rPr kumimoji="1"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Stationary Processes</a:t>
            </a:r>
          </a:p>
          <a:p>
            <a:r>
              <a:rPr kumimoji="1"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判断</a:t>
            </a:r>
            <a:r>
              <a:rPr kumimoji="1"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 or F):</a:t>
            </a:r>
            <a:r>
              <a:rPr kumimoji="1"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讨论</a:t>
            </a:r>
            <a:endParaRPr kumimoji="1" lang="en-US" altLang="zh-C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altLang="zh-CN" dirty="0"/>
              <a:t>(  )</a:t>
            </a:r>
            <a:r>
              <a:rPr lang="zh-CN" altLang="zh-CN" dirty="0"/>
              <a:t>Any ergodic random process must be wide-sense stationary.</a:t>
            </a:r>
          </a:p>
          <a:p>
            <a:pPr marL="0" lvl="0" indent="0">
              <a:buNone/>
            </a:pPr>
            <a:r>
              <a:rPr lang="en-US" altLang="zh-CN" dirty="0"/>
              <a:t>(  )</a:t>
            </a:r>
            <a:r>
              <a:rPr lang="zh-CN" altLang="zh-CN" dirty="0"/>
              <a:t>A strictly stationary random process is always ergodic.</a:t>
            </a:r>
          </a:p>
          <a:p>
            <a:pPr marL="0" lvl="0" indent="0">
              <a:buNone/>
            </a:pPr>
            <a:r>
              <a:rPr lang="en-US" altLang="zh-CN" dirty="0"/>
              <a:t>(  )</a:t>
            </a:r>
            <a:r>
              <a:rPr lang="zh-CN" altLang="zh-CN" dirty="0"/>
              <a:t>All wide-sense stationary processes are strictly stationary.</a:t>
            </a:r>
          </a:p>
          <a:p>
            <a:pPr marL="0" indent="0">
              <a:buNone/>
            </a:pPr>
            <a:endParaRPr kumimoji="1" lang="en-US" altLang="zh-C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2"/>
          <p:cNvSpPr>
            <a:spLocks noGrp="1"/>
          </p:cNvSpPr>
          <p:nvPr/>
        </p:nvSpPr>
        <p:spPr>
          <a:xfrm>
            <a:off x="20230" y="-33834"/>
            <a:ext cx="8712968" cy="736600"/>
          </a:xfrm>
          <a:prstGeom prst="rect">
            <a:avLst/>
          </a:prstGeom>
          <a:solidFill>
            <a:schemeClr val="accent1">
              <a:alpha val="25000"/>
            </a:schemeClr>
          </a:solidFill>
          <a:ln w="9525">
            <a:noFill/>
          </a:ln>
        </p:spPr>
        <p:txBody>
          <a:bodyPr vert="horz" wrap="square" lIns="91440" tIns="45720" rIns="91440" bIns="45720" anchor="ctr" anchorCtr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+mj-lt"/>
                <a:ea typeface="+mj-ea"/>
                <a:cs typeface="楷体_GB231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Chapter 2：Random Processes——Part II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0230" y="4581128"/>
            <a:ext cx="92890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800" dirty="0">
                <a:solidFill>
                  <a:srgbClr val="FF0000"/>
                </a:solidFill>
              </a:rPr>
              <a:t>Ergodic process ⇒ Strictly stationary ⇒ Wide-sense stationary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9552" y="334466"/>
            <a:ext cx="7886700" cy="1325563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5624" y="1080045"/>
            <a:ext cx="8963172" cy="4351338"/>
          </a:xfrm>
        </p:spPr>
        <p:txBody>
          <a:bodyPr>
            <a:normAutofit/>
          </a:bodyPr>
          <a:lstStyle/>
          <a:p>
            <a:r>
              <a:rPr kumimoji="1"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Stationary Processes</a:t>
            </a:r>
          </a:p>
          <a:p>
            <a:pPr marL="0" indent="0">
              <a:buNone/>
            </a:pPr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</a:t>
            </a:r>
            <a:r>
              <a:rPr kumimoji="1"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Definitions </a:t>
            </a:r>
            <a:r>
              <a:rPr kumimoji="1" lang="zh-CN" alt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① ② </a:t>
            </a:r>
            <a:r>
              <a:rPr kumimoji="1"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Ergodicity</a:t>
            </a:r>
          </a:p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--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Properties of the Autocorrelation Function</a:t>
            </a:r>
            <a:endParaRPr kumimoji="1" lang="en-US" altLang="zh-CN" b="1" dirty="0">
              <a:solidFill>
                <a:srgbClr val="FF0000"/>
              </a:solidFill>
            </a:endParaRPr>
          </a:p>
        </p:txBody>
      </p:sp>
      <p:sp>
        <p:nvSpPr>
          <p:cNvPr id="6" name="Rectangle 2"/>
          <p:cNvSpPr>
            <a:spLocks noGrp="1"/>
          </p:cNvSpPr>
          <p:nvPr/>
        </p:nvSpPr>
        <p:spPr>
          <a:xfrm>
            <a:off x="20230" y="268003"/>
            <a:ext cx="8712968" cy="736600"/>
          </a:xfrm>
          <a:prstGeom prst="rect">
            <a:avLst/>
          </a:prstGeom>
          <a:solidFill>
            <a:schemeClr val="accent1">
              <a:alpha val="25000"/>
            </a:schemeClr>
          </a:solidFill>
          <a:ln w="9525">
            <a:noFill/>
          </a:ln>
        </p:spPr>
        <p:txBody>
          <a:bodyPr vert="horz" wrap="square" lIns="91440" tIns="45720" rIns="91440" bIns="45720" anchor="ctr" anchorCtr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+mj-lt"/>
                <a:ea typeface="+mj-ea"/>
                <a:cs typeface="楷体_GB231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 Light" panose="02010600030101010101" charset="-122"/>
                <a:cs typeface="Times New Roman" panose="02020603050405020304" pitchFamily="18" charset="0"/>
              </a:rPr>
              <a:t>Chapter 2：Random Processes——Part II</a:t>
            </a:r>
          </a:p>
        </p:txBody>
      </p:sp>
      <p:sp>
        <p:nvSpPr>
          <p:cNvPr id="9" name="Freeform 3"/>
          <p:cNvSpPr/>
          <p:nvPr/>
        </p:nvSpPr>
        <p:spPr>
          <a:xfrm>
            <a:off x="55262" y="2139206"/>
            <a:ext cx="592073" cy="377952"/>
          </a:xfrm>
          <a:custGeom>
            <a:avLst/>
            <a:gdLst>
              <a:gd name="connsiteX0" fmla="*/ 444245 w 592073"/>
              <a:gd name="connsiteY0" fmla="*/ 0 h 377952"/>
              <a:gd name="connsiteX1" fmla="*/ 444245 w 592073"/>
              <a:gd name="connsiteY1" fmla="*/ 94488 h 377952"/>
              <a:gd name="connsiteX2" fmla="*/ 0 w 592073"/>
              <a:gd name="connsiteY2" fmla="*/ 94488 h 377952"/>
              <a:gd name="connsiteX3" fmla="*/ 0 w 592073"/>
              <a:gd name="connsiteY3" fmla="*/ 283464 h 377952"/>
              <a:gd name="connsiteX4" fmla="*/ 444245 w 592073"/>
              <a:gd name="connsiteY4" fmla="*/ 283464 h 377952"/>
              <a:gd name="connsiteX5" fmla="*/ 444245 w 592073"/>
              <a:gd name="connsiteY5" fmla="*/ 377952 h 377952"/>
              <a:gd name="connsiteX6" fmla="*/ 592073 w 592073"/>
              <a:gd name="connsiteY6" fmla="*/ 188976 h 377952"/>
              <a:gd name="connsiteX7" fmla="*/ 444245 w 592073"/>
              <a:gd name="connsiteY7" fmla="*/ 0 h 377952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  <a:cxn ang="5">
                <a:pos x="connsiteX5" y="connsiteY5"/>
              </a:cxn>
              <a:cxn ang="6">
                <a:pos x="connsiteX6" y="connsiteY6"/>
              </a:cxn>
              <a:cxn ang="7">
                <a:pos x="connsiteX7" y="connsiteY7"/>
              </a:cxn>
            </a:cxnLst>
            <a:rect l="l" t="t" r="r" b="b"/>
            <a:pathLst>
              <a:path w="592073" h="377952">
                <a:moveTo>
                  <a:pt x="444245" y="0"/>
                </a:moveTo>
                <a:lnTo>
                  <a:pt x="444245" y="94488"/>
                </a:lnTo>
                <a:lnTo>
                  <a:pt x="0" y="94488"/>
                </a:lnTo>
                <a:lnTo>
                  <a:pt x="0" y="283464"/>
                </a:lnTo>
                <a:lnTo>
                  <a:pt x="444245" y="283464"/>
                </a:lnTo>
                <a:lnTo>
                  <a:pt x="444245" y="377952"/>
                </a:lnTo>
                <a:lnTo>
                  <a:pt x="592073" y="188976"/>
                </a:lnTo>
                <a:lnTo>
                  <a:pt x="444245" y="0"/>
                </a:lnTo>
              </a:path>
            </a:pathLst>
          </a:custGeom>
          <a:solidFill>
            <a:srgbClr val="618FFD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marL="0" marR="0" lvl="0" indent="0" algn="ctr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等线 Light" panose="02010600030101010101" charset="-122"/>
              <a:cs typeface="+mj-cs"/>
              <a:sym typeface="Helvetica"/>
            </a:endParaRPr>
          </a:p>
        </p:txBody>
      </p:sp>
      <p:sp>
        <p:nvSpPr>
          <p:cNvPr id="10" name="Freeform 3"/>
          <p:cNvSpPr/>
          <p:nvPr/>
        </p:nvSpPr>
        <p:spPr>
          <a:xfrm>
            <a:off x="33015" y="2132856"/>
            <a:ext cx="604773" cy="390652"/>
          </a:xfrm>
          <a:custGeom>
            <a:avLst/>
            <a:gdLst>
              <a:gd name="connsiteX0" fmla="*/ 450595 w 604773"/>
              <a:gd name="connsiteY0" fmla="*/ 6350 h 390652"/>
              <a:gd name="connsiteX1" fmla="*/ 450595 w 604773"/>
              <a:gd name="connsiteY1" fmla="*/ 100838 h 390652"/>
              <a:gd name="connsiteX2" fmla="*/ 6350 w 604773"/>
              <a:gd name="connsiteY2" fmla="*/ 100838 h 390652"/>
              <a:gd name="connsiteX3" fmla="*/ 6350 w 604773"/>
              <a:gd name="connsiteY3" fmla="*/ 289814 h 390652"/>
              <a:gd name="connsiteX4" fmla="*/ 450595 w 604773"/>
              <a:gd name="connsiteY4" fmla="*/ 289814 h 390652"/>
              <a:gd name="connsiteX5" fmla="*/ 450595 w 604773"/>
              <a:gd name="connsiteY5" fmla="*/ 384302 h 390652"/>
              <a:gd name="connsiteX6" fmla="*/ 598423 w 604773"/>
              <a:gd name="connsiteY6" fmla="*/ 195326 h 390652"/>
              <a:gd name="connsiteX7" fmla="*/ 450595 w 604773"/>
              <a:gd name="connsiteY7" fmla="*/ 6350 h 390652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  <a:cxn ang="5">
                <a:pos x="connsiteX5" y="connsiteY5"/>
              </a:cxn>
              <a:cxn ang="6">
                <a:pos x="connsiteX6" y="connsiteY6"/>
              </a:cxn>
              <a:cxn ang="7">
                <a:pos x="connsiteX7" y="connsiteY7"/>
              </a:cxn>
            </a:cxnLst>
            <a:rect l="l" t="t" r="r" b="b"/>
            <a:pathLst>
              <a:path w="604773" h="390652">
                <a:moveTo>
                  <a:pt x="450595" y="6350"/>
                </a:moveTo>
                <a:lnTo>
                  <a:pt x="450595" y="100838"/>
                </a:lnTo>
                <a:lnTo>
                  <a:pt x="6350" y="100838"/>
                </a:lnTo>
                <a:lnTo>
                  <a:pt x="6350" y="289814"/>
                </a:lnTo>
                <a:lnTo>
                  <a:pt x="450595" y="289814"/>
                </a:lnTo>
                <a:lnTo>
                  <a:pt x="450595" y="384302"/>
                </a:lnTo>
                <a:lnTo>
                  <a:pt x="598423" y="195326"/>
                </a:lnTo>
                <a:lnTo>
                  <a:pt x="450595" y="6350"/>
                </a:lnTo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00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marL="0" marR="0" lvl="0" indent="0" algn="ctr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等线 Light" panose="02010600030101010101" charset="-122"/>
              <a:cs typeface="+mj-cs"/>
              <a:sym typeface="Helvetica"/>
            </a:endParaRPr>
          </a:p>
        </p:txBody>
      </p:sp>
      <p:graphicFrame>
        <p:nvGraphicFramePr>
          <p:cNvPr id="4" name="Object 6"/>
          <p:cNvGraphicFramePr>
            <a:graphicFrameLocks noChangeAspect="1"/>
          </p:cNvGraphicFramePr>
          <p:nvPr/>
        </p:nvGraphicFramePr>
        <p:xfrm>
          <a:off x="2411760" y="2638462"/>
          <a:ext cx="3426619" cy="5036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549400" imgH="228600" progId="Equation.DSMT4">
                  <p:embed/>
                </p:oleObj>
              </mc:Choice>
              <mc:Fallback>
                <p:oleObj r:id="rId2" imgW="1549400" imgH="228600" progId="Equation.DSMT4">
                  <p:embed/>
                  <p:pic>
                    <p:nvPicPr>
                      <p:cNvPr id="0" name="Object 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411760" y="2638462"/>
                        <a:ext cx="3426619" cy="50363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7"/>
          <p:cNvGraphicFramePr>
            <a:graphicFrameLocks noChangeAspect="1"/>
          </p:cNvGraphicFramePr>
          <p:nvPr/>
        </p:nvGraphicFramePr>
        <p:xfrm>
          <a:off x="1043608" y="3267521"/>
          <a:ext cx="3564907" cy="27229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8404800" imgH="29260800" progId="Equation.DSMT4">
                  <p:embed/>
                </p:oleObj>
              </mc:Choice>
              <mc:Fallback>
                <p:oleObj name="Equation" r:id="rId4" imgW="38404800" imgH="29260800" progId="Equation.DSMT4">
                  <p:embed/>
                  <p:pic>
                    <p:nvPicPr>
                      <p:cNvPr id="0" name="Object 7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43608" y="3267521"/>
                        <a:ext cx="3564907" cy="272294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4253259" y="3825973"/>
            <a:ext cx="48315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srgbClr val="0070C0"/>
                </a:solidFill>
                <a:ea typeface="宋体" panose="02010600030101010101" pitchFamily="2" charset="-122"/>
              </a:rPr>
              <a:t>Even function </a:t>
            </a:r>
            <a:r>
              <a:rPr lang="zh-CN" altLang="en-US" sz="2400" b="1" dirty="0">
                <a:solidFill>
                  <a:srgbClr val="0070C0"/>
                </a:solidFill>
                <a:ea typeface="宋体" panose="02010600030101010101" pitchFamily="2" charset="-122"/>
              </a:rPr>
              <a:t>偶函数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4211960" y="3304493"/>
            <a:ext cx="48315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srgbClr val="0070C0"/>
                </a:solidFill>
                <a:ea typeface="宋体" panose="02010600030101010101" pitchFamily="2" charset="-122"/>
              </a:rPr>
              <a:t>Average Power </a:t>
            </a:r>
            <a:r>
              <a:rPr lang="zh-CN" altLang="en-US" sz="2400" b="1" dirty="0">
                <a:solidFill>
                  <a:srgbClr val="0070C0"/>
                </a:solidFill>
                <a:ea typeface="宋体" panose="02010600030101010101" pitchFamily="2" charset="-122"/>
              </a:rPr>
              <a:t>平均功率</a:t>
            </a:r>
          </a:p>
        </p:txBody>
      </p:sp>
      <p:sp>
        <p:nvSpPr>
          <p:cNvPr id="16" name="TextBox 10"/>
          <p:cNvSpPr txBox="1"/>
          <p:nvPr/>
        </p:nvSpPr>
        <p:spPr>
          <a:xfrm>
            <a:off x="4283968" y="4350685"/>
            <a:ext cx="3768650" cy="49212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Font typeface="Wingdings" panose="05000000000000000000" pitchFamily="2" charset="2"/>
              <a:buBlip>
                <a:blip r:embed="rId6"/>
              </a:buBlip>
              <a:defRPr sz="2800" b="1">
                <a:solidFill>
                  <a:schemeClr val="tx1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Font typeface="Wingdings" panose="05000000000000000000" pitchFamily="2" charset="2"/>
              <a:buChar char="v"/>
              <a:defRPr sz="2400" b="1">
                <a:solidFill>
                  <a:schemeClr val="tx1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0000FF"/>
              </a:buClr>
              <a:buFont typeface="Wingdings" panose="05000000000000000000" pitchFamily="2" charset="2"/>
              <a:buChar char="Ø"/>
              <a:defRPr sz="2200" b="1">
                <a:solidFill>
                  <a:schemeClr val="tx1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  <a:ea typeface="宋体" panose="02010600030101010101" pitchFamily="2" charset="-122"/>
                <a:cs typeface="楷体_GB2312"/>
              </a:defRPr>
            </a:lvl5pPr>
          </a:lstStyle>
          <a:p>
            <a:pPr marL="0" indent="0" eaLnBrk="1" hangingPunct="1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zh-CN" altLang="zh-CN" sz="2400" dirty="0">
                <a:solidFill>
                  <a:srgbClr val="0070C0"/>
                </a:solidFill>
                <a:ea typeface="宋体" panose="02010600030101010101" pitchFamily="2" charset="-122"/>
                <a:cs typeface="+mn-cs"/>
              </a:rPr>
              <a:t>has an upper bound</a:t>
            </a:r>
            <a:endParaRPr lang="zh-CN" altLang="en-US" sz="2400" dirty="0">
              <a:solidFill>
                <a:srgbClr val="0070C0"/>
              </a:solidFill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TextBox 12"/>
          <p:cNvSpPr txBox="1"/>
          <p:nvPr/>
        </p:nvSpPr>
        <p:spPr>
          <a:xfrm>
            <a:off x="4619774" y="5043972"/>
            <a:ext cx="3768650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Font typeface="Wingdings" panose="05000000000000000000" pitchFamily="2" charset="2"/>
              <a:buBlip>
                <a:blip r:embed="rId6"/>
              </a:buBlip>
              <a:defRPr sz="2800" b="1">
                <a:solidFill>
                  <a:schemeClr val="tx1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Font typeface="Wingdings" panose="05000000000000000000" pitchFamily="2" charset="2"/>
              <a:buChar char="v"/>
              <a:defRPr sz="2400" b="1">
                <a:solidFill>
                  <a:schemeClr val="tx1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0000FF"/>
              </a:buClr>
              <a:buFont typeface="Wingdings" panose="05000000000000000000" pitchFamily="2" charset="2"/>
              <a:buChar char="Ø"/>
              <a:defRPr sz="2200" b="1">
                <a:solidFill>
                  <a:schemeClr val="tx1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  <a:ea typeface="宋体" panose="02010600030101010101" pitchFamily="2" charset="-122"/>
                <a:cs typeface="楷体_GB2312"/>
              </a:defRPr>
            </a:lvl5pPr>
          </a:lstStyle>
          <a:p>
            <a:pPr marL="0" indent="0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zh-CN" sz="2400" dirty="0" err="1">
                <a:solidFill>
                  <a:srgbClr val="0070C0"/>
                </a:solidFill>
                <a:ea typeface="宋体" panose="02010600030101010101" pitchFamily="2" charset="-122"/>
                <a:cs typeface="+mn-cs"/>
              </a:rPr>
              <a:t>D.C.power</a:t>
            </a:r>
            <a:r>
              <a:rPr lang="en-US" altLang="zh-CN" sz="2400" dirty="0">
                <a:solidFill>
                  <a:srgbClr val="0070C0"/>
                </a:solidFill>
                <a:ea typeface="宋体" panose="02010600030101010101" pitchFamily="2" charset="-122"/>
                <a:cs typeface="+mn-cs"/>
              </a:rPr>
              <a:t> </a:t>
            </a:r>
            <a:r>
              <a:rPr lang="zh-CN" altLang="en-US" sz="2400" dirty="0">
                <a:solidFill>
                  <a:srgbClr val="0070C0"/>
                </a:solidFill>
                <a:ea typeface="宋体" panose="02010600030101010101" pitchFamily="2" charset="-122"/>
                <a:cs typeface="+mn-cs"/>
              </a:rPr>
              <a:t>直流功率</a:t>
            </a:r>
          </a:p>
        </p:txBody>
      </p:sp>
      <p:sp>
        <p:nvSpPr>
          <p:cNvPr id="18" name="TextBox 12"/>
          <p:cNvSpPr txBox="1"/>
          <p:nvPr/>
        </p:nvSpPr>
        <p:spPr>
          <a:xfrm>
            <a:off x="4608515" y="5491198"/>
            <a:ext cx="3312368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Font typeface="Wingdings" panose="05000000000000000000" pitchFamily="2" charset="2"/>
              <a:buBlip>
                <a:blip r:embed="rId6"/>
              </a:buBlip>
              <a:defRPr sz="2800" b="1">
                <a:solidFill>
                  <a:schemeClr val="tx1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Font typeface="Wingdings" panose="05000000000000000000" pitchFamily="2" charset="2"/>
              <a:buChar char="v"/>
              <a:defRPr sz="2400" b="1">
                <a:solidFill>
                  <a:schemeClr val="tx1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0000FF"/>
              </a:buClr>
              <a:buFont typeface="Wingdings" panose="05000000000000000000" pitchFamily="2" charset="2"/>
              <a:buChar char="Ø"/>
              <a:defRPr sz="2200" b="1">
                <a:solidFill>
                  <a:schemeClr val="tx1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  <a:ea typeface="宋体" panose="02010600030101010101" pitchFamily="2" charset="-122"/>
                <a:cs typeface="楷体_GB2312"/>
              </a:defRPr>
            </a:lvl5pPr>
          </a:lstStyle>
          <a:p>
            <a:pPr marL="0" indent="0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zh-CN" sz="2400" dirty="0" err="1">
                <a:solidFill>
                  <a:srgbClr val="0070C0"/>
                </a:solidFill>
                <a:ea typeface="宋体" panose="02010600030101010101" pitchFamily="2" charset="-122"/>
                <a:cs typeface="+mn-cs"/>
              </a:rPr>
              <a:t>A.C.power</a:t>
            </a:r>
            <a:r>
              <a:rPr lang="en-US" altLang="zh-CN" sz="2400" dirty="0">
                <a:solidFill>
                  <a:srgbClr val="0070C0"/>
                </a:solidFill>
                <a:ea typeface="宋体" panose="02010600030101010101" pitchFamily="2" charset="-122"/>
                <a:cs typeface="+mn-cs"/>
              </a:rPr>
              <a:t> </a:t>
            </a:r>
            <a:r>
              <a:rPr lang="zh-CN" altLang="en-US" sz="2400" dirty="0">
                <a:solidFill>
                  <a:srgbClr val="0070C0"/>
                </a:solidFill>
                <a:ea typeface="宋体" panose="02010600030101010101" pitchFamily="2" charset="-122"/>
                <a:cs typeface="+mn-cs"/>
              </a:rPr>
              <a:t>交流功率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774" name="Object 14"/>
          <p:cNvGraphicFramePr>
            <a:graphicFrameLocks noChangeAspect="1"/>
          </p:cNvGraphicFramePr>
          <p:nvPr/>
        </p:nvGraphicFramePr>
        <p:xfrm>
          <a:off x="4671029" y="3020426"/>
          <a:ext cx="85725" cy="161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14300" imgH="215900" progId="Equation.3">
                  <p:embed/>
                </p:oleObj>
              </mc:Choice>
              <mc:Fallback>
                <p:oleObj r:id="rId2" imgW="114300" imgH="215900" progId="Equation.3">
                  <p:embed/>
                  <p:pic>
                    <p:nvPicPr>
                      <p:cNvPr id="0" name="Object 1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671029" y="3020426"/>
                        <a:ext cx="85725" cy="161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2815991" y="4033974"/>
            <a:ext cx="802481" cy="3231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Font typeface="Wingdings" panose="05000000000000000000" pitchFamily="2" charset="2"/>
              <a:buBlip>
                <a:blip r:embed="rId4"/>
              </a:buBlip>
              <a:defRPr sz="2800" b="1">
                <a:solidFill>
                  <a:schemeClr val="tx1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Font typeface="Wingdings" panose="05000000000000000000" pitchFamily="2" charset="2"/>
              <a:buChar char="v"/>
              <a:defRPr sz="2400" b="1">
                <a:solidFill>
                  <a:schemeClr val="tx1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0000FF"/>
              </a:buClr>
              <a:buFont typeface="Wingdings" panose="05000000000000000000" pitchFamily="2" charset="2"/>
              <a:buChar char="Ø"/>
              <a:defRPr sz="2200" b="1">
                <a:solidFill>
                  <a:schemeClr val="tx1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  <a:ea typeface="宋体" panose="02010600030101010101" pitchFamily="2" charset="-122"/>
                <a:cs typeface="楷体_GB2312"/>
              </a:defRPr>
            </a:lvl5pPr>
          </a:lstStyle>
          <a:p>
            <a:pPr marL="0" indent="0" defTabSz="685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zh-CN" altLang="en-US" sz="1500" b="0" dirty="0">
                <a:solidFill>
                  <a:srgbClr val="000000"/>
                </a:solidFill>
                <a:latin typeface="Arial" panose="020B0604020202020204"/>
                <a:ea typeface="宋体" panose="02010600030101010101" pitchFamily="2" charset="-122"/>
              </a:rPr>
              <a:t>均方值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4152510" y="4041363"/>
            <a:ext cx="1037035" cy="3231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Font typeface="Wingdings" panose="05000000000000000000" pitchFamily="2" charset="2"/>
              <a:buBlip>
                <a:blip r:embed="rId4"/>
              </a:buBlip>
              <a:defRPr sz="2800" b="1">
                <a:solidFill>
                  <a:schemeClr val="tx1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Font typeface="Wingdings" panose="05000000000000000000" pitchFamily="2" charset="2"/>
              <a:buChar char="v"/>
              <a:defRPr sz="2400" b="1">
                <a:solidFill>
                  <a:schemeClr val="tx1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0000FF"/>
              </a:buClr>
              <a:buFont typeface="Wingdings" panose="05000000000000000000" pitchFamily="2" charset="2"/>
              <a:buChar char="Ø"/>
              <a:defRPr sz="2200" b="1">
                <a:solidFill>
                  <a:schemeClr val="tx1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  <a:ea typeface="宋体" panose="02010600030101010101" pitchFamily="2" charset="-122"/>
                <a:cs typeface="楷体_GB2312"/>
              </a:defRPr>
            </a:lvl5pPr>
          </a:lstStyle>
          <a:p>
            <a:pPr marL="0" indent="0" defTabSz="685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zh-CN" altLang="en-US" sz="1500" b="0" dirty="0">
                <a:solidFill>
                  <a:srgbClr val="000000"/>
                </a:solidFill>
                <a:latin typeface="Arial" panose="020B0604020202020204"/>
                <a:ea typeface="宋体" panose="02010600030101010101" pitchFamily="2" charset="-122"/>
              </a:rPr>
              <a:t>均值平方</a:t>
            </a:r>
          </a:p>
        </p:txBody>
      </p:sp>
      <p:sp>
        <p:nvSpPr>
          <p:cNvPr id="13" name="Rectangle 25"/>
          <p:cNvSpPr>
            <a:spLocks noChangeArrowheads="1"/>
          </p:cNvSpPr>
          <p:nvPr/>
        </p:nvSpPr>
        <p:spPr bwMode="auto">
          <a:xfrm>
            <a:off x="3" y="878658"/>
            <a:ext cx="184731" cy="300082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35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" name="Rectangle 31"/>
          <p:cNvSpPr>
            <a:spLocks noChangeArrowheads="1"/>
          </p:cNvSpPr>
          <p:nvPr/>
        </p:nvSpPr>
        <p:spPr bwMode="auto">
          <a:xfrm>
            <a:off x="3" y="878658"/>
            <a:ext cx="184731" cy="300082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35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193" y="1561722"/>
            <a:ext cx="5000078" cy="727284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99780" y="2125577"/>
            <a:ext cx="4942498" cy="1988814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53441" y="4718074"/>
            <a:ext cx="1782434" cy="489936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985346" y="4766833"/>
            <a:ext cx="412662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altLang="zh-CN" sz="2100" b="1" dirty="0">
                <a:solidFill>
                  <a:srgbClr val="000000"/>
                </a:solidFill>
                <a:latin typeface="Times New Roman" panose="02020603050405020304"/>
              </a:rPr>
              <a:t>If                              then</a:t>
            </a:r>
            <a:endParaRPr lang="zh-CN" altLang="en-US" sz="2100" b="1" dirty="0">
              <a:solidFill>
                <a:srgbClr val="000000"/>
              </a:solidFill>
              <a:latin typeface="Times New Roman" panose="02020603050405020304"/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97737" y="4743007"/>
            <a:ext cx="2911504" cy="465003"/>
          </a:xfrm>
          <a:prstGeom prst="rect">
            <a:avLst/>
          </a:prstGeom>
        </p:spPr>
      </p:pic>
      <p:sp>
        <p:nvSpPr>
          <p:cNvPr id="26" name="矩形: 圆角 25"/>
          <p:cNvSpPr/>
          <p:nvPr/>
        </p:nvSpPr>
        <p:spPr bwMode="auto">
          <a:xfrm>
            <a:off x="871047" y="4622045"/>
            <a:ext cx="6459920" cy="725214"/>
          </a:xfrm>
          <a:prstGeom prst="round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68580" tIns="34290" rIns="68580" bIns="34290" numCol="1" rtlCol="0" anchor="t" anchorCtr="0" compatLnSpc="1"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lang="zh-CN" altLang="en-US" sz="135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617076" y="4277271"/>
            <a:ext cx="457200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/>
            <a:r>
              <a:rPr lang="zh-CN" altLang="zh-CN" sz="1350" dirty="0">
                <a:solidFill>
                  <a:srgbClr val="000000"/>
                </a:solidFill>
                <a:latin typeface="Arial" panose="020B0604020202020204"/>
              </a:rPr>
              <a:t>Mean square</a:t>
            </a:r>
            <a:endParaRPr lang="zh-CN" altLang="en-US" sz="1350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997737" y="4259179"/>
            <a:ext cx="457200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/>
            <a:r>
              <a:rPr lang="zh-CN" altLang="zh-CN" sz="1350" b="1" dirty="0">
                <a:solidFill>
                  <a:srgbClr val="000000"/>
                </a:solidFill>
                <a:latin typeface="Arial" panose="020B0604020202020204"/>
              </a:rPr>
              <a:t>Square of the mean</a:t>
            </a:r>
            <a:endParaRPr lang="zh-CN" altLang="en-US" sz="1350" dirty="0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332656"/>
            <a:ext cx="7638729" cy="374396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36" y="4447330"/>
            <a:ext cx="7560840" cy="2079231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51520" y="4149080"/>
            <a:ext cx="2041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Solution</a:t>
            </a:r>
            <a:endParaRPr lang="zh-CN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9552" y="334466"/>
            <a:ext cx="7886700" cy="1325563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5975" y="0"/>
            <a:ext cx="8963172" cy="4351338"/>
          </a:xfrm>
        </p:spPr>
        <p:txBody>
          <a:bodyPr>
            <a:normAutofit/>
          </a:bodyPr>
          <a:lstStyle/>
          <a:p>
            <a:r>
              <a:rPr kumimoji="1"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Stationary Processes</a:t>
            </a:r>
          </a:p>
          <a:p>
            <a:pPr marL="0" indent="0">
              <a:buNone/>
            </a:pPr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</a:t>
            </a:r>
            <a:r>
              <a:rPr kumimoji="1"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Definitions </a:t>
            </a:r>
            <a:r>
              <a:rPr kumimoji="1" lang="zh-CN" alt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① ② </a:t>
            </a:r>
            <a:r>
              <a:rPr kumimoji="1"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Ergodicity</a:t>
            </a:r>
          </a:p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--</a:t>
            </a: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Properties of the Autocorrelation Function</a:t>
            </a:r>
          </a:p>
          <a:p>
            <a:pPr marL="0" indent="0"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--Power spectral density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PSD</a:t>
            </a:r>
            <a:endParaRPr kumimoji="1" lang="en-US" altLang="zh-CN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kumimoji="1" lang="en-US" altLang="zh-CN" b="1" dirty="0">
              <a:solidFill>
                <a:srgbClr val="00B050"/>
              </a:solidFill>
            </a:endParaRPr>
          </a:p>
        </p:txBody>
      </p:sp>
      <p:sp>
        <p:nvSpPr>
          <p:cNvPr id="9" name="Freeform 3"/>
          <p:cNvSpPr/>
          <p:nvPr/>
        </p:nvSpPr>
        <p:spPr>
          <a:xfrm>
            <a:off x="17162" y="1565569"/>
            <a:ext cx="592073" cy="377952"/>
          </a:xfrm>
          <a:custGeom>
            <a:avLst/>
            <a:gdLst>
              <a:gd name="connsiteX0" fmla="*/ 444245 w 592073"/>
              <a:gd name="connsiteY0" fmla="*/ 0 h 377952"/>
              <a:gd name="connsiteX1" fmla="*/ 444245 w 592073"/>
              <a:gd name="connsiteY1" fmla="*/ 94488 h 377952"/>
              <a:gd name="connsiteX2" fmla="*/ 0 w 592073"/>
              <a:gd name="connsiteY2" fmla="*/ 94488 h 377952"/>
              <a:gd name="connsiteX3" fmla="*/ 0 w 592073"/>
              <a:gd name="connsiteY3" fmla="*/ 283464 h 377952"/>
              <a:gd name="connsiteX4" fmla="*/ 444245 w 592073"/>
              <a:gd name="connsiteY4" fmla="*/ 283464 h 377952"/>
              <a:gd name="connsiteX5" fmla="*/ 444245 w 592073"/>
              <a:gd name="connsiteY5" fmla="*/ 377952 h 377952"/>
              <a:gd name="connsiteX6" fmla="*/ 592073 w 592073"/>
              <a:gd name="connsiteY6" fmla="*/ 188976 h 377952"/>
              <a:gd name="connsiteX7" fmla="*/ 444245 w 592073"/>
              <a:gd name="connsiteY7" fmla="*/ 0 h 377952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  <a:cxn ang="5">
                <a:pos x="connsiteX5" y="connsiteY5"/>
              </a:cxn>
              <a:cxn ang="6">
                <a:pos x="connsiteX6" y="connsiteY6"/>
              </a:cxn>
              <a:cxn ang="7">
                <a:pos x="connsiteX7" y="connsiteY7"/>
              </a:cxn>
            </a:cxnLst>
            <a:rect l="l" t="t" r="r" b="b"/>
            <a:pathLst>
              <a:path w="592073" h="377952">
                <a:moveTo>
                  <a:pt x="444245" y="0"/>
                </a:moveTo>
                <a:lnTo>
                  <a:pt x="444245" y="94488"/>
                </a:lnTo>
                <a:lnTo>
                  <a:pt x="0" y="94488"/>
                </a:lnTo>
                <a:lnTo>
                  <a:pt x="0" y="283464"/>
                </a:lnTo>
                <a:lnTo>
                  <a:pt x="444245" y="283464"/>
                </a:lnTo>
                <a:lnTo>
                  <a:pt x="444245" y="377952"/>
                </a:lnTo>
                <a:lnTo>
                  <a:pt x="592073" y="188976"/>
                </a:lnTo>
                <a:lnTo>
                  <a:pt x="444245" y="0"/>
                </a:lnTo>
              </a:path>
            </a:pathLst>
          </a:custGeom>
          <a:solidFill>
            <a:srgbClr val="618FFD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marL="0" marR="0" lvl="0" indent="0" algn="ctr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等线 Light" panose="02010600030101010101" charset="-122"/>
              <a:cs typeface="+mj-cs"/>
              <a:sym typeface="Helvetica"/>
            </a:endParaRPr>
          </a:p>
        </p:txBody>
      </p:sp>
      <p:sp>
        <p:nvSpPr>
          <p:cNvPr id="10" name="Freeform 3"/>
          <p:cNvSpPr/>
          <p:nvPr/>
        </p:nvSpPr>
        <p:spPr>
          <a:xfrm>
            <a:off x="-5085" y="1559219"/>
            <a:ext cx="604773" cy="390652"/>
          </a:xfrm>
          <a:custGeom>
            <a:avLst/>
            <a:gdLst>
              <a:gd name="connsiteX0" fmla="*/ 450595 w 604773"/>
              <a:gd name="connsiteY0" fmla="*/ 6350 h 390652"/>
              <a:gd name="connsiteX1" fmla="*/ 450595 w 604773"/>
              <a:gd name="connsiteY1" fmla="*/ 100838 h 390652"/>
              <a:gd name="connsiteX2" fmla="*/ 6350 w 604773"/>
              <a:gd name="connsiteY2" fmla="*/ 100838 h 390652"/>
              <a:gd name="connsiteX3" fmla="*/ 6350 w 604773"/>
              <a:gd name="connsiteY3" fmla="*/ 289814 h 390652"/>
              <a:gd name="connsiteX4" fmla="*/ 450595 w 604773"/>
              <a:gd name="connsiteY4" fmla="*/ 289814 h 390652"/>
              <a:gd name="connsiteX5" fmla="*/ 450595 w 604773"/>
              <a:gd name="connsiteY5" fmla="*/ 384302 h 390652"/>
              <a:gd name="connsiteX6" fmla="*/ 598423 w 604773"/>
              <a:gd name="connsiteY6" fmla="*/ 195326 h 390652"/>
              <a:gd name="connsiteX7" fmla="*/ 450595 w 604773"/>
              <a:gd name="connsiteY7" fmla="*/ 6350 h 390652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  <a:cxn ang="5">
                <a:pos x="connsiteX5" y="connsiteY5"/>
              </a:cxn>
              <a:cxn ang="6">
                <a:pos x="connsiteX6" y="connsiteY6"/>
              </a:cxn>
              <a:cxn ang="7">
                <a:pos x="connsiteX7" y="connsiteY7"/>
              </a:cxn>
            </a:cxnLst>
            <a:rect l="l" t="t" r="r" b="b"/>
            <a:pathLst>
              <a:path w="604773" h="390652">
                <a:moveTo>
                  <a:pt x="450595" y="6350"/>
                </a:moveTo>
                <a:lnTo>
                  <a:pt x="450595" y="100838"/>
                </a:lnTo>
                <a:lnTo>
                  <a:pt x="6350" y="100838"/>
                </a:lnTo>
                <a:lnTo>
                  <a:pt x="6350" y="289814"/>
                </a:lnTo>
                <a:lnTo>
                  <a:pt x="450595" y="289814"/>
                </a:lnTo>
                <a:lnTo>
                  <a:pt x="450595" y="384302"/>
                </a:lnTo>
                <a:lnTo>
                  <a:pt x="598423" y="195326"/>
                </a:lnTo>
                <a:lnTo>
                  <a:pt x="450595" y="6350"/>
                </a:lnTo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00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marL="0" marR="0" lvl="0" indent="0" algn="ctr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等线 Light" panose="02010600030101010101" charset="-122"/>
              <a:cs typeface="+mj-cs"/>
              <a:sym typeface="Helvetica"/>
            </a:endParaRPr>
          </a:p>
        </p:txBody>
      </p:sp>
      <p:pic>
        <p:nvPicPr>
          <p:cNvPr id="7" name="内容占位符 3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494" y="1995350"/>
            <a:ext cx="7499162" cy="4498666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文本框 7"/>
          <p:cNvSpPr txBox="1"/>
          <p:nvPr/>
        </p:nvSpPr>
        <p:spPr>
          <a:xfrm>
            <a:off x="5765800" y="5273675"/>
            <a:ext cx="3566160" cy="60833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rPr>
              <a:t>维纳辛钦定理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rPr>
              <a:t>Wiener–Khinchin Theorem</a:t>
            </a:r>
          </a:p>
        </p:txBody>
      </p:sp>
      <p:pic>
        <p:nvPicPr>
          <p:cNvPr id="11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2120" y="3182620"/>
            <a:ext cx="3114675" cy="1338580"/>
          </a:xfrm>
          <a:prstGeom prst="rect">
            <a:avLst/>
          </a:prstGeom>
          <a:noFill/>
          <a:ln w="9525"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2" name="墨迹 11"/>
              <p14:cNvContentPartPr/>
              <p14:nvPr/>
            </p14:nvContentPartPr>
            <p14:xfrm>
              <a:off x="6516216" y="3717032"/>
              <a:ext cx="1211598" cy="557885"/>
            </p14:xfrm>
          </p:contentPart>
        </mc:Choice>
        <mc:Fallback xmlns="">
          <p:pic>
            <p:nvPicPr>
              <p:cNvPr id="12" name="墨迹 11"/>
            </p:nvPicPr>
            <p:blipFill>
              <a:blip r:embed="rId5"/>
            </p:blipFill>
            <p:spPr>
              <a:xfrm>
                <a:off x="6516216" y="3717032"/>
                <a:ext cx="1211598" cy="557885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9552" y="334466"/>
            <a:ext cx="7886700" cy="1325563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5975" y="0"/>
            <a:ext cx="8963172" cy="4351338"/>
          </a:xfrm>
        </p:spPr>
        <p:txBody>
          <a:bodyPr>
            <a:normAutofit/>
          </a:bodyPr>
          <a:lstStyle/>
          <a:p>
            <a:r>
              <a:rPr kumimoji="1"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Stationary Processes</a:t>
            </a:r>
          </a:p>
          <a:p>
            <a:pPr marL="0" indent="0">
              <a:buNone/>
            </a:pPr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</a:t>
            </a:r>
            <a:r>
              <a:rPr kumimoji="1"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Definitions </a:t>
            </a:r>
            <a:r>
              <a:rPr kumimoji="1" lang="zh-CN" alt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① ② </a:t>
            </a:r>
            <a:r>
              <a:rPr kumimoji="1"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Ergodicity</a:t>
            </a:r>
          </a:p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--</a:t>
            </a: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Properties of the Autocorrelation Function</a:t>
            </a:r>
          </a:p>
          <a:p>
            <a:pPr marL="0" indent="0"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--Power spectral density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PSD</a:t>
            </a:r>
            <a:endParaRPr kumimoji="1" lang="en-US" altLang="zh-CN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kumimoji="1" lang="en-US" altLang="zh-CN" b="1" dirty="0">
              <a:solidFill>
                <a:srgbClr val="00B050"/>
              </a:solidFill>
            </a:endParaRPr>
          </a:p>
        </p:txBody>
      </p:sp>
      <p:sp>
        <p:nvSpPr>
          <p:cNvPr id="9" name="Freeform 3"/>
          <p:cNvSpPr/>
          <p:nvPr/>
        </p:nvSpPr>
        <p:spPr>
          <a:xfrm>
            <a:off x="17162" y="1565569"/>
            <a:ext cx="592073" cy="377952"/>
          </a:xfrm>
          <a:custGeom>
            <a:avLst/>
            <a:gdLst>
              <a:gd name="connsiteX0" fmla="*/ 444245 w 592073"/>
              <a:gd name="connsiteY0" fmla="*/ 0 h 377952"/>
              <a:gd name="connsiteX1" fmla="*/ 444245 w 592073"/>
              <a:gd name="connsiteY1" fmla="*/ 94488 h 377952"/>
              <a:gd name="connsiteX2" fmla="*/ 0 w 592073"/>
              <a:gd name="connsiteY2" fmla="*/ 94488 h 377952"/>
              <a:gd name="connsiteX3" fmla="*/ 0 w 592073"/>
              <a:gd name="connsiteY3" fmla="*/ 283464 h 377952"/>
              <a:gd name="connsiteX4" fmla="*/ 444245 w 592073"/>
              <a:gd name="connsiteY4" fmla="*/ 283464 h 377952"/>
              <a:gd name="connsiteX5" fmla="*/ 444245 w 592073"/>
              <a:gd name="connsiteY5" fmla="*/ 377952 h 377952"/>
              <a:gd name="connsiteX6" fmla="*/ 592073 w 592073"/>
              <a:gd name="connsiteY6" fmla="*/ 188976 h 377952"/>
              <a:gd name="connsiteX7" fmla="*/ 444245 w 592073"/>
              <a:gd name="connsiteY7" fmla="*/ 0 h 377952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  <a:cxn ang="5">
                <a:pos x="connsiteX5" y="connsiteY5"/>
              </a:cxn>
              <a:cxn ang="6">
                <a:pos x="connsiteX6" y="connsiteY6"/>
              </a:cxn>
              <a:cxn ang="7">
                <a:pos x="connsiteX7" y="connsiteY7"/>
              </a:cxn>
            </a:cxnLst>
            <a:rect l="l" t="t" r="r" b="b"/>
            <a:pathLst>
              <a:path w="592073" h="377952">
                <a:moveTo>
                  <a:pt x="444245" y="0"/>
                </a:moveTo>
                <a:lnTo>
                  <a:pt x="444245" y="94488"/>
                </a:lnTo>
                <a:lnTo>
                  <a:pt x="0" y="94488"/>
                </a:lnTo>
                <a:lnTo>
                  <a:pt x="0" y="283464"/>
                </a:lnTo>
                <a:lnTo>
                  <a:pt x="444245" y="283464"/>
                </a:lnTo>
                <a:lnTo>
                  <a:pt x="444245" y="377952"/>
                </a:lnTo>
                <a:lnTo>
                  <a:pt x="592073" y="188976"/>
                </a:lnTo>
                <a:lnTo>
                  <a:pt x="444245" y="0"/>
                </a:lnTo>
              </a:path>
            </a:pathLst>
          </a:custGeom>
          <a:solidFill>
            <a:srgbClr val="618FFD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marL="0" marR="0" lvl="0" indent="0" algn="ctr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等线 Light" panose="02010600030101010101" charset="-122"/>
              <a:cs typeface="+mj-cs"/>
              <a:sym typeface="Helvetica"/>
            </a:endParaRPr>
          </a:p>
        </p:txBody>
      </p:sp>
      <p:sp>
        <p:nvSpPr>
          <p:cNvPr id="10" name="Freeform 3"/>
          <p:cNvSpPr/>
          <p:nvPr/>
        </p:nvSpPr>
        <p:spPr>
          <a:xfrm>
            <a:off x="-5085" y="1559219"/>
            <a:ext cx="604773" cy="390652"/>
          </a:xfrm>
          <a:custGeom>
            <a:avLst/>
            <a:gdLst>
              <a:gd name="connsiteX0" fmla="*/ 450595 w 604773"/>
              <a:gd name="connsiteY0" fmla="*/ 6350 h 390652"/>
              <a:gd name="connsiteX1" fmla="*/ 450595 w 604773"/>
              <a:gd name="connsiteY1" fmla="*/ 100838 h 390652"/>
              <a:gd name="connsiteX2" fmla="*/ 6350 w 604773"/>
              <a:gd name="connsiteY2" fmla="*/ 100838 h 390652"/>
              <a:gd name="connsiteX3" fmla="*/ 6350 w 604773"/>
              <a:gd name="connsiteY3" fmla="*/ 289814 h 390652"/>
              <a:gd name="connsiteX4" fmla="*/ 450595 w 604773"/>
              <a:gd name="connsiteY4" fmla="*/ 289814 h 390652"/>
              <a:gd name="connsiteX5" fmla="*/ 450595 w 604773"/>
              <a:gd name="connsiteY5" fmla="*/ 384302 h 390652"/>
              <a:gd name="connsiteX6" fmla="*/ 598423 w 604773"/>
              <a:gd name="connsiteY6" fmla="*/ 195326 h 390652"/>
              <a:gd name="connsiteX7" fmla="*/ 450595 w 604773"/>
              <a:gd name="connsiteY7" fmla="*/ 6350 h 390652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  <a:cxn ang="5">
                <a:pos x="connsiteX5" y="connsiteY5"/>
              </a:cxn>
              <a:cxn ang="6">
                <a:pos x="connsiteX6" y="connsiteY6"/>
              </a:cxn>
              <a:cxn ang="7">
                <a:pos x="connsiteX7" y="connsiteY7"/>
              </a:cxn>
            </a:cxnLst>
            <a:rect l="l" t="t" r="r" b="b"/>
            <a:pathLst>
              <a:path w="604773" h="390652">
                <a:moveTo>
                  <a:pt x="450595" y="6350"/>
                </a:moveTo>
                <a:lnTo>
                  <a:pt x="450595" y="100838"/>
                </a:lnTo>
                <a:lnTo>
                  <a:pt x="6350" y="100838"/>
                </a:lnTo>
                <a:lnTo>
                  <a:pt x="6350" y="289814"/>
                </a:lnTo>
                <a:lnTo>
                  <a:pt x="450595" y="289814"/>
                </a:lnTo>
                <a:lnTo>
                  <a:pt x="450595" y="384302"/>
                </a:lnTo>
                <a:lnTo>
                  <a:pt x="598423" y="195326"/>
                </a:lnTo>
                <a:lnTo>
                  <a:pt x="450595" y="6350"/>
                </a:lnTo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00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marL="0" marR="0" lvl="0" indent="0" algn="ctr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等线 Light" panose="02010600030101010101" charset="-122"/>
              <a:cs typeface="+mj-cs"/>
              <a:sym typeface="Helvetic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62" y="2924944"/>
            <a:ext cx="9144000" cy="250507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0" y="2234412"/>
            <a:ext cx="16196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US" altLang="zh-CN" dirty="0"/>
              <a:t> </a:t>
            </a:r>
            <a:endParaRPr lang="zh-CN" alt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9552" y="334466"/>
            <a:ext cx="7886700" cy="1325563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0" y="-50931"/>
            <a:ext cx="16196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US" altLang="zh-CN" dirty="0"/>
              <a:t> 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96" y="3935473"/>
            <a:ext cx="5616624" cy="57187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533" y="4394544"/>
            <a:ext cx="6696744" cy="9455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6512" y="5127819"/>
            <a:ext cx="5472608" cy="58209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576" y="5658327"/>
            <a:ext cx="7318552" cy="1014586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64" y="260806"/>
            <a:ext cx="8856984" cy="242644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504" y="2589422"/>
            <a:ext cx="6929958" cy="130577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2983" y="3003302"/>
            <a:ext cx="4355976" cy="170090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9552" y="334466"/>
            <a:ext cx="7886700" cy="1325563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1167321"/>
            <a:ext cx="8963172" cy="4351338"/>
          </a:xfrm>
        </p:spPr>
        <p:txBody>
          <a:bodyPr>
            <a:normAutofit/>
          </a:bodyPr>
          <a:lstStyle/>
          <a:p>
            <a:r>
              <a:rPr kumimoji="1"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Stationary Processes</a:t>
            </a:r>
          </a:p>
          <a:p>
            <a:pPr marL="0" indent="0">
              <a:lnSpc>
                <a:spcPts val="2800"/>
              </a:lnSpc>
              <a:spcBef>
                <a:spcPts val="600"/>
              </a:spcBef>
              <a:buNone/>
            </a:pPr>
            <a:r>
              <a:rPr kumimoji="1"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</a:t>
            </a: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Definitions </a:t>
            </a:r>
            <a:r>
              <a:rPr lang="zh-CN" altLang="en-US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① ② </a:t>
            </a: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and Ergodicity</a:t>
            </a:r>
          </a:p>
          <a:p>
            <a:pPr marL="0" indent="0">
              <a:lnSpc>
                <a:spcPts val="2800"/>
              </a:lnSpc>
              <a:spcBef>
                <a:spcPts val="600"/>
              </a:spcBef>
              <a:buNone/>
            </a:pP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--Properties of the Autocorrelation Function</a:t>
            </a:r>
          </a:p>
          <a:p>
            <a:pPr marL="0" indent="0">
              <a:lnSpc>
                <a:spcPts val="2800"/>
              </a:lnSpc>
              <a:spcBef>
                <a:spcPts val="600"/>
              </a:spcBef>
              <a:buNone/>
            </a:pP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--Power spectral density</a:t>
            </a:r>
            <a:r>
              <a:rPr lang="zh-CN" altLang="en-US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PSD</a:t>
            </a:r>
          </a:p>
          <a:p>
            <a:r>
              <a:rPr kumimoji="1"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Gaussian Random Processes</a:t>
            </a:r>
          </a:p>
          <a:p>
            <a:pPr marL="0" indent="0">
              <a:buNone/>
            </a:pPr>
            <a:r>
              <a:rPr kumimoji="1"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--Definition</a:t>
            </a:r>
          </a:p>
          <a:p>
            <a:pPr marL="0" indent="0">
              <a:buNone/>
            </a:pPr>
            <a:r>
              <a:rPr kumimoji="1"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--Properties</a:t>
            </a:r>
          </a:p>
          <a:p>
            <a:pPr marL="0" indent="0">
              <a:buNone/>
            </a:pPr>
            <a:r>
              <a:rPr kumimoji="1"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--Gaussian random variable</a:t>
            </a:r>
          </a:p>
          <a:p>
            <a:endParaRPr kumimoji="1" lang="en-US" altLang="zh-C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1"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1"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kumimoji="1" lang="en-US" altLang="zh-CN" dirty="0"/>
          </a:p>
          <a:p>
            <a:pPr marL="0" indent="0">
              <a:buNone/>
            </a:pPr>
            <a:endParaRPr kumimoji="1" lang="en-US" altLang="zh-CN" dirty="0"/>
          </a:p>
          <a:p>
            <a:pPr marL="0" indent="0">
              <a:buNone/>
            </a:pPr>
            <a:endParaRPr kumimoji="1" lang="en-US" altLang="zh-CN" dirty="0"/>
          </a:p>
        </p:txBody>
      </p:sp>
      <p:sp>
        <p:nvSpPr>
          <p:cNvPr id="6" name="Rectangle 2"/>
          <p:cNvSpPr>
            <a:spLocks noGrp="1"/>
          </p:cNvSpPr>
          <p:nvPr/>
        </p:nvSpPr>
        <p:spPr>
          <a:xfrm>
            <a:off x="20230" y="268003"/>
            <a:ext cx="8712968" cy="736600"/>
          </a:xfrm>
          <a:prstGeom prst="rect">
            <a:avLst/>
          </a:prstGeom>
          <a:solidFill>
            <a:schemeClr val="accent1">
              <a:alpha val="25000"/>
            </a:schemeClr>
          </a:solidFill>
          <a:ln w="9525">
            <a:noFill/>
          </a:ln>
        </p:spPr>
        <p:txBody>
          <a:bodyPr vert="horz" wrap="square" lIns="91440" tIns="45720" rIns="91440" bIns="45720" anchor="ctr" anchorCtr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+mj-lt"/>
                <a:ea typeface="+mj-ea"/>
                <a:cs typeface="楷体_GB231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 Light" panose="02010600030101010101" charset="-122"/>
                <a:cs typeface="Times New Roman" panose="02020603050405020304" pitchFamily="18" charset="0"/>
              </a:rPr>
              <a:t>Chapter 2：Random Processes——Part II</a:t>
            </a:r>
          </a:p>
        </p:txBody>
      </p:sp>
      <p:sp>
        <p:nvSpPr>
          <p:cNvPr id="4" name="Freeform 3"/>
          <p:cNvSpPr/>
          <p:nvPr/>
        </p:nvSpPr>
        <p:spPr>
          <a:xfrm>
            <a:off x="-29031" y="3003302"/>
            <a:ext cx="592073" cy="377952"/>
          </a:xfrm>
          <a:custGeom>
            <a:avLst/>
            <a:gdLst>
              <a:gd name="connsiteX0" fmla="*/ 444245 w 592073"/>
              <a:gd name="connsiteY0" fmla="*/ 0 h 377952"/>
              <a:gd name="connsiteX1" fmla="*/ 444245 w 592073"/>
              <a:gd name="connsiteY1" fmla="*/ 94488 h 377952"/>
              <a:gd name="connsiteX2" fmla="*/ 0 w 592073"/>
              <a:gd name="connsiteY2" fmla="*/ 94488 h 377952"/>
              <a:gd name="connsiteX3" fmla="*/ 0 w 592073"/>
              <a:gd name="connsiteY3" fmla="*/ 283464 h 377952"/>
              <a:gd name="connsiteX4" fmla="*/ 444245 w 592073"/>
              <a:gd name="connsiteY4" fmla="*/ 283464 h 377952"/>
              <a:gd name="connsiteX5" fmla="*/ 444245 w 592073"/>
              <a:gd name="connsiteY5" fmla="*/ 377952 h 377952"/>
              <a:gd name="connsiteX6" fmla="*/ 592073 w 592073"/>
              <a:gd name="connsiteY6" fmla="*/ 188976 h 377952"/>
              <a:gd name="connsiteX7" fmla="*/ 444245 w 592073"/>
              <a:gd name="connsiteY7" fmla="*/ 0 h 377952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  <a:cxn ang="5">
                <a:pos x="connsiteX5" y="connsiteY5"/>
              </a:cxn>
              <a:cxn ang="6">
                <a:pos x="connsiteX6" y="connsiteY6"/>
              </a:cxn>
              <a:cxn ang="7">
                <a:pos x="connsiteX7" y="connsiteY7"/>
              </a:cxn>
            </a:cxnLst>
            <a:rect l="l" t="t" r="r" b="b"/>
            <a:pathLst>
              <a:path w="592073" h="377952">
                <a:moveTo>
                  <a:pt x="444245" y="0"/>
                </a:moveTo>
                <a:lnTo>
                  <a:pt x="444245" y="94488"/>
                </a:lnTo>
                <a:lnTo>
                  <a:pt x="0" y="94488"/>
                </a:lnTo>
                <a:lnTo>
                  <a:pt x="0" y="283464"/>
                </a:lnTo>
                <a:lnTo>
                  <a:pt x="444245" y="283464"/>
                </a:lnTo>
                <a:lnTo>
                  <a:pt x="444245" y="377952"/>
                </a:lnTo>
                <a:lnTo>
                  <a:pt x="592073" y="188976"/>
                </a:lnTo>
                <a:lnTo>
                  <a:pt x="444245" y="0"/>
                </a:lnTo>
              </a:path>
            </a:pathLst>
          </a:custGeom>
          <a:solidFill>
            <a:srgbClr val="618FFD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marL="0" marR="0" lvl="0" indent="0" algn="ctr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等线 Light" panose="02010600030101010101" charset="-122"/>
              <a:cs typeface="+mj-cs"/>
              <a:sym typeface="Helvetica"/>
            </a:endParaRPr>
          </a:p>
        </p:txBody>
      </p:sp>
      <p:sp>
        <p:nvSpPr>
          <p:cNvPr id="5" name="Freeform 3"/>
          <p:cNvSpPr/>
          <p:nvPr/>
        </p:nvSpPr>
        <p:spPr>
          <a:xfrm>
            <a:off x="-51278" y="2996952"/>
            <a:ext cx="604773" cy="390652"/>
          </a:xfrm>
          <a:custGeom>
            <a:avLst/>
            <a:gdLst>
              <a:gd name="connsiteX0" fmla="*/ 450595 w 604773"/>
              <a:gd name="connsiteY0" fmla="*/ 6350 h 390652"/>
              <a:gd name="connsiteX1" fmla="*/ 450595 w 604773"/>
              <a:gd name="connsiteY1" fmla="*/ 100838 h 390652"/>
              <a:gd name="connsiteX2" fmla="*/ 6350 w 604773"/>
              <a:gd name="connsiteY2" fmla="*/ 100838 h 390652"/>
              <a:gd name="connsiteX3" fmla="*/ 6350 w 604773"/>
              <a:gd name="connsiteY3" fmla="*/ 289814 h 390652"/>
              <a:gd name="connsiteX4" fmla="*/ 450595 w 604773"/>
              <a:gd name="connsiteY4" fmla="*/ 289814 h 390652"/>
              <a:gd name="connsiteX5" fmla="*/ 450595 w 604773"/>
              <a:gd name="connsiteY5" fmla="*/ 384302 h 390652"/>
              <a:gd name="connsiteX6" fmla="*/ 598423 w 604773"/>
              <a:gd name="connsiteY6" fmla="*/ 195326 h 390652"/>
              <a:gd name="connsiteX7" fmla="*/ 450595 w 604773"/>
              <a:gd name="connsiteY7" fmla="*/ 6350 h 390652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  <a:cxn ang="5">
                <a:pos x="connsiteX5" y="connsiteY5"/>
              </a:cxn>
              <a:cxn ang="6">
                <a:pos x="connsiteX6" y="connsiteY6"/>
              </a:cxn>
              <a:cxn ang="7">
                <a:pos x="connsiteX7" y="connsiteY7"/>
              </a:cxn>
            </a:cxnLst>
            <a:rect l="l" t="t" r="r" b="b"/>
            <a:pathLst>
              <a:path w="604773" h="390652">
                <a:moveTo>
                  <a:pt x="450595" y="6350"/>
                </a:moveTo>
                <a:lnTo>
                  <a:pt x="450595" y="100838"/>
                </a:lnTo>
                <a:lnTo>
                  <a:pt x="6350" y="100838"/>
                </a:lnTo>
                <a:lnTo>
                  <a:pt x="6350" y="289814"/>
                </a:lnTo>
                <a:lnTo>
                  <a:pt x="450595" y="289814"/>
                </a:lnTo>
                <a:lnTo>
                  <a:pt x="450595" y="384302"/>
                </a:lnTo>
                <a:lnTo>
                  <a:pt x="598423" y="195326"/>
                </a:lnTo>
                <a:lnTo>
                  <a:pt x="450595" y="6350"/>
                </a:lnTo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00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marL="0" marR="0" lvl="0" indent="0" algn="ctr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等线 Light" panose="02010600030101010101" charset="-122"/>
              <a:cs typeface="+mj-cs"/>
              <a:sym typeface="Helvetica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550" y="5042768"/>
            <a:ext cx="2030015" cy="15049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0711" y="5043587"/>
            <a:ext cx="2201465" cy="147994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6673" y="5034359"/>
            <a:ext cx="2480072" cy="15001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smtClean="0"/>
              <a:t>24</a:t>
            </a:fld>
            <a:r>
              <a:rPr lang="en-US" altLang="zh-CN" dirty="0"/>
              <a:t>/81</a:t>
            </a:r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-12551" y="46139"/>
            <a:ext cx="86272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Gaussian Random Processes</a:t>
            </a:r>
            <a:r>
              <a:rPr kumimoji="1"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——</a:t>
            </a:r>
            <a:r>
              <a:rPr kumimoji="1" lang="zh-CN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323" y="526763"/>
            <a:ext cx="8280920" cy="23757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06" y="2845379"/>
            <a:ext cx="9144000" cy="729673"/>
          </a:xfrm>
          <a:prstGeom prst="rect">
            <a:avLst/>
          </a:prstGeom>
          <a:ln w="15875">
            <a:solidFill>
              <a:schemeClr val="dk1"/>
            </a:solidFill>
          </a:ln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06" y="3647784"/>
            <a:ext cx="9144000" cy="2421848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76" y="5446914"/>
            <a:ext cx="9144000" cy="124543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0" y="26406"/>
            <a:ext cx="633670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Gaussian Random Processes</a:t>
            </a:r>
          </a:p>
          <a:p>
            <a:r>
              <a:rPr kumimoji="1" lang="en-US" altLang="zh-CN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● </a:t>
            </a:r>
            <a:r>
              <a:rPr kumimoji="1" lang="en-US" altLang="zh-CN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</a:p>
          <a:p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</a:t>
            </a: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Properties</a:t>
            </a:r>
          </a:p>
          <a:p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</a:t>
            </a: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Gaussian random variable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72816"/>
            <a:ext cx="9144000" cy="3156799"/>
          </a:xfrm>
          <a:prstGeom prst="rect">
            <a:avLst/>
          </a:prstGeom>
        </p:spPr>
      </p:pic>
      <p:pic>
        <p:nvPicPr>
          <p:cNvPr id="11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5193" y="5196285"/>
            <a:ext cx="4343922" cy="1318022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13" name="文本框 12"/>
          <p:cNvSpPr txBox="1"/>
          <p:nvPr/>
        </p:nvSpPr>
        <p:spPr>
          <a:xfrm>
            <a:off x="5652120" y="2831953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Uncorrelated:</a:t>
            </a:r>
            <a:r>
              <a:rPr lang="zh-CN" altLang="en-US" dirty="0">
                <a:solidFill>
                  <a:srgbClr val="C00000"/>
                </a:solidFill>
              </a:rPr>
              <a:t>不相关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4287154" y="4672475"/>
            <a:ext cx="3885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b="1" dirty="0">
                <a:solidFill>
                  <a:srgbClr val="C00000"/>
                </a:solidFill>
              </a:rPr>
              <a:t>statistically independent</a:t>
            </a:r>
            <a:r>
              <a:rPr lang="en-US" altLang="zh-CN" b="1" dirty="0">
                <a:solidFill>
                  <a:srgbClr val="C00000"/>
                </a:solidFill>
              </a:rPr>
              <a:t>:</a:t>
            </a:r>
            <a:r>
              <a:rPr lang="zh-CN" altLang="en-US" b="1" dirty="0">
                <a:solidFill>
                  <a:srgbClr val="C00000"/>
                </a:solidFill>
              </a:rPr>
              <a:t> 统计独立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0" y="26406"/>
            <a:ext cx="633670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Gaussian Random Processes</a:t>
            </a:r>
          </a:p>
          <a:p>
            <a:r>
              <a:rPr kumimoji="1" lang="en-US" altLang="zh-CN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● </a:t>
            </a:r>
            <a:r>
              <a:rPr kumimoji="1" lang="en-US" altLang="zh-CN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</a:p>
          <a:p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</a:t>
            </a: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Properties</a:t>
            </a:r>
          </a:p>
          <a:p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</a:t>
            </a: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Gaussian random variable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5496" y="1988840"/>
            <a:ext cx="8928992" cy="4399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判断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 or F):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讨论</a:t>
            </a:r>
            <a:endParaRPr kumimoji="1" lang="en-US" altLang="zh-CN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)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 general random process, strict-sense stationary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zh-CN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implies wide-sense stationary. 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)If two random variables are uncorrelated, they must be 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statistically independent. 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)For Gaussian random variables, uncorrelated means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statistically independent.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5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835" y="908685"/>
            <a:ext cx="4495165" cy="136398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605" y="5422900"/>
            <a:ext cx="7579995" cy="103251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21246" y="136524"/>
            <a:ext cx="633670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Gaussian Random Processes</a:t>
            </a:r>
          </a:p>
          <a:p>
            <a:r>
              <a:rPr kumimoji="1" lang="en-US" altLang="zh-CN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● </a:t>
            </a:r>
            <a:r>
              <a:rPr kumimoji="1" lang="en-US" altLang="zh-CN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</a:p>
          <a:p>
            <a:r>
              <a:rPr kumimoji="1" lang="en-US" altLang="zh-CN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●</a:t>
            </a:r>
            <a:r>
              <a:rPr kumimoji="1" lang="zh-CN" alt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Properties</a:t>
            </a:r>
          </a:p>
          <a:p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●</a:t>
            </a: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Gaussian random variable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1952207"/>
            <a:ext cx="6408712" cy="238309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422620"/>
            <a:ext cx="9144000" cy="193373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2576" y="2605327"/>
            <a:ext cx="4355976" cy="170090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00873" y="2708920"/>
            <a:ext cx="1397336" cy="662922"/>
          </a:xfrm>
          <a:prstGeom prst="rect">
            <a:avLst/>
          </a:prstGeom>
          <a:ln>
            <a:solidFill>
              <a:schemeClr val="dk1"/>
            </a:solidFill>
            <a:prstDash val="lgDash"/>
          </a:ln>
        </p:spPr>
      </p:pic>
      <p:cxnSp>
        <p:nvCxnSpPr>
          <p:cNvPr id="12" name="直接箭头连接符 11"/>
          <p:cNvCxnSpPr/>
          <p:nvPr/>
        </p:nvCxnSpPr>
        <p:spPr>
          <a:xfrm flipV="1">
            <a:off x="6660232" y="3501008"/>
            <a:ext cx="288032" cy="2232248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21246" y="136524"/>
            <a:ext cx="633670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扩展：</a:t>
            </a:r>
            <a:r>
              <a:rPr kumimoji="1"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Gaussian </a:t>
            </a:r>
            <a:r>
              <a:rPr kumimoji="1"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分布计算误码率</a:t>
            </a:r>
            <a:r>
              <a:rPr kumimoji="1"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1"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</a:p>
          <a:p>
            <a:r>
              <a:rPr kumimoji="1" lang="en-US" altLang="zh-CN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1" lang="en-US" altLang="zh-CN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70470"/>
            <a:ext cx="9144000" cy="1762099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121246" y="744541"/>
            <a:ext cx="66830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/>
              <a:t>● </a:t>
            </a:r>
            <a:r>
              <a:rPr lang="zh-CN" altLang="zh-CN" sz="2400" b="1" dirty="0"/>
              <a:t>Complementary Error Function</a:t>
            </a:r>
            <a:r>
              <a:rPr lang="en-US" altLang="zh-CN" sz="2400" b="1" dirty="0"/>
              <a:t>: </a:t>
            </a:r>
            <a:r>
              <a:rPr lang="en-US" altLang="zh-CN" sz="2400" b="1" dirty="0" err="1"/>
              <a:t>erfc</a:t>
            </a:r>
            <a:r>
              <a:rPr lang="en-US" altLang="zh-CN" sz="2400" b="1" dirty="0"/>
              <a:t>(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dirty="0"/>
              <a:t>)</a:t>
            </a:r>
            <a:endParaRPr lang="zh-CN" altLang="en-US" sz="2400" b="1" dirty="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7978" y="4221203"/>
            <a:ext cx="3456384" cy="917582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35496" y="3645024"/>
            <a:ext cx="69127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/>
              <a:t>●</a:t>
            </a:r>
            <a:r>
              <a:rPr lang="zh-CN" altLang="en-US" sz="2400" b="1" dirty="0"/>
              <a:t> </a:t>
            </a:r>
            <a:r>
              <a:rPr lang="zh-CN" altLang="zh-CN" sz="2400" b="1" dirty="0"/>
              <a:t>BPSK Bit Error Probability (AWGN Channel)</a:t>
            </a:r>
            <a:endParaRPr lang="zh-CN" altLang="en-US" sz="2400" b="1" dirty="0"/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909" y="5115319"/>
            <a:ext cx="6156176" cy="797883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8224" y="3356992"/>
            <a:ext cx="2461652" cy="242249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21246" y="136524"/>
            <a:ext cx="633670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扩展：</a:t>
            </a:r>
            <a:r>
              <a:rPr kumimoji="1"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Gaussian </a:t>
            </a:r>
            <a:r>
              <a:rPr kumimoji="1"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分布计算误码率</a:t>
            </a:r>
            <a:r>
              <a:rPr kumimoji="1"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1"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</a:p>
          <a:p>
            <a:r>
              <a:rPr kumimoji="1" lang="en-US" altLang="zh-CN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1" lang="en-US" altLang="zh-CN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8" y="1426423"/>
            <a:ext cx="3456384" cy="917582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104503" y="908720"/>
            <a:ext cx="69127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/>
              <a:t>●</a:t>
            </a:r>
            <a:r>
              <a:rPr lang="zh-CN" altLang="en-US" sz="2400" b="1" dirty="0"/>
              <a:t> </a:t>
            </a:r>
            <a:r>
              <a:rPr lang="zh-CN" altLang="zh-CN" sz="2400" b="1" dirty="0"/>
              <a:t>BPSK Bit Error Probability (AWGN Channel)</a:t>
            </a:r>
            <a:endParaRPr lang="zh-CN" altLang="en-US" sz="2400" b="1" dirty="0"/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9279" y="1494492"/>
            <a:ext cx="5096106" cy="660491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6136" y="171436"/>
            <a:ext cx="3151890" cy="737284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528" y="2564904"/>
            <a:ext cx="8658613" cy="3744416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0" y="-52392"/>
            <a:ext cx="633670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扩展：</a:t>
            </a:r>
            <a:r>
              <a:rPr kumimoji="1"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Gaussian </a:t>
            </a:r>
            <a:r>
              <a:rPr kumimoji="1"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分布计算误码率</a:t>
            </a:r>
            <a:r>
              <a:rPr kumimoji="1"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1"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</a:p>
          <a:p>
            <a:r>
              <a:rPr kumimoji="1" lang="en-US" altLang="zh-CN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1" lang="en-US" altLang="zh-CN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5496" y="516118"/>
            <a:ext cx="69127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/>
              <a:t>●</a:t>
            </a:r>
            <a:r>
              <a:rPr lang="zh-CN" altLang="en-US" sz="2400" b="1" dirty="0"/>
              <a:t> </a:t>
            </a:r>
            <a:r>
              <a:rPr lang="zh-CN" altLang="zh-CN" sz="2400" b="1" dirty="0"/>
              <a:t>BPSK Bit Error Probability (AWGN Channel)</a:t>
            </a:r>
            <a:endParaRPr lang="zh-CN" altLang="en-US" sz="2400" b="1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6136" y="171436"/>
            <a:ext cx="3151890" cy="737284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3177" y="933987"/>
            <a:ext cx="3456384" cy="917582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60214" y="5949384"/>
            <a:ext cx="2304256" cy="590253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853" y="1758340"/>
            <a:ext cx="8568952" cy="4064392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15488" y="5877272"/>
            <a:ext cx="1100328" cy="512718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08910"/>
            <a:ext cx="9144000" cy="200215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9552" y="334466"/>
            <a:ext cx="7886700" cy="1325563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17748" y="1253331"/>
            <a:ext cx="8963172" cy="4351338"/>
          </a:xfrm>
        </p:spPr>
        <p:txBody>
          <a:bodyPr>
            <a:normAutofit/>
          </a:bodyPr>
          <a:lstStyle/>
          <a:p>
            <a:r>
              <a:rPr kumimoji="1"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Stationary Processes</a:t>
            </a:r>
          </a:p>
          <a:p>
            <a:r>
              <a:rPr kumimoji="1"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Gaussian Random Processes</a:t>
            </a:r>
            <a:endParaRPr kumimoji="1" lang="en-US" altLang="zh-CN" dirty="0"/>
          </a:p>
          <a:p>
            <a:r>
              <a:rPr kumimoji="1" lang="zh-CN" altLang="zh-C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Processes Passing through Linear Systems</a:t>
            </a:r>
            <a:endParaRPr kumimoji="1" lang="zh-CN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2"/>
          <p:cNvSpPr>
            <a:spLocks noGrp="1"/>
          </p:cNvSpPr>
          <p:nvPr/>
        </p:nvSpPr>
        <p:spPr>
          <a:xfrm>
            <a:off x="20230" y="268003"/>
            <a:ext cx="8712968" cy="736600"/>
          </a:xfrm>
          <a:prstGeom prst="rect">
            <a:avLst/>
          </a:prstGeom>
          <a:solidFill>
            <a:schemeClr val="accent1">
              <a:alpha val="25000"/>
            </a:schemeClr>
          </a:solidFill>
          <a:ln w="9525">
            <a:noFill/>
          </a:ln>
        </p:spPr>
        <p:txBody>
          <a:bodyPr vert="horz" wrap="square" lIns="91440" tIns="45720" rIns="91440" bIns="45720" anchor="ctr" anchorCtr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+mj-lt"/>
                <a:ea typeface="+mj-ea"/>
                <a:cs typeface="楷体_GB231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 Light" panose="02010600030101010101" charset="-122"/>
                <a:cs typeface="Times New Roman" panose="02020603050405020304" pitchFamily="18" charset="0"/>
              </a:rPr>
              <a:t>Chapter 2：Random Processes——Part II</a:t>
            </a:r>
          </a:p>
        </p:txBody>
      </p:sp>
      <p:sp>
        <p:nvSpPr>
          <p:cNvPr id="4" name="Freeform 3"/>
          <p:cNvSpPr/>
          <p:nvPr/>
        </p:nvSpPr>
        <p:spPr>
          <a:xfrm>
            <a:off x="76633" y="2283222"/>
            <a:ext cx="592073" cy="377952"/>
          </a:xfrm>
          <a:custGeom>
            <a:avLst/>
            <a:gdLst>
              <a:gd name="connsiteX0" fmla="*/ 444245 w 592073"/>
              <a:gd name="connsiteY0" fmla="*/ 0 h 377952"/>
              <a:gd name="connsiteX1" fmla="*/ 444245 w 592073"/>
              <a:gd name="connsiteY1" fmla="*/ 94488 h 377952"/>
              <a:gd name="connsiteX2" fmla="*/ 0 w 592073"/>
              <a:gd name="connsiteY2" fmla="*/ 94488 h 377952"/>
              <a:gd name="connsiteX3" fmla="*/ 0 w 592073"/>
              <a:gd name="connsiteY3" fmla="*/ 283464 h 377952"/>
              <a:gd name="connsiteX4" fmla="*/ 444245 w 592073"/>
              <a:gd name="connsiteY4" fmla="*/ 283464 h 377952"/>
              <a:gd name="connsiteX5" fmla="*/ 444245 w 592073"/>
              <a:gd name="connsiteY5" fmla="*/ 377952 h 377952"/>
              <a:gd name="connsiteX6" fmla="*/ 592073 w 592073"/>
              <a:gd name="connsiteY6" fmla="*/ 188976 h 377952"/>
              <a:gd name="connsiteX7" fmla="*/ 444245 w 592073"/>
              <a:gd name="connsiteY7" fmla="*/ 0 h 377952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  <a:cxn ang="5">
                <a:pos x="connsiteX5" y="connsiteY5"/>
              </a:cxn>
              <a:cxn ang="6">
                <a:pos x="connsiteX6" y="connsiteY6"/>
              </a:cxn>
              <a:cxn ang="7">
                <a:pos x="connsiteX7" y="connsiteY7"/>
              </a:cxn>
            </a:cxnLst>
            <a:rect l="l" t="t" r="r" b="b"/>
            <a:pathLst>
              <a:path w="592073" h="377952">
                <a:moveTo>
                  <a:pt x="444245" y="0"/>
                </a:moveTo>
                <a:lnTo>
                  <a:pt x="444245" y="94488"/>
                </a:lnTo>
                <a:lnTo>
                  <a:pt x="0" y="94488"/>
                </a:lnTo>
                <a:lnTo>
                  <a:pt x="0" y="283464"/>
                </a:lnTo>
                <a:lnTo>
                  <a:pt x="444245" y="283464"/>
                </a:lnTo>
                <a:lnTo>
                  <a:pt x="444245" y="377952"/>
                </a:lnTo>
                <a:lnTo>
                  <a:pt x="592073" y="188976"/>
                </a:lnTo>
                <a:lnTo>
                  <a:pt x="444245" y="0"/>
                </a:lnTo>
              </a:path>
            </a:pathLst>
          </a:custGeom>
          <a:solidFill>
            <a:srgbClr val="618FFD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marL="0" marR="0" lvl="0" indent="0" algn="ctr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等线 Light" panose="02010600030101010101" charset="-122"/>
              <a:cs typeface="+mj-cs"/>
              <a:sym typeface="Helvetica"/>
            </a:endParaRPr>
          </a:p>
        </p:txBody>
      </p:sp>
      <p:sp>
        <p:nvSpPr>
          <p:cNvPr id="5" name="Freeform 3"/>
          <p:cNvSpPr/>
          <p:nvPr/>
        </p:nvSpPr>
        <p:spPr>
          <a:xfrm>
            <a:off x="54386" y="2276872"/>
            <a:ext cx="604773" cy="390652"/>
          </a:xfrm>
          <a:custGeom>
            <a:avLst/>
            <a:gdLst>
              <a:gd name="connsiteX0" fmla="*/ 450595 w 604773"/>
              <a:gd name="connsiteY0" fmla="*/ 6350 h 390652"/>
              <a:gd name="connsiteX1" fmla="*/ 450595 w 604773"/>
              <a:gd name="connsiteY1" fmla="*/ 100838 h 390652"/>
              <a:gd name="connsiteX2" fmla="*/ 6350 w 604773"/>
              <a:gd name="connsiteY2" fmla="*/ 100838 h 390652"/>
              <a:gd name="connsiteX3" fmla="*/ 6350 w 604773"/>
              <a:gd name="connsiteY3" fmla="*/ 289814 h 390652"/>
              <a:gd name="connsiteX4" fmla="*/ 450595 w 604773"/>
              <a:gd name="connsiteY4" fmla="*/ 289814 h 390652"/>
              <a:gd name="connsiteX5" fmla="*/ 450595 w 604773"/>
              <a:gd name="connsiteY5" fmla="*/ 384302 h 390652"/>
              <a:gd name="connsiteX6" fmla="*/ 598423 w 604773"/>
              <a:gd name="connsiteY6" fmla="*/ 195326 h 390652"/>
              <a:gd name="connsiteX7" fmla="*/ 450595 w 604773"/>
              <a:gd name="connsiteY7" fmla="*/ 6350 h 390652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  <a:cxn ang="5">
                <a:pos x="connsiteX5" y="connsiteY5"/>
              </a:cxn>
              <a:cxn ang="6">
                <a:pos x="connsiteX6" y="connsiteY6"/>
              </a:cxn>
              <a:cxn ang="7">
                <a:pos x="connsiteX7" y="connsiteY7"/>
              </a:cxn>
            </a:cxnLst>
            <a:rect l="l" t="t" r="r" b="b"/>
            <a:pathLst>
              <a:path w="604773" h="390652">
                <a:moveTo>
                  <a:pt x="450595" y="6350"/>
                </a:moveTo>
                <a:lnTo>
                  <a:pt x="450595" y="100838"/>
                </a:lnTo>
                <a:lnTo>
                  <a:pt x="6350" y="100838"/>
                </a:lnTo>
                <a:lnTo>
                  <a:pt x="6350" y="289814"/>
                </a:lnTo>
                <a:lnTo>
                  <a:pt x="450595" y="289814"/>
                </a:lnTo>
                <a:lnTo>
                  <a:pt x="450595" y="384302"/>
                </a:lnTo>
                <a:lnTo>
                  <a:pt x="598423" y="195326"/>
                </a:lnTo>
                <a:lnTo>
                  <a:pt x="450595" y="6350"/>
                </a:lnTo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00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marL="0" marR="0" lvl="0" indent="0" algn="ctr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等线 Light" panose="02010600030101010101" charset="-122"/>
              <a:cs typeface="+mj-cs"/>
              <a:sym typeface="Helvetic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4386" y="4941168"/>
            <a:ext cx="907300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/>
              <a:t>结论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：</a:t>
            </a:r>
            <a:r>
              <a:rPr lang="zh-CN" altLang="zh-CN" sz="2400" b="1" dirty="0">
                <a:solidFill>
                  <a:srgbClr val="00B050"/>
                </a:solidFill>
              </a:rPr>
              <a:t>If a wide-sense stationary (WSS) random process </a:t>
            </a:r>
            <a:r>
              <a:rPr lang="zh-CN" altLang="zh-CN" sz="24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4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2400" b="1" dirty="0">
                <a:solidFill>
                  <a:srgbClr val="00B050"/>
                </a:solidFill>
              </a:rPr>
              <a:t>is the input to a linear time-invariant (LTI) system, the output random process </a:t>
            </a:r>
            <a:r>
              <a:rPr lang="zh-CN" altLang="zh-CN" sz="24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4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zh-CN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2400" b="1" dirty="0">
                <a:solidFill>
                  <a:srgbClr val="00B050"/>
                </a:solidFill>
              </a:rPr>
              <a:t>is also wide-sense stationary.</a:t>
            </a:r>
            <a:r>
              <a:rPr lang="en-US" altLang="zh-CN" sz="2400" b="1" dirty="0">
                <a:solidFill>
                  <a:srgbClr val="00B050"/>
                </a:solidFill>
              </a:rPr>
              <a:t> </a:t>
            </a:r>
          </a:p>
          <a:p>
            <a:r>
              <a:rPr lang="zh-CN" altLang="zh-CN" sz="2400" dirty="0"/>
              <a:t>若广义平稳随机过程</a:t>
            </a:r>
            <a:r>
              <a:rPr lang="zh-CN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400" dirty="0"/>
              <a:t>输入线性时不变</a:t>
            </a:r>
            <a:r>
              <a:rPr lang="en-US" altLang="zh-CN" sz="2400" dirty="0"/>
              <a:t>(</a:t>
            </a:r>
            <a:r>
              <a:rPr lang="zh-CN" altLang="zh-CN" sz="2400" dirty="0"/>
              <a:t>LTI</a:t>
            </a:r>
            <a:r>
              <a:rPr lang="en-US" altLang="zh-CN" sz="2400" dirty="0"/>
              <a:t>)</a:t>
            </a:r>
            <a:r>
              <a:rPr lang="zh-CN" altLang="zh-CN" sz="2400" dirty="0"/>
              <a:t>系统，则输出随机过程</a:t>
            </a:r>
            <a:r>
              <a:rPr lang="zh-CN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400" dirty="0"/>
              <a:t>同样是广义平稳的。</a:t>
            </a:r>
            <a:endParaRPr lang="zh-CN" altLang="en-US" sz="2400" dirty="0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307" y="3140968"/>
            <a:ext cx="2528319" cy="499334"/>
          </a:xfrm>
          <a:prstGeom prst="rect">
            <a:avLst/>
          </a:prstGeom>
        </p:spPr>
      </p:pic>
      <p:pic>
        <p:nvPicPr>
          <p:cNvPr id="16" name="Object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5723" y="4408955"/>
            <a:ext cx="941388" cy="500063"/>
          </a:xfrm>
          <a:noFill/>
          <a:ln w="38100">
            <a:noFill/>
            <a:miter/>
          </a:ln>
        </p:spPr>
      </p:pic>
      <p:sp>
        <p:nvSpPr>
          <p:cNvPr id="17" name="矩形 16"/>
          <p:cNvSpPr/>
          <p:nvPr/>
        </p:nvSpPr>
        <p:spPr>
          <a:xfrm>
            <a:off x="6804248" y="4480393"/>
            <a:ext cx="1466850" cy="4000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l"/>
              <a:defRPr sz="3200" b="1">
                <a:solidFill>
                  <a:schemeClr val="tx1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p"/>
              <a:defRPr sz="2200">
                <a:solidFill>
                  <a:schemeClr val="tx1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Ø"/>
              <a:defRPr sz="2200">
                <a:solidFill>
                  <a:schemeClr val="tx1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是功率增益</a:t>
            </a:r>
            <a:endParaRPr lang="zh-CN" altLang="en-US" sz="2000" b="0" dirty="0">
              <a:latin typeface="Tahoma" panose="020B0604030504040204" pitchFamily="34" charset="0"/>
              <a:ea typeface="微软雅黑" panose="020B0503020204020204" charset="-122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7071" y="4399219"/>
            <a:ext cx="942982" cy="504829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08910"/>
            <a:ext cx="9144000" cy="200215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9552" y="334466"/>
            <a:ext cx="7886700" cy="1325563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17748" y="1253331"/>
            <a:ext cx="8963172" cy="4351338"/>
          </a:xfrm>
        </p:spPr>
        <p:txBody>
          <a:bodyPr>
            <a:normAutofit/>
          </a:bodyPr>
          <a:lstStyle/>
          <a:p>
            <a:r>
              <a:rPr kumimoji="1"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Stationary Processes</a:t>
            </a:r>
          </a:p>
          <a:p>
            <a:r>
              <a:rPr kumimoji="1"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Gaussian Random Processes</a:t>
            </a:r>
            <a:endParaRPr kumimoji="1" lang="en-US" altLang="zh-CN" dirty="0"/>
          </a:p>
          <a:p>
            <a:r>
              <a:rPr kumimoji="1" lang="zh-CN" altLang="zh-C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Processes Passing through Linear Systems</a:t>
            </a:r>
            <a:endParaRPr kumimoji="1" lang="zh-CN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2"/>
          <p:cNvSpPr>
            <a:spLocks noGrp="1"/>
          </p:cNvSpPr>
          <p:nvPr/>
        </p:nvSpPr>
        <p:spPr>
          <a:xfrm>
            <a:off x="20230" y="268003"/>
            <a:ext cx="8712968" cy="736600"/>
          </a:xfrm>
          <a:prstGeom prst="rect">
            <a:avLst/>
          </a:prstGeom>
          <a:solidFill>
            <a:schemeClr val="accent1">
              <a:alpha val="25000"/>
            </a:schemeClr>
          </a:solidFill>
          <a:ln w="9525">
            <a:noFill/>
          </a:ln>
        </p:spPr>
        <p:txBody>
          <a:bodyPr vert="horz" wrap="square" lIns="91440" tIns="45720" rIns="91440" bIns="45720" anchor="ctr" anchorCtr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+mj-lt"/>
                <a:ea typeface="+mj-ea"/>
                <a:cs typeface="楷体_GB231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 Light" panose="02010600030101010101" charset="-122"/>
                <a:cs typeface="Times New Roman" panose="02020603050405020304" pitchFamily="18" charset="0"/>
              </a:rPr>
              <a:t>Chapter 2：Random Processes——Part II</a:t>
            </a:r>
          </a:p>
        </p:txBody>
      </p:sp>
      <p:sp>
        <p:nvSpPr>
          <p:cNvPr id="4" name="Freeform 3"/>
          <p:cNvSpPr/>
          <p:nvPr/>
        </p:nvSpPr>
        <p:spPr>
          <a:xfrm>
            <a:off x="76633" y="2283222"/>
            <a:ext cx="592073" cy="377952"/>
          </a:xfrm>
          <a:custGeom>
            <a:avLst/>
            <a:gdLst>
              <a:gd name="connsiteX0" fmla="*/ 444245 w 592073"/>
              <a:gd name="connsiteY0" fmla="*/ 0 h 377952"/>
              <a:gd name="connsiteX1" fmla="*/ 444245 w 592073"/>
              <a:gd name="connsiteY1" fmla="*/ 94488 h 377952"/>
              <a:gd name="connsiteX2" fmla="*/ 0 w 592073"/>
              <a:gd name="connsiteY2" fmla="*/ 94488 h 377952"/>
              <a:gd name="connsiteX3" fmla="*/ 0 w 592073"/>
              <a:gd name="connsiteY3" fmla="*/ 283464 h 377952"/>
              <a:gd name="connsiteX4" fmla="*/ 444245 w 592073"/>
              <a:gd name="connsiteY4" fmla="*/ 283464 h 377952"/>
              <a:gd name="connsiteX5" fmla="*/ 444245 w 592073"/>
              <a:gd name="connsiteY5" fmla="*/ 377952 h 377952"/>
              <a:gd name="connsiteX6" fmla="*/ 592073 w 592073"/>
              <a:gd name="connsiteY6" fmla="*/ 188976 h 377952"/>
              <a:gd name="connsiteX7" fmla="*/ 444245 w 592073"/>
              <a:gd name="connsiteY7" fmla="*/ 0 h 377952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  <a:cxn ang="5">
                <a:pos x="connsiteX5" y="connsiteY5"/>
              </a:cxn>
              <a:cxn ang="6">
                <a:pos x="connsiteX6" y="connsiteY6"/>
              </a:cxn>
              <a:cxn ang="7">
                <a:pos x="connsiteX7" y="connsiteY7"/>
              </a:cxn>
            </a:cxnLst>
            <a:rect l="l" t="t" r="r" b="b"/>
            <a:pathLst>
              <a:path w="592073" h="377952">
                <a:moveTo>
                  <a:pt x="444245" y="0"/>
                </a:moveTo>
                <a:lnTo>
                  <a:pt x="444245" y="94488"/>
                </a:lnTo>
                <a:lnTo>
                  <a:pt x="0" y="94488"/>
                </a:lnTo>
                <a:lnTo>
                  <a:pt x="0" y="283464"/>
                </a:lnTo>
                <a:lnTo>
                  <a:pt x="444245" y="283464"/>
                </a:lnTo>
                <a:lnTo>
                  <a:pt x="444245" y="377952"/>
                </a:lnTo>
                <a:lnTo>
                  <a:pt x="592073" y="188976"/>
                </a:lnTo>
                <a:lnTo>
                  <a:pt x="444245" y="0"/>
                </a:lnTo>
              </a:path>
            </a:pathLst>
          </a:custGeom>
          <a:solidFill>
            <a:srgbClr val="618FFD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marL="0" marR="0" lvl="0" indent="0" algn="ctr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等线 Light" panose="02010600030101010101" charset="-122"/>
              <a:cs typeface="+mj-cs"/>
              <a:sym typeface="Helvetica"/>
            </a:endParaRPr>
          </a:p>
        </p:txBody>
      </p:sp>
      <p:sp>
        <p:nvSpPr>
          <p:cNvPr id="5" name="Freeform 3"/>
          <p:cNvSpPr/>
          <p:nvPr/>
        </p:nvSpPr>
        <p:spPr>
          <a:xfrm>
            <a:off x="54386" y="2276872"/>
            <a:ext cx="604773" cy="390652"/>
          </a:xfrm>
          <a:custGeom>
            <a:avLst/>
            <a:gdLst>
              <a:gd name="connsiteX0" fmla="*/ 450595 w 604773"/>
              <a:gd name="connsiteY0" fmla="*/ 6350 h 390652"/>
              <a:gd name="connsiteX1" fmla="*/ 450595 w 604773"/>
              <a:gd name="connsiteY1" fmla="*/ 100838 h 390652"/>
              <a:gd name="connsiteX2" fmla="*/ 6350 w 604773"/>
              <a:gd name="connsiteY2" fmla="*/ 100838 h 390652"/>
              <a:gd name="connsiteX3" fmla="*/ 6350 w 604773"/>
              <a:gd name="connsiteY3" fmla="*/ 289814 h 390652"/>
              <a:gd name="connsiteX4" fmla="*/ 450595 w 604773"/>
              <a:gd name="connsiteY4" fmla="*/ 289814 h 390652"/>
              <a:gd name="connsiteX5" fmla="*/ 450595 w 604773"/>
              <a:gd name="connsiteY5" fmla="*/ 384302 h 390652"/>
              <a:gd name="connsiteX6" fmla="*/ 598423 w 604773"/>
              <a:gd name="connsiteY6" fmla="*/ 195326 h 390652"/>
              <a:gd name="connsiteX7" fmla="*/ 450595 w 604773"/>
              <a:gd name="connsiteY7" fmla="*/ 6350 h 390652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  <a:cxn ang="5">
                <a:pos x="connsiteX5" y="connsiteY5"/>
              </a:cxn>
              <a:cxn ang="6">
                <a:pos x="connsiteX6" y="connsiteY6"/>
              </a:cxn>
              <a:cxn ang="7">
                <a:pos x="connsiteX7" y="connsiteY7"/>
              </a:cxn>
            </a:cxnLst>
            <a:rect l="l" t="t" r="r" b="b"/>
            <a:pathLst>
              <a:path w="604773" h="390652">
                <a:moveTo>
                  <a:pt x="450595" y="6350"/>
                </a:moveTo>
                <a:lnTo>
                  <a:pt x="450595" y="100838"/>
                </a:lnTo>
                <a:lnTo>
                  <a:pt x="6350" y="100838"/>
                </a:lnTo>
                <a:lnTo>
                  <a:pt x="6350" y="289814"/>
                </a:lnTo>
                <a:lnTo>
                  <a:pt x="450595" y="289814"/>
                </a:lnTo>
                <a:lnTo>
                  <a:pt x="450595" y="384302"/>
                </a:lnTo>
                <a:lnTo>
                  <a:pt x="598423" y="195326"/>
                </a:lnTo>
                <a:lnTo>
                  <a:pt x="450595" y="6350"/>
                </a:lnTo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00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marL="0" marR="0" lvl="0" indent="0" algn="ctr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等线 Light" panose="02010600030101010101" charset="-122"/>
              <a:cs typeface="+mj-cs"/>
              <a:sym typeface="Helvetic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4386" y="4941168"/>
            <a:ext cx="907300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Bef>
                <a:spcPct val="0"/>
              </a:spcBef>
            </a:pPr>
            <a:r>
              <a:rPr lang="zh-CN" altLang="en-US" sz="2400" b="1" dirty="0"/>
              <a:t>结论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 ：</a:t>
            </a:r>
            <a:r>
              <a:rPr lang="en-US" altLang="zh-CN" sz="2400" b="1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If the input random process is a Gaussian process, then the output random process is also a Gaussian process.</a:t>
            </a:r>
          </a:p>
          <a:p>
            <a:pPr lvl="0">
              <a:spcBef>
                <a:spcPct val="0"/>
              </a:spcBef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   (</a:t>
            </a:r>
            <a:r>
              <a:rPr lang="zh-CN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如果线性系统输入过程是高斯的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,</a:t>
            </a:r>
            <a:r>
              <a:rPr lang="zh-CN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则系统的输出过程也是高斯的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endParaRPr lang="zh-CN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307" y="3140968"/>
            <a:ext cx="2528319" cy="499334"/>
          </a:xfrm>
          <a:prstGeom prst="rect">
            <a:avLst/>
          </a:prstGeom>
        </p:spPr>
      </p:pic>
      <p:pic>
        <p:nvPicPr>
          <p:cNvPr id="16" name="Object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5723" y="4408955"/>
            <a:ext cx="941388" cy="500063"/>
          </a:xfrm>
          <a:noFill/>
          <a:ln w="38100">
            <a:noFill/>
            <a:miter/>
          </a:ln>
        </p:spPr>
      </p:pic>
      <p:sp>
        <p:nvSpPr>
          <p:cNvPr id="17" name="矩形 16"/>
          <p:cNvSpPr/>
          <p:nvPr/>
        </p:nvSpPr>
        <p:spPr>
          <a:xfrm>
            <a:off x="6804248" y="4480393"/>
            <a:ext cx="1466850" cy="4000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l"/>
              <a:defRPr sz="3200" b="1">
                <a:solidFill>
                  <a:schemeClr val="tx1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p"/>
              <a:defRPr sz="2200">
                <a:solidFill>
                  <a:schemeClr val="tx1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Ø"/>
              <a:defRPr sz="2200">
                <a:solidFill>
                  <a:schemeClr val="tx1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是功率增益</a:t>
            </a:r>
            <a:endParaRPr lang="zh-CN" altLang="en-US" sz="2000" b="0" dirty="0">
              <a:latin typeface="Tahoma" panose="020B0604030504040204" pitchFamily="34" charset="0"/>
              <a:ea typeface="微软雅黑" panose="020B0503020204020204" charset="-122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7071" y="4399219"/>
            <a:ext cx="942982" cy="504829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9552" y="334466"/>
            <a:ext cx="7886700" cy="1325563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2" y="1080092"/>
            <a:ext cx="8963172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zh-CN" altLang="zh-C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Processes Passing through Linear Systems</a:t>
            </a:r>
            <a:endParaRPr kumimoji="1" lang="zh-CN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2"/>
          <p:cNvSpPr>
            <a:spLocks noGrp="1"/>
          </p:cNvSpPr>
          <p:nvPr/>
        </p:nvSpPr>
        <p:spPr>
          <a:xfrm>
            <a:off x="20230" y="268003"/>
            <a:ext cx="8712968" cy="736600"/>
          </a:xfrm>
          <a:prstGeom prst="rect">
            <a:avLst/>
          </a:prstGeom>
          <a:solidFill>
            <a:schemeClr val="accent1">
              <a:alpha val="25000"/>
            </a:schemeClr>
          </a:solidFill>
          <a:ln w="9525">
            <a:noFill/>
          </a:ln>
        </p:spPr>
        <p:txBody>
          <a:bodyPr vert="horz" wrap="square" lIns="91440" tIns="45720" rIns="91440" bIns="45720" anchor="ctr" anchorCtr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+mj-lt"/>
                <a:ea typeface="+mj-ea"/>
                <a:cs typeface="楷体_GB231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 Light" panose="02010600030101010101" charset="-122"/>
                <a:cs typeface="Times New Roman" panose="02020603050405020304" pitchFamily="18" charset="0"/>
              </a:rPr>
              <a:t>Chapter 2：Random Processes——Part II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2" y="1660029"/>
            <a:ext cx="9144000" cy="320506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7664" y="5100864"/>
            <a:ext cx="5976664" cy="135408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2280" y="5157192"/>
            <a:ext cx="504056" cy="398131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23495" y="2785745"/>
            <a:ext cx="6493510" cy="2209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TW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5560" y="3573145"/>
            <a:ext cx="6493510" cy="2209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TW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124075" y="3006725"/>
            <a:ext cx="637540" cy="4152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TW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8532495" y="2348865"/>
            <a:ext cx="637540" cy="5391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TW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主题">
  <a:themeElements>
    <a:clrScheme name="Office 2013 - 2022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主题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通信原理二">
  <a:themeElements>
    <a:clrScheme name="通信原理二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通信原理二">
      <a:majorFont>
        <a:latin typeface="Times New Roman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rnd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rnd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通信原理二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通信原理二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通信原理二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通信原理二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通信原理二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通信原理二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通信原理二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</TotalTime>
  <Pages>46</Pages>
  <Words>1957</Words>
  <Application>Microsoft Office PowerPoint</Application>
  <PresentationFormat>全屏显示(4:3)</PresentationFormat>
  <Paragraphs>172</Paragraphs>
  <Slides>33</Slides>
  <Notes>8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33</vt:i4>
      </vt:variant>
    </vt:vector>
  </HeadingPairs>
  <TitlesOfParts>
    <vt:vector size="48" baseType="lpstr">
      <vt:lpstr>黑体</vt:lpstr>
      <vt:lpstr>宋体</vt:lpstr>
      <vt:lpstr>微软雅黑</vt:lpstr>
      <vt:lpstr>Arial</vt:lpstr>
      <vt:lpstr>Calibri</vt:lpstr>
      <vt:lpstr>Calibri Light</vt:lpstr>
      <vt:lpstr>Comic Sans MS</vt:lpstr>
      <vt:lpstr>Tahoma</vt:lpstr>
      <vt:lpstr>Times New Roman</vt:lpstr>
      <vt:lpstr>Wingdings</vt:lpstr>
      <vt:lpstr>Office 2013 - 2022 主题</vt:lpstr>
      <vt:lpstr>通信原理二</vt:lpstr>
      <vt:lpstr>MathType 7.0 Equation</vt:lpstr>
      <vt:lpstr>Equation</vt:lpstr>
      <vt:lpstr>Equation.3</vt:lpstr>
      <vt:lpstr>  Principles of communications     Chapter2  Random processes— Part II                                                                                 </vt:lpstr>
      <vt:lpstr>知识点回顾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</vt:lpstr>
      <vt:lpstr> </vt:lpstr>
      <vt:lpstr> </vt:lpstr>
      <vt:lpstr> </vt:lpstr>
      <vt:lpstr> </vt:lpstr>
      <vt:lpstr> </vt:lpstr>
      <vt:lpstr> </vt:lpstr>
      <vt:lpstr> </vt:lpstr>
      <vt:lpstr>PowerPoint 演示文稿</vt:lpstr>
      <vt:lpstr>PowerPoint 演示文稿</vt:lpstr>
      <vt:lpstr> </vt:lpstr>
      <vt:lpstr> </vt:lpstr>
      <vt:lpstr> </vt:lpstr>
      <vt:lpstr>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</vt:lpstr>
      <vt:lpstr> 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Implementation of Bluetooth Technology</dc:title>
  <dc:subject>Bluetooth</dc:subject>
  <dc:creator>Ming, Zi Corporation</dc:creator>
  <cp:lastModifiedBy>Z YP</cp:lastModifiedBy>
  <cp:revision>830</cp:revision>
  <cp:lastPrinted>2022-09-05T03:10:00Z</cp:lastPrinted>
  <dcterms:created xsi:type="dcterms:W3CDTF">2022-09-02T08:02:00Z</dcterms:created>
  <dcterms:modified xsi:type="dcterms:W3CDTF">2026-09-16T02:05:54Z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216A5180C09033D1D3971163F861D99A</vt:lpwstr>
  </property>
  <property fmtid="{D5CDD505-2E9C-101B-9397-08002B2CF9AE}" pid="3" name="KSOProductBuildVer">
    <vt:lpwstr>2052-12.1.0.28043</vt:lpwstr>
  </property>
</Properties>
</file>