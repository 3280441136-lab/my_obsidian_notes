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8" r:id="rId3"/>
  </p:sldMasterIdLst>
  <p:notesMasterIdLst>
    <p:notesMasterId r:id="rId44"/>
  </p:notesMasterIdLst>
  <p:sldIdLst>
    <p:sldId id="941" r:id="rId4"/>
    <p:sldId id="299" r:id="rId5"/>
    <p:sldId id="945" r:id="rId6"/>
    <p:sldId id="944" r:id="rId7"/>
    <p:sldId id="963" r:id="rId8"/>
    <p:sldId id="964" r:id="rId9"/>
    <p:sldId id="991" r:id="rId10"/>
    <p:sldId id="955" r:id="rId11"/>
    <p:sldId id="943" r:id="rId12"/>
    <p:sldId id="968" r:id="rId13"/>
    <p:sldId id="967" r:id="rId14"/>
    <p:sldId id="965" r:id="rId15"/>
    <p:sldId id="947" r:id="rId16"/>
    <p:sldId id="949" r:id="rId17"/>
    <p:sldId id="951" r:id="rId18"/>
    <p:sldId id="953" r:id="rId19"/>
    <p:sldId id="966" r:id="rId20"/>
    <p:sldId id="950" r:id="rId21"/>
    <p:sldId id="971" r:id="rId22"/>
    <p:sldId id="972" r:id="rId23"/>
    <p:sldId id="969" r:id="rId24"/>
    <p:sldId id="989" r:id="rId25"/>
    <p:sldId id="983" r:id="rId26"/>
    <p:sldId id="992" r:id="rId27"/>
    <p:sldId id="981" r:id="rId28"/>
    <p:sldId id="986" r:id="rId29"/>
    <p:sldId id="982" r:id="rId30"/>
    <p:sldId id="978" r:id="rId31"/>
    <p:sldId id="977" r:id="rId32"/>
    <p:sldId id="975" r:id="rId33"/>
    <p:sldId id="979" r:id="rId34"/>
    <p:sldId id="976" r:id="rId35"/>
    <p:sldId id="962" r:id="rId36"/>
    <p:sldId id="257" r:id="rId37"/>
    <p:sldId id="256" r:id="rId38"/>
    <p:sldId id="946" r:id="rId39"/>
    <p:sldId id="987" r:id="rId40"/>
    <p:sldId id="961" r:id="rId41"/>
    <p:sldId id="980" r:id="rId42"/>
    <p:sldId id="988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1" autoAdjust="0"/>
    <p:restoredTop sz="95625" autoAdjust="0"/>
  </p:normalViewPr>
  <p:slideViewPr>
    <p:cSldViewPr snapToGrid="0" showGuides="1">
      <p:cViewPr>
        <p:scale>
          <a:sx n="66" d="100"/>
          <a:sy n="66" d="100"/>
        </p:scale>
        <p:origin x="1896" y="708"/>
      </p:cViewPr>
      <p:guideLst>
        <p:guide orient="horz" pos="208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50F20-925B-4ADA-AB81-8FA3797DAB4C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3AC03-22CF-46EF-BC4D-CA7BF2CFFA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通俗解释，一定要一针见血讲透彻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5E5C-9530-2384-2227-00E813C07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B38E5B-4FC3-E143-7FF7-7F97EF88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A80668-3F55-5C00-B41E-8866D9C62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92DF94-06F5-29C1-8411-665F5B9F1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20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FA3AC03-22CF-46EF-BC4D-CA7BF2CFFA6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AC03-22CF-46EF-BC4D-CA7BF2CFFA6E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1219200"/>
            <a:ext cx="395605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95605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5715000" cy="762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1" y="1219200"/>
            <a:ext cx="3956050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956050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5715000" cy="762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1219200"/>
            <a:ext cx="3956050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956050" cy="2362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3956050" cy="2362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2138" y="936627"/>
            <a:ext cx="7887066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95" name="文本框 9"/>
          <p:cNvSpPr txBox="1"/>
          <p:nvPr userDrawn="1"/>
        </p:nvSpPr>
        <p:spPr>
          <a:xfrm>
            <a:off x="263524" y="285752"/>
            <a:ext cx="6685916" cy="173186"/>
          </a:xfrm>
          <a:prstGeom prst="rect">
            <a:avLst/>
          </a:prstGeom>
          <a:ln w="12700">
            <a:miter lim="400000"/>
          </a:ln>
        </p:spPr>
        <p:txBody>
          <a:bodyPr lIns="25716" tIns="25716" rIns="25716" bIns="25716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790">
                <a:solidFill>
                  <a:schemeClr val="tx2"/>
                </a:solidFill>
              </a:rPr>
              <a:t>Principle of Communications  Chapter 1 Introduction part </a:t>
            </a:r>
            <a:r>
              <a:rPr lang="en-US" sz="790">
                <a:solidFill>
                  <a:schemeClr val="tx2"/>
                </a:solidFill>
              </a:rPr>
              <a:t>2</a:t>
            </a:r>
            <a:r>
              <a:rPr sz="79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113776" y="6435958"/>
            <a:ext cx="401970" cy="20591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normAutofit/>
          </a:bodyPr>
          <a:lstStyle>
            <a:lvl1pPr algn="r">
              <a:defRPr sz="675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>
              <a:defRPr/>
            </a:pPr>
            <a:fld id="{F891B897-4A42-48FA-975F-8C0ADFEBCFB3}" type="slidenum">
              <a:rPr lang="en-US" altLang="zh-CN"/>
              <a:t>‹#›</a:t>
            </a:fld>
            <a:r>
              <a:rPr lang="en-US" altLang="zh-CN"/>
              <a:t>/38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185212" y="6418580"/>
            <a:ext cx="330534" cy="22328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/>
          <a:lstStyle>
            <a:lvl1pPr defTabSz="914400">
              <a:defRPr sz="4400"/>
            </a:lvl1pPr>
          </a:lstStyle>
          <a:p>
            <a:r>
              <a:t>标题文本</a:t>
            </a:r>
          </a:p>
        </p:txBody>
      </p:sp>
      <p:sp>
        <p:nvSpPr>
          <p:cNvPr id="209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5775" y="1825625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/>
            </a:lvl1pPr>
            <a:lvl2pPr marL="723900" indent="-266700" defTabSz="914400">
              <a:spcBef>
                <a:spcPts val="1000"/>
              </a:spcBef>
              <a:defRPr sz="2800"/>
            </a:lvl2pPr>
            <a:lvl3pPr marL="1234440" indent="-320040" defTabSz="914400">
              <a:spcBef>
                <a:spcPts val="1000"/>
              </a:spcBef>
              <a:defRPr sz="2800"/>
            </a:lvl3pPr>
            <a:lvl4pPr marL="1727200" indent="-355600" defTabSz="914400">
              <a:spcBef>
                <a:spcPts val="1000"/>
              </a:spcBef>
              <a:defRPr sz="2800"/>
            </a:lvl4pPr>
            <a:lvl5pPr marL="2184400" indent="-355600" defTabSz="914400">
              <a:spcBef>
                <a:spcPts val="10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10144" y="6414761"/>
            <a:ext cx="505207" cy="248303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/>
          <a:lstStyle>
            <a:lvl1pPr defTabSz="914400">
              <a:defRPr sz="4400"/>
            </a:lvl1pPr>
          </a:lstStyle>
          <a:p>
            <a:r>
              <a:t>标题文本</a:t>
            </a:r>
          </a:p>
        </p:txBody>
      </p:sp>
      <p:sp>
        <p:nvSpPr>
          <p:cNvPr id="28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5775" y="1825625"/>
            <a:ext cx="78867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/>
            </a:lvl1pPr>
            <a:lvl2pPr marL="723900" indent="-266700" defTabSz="914400">
              <a:spcBef>
                <a:spcPts val="1000"/>
              </a:spcBef>
              <a:defRPr sz="2800"/>
            </a:lvl2pPr>
            <a:lvl3pPr marL="1234440" indent="-320040" defTabSz="914400">
              <a:spcBef>
                <a:spcPts val="1000"/>
              </a:spcBef>
              <a:defRPr sz="2800"/>
            </a:lvl3pPr>
            <a:lvl4pPr marL="1727200" indent="-355600" defTabSz="914400">
              <a:spcBef>
                <a:spcPts val="1000"/>
              </a:spcBef>
              <a:defRPr sz="2800"/>
            </a:lvl4pPr>
            <a:lvl5pPr marL="2184400" indent="-355600" defTabSz="914400">
              <a:spcBef>
                <a:spcPts val="10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8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58912" y="6414761"/>
            <a:ext cx="456439" cy="2483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单击此处添加标题"/>
          <p:cNvSpPr txBox="1">
            <a:spLocks noGrp="1"/>
          </p:cNvSpPr>
          <p:nvPr>
            <p:ph type="title" hasCustomPrompt="1"/>
          </p:nvPr>
        </p:nvSpPr>
        <p:spPr>
          <a:xfrm>
            <a:off x="1143000" y="1322961"/>
            <a:ext cx="6858000" cy="2187002"/>
          </a:xfrm>
          <a:prstGeom prst="rect">
            <a:avLst/>
          </a:prstGeom>
        </p:spPr>
        <p:txBody>
          <a:bodyPr anchor="b"/>
          <a:lstStyle>
            <a:lvl1pPr algn="ctr" defTabSz="914400">
              <a:lnSpc>
                <a:spcPct val="130000"/>
              </a:lnSpc>
              <a:defRPr sz="6000"/>
            </a:lvl1pPr>
          </a:lstStyle>
          <a:p>
            <a:r>
              <a:t>单击此处添加标题</a:t>
            </a:r>
          </a:p>
        </p:txBody>
      </p:sp>
      <p:sp>
        <p:nvSpPr>
          <p:cNvPr id="35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3602037"/>
            <a:ext cx="6858000" cy="1655764"/>
          </a:xfrm>
          <a:prstGeom prst="rect">
            <a:avLst/>
          </a:prstGeom>
        </p:spPr>
        <p:txBody>
          <a:bodyPr/>
          <a:lstStyle>
            <a:lvl1pPr marL="0" indent="0" algn="ctr" defTabSz="914400">
              <a:spcBef>
                <a:spcPts val="1000"/>
              </a:spcBef>
              <a:buSzTx/>
              <a:buFontTx/>
              <a:buNone/>
              <a:defRPr sz="2400">
                <a:latin typeface="+mj-lt"/>
                <a:ea typeface="+mj-ea"/>
                <a:cs typeface="+mj-cs"/>
                <a:sym typeface="Helvetica"/>
              </a:defRPr>
            </a:lvl1pPr>
            <a:lvl2pPr marL="0" indent="0" algn="ctr" defTabSz="914400">
              <a:spcBef>
                <a:spcPts val="1000"/>
              </a:spcBef>
              <a:buSzTx/>
              <a:buFontTx/>
              <a:buNone/>
              <a:defRPr sz="2400">
                <a:latin typeface="+mj-lt"/>
                <a:ea typeface="+mj-ea"/>
                <a:cs typeface="+mj-cs"/>
                <a:sym typeface="Helvetica"/>
              </a:defRPr>
            </a:lvl2pPr>
            <a:lvl3pPr marL="0" indent="0" algn="ctr" defTabSz="914400">
              <a:spcBef>
                <a:spcPts val="1000"/>
              </a:spcBef>
              <a:buSzTx/>
              <a:buFontTx/>
              <a:buNone/>
              <a:defRPr sz="2400">
                <a:latin typeface="+mj-lt"/>
                <a:ea typeface="+mj-ea"/>
                <a:cs typeface="+mj-cs"/>
                <a:sym typeface="Helvetica"/>
              </a:defRPr>
            </a:lvl3pPr>
            <a:lvl4pPr marL="0" indent="0" algn="ctr" defTabSz="914400">
              <a:spcBef>
                <a:spcPts val="1000"/>
              </a:spcBef>
              <a:buSzTx/>
              <a:buFontTx/>
              <a:buNone/>
              <a:defRPr sz="2400">
                <a:latin typeface="+mj-lt"/>
                <a:ea typeface="+mj-ea"/>
                <a:cs typeface="+mj-cs"/>
                <a:sym typeface="Helvetica"/>
              </a:defRPr>
            </a:lvl4pPr>
            <a:lvl5pPr marL="0" indent="0" algn="ctr" defTabSz="914400">
              <a:spcBef>
                <a:spcPts val="1000"/>
              </a:spcBef>
              <a:buSzTx/>
              <a:buFontTx/>
              <a:buNone/>
              <a:defRPr sz="2400"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单击此处添加副标题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01000" y="6414761"/>
            <a:ext cx="514351" cy="2483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754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5219" y="133"/>
            <a:ext cx="2878783" cy="87863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4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5775" y="1825625"/>
            <a:ext cx="78867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144256" y="6435956"/>
            <a:ext cx="371095" cy="20591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单击此处添加标题"/>
          <p:cNvSpPr txBox="1">
            <a:spLocks noGrp="1"/>
          </p:cNvSpPr>
          <p:nvPr>
            <p:ph type="title" hasCustomPrompt="1"/>
          </p:nvPr>
        </p:nvSpPr>
        <p:spPr>
          <a:xfrm>
            <a:off x="1143000" y="1322961"/>
            <a:ext cx="6858000" cy="2187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30000"/>
              </a:lnSpc>
              <a:defRPr sz="4500"/>
            </a:lvl1pPr>
          </a:lstStyle>
          <a:p>
            <a:r>
              <a:t>单击此处添加标题</a:t>
            </a:r>
          </a:p>
        </p:txBody>
      </p:sp>
      <p:sp>
        <p:nvSpPr>
          <p:cNvPr id="51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3602037"/>
            <a:ext cx="6858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>
                <a:latin typeface="+mj-lt"/>
                <a:ea typeface="+mj-ea"/>
                <a:cs typeface="+mj-cs"/>
                <a:sym typeface="Helvetica"/>
              </a:defRPr>
            </a:lvl1pPr>
            <a:lvl2pPr marL="0" indent="0" algn="ctr">
              <a:buSzTx/>
              <a:buFontTx/>
              <a:buNone/>
              <a:defRPr sz="1800">
                <a:latin typeface="+mj-lt"/>
                <a:ea typeface="+mj-ea"/>
                <a:cs typeface="+mj-cs"/>
                <a:sym typeface="Helvetica"/>
              </a:defRPr>
            </a:lvl2pPr>
            <a:lvl3pPr marL="0" indent="0" algn="ctr">
              <a:buSzTx/>
              <a:buFontTx/>
              <a:buNone/>
              <a:defRPr sz="1800">
                <a:latin typeface="+mj-lt"/>
                <a:ea typeface="+mj-ea"/>
                <a:cs typeface="+mj-cs"/>
                <a:sym typeface="Helvetica"/>
              </a:defRPr>
            </a:lvl3pPr>
            <a:lvl4pPr marL="0" indent="0" algn="ctr">
              <a:buSzTx/>
              <a:buFontTx/>
              <a:buNone/>
              <a:defRPr sz="1800">
                <a:latin typeface="+mj-lt"/>
                <a:ea typeface="+mj-ea"/>
                <a:cs typeface="+mj-cs"/>
                <a:sym typeface="Helvetica"/>
              </a:defRPr>
            </a:lvl4pPr>
            <a:lvl5pPr marL="0" indent="0" algn="ctr">
              <a:buSzTx/>
              <a:buFontTx/>
              <a:buNone/>
              <a:defRPr sz="1800"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单击此处添加副标题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58912" y="6435956"/>
            <a:ext cx="456439" cy="20591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5775" y="1825625"/>
            <a:ext cx="78867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2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95488" y="6435956"/>
            <a:ext cx="419863" cy="20591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59" y="133"/>
            <a:ext cx="2999745" cy="936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4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85775" y="1825625"/>
            <a:ext cx="38862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083296" y="6435956"/>
            <a:ext cx="432055" cy="20591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  <p:sp>
        <p:nvSpPr>
          <p:cNvPr id="1195" name="文本框 9"/>
          <p:cNvSpPr txBox="1"/>
          <p:nvPr userDrawn="1"/>
        </p:nvSpPr>
        <p:spPr>
          <a:xfrm>
            <a:off x="263524" y="285751"/>
            <a:ext cx="6685916" cy="3054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>
                <a:solidFill>
                  <a:schemeClr val="tx2"/>
                </a:solidFill>
              </a:rPr>
              <a:t>Principle of Communications  Chapter 1 Introduction part 1 </a:t>
            </a:r>
          </a:p>
        </p:txBody>
      </p:sp>
      <p:pic>
        <p:nvPicPr>
          <p:cNvPr id="838" name="图片 1" descr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909" y="133"/>
            <a:ext cx="2878783" cy="87863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143000" y="304800"/>
            <a:ext cx="57150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lstStyle/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9751" y="1219200"/>
            <a:ext cx="80645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first</a:t>
            </a:r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second</a:t>
            </a:r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third</a:t>
            </a:r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forth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248400"/>
            <a:ext cx="4343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350" b="0">
                <a:solidFill>
                  <a:srgbClr val="FF00FF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FF00FF"/>
                </a:solidFill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/110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257175" indent="-257175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Blip>
          <a:blip r:embed="rId9"/>
        </a:buBlip>
        <a:defRPr sz="2100" b="1">
          <a:solidFill>
            <a:schemeClr val="tx1"/>
          </a:solidFill>
          <a:latin typeface="+mn-lt"/>
          <a:ea typeface="+mn-ea"/>
          <a:cs typeface="楷体_GB2312"/>
        </a:defRPr>
      </a:lvl1pPr>
      <a:lvl2pPr marL="557530" indent="-21463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楷体_GB2312"/>
        </a:defRPr>
      </a:lvl2pPr>
      <a:lvl3pPr marL="8572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0000FF"/>
        </a:buClr>
        <a:buFont typeface="Wingdings" panose="05000000000000000000" pitchFamily="2" charset="2"/>
        <a:buChar char="Ø"/>
        <a:defRPr sz="1650" b="1">
          <a:solidFill>
            <a:schemeClr val="tx1"/>
          </a:solidFill>
          <a:latin typeface="+mn-lt"/>
          <a:ea typeface="+mn-ea"/>
          <a:cs typeface="楷体_GB2312"/>
        </a:defRPr>
      </a:lvl3pPr>
      <a:lvl4pPr marL="12001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Char char="•"/>
        <a:defRPr sz="1500" b="1">
          <a:solidFill>
            <a:schemeClr val="tx1"/>
          </a:solidFill>
          <a:latin typeface="+mn-lt"/>
          <a:ea typeface="+mn-ea"/>
          <a:cs typeface="楷体_GB2312"/>
        </a:defRPr>
      </a:lvl4pPr>
      <a:lvl5pPr marL="15430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  <a:ea typeface="宋体" panose="02010600030101010101" pitchFamily="2" charset="-122"/>
          <a:cs typeface="楷体_GB2312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85798" y="258445"/>
            <a:ext cx="7887066" cy="13255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85798" y="1825625"/>
            <a:ext cx="7887066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113776" y="6435956"/>
            <a:ext cx="401970" cy="20591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normAutofit/>
          </a:bodyPr>
          <a:lstStyle>
            <a:lvl1pPr algn="r">
              <a:defRPr sz="9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r>
              <a:rPr lang="en-US" altLang="zh-CN" dirty="0"/>
              <a:t>/38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ransition spd="med"/>
  <p:hf hdr="0" ftr="0" dt="0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25260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832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4404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8976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2100" b="0" i="0" u="none" strike="noStrike" cap="none" spc="0" baseline="0">
          <a:solidFill>
            <a:srgbClr val="40404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9.wmf"/><Relationship Id="rId3" Type="http://schemas.openxmlformats.org/officeDocument/2006/relationships/image" Target="../media/image56.png"/><Relationship Id="rId7" Type="http://schemas.openxmlformats.org/officeDocument/2006/relationships/image" Target="../media/image51.png"/><Relationship Id="rId12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Relationship Id="rId1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9.wmf"/><Relationship Id="rId3" Type="http://schemas.openxmlformats.org/officeDocument/2006/relationships/image" Target="../media/image56.png"/><Relationship Id="rId7" Type="http://schemas.openxmlformats.org/officeDocument/2006/relationships/image" Target="../media/image51.png"/><Relationship Id="rId12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Relationship Id="rId1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emf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2.png"/><Relationship Id="rId4" Type="http://schemas.openxmlformats.org/officeDocument/2006/relationships/notesSlide" Target="../notesSlides/notesSlide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7563" y="762524"/>
            <a:ext cx="9016437" cy="571500"/>
          </a:xfrm>
        </p:spPr>
        <p:txBody>
          <a:bodyPr vert="horz" wrap="square" lIns="68580" tIns="34290" rIns="68580" bIns="34290" anchor="ctr" anchorCtr="1"/>
          <a:lstStyle/>
          <a:p>
            <a:pPr eaLnBrk="1" hangingPunct="1">
              <a:buNone/>
            </a:pPr>
            <a:r>
              <a:rPr lang="en-US" altLang="zh-CN" sz="3600" dirty="0">
                <a:solidFill>
                  <a:schemeClr val="tx1"/>
                </a:solidFill>
                <a:latin typeface="Comic Sans MS" panose="030F0702030302020204" pitchFamily="66" charset="0"/>
              </a:rPr>
              <a:t>Chapter 4 Continuous-Wave Modulation (</a:t>
            </a:r>
            <a:r>
              <a:rPr lang="zh-CN" altLang="en-US" sz="3600" dirty="0">
                <a:solidFill>
                  <a:schemeClr val="bg2">
                    <a:lumMod val="75000"/>
                  </a:schemeClr>
                </a:solidFill>
                <a:latin typeface="Comic Sans MS" panose="030F0702030302020204" pitchFamily="66" charset="0"/>
              </a:rPr>
              <a:t>连续波调制</a:t>
            </a:r>
            <a:r>
              <a:rPr lang="en-US" altLang="zh-CN" sz="3600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  <a:endParaRPr lang="zh-CN" altLang="en-US" sz="36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02" y="4664793"/>
            <a:ext cx="8758897" cy="209194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1802" y="1771831"/>
            <a:ext cx="9632663" cy="270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+mj-lt"/>
              </a:rPr>
              <a:t>Linear modulation: 线性调制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mplitude modulation (AM)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调幅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ouble-sideband modulation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(DSB)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双边带调制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ingle-sideband modulation (SSB)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estigital-sideband modulation(VSB)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内容占位符 2"/>
          <p:cNvSpPr txBox="1">
            <a:spLocks noGrp="1"/>
          </p:cNvSpPr>
          <p:nvPr>
            <p:ph type="body" idx="1"/>
          </p:nvPr>
        </p:nvSpPr>
        <p:spPr>
          <a:xfrm>
            <a:off x="362362" y="1184805"/>
            <a:ext cx="7886700" cy="4351338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r>
              <a:rPr lang="en-US" altLang="zh-CN" sz="2800" dirty="0"/>
              <a:t>Analog communication system</a:t>
            </a:r>
          </a:p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endParaRPr dirty="0"/>
          </a:p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endParaRPr dirty="0"/>
          </a:p>
          <a:p>
            <a:pPr marL="0" indent="0">
              <a:buSzTx/>
              <a:buNone/>
              <a:defRPr sz="2000"/>
            </a:pPr>
            <a:endParaRPr dirty="0"/>
          </a:p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endParaRPr dirty="0"/>
          </a:p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endParaRPr dirty="0"/>
          </a:p>
          <a:p>
            <a:pPr>
              <a:buClr>
                <a:srgbClr val="4472C4"/>
              </a:buClr>
              <a:buSzPct val="70000"/>
              <a:buFontTx/>
              <a:buChar char="◆"/>
              <a:defRPr sz="2000"/>
            </a:pPr>
            <a:endParaRPr dirty="0"/>
          </a:p>
          <a:p>
            <a:pPr marL="0" indent="0">
              <a:buClr>
                <a:srgbClr val="4472C4"/>
              </a:buClr>
              <a:buSzPct val="70000"/>
              <a:buNone/>
              <a:defRPr sz="2000"/>
            </a:pPr>
            <a:r>
              <a:rPr lang="en-US" altLang="zh-CN" sz="2800" dirty="0"/>
              <a:t> Modulation and  demodulation</a:t>
            </a:r>
            <a:r>
              <a:rPr lang="zh-CN" altLang="en-US" sz="2800" dirty="0"/>
              <a:t>？</a:t>
            </a:r>
            <a:endParaRPr lang="en-US" sz="2800" dirty="0"/>
          </a:p>
        </p:txBody>
      </p:sp>
      <p:pic>
        <p:nvPicPr>
          <p:cNvPr id="36" name="内容占位符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5841" y="4689009"/>
            <a:ext cx="2080967" cy="13604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177" y="4720501"/>
            <a:ext cx="2676449" cy="1379976"/>
          </a:xfrm>
          <a:prstGeom prst="rect">
            <a:avLst/>
          </a:prstGeom>
        </p:spPr>
      </p:pic>
      <p:pic>
        <p:nvPicPr>
          <p:cNvPr id="43" name="图片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210" y="4720501"/>
            <a:ext cx="2943592" cy="136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左大括号 43"/>
          <p:cNvSpPr/>
          <p:nvPr/>
        </p:nvSpPr>
        <p:spPr bwMode="auto">
          <a:xfrm rot="16200000">
            <a:off x="3042535" y="4811619"/>
            <a:ext cx="302008" cy="2879725"/>
          </a:xfrm>
          <a:prstGeom prst="leftBrace">
            <a:avLst>
              <a:gd name="adj1" fmla="val 8351"/>
              <a:gd name="adj2" fmla="val 50000"/>
            </a:avLst>
          </a:prstGeom>
          <a:noFill/>
          <a:ln w="12700" cap="rnd" algn="ctr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6"/>
              </a:buBlip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Helvetic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64351" y="6400785"/>
            <a:ext cx="4572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j-ea"/>
                <a:cs typeface="Helvetica"/>
                <a:sym typeface="Helvetica"/>
              </a:rPr>
              <a:t>Wired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57591" y="6100477"/>
            <a:ext cx="1489435" cy="369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j-ea"/>
                <a:cs typeface="Helvetica"/>
                <a:sym typeface="Helvetica"/>
              </a:rPr>
              <a:t>Wireless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j-ea"/>
              <a:cs typeface="Helvetica"/>
              <a:sym typeface="Helvetica"/>
            </a:endParaRPr>
          </a:p>
        </p:txBody>
      </p:sp>
      <p:sp>
        <p:nvSpPr>
          <p:cNvPr id="3" name="矩形"/>
          <p:cNvSpPr/>
          <p:nvPr/>
        </p:nvSpPr>
        <p:spPr>
          <a:xfrm>
            <a:off x="2258754" y="2388323"/>
            <a:ext cx="1445895" cy="767080"/>
          </a:xfrm>
          <a:prstGeom prst="rect">
            <a:avLst/>
          </a:prstGeom>
          <a:solidFill>
            <a:srgbClr val="9DC3E6"/>
          </a:solidFill>
          <a:ln w="9525" cap="flat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modulator"/>
          <p:cNvSpPr txBox="1"/>
          <p:nvPr/>
        </p:nvSpPr>
        <p:spPr>
          <a:xfrm>
            <a:off x="2186078" y="2388513"/>
            <a:ext cx="1527810" cy="7054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45718" tIns="45718" rIns="45718" bIns="45718" numCol="1" anchor="ctr">
            <a:spAutoFit/>
          </a:bodyPr>
          <a:lstStyle>
            <a:lvl1pPr algn="ctr">
              <a:defRPr sz="1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M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odulat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ion</a:t>
            </a:r>
          </a:p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rPr>
              <a:t>调制</a:t>
            </a:r>
          </a:p>
        </p:txBody>
      </p:sp>
      <p:sp>
        <p:nvSpPr>
          <p:cNvPr id="6" name="矩形"/>
          <p:cNvSpPr/>
          <p:nvPr/>
        </p:nvSpPr>
        <p:spPr>
          <a:xfrm>
            <a:off x="5512494" y="2529293"/>
            <a:ext cx="1805940" cy="577850"/>
          </a:xfrm>
          <a:prstGeom prst="rect">
            <a:avLst/>
          </a:prstGeom>
          <a:solidFill>
            <a:srgbClr val="9DC3E6"/>
          </a:solidFill>
          <a:ln w="9525" cap="flat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demodulator"/>
          <p:cNvSpPr txBox="1"/>
          <p:nvPr/>
        </p:nvSpPr>
        <p:spPr>
          <a:xfrm>
            <a:off x="5521384" y="2449918"/>
            <a:ext cx="1833245" cy="7054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spAutoFit/>
          </a:bodyPr>
          <a:lstStyle>
            <a:lvl1pPr algn="ctr">
              <a:defRPr sz="12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emodulat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ion</a:t>
            </a:r>
          </a:p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  <a:sym typeface="Calibri" panose="020F0502020204030204"/>
              </a:rPr>
              <a:t>解调</a:t>
            </a:r>
          </a:p>
        </p:txBody>
      </p:sp>
      <p:grpSp>
        <p:nvGrpSpPr>
          <p:cNvPr id="8" name="Rectangle 4"/>
          <p:cNvGrpSpPr/>
          <p:nvPr/>
        </p:nvGrpSpPr>
        <p:grpSpPr>
          <a:xfrm>
            <a:off x="75090" y="2399506"/>
            <a:ext cx="1673128" cy="707882"/>
            <a:chOff x="0" y="-89889"/>
            <a:chExt cx="1046482" cy="686372"/>
          </a:xfrm>
        </p:grpSpPr>
        <p:sp>
          <p:nvSpPr>
            <p:cNvPr id="9" name="矩形"/>
            <p:cNvSpPr/>
            <p:nvPr/>
          </p:nvSpPr>
          <p:spPr>
            <a:xfrm>
              <a:off x="0" y="-89889"/>
              <a:ext cx="1046482" cy="686372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Source of…"/>
            <p:cNvSpPr txBox="1"/>
            <p:nvPr/>
          </p:nvSpPr>
          <p:spPr>
            <a:xfrm>
              <a:off x="96323" y="-89889"/>
              <a:ext cx="853830" cy="6863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8" tIns="45718" rIns="45718" bIns="45718" numCol="1" anchor="ctr">
              <a:spAutoFit/>
            </a:bodyPr>
            <a:lstStyle/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Source of </a:t>
              </a:r>
            </a:p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information</a:t>
              </a:r>
            </a:p>
          </p:txBody>
        </p:sp>
      </p:grpSp>
      <p:sp>
        <p:nvSpPr>
          <p:cNvPr id="11" name="Line 11"/>
          <p:cNvSpPr/>
          <p:nvPr/>
        </p:nvSpPr>
        <p:spPr>
          <a:xfrm flipV="1">
            <a:off x="1821239" y="2754083"/>
            <a:ext cx="365125" cy="2540"/>
          </a:xfrm>
          <a:prstGeom prst="line">
            <a:avLst/>
          </a:prstGeom>
          <a:solidFill>
            <a:srgbClr val="FFFFFF"/>
          </a:solidFill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grpSp>
        <p:nvGrpSpPr>
          <p:cNvPr id="12" name="Rectangle 9"/>
          <p:cNvGrpSpPr/>
          <p:nvPr/>
        </p:nvGrpSpPr>
        <p:grpSpPr>
          <a:xfrm>
            <a:off x="7271596" y="2493839"/>
            <a:ext cx="2155656" cy="1015660"/>
            <a:chOff x="-243607" y="39194"/>
            <a:chExt cx="1496793" cy="654534"/>
          </a:xfrm>
        </p:grpSpPr>
        <p:sp>
          <p:nvSpPr>
            <p:cNvPr id="13" name="矩形"/>
            <p:cNvSpPr/>
            <p:nvPr/>
          </p:nvSpPr>
          <p:spPr>
            <a:xfrm>
              <a:off x="7078" y="40890"/>
              <a:ext cx="1046484" cy="42481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User of…"/>
            <p:cNvSpPr txBox="1"/>
            <p:nvPr/>
          </p:nvSpPr>
          <p:spPr>
            <a:xfrm>
              <a:off x="-243607" y="39194"/>
              <a:ext cx="1496793" cy="6545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User of</a:t>
              </a:r>
            </a:p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information</a:t>
              </a:r>
            </a:p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" name="Line 12"/>
          <p:cNvSpPr/>
          <p:nvPr/>
        </p:nvSpPr>
        <p:spPr>
          <a:xfrm>
            <a:off x="7374314" y="2751543"/>
            <a:ext cx="238760" cy="2540"/>
          </a:xfrm>
          <a:prstGeom prst="line">
            <a:avLst/>
          </a:prstGeom>
          <a:solidFill>
            <a:srgbClr val="FFFFFF"/>
          </a:solidFill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grpSp>
        <p:nvGrpSpPr>
          <p:cNvPr id="16" name="Group 3"/>
          <p:cNvGrpSpPr/>
          <p:nvPr/>
        </p:nvGrpSpPr>
        <p:grpSpPr>
          <a:xfrm>
            <a:off x="4218372" y="2958128"/>
            <a:ext cx="717460" cy="638906"/>
            <a:chOff x="-1" y="-1"/>
            <a:chExt cx="717458" cy="638905"/>
          </a:xfrm>
        </p:grpSpPr>
        <p:grpSp>
          <p:nvGrpSpPr>
            <p:cNvPr id="17" name="Rectangle 10"/>
            <p:cNvGrpSpPr/>
            <p:nvPr/>
          </p:nvGrpSpPr>
          <p:grpSpPr>
            <a:xfrm>
              <a:off x="-1" y="315744"/>
              <a:ext cx="717458" cy="323160"/>
              <a:chOff x="-1" y="-650"/>
              <a:chExt cx="717456" cy="323158"/>
            </a:xfrm>
          </p:grpSpPr>
          <p:sp>
            <p:nvSpPr>
              <p:cNvPr id="19" name="圆角矩形"/>
              <p:cNvSpPr/>
              <p:nvPr/>
            </p:nvSpPr>
            <p:spPr>
              <a:xfrm>
                <a:off x="-1" y="0"/>
                <a:ext cx="717456" cy="321867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>
                    <a:solidFill>
                      <a:srgbClr val="44546A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  <a:endParaRPr kumimoji="0" sz="15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" name="Noise"/>
              <p:cNvSpPr txBox="1"/>
              <p:nvPr/>
            </p:nvSpPr>
            <p:spPr>
              <a:xfrm>
                <a:off x="87339" y="-650"/>
                <a:ext cx="542770" cy="3231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45718" tIns="45718" rIns="45718" bIns="45718" numCol="1" anchor="ctr">
                <a:spAutoFit/>
              </a:bodyPr>
              <a:lstStyle>
                <a:lvl1pPr algn="ctr">
                  <a:defRPr sz="1500">
                    <a:solidFill>
                      <a:srgbClr val="44546A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lvl1pPr>
              </a:lstStyle>
              <a:p>
                <a:pPr marL="0" marR="0" lvl="0" indent="0" algn="ctr" defTabSz="4572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5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Noise</a:t>
                </a:r>
              </a:p>
            </p:txBody>
          </p:sp>
        </p:grpSp>
        <p:sp>
          <p:nvSpPr>
            <p:cNvPr id="18" name="Line 15"/>
            <p:cNvSpPr/>
            <p:nvPr/>
          </p:nvSpPr>
          <p:spPr>
            <a:xfrm flipV="1">
              <a:off x="312710" y="-1"/>
              <a:ext cx="991" cy="316397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endParaRPr>
            </a:p>
          </p:txBody>
        </p:sp>
      </p:grpSp>
      <p:grpSp>
        <p:nvGrpSpPr>
          <p:cNvPr id="21" name="Rectangle 6"/>
          <p:cNvGrpSpPr/>
          <p:nvPr/>
        </p:nvGrpSpPr>
        <p:grpSpPr>
          <a:xfrm>
            <a:off x="4080569" y="2413685"/>
            <a:ext cx="1084580" cy="576618"/>
            <a:chOff x="-19121" y="-51377"/>
            <a:chExt cx="873197" cy="472384"/>
          </a:xfrm>
        </p:grpSpPr>
        <p:sp>
          <p:nvSpPr>
            <p:cNvPr id="22" name="圆角矩形"/>
            <p:cNvSpPr/>
            <p:nvPr/>
          </p:nvSpPr>
          <p:spPr>
            <a:xfrm>
              <a:off x="0" y="0"/>
              <a:ext cx="854076" cy="42100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Channel"/>
            <p:cNvSpPr txBox="1"/>
            <p:nvPr/>
          </p:nvSpPr>
          <p:spPr>
            <a:xfrm>
              <a:off x="-19121" y="-51377"/>
              <a:ext cx="773970" cy="3256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44546A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pPr marL="0" marR="0" lvl="0" indent="0" algn="ctr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Channel</a:t>
              </a:r>
            </a:p>
          </p:txBody>
        </p:sp>
      </p:grpSp>
      <p:sp>
        <p:nvSpPr>
          <p:cNvPr id="24" name="Line 13"/>
          <p:cNvSpPr/>
          <p:nvPr/>
        </p:nvSpPr>
        <p:spPr>
          <a:xfrm>
            <a:off x="5176579" y="2737573"/>
            <a:ext cx="299085" cy="635"/>
          </a:xfrm>
          <a:prstGeom prst="line">
            <a:avLst/>
          </a:prstGeom>
          <a:solidFill>
            <a:srgbClr val="FFFFFF"/>
          </a:solidFill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5" name="Line 13"/>
          <p:cNvSpPr/>
          <p:nvPr/>
        </p:nvSpPr>
        <p:spPr>
          <a:xfrm flipV="1">
            <a:off x="3710999" y="2729318"/>
            <a:ext cx="324485" cy="7620"/>
          </a:xfrm>
          <a:prstGeom prst="line">
            <a:avLst/>
          </a:prstGeom>
          <a:solidFill>
            <a:srgbClr val="FFFFFF"/>
          </a:solidFill>
          <a:ln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1180" y="4300855"/>
            <a:ext cx="727773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Goods need to be carried on different means of transport.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175125" y="57997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railway track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053455" y="31721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unload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478405" y="31721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"/>
                <a:cs typeface="Helvetica"/>
                <a:sym typeface="Helvetica"/>
              </a:rPr>
              <a:t>load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66895" y="511237"/>
            <a:ext cx="3851477" cy="52321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Review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：回顾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9574" y="56323"/>
            <a:ext cx="9213574" cy="76200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algn="l" defTabSz="457200" eaLnBrk="1" hangingPunct="1"/>
            <a:r>
              <a:rPr lang="en-US" altLang="zh-CN" sz="3200" kern="1200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  Modulation</a:t>
            </a:r>
            <a:r>
              <a:rPr lang="zh-CN" altLang="en-US" sz="3200" kern="1200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调制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219200"/>
            <a:ext cx="8440253" cy="4876800"/>
          </a:xfrm>
        </p:spPr>
        <p:txBody>
          <a:bodyPr/>
          <a:lstStyle/>
          <a:p>
            <a:r>
              <a:rPr lang="zh-CN" altLang="zh-CN" sz="2800" dirty="0"/>
              <a:t>Essence of Modulation </a:t>
            </a:r>
            <a:r>
              <a:rPr lang="zh-CN" altLang="en-US" sz="2800" dirty="0"/>
              <a:t>调制的本质</a:t>
            </a:r>
            <a:endParaRPr lang="en-US" altLang="zh-CN" sz="2800" dirty="0"/>
          </a:p>
          <a:p>
            <a:pPr marL="228600" indent="-2286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moves baseband information to high-frequency carrier for transmission.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278474"/>
            <a:ext cx="8736496" cy="3109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187" y="5581598"/>
            <a:ext cx="3021752" cy="11662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91" y="1188297"/>
            <a:ext cx="5242891" cy="176069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581" y="59553"/>
            <a:ext cx="8440253" cy="4876800"/>
          </a:xfrm>
        </p:spPr>
        <p:txBody>
          <a:bodyPr/>
          <a:lstStyle/>
          <a:p>
            <a:r>
              <a:rPr lang="zh-CN" altLang="zh-CN" sz="2800" dirty="0"/>
              <a:t>Purposes of Modulation</a:t>
            </a:r>
            <a:r>
              <a:rPr lang="en-US" altLang="zh-CN" sz="2800" dirty="0"/>
              <a:t> </a:t>
            </a:r>
            <a:r>
              <a:rPr lang="zh-CN" altLang="en-US" sz="2800" dirty="0"/>
              <a:t>目的</a:t>
            </a:r>
            <a:endParaRPr lang="zh-CN" altLang="zh-CN" sz="2800" dirty="0"/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Satisfy antenna size requirement</a:t>
            </a:r>
            <a:r>
              <a:rPr lang="zh-CN" altLang="zh-CN" sz="2400" dirty="0"/>
              <a:t>满足天线尺寸要求</a:t>
            </a:r>
            <a:endParaRPr lang="en-US" altLang="zh-CN" sz="2400" dirty="0"/>
          </a:p>
          <a:p>
            <a:pPr marL="0" lvl="0" indent="0" eaLnBrk="1" hangingPunct="1">
              <a:spcBef>
                <a:spcPts val="1000"/>
              </a:spcBef>
              <a:buNone/>
            </a:pPr>
            <a:endParaRPr lang="en-US" altLang="zh-CN" sz="24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ts val="1000"/>
              </a:spcBef>
              <a:buNone/>
            </a:pPr>
            <a:endParaRPr lang="zh-CN" altLang="zh-CN" sz="24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 frequency division multiplexing</a:t>
            </a:r>
            <a:r>
              <a:rPr lang="zh-CN" altLang="zh-CN" sz="2400" dirty="0"/>
              <a:t>实现频分复用</a:t>
            </a:r>
            <a:endParaRPr lang="en-US" altLang="zh-CN" sz="2400" dirty="0"/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zh-CN" sz="2400" dirty="0"/>
          </a:p>
          <a:p>
            <a:pPr marL="228600" lvl="0" indent="-228600" eaLnBrk="1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low-frequency interference</a:t>
            </a:r>
            <a:r>
              <a:rPr lang="zh-CN" altLang="zh-CN" sz="2400" dirty="0"/>
              <a:t>避开低频干扰</a:t>
            </a:r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638" y="3279913"/>
            <a:ext cx="4413126" cy="2107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226551" cy="124206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——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以语音信号为例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5" y="1392583"/>
            <a:ext cx="4842485" cy="20994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98425" y="5837853"/>
            <a:ext cx="93408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Speech is a low-frequency baseband signal with varying amplitude in time domain and spectrum within 200 Hz–3.4 kHz.</a:t>
            </a:r>
            <a:endParaRPr lang="zh-CN" altLang="en-US" sz="28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9" y="3986953"/>
            <a:ext cx="4785691" cy="1785017"/>
          </a:xfrm>
          <a:prstGeom prst="rect">
            <a:avLst/>
          </a:prstGeom>
        </p:spPr>
      </p:pic>
      <p:pic>
        <p:nvPicPr>
          <p:cNvPr id="18" name="Objec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481" y="2004165"/>
            <a:ext cx="1979612" cy="87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682" y="4272528"/>
            <a:ext cx="958008" cy="1031701"/>
          </a:xfrm>
          <a:prstGeom prst="rect">
            <a:avLst/>
          </a:prstGeom>
        </p:spPr>
      </p:pic>
      <p:sp>
        <p:nvSpPr>
          <p:cNvPr id="26" name="箭头: 右 25"/>
          <p:cNvSpPr/>
          <p:nvPr/>
        </p:nvSpPr>
        <p:spPr>
          <a:xfrm>
            <a:off x="5511248" y="2442315"/>
            <a:ext cx="780222" cy="26647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0" y="89244"/>
            <a:ext cx="9226551" cy="12420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——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以语音信号为例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5466523" y="4746224"/>
            <a:ext cx="780222" cy="26647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515100" y="5158580"/>
            <a:ext cx="2761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0</a:t>
            </a:r>
            <a:r>
              <a:rPr lang="en-US" altLang="zh-CN" sz="3200" i="1" dirty="0"/>
              <a:t>      </a:t>
            </a:r>
            <a:r>
              <a:rPr lang="en-US" altLang="zh-CN" sz="3200" i="1" dirty="0" err="1"/>
              <a:t>f</a:t>
            </a:r>
            <a:r>
              <a:rPr lang="en-US" altLang="zh-CN" dirty="0" err="1"/>
              <a:t>H</a:t>
            </a:r>
            <a:r>
              <a:rPr lang="en-US" altLang="zh-CN" sz="3600" dirty="0"/>
              <a:t>=3.4kHz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263781" y="2838016"/>
            <a:ext cx="2492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low-frequency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226551" cy="124206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——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以语音信号为例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5" y="1392583"/>
            <a:ext cx="4842485" cy="20994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98425" y="5837853"/>
            <a:ext cx="93408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Speech is a </a:t>
            </a:r>
            <a:r>
              <a:rPr lang="zh-CN" altLang="zh-CN" sz="2800" b="1" dirty="0">
                <a:solidFill>
                  <a:srgbClr val="C00000"/>
                </a:solidFill>
              </a:rPr>
              <a:t>low-frequency</a:t>
            </a:r>
            <a:r>
              <a:rPr lang="zh-CN" altLang="zh-CN" sz="2800" dirty="0"/>
              <a:t> baseband signal with varying amplitude in time domain and </a:t>
            </a:r>
            <a:r>
              <a:rPr lang="zh-CN" altLang="zh-CN" sz="2800" b="1" dirty="0">
                <a:solidFill>
                  <a:srgbClr val="C00000"/>
                </a:solidFill>
              </a:rPr>
              <a:t>spectrum within 200Hz–3.4 kHz</a:t>
            </a:r>
            <a:r>
              <a:rPr lang="zh-CN" altLang="zh-CN" sz="2800" dirty="0"/>
              <a:t>.</a:t>
            </a:r>
            <a:endParaRPr lang="zh-CN" altLang="en-US" sz="28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19" y="3986953"/>
            <a:ext cx="4785691" cy="1785017"/>
          </a:xfrm>
          <a:prstGeom prst="rect">
            <a:avLst/>
          </a:prstGeom>
        </p:spPr>
      </p:pic>
      <p:pic>
        <p:nvPicPr>
          <p:cNvPr id="18" name="Objec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481" y="2004165"/>
            <a:ext cx="1979612" cy="876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箭头: 右 25"/>
          <p:cNvSpPr/>
          <p:nvPr/>
        </p:nvSpPr>
        <p:spPr>
          <a:xfrm>
            <a:off x="5511248" y="2442315"/>
            <a:ext cx="780222" cy="26647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0" y="89244"/>
            <a:ext cx="9226551" cy="12420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——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以语音信号为例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5466523" y="4746224"/>
            <a:ext cx="780222" cy="26647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471" y="3986953"/>
            <a:ext cx="1911398" cy="15993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EF33-04E9-6963-B56D-CEFD3ED8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7E58A-8633-1288-35E4-991E0D2E7A6F}"/>
              </a:ext>
            </a:extLst>
          </p:cNvPr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58004-D695-4C68-BD62-C9D62A4031F9}"/>
              </a:ext>
            </a:extLst>
          </p:cNvPr>
          <p:cNvSpPr txBox="1"/>
          <p:nvPr/>
        </p:nvSpPr>
        <p:spPr>
          <a:xfrm>
            <a:off x="285750" y="125626"/>
            <a:ext cx="5198539" cy="4154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AM </a:t>
            </a:r>
            <a:r>
              <a:rPr kumimoji="0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通信系统实际链路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——video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音乐演示">
            <a:hlinkClick r:id="" action="ppaction://media"/>
            <a:extLst>
              <a:ext uri="{FF2B5EF4-FFF2-40B4-BE49-F238E27FC236}">
                <a16:creationId xmlns:a16="http://schemas.microsoft.com/office/drawing/2014/main" id="{8D8CF98B-1E3C-7802-B355-3FA54B81E6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325563"/>
            <a:ext cx="9144000" cy="420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5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144001" cy="76200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149" y="1169337"/>
            <a:ext cx="9824827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600" b="1" dirty="0">
                <a:solidFill>
                  <a:srgbClr val="C00000"/>
                </a:solidFill>
              </a:rPr>
              <a:t>M</a:t>
            </a:r>
            <a:r>
              <a:rPr lang="zh-CN" altLang="zh-CN" sz="3600" b="1" dirty="0">
                <a:solidFill>
                  <a:srgbClr val="C00000"/>
                </a:solidFill>
              </a:rPr>
              <a:t>athematical model: abstraction </a:t>
            </a:r>
            <a:endParaRPr lang="en-US" altLang="zh-CN" sz="3600" b="1" dirty="0">
              <a:solidFill>
                <a:srgbClr val="C00000"/>
              </a:solidFill>
            </a:endParaRPr>
          </a:p>
          <a:p>
            <a:pPr defTabSz="914400">
              <a:lnSpc>
                <a:spcPct val="100000"/>
              </a:lnSpc>
              <a:spcBef>
                <a:spcPts val="1000"/>
              </a:spcBef>
            </a:pPr>
            <a:r>
              <a:rPr lang="en-US" altLang="zh-CN" sz="3600" b="1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zh-CN" altLang="zh-CN" sz="3600" b="1" dirty="0">
                <a:solidFill>
                  <a:schemeClr val="bg2">
                    <a:lumMod val="50000"/>
                  </a:schemeClr>
                </a:solidFill>
              </a:rPr>
              <a:t>数学模型：抽象</a:t>
            </a:r>
            <a:endParaRPr lang="en-US" altLang="zh-CN" sz="3600" b="1" dirty="0">
              <a:solidFill>
                <a:schemeClr val="bg2">
                  <a:lumMod val="50000"/>
                </a:schemeClr>
              </a:solidFill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3600" b="1" dirty="0"/>
              <a:t>Time</a:t>
            </a:r>
            <a:r>
              <a:rPr lang="en-US" altLang="zh-CN" sz="3600" b="1" dirty="0"/>
              <a:t> &amp; </a:t>
            </a:r>
            <a:r>
              <a:rPr lang="zh-CN" altLang="zh-CN" sz="3600" b="1" dirty="0"/>
              <a:t>frequency-domain characteristics </a:t>
            </a:r>
            <a:endParaRPr lang="en-US" altLang="zh-CN" sz="3600" b="1" dirty="0"/>
          </a:p>
          <a:p>
            <a:pPr defTabSz="914400">
              <a:lnSpc>
                <a:spcPct val="100000"/>
              </a:lnSpc>
              <a:spcBef>
                <a:spcPts val="1000"/>
              </a:spcBef>
            </a:pPr>
            <a:r>
              <a:rPr lang="en-US" altLang="zh-CN" sz="3600" b="1" dirty="0">
                <a:solidFill>
                  <a:schemeClr val="bg2">
                    <a:lumMod val="50000"/>
                  </a:schemeClr>
                </a:solidFill>
              </a:rPr>
              <a:t>   </a:t>
            </a:r>
            <a:r>
              <a:rPr lang="zh-CN" altLang="zh-CN" sz="3600" b="1" dirty="0">
                <a:solidFill>
                  <a:schemeClr val="bg2">
                    <a:lumMod val="50000"/>
                  </a:schemeClr>
                </a:solidFill>
              </a:rPr>
              <a:t>时域频域特性 </a:t>
            </a:r>
            <a:endParaRPr lang="en-US" altLang="zh-CN" sz="3600" b="1" dirty="0">
              <a:solidFill>
                <a:schemeClr val="bg2">
                  <a:lumMod val="50000"/>
                </a:schemeClr>
              </a:solidFill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3600" b="1" dirty="0"/>
              <a:t>Anti-noise performance </a:t>
            </a:r>
            <a:r>
              <a:rPr lang="zh-CN" altLang="zh-CN" sz="3600" b="1" dirty="0">
                <a:solidFill>
                  <a:schemeClr val="bg2">
                    <a:lumMod val="50000"/>
                  </a:schemeClr>
                </a:solidFill>
              </a:rPr>
              <a:t>抗噪声性能 </a:t>
            </a:r>
            <a:endParaRPr lang="en-US" altLang="zh-CN" sz="3600" b="1" dirty="0">
              <a:solidFill>
                <a:schemeClr val="bg2">
                  <a:lumMod val="50000"/>
                </a:schemeClr>
              </a:solidFill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3600" b="1" dirty="0"/>
              <a:t>Practical AM system </a:t>
            </a:r>
            <a:r>
              <a:rPr lang="zh-CN" altLang="zh-CN" sz="3600" b="1" dirty="0">
                <a:solidFill>
                  <a:schemeClr val="bg2">
                    <a:lumMod val="50000"/>
                  </a:schemeClr>
                </a:solidFill>
              </a:rPr>
              <a:t>实际 AM 系统</a:t>
            </a:r>
            <a:endParaRPr lang="en-US" altLang="zh-CN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6998" y="1312496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55132" y="1317675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/>
              <a:t>Mathematical model and Definition</a:t>
            </a:r>
            <a:endParaRPr lang="zh-CN" altLang="en-US" dirty="0"/>
          </a:p>
        </p:txBody>
      </p:sp>
      <p:sp>
        <p:nvSpPr>
          <p:cNvPr id="2" name="TextBox 5"/>
          <p:cNvSpPr txBox="1"/>
          <p:nvPr/>
        </p:nvSpPr>
        <p:spPr>
          <a:xfrm>
            <a:off x="480060" y="812172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8040370" y="1038411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144510" y="952686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1108962" y="2076612"/>
            <a:ext cx="538609" cy="592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  <a:p>
            <a:pPr algn="ctr"/>
            <a:r>
              <a:rPr sz="1050" b="0" dirty="0" err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直流偏置</a:t>
            </a:r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12"/>
          <p:cNvSpPr/>
          <p:nvPr/>
        </p:nvSpPr>
        <p:spPr>
          <a:xfrm>
            <a:off x="2276475" y="1111436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2069634" y="2072825"/>
            <a:ext cx="950580" cy="7078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carrier</a:t>
            </a:r>
          </a:p>
        </p:txBody>
      </p:sp>
      <p:sp>
        <p:nvSpPr>
          <p:cNvPr id="11" name="Rounded Rectangle 17"/>
          <p:cNvSpPr/>
          <p:nvPr/>
        </p:nvSpPr>
        <p:spPr>
          <a:xfrm>
            <a:off x="3369945" y="1027616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720152" y="2261060"/>
            <a:ext cx="533400" cy="391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1500" b="1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加性噪声</a:t>
            </a:r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5168265" y="970466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带通滤波</a:t>
            </a:r>
            <a:endParaRPr sz="1050" b="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23"/>
          <p:cNvSpPr/>
          <p:nvPr/>
        </p:nvSpPr>
        <p:spPr>
          <a:xfrm>
            <a:off x="6617335" y="893631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二极管</a:t>
            </a:r>
            <a:r>
              <a:rPr sz="1050" b="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RC</a:t>
            </a:r>
          </a:p>
        </p:txBody>
      </p:sp>
      <p:sp>
        <p:nvSpPr>
          <p:cNvPr id="15" name="Oval 12"/>
          <p:cNvSpPr/>
          <p:nvPr/>
        </p:nvSpPr>
        <p:spPr>
          <a:xfrm>
            <a:off x="1143000" y="1126041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64515" y="138385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668145" y="137496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76098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57200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6169025" y="1335591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8058785" y="1343211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369695" y="159340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512060" y="159467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968115" y="1694366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644366" y="715507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78296" y="2762938"/>
            <a:ext cx="8940248" cy="344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):</a:t>
            </a:r>
            <a:r>
              <a:rPr lang="zh-CN" altLang="en-US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baseband message signal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modulating signal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low-frequency audio signal to be transmitted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A₀:</a:t>
            </a:r>
            <a:r>
              <a:rPr lang="zh-CN" altLang="en-US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D.C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直流偏置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lang="el-GR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</a:t>
            </a: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sinusoidal carrier wave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): AM 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modulated signal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high-frequency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after modulation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矩形 35"/>
          <p:cNvSpPr/>
          <p:nvPr/>
        </p:nvSpPr>
        <p:spPr>
          <a:xfrm>
            <a:off x="158337" y="825590"/>
            <a:ext cx="3235103" cy="2026064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39150" y="2514724"/>
            <a:ext cx="4609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Modulation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/>
              <a:t>Mathematical model and Definition</a:t>
            </a:r>
            <a:endParaRPr lang="zh-CN" altLang="en-US" dirty="0"/>
          </a:p>
        </p:txBody>
      </p:sp>
      <p:sp>
        <p:nvSpPr>
          <p:cNvPr id="2" name="TextBox 5"/>
          <p:cNvSpPr txBox="1"/>
          <p:nvPr/>
        </p:nvSpPr>
        <p:spPr>
          <a:xfrm>
            <a:off x="480060" y="812172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8040370" y="1038411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144510" y="952686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1108962" y="2076612"/>
            <a:ext cx="538609" cy="592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  <a:p>
            <a:pPr algn="ctr"/>
            <a:r>
              <a:rPr sz="1050" b="0" dirty="0" err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直流偏置</a:t>
            </a:r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12"/>
          <p:cNvSpPr/>
          <p:nvPr/>
        </p:nvSpPr>
        <p:spPr>
          <a:xfrm>
            <a:off x="2276475" y="1111436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2069634" y="2072825"/>
            <a:ext cx="950580" cy="7078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carrier</a:t>
            </a:r>
          </a:p>
        </p:txBody>
      </p:sp>
      <p:sp>
        <p:nvSpPr>
          <p:cNvPr id="11" name="Rounded Rectangle 17"/>
          <p:cNvSpPr/>
          <p:nvPr/>
        </p:nvSpPr>
        <p:spPr>
          <a:xfrm>
            <a:off x="3369945" y="1027616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720152" y="2261060"/>
            <a:ext cx="533400" cy="391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1500" b="1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加性噪声</a:t>
            </a:r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5168265" y="970466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带通滤波</a:t>
            </a:r>
            <a:endParaRPr sz="1050" b="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23"/>
          <p:cNvSpPr/>
          <p:nvPr/>
        </p:nvSpPr>
        <p:spPr>
          <a:xfrm>
            <a:off x="6617335" y="893631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二极管</a:t>
            </a:r>
            <a:r>
              <a:rPr sz="1050" b="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RC</a:t>
            </a:r>
          </a:p>
        </p:txBody>
      </p:sp>
      <p:sp>
        <p:nvSpPr>
          <p:cNvPr id="15" name="Oval 12"/>
          <p:cNvSpPr/>
          <p:nvPr/>
        </p:nvSpPr>
        <p:spPr>
          <a:xfrm>
            <a:off x="1143000" y="1126041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64515" y="138385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668145" y="137496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76098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57200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6169025" y="1335591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8058785" y="1343211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369695" y="159340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512060" y="159467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968115" y="1694366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644366" y="715507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6" name="矩形 35"/>
          <p:cNvSpPr/>
          <p:nvPr/>
        </p:nvSpPr>
        <p:spPr>
          <a:xfrm>
            <a:off x="5011352" y="779135"/>
            <a:ext cx="3302732" cy="1881694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146675" y="2268972"/>
            <a:ext cx="4609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Demodulation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5006" y="3200242"/>
            <a:ext cx="4877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):</a:t>
            </a:r>
            <a:r>
              <a:rPr lang="zh-CN" altLang="en-US"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recovered baseband signal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714815" y="2999106"/>
            <a:ext cx="160300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~</a:t>
            </a:r>
          </a:p>
        </p:txBody>
      </p:sp>
      <p:pic>
        <p:nvPicPr>
          <p:cNvPr id="26" name="Objec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44" y="4513982"/>
            <a:ext cx="4278312" cy="1377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Objec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8" y="4448624"/>
            <a:ext cx="2276475" cy="141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" name="矩形 30"/>
          <p:cNvSpPr/>
          <p:nvPr/>
        </p:nvSpPr>
        <p:spPr>
          <a:xfrm>
            <a:off x="2644366" y="4275923"/>
            <a:ext cx="4066790" cy="1881694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779689" y="5765760"/>
            <a:ext cx="5675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Demodulation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144001" cy="76200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149" y="1169337"/>
            <a:ext cx="9824827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athematical model: abstraction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数学模型：抽象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Time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&amp;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frequency-domain characteristics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时域频域特性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Anti-noise performance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抗噪声性能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Practical AM system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实际 AM 系统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65214" y="2679336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663492" y="96665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8223802" y="322904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327942" y="237179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1359720" y="1361105"/>
            <a:ext cx="403957" cy="592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  <a:p>
            <a:pPr algn="ctr"/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12"/>
          <p:cNvSpPr/>
          <p:nvPr/>
        </p:nvSpPr>
        <p:spPr>
          <a:xfrm>
            <a:off x="2459907" y="395929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2228145" y="1372843"/>
            <a:ext cx="950580" cy="7078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carrier</a:t>
            </a:r>
          </a:p>
        </p:txBody>
      </p:sp>
      <p:sp>
        <p:nvSpPr>
          <p:cNvPr id="11" name="Rounded Rectangle 17"/>
          <p:cNvSpPr/>
          <p:nvPr/>
        </p:nvSpPr>
        <p:spPr>
          <a:xfrm>
            <a:off x="3553377" y="312109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903584" y="1545553"/>
            <a:ext cx="533400" cy="391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1500" b="1" i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1500" b="1" dirty="0">
                <a:solidFill>
                  <a:srgbClr val="5F5E5A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1500" b="1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5F5E5A"/>
                </a:solidFill>
                <a:latin typeface="微软雅黑" panose="020B0503020204020204" charset="-122"/>
                <a:ea typeface="微软雅黑" panose="020B0503020204020204" charset="-122"/>
              </a:rPr>
              <a:t>加性噪声</a:t>
            </a:r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5351697" y="254959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带通滤波</a:t>
            </a:r>
            <a:endParaRPr sz="1050" b="0" dirty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23"/>
          <p:cNvSpPr/>
          <p:nvPr/>
        </p:nvSpPr>
        <p:spPr>
          <a:xfrm>
            <a:off x="6800767" y="178124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50" b="0" dirty="0" err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二极管</a:t>
            </a:r>
            <a:r>
              <a:rPr sz="1050" b="0" dirty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RC</a:t>
            </a:r>
          </a:p>
        </p:txBody>
      </p:sp>
      <p:sp>
        <p:nvSpPr>
          <p:cNvPr id="15" name="Oval 12"/>
          <p:cNvSpPr/>
          <p:nvPr/>
        </p:nvSpPr>
        <p:spPr>
          <a:xfrm>
            <a:off x="1326432" y="410534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47947" y="66834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851577" y="65945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944412" y="635959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755432" y="635959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6352457" y="620084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8242217" y="627704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553127" y="87789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695492" y="87916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4151547" y="978859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827798" y="0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6" name="矩形 35"/>
          <p:cNvSpPr/>
          <p:nvPr/>
        </p:nvSpPr>
        <p:spPr>
          <a:xfrm>
            <a:off x="308113" y="54665"/>
            <a:ext cx="3235103" cy="2026064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211854" y="1714412"/>
            <a:ext cx="143584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Modulation</a:t>
            </a:r>
          </a:p>
          <a:p>
            <a:endParaRPr lang="zh-CN" altLang="en-US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74" y="2504042"/>
            <a:ext cx="7033621" cy="4159607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</p:pic>
      <p:sp>
        <p:nvSpPr>
          <p:cNvPr id="5" name="矩形 4"/>
          <p:cNvSpPr/>
          <p:nvPr/>
        </p:nvSpPr>
        <p:spPr>
          <a:xfrm>
            <a:off x="3995738" y="4914900"/>
            <a:ext cx="3800475" cy="1688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0E7BB0-E1DA-702A-8594-5CE9FACD0CB1}"/>
              </a:ext>
            </a:extLst>
          </p:cNvPr>
          <p:cNvSpPr/>
          <p:nvPr/>
        </p:nvSpPr>
        <p:spPr>
          <a:xfrm>
            <a:off x="927560" y="4945204"/>
            <a:ext cx="3800475" cy="1688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413857" y="989436"/>
            <a:ext cx="894024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 m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cos</a:t>
            </a:r>
            <a:r>
              <a:rPr lang="el-GR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lang="en-US" altLang="zh-CN" sz="2400" b="1" i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i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     m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1059736" y="5325782"/>
            <a:ext cx="17775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~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906" y="3159810"/>
            <a:ext cx="3687944" cy="195948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526" y="1609410"/>
            <a:ext cx="3142892" cy="1442537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768" y="4932580"/>
            <a:ext cx="3733176" cy="1871967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335" y="-553229"/>
            <a:ext cx="3687944" cy="234282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0" y="34033"/>
            <a:ext cx="63023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aveform matching 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problem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72493" y="787669"/>
            <a:ext cx="61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3991268" y="2310283"/>
            <a:ext cx="61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58" name="文本框 57"/>
          <p:cNvSpPr txBox="1"/>
          <p:nvPr/>
        </p:nvSpPr>
        <p:spPr>
          <a:xfrm>
            <a:off x="3991268" y="4037614"/>
            <a:ext cx="61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3972493" y="5510448"/>
            <a:ext cx="61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(d)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03" y="245034"/>
            <a:ext cx="7826933" cy="63679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78" y="256467"/>
            <a:ext cx="8648608" cy="649215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2" y="178502"/>
            <a:ext cx="9144000" cy="5859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443" y="3675055"/>
            <a:ext cx="4046173" cy="29264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092"/>
            <a:ext cx="9144000" cy="331661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0" y="111125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268605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2225" y="189230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0" y="368300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2225" y="445865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4778375" y="1161092"/>
            <a:ext cx="0" cy="32975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1108075" y="1180142"/>
            <a:ext cx="0" cy="32975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85666" y="455959"/>
            <a:ext cx="7513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Comparison Table of Time-domain and Frequency-domain Expressions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2287036" y="2974075"/>
            <a:ext cx="2284961" cy="5218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087717" y="2819399"/>
            <a:ext cx="2773017" cy="4008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087717" y="3257202"/>
            <a:ext cx="2773016" cy="4008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9364" y="4527548"/>
            <a:ext cx="24996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Conclusion:</a:t>
            </a:r>
          </a:p>
          <a:p>
            <a:r>
              <a:rPr lang="en-US" altLang="zh-CN" sz="3200" b="1" dirty="0">
                <a:solidFill>
                  <a:srgbClr val="00B050"/>
                </a:solidFill>
              </a:rPr>
              <a:t>1</a:t>
            </a:r>
          </a:p>
          <a:p>
            <a:r>
              <a:rPr lang="en-US" altLang="zh-CN" sz="3200" b="1" dirty="0">
                <a:solidFill>
                  <a:srgbClr val="00B050"/>
                </a:solidFill>
              </a:rPr>
              <a:t>2</a:t>
            </a:r>
          </a:p>
          <a:p>
            <a:r>
              <a:rPr lang="en-US" altLang="zh-CN" sz="3200" b="1" dirty="0">
                <a:solidFill>
                  <a:srgbClr val="00B050"/>
                </a:solidFill>
              </a:rPr>
              <a:t>3 </a:t>
            </a:r>
            <a:endParaRPr lang="zh-CN" altLang="en-US" sz="3200" b="1" dirty="0">
              <a:solidFill>
                <a:srgbClr val="00B050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68" y="5024359"/>
            <a:ext cx="1718044" cy="147305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820" y="5076560"/>
            <a:ext cx="2253351" cy="15130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936" y="5089900"/>
            <a:ext cx="1893064" cy="139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092"/>
            <a:ext cx="9144000" cy="33166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4625261"/>
            <a:ext cx="6329948" cy="2105193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0" y="111125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268605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2225" y="189230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0" y="368300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2225" y="445865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4778375" y="1161092"/>
            <a:ext cx="0" cy="32975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1108075" y="1180142"/>
            <a:ext cx="0" cy="329756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85666" y="455959"/>
            <a:ext cx="7513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Comparison Table of Time-domain and Frequency-domain Expressions</a:t>
            </a:r>
            <a:endParaRPr lang="zh-CN" altLang="en-US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835" y="5395972"/>
            <a:ext cx="1813496" cy="476109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B5B8F791-0227-1B92-8D73-9D6AE7D4F854}"/>
              </a:ext>
            </a:extLst>
          </p:cNvPr>
          <p:cNvSpPr/>
          <p:nvPr/>
        </p:nvSpPr>
        <p:spPr>
          <a:xfrm>
            <a:off x="2216150" y="2760452"/>
            <a:ext cx="2400575" cy="7749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</a:rPr>
              <a:t>    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7F64D57-5A4A-9451-13A6-73F8AFDBDE25}"/>
              </a:ext>
            </a:extLst>
          </p:cNvPr>
          <p:cNvSpPr/>
          <p:nvPr/>
        </p:nvSpPr>
        <p:spPr>
          <a:xfrm>
            <a:off x="6085866" y="2760453"/>
            <a:ext cx="2655597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</a:rPr>
              <a:t>       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D841B4-2B97-A092-1CB8-6BC044DEA2A0}"/>
              </a:ext>
            </a:extLst>
          </p:cNvPr>
          <p:cNvSpPr/>
          <p:nvPr/>
        </p:nvSpPr>
        <p:spPr>
          <a:xfrm>
            <a:off x="5924215" y="3175000"/>
            <a:ext cx="2971307" cy="48308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6" y="1745497"/>
            <a:ext cx="7151091" cy="45787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84" y="674170"/>
            <a:ext cx="3085356" cy="11296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37136"/>
            <a:ext cx="9064487" cy="71327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Modulation Index 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5967"/>
            <a:ext cx="9144000" cy="5548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71" y="120643"/>
            <a:ext cx="3085356" cy="1129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89" y="1294803"/>
            <a:ext cx="7260422" cy="464879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756" y="5827082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/>
              <a:t>It describes how deeply</a:t>
            </a:r>
            <a:r>
              <a:rPr lang="en-US" altLang="zh-CN" sz="3200" dirty="0"/>
              <a:t> </a:t>
            </a:r>
            <a:r>
              <a:rPr lang="zh-CN" altLang="zh-CN" sz="3200" dirty="0"/>
              <a:t>the baseband signal changes the carrier amplitude.</a:t>
            </a:r>
            <a:r>
              <a:rPr lang="en-US" altLang="zh-CN" sz="3200" dirty="0"/>
              <a:t> 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4092436" y="5083866"/>
            <a:ext cx="103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满调幅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2491105"/>
            <a:ext cx="5191125" cy="3324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1266"/>
            <a:ext cx="9144000" cy="111894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350" y="1292225"/>
            <a:ext cx="4540885" cy="1162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9550" y="215900"/>
            <a:ext cx="882650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Modulation efficiency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the ratio of useful sideband power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 total transmitted power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144001" cy="76200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8149" y="1169337"/>
            <a:ext cx="9824827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athematical model: abstraction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Time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&amp;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frequency-domain characteristics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Anti-noise performance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抗噪声性能</a:t>
            </a:r>
            <a:endParaRPr lang="en-US" altLang="zh-CN" sz="3600" b="1" dirty="0">
              <a:solidFill>
                <a:srgbClr val="E7E6E6">
                  <a:lumMod val="50000"/>
                </a:srgbClr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3600" b="1" dirty="0">
                <a:solidFill>
                  <a:srgbClr val="C00000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3600" b="1" dirty="0">
                <a:latin typeface="Calibri" panose="020F0502020204030204"/>
                <a:ea typeface="等线" panose="02010600030101010101" pitchFamily="2" charset="-122"/>
              </a:rPr>
              <a:t>--</a:t>
            </a:r>
          </a:p>
          <a:p>
            <a:pPr defTabSz="914400">
              <a:spcBef>
                <a:spcPts val="1000"/>
              </a:spcBef>
              <a:defRPr/>
            </a:pPr>
            <a:r>
              <a:rPr lang="en-US" altLang="zh-CN" sz="3600" b="1" dirty="0"/>
              <a:t> --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Practical AM system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55132" y="2702834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00B0F0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pitchFamily="2" charset="-122"/>
              <a:cs typeface="+mj-cs"/>
              <a:sym typeface="Helvetic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3298106"/>
            <a:ext cx="7158208" cy="559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3" y="3916834"/>
            <a:ext cx="7297146" cy="6123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18" y="4403680"/>
            <a:ext cx="2113915" cy="93281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0" name="标题 1"/>
          <p:cNvSpPr txBox="1"/>
          <p:nvPr/>
        </p:nvSpPr>
        <p:spPr>
          <a:xfrm>
            <a:off x="8434" y="35644"/>
            <a:ext cx="9144000" cy="514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483732" y="793613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8044042" y="1019852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148182" y="934127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1075868" y="2058053"/>
            <a:ext cx="612140" cy="430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/>
          <p:cNvSpPr/>
          <p:nvPr/>
        </p:nvSpPr>
        <p:spPr>
          <a:xfrm>
            <a:off x="2280147" y="1092877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2073306" y="2054266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3373617" y="1009057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678417" y="1966001"/>
            <a:ext cx="586740" cy="492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4954132" y="951907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6621007" y="875072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1146672" y="1107482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68187" y="1365292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671817" y="1356402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764652" y="1332907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3" idx="1"/>
          </p:cNvCxnSpPr>
          <p:nvPr/>
        </p:nvCxnSpPr>
        <p:spPr>
          <a:xfrm flipV="1">
            <a:off x="4575672" y="1325287"/>
            <a:ext cx="378460" cy="76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3" idx="3"/>
          </p:cNvCxnSpPr>
          <p:nvPr/>
        </p:nvCxnSpPr>
        <p:spPr>
          <a:xfrm flipV="1">
            <a:off x="5944732" y="1317032"/>
            <a:ext cx="66611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8062457" y="1322112"/>
            <a:ext cx="1034415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373367" y="1574842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515732" y="1576112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971787" y="1675807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648038" y="696948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94237" y="1444042"/>
            <a:ext cx="1157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434" y="2752129"/>
            <a:ext cx="9057005" cy="15760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Modulation Gain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调制制度增益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An indicator for analog modulation systems to evaluate anti-noise performance of the demodulator.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995147" y="1412927"/>
            <a:ext cx="1157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44" name="矩形 43"/>
          <p:cNvSpPr/>
          <p:nvPr/>
        </p:nvSpPr>
        <p:spPr>
          <a:xfrm>
            <a:off x="4756150" y="793606"/>
            <a:ext cx="4156710" cy="1576070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870450" y="1802765"/>
            <a:ext cx="54660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Demodulation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6705"/>
            <a:ext cx="8665845" cy="274129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635" y="3246120"/>
            <a:ext cx="2113915" cy="93281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0" name="标题 1"/>
          <p:cNvSpPr txBox="1"/>
          <p:nvPr/>
        </p:nvSpPr>
        <p:spPr>
          <a:xfrm>
            <a:off x="0" y="-46355"/>
            <a:ext cx="9144000" cy="514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483732" y="588017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8044042" y="814256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8148182" y="728531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1075868" y="1852457"/>
            <a:ext cx="612140" cy="430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/>
          <p:cNvSpPr/>
          <p:nvPr/>
        </p:nvSpPr>
        <p:spPr>
          <a:xfrm>
            <a:off x="2280147" y="887281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2073306" y="1848670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3373617" y="803461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678417" y="1760405"/>
            <a:ext cx="586740" cy="492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4954132" y="746311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6621007" y="669476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1146672" y="901886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68187" y="115969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671817" y="115080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764652" y="112731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13" idx="1"/>
          </p:cNvCxnSpPr>
          <p:nvPr/>
        </p:nvCxnSpPr>
        <p:spPr>
          <a:xfrm flipV="1">
            <a:off x="4575672" y="1119691"/>
            <a:ext cx="378460" cy="76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3" idx="3"/>
          </p:cNvCxnSpPr>
          <p:nvPr/>
        </p:nvCxnSpPr>
        <p:spPr>
          <a:xfrm flipV="1">
            <a:off x="5944732" y="1111436"/>
            <a:ext cx="66611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8062457" y="1116516"/>
            <a:ext cx="1034415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373367" y="1369246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515732" y="1370516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971787" y="1470211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648038" y="491352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94237" y="1238446"/>
            <a:ext cx="1157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635" y="2244725"/>
            <a:ext cx="9057005" cy="15760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Modulation Gain 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调制制度增益</a:t>
            </a:r>
            <a:r>
              <a:rPr lang="en-US" altLang="zh-CN" sz="2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: An indicator for analog modulation systems to evaluate anti-noise performance of the demodulator.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995147" y="1207331"/>
            <a:ext cx="1157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</a:t>
            </a:r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44" name="矩形 43"/>
          <p:cNvSpPr/>
          <p:nvPr/>
        </p:nvSpPr>
        <p:spPr>
          <a:xfrm>
            <a:off x="4756150" y="588010"/>
            <a:ext cx="4156710" cy="1576070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4870450" y="1802765"/>
            <a:ext cx="54660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Demodulation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A166-C7DA-00B3-5159-829E3697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>
            <a:extLst>
              <a:ext uri="{FF2B5EF4-FFF2-40B4-BE49-F238E27FC236}">
                <a16:creationId xmlns:a16="http://schemas.microsoft.com/office/drawing/2014/main" id="{39E8BB93-7DA8-E7C7-3573-9050771134B0}"/>
              </a:ext>
            </a:extLst>
          </p:cNvPr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96B14D41-4507-6D81-F79F-56C740ABFD5F}"/>
              </a:ext>
            </a:extLst>
          </p:cNvPr>
          <p:cNvSpPr txBox="1"/>
          <p:nvPr/>
        </p:nvSpPr>
        <p:spPr>
          <a:xfrm>
            <a:off x="514847" y="1040772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E2E477C-A010-12EE-486A-C11F3510634E}"/>
              </a:ext>
            </a:extLst>
          </p:cNvPr>
          <p:cNvSpPr txBox="1"/>
          <p:nvPr/>
        </p:nvSpPr>
        <p:spPr>
          <a:xfrm>
            <a:off x="8075157" y="1267011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4C8DA6F-D8AF-CE23-FB7C-63094174EC74}"/>
              </a:ext>
            </a:extLst>
          </p:cNvPr>
          <p:cNvSpPr txBox="1"/>
          <p:nvPr/>
        </p:nvSpPr>
        <p:spPr>
          <a:xfrm>
            <a:off x="8179297" y="1181286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EB6D254-CC52-0570-C93D-324122E917B2}"/>
              </a:ext>
            </a:extLst>
          </p:cNvPr>
          <p:cNvSpPr txBox="1"/>
          <p:nvPr/>
        </p:nvSpPr>
        <p:spPr>
          <a:xfrm>
            <a:off x="1211075" y="2305212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20DBE622-F918-5150-4273-832F993B111B}"/>
              </a:ext>
            </a:extLst>
          </p:cNvPr>
          <p:cNvSpPr/>
          <p:nvPr/>
        </p:nvSpPr>
        <p:spPr>
          <a:xfrm>
            <a:off x="2311262" y="1340036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3AC74502-C8AD-2B64-15E8-65FF9CEC6F45}"/>
              </a:ext>
            </a:extLst>
          </p:cNvPr>
          <p:cNvSpPr txBox="1"/>
          <p:nvPr/>
        </p:nvSpPr>
        <p:spPr>
          <a:xfrm>
            <a:off x="2104421" y="2301425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F36CCC4C-80FD-D291-4D3C-1941433AFB9D}"/>
              </a:ext>
            </a:extLst>
          </p:cNvPr>
          <p:cNvSpPr/>
          <p:nvPr/>
        </p:nvSpPr>
        <p:spPr>
          <a:xfrm>
            <a:off x="3404732" y="1256216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F5BC9B6F-C6CD-E25E-90F8-934D3411D32C}"/>
              </a:ext>
            </a:extLst>
          </p:cNvPr>
          <p:cNvSpPr txBox="1"/>
          <p:nvPr/>
        </p:nvSpPr>
        <p:spPr>
          <a:xfrm>
            <a:off x="3695926" y="2301425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>
            <a:extLst>
              <a:ext uri="{FF2B5EF4-FFF2-40B4-BE49-F238E27FC236}">
                <a16:creationId xmlns:a16="http://schemas.microsoft.com/office/drawing/2014/main" id="{AA011391-55BC-EA7A-E303-9B17B6A246B4}"/>
              </a:ext>
            </a:extLst>
          </p:cNvPr>
          <p:cNvSpPr/>
          <p:nvPr/>
        </p:nvSpPr>
        <p:spPr>
          <a:xfrm>
            <a:off x="5203052" y="1199066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032F8C88-76C5-D2F1-B26B-9B613DA0765A}"/>
              </a:ext>
            </a:extLst>
          </p:cNvPr>
          <p:cNvSpPr/>
          <p:nvPr/>
        </p:nvSpPr>
        <p:spPr>
          <a:xfrm>
            <a:off x="6652122" y="1122231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88469DEF-72EE-C399-573A-336D3B4BD0F4}"/>
              </a:ext>
            </a:extLst>
          </p:cNvPr>
          <p:cNvSpPr/>
          <p:nvPr/>
        </p:nvSpPr>
        <p:spPr>
          <a:xfrm>
            <a:off x="1177787" y="1354641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D5A2767-97CC-5A0E-A666-E9C5390E0CAE}"/>
              </a:ext>
            </a:extLst>
          </p:cNvPr>
          <p:cNvCxnSpPr/>
          <p:nvPr/>
        </p:nvCxnSpPr>
        <p:spPr>
          <a:xfrm>
            <a:off x="599302" y="161245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2C0A4CC-63A0-F7B2-8413-FF0A83AB928E}"/>
              </a:ext>
            </a:extLst>
          </p:cNvPr>
          <p:cNvCxnSpPr/>
          <p:nvPr/>
        </p:nvCxnSpPr>
        <p:spPr>
          <a:xfrm>
            <a:off x="1702932" y="160356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26B9334-2934-FA3B-C77A-1ACA3AD8DF25}"/>
              </a:ext>
            </a:extLst>
          </p:cNvPr>
          <p:cNvCxnSpPr/>
          <p:nvPr/>
        </p:nvCxnSpPr>
        <p:spPr>
          <a:xfrm>
            <a:off x="2795767" y="15800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2C00D91-1279-C8C7-59A1-31424F7DD640}"/>
              </a:ext>
            </a:extLst>
          </p:cNvPr>
          <p:cNvCxnSpPr/>
          <p:nvPr/>
        </p:nvCxnSpPr>
        <p:spPr>
          <a:xfrm>
            <a:off x="4606787" y="15800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5BDAA9-DBE5-D089-2A69-ADBC978A2C42}"/>
              </a:ext>
            </a:extLst>
          </p:cNvPr>
          <p:cNvCxnSpPr/>
          <p:nvPr/>
        </p:nvCxnSpPr>
        <p:spPr>
          <a:xfrm>
            <a:off x="6203812" y="1564191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BDF63E3-8282-1F30-5388-CA9E295C2D86}"/>
              </a:ext>
            </a:extLst>
          </p:cNvPr>
          <p:cNvCxnSpPr/>
          <p:nvPr/>
        </p:nvCxnSpPr>
        <p:spPr>
          <a:xfrm>
            <a:off x="8093572" y="1571811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D760B58-ACC9-91E4-B47C-1A8BF3E4B648}"/>
              </a:ext>
            </a:extLst>
          </p:cNvPr>
          <p:cNvCxnSpPr/>
          <p:nvPr/>
        </p:nvCxnSpPr>
        <p:spPr>
          <a:xfrm flipV="1">
            <a:off x="1404482" y="182200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4FB6A40-4432-E01E-AAD6-1A538D862008}"/>
              </a:ext>
            </a:extLst>
          </p:cNvPr>
          <p:cNvCxnSpPr/>
          <p:nvPr/>
        </p:nvCxnSpPr>
        <p:spPr>
          <a:xfrm flipV="1">
            <a:off x="2546847" y="182327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23B85BD-77E9-1EC3-056A-3B14139A82FA}"/>
              </a:ext>
            </a:extLst>
          </p:cNvPr>
          <p:cNvCxnSpPr/>
          <p:nvPr/>
        </p:nvCxnSpPr>
        <p:spPr>
          <a:xfrm flipV="1">
            <a:off x="4002902" y="1922966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>
            <a:extLst>
              <a:ext uri="{FF2B5EF4-FFF2-40B4-BE49-F238E27FC236}">
                <a16:creationId xmlns:a16="http://schemas.microsoft.com/office/drawing/2014/main" id="{9EFD0652-617B-B32E-56B6-DC92897CF4FF}"/>
              </a:ext>
            </a:extLst>
          </p:cNvPr>
          <p:cNvSpPr txBox="1"/>
          <p:nvPr/>
        </p:nvSpPr>
        <p:spPr>
          <a:xfrm>
            <a:off x="2679153" y="944107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9BC88E-5FDB-CA19-4E25-42975D272FAD}"/>
              </a:ext>
            </a:extLst>
          </p:cNvPr>
          <p:cNvSpPr txBox="1"/>
          <p:nvPr/>
        </p:nvSpPr>
        <p:spPr>
          <a:xfrm>
            <a:off x="1704044" y="1679154"/>
            <a:ext cx="1157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C42A9F-A46A-87FB-07A7-D839751E8B52}"/>
              </a:ext>
            </a:extLst>
          </p:cNvPr>
          <p:cNvSpPr txBox="1"/>
          <p:nvPr/>
        </p:nvSpPr>
        <p:spPr>
          <a:xfrm>
            <a:off x="2875619" y="1668969"/>
            <a:ext cx="1157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6BDDB8-514C-2699-5C1F-723F0C2D918B}"/>
              </a:ext>
            </a:extLst>
          </p:cNvPr>
          <p:cNvSpPr txBox="1"/>
          <p:nvPr/>
        </p:nvSpPr>
        <p:spPr>
          <a:xfrm>
            <a:off x="6215242" y="1684216"/>
            <a:ext cx="1157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4FF88D4-EF0A-B65E-0953-8C5077BEEC8B}"/>
              </a:ext>
            </a:extLst>
          </p:cNvPr>
          <p:cNvSpPr txBox="1"/>
          <p:nvPr/>
        </p:nvSpPr>
        <p:spPr>
          <a:xfrm>
            <a:off x="8277563" y="1684216"/>
            <a:ext cx="1157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BC9C7A8-E1F3-B5ED-1A26-75C235CD7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2660"/>
            <a:ext cx="9144000" cy="2013399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7620705-D0CB-67AD-D885-64F319CBB7D8}"/>
              </a:ext>
            </a:extLst>
          </p:cNvPr>
          <p:cNvCxnSpPr/>
          <p:nvPr/>
        </p:nvCxnSpPr>
        <p:spPr>
          <a:xfrm>
            <a:off x="0" y="342349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1E4EFD0-3006-C989-633A-EB34D355DD05}"/>
              </a:ext>
            </a:extLst>
          </p:cNvPr>
          <p:cNvCxnSpPr/>
          <p:nvPr/>
        </p:nvCxnSpPr>
        <p:spPr>
          <a:xfrm>
            <a:off x="0" y="396166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61DD5-A645-6AEA-3252-15FCF537EE58}"/>
              </a:ext>
            </a:extLst>
          </p:cNvPr>
          <p:cNvCxnSpPr/>
          <p:nvPr/>
        </p:nvCxnSpPr>
        <p:spPr>
          <a:xfrm>
            <a:off x="0" y="4723659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1BDD12A-9D2E-3355-0908-F05887BBF705}"/>
              </a:ext>
            </a:extLst>
          </p:cNvPr>
          <p:cNvCxnSpPr/>
          <p:nvPr/>
        </p:nvCxnSpPr>
        <p:spPr>
          <a:xfrm>
            <a:off x="22225" y="5516059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9AD6B85-ECB4-BCC8-50E6-960A308B08B7}"/>
              </a:ext>
            </a:extLst>
          </p:cNvPr>
          <p:cNvCxnSpPr/>
          <p:nvPr/>
        </p:nvCxnSpPr>
        <p:spPr>
          <a:xfrm>
            <a:off x="1835977" y="3417570"/>
            <a:ext cx="0" cy="20984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45C70C6-335E-D231-4CDC-EEDD93118F6B}"/>
              </a:ext>
            </a:extLst>
          </p:cNvPr>
          <p:cNvCxnSpPr/>
          <p:nvPr/>
        </p:nvCxnSpPr>
        <p:spPr>
          <a:xfrm>
            <a:off x="3593339" y="3417570"/>
            <a:ext cx="0" cy="20621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1ED7374-DD56-E96D-DC34-BB78180BA351}"/>
              </a:ext>
            </a:extLst>
          </p:cNvPr>
          <p:cNvCxnSpPr/>
          <p:nvPr/>
        </p:nvCxnSpPr>
        <p:spPr>
          <a:xfrm>
            <a:off x="5803140" y="3417570"/>
            <a:ext cx="0" cy="20984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EDDD4DD-5606-CDFE-FD64-A2645316A688}"/>
              </a:ext>
            </a:extLst>
          </p:cNvPr>
          <p:cNvCxnSpPr/>
          <p:nvPr/>
        </p:nvCxnSpPr>
        <p:spPr>
          <a:xfrm>
            <a:off x="8012940" y="3417570"/>
            <a:ext cx="0" cy="21383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7B91A86D-0775-9D99-2F08-E1C2D4F2A5C5}"/>
              </a:ext>
            </a:extLst>
          </p:cNvPr>
          <p:cNvSpPr txBox="1"/>
          <p:nvPr/>
        </p:nvSpPr>
        <p:spPr>
          <a:xfrm>
            <a:off x="3593465" y="2975525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8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Signal  Power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A7356BB-B8A1-2059-FCFA-4C7A62FF2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790" y="5816600"/>
            <a:ext cx="5617210" cy="508635"/>
          </a:xfrm>
          <a:prstGeom prst="rect">
            <a:avLst/>
          </a:prstGeom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id="{3F6BBAF1-E13B-AC9A-2796-1F57F086512A}"/>
              </a:ext>
            </a:extLst>
          </p:cNvPr>
          <p:cNvSpPr/>
          <p:nvPr/>
        </p:nvSpPr>
        <p:spPr>
          <a:xfrm>
            <a:off x="4189095" y="4860290"/>
            <a:ext cx="417195" cy="643890"/>
          </a:xfrm>
          <a:prstGeom prst="ellips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20413DE-6739-B39F-D49F-209F2EC38735}"/>
              </a:ext>
            </a:extLst>
          </p:cNvPr>
          <p:cNvSpPr/>
          <p:nvPr/>
        </p:nvSpPr>
        <p:spPr>
          <a:xfrm>
            <a:off x="8093572" y="4815509"/>
            <a:ext cx="1005976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471318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957" y="2134175"/>
            <a:ext cx="2598245" cy="2498312"/>
          </a:xfrm>
          <a:prstGeom prst="rect">
            <a:avLst/>
          </a:prstGeom>
        </p:spPr>
      </p:pic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57643" y="856888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7135898" y="1083127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7240038" y="997402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753871" y="2121328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/>
          <p:cNvSpPr/>
          <p:nvPr/>
        </p:nvSpPr>
        <p:spPr>
          <a:xfrm>
            <a:off x="1854058" y="1156152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1647217" y="2117541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2947529" y="1072332"/>
            <a:ext cx="922612" cy="551173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 dirty="0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 dirty="0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087187" y="2117541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4263793" y="1015182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5712863" y="938347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720583" y="1170757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42098" y="1428567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245728" y="1419677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338563" y="1396182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870141" y="1392641"/>
            <a:ext cx="3528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264553" y="1380307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154313" y="1387927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47278" y="1638117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089643" y="1639387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386625" y="1704295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221949" y="760223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5441663" y="1803217"/>
            <a:ext cx="0" cy="89524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723" y="4717532"/>
            <a:ext cx="2667000" cy="82867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25" y="4746524"/>
            <a:ext cx="5523345" cy="803001"/>
          </a:xfrm>
          <a:prstGeom prst="rect">
            <a:avLst/>
          </a:prstGeom>
        </p:spPr>
      </p:pic>
      <p:sp>
        <p:nvSpPr>
          <p:cNvPr id="32" name="箭头: 下 31"/>
          <p:cNvSpPr/>
          <p:nvPr/>
        </p:nvSpPr>
        <p:spPr bwMode="auto">
          <a:xfrm rot="16200000">
            <a:off x="5717073" y="4874932"/>
            <a:ext cx="196645" cy="590550"/>
          </a:xfrm>
          <a:prstGeom prst="downArrow">
            <a:avLst/>
          </a:prstGeom>
          <a:solidFill>
            <a:schemeClr val="bg1"/>
          </a:solidFill>
          <a:ln w="12700" cap="rnd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898" y="2449878"/>
            <a:ext cx="723900" cy="33621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786" y="3412616"/>
            <a:ext cx="377275" cy="60021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9776" y="3076225"/>
            <a:ext cx="514422" cy="46679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770" y="2711390"/>
            <a:ext cx="5357644" cy="1981317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  <a:prstDash val="lgDash"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6432" y="2798071"/>
            <a:ext cx="283891" cy="451646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4603" y="2628588"/>
            <a:ext cx="721485" cy="362592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1978" y="2548428"/>
            <a:ext cx="342889" cy="703633"/>
          </a:xfrm>
          <a:prstGeom prst="rect">
            <a:avLst/>
          </a:prstGeom>
        </p:spPr>
      </p:pic>
      <p:cxnSp>
        <p:nvCxnSpPr>
          <p:cNvPr id="53" name="直接箭头连接符 52"/>
          <p:cNvCxnSpPr/>
          <p:nvPr/>
        </p:nvCxnSpPr>
        <p:spPr>
          <a:xfrm flipV="1">
            <a:off x="7495573" y="1571258"/>
            <a:ext cx="0" cy="4639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1863" y="6017695"/>
            <a:ext cx="3348187" cy="87133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418" y="5885119"/>
            <a:ext cx="3581400" cy="942975"/>
          </a:xfrm>
          <a:prstGeom prst="rect">
            <a:avLst/>
          </a:prstGeom>
        </p:spPr>
      </p:pic>
      <p:sp>
        <p:nvSpPr>
          <p:cNvPr id="61" name="箭头: 下 60"/>
          <p:cNvSpPr/>
          <p:nvPr/>
        </p:nvSpPr>
        <p:spPr bwMode="auto">
          <a:xfrm rot="16200000">
            <a:off x="4352739" y="6195473"/>
            <a:ext cx="196645" cy="590550"/>
          </a:xfrm>
          <a:prstGeom prst="downArrow">
            <a:avLst/>
          </a:prstGeom>
          <a:solidFill>
            <a:schemeClr val="bg1"/>
          </a:solidFill>
          <a:ln w="12700" cap="rnd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3301953" y="6191741"/>
            <a:ext cx="716805" cy="49684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24122" y="5623679"/>
            <a:ext cx="4649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Large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 SNR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000" dirty="0"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1136" y="5536445"/>
            <a:ext cx="4168418" cy="65529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791" y="493813"/>
            <a:ext cx="3581400" cy="94297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755" y="2414602"/>
            <a:ext cx="2598245" cy="2498312"/>
          </a:xfrm>
          <a:prstGeom prst="rect">
            <a:avLst/>
          </a:prstGeom>
        </p:spPr>
      </p:pic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7441" y="1137315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7095696" y="1363554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7199836" y="1277829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713669" y="2401755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/>
          <p:cNvSpPr/>
          <p:nvPr/>
        </p:nvSpPr>
        <p:spPr>
          <a:xfrm>
            <a:off x="1813856" y="1436579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1607015" y="2397968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2907327" y="1352759"/>
            <a:ext cx="922612" cy="551173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 dirty="0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 dirty="0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046985" y="2397968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4223591" y="1295609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5672661" y="1218774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680381" y="1451184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01896" y="170899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205526" y="170010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298361" y="1676609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829939" y="1673068"/>
            <a:ext cx="3528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224351" y="1660734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114111" y="1668354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07076" y="191854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049441" y="191981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346423" y="1984722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181747" y="1040650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5401461" y="2083644"/>
            <a:ext cx="0" cy="89524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696" y="2730305"/>
            <a:ext cx="723900" cy="33621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584" y="3693043"/>
            <a:ext cx="377275" cy="60021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574" y="3356652"/>
            <a:ext cx="514422" cy="46679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5526" y="2994175"/>
            <a:ext cx="5357644" cy="1981317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  <a:prstDash val="lgDash"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13" y="3058996"/>
            <a:ext cx="283891" cy="451646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454" y="3038222"/>
            <a:ext cx="721485" cy="362592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1776" y="2828855"/>
            <a:ext cx="342889" cy="703633"/>
          </a:xfrm>
          <a:prstGeom prst="rect">
            <a:avLst/>
          </a:prstGeom>
        </p:spPr>
      </p:pic>
      <p:cxnSp>
        <p:nvCxnSpPr>
          <p:cNvPr id="53" name="直接箭头连接符 52"/>
          <p:cNvCxnSpPr/>
          <p:nvPr/>
        </p:nvCxnSpPr>
        <p:spPr>
          <a:xfrm flipV="1">
            <a:off x="7455371" y="1851685"/>
            <a:ext cx="0" cy="4639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944525"/>
            <a:ext cx="9144000" cy="679080"/>
          </a:xfrm>
          <a:prstGeom prst="rect">
            <a:avLst/>
          </a:prstGeom>
        </p:spPr>
      </p:pic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962552" y="2731607"/>
          <a:ext cx="357188" cy="494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62400" imgH="5486400" progId="Equation.DSMT4">
                  <p:embed/>
                </p:oleObj>
              </mc:Choice>
              <mc:Fallback>
                <p:oleObj name="Equation" r:id="rId12" imgW="3962400" imgH="548640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62552" y="2731607"/>
                        <a:ext cx="357188" cy="494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5" y="5272405"/>
            <a:ext cx="8947785" cy="553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791" y="493813"/>
            <a:ext cx="3581400" cy="94297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755" y="2414602"/>
            <a:ext cx="2598245" cy="2498312"/>
          </a:xfrm>
          <a:prstGeom prst="rect">
            <a:avLst/>
          </a:prstGeom>
        </p:spPr>
      </p:pic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7441" y="1137315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7095696" y="1363554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4" name="TextBox 8"/>
          <p:cNvSpPr txBox="1"/>
          <p:nvPr/>
        </p:nvSpPr>
        <p:spPr>
          <a:xfrm>
            <a:off x="7199836" y="1277829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7" name="TextBox 11"/>
          <p:cNvSpPr txBox="1"/>
          <p:nvPr/>
        </p:nvSpPr>
        <p:spPr>
          <a:xfrm>
            <a:off x="713669" y="2401755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8" name="Oval 12"/>
          <p:cNvSpPr/>
          <p:nvPr/>
        </p:nvSpPr>
        <p:spPr>
          <a:xfrm>
            <a:off x="1813856" y="1436579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9" name="TextBox 14"/>
          <p:cNvSpPr txBox="1"/>
          <p:nvPr/>
        </p:nvSpPr>
        <p:spPr>
          <a:xfrm>
            <a:off x="1607015" y="2397968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2907327" y="1352759"/>
            <a:ext cx="922612" cy="551173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 dirty="0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 dirty="0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 dirty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046985" y="2397968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4223591" y="1295609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5672661" y="1218774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680381" y="1451184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01896" y="170899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205526" y="1700104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298361" y="1676609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829939" y="1673068"/>
            <a:ext cx="3528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224351" y="1660734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114111" y="1668354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07076" y="191854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049441" y="1919814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3346423" y="1984722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5"/>
          <p:cNvSpPr txBox="1"/>
          <p:nvPr/>
        </p:nvSpPr>
        <p:spPr>
          <a:xfrm>
            <a:off x="2181747" y="1040650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5401461" y="2083644"/>
            <a:ext cx="0" cy="89524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696" y="2730305"/>
            <a:ext cx="723900" cy="33621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584" y="3693043"/>
            <a:ext cx="377275" cy="60021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574" y="3356652"/>
            <a:ext cx="514422" cy="46679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5526" y="2994175"/>
            <a:ext cx="5357644" cy="1981317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  <a:prstDash val="lgDash"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613" y="3058996"/>
            <a:ext cx="283891" cy="451646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454" y="3038222"/>
            <a:ext cx="721485" cy="362592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1776" y="2828855"/>
            <a:ext cx="342889" cy="703633"/>
          </a:xfrm>
          <a:prstGeom prst="rect">
            <a:avLst/>
          </a:prstGeom>
        </p:spPr>
      </p:pic>
      <p:cxnSp>
        <p:nvCxnSpPr>
          <p:cNvPr id="53" name="直接箭头连接符 52"/>
          <p:cNvCxnSpPr/>
          <p:nvPr/>
        </p:nvCxnSpPr>
        <p:spPr>
          <a:xfrm flipV="1">
            <a:off x="7455371" y="1851685"/>
            <a:ext cx="0" cy="4639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5944525"/>
            <a:ext cx="9144000" cy="679080"/>
          </a:xfrm>
          <a:prstGeom prst="rect">
            <a:avLst/>
          </a:prstGeom>
        </p:spPr>
      </p:pic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962552" y="2731607"/>
          <a:ext cx="357188" cy="494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62400" imgH="5486400" progId="Equation.DSMT4">
                  <p:embed/>
                </p:oleObj>
              </mc:Choice>
              <mc:Fallback>
                <p:oleObj name="Equation" r:id="rId12" imgW="3962400" imgH="5486400" progId="Equation.DSMT4">
                  <p:embed/>
                  <p:pic>
                    <p:nvPicPr>
                      <p:cNvPr id="0" name="图片 -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62552" y="2731607"/>
                        <a:ext cx="357188" cy="494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45" y="5272405"/>
            <a:ext cx="8947785" cy="553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" y="3346232"/>
            <a:ext cx="9144000" cy="1646007"/>
          </a:xfrm>
          <a:prstGeom prst="rect">
            <a:avLst/>
          </a:prstGeom>
        </p:spPr>
      </p:pic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8890" y="334475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31115" y="403552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890" y="496909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263842" y="333548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770835" y="334475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672455" y="333548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879450" y="333548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955623" y="3335482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019177" y="3335482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791694" y="334475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5"/>
          <p:cNvSpPr txBox="1"/>
          <p:nvPr/>
        </p:nvSpPr>
        <p:spPr>
          <a:xfrm>
            <a:off x="400547" y="1102336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7960857" y="1328575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8064997" y="1242850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1096775" y="2366776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21" name="Oval 12"/>
          <p:cNvSpPr/>
          <p:nvPr/>
        </p:nvSpPr>
        <p:spPr>
          <a:xfrm>
            <a:off x="2196962" y="1401600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22" name="TextBox 14"/>
          <p:cNvSpPr txBox="1"/>
          <p:nvPr/>
        </p:nvSpPr>
        <p:spPr>
          <a:xfrm>
            <a:off x="1990121" y="2362989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3" name="Rounded Rectangle 17"/>
          <p:cNvSpPr/>
          <p:nvPr/>
        </p:nvSpPr>
        <p:spPr>
          <a:xfrm>
            <a:off x="3290432" y="1317780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3581626" y="2362989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1"/>
          <p:cNvSpPr/>
          <p:nvPr/>
        </p:nvSpPr>
        <p:spPr>
          <a:xfrm>
            <a:off x="5088752" y="1260630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28" name="Rounded Rectangle 23"/>
          <p:cNvSpPr/>
          <p:nvPr/>
        </p:nvSpPr>
        <p:spPr>
          <a:xfrm>
            <a:off x="6537822" y="1183795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12"/>
          <p:cNvSpPr/>
          <p:nvPr/>
        </p:nvSpPr>
        <p:spPr>
          <a:xfrm>
            <a:off x="1063487" y="1416205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485002" y="1674015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1588632" y="1665125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2681467" y="1641630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4492487" y="1641630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6089512" y="1625755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979272" y="1633375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V="1">
            <a:off x="1290182" y="1883565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2432547" y="1884835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3888602" y="1984530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"/>
          <p:cNvSpPr txBox="1"/>
          <p:nvPr/>
        </p:nvSpPr>
        <p:spPr>
          <a:xfrm>
            <a:off x="2564853" y="1005671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5095" y="6243235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注：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50" y="3510915"/>
            <a:ext cx="1463675" cy="38544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650" y="4311015"/>
            <a:ext cx="1463675" cy="498475"/>
          </a:xfrm>
          <a:prstGeom prst="rect">
            <a:avLst/>
          </a:prstGeom>
        </p:spPr>
      </p:pic>
      <p:sp>
        <p:nvSpPr>
          <p:cNvPr id="26" name="椭圆 25"/>
          <p:cNvSpPr/>
          <p:nvPr/>
        </p:nvSpPr>
        <p:spPr>
          <a:xfrm>
            <a:off x="2090420" y="4310380"/>
            <a:ext cx="654050" cy="463550"/>
          </a:xfrm>
          <a:prstGeom prst="ellips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008245" y="4270375"/>
            <a:ext cx="654050" cy="463550"/>
          </a:xfrm>
          <a:prstGeom prst="ellips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25095" y="5191125"/>
            <a:ext cx="900557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Envelope detection removes the 1/2 power attenuation introduced by the high-frequency carrier.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" y="6202045"/>
            <a:ext cx="1958975" cy="49212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4F5FC0-A747-DEAE-D73D-272ED2D991DD}"/>
              </a:ext>
            </a:extLst>
          </p:cNvPr>
          <p:cNvSpPr/>
          <p:nvPr/>
        </p:nvSpPr>
        <p:spPr>
          <a:xfrm>
            <a:off x="5756988" y="4248265"/>
            <a:ext cx="1005976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98B89A0-33C5-DBDE-94BB-76D41CEFB825}"/>
              </a:ext>
            </a:extLst>
          </p:cNvPr>
          <p:cNvSpPr/>
          <p:nvPr/>
        </p:nvSpPr>
        <p:spPr>
          <a:xfrm>
            <a:off x="8086445" y="4237996"/>
            <a:ext cx="1005976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2836"/>
            <a:ext cx="9144000" cy="1577788"/>
          </a:xfrm>
          <a:prstGeom prst="rect">
            <a:avLst/>
          </a:prstGeom>
        </p:spPr>
      </p:pic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performance——Large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0060" y="812172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8040370" y="1038411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144510" y="952686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1176288" y="2076612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26" name="Oval 12"/>
          <p:cNvSpPr/>
          <p:nvPr/>
        </p:nvSpPr>
        <p:spPr>
          <a:xfrm>
            <a:off x="2276475" y="1111436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27" name="TextBox 14"/>
          <p:cNvSpPr txBox="1"/>
          <p:nvPr/>
        </p:nvSpPr>
        <p:spPr>
          <a:xfrm>
            <a:off x="2069634" y="2072825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9" name="Rounded Rectangle 17"/>
          <p:cNvSpPr/>
          <p:nvPr/>
        </p:nvSpPr>
        <p:spPr>
          <a:xfrm>
            <a:off x="3369945" y="1027616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661139" y="2072825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21"/>
          <p:cNvSpPr/>
          <p:nvPr/>
        </p:nvSpPr>
        <p:spPr>
          <a:xfrm>
            <a:off x="5168265" y="970466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35" name="Rounded Rectangle 23"/>
          <p:cNvSpPr/>
          <p:nvPr/>
        </p:nvSpPr>
        <p:spPr>
          <a:xfrm>
            <a:off x="6617335" y="893631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12"/>
          <p:cNvSpPr/>
          <p:nvPr/>
        </p:nvSpPr>
        <p:spPr>
          <a:xfrm>
            <a:off x="1143000" y="1126041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564515" y="138385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668145" y="1374961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276098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4572000" y="1351466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169025" y="1335591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8058785" y="1343211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1369695" y="159340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2512060" y="1594671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3968115" y="1694366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5"/>
          <p:cNvSpPr txBox="1"/>
          <p:nvPr/>
        </p:nvSpPr>
        <p:spPr>
          <a:xfrm>
            <a:off x="2644366" y="715507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50913" y="2825050"/>
            <a:ext cx="7807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Special case</a:t>
            </a:r>
            <a:r>
              <a:rPr lang="en-US" altLang="zh-CN" b="1" dirty="0"/>
              <a:t>:</a:t>
            </a:r>
            <a:r>
              <a:rPr lang="zh-CN" altLang="en-US" b="1" dirty="0"/>
              <a:t> </a:t>
            </a:r>
            <a:r>
              <a:rPr lang="zh-CN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single‑tone sinusoidal signal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单音正弦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信号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0" y="343492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-19368" y="4125697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0" y="5059260"/>
            <a:ext cx="90995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254952" y="342565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852432" y="343492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901702" y="342565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094812" y="3425653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8277860" y="343492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237438" y="343492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47544" y="3434927"/>
            <a:ext cx="0" cy="163360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70" y="3568065"/>
            <a:ext cx="1463675" cy="38544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3517B20-E4EF-D39B-0385-9B19B0230542}"/>
              </a:ext>
            </a:extLst>
          </p:cNvPr>
          <p:cNvSpPr txBox="1"/>
          <p:nvPr/>
        </p:nvSpPr>
        <p:spPr>
          <a:xfrm>
            <a:off x="23034" y="5711101"/>
            <a:ext cx="92650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zh-CN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&lt;1, AM envelope detection provides no SNR gain and exhibits poor noise performance.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DD76D2-79C5-C932-FF3D-F290F7D71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310" y="5188604"/>
            <a:ext cx="3629973" cy="63709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2BE546-B592-AED8-DBCE-4EFAD1D63750}"/>
              </a:ext>
            </a:extLst>
          </p:cNvPr>
          <p:cNvSpPr/>
          <p:nvPr/>
        </p:nvSpPr>
        <p:spPr>
          <a:xfrm>
            <a:off x="5952664" y="4286922"/>
            <a:ext cx="1005976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EAEE07-6D7A-7D7B-F7BC-D844C719D706}"/>
              </a:ext>
            </a:extLst>
          </p:cNvPr>
          <p:cNvSpPr/>
          <p:nvPr/>
        </p:nvSpPr>
        <p:spPr>
          <a:xfrm>
            <a:off x="8326572" y="4337504"/>
            <a:ext cx="753610" cy="62138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performance——Small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85030" y="2138146"/>
            <a:ext cx="618759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8045340" y="2364385"/>
            <a:ext cx="723900" cy="304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m(t)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8149480" y="2278660"/>
            <a:ext cx="2667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1181258" y="3402586"/>
            <a:ext cx="403957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微软雅黑" panose="020B0503020204020204" charset="-122"/>
                <a:ea typeface="微软雅黑" panose="020B0503020204020204" charset="-122"/>
              </a:rPr>
              <a:t>₀</a:t>
            </a:r>
          </a:p>
        </p:txBody>
      </p:sp>
      <p:sp>
        <p:nvSpPr>
          <p:cNvPr id="9" name="Oval 12"/>
          <p:cNvSpPr/>
          <p:nvPr/>
        </p:nvSpPr>
        <p:spPr>
          <a:xfrm>
            <a:off x="2281445" y="2437410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</a:p>
        </p:txBody>
      </p:sp>
      <p:sp>
        <p:nvSpPr>
          <p:cNvPr id="10" name="TextBox 14"/>
          <p:cNvSpPr txBox="1"/>
          <p:nvPr/>
        </p:nvSpPr>
        <p:spPr>
          <a:xfrm>
            <a:off x="2074604" y="3398799"/>
            <a:ext cx="95058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cos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ω</a:t>
            </a:r>
            <a:r>
              <a:rPr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sz="28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endParaRPr sz="2800" b="1" i="1" dirty="0">
              <a:solidFill>
                <a:srgbClr val="0E3F8C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3374915" y="2353590"/>
            <a:ext cx="1202055" cy="66675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500" b="1">
              <a:solidFill>
                <a:srgbClr val="4444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444441"/>
                </a:solidFill>
                <a:latin typeface="微软雅黑" panose="020B0503020204020204" charset="-122"/>
                <a:ea typeface="微软雅黑" panose="020B0503020204020204" charset="-122"/>
              </a:rPr>
              <a:t>Channel</a:t>
            </a:r>
          </a:p>
          <a:p>
            <a:pPr algn="ctr"/>
            <a:endParaRPr sz="1050" b="0">
              <a:solidFill>
                <a:srgbClr val="5F5E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9"/>
          <p:cNvSpPr txBox="1"/>
          <p:nvPr/>
        </p:nvSpPr>
        <p:spPr>
          <a:xfrm>
            <a:off x="3666109" y="3398799"/>
            <a:ext cx="61395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endParaRPr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21"/>
          <p:cNvSpPr/>
          <p:nvPr/>
        </p:nvSpPr>
        <p:spPr>
          <a:xfrm>
            <a:off x="5173235" y="2296440"/>
            <a:ext cx="990600" cy="74676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BPF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6622305" y="2219605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2"/>
          <p:cNvSpPr/>
          <p:nvPr/>
        </p:nvSpPr>
        <p:spPr>
          <a:xfrm>
            <a:off x="1147970" y="2452015"/>
            <a:ext cx="470535" cy="4673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569485" y="2709825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673115" y="2700935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765950" y="2677440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576970" y="2677440"/>
            <a:ext cx="5746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173995" y="2661565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8063755" y="2669185"/>
            <a:ext cx="76263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1374665" y="2919375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2517030" y="2920645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3973085" y="3020340"/>
            <a:ext cx="0" cy="3784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5"/>
          <p:cNvSpPr txBox="1"/>
          <p:nvPr/>
        </p:nvSpPr>
        <p:spPr>
          <a:xfrm>
            <a:off x="2649336" y="2041481"/>
            <a:ext cx="698909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 err="1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E3F8C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942" y="844753"/>
            <a:ext cx="2997370" cy="69812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6" y="4936990"/>
            <a:ext cx="5506672" cy="902733"/>
          </a:xfrm>
          <a:prstGeom prst="rect">
            <a:avLst/>
          </a:prstGeom>
        </p:spPr>
      </p:pic>
      <p:sp>
        <p:nvSpPr>
          <p:cNvPr id="28" name="爆炸形: 14 pt  27"/>
          <p:cNvSpPr/>
          <p:nvPr/>
        </p:nvSpPr>
        <p:spPr bwMode="auto">
          <a:xfrm>
            <a:off x="2451813" y="4615243"/>
            <a:ext cx="3991896" cy="1376622"/>
          </a:xfrm>
          <a:prstGeom prst="irregularSeal2">
            <a:avLst/>
          </a:prstGeom>
          <a:noFill/>
          <a:ln>
            <a:solidFill>
              <a:srgbClr val="00B0F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38716" y="5180214"/>
            <a:ext cx="2445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The signal is </a:t>
            </a:r>
            <a:endParaRPr lang="en-US" altLang="zh-CN" dirty="0"/>
          </a:p>
          <a:p>
            <a:r>
              <a:rPr lang="zh-CN" altLang="zh-CN" dirty="0"/>
              <a:t>corrupted</a:t>
            </a:r>
            <a:r>
              <a:rPr lang="zh-CN" altLang="en-US" dirty="0"/>
              <a:t>扰乱</a:t>
            </a:r>
            <a:r>
              <a:rPr lang="zh-CN" altLang="zh-CN" dirty="0"/>
              <a:t> by noise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63875" y="985203"/>
            <a:ext cx="4576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Small SNR:</a:t>
            </a:r>
            <a:endParaRPr lang="zh-CN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6258712" y="1666964"/>
            <a:ext cx="2770987" cy="1881694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394035" y="3156801"/>
            <a:ext cx="3867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Demodulation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performance——Small SNR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70055" y="4981769"/>
            <a:ext cx="9003890" cy="984693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49580" indent="-44958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marL="337185" indent="-337185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Threshold effect:</a:t>
            </a:r>
          </a:p>
          <a:p>
            <a:pPr marL="337185" indent="-337185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zh-CN" sz="18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	</a:t>
            </a:r>
            <a:r>
              <a:rPr lang="zh-CN" altLang="zh-CN" sz="18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If the input signal‑to‑noise ratio drops below a specific threshold, the output signal‑to‑noise ratio deteriorates much faster than the input SNR.</a:t>
            </a:r>
            <a:endParaRPr lang="en-US" altLang="zh-CN" sz="1800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132747" y="6075095"/>
            <a:ext cx="7306808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62255" indent="-262255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lnSpc>
                <a:spcPct val="115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marL="196850" indent="-196850"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zh-CN" sz="1800" b="0" dirty="0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Nonlinear detector(envelope detector) has a threshold effect.</a:t>
            </a:r>
          </a:p>
        </p:txBody>
      </p:sp>
      <p:sp>
        <p:nvSpPr>
          <p:cNvPr id="14" name="Rounded Rectangle 23"/>
          <p:cNvSpPr/>
          <p:nvPr/>
        </p:nvSpPr>
        <p:spPr>
          <a:xfrm>
            <a:off x="1563286" y="2656225"/>
            <a:ext cx="1431925" cy="86487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Envelope detector</a:t>
            </a:r>
            <a:endParaRPr sz="165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293203" y="3098185"/>
            <a:ext cx="1259923" cy="7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004736" y="3105805"/>
            <a:ext cx="1271654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942" y="844753"/>
            <a:ext cx="2997370" cy="698122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0344" y="999894"/>
            <a:ext cx="4576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Small SNR:</a:t>
            </a:r>
            <a:endParaRPr lang="zh-CN" altLang="en-US" sz="2400" dirty="0"/>
          </a:p>
        </p:txBody>
      </p:sp>
      <p:pic>
        <p:nvPicPr>
          <p:cNvPr id="34" name="Object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254" y="1230726"/>
            <a:ext cx="3553591" cy="3753027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766" y="2398588"/>
            <a:ext cx="424524" cy="74550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3527" y="2390218"/>
            <a:ext cx="545249" cy="698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 txBox="1"/>
          <p:nvPr/>
        </p:nvSpPr>
        <p:spPr>
          <a:xfrm>
            <a:off x="0" y="-46493"/>
            <a:ext cx="9144000" cy="76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defPPr>
              <a:defRPr lang="en-US"/>
            </a:defPPr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black"/>
                </a:solidFill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pitchFamily="2" charset="-122"/>
                <a:cs typeface="Times New Roman" panose="02020603050405020304" pitchFamily="18" charset="0"/>
              </a:rPr>
              <a:t>Anti-noise performance——Small SNR video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AM包络检波门限效应_课堂演示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325" y="1155700"/>
            <a:ext cx="9053195" cy="5274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" y="66040"/>
            <a:ext cx="9144001" cy="762000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Communication System Project</a:t>
            </a:r>
            <a:endParaRPr lang="en-US" altLang="zh-CN" sz="3600" b="1" dirty="0">
              <a:solidFill>
                <a:prstClr val="black"/>
              </a:solidFill>
              <a:latin typeface="Times New Roman" panose="02020603050405020304" pitchFamily="18" charset="0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1348" y="1213787"/>
            <a:ext cx="9824827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3600" b="1" dirty="0">
                <a:solidFill>
                  <a:srgbClr val="00B050"/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athematical model: abstraction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数学模型：抽象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Time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&amp;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frequency-domain characteristics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</a:t>
            </a: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时域频域特性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Anti-noise performance 抗噪声性能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Practical AM system 实际 AM 系统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349" y="4730177"/>
            <a:ext cx="391233" cy="318646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Freeform 3"/>
          <p:cNvSpPr/>
          <p:nvPr/>
        </p:nvSpPr>
        <p:spPr>
          <a:xfrm>
            <a:off x="4483" y="4735356"/>
            <a:ext cx="383017" cy="308287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50" y="133350"/>
            <a:ext cx="5905500" cy="4000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 Real AM Communication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750" y="742950"/>
            <a:ext cx="8572500" cy="474345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0365" y="933450"/>
            <a:ext cx="8172450" cy="112395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3715" y="1009650"/>
            <a:ext cx="38100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Transmitter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365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Microphone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290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Band-limiting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0.3–3.4 kHz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52215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AM modulator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[Ac+m(t)]·cosωct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8140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Band-pass filter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BPF · fc±B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4065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Power amplifier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Class C → antenna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99590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1940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85515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7865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71440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23790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s(t)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57365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9715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s(t)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305040" y="2000250"/>
            <a:ext cx="266700" cy="28575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2540" y="2038350"/>
            <a:ext cx="9144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modulated RF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3965" y="2286000"/>
            <a:ext cx="2228850" cy="666750"/>
          </a:xfrm>
          <a:prstGeom prst="roundRect">
            <a:avLst>
              <a:gd name="adj" fmla="val 30000"/>
            </a:avLst>
          </a:prstGeom>
          <a:solidFill>
            <a:srgbClr val="F1EFE8"/>
          </a:solidFill>
          <a:ln w="9525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Channel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AWGN + attenuation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6290" y="3009900"/>
            <a:ext cx="139065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r(t)=s(t)+n(t)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0365" y="3295650"/>
            <a:ext cx="8172450" cy="112395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3715" y="3371850"/>
            <a:ext cx="38100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Receiver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0365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Loudspeaker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Recover m(t)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66290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Audio amplifier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AF gain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52215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DC blocking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Remove 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38140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Envelope det.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Diode + RC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24065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RF amplifier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+ BPF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1799590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32890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3485515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18815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5171440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04740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envelope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6857365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90665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r(t)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42990" y="4381500"/>
            <a:ext cx="0" cy="228600"/>
          </a:xfrm>
          <a:prstGeom prst="line">
            <a:avLst/>
          </a:prstGeom>
          <a:ln w="19050">
            <a:solidFill>
              <a:srgbClr val="3B6D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10150" y="4610100"/>
            <a:ext cx="2457450" cy="514350"/>
          </a:xfrm>
          <a:prstGeom prst="roundRect">
            <a:avLst>
              <a:gd name="adj" fmla="val 20000"/>
            </a:avLst>
          </a:prstGeom>
          <a:solidFill>
            <a:srgbClr val="EAF3DE"/>
          </a:solidFill>
          <a:ln w="952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No local carrier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3B6D1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No carrier 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150" y="4705350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B6D1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vs DSB-SC: no carrier-recovery circuit needed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0" y="5162550"/>
            <a:ext cx="817245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80" b="0" i="0" u="none" strike="noStrike" kern="1200" cap="none" spc="0" normalizeH="0" baseline="0" noProof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Chain: mic → AM mod → PA → channel → RF amp → envelope det. → DC block → audio amp → speaker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5750" y="5619750"/>
            <a:ext cx="8572500" cy="628650"/>
          </a:xfrm>
          <a:prstGeom prst="roundRect">
            <a:avLst>
              <a:gd name="adj" fmla="val 9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0" rIns="13335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E3F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Envelope detection needs no local carrier — that is why AM receivers stay simple and cheap.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Trade-off: AM wastes about two thirds of transmitter power on the carrier (max efficiency 33%).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750" y="653415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7A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Communication Principles · Amplitude Modulation (AM)</a:t>
            </a:r>
          </a:p>
        </p:txBody>
      </p:sp>
      <p:sp>
        <p:nvSpPr>
          <p:cNvPr id="4" name="Down Arrow 20"/>
          <p:cNvSpPr/>
          <p:nvPr/>
        </p:nvSpPr>
        <p:spPr>
          <a:xfrm>
            <a:off x="7339965" y="3009900"/>
            <a:ext cx="266700" cy="28575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0" y="2952750"/>
            <a:ext cx="1009015" cy="70612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257300"/>
            <a:ext cx="841375" cy="8413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50" y="133350"/>
            <a:ext cx="5905500" cy="4000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AM 通信系统实际链路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190500"/>
            <a:ext cx="2667000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A9C2E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通信原理 · 模拟幅度调制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750" y="742950"/>
            <a:ext cx="8572500" cy="474345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6250" y="933450"/>
            <a:ext cx="8172450" cy="112395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009650"/>
            <a:ext cx="38100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发射机 Transmitter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信源话筒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75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限带滤波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0.3–3.4 kHz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8100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AM 调制器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[Ac+m(t)]·cosωct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4025" y="13335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带通滤波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BPF · fc±B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9950" y="1333500"/>
            <a:ext cx="132905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功率放大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 类 → 天线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95475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7825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81400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3750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67325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19675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s(t)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53250" y="1581150"/>
            <a:ext cx="266700" cy="171450"/>
          </a:xfrm>
          <a:prstGeom prst="rightArrow">
            <a:avLst>
              <a:gd name="adj1" fmla="val 62000"/>
              <a:gd name="adj2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5600" y="1371600"/>
            <a:ext cx="7620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85F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s(t)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400925" y="2000250"/>
            <a:ext cx="266700" cy="28575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8425" y="2038350"/>
            <a:ext cx="9144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已调信号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850" y="2286000"/>
            <a:ext cx="2228850" cy="666750"/>
          </a:xfrm>
          <a:prstGeom prst="roundRect">
            <a:avLst>
              <a:gd name="adj" fmla="val 30000"/>
            </a:avLst>
          </a:prstGeom>
          <a:solidFill>
            <a:srgbClr val="F1EFE8"/>
          </a:solidFill>
          <a:ln w="9525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信道 Channel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AWGN + 衰减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2175" y="3009900"/>
            <a:ext cx="139065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r(t)=s(t)+n(t)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250" y="3295650"/>
            <a:ext cx="8172450" cy="112395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600" y="3371850"/>
            <a:ext cx="38100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接收机 Receiver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6250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扬声器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恢复 m(t)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62175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音频功放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低频放大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8100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隔直耦合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去掉 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4025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包络检波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二极管 + RC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19950" y="3695700"/>
            <a:ext cx="1419225" cy="6667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712B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高频放大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+ BPF</a:t>
            </a:r>
          </a:p>
        </p:txBody>
      </p:sp>
      <p:sp>
        <p:nvSpPr>
          <p:cNvPr id="33" name="Left Arrow 32"/>
          <p:cNvSpPr/>
          <p:nvPr/>
        </p:nvSpPr>
        <p:spPr>
          <a:xfrm>
            <a:off x="1895475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28775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3581400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14700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m(t)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5267325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00625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包络</a:t>
            </a:r>
          </a:p>
        </p:txBody>
      </p:sp>
      <p:sp>
        <p:nvSpPr>
          <p:cNvPr id="39" name="Left Arrow 38"/>
          <p:cNvSpPr/>
          <p:nvPr/>
        </p:nvSpPr>
        <p:spPr>
          <a:xfrm>
            <a:off x="6953250" y="3943350"/>
            <a:ext cx="266700" cy="171450"/>
          </a:xfrm>
          <a:prstGeom prst="leftArrow">
            <a:avLst>
              <a:gd name="adj1" fmla="val 62000"/>
              <a:gd name="adj2" fmla="val 50000"/>
            </a:avLst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86550" y="3733800"/>
            <a:ext cx="8001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3C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r(t)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38875" y="4381500"/>
            <a:ext cx="0" cy="228600"/>
          </a:xfrm>
          <a:prstGeom prst="line">
            <a:avLst/>
          </a:prstGeom>
          <a:ln w="19050">
            <a:solidFill>
              <a:srgbClr val="3B6D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010150" y="4610100"/>
            <a:ext cx="2457450" cy="514350"/>
          </a:xfrm>
          <a:prstGeom prst="roundRect">
            <a:avLst>
              <a:gd name="adj" fmla="val 20000"/>
            </a:avLst>
          </a:prstGeom>
          <a:solidFill>
            <a:srgbClr val="EAF3DE"/>
          </a:solidFill>
          <a:ln w="952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本地载波：不需要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20" b="0" i="0" u="none" strike="noStrike" kern="1200" cap="none" spc="0" normalizeH="0" baseline="0" noProof="0">
                <a:ln>
                  <a:noFill/>
                </a:ln>
                <a:solidFill>
                  <a:srgbClr val="3B6D1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无需载波同步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150" y="4705350"/>
            <a:ext cx="4000500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B6D1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对比 DSB-SC：省去载波同步电路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0" y="5162550"/>
            <a:ext cx="817245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全链路：话筒 → 限带 → AM 调制 → 功放 → 信道 → 高放 → 包络检波 → 隔直 → 音频功放 → 扬声器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5750" y="5619750"/>
            <a:ext cx="8572500" cy="628650"/>
          </a:xfrm>
          <a:prstGeom prst="roundRect">
            <a:avLst>
              <a:gd name="adj" fmla="val 9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0" rIns="13335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E3F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包络检波不需要本地载波 —— 这正是 AM 接收机简单、便宜的原因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代价：AM 把约三分之二的发射功率浪费在载波上（最高效率 33%），换来这份简单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750" y="653415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7A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通信原理 · 幅度调制（AM）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0" y="6534150"/>
            <a:ext cx="5715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1E4FA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 / 2</a:t>
            </a:r>
          </a:p>
        </p:txBody>
      </p:sp>
      <p:sp>
        <p:nvSpPr>
          <p:cNvPr id="48" name="Down Arrow 20"/>
          <p:cNvSpPr/>
          <p:nvPr/>
        </p:nvSpPr>
        <p:spPr>
          <a:xfrm>
            <a:off x="7435850" y="3009900"/>
            <a:ext cx="266700" cy="28575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5F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6675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50" y="125626"/>
            <a:ext cx="5198539" cy="4154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AM </a:t>
            </a:r>
            <a:r>
              <a:rPr kumimoji="0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通信系统实际链路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——video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音乐演示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325563"/>
            <a:ext cx="9144000" cy="42052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8425"/>
            <a:ext cx="9143365" cy="733425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Commercial Medium-wave AM Broadcasting System Parameters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200"/>
            <a:ext cx="9144000" cy="5556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8427"/>
            <a:ext cx="8858250" cy="733424"/>
          </a:xfr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/>
          <a:p>
            <a:pPr defTabSz="457200" fontAlgn="base">
              <a:spcAft>
                <a:spcPct val="0"/>
              </a:spcAft>
            </a:pPr>
            <a:r>
              <a:rPr lang="zh-CN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商用中波 AM 广播系统参数</a:t>
            </a:r>
            <a:endParaRPr lang="zh-CN" altLang="en-US" sz="32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850"/>
            <a:ext cx="9144000" cy="5521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35" y="53975"/>
            <a:ext cx="9144000" cy="4610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vert="horz" wrap="square" lIns="91440" tIns="45720" rIns="91440" bIns="45720" rtlCol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 fontAlgn="base"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Example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514985"/>
            <a:ext cx="9144000" cy="21691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2905125"/>
            <a:ext cx="9143365" cy="20758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575"/>
            <a:ext cx="9143365" cy="20758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5" y="239713"/>
            <a:ext cx="5080000" cy="5340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fontAlgn="base">
              <a:lnSpc>
                <a:spcPct val="9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Known Conditions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1008380"/>
            <a:ext cx="9144000" cy="1052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通信原理二">
  <a:themeElements>
    <a:clrScheme name="通信原理二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通信原理二">
      <a:majorFont>
        <a:latin typeface="Times New Roman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通信原理二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信原理二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U演示模板">
  <a:themeElements>
    <a:clrScheme name="SEU演示模板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SEU演示模板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SEU演示模板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3174</Words>
  <Application>Microsoft Office PowerPoint</Application>
  <PresentationFormat>全屏显示(4:3)</PresentationFormat>
  <Paragraphs>442</Paragraphs>
  <Slides>40</Slides>
  <Notes>14</Notes>
  <HiddenSlides>0</HiddenSlides>
  <MMClips>3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等线</vt:lpstr>
      <vt:lpstr>宋体</vt:lpstr>
      <vt:lpstr>微软雅黑</vt:lpstr>
      <vt:lpstr>Arial</vt:lpstr>
      <vt:lpstr>Calibri</vt:lpstr>
      <vt:lpstr>Calibri Light</vt:lpstr>
      <vt:lpstr>Comic Sans MS</vt:lpstr>
      <vt:lpstr>Helvetica</vt:lpstr>
      <vt:lpstr>Tahoma</vt:lpstr>
      <vt:lpstr>Times New Roman</vt:lpstr>
      <vt:lpstr>Wingdings</vt:lpstr>
      <vt:lpstr>Office 2013 - 2022 主题</vt:lpstr>
      <vt:lpstr>通信原理二</vt:lpstr>
      <vt:lpstr>SEU演示模板</vt:lpstr>
      <vt:lpstr>Equation</vt:lpstr>
      <vt:lpstr>Chapter 4 Continuous-Wave Modulation (连续波调制)</vt:lpstr>
      <vt:lpstr>PowerPoint 演示文稿</vt:lpstr>
      <vt:lpstr>  Modulation调制</vt:lpstr>
      <vt:lpstr>PowerPoint 演示文稿</vt:lpstr>
      <vt:lpstr>AM Communication System Project                           —— 以语音信号为例</vt:lpstr>
      <vt:lpstr>AM Communication System Project                           —— 以语音信号为例</vt:lpstr>
      <vt:lpstr>PowerPoint 演示文稿</vt:lpstr>
      <vt:lpstr>AM Communication System Project</vt:lpstr>
      <vt:lpstr>PowerPoint 演示文稿</vt:lpstr>
      <vt:lpstr>PowerPoint 演示文稿</vt:lpstr>
      <vt:lpstr>AM Communication System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Definition of Modulation Index ma</vt:lpstr>
      <vt:lpstr>PowerPoint 演示文稿</vt:lpstr>
      <vt:lpstr>PowerPoint 演示文稿</vt:lpstr>
      <vt:lpstr>AM Communication System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AM Communication System Project</vt:lpstr>
      <vt:lpstr>PowerPoint 演示文稿</vt:lpstr>
      <vt:lpstr>PowerPoint 演示文稿</vt:lpstr>
      <vt:lpstr>PowerPoint 演示文稿</vt:lpstr>
      <vt:lpstr>Commercial Medium-wave AM Broadcasting System Parameters</vt:lpstr>
      <vt:lpstr>商用中波 AM 广播系统参数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YP</dc:creator>
  <cp:lastModifiedBy>Z YP</cp:lastModifiedBy>
  <cp:revision>111</cp:revision>
  <dcterms:created xsi:type="dcterms:W3CDTF">2023-08-09T12:44:00Z</dcterms:created>
  <dcterms:modified xsi:type="dcterms:W3CDTF">2026-10-07T09:11:26Z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35AB9545A8AE4E6F867059F50350348A_12</vt:lpwstr>
  </property>
</Properties>
</file>