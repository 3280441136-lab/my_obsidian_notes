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19"/>
  </p:notesMasterIdLst>
  <p:handoutMasterIdLst>
    <p:handoutMasterId r:id="rId50"/>
  </p:handoutMasterIdLst>
  <p:sldIdLst>
    <p:sldId id="412" r:id="rId4"/>
    <p:sldId id="292" r:id="rId5"/>
    <p:sldId id="788" r:id="rId6"/>
    <p:sldId id="760" r:id="rId7"/>
    <p:sldId id="789" r:id="rId8"/>
    <p:sldId id="709" r:id="rId9"/>
    <p:sldId id="566" r:id="rId10"/>
    <p:sldId id="803" r:id="rId11"/>
    <p:sldId id="804" r:id="rId12"/>
    <p:sldId id="835" r:id="rId13"/>
    <p:sldId id="742" r:id="rId14"/>
    <p:sldId id="773" r:id="rId15"/>
    <p:sldId id="664" r:id="rId16"/>
    <p:sldId id="806" r:id="rId17"/>
    <p:sldId id="747" r:id="rId18"/>
    <p:sldId id="826" r:id="rId20"/>
    <p:sldId id="827" r:id="rId21"/>
    <p:sldId id="829" r:id="rId22"/>
    <p:sldId id="270" r:id="rId23"/>
    <p:sldId id="807" r:id="rId24"/>
    <p:sldId id="808" r:id="rId25"/>
    <p:sldId id="816" r:id="rId26"/>
    <p:sldId id="817" r:id="rId27"/>
    <p:sldId id="273" r:id="rId28"/>
    <p:sldId id="815" r:id="rId29"/>
    <p:sldId id="810" r:id="rId30"/>
    <p:sldId id="811" r:id="rId31"/>
    <p:sldId id="812" r:id="rId32"/>
    <p:sldId id="748" r:id="rId33"/>
    <p:sldId id="813" r:id="rId34"/>
    <p:sldId id="814" r:id="rId35"/>
    <p:sldId id="745" r:id="rId36"/>
    <p:sldId id="472" r:id="rId37"/>
    <p:sldId id="818" r:id="rId38"/>
    <p:sldId id="831" r:id="rId39"/>
    <p:sldId id="832" r:id="rId40"/>
    <p:sldId id="323" r:id="rId41"/>
    <p:sldId id="820" r:id="rId42"/>
    <p:sldId id="822" r:id="rId43"/>
    <p:sldId id="833" r:id="rId44"/>
    <p:sldId id="821" r:id="rId45"/>
    <p:sldId id="823" r:id="rId46"/>
    <p:sldId id="825" r:id="rId47"/>
    <p:sldId id="824" r:id="rId48"/>
    <p:sldId id="790" r:id="rId49"/>
  </p:sldIdLst>
  <p:sldSz cx="9144000" cy="6858000" type="screen4x3"/>
  <p:notesSz cx="9144000" cy="6858000"/>
  <p:custDataLst>
    <p:tags r:id="rId5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uzhu" initials="Julie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8000"/>
    <a:srgbClr val="FFFF00"/>
    <a:srgbClr val="FF9966"/>
    <a:srgbClr val="FF33CC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244" autoAdjust="0"/>
  </p:normalViewPr>
  <p:slideViewPr>
    <p:cSldViewPr snapToGrid="0">
      <p:cViewPr varScale="1">
        <p:scale>
          <a:sx n="96" d="100"/>
          <a:sy n="96" d="100"/>
        </p:scale>
        <p:origin x="109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2064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5" Type="http://schemas.openxmlformats.org/officeDocument/2006/relationships/tags" Target="tags/tag1.xml"/><Relationship Id="rId54" Type="http://schemas.openxmlformats.org/officeDocument/2006/relationships/commentAuthors" Target="commentAuthors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35.wmf"/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1.wmf"/></Relationships>
</file>

<file path=ppt/drawings/_rels/vmlDrawing5.vml.rels><?xml version="1.0" encoding="UTF-8" standalone="yes"?>
<Relationships xmlns="http://schemas.openxmlformats.org/package/2006/relationships"><Relationship Id="rId6" Type="http://schemas.openxmlformats.org/officeDocument/2006/relationships/image" Target="../media/image41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9.emf"/><Relationship Id="rId1" Type="http://schemas.openxmlformats.org/officeDocument/2006/relationships/image" Target="../media/image68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69.emf"/><Relationship Id="rId1" Type="http://schemas.openxmlformats.org/officeDocument/2006/relationships/image" Target="../media/image68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EA8046-0037-4AF9-8FE3-CF899BA8CC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4DA8D4-D1C7-4661-968A-EA71FE7BB23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1AB3BF-FFF8-4BF5-8951-BB7D44BEDDB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AB3BF-FFF8-4BF5-8951-BB7D44BEDD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AB3BF-FFF8-4BF5-8951-BB7D44BEDD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AB3BF-FFF8-4BF5-8951-BB7D44BEDD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150940" y="214313"/>
            <a:ext cx="7793037" cy="91916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927102" y="1538288"/>
            <a:ext cx="3944938" cy="23987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4438" y="1538288"/>
            <a:ext cx="3944937" cy="23987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927102" y="4089400"/>
            <a:ext cx="3944938" cy="24003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024438" y="4089400"/>
            <a:ext cx="3944937" cy="24003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6B3B8EB-B6A4-4388-AD54-72480ABF0356}" type="slidenum">
              <a:rPr lang="en-US" altLang="zh-CN" smtClean="0"/>
            </a:fld>
            <a:r>
              <a:rPr lang="en-US" altLang="zh-CN" dirty="0"/>
              <a:t>/54</a:t>
            </a:r>
            <a:endParaRPr lang="en-US" altLang="zh-CN" dirty="0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  <p:sp>
        <p:nvSpPr>
          <p:cNvPr id="5" name="文本框 6"/>
          <p:cNvSpPr txBox="1"/>
          <p:nvPr userDrawn="1"/>
        </p:nvSpPr>
        <p:spPr>
          <a:xfrm>
            <a:off x="143828" y="1"/>
            <a:ext cx="7398503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lvl="0" eaLnBrk="0" hangingPunct="0"/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Principles of Communications      Chapter 2  Random Processes—— Part 1</a:t>
            </a:r>
            <a:endParaRPr lang="en-US" altLang="zh-CN" dirty="0">
              <a:solidFill>
                <a:srgbClr val="0070C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>
              <a:defRPr/>
            </a:pPr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wmf"/><Relationship Id="rId3" Type="http://schemas.openxmlformats.org/officeDocument/2006/relationships/oleObject" Target="../embeddings/oleObject1.bin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9.wmf"/><Relationship Id="rId1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wmf"/><Relationship Id="rId8" Type="http://schemas.openxmlformats.org/officeDocument/2006/relationships/oleObject" Target="../embeddings/oleObject6.bin"/><Relationship Id="rId7" Type="http://schemas.openxmlformats.org/officeDocument/2006/relationships/image" Target="../media/image34.png"/><Relationship Id="rId6" Type="http://schemas.openxmlformats.org/officeDocument/2006/relationships/image" Target="../media/image33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32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31.wmf"/><Relationship Id="rId11" Type="http://schemas.openxmlformats.org/officeDocument/2006/relationships/vmlDrawing" Target="../drawings/vmlDrawing3.vml"/><Relationship Id="rId10" Type="http://schemas.openxmlformats.org/officeDocument/2006/relationships/slideLayout" Target="../slideLayouts/slideLayout2.xml"/><Relationship Id="rId1" Type="http://schemas.openxmlformats.org/officeDocument/2006/relationships/oleObject" Target="../embeddings/oleObject3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36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31.wmf"/><Relationship Id="rId1" Type="http://schemas.openxmlformats.org/officeDocument/2006/relationships/oleObject" Target="../embeddings/oleObject7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.bin"/><Relationship Id="rId8" Type="http://schemas.openxmlformats.org/officeDocument/2006/relationships/image" Target="../media/image32.wmf"/><Relationship Id="rId7" Type="http://schemas.openxmlformats.org/officeDocument/2006/relationships/oleObject" Target="../embeddings/oleObject13.bin"/><Relationship Id="rId6" Type="http://schemas.openxmlformats.org/officeDocument/2006/relationships/image" Target="../media/image40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39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38.wmf"/><Relationship Id="rId17" Type="http://schemas.openxmlformats.org/officeDocument/2006/relationships/vmlDrawing" Target="../drawings/vmlDrawing5.vml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44.png"/><Relationship Id="rId14" Type="http://schemas.openxmlformats.org/officeDocument/2006/relationships/image" Target="../media/image43.png"/><Relationship Id="rId13" Type="http://schemas.openxmlformats.org/officeDocument/2006/relationships/image" Target="../media/image42.png"/><Relationship Id="rId12" Type="http://schemas.openxmlformats.org/officeDocument/2006/relationships/image" Target="../media/image41.wmf"/><Relationship Id="rId11" Type="http://schemas.openxmlformats.org/officeDocument/2006/relationships/oleObject" Target="../embeddings/oleObject15.bin"/><Relationship Id="rId10" Type="http://schemas.openxmlformats.org/officeDocument/2006/relationships/image" Target="../media/image33.wmf"/><Relationship Id="rId1" Type="http://schemas.openxmlformats.org/officeDocument/2006/relationships/oleObject" Target="../embeddings/oleObject10.bin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6.emf"/><Relationship Id="rId2" Type="http://schemas.openxmlformats.org/officeDocument/2006/relationships/oleObject" Target="../embeddings/oleObject16.bin"/><Relationship Id="rId1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7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50.png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6.emf"/><Relationship Id="rId3" Type="http://schemas.openxmlformats.org/officeDocument/2006/relationships/oleObject" Target="../embeddings/oleObject17.bin"/><Relationship Id="rId2" Type="http://schemas.openxmlformats.org/officeDocument/2006/relationships/image" Target="../media/image47.png"/><Relationship Id="rId1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3.wmf"/><Relationship Id="rId3" Type="http://schemas.openxmlformats.org/officeDocument/2006/relationships/oleObject" Target="../embeddings/oleObject18.bin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9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wmf"/><Relationship Id="rId4" Type="http://schemas.openxmlformats.org/officeDocument/2006/relationships/image" Target="../media/image55.wmf"/><Relationship Id="rId3" Type="http://schemas.openxmlformats.org/officeDocument/2006/relationships/image" Target="../media/image54.wmf"/><Relationship Id="rId2" Type="http://schemas.openxmlformats.org/officeDocument/2006/relationships/oleObject" Target="../embeddings/oleObject19.bin"/><Relationship Id="rId1" Type="http://schemas.openxmlformats.org/officeDocument/2006/relationships/image" Target="../media/image52.pn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.png"/><Relationship Id="rId8" Type="http://schemas.openxmlformats.org/officeDocument/2006/relationships/image" Target="../media/image60.wmf"/><Relationship Id="rId7" Type="http://schemas.openxmlformats.org/officeDocument/2006/relationships/image" Target="../media/image59.wmf"/><Relationship Id="rId6" Type="http://schemas.openxmlformats.org/officeDocument/2006/relationships/image" Target="../media/image58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Relationship Id="rId3" Type="http://schemas.openxmlformats.org/officeDocument/2006/relationships/image" Target="../media/image54.wmf"/><Relationship Id="rId2" Type="http://schemas.openxmlformats.org/officeDocument/2006/relationships/oleObject" Target="../embeddings/oleObject20.bin"/><Relationship Id="rId12" Type="http://schemas.openxmlformats.org/officeDocument/2006/relationships/vmlDrawing" Target="../drawings/vmlDrawing10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61.png"/><Relationship Id="rId1" Type="http://schemas.openxmlformats.org/officeDocument/2006/relationships/image" Target="../media/image52.pn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.png"/><Relationship Id="rId8" Type="http://schemas.openxmlformats.org/officeDocument/2006/relationships/image" Target="../media/image60.wmf"/><Relationship Id="rId7" Type="http://schemas.openxmlformats.org/officeDocument/2006/relationships/image" Target="../media/image59.wmf"/><Relationship Id="rId6" Type="http://schemas.openxmlformats.org/officeDocument/2006/relationships/image" Target="../media/image58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Relationship Id="rId3" Type="http://schemas.openxmlformats.org/officeDocument/2006/relationships/image" Target="../media/image54.wmf"/><Relationship Id="rId2" Type="http://schemas.openxmlformats.org/officeDocument/2006/relationships/oleObject" Target="../embeddings/oleObject21.bin"/><Relationship Id="rId14" Type="http://schemas.openxmlformats.org/officeDocument/2006/relationships/vmlDrawing" Target="../drawings/vmlDrawing11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63.png"/><Relationship Id="rId11" Type="http://schemas.openxmlformats.org/officeDocument/2006/relationships/image" Target="../media/image62.png"/><Relationship Id="rId10" Type="http://schemas.openxmlformats.org/officeDocument/2006/relationships/image" Target="../media/image61.png"/><Relationship Id="rId1" Type="http://schemas.openxmlformats.org/officeDocument/2006/relationships/image" Target="../media/image52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2.v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7.png"/><Relationship Id="rId5" Type="http://schemas.openxmlformats.org/officeDocument/2006/relationships/image" Target="../media/image66.wmf"/><Relationship Id="rId4" Type="http://schemas.openxmlformats.org/officeDocument/2006/relationships/oleObject" Target="../embeddings/oleObject23.bin"/><Relationship Id="rId3" Type="http://schemas.openxmlformats.org/officeDocument/2006/relationships/image" Target="../media/image65.wmf"/><Relationship Id="rId2" Type="http://schemas.openxmlformats.org/officeDocument/2006/relationships/oleObject" Target="../embeddings/oleObject22.bin"/><Relationship Id="rId1" Type="http://schemas.openxmlformats.org/officeDocument/2006/relationships/image" Target="../media/image64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3.v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7.png"/><Relationship Id="rId5" Type="http://schemas.openxmlformats.org/officeDocument/2006/relationships/image" Target="../media/image66.wmf"/><Relationship Id="rId4" Type="http://schemas.openxmlformats.org/officeDocument/2006/relationships/oleObject" Target="../embeddings/oleObject25.bin"/><Relationship Id="rId3" Type="http://schemas.openxmlformats.org/officeDocument/2006/relationships/image" Target="../media/image65.wmf"/><Relationship Id="rId2" Type="http://schemas.openxmlformats.org/officeDocument/2006/relationships/oleObject" Target="../embeddings/oleObject24.bin"/><Relationship Id="rId1" Type="http://schemas.openxmlformats.org/officeDocument/2006/relationships/image" Target="../media/image64.png"/></Relationships>
</file>

<file path=ppt/slides/_rels/slide39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4.v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69.emf"/><Relationship Id="rId4" Type="http://schemas.openxmlformats.org/officeDocument/2006/relationships/oleObject" Target="../embeddings/oleObject27.bin"/><Relationship Id="rId3" Type="http://schemas.openxmlformats.org/officeDocument/2006/relationships/image" Target="../media/image68.emf"/><Relationship Id="rId2" Type="http://schemas.openxmlformats.org/officeDocument/2006/relationships/oleObject" Target="../embeddings/oleObject26.bin"/><Relationship Id="rId1" Type="http://schemas.openxmlformats.org/officeDocument/2006/relationships/image" Target="../media/image51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5.v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70.png"/><Relationship Id="rId5" Type="http://schemas.openxmlformats.org/officeDocument/2006/relationships/image" Target="../media/image69.emf"/><Relationship Id="rId4" Type="http://schemas.openxmlformats.org/officeDocument/2006/relationships/oleObject" Target="../embeddings/oleObject29.bin"/><Relationship Id="rId3" Type="http://schemas.openxmlformats.org/officeDocument/2006/relationships/image" Target="../media/image68.emf"/><Relationship Id="rId2" Type="http://schemas.openxmlformats.org/officeDocument/2006/relationships/oleObject" Target="../embeddings/oleObject28.bin"/><Relationship Id="rId1" Type="http://schemas.openxmlformats.org/officeDocument/2006/relationships/image" Target="../media/image51.png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6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72.png"/><Relationship Id="rId3" Type="http://schemas.openxmlformats.org/officeDocument/2006/relationships/image" Target="../media/image71.wmf"/><Relationship Id="rId2" Type="http://schemas.openxmlformats.org/officeDocument/2006/relationships/oleObject" Target="../embeddings/oleObject30.bin"/><Relationship Id="rId1" Type="http://schemas.openxmlformats.org/officeDocument/2006/relationships/image" Target="../media/image70.png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7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72.png"/><Relationship Id="rId3" Type="http://schemas.openxmlformats.org/officeDocument/2006/relationships/image" Target="../media/image71.wmf"/><Relationship Id="rId2" Type="http://schemas.openxmlformats.org/officeDocument/2006/relationships/oleObject" Target="../embeddings/oleObject31.bin"/><Relationship Id="rId1" Type="http://schemas.openxmlformats.org/officeDocument/2006/relationships/image" Target="../media/image7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2.png"/><Relationship Id="rId1" Type="http://schemas.openxmlformats.org/officeDocument/2006/relationships/image" Target="../media/image7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4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/>
          </p:cNvSpPr>
          <p:nvPr>
            <p:ph type="ctrTitle"/>
          </p:nvPr>
        </p:nvSpPr>
        <p:spPr>
          <a:xfrm>
            <a:off x="-248478" y="143097"/>
            <a:ext cx="8532743" cy="3156230"/>
          </a:xfrm>
        </p:spPr>
        <p:txBody>
          <a:bodyPr vert="horz" wrap="square" lIns="91440" tIns="45720" rIns="91440" bIns="45720" anchor="ctr" anchorCtr="1">
            <a:normAutofit fontScale="90000"/>
          </a:bodyPr>
          <a:lstStyle/>
          <a:p>
            <a:pPr algn="l" eaLnBrk="1" hangingPunct="1">
              <a:buClrTx/>
              <a:buSzTx/>
              <a:buFontTx/>
            </a:pPr>
            <a:b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4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Principles of communications </a:t>
            </a:r>
            <a:b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b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36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Chapter 3  Channel—Part I</a:t>
            </a:r>
            <a:br>
              <a:rPr lang="en-US" altLang="zh-CN" sz="4400" dirty="0">
                <a:ea typeface="黑体" panose="02010609060101010101" pitchFamily="49" charset="-122"/>
              </a:rPr>
            </a:br>
            <a:r>
              <a:rPr lang="en-US" altLang="zh-CN" sz="4400" dirty="0">
                <a:ea typeface="黑体" panose="02010609060101010101" pitchFamily="49" charset="-122"/>
              </a:rPr>
              <a:t>                                              </a:t>
            </a:r>
            <a:br>
              <a:rPr lang="en-US" altLang="zh-CN" sz="4400" dirty="0">
                <a:ea typeface="黑体" panose="02010609060101010101" pitchFamily="49" charset="-122"/>
              </a:rPr>
            </a:br>
            <a:r>
              <a:rPr lang="en-US" altLang="zh-CN" sz="4400" dirty="0">
                <a:ea typeface="黑体" panose="02010609060101010101" pitchFamily="49" charset="-122"/>
              </a:rPr>
              <a:t>                                 </a:t>
            </a:r>
            <a:endParaRPr lang="en-US" altLang="zh-CN" sz="4400" dirty="0"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/>
          <a:srcRect t="51528"/>
          <a:stretch>
            <a:fillRect/>
          </a:stretch>
        </p:blipFill>
        <p:spPr>
          <a:xfrm>
            <a:off x="347932" y="5029755"/>
            <a:ext cx="8448136" cy="17281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435" y="2635883"/>
            <a:ext cx="2817744" cy="2089245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/>
          </p:cNvSpPr>
          <p:nvPr/>
        </p:nvSpPr>
        <p:spPr>
          <a:xfrm>
            <a:off x="49696" y="0"/>
            <a:ext cx="9094304" cy="736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noFill/>
          </a:ln>
        </p:spPr>
        <p:txBody>
          <a:bodyPr vert="horz" wrap="square" lIns="91440" tIns="45720" rIns="91440" bIns="45720" anchor="ctr" anchorCtr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+mj-lt"/>
                <a:ea typeface="+mj-ea"/>
                <a:cs typeface="楷体_GB231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Chapter 3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Channel — Part I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9452" y="860839"/>
            <a:ext cx="9014791" cy="5362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lang="zh-CN" altLang="zh-CN" sz="3200" b="1" dirty="0">
                <a:solidFill>
                  <a:srgbClr val="C00000"/>
                </a:solidFill>
              </a:rPr>
              <a:t>3.1 The classification of channels 信道的分类</a:t>
            </a:r>
            <a:endParaRPr lang="zh-CN" altLang="zh-CN" sz="3200" b="1" dirty="0">
              <a:solidFill>
                <a:srgbClr val="C00000"/>
              </a:solidFill>
            </a:endParaRPr>
          </a:p>
          <a:p>
            <a:pPr lvl="0">
              <a:lnSpc>
                <a:spcPct val="125000"/>
              </a:lnSpc>
            </a:pPr>
            <a:r>
              <a:rPr lang="en-US" altLang="zh-CN" sz="3200" b="1" dirty="0">
                <a:effectLst/>
              </a:rPr>
              <a:t>  --</a:t>
            </a:r>
            <a:r>
              <a:rPr lang="zh-CN" altLang="zh-CN" sz="3200" b="1" dirty="0">
                <a:effectLst/>
              </a:rPr>
              <a:t>Wireless channels 无线信道</a:t>
            </a:r>
            <a:endParaRPr lang="en-US" altLang="zh-CN" sz="3200" b="1" dirty="0">
              <a:effectLst/>
            </a:endParaRPr>
          </a:p>
          <a:p>
            <a:pPr lvl="0">
              <a:lnSpc>
                <a:spcPct val="125000"/>
              </a:lnSpc>
            </a:pPr>
            <a:r>
              <a:rPr lang="en-US" altLang="zh-CN" sz="3200" b="1" dirty="0">
                <a:effectLst/>
              </a:rPr>
              <a:t>  --</a:t>
            </a:r>
            <a:r>
              <a:rPr lang="zh-CN" altLang="zh-CN" sz="3200" b="1" dirty="0">
                <a:effectLst/>
              </a:rPr>
              <a:t>Wire channel 有线信道</a:t>
            </a:r>
            <a:endParaRPr lang="zh-CN" altLang="zh-CN" sz="3200" b="1" dirty="0">
              <a:effectLst/>
            </a:endParaRPr>
          </a:p>
          <a:p>
            <a:pPr>
              <a:lnSpc>
                <a:spcPct val="125000"/>
              </a:lnSpc>
              <a:buNone/>
            </a:pPr>
            <a:r>
              <a:rPr lang="zh-CN" altLang="zh-CN" sz="3200" b="1" dirty="0">
                <a:solidFill>
                  <a:srgbClr val="C00000"/>
                </a:solidFill>
              </a:rPr>
              <a:t>3.2 Channel models 信道模型</a:t>
            </a:r>
            <a:endParaRPr lang="zh-CN" altLang="zh-CN" sz="3200" b="1" dirty="0">
              <a:solidFill>
                <a:srgbClr val="C00000"/>
              </a:solidFill>
            </a:endParaRPr>
          </a:p>
          <a:p>
            <a:pPr lvl="0">
              <a:lnSpc>
                <a:spcPct val="125000"/>
              </a:lnSpc>
            </a:pPr>
            <a:r>
              <a:rPr lang="en-US" altLang="zh-CN" sz="3200" b="1" dirty="0">
                <a:effectLst/>
              </a:rPr>
              <a:t>  --</a:t>
            </a:r>
            <a:r>
              <a:rPr lang="zh-CN" altLang="zh-CN" sz="3200" b="1" dirty="0">
                <a:effectLst/>
              </a:rPr>
              <a:t>Modulation channel model（调制解调模型）</a:t>
            </a:r>
            <a:endParaRPr lang="zh-CN" altLang="zh-CN" sz="3200" b="1" dirty="0">
              <a:effectLst/>
            </a:endParaRPr>
          </a:p>
          <a:p>
            <a:pPr lvl="0">
              <a:lnSpc>
                <a:spcPct val="125000"/>
              </a:lnSpc>
            </a:pPr>
            <a:r>
              <a:rPr lang="en-US" altLang="zh-CN" sz="3200" b="1" dirty="0">
                <a:effectLst/>
              </a:rPr>
              <a:t>  --</a:t>
            </a:r>
            <a:r>
              <a:rPr lang="zh-CN" altLang="zh-CN" sz="3200" b="1" dirty="0">
                <a:effectLst/>
              </a:rPr>
              <a:t>Coding channel model（编码信道模型）</a:t>
            </a:r>
            <a:endParaRPr lang="zh-CN" altLang="zh-CN" sz="3200" b="1" dirty="0">
              <a:effectLst/>
            </a:endParaRPr>
          </a:p>
          <a:p>
            <a:pPr>
              <a:lnSpc>
                <a:spcPct val="125000"/>
              </a:lnSpc>
              <a:buNone/>
            </a:pPr>
            <a:r>
              <a:rPr lang="zh-CN" altLang="zh-CN" sz="2800" b="1" dirty="0">
                <a:solidFill>
                  <a:srgbClr val="0070C0"/>
                </a:solidFill>
              </a:rPr>
              <a:t>3.3 Influence of the channel characteristics on transmission (for modulation model)</a:t>
            </a:r>
            <a:r>
              <a:rPr lang="zh-CN" altLang="zh-CN" sz="2800" dirty="0"/>
              <a:t>信道特性对传输的影响</a:t>
            </a:r>
            <a:endParaRPr lang="en-US" altLang="zh-CN" sz="2800" dirty="0"/>
          </a:p>
          <a:p>
            <a:pPr>
              <a:lnSpc>
                <a:spcPct val="125000"/>
              </a:lnSpc>
              <a:buNone/>
            </a:pPr>
            <a:r>
              <a:rPr lang="zh-CN" altLang="zh-CN" sz="2800" b="1" dirty="0">
                <a:solidFill>
                  <a:srgbClr val="0070C0"/>
                </a:solidFill>
              </a:rPr>
              <a:t>3.4 Channel capacity (continuous channel) 信道容量</a:t>
            </a:r>
            <a:endParaRPr lang="zh-CN" altLang="zh-C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0" y="1124030"/>
            <a:ext cx="903467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/>
              <a:t>We may classify communication channels in different ways:</a:t>
            </a:r>
            <a:endParaRPr lang="en-US" altLang="zh-CN" sz="2800" b="1" dirty="0"/>
          </a:p>
        </p:txBody>
      </p:sp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2692510" y="2191026"/>
            <a:ext cx="611853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/>
              <a:t>Wired channel</a:t>
            </a:r>
            <a:r>
              <a:rPr lang="zh-CN" altLang="en-US" sz="2800" dirty="0"/>
              <a:t>：有线信道</a:t>
            </a:r>
            <a:endParaRPr lang="en-US" altLang="zh-CN" sz="2800" dirty="0"/>
          </a:p>
          <a:p>
            <a:pPr>
              <a:spcBef>
                <a:spcPct val="50000"/>
              </a:spcBef>
            </a:pPr>
            <a:endParaRPr lang="en-US" altLang="zh-CN" sz="2800" dirty="0"/>
          </a:p>
          <a:p>
            <a:pPr>
              <a:spcBef>
                <a:spcPct val="50000"/>
              </a:spcBef>
            </a:pPr>
            <a:r>
              <a:rPr lang="en-US" altLang="zh-CN" sz="2800" dirty="0"/>
              <a:t>Wireless channel</a:t>
            </a:r>
            <a:r>
              <a:rPr lang="zh-CN" altLang="en-US" sz="2800" dirty="0"/>
              <a:t>：无线信道</a:t>
            </a:r>
            <a:endParaRPr lang="en-US" altLang="zh-CN" sz="2800" dirty="0"/>
          </a:p>
        </p:txBody>
      </p:sp>
      <p:sp>
        <p:nvSpPr>
          <p:cNvPr id="9" name="AutoShape 15"/>
          <p:cNvSpPr/>
          <p:nvPr/>
        </p:nvSpPr>
        <p:spPr bwMode="auto">
          <a:xfrm>
            <a:off x="2356264" y="2245329"/>
            <a:ext cx="298487" cy="1569492"/>
          </a:xfrm>
          <a:prstGeom prst="leftBrace">
            <a:avLst>
              <a:gd name="adj1" fmla="val 59091"/>
              <a:gd name="adj2" fmla="val 50000"/>
            </a:avLst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96570" y="2569943"/>
            <a:ext cx="2743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Transmitted media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grpSp>
        <p:nvGrpSpPr>
          <p:cNvPr id="11" name="Group 18"/>
          <p:cNvGrpSpPr/>
          <p:nvPr/>
        </p:nvGrpSpPr>
        <p:grpSpPr bwMode="auto">
          <a:xfrm>
            <a:off x="2419979" y="4841702"/>
            <a:ext cx="8461303" cy="1169988"/>
            <a:chOff x="2769" y="1496"/>
            <a:chExt cx="2860" cy="737"/>
          </a:xfrm>
        </p:grpSpPr>
        <p:sp>
          <p:nvSpPr>
            <p:cNvPr id="12" name="Text Box 6"/>
            <p:cNvSpPr txBox="1">
              <a:spLocks noChangeArrowheads="1"/>
            </p:cNvSpPr>
            <p:nvPr/>
          </p:nvSpPr>
          <p:spPr bwMode="auto">
            <a:xfrm>
              <a:off x="2847" y="1496"/>
              <a:ext cx="2782" cy="7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/>
                <a:t>Constant parameter channel </a:t>
              </a:r>
              <a:endParaRPr lang="en-US" altLang="zh-CN" sz="2800" dirty="0"/>
            </a:p>
            <a:p>
              <a:pPr>
                <a:spcBef>
                  <a:spcPct val="50000"/>
                </a:spcBef>
              </a:pPr>
              <a:r>
                <a:rPr lang="en-US" altLang="zh-CN" sz="2800" dirty="0"/>
                <a:t>Random parameter channel</a:t>
              </a:r>
              <a:endParaRPr lang="en-US" altLang="zh-CN" sz="2000" dirty="0"/>
            </a:p>
          </p:txBody>
        </p:sp>
        <p:sp>
          <p:nvSpPr>
            <p:cNvPr id="13" name="AutoShape 9"/>
            <p:cNvSpPr/>
            <p:nvPr/>
          </p:nvSpPr>
          <p:spPr bwMode="auto">
            <a:xfrm>
              <a:off x="2769" y="1609"/>
              <a:ext cx="48" cy="528"/>
            </a:xfrm>
            <a:prstGeom prst="leftBrace">
              <a:avLst>
                <a:gd name="adj1" fmla="val 91667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307117" y="4930591"/>
            <a:ext cx="2743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Channel </a:t>
            </a:r>
            <a:endParaRPr lang="en-US" altLang="zh-CN" sz="2800" dirty="0">
              <a:solidFill>
                <a:srgbClr val="FF0000"/>
              </a:solidFill>
            </a:endParaRPr>
          </a:p>
          <a:p>
            <a:r>
              <a:rPr lang="en-US" altLang="zh-CN" sz="2800" dirty="0">
                <a:solidFill>
                  <a:srgbClr val="FF0000"/>
                </a:solidFill>
              </a:rPr>
              <a:t>characteristic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966335" y="4924450"/>
            <a:ext cx="2257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恒参信道</a:t>
            </a:r>
            <a:endParaRPr lang="zh-CN" altLang="en-US" sz="2800" dirty="0"/>
          </a:p>
        </p:txBody>
      </p:sp>
      <p:sp>
        <p:nvSpPr>
          <p:cNvPr id="18" name="文本框 17"/>
          <p:cNvSpPr txBox="1"/>
          <p:nvPr/>
        </p:nvSpPr>
        <p:spPr>
          <a:xfrm>
            <a:off x="6966335" y="5549959"/>
            <a:ext cx="20683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zh-CN" altLang="en-US" dirty="0"/>
              <a:t>随参信道</a:t>
            </a:r>
            <a:endParaRPr lang="zh-CN" alt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-1" y="20294"/>
            <a:ext cx="9144001" cy="95410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vert="horz" wrap="square" lIns="91440" tIns="45720" rIns="91440" bIns="45720" anchor="ctr" anchorCtr="1"/>
          <a:lstStyle>
            <a:defPPr>
              <a:defRPr lang="en-US"/>
            </a:defPPr>
            <a:lvl1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36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br>
              <a:rPr lang="en-US" altLang="zh-CN" dirty="0"/>
            </a:br>
            <a:r>
              <a:rPr lang="zh-CN" altLang="zh-CN" dirty="0"/>
              <a:t>3.1 The classification of channels 信道的分类</a:t>
            </a:r>
            <a:endParaRPr lang="zh-CN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3149312" y="1200423"/>
            <a:ext cx="712298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/>
              <a:t>Wired channel</a:t>
            </a:r>
            <a:r>
              <a:rPr lang="zh-CN" altLang="en-US" sz="3200" dirty="0"/>
              <a:t>：有线信道</a:t>
            </a:r>
            <a:endParaRPr lang="en-US" altLang="zh-CN" sz="3200" dirty="0"/>
          </a:p>
          <a:p>
            <a:pPr>
              <a:spcBef>
                <a:spcPct val="50000"/>
              </a:spcBef>
            </a:pPr>
            <a:r>
              <a:rPr lang="en-US" altLang="zh-CN" sz="3200" dirty="0"/>
              <a:t>Wireless channel</a:t>
            </a:r>
            <a:r>
              <a:rPr lang="zh-CN" altLang="en-US" sz="3200" dirty="0"/>
              <a:t>：无线信道</a:t>
            </a:r>
            <a:endParaRPr lang="en-US" altLang="zh-CN" sz="3200" dirty="0"/>
          </a:p>
        </p:txBody>
      </p:sp>
      <p:sp>
        <p:nvSpPr>
          <p:cNvPr id="14" name="AutoShape 15"/>
          <p:cNvSpPr/>
          <p:nvPr/>
        </p:nvSpPr>
        <p:spPr bwMode="auto">
          <a:xfrm>
            <a:off x="2850825" y="1366843"/>
            <a:ext cx="298487" cy="990601"/>
          </a:xfrm>
          <a:prstGeom prst="leftBrace">
            <a:avLst>
              <a:gd name="adj1" fmla="val 59091"/>
              <a:gd name="adj2" fmla="val 50000"/>
            </a:avLst>
          </a:prstGeom>
          <a:solidFill>
            <a:schemeClr val="bg1"/>
          </a:solidFill>
          <a:ln w="381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-39756" y="1544930"/>
            <a:ext cx="3548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Transmitted media</a:t>
            </a:r>
            <a:endParaRPr lang="zh-CN" altLang="en-US" sz="2800" b="1" dirty="0"/>
          </a:p>
        </p:txBody>
      </p:sp>
      <p:sp>
        <p:nvSpPr>
          <p:cNvPr id="25" name="Rectangle 2"/>
          <p:cNvSpPr txBox="1">
            <a:spLocks noChangeArrowheads="1"/>
          </p:cNvSpPr>
          <p:nvPr/>
        </p:nvSpPr>
        <p:spPr bwMode="auto">
          <a:xfrm>
            <a:off x="0" y="335374"/>
            <a:ext cx="9144001" cy="95410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vert="horz" wrap="square" lIns="91440" tIns="45720" rIns="91440" bIns="45720" anchor="ctr" anchorCtr="1"/>
          <a:lstStyle>
            <a:defPPr>
              <a:defRPr lang="en-US"/>
            </a:defPPr>
            <a:lvl1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36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br>
              <a:rPr lang="en-US" altLang="zh-CN" dirty="0"/>
            </a:br>
            <a:r>
              <a:rPr lang="zh-CN" altLang="zh-CN" dirty="0"/>
              <a:t>3.1 The classification of channels 信道的分类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510413" y="2607711"/>
            <a:ext cx="8270809" cy="4130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zh-CN" sz="3200" b="1" dirty="0">
                <a:solidFill>
                  <a:srgbClr val="FF0000"/>
                </a:solidFill>
              </a:rPr>
              <a:t>Wired channel: </a:t>
            </a:r>
            <a:r>
              <a:rPr lang="en-US" altLang="zh-CN" sz="3200" dirty="0">
                <a:solidFill>
                  <a:schemeClr val="bg1"/>
                </a:solidFill>
              </a:rPr>
              <a:t> </a:t>
            </a:r>
            <a:r>
              <a:rPr lang="en-US" altLang="zh-CN" sz="3200" dirty="0">
                <a:solidFill>
                  <a:srgbClr val="00B0F0"/>
                </a:solidFill>
              </a:rPr>
              <a:t>guided propagation</a:t>
            </a:r>
            <a:br>
              <a:rPr lang="en-US" altLang="zh-CN" sz="3200" dirty="0">
                <a:solidFill>
                  <a:schemeClr val="bg1"/>
                </a:solidFill>
              </a:rPr>
            </a:br>
            <a:r>
              <a:rPr lang="en-US" altLang="zh-CN" sz="3200" dirty="0">
                <a:solidFill>
                  <a:schemeClr val="bg1"/>
                </a:solidFill>
              </a:rPr>
              <a:t>	</a:t>
            </a:r>
            <a:r>
              <a:rPr lang="en-US" altLang="zh-CN" sz="3200" dirty="0"/>
              <a:t>--symmetrical cable: </a:t>
            </a:r>
            <a:r>
              <a:rPr lang="zh-CN" altLang="en-US" sz="3200" dirty="0"/>
              <a:t>（对称电缆）</a:t>
            </a:r>
            <a:br>
              <a:rPr lang="en-US" altLang="zh-CN" sz="3200" dirty="0"/>
            </a:br>
            <a:r>
              <a:rPr lang="en-US" altLang="zh-CN" sz="3200" dirty="0"/>
              <a:t>	--coaxial cable</a:t>
            </a:r>
            <a:r>
              <a:rPr lang="zh-CN" altLang="en-US" sz="3200" dirty="0"/>
              <a:t>（同轴电缆）</a:t>
            </a:r>
            <a:br>
              <a:rPr lang="en-US" altLang="zh-CN" sz="3200" dirty="0"/>
            </a:br>
            <a:r>
              <a:rPr lang="en-US" altLang="zh-CN" sz="3200" dirty="0"/>
              <a:t>	--optical fiber </a:t>
            </a:r>
            <a:r>
              <a:rPr lang="zh-CN" altLang="en-US" sz="3200" dirty="0"/>
              <a:t>（光纤）</a:t>
            </a:r>
            <a:endParaRPr lang="en-US" altLang="zh-CN" sz="3200" dirty="0"/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zh-CN" sz="3200" b="1" dirty="0">
                <a:solidFill>
                  <a:srgbClr val="FF0000"/>
                </a:solidFill>
              </a:rPr>
              <a:t>Wireless channel: </a:t>
            </a:r>
            <a:r>
              <a:rPr lang="en-US" altLang="zh-CN" sz="3200" dirty="0">
                <a:solidFill>
                  <a:srgbClr val="00B0F0"/>
                </a:solidFill>
              </a:rPr>
              <a:t>based on free propagation</a:t>
            </a:r>
            <a:br>
              <a:rPr lang="en-US" altLang="zh-CN" sz="3200" dirty="0">
                <a:solidFill>
                  <a:srgbClr val="FF0000"/>
                </a:solidFill>
              </a:rPr>
            </a:br>
            <a:r>
              <a:rPr lang="en-US" altLang="zh-CN" sz="3200" dirty="0"/>
              <a:t>	--ground wave</a:t>
            </a:r>
            <a:br>
              <a:rPr lang="en-US" altLang="zh-CN" sz="3200" dirty="0"/>
            </a:br>
            <a:r>
              <a:rPr lang="en-US" altLang="zh-CN" sz="3200" dirty="0"/>
              <a:t>	--sky wave</a:t>
            </a:r>
            <a:br>
              <a:rPr lang="en-US" altLang="zh-CN" sz="3200" dirty="0"/>
            </a:br>
            <a:r>
              <a:rPr lang="en-US" altLang="zh-CN" sz="3200" dirty="0"/>
              <a:t>	--LOS (line of sight) </a:t>
            </a:r>
            <a:r>
              <a:rPr lang="zh-CN" altLang="en-US" sz="3200" dirty="0"/>
              <a:t>视距</a:t>
            </a:r>
            <a:endParaRPr lang="en-US" altLang="zh-CN" sz="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still23-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35" b="3978"/>
          <a:stretch>
            <a:fillRect/>
          </a:stretch>
        </p:blipFill>
        <p:spPr bwMode="auto">
          <a:xfrm>
            <a:off x="5609874" y="1465961"/>
            <a:ext cx="2422584" cy="1478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69573" y="587498"/>
            <a:ext cx="9594912" cy="4579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200000"/>
              </a:lnSpc>
              <a:spcBef>
                <a:spcPct val="20000"/>
              </a:spcBef>
              <a:spcAft>
                <a:spcPts val="600"/>
              </a:spcAft>
              <a:buFontTx/>
              <a:buChar char="•"/>
            </a:pPr>
            <a:r>
              <a:rPr lang="en-US" altLang="zh-CN" sz="3200" dirty="0">
                <a:solidFill>
                  <a:srgbClr val="FF0000"/>
                </a:solidFill>
              </a:rPr>
              <a:t>Wired channel: </a:t>
            </a:r>
            <a:r>
              <a:rPr lang="en-US" altLang="zh-CN" sz="3200" dirty="0">
                <a:solidFill>
                  <a:srgbClr val="00B0F0"/>
                </a:solidFill>
              </a:rPr>
              <a:t>guided propagation</a:t>
            </a:r>
            <a:endParaRPr lang="en-US" altLang="zh-CN" sz="3200" dirty="0">
              <a:solidFill>
                <a:srgbClr val="00B0F0"/>
              </a:solidFill>
            </a:endParaRPr>
          </a:p>
          <a:p>
            <a:pPr marL="0" indent="0">
              <a:lnSpc>
                <a:spcPct val="200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altLang="zh-CN" sz="3200" dirty="0"/>
              <a:t>  --symmetrical cable: twist wire </a:t>
            </a:r>
            <a:endParaRPr lang="en-US" altLang="zh-CN" sz="3200" dirty="0"/>
          </a:p>
          <a:p>
            <a:pPr marL="0" indent="0">
              <a:spcBef>
                <a:spcPct val="20000"/>
              </a:spcBef>
            </a:pPr>
            <a:br>
              <a:rPr lang="en-US" altLang="zh-CN" sz="3200" dirty="0"/>
            </a:br>
            <a:r>
              <a:rPr lang="en-US" altLang="zh-CN" sz="3200" dirty="0"/>
              <a:t>  --coaxial cable</a:t>
            </a:r>
            <a:r>
              <a:rPr lang="zh-CN" altLang="en-US" sz="3200" dirty="0"/>
              <a:t>（同轴电缆）</a:t>
            </a:r>
            <a:endParaRPr lang="en-US" altLang="zh-CN" sz="3200" dirty="0"/>
          </a:p>
          <a:p>
            <a:pPr marL="0" indent="0">
              <a:spcBef>
                <a:spcPct val="20000"/>
              </a:spcBef>
            </a:pPr>
            <a:endParaRPr lang="en-US" altLang="zh-CN" sz="3200" dirty="0"/>
          </a:p>
          <a:p>
            <a:pPr marL="0" indent="0">
              <a:spcBef>
                <a:spcPct val="20000"/>
              </a:spcBef>
            </a:pPr>
            <a:r>
              <a:rPr lang="en-US" altLang="zh-CN" sz="3200" dirty="0"/>
              <a:t>  --optical fiber </a:t>
            </a:r>
            <a:r>
              <a:rPr lang="zh-CN" altLang="en-US" sz="3200" dirty="0"/>
              <a:t>（光纤）</a:t>
            </a:r>
            <a:endParaRPr lang="en-US" altLang="zh-CN" sz="32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222" y="3273832"/>
            <a:ext cx="2925236" cy="1077719"/>
          </a:xfrm>
          <a:prstGeom prst="rect">
            <a:avLst/>
          </a:prstGeom>
        </p:spPr>
      </p:pic>
      <p:sp>
        <p:nvSpPr>
          <p:cNvPr id="12" name="右大括号 11"/>
          <p:cNvSpPr/>
          <p:nvPr/>
        </p:nvSpPr>
        <p:spPr bwMode="auto">
          <a:xfrm>
            <a:off x="8067446" y="1950530"/>
            <a:ext cx="390617" cy="2036338"/>
          </a:xfrm>
          <a:prstGeom prst="rightBrace">
            <a:avLst/>
          </a:prstGeom>
          <a:solidFill>
            <a:schemeClr val="bg1"/>
          </a:solidFill>
          <a:ln w="12700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396510" y="2816805"/>
            <a:ext cx="1349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电信号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681091" y="5029547"/>
            <a:ext cx="1349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光信号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5034" y="4274000"/>
            <a:ext cx="3334603" cy="1904907"/>
          </a:xfrm>
          <a:prstGeom prst="rect">
            <a:avLst/>
          </a:prstGeom>
        </p:spPr>
      </p:pic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-69574" y="69900"/>
            <a:ext cx="9144001" cy="95410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vert="horz" wrap="square" lIns="91440" tIns="45720" rIns="91440" bIns="45720" anchor="ctr" anchorCtr="1"/>
          <a:lstStyle>
            <a:defPPr>
              <a:defRPr lang="en-US"/>
            </a:defPPr>
            <a:lvl1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36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br>
              <a:rPr lang="en-US" altLang="zh-CN" dirty="0"/>
            </a:br>
            <a:r>
              <a:rPr lang="zh-CN" altLang="zh-CN" dirty="0"/>
              <a:t>3.1 The classification of channels 信道的分类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7127" y="6060427"/>
            <a:ext cx="3123964" cy="71758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9573" y="4297651"/>
            <a:ext cx="319914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天才简史：高锟（光纤之父）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203752" y="5059965"/>
            <a:ext cx="4214191" cy="1711944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j-lt"/>
              </a:rPr>
              <a:t>        前香港中文大学校长高锟和</a:t>
            </a:r>
            <a:r>
              <a:rPr lang="en-US" altLang="zh-CN" dirty="0">
                <a:latin typeface="+mj-lt"/>
              </a:rPr>
              <a:t>George A. </a:t>
            </a:r>
            <a:r>
              <a:rPr lang="en-US" altLang="zh-CN" dirty="0" err="1">
                <a:latin typeface="+mj-lt"/>
              </a:rPr>
              <a:t>Hockham</a:t>
            </a:r>
            <a:r>
              <a:rPr lang="zh-CN" altLang="en-US" dirty="0">
                <a:latin typeface="+mj-lt"/>
              </a:rPr>
              <a:t>首先提出光纤可以用于通讯传输的设想，高锟因此获得</a:t>
            </a:r>
            <a:r>
              <a:rPr lang="en-US" altLang="zh-CN" dirty="0">
                <a:latin typeface="+mj-lt"/>
              </a:rPr>
              <a:t>2009</a:t>
            </a:r>
            <a:r>
              <a:rPr lang="zh-CN" altLang="en-US" dirty="0">
                <a:latin typeface="+mj-lt"/>
              </a:rPr>
              <a:t>年诺贝尔物理学奖。</a:t>
            </a:r>
            <a:endParaRPr lang="zh-CN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40" name="Text Box 4"/>
          <p:cNvSpPr txBox="1">
            <a:spLocks noChangeArrowheads="1"/>
          </p:cNvSpPr>
          <p:nvPr/>
        </p:nvSpPr>
        <p:spPr bwMode="auto">
          <a:xfrm>
            <a:off x="403047" y="1099490"/>
            <a:ext cx="8534400" cy="4130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zh-CN" sz="3200" b="1" dirty="0">
                <a:solidFill>
                  <a:srgbClr val="00B050"/>
                </a:solidFill>
              </a:rPr>
              <a:t>Wired channel: based on guided propagation</a:t>
            </a:r>
            <a:br>
              <a:rPr lang="en-US" altLang="zh-CN" sz="3200" b="1" dirty="0">
                <a:solidFill>
                  <a:srgbClr val="00B050"/>
                </a:solidFill>
              </a:rPr>
            </a:br>
            <a:r>
              <a:rPr lang="en-US" altLang="zh-CN" sz="3200" b="1" dirty="0">
                <a:solidFill>
                  <a:srgbClr val="00B050"/>
                </a:solidFill>
              </a:rPr>
              <a:t>	-</a:t>
            </a:r>
            <a:r>
              <a:rPr lang="en-US" altLang="zh-CN" sz="3200" dirty="0">
                <a:solidFill>
                  <a:srgbClr val="00B050"/>
                </a:solidFill>
              </a:rPr>
              <a:t> </a:t>
            </a:r>
            <a:r>
              <a:rPr lang="en-US" altLang="zh-CN" sz="3200" b="1" dirty="0">
                <a:solidFill>
                  <a:srgbClr val="00B050"/>
                </a:solidFill>
              </a:rPr>
              <a:t>symmetrical cable</a:t>
            </a:r>
            <a:br>
              <a:rPr lang="en-US" altLang="zh-CN" sz="3200" b="1" dirty="0">
                <a:solidFill>
                  <a:srgbClr val="00B050"/>
                </a:solidFill>
              </a:rPr>
            </a:br>
            <a:r>
              <a:rPr lang="en-US" altLang="zh-CN" sz="3200" b="1" dirty="0">
                <a:solidFill>
                  <a:srgbClr val="00B050"/>
                </a:solidFill>
              </a:rPr>
              <a:t>	-coaxial cable</a:t>
            </a:r>
            <a:br>
              <a:rPr lang="en-US" altLang="zh-CN" sz="3200" b="1" dirty="0">
                <a:solidFill>
                  <a:srgbClr val="00B050"/>
                </a:solidFill>
              </a:rPr>
            </a:br>
            <a:r>
              <a:rPr lang="en-US" altLang="zh-CN" sz="3200" b="1" dirty="0">
                <a:solidFill>
                  <a:srgbClr val="00B050"/>
                </a:solidFill>
              </a:rPr>
              <a:t>	-optical fiber</a:t>
            </a:r>
            <a:endParaRPr lang="en-US" altLang="zh-CN" sz="3200" b="1" dirty="0">
              <a:solidFill>
                <a:srgbClr val="00B050"/>
              </a:solidFill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zh-CN" sz="3200" b="1" dirty="0">
                <a:solidFill>
                  <a:srgbClr val="FF0000"/>
                </a:solidFill>
              </a:rPr>
              <a:t>Wireless channel: </a:t>
            </a:r>
            <a:r>
              <a:rPr lang="en-US" altLang="zh-CN" sz="3200" b="1" dirty="0"/>
              <a:t>based on free propagation</a:t>
            </a:r>
            <a:br>
              <a:rPr lang="en-US" altLang="zh-CN" sz="3200" b="1" dirty="0">
                <a:solidFill>
                  <a:srgbClr val="FF0000"/>
                </a:solidFill>
              </a:rPr>
            </a:br>
            <a:r>
              <a:rPr lang="en-US" altLang="zh-CN" sz="3200" b="1" dirty="0"/>
              <a:t>	-ground wave</a:t>
            </a:r>
            <a:br>
              <a:rPr lang="en-US" altLang="zh-CN" sz="3200" b="1" dirty="0"/>
            </a:br>
            <a:r>
              <a:rPr lang="en-US" altLang="zh-CN" sz="3200" b="1" dirty="0"/>
              <a:t>	-sky wave</a:t>
            </a:r>
            <a:br>
              <a:rPr lang="en-US" altLang="zh-CN" sz="3200" b="1" dirty="0"/>
            </a:br>
            <a:r>
              <a:rPr lang="en-US" altLang="zh-CN" sz="3200" b="1" dirty="0"/>
              <a:t>	-LOS (Line of Sight)</a:t>
            </a:r>
            <a:endParaRPr lang="en-US" altLang="zh-CN" sz="4000" b="1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" y="124498"/>
            <a:ext cx="6756400" cy="760874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vert="horz" wrap="square" lIns="91440" tIns="45720" rIns="91440" bIns="45720" anchor="ctr" anchorCtr="1"/>
          <a:lstStyle>
            <a:defPPr>
              <a:defRPr lang="en-US"/>
            </a:defPPr>
            <a:lvl1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36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/>
            <a:r>
              <a:rPr lang="zh-CN" altLang="zh-CN" dirty="0"/>
              <a:t>3.1 The classification of channels</a:t>
            </a:r>
            <a:endParaRPr lang="zh-CN" altLang="en-US" dirty="0"/>
          </a:p>
        </p:txBody>
      </p:sp>
      <p:sp>
        <p:nvSpPr>
          <p:cNvPr id="4" name="Freeform 3"/>
          <p:cNvSpPr/>
          <p:nvPr/>
        </p:nvSpPr>
        <p:spPr>
          <a:xfrm>
            <a:off x="50208" y="3269677"/>
            <a:ext cx="391233" cy="318646"/>
          </a:xfrm>
          <a:custGeom>
            <a:avLst/>
            <a:gdLst>
              <a:gd name="connsiteX0" fmla="*/ 450595 w 604773"/>
              <a:gd name="connsiteY0" fmla="*/ 6350 h 390652"/>
              <a:gd name="connsiteX1" fmla="*/ 450595 w 604773"/>
              <a:gd name="connsiteY1" fmla="*/ 100838 h 390652"/>
              <a:gd name="connsiteX2" fmla="*/ 6350 w 604773"/>
              <a:gd name="connsiteY2" fmla="*/ 100838 h 390652"/>
              <a:gd name="connsiteX3" fmla="*/ 6350 w 604773"/>
              <a:gd name="connsiteY3" fmla="*/ 289814 h 390652"/>
              <a:gd name="connsiteX4" fmla="*/ 450595 w 604773"/>
              <a:gd name="connsiteY4" fmla="*/ 289814 h 390652"/>
              <a:gd name="connsiteX5" fmla="*/ 450595 w 604773"/>
              <a:gd name="connsiteY5" fmla="*/ 384302 h 390652"/>
              <a:gd name="connsiteX6" fmla="*/ 598423 w 604773"/>
              <a:gd name="connsiteY6" fmla="*/ 195326 h 390652"/>
              <a:gd name="connsiteX7" fmla="*/ 450595 w 604773"/>
              <a:gd name="connsiteY7" fmla="*/ 6350 h 39065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</a:cxnLst>
            <a:rect l="l" t="t" r="r" b="b"/>
            <a:pathLst>
              <a:path w="604773" h="390652">
                <a:moveTo>
                  <a:pt x="450595" y="6350"/>
                </a:moveTo>
                <a:lnTo>
                  <a:pt x="450595" y="100838"/>
                </a:lnTo>
                <a:lnTo>
                  <a:pt x="6350" y="100838"/>
                </a:lnTo>
                <a:lnTo>
                  <a:pt x="6350" y="289814"/>
                </a:lnTo>
                <a:lnTo>
                  <a:pt x="450595" y="289814"/>
                </a:lnTo>
                <a:lnTo>
                  <a:pt x="450595" y="384302"/>
                </a:lnTo>
                <a:lnTo>
                  <a:pt x="598423" y="195326"/>
                </a:lnTo>
                <a:lnTo>
                  <a:pt x="450595" y="6350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58424" y="3274856"/>
            <a:ext cx="383017" cy="308287"/>
          </a:xfrm>
          <a:custGeom>
            <a:avLst/>
            <a:gdLst>
              <a:gd name="connsiteX0" fmla="*/ 444245 w 592073"/>
              <a:gd name="connsiteY0" fmla="*/ 0 h 377952"/>
              <a:gd name="connsiteX1" fmla="*/ 444245 w 592073"/>
              <a:gd name="connsiteY1" fmla="*/ 94488 h 377952"/>
              <a:gd name="connsiteX2" fmla="*/ 0 w 592073"/>
              <a:gd name="connsiteY2" fmla="*/ 94488 h 377952"/>
              <a:gd name="connsiteX3" fmla="*/ 0 w 592073"/>
              <a:gd name="connsiteY3" fmla="*/ 283464 h 377952"/>
              <a:gd name="connsiteX4" fmla="*/ 444245 w 592073"/>
              <a:gd name="connsiteY4" fmla="*/ 283464 h 377952"/>
              <a:gd name="connsiteX5" fmla="*/ 444245 w 592073"/>
              <a:gd name="connsiteY5" fmla="*/ 377952 h 377952"/>
              <a:gd name="connsiteX6" fmla="*/ 592073 w 592073"/>
              <a:gd name="connsiteY6" fmla="*/ 188976 h 377952"/>
              <a:gd name="connsiteX7" fmla="*/ 444245 w 592073"/>
              <a:gd name="connsiteY7" fmla="*/ 0 h 37795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</a:cxnLst>
            <a:rect l="l" t="t" r="r" b="b"/>
            <a:pathLst>
              <a:path w="592073" h="377952">
                <a:moveTo>
                  <a:pt x="444245" y="0"/>
                </a:moveTo>
                <a:lnTo>
                  <a:pt x="444245" y="94488"/>
                </a:lnTo>
                <a:lnTo>
                  <a:pt x="0" y="94488"/>
                </a:lnTo>
                <a:lnTo>
                  <a:pt x="0" y="283464"/>
                </a:lnTo>
                <a:lnTo>
                  <a:pt x="444245" y="283464"/>
                </a:lnTo>
                <a:lnTo>
                  <a:pt x="444245" y="377952"/>
                </a:lnTo>
                <a:lnTo>
                  <a:pt x="592073" y="188976"/>
                </a:lnTo>
                <a:lnTo>
                  <a:pt x="444245" y="0"/>
                </a:lnTo>
              </a:path>
            </a:pathLst>
          </a:custGeom>
          <a:solidFill>
            <a:srgbClr val="618FFD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180149"/>
            <a:ext cx="8887993" cy="57061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FontTx/>
              <a:buChar char="•"/>
            </a:pPr>
            <a:r>
              <a:rPr lang="en-US" altLang="zh-CN" sz="3200" b="1" dirty="0">
                <a:solidFill>
                  <a:srgbClr val="FF0000"/>
                </a:solidFill>
              </a:rPr>
              <a:t>Wireless channel: </a:t>
            </a:r>
            <a:r>
              <a:rPr lang="en-US" altLang="zh-CN" sz="3200" b="1" dirty="0"/>
              <a:t>based on free propagation</a:t>
            </a:r>
            <a:br>
              <a:rPr lang="en-US" altLang="zh-CN" sz="3200" b="1" dirty="0">
                <a:solidFill>
                  <a:srgbClr val="FF0000"/>
                </a:solidFill>
              </a:rPr>
            </a:br>
            <a:r>
              <a:rPr lang="en-US" altLang="zh-CN" sz="3200" b="1" dirty="0"/>
              <a:t>	</a:t>
            </a:r>
            <a:endParaRPr lang="en-US" altLang="zh-CN" sz="3200" b="1" dirty="0"/>
          </a:p>
          <a:p>
            <a:pPr>
              <a:spcBef>
                <a:spcPct val="20000"/>
              </a:spcBef>
            </a:pPr>
            <a:r>
              <a:rPr lang="en-US" altLang="zh-CN" sz="3200" b="1" dirty="0"/>
              <a:t>--ground wave</a:t>
            </a:r>
            <a:br>
              <a:rPr lang="en-US" altLang="zh-CN" sz="3200" b="1" dirty="0"/>
            </a:br>
            <a:r>
              <a:rPr lang="en-US" altLang="zh-CN" sz="3200" b="1" dirty="0"/>
              <a:t>	</a:t>
            </a:r>
            <a:endParaRPr lang="en-US" altLang="zh-CN" sz="3200" b="1" dirty="0"/>
          </a:p>
          <a:p>
            <a:pPr>
              <a:spcBef>
                <a:spcPct val="20000"/>
              </a:spcBef>
            </a:pPr>
            <a:endParaRPr lang="en-US" altLang="zh-CN" sz="3200" b="1" dirty="0"/>
          </a:p>
          <a:p>
            <a:pPr>
              <a:spcBef>
                <a:spcPct val="20000"/>
              </a:spcBef>
            </a:pPr>
            <a:endParaRPr lang="en-US" altLang="zh-CN" sz="3200" b="1" dirty="0"/>
          </a:p>
          <a:p>
            <a:pPr>
              <a:spcBef>
                <a:spcPct val="20000"/>
              </a:spcBef>
            </a:pPr>
            <a:r>
              <a:rPr lang="en-US" altLang="zh-CN" sz="3200" b="1" dirty="0"/>
              <a:t>--sky wave</a:t>
            </a:r>
            <a:endParaRPr lang="en-US" altLang="zh-CN" sz="3200" b="1" dirty="0"/>
          </a:p>
          <a:p>
            <a:pPr>
              <a:spcBef>
                <a:spcPct val="20000"/>
              </a:spcBef>
            </a:pPr>
            <a:endParaRPr lang="en-US" altLang="zh-CN" sz="3200" b="1" dirty="0"/>
          </a:p>
          <a:p>
            <a:pPr>
              <a:spcBef>
                <a:spcPct val="20000"/>
              </a:spcBef>
            </a:pPr>
            <a:endParaRPr lang="en-US" altLang="zh-CN" sz="3200" b="1" dirty="0"/>
          </a:p>
          <a:p>
            <a:pPr>
              <a:spcBef>
                <a:spcPct val="20000"/>
              </a:spcBef>
            </a:pPr>
            <a:r>
              <a:rPr lang="en-US" altLang="zh-CN" sz="3200" b="1" dirty="0"/>
              <a:t>--LOS (Line of Sight)</a:t>
            </a:r>
            <a:endParaRPr lang="en-US" altLang="zh-CN" sz="4000" b="1" dirty="0"/>
          </a:p>
        </p:txBody>
      </p:sp>
      <p:pic>
        <p:nvPicPr>
          <p:cNvPr id="5" name="Picture 2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39990" y="789404"/>
            <a:ext cx="3555507" cy="203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4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81522" y="3047889"/>
            <a:ext cx="2734323" cy="153583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文本框 12"/>
          <p:cNvSpPr txBox="1"/>
          <p:nvPr/>
        </p:nvSpPr>
        <p:spPr>
          <a:xfrm>
            <a:off x="6429651" y="1270090"/>
            <a:ext cx="19398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Char char="•"/>
              <a:defRPr kumimoji="0" sz="3200" b="0" i="0" u="none" strike="noStrike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/>
                <a:ea typeface="楷体_GB2312"/>
              </a:defRPr>
            </a:lvl1pPr>
          </a:lstStyle>
          <a:p>
            <a:r>
              <a:rPr lang="en-US" altLang="zh-CN" sz="2800" dirty="0">
                <a:solidFill>
                  <a:srgbClr val="0070C0"/>
                </a:solidFill>
              </a:rPr>
              <a:t>&lt; 2MHz</a:t>
            </a:r>
            <a:endParaRPr lang="en-US" altLang="zh-CN" sz="2800" dirty="0">
              <a:solidFill>
                <a:srgbClr val="0070C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606835" y="3337147"/>
            <a:ext cx="254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spcBef>
                <a:spcPct val="50000"/>
              </a:spcBef>
              <a:buFontTx/>
              <a:buChar char="•"/>
              <a:defRPr/>
            </a:pPr>
            <a:r>
              <a:rPr lang="en-US" altLang="zh-CN" sz="2800" dirty="0">
                <a:solidFill>
                  <a:srgbClr val="0070C0"/>
                </a:solidFill>
                <a:latin typeface="Arial" panose="020B0604020202020204"/>
                <a:ea typeface="楷体_GB2312"/>
              </a:rPr>
              <a:t>2~30MHz</a:t>
            </a:r>
            <a:endParaRPr lang="en-US" altLang="zh-CN" sz="2800" dirty="0">
              <a:solidFill>
                <a:srgbClr val="0070C0"/>
              </a:solidFill>
              <a:latin typeface="Arial" panose="020B0604020202020204"/>
              <a:ea typeface="楷体_GB231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606835" y="3824762"/>
            <a:ext cx="33528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spcBef>
                <a:spcPct val="50000"/>
              </a:spcBef>
              <a:buFontTx/>
              <a:buChar char="•"/>
              <a:defRPr/>
            </a:pPr>
            <a:r>
              <a:rPr lang="en-US" altLang="zh-CN" sz="2800" dirty="0">
                <a:solidFill>
                  <a:srgbClr val="0070C0"/>
                </a:solidFill>
                <a:latin typeface="Arial" panose="020B0604020202020204" pitchFamily="34" charset="0"/>
                <a:ea typeface="楷体_GB2312"/>
              </a:rPr>
              <a:t>10000km</a:t>
            </a:r>
            <a:endParaRPr lang="en-US" altLang="zh-CN" sz="2800" dirty="0">
              <a:solidFill>
                <a:srgbClr val="0070C0"/>
              </a:solidFill>
              <a:latin typeface="Arial" panose="020B0604020202020204"/>
              <a:ea typeface="楷体_GB231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682639" y="4982251"/>
            <a:ext cx="254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spcBef>
                <a:spcPct val="50000"/>
              </a:spcBef>
              <a:buFontTx/>
              <a:buChar char="•"/>
              <a:defRPr/>
            </a:pPr>
            <a:r>
              <a:rPr lang="en-US" altLang="zh-CN" sz="3200" dirty="0">
                <a:solidFill>
                  <a:srgbClr val="0070C0"/>
                </a:solidFill>
                <a:latin typeface="Arial" panose="020B0604020202020204"/>
                <a:ea typeface="楷体_GB2312"/>
              </a:rPr>
              <a:t>&gt;30MHz</a:t>
            </a:r>
            <a:endParaRPr lang="en-US" altLang="zh-CN" sz="3200" dirty="0">
              <a:solidFill>
                <a:srgbClr val="0070C0"/>
              </a:solidFill>
              <a:latin typeface="Arial" panose="020B0604020202020204"/>
              <a:ea typeface="楷体_GB231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320320" y="1799625"/>
            <a:ext cx="4605291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spcBef>
                <a:spcPct val="50000"/>
              </a:spcBef>
              <a:buFontTx/>
              <a:buChar char="•"/>
              <a:defRPr/>
            </a:pPr>
            <a:r>
              <a:rPr lang="en-US" altLang="zh-CN" sz="2600" dirty="0">
                <a:solidFill>
                  <a:srgbClr val="0070C0"/>
                </a:solidFill>
                <a:latin typeface="Arial" panose="020B0604020202020204"/>
                <a:ea typeface="楷体_GB2312"/>
              </a:rPr>
              <a:t>Over hundreds to</a:t>
            </a:r>
            <a:endParaRPr lang="en-US" altLang="zh-CN" sz="2600" dirty="0">
              <a:solidFill>
                <a:srgbClr val="0070C0"/>
              </a:solidFill>
              <a:latin typeface="Arial" panose="020B0604020202020204"/>
              <a:ea typeface="楷体_GB2312"/>
            </a:endParaRPr>
          </a:p>
          <a:p>
            <a:pPr defTabSz="914400">
              <a:spcBef>
                <a:spcPct val="50000"/>
              </a:spcBef>
              <a:defRPr/>
            </a:pPr>
            <a:r>
              <a:rPr lang="en-US" altLang="zh-CN" sz="2600" dirty="0">
                <a:solidFill>
                  <a:srgbClr val="0070C0"/>
                </a:solidFill>
                <a:latin typeface="Arial" panose="020B0604020202020204"/>
                <a:ea typeface="楷体_GB2312"/>
              </a:rPr>
              <a:t> thousands of km</a:t>
            </a:r>
            <a:endParaRPr lang="en-US" altLang="zh-CN" sz="2600" dirty="0">
              <a:solidFill>
                <a:srgbClr val="0070C0"/>
              </a:solidFill>
              <a:latin typeface="Arial" panose="020B0604020202020204"/>
              <a:ea typeface="楷体_GB2312"/>
            </a:endParaRPr>
          </a:p>
        </p:txBody>
      </p:sp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6511740" y="5471992"/>
          <a:ext cx="2343705" cy="603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1002665" imgH="241300" progId="Equation.DSMT4">
                  <p:embed/>
                </p:oleObj>
              </mc:Choice>
              <mc:Fallback>
                <p:oleObj name="Equation" r:id="rId3" imgW="1002665" imgH="2413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1740" y="5471992"/>
                        <a:ext cx="2343705" cy="6035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4035" y="4810028"/>
            <a:ext cx="2671810" cy="1927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文本框 29"/>
          <p:cNvSpPr txBox="1"/>
          <p:nvPr/>
        </p:nvSpPr>
        <p:spPr>
          <a:xfrm>
            <a:off x="5260388" y="4299409"/>
            <a:ext cx="1346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短波电台</a:t>
            </a:r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3245" y="3902453"/>
            <a:ext cx="4638095" cy="2912724"/>
          </a:xfrm>
          <a:prstGeom prst="rect">
            <a:avLst/>
          </a:prstGeom>
          <a:ln w="15875">
            <a:solidFill>
              <a:srgbClr val="00B050"/>
            </a:solidFill>
            <a:prstDash val="lgDash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318229"/>
            <a:ext cx="7886700" cy="1325563"/>
          </a:xfrm>
        </p:spPr>
        <p:txBody>
          <a:bodyPr/>
          <a:lstStyle/>
          <a:p>
            <a:r>
              <a:rPr lang="en-US" altLang="zh-CN" sz="3200" b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Summary</a:t>
            </a:r>
            <a:endParaRPr lang="zh-CN" altLang="en-US" sz="3200" b="1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9829" y="613014"/>
            <a:ext cx="8795658" cy="603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Wired Channel（有线信道）</a:t>
            </a:r>
            <a:endParaRPr kumimoji="0" lang="zh-CN" altLang="zh-CN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① 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Twisted-pair cable：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Low cost, used for short-range LAN. Vulnerable to electromagnetic crosstalk. </a:t>
            </a:r>
            <a:endParaRPr kumimoji="0" lang="zh-CN" altLang="zh-CN" sz="280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成本低，短距离局域网（网线），易受干扰。</a:t>
            </a:r>
            <a:endParaRPr kumimoji="0" lang="zh-CN" altLang="zh-CN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② Coaxial cable：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Better anti-interference performance than twisted pair; used in old CATV and surveillance systems. </a:t>
            </a:r>
            <a:endParaRPr kumimoji="0" lang="zh-CN" altLang="zh-CN" sz="280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抗干扰优于双绞线，早期有线电视、监控。</a:t>
            </a:r>
            <a:endParaRPr kumimoji="0" lang="zh-CN" altLang="zh-CN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③ Optical fiber：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Excellent anti-interference, huge bandwidth, long transmission distance. Used for backbone &amp; long-haul communication. </a:t>
            </a:r>
            <a:endParaRPr kumimoji="0" lang="zh-CN" altLang="zh-CN" sz="280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抗干扰极强、带宽大、远距离，骨干网、长途通信。</a:t>
            </a:r>
            <a:endParaRPr kumimoji="0" lang="zh-CN" altLang="zh-CN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98351"/>
            <a:ext cx="7886700" cy="1325563"/>
          </a:xfrm>
        </p:spPr>
        <p:txBody>
          <a:bodyPr/>
          <a:lstStyle/>
          <a:p>
            <a:r>
              <a:rPr lang="en-US" altLang="zh-CN" sz="3200" b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Summary</a:t>
            </a:r>
            <a:endParaRPr lang="zh-CN" altLang="en-US" sz="3200" b="1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4257" y="695633"/>
            <a:ext cx="8875486" cy="627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kumimoji="0" lang="zh-CN" altLang="zh-CN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Wireless Channel（无线信道）</a:t>
            </a: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rPr>
              <a:t>① 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rPr>
              <a:t>Ground wave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Propagates along the Earth’s surface. Suitable for long-distance medium &amp; long wave; capable of diffracting around surface obstacles. </a:t>
            </a:r>
            <a:endParaRPr kumimoji="0" lang="zh-CN" altLang="zh-CN" sz="280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rPr>
              <a:t>沿地球表面传播，适合长距离、中长波，可绕过地表障碍物。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rPr>
              <a:t>Sky wave</a:t>
            </a:r>
            <a:r>
              <a:rPr kumimoji="0" lang="zh-CN" altLang="zh-CN" sz="2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Reflected by the ionosphere. Uses short waves for long-distance, intercontinental communication. </a:t>
            </a:r>
            <a:endParaRPr kumimoji="0" lang="zh-CN" altLang="zh-CN" sz="280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rPr>
              <a:t>利用电离层反射传播，短波，可实现远距离、跨大洲通信。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rPr>
              <a:t>③ </a:t>
            </a:r>
            <a:r>
              <a:rPr kumimoji="0" lang="zh-CN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rPr>
              <a:t>Line-of-Sight (LOS) propagation</a:t>
            </a:r>
            <a:r>
              <a:rPr kumimoji="0" lang="zh-CN" altLang="zh-CN" sz="2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Microwave travels in straight line with no obstruction between two points. Applications: base stations, satellites, wireless bridges. </a:t>
            </a:r>
            <a:endParaRPr kumimoji="0" lang="zh-CN" altLang="zh-CN" sz="280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rPr>
              <a:t>视线传播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Times New Roman" panose="02020603050405020304" pitchFamily="18" charset="0"/>
              </a:rPr>
              <a:t>：微波，两点之间无遮挡，直线传输（基站、卫星、无线网桥）。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6176" y="0"/>
            <a:ext cx="7886700" cy="1325563"/>
          </a:xfrm>
        </p:spPr>
        <p:txBody>
          <a:bodyPr/>
          <a:lstStyle/>
          <a:p>
            <a:r>
              <a:rPr lang="zh-CN" altLang="zh-CN" b="1" dirty="0"/>
              <a:t>Matching Question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54056" y="1260958"/>
            <a:ext cx="4060135" cy="48885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lang="zh-CN" altLang="zh-CN" sz="3600" b="1" dirty="0"/>
              <a:t>Channels</a:t>
            </a:r>
            <a:endParaRPr lang="zh-CN" altLang="zh-CN" sz="3600" dirty="0"/>
          </a:p>
          <a:p>
            <a:pPr marL="342900" lvl="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zh-CN" sz="3600" dirty="0">
                <a:effectLst/>
              </a:rPr>
              <a:t>symmetrical cable</a:t>
            </a:r>
            <a:endParaRPr lang="zh-CN" altLang="zh-CN" sz="3600" dirty="0">
              <a:effectLst/>
            </a:endParaRPr>
          </a:p>
          <a:p>
            <a:pPr marL="342900" lvl="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zh-CN" sz="3600" dirty="0">
                <a:effectLst/>
              </a:rPr>
              <a:t>coaxial cable</a:t>
            </a:r>
            <a:endParaRPr lang="zh-CN" altLang="zh-CN" sz="3600" dirty="0">
              <a:effectLst/>
            </a:endParaRPr>
          </a:p>
          <a:p>
            <a:pPr marL="342900" lvl="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zh-CN" sz="3600" dirty="0">
                <a:effectLst/>
              </a:rPr>
              <a:t>optical fiber</a:t>
            </a:r>
            <a:endParaRPr lang="zh-CN" altLang="zh-CN" sz="3600" dirty="0">
              <a:effectLst/>
            </a:endParaRPr>
          </a:p>
          <a:p>
            <a:pPr marL="342900" lvl="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zh-CN" sz="3600" dirty="0">
                <a:effectLst/>
              </a:rPr>
              <a:t>ground wave</a:t>
            </a:r>
            <a:endParaRPr lang="zh-CN" altLang="zh-CN" sz="3600" dirty="0">
              <a:effectLst/>
            </a:endParaRPr>
          </a:p>
          <a:p>
            <a:pPr marL="342900" lvl="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zh-CN" sz="3600" dirty="0">
                <a:effectLst/>
              </a:rPr>
              <a:t>sky wave</a:t>
            </a:r>
            <a:endParaRPr lang="zh-CN" altLang="zh-CN" sz="3600" dirty="0">
              <a:effectLst/>
            </a:endParaRPr>
          </a:p>
          <a:p>
            <a:pPr marL="342900" lvl="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zh-CN" sz="3600" dirty="0">
                <a:effectLst/>
              </a:rPr>
              <a:t>LOS (line of sight)</a:t>
            </a:r>
            <a:endParaRPr lang="zh-CN" altLang="zh-CN" sz="3600" dirty="0">
              <a:effectLst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499939" y="1125443"/>
            <a:ext cx="4644061" cy="541347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zh-CN" sz="2400" b="1" dirty="0"/>
              <a:t>Applications</a:t>
            </a:r>
            <a:r>
              <a:rPr lang="zh-CN" altLang="zh-CN" sz="2400" dirty="0"/>
              <a:t> </a:t>
            </a:r>
            <a:endParaRPr lang="en-US" altLang="zh-CN" sz="2400" dirty="0"/>
          </a:p>
          <a:p>
            <a:endParaRPr lang="en-US" altLang="zh-CN" sz="2400" dirty="0"/>
          </a:p>
          <a:p>
            <a:pPr marL="342900" indent="-342900">
              <a:lnSpc>
                <a:spcPct val="125000"/>
              </a:lnSpc>
              <a:buAutoNum type="alphaUcPeriod"/>
            </a:pPr>
            <a:r>
              <a:rPr lang="zh-CN" altLang="zh-CN" sz="2400" dirty="0"/>
              <a:t>Long-distance high-speed backbone transmission</a:t>
            </a:r>
            <a:endParaRPr lang="en-US" altLang="zh-CN" sz="2400" dirty="0"/>
          </a:p>
          <a:p>
            <a:pPr>
              <a:lnSpc>
                <a:spcPct val="125000"/>
              </a:lnSpc>
            </a:pPr>
            <a:r>
              <a:rPr lang="zh-CN" altLang="zh-CN" sz="2400" dirty="0"/>
              <a:t>B. Home telephone and short-</a:t>
            </a:r>
            <a:endParaRPr lang="en-US" altLang="zh-CN" sz="2400" dirty="0"/>
          </a:p>
          <a:p>
            <a:pPr>
              <a:lnSpc>
                <a:spcPct val="125000"/>
              </a:lnSpc>
            </a:pPr>
            <a:r>
              <a:rPr lang="en-US" altLang="zh-CN" sz="2400" dirty="0"/>
              <a:t>     </a:t>
            </a:r>
            <a:r>
              <a:rPr lang="zh-CN" altLang="zh-CN" sz="2400" dirty="0"/>
              <a:t>distance LAN </a:t>
            </a:r>
            <a:endParaRPr lang="en-US" altLang="zh-CN" sz="2400" dirty="0"/>
          </a:p>
          <a:p>
            <a:pPr>
              <a:lnSpc>
                <a:spcPct val="125000"/>
              </a:lnSpc>
            </a:pPr>
            <a:r>
              <a:rPr lang="zh-CN" altLang="zh-CN" sz="2400" dirty="0"/>
              <a:t>C. Cable television (CATV) </a:t>
            </a:r>
            <a:endParaRPr lang="en-US" altLang="zh-CN" sz="2400" dirty="0"/>
          </a:p>
          <a:p>
            <a:pPr>
              <a:lnSpc>
                <a:spcPct val="125000"/>
              </a:lnSpc>
            </a:pPr>
            <a:r>
              <a:rPr lang="zh-CN" altLang="zh-CN" sz="2400" dirty="0"/>
              <a:t>D. Microwave relay, point-to-point </a:t>
            </a:r>
            <a:r>
              <a:rPr lang="en-US" altLang="zh-CN" sz="2400" dirty="0"/>
              <a:t> </a:t>
            </a:r>
            <a:endParaRPr lang="en-US" altLang="zh-CN" sz="2400" dirty="0"/>
          </a:p>
          <a:p>
            <a:pPr>
              <a:lnSpc>
                <a:spcPct val="125000"/>
              </a:lnSpc>
            </a:pPr>
            <a:r>
              <a:rPr lang="en-US" altLang="zh-CN" sz="2400" dirty="0"/>
              <a:t>    </a:t>
            </a:r>
            <a:r>
              <a:rPr lang="zh-CN" altLang="zh-CN" sz="2400" dirty="0"/>
              <a:t>LOS transmission </a:t>
            </a:r>
            <a:endParaRPr lang="en-US" altLang="zh-CN" sz="2400" dirty="0"/>
          </a:p>
          <a:p>
            <a:pPr>
              <a:lnSpc>
                <a:spcPct val="125000"/>
              </a:lnSpc>
            </a:pPr>
            <a:r>
              <a:rPr lang="zh-CN" altLang="zh-CN" sz="2400" dirty="0"/>
              <a:t>E. Medium wave radio broadcasting </a:t>
            </a:r>
            <a:endParaRPr lang="en-US" altLang="zh-CN" sz="2400" dirty="0"/>
          </a:p>
          <a:p>
            <a:pPr>
              <a:lnSpc>
                <a:spcPct val="125000"/>
              </a:lnSpc>
            </a:pPr>
            <a:r>
              <a:rPr lang="zh-CN" altLang="zh-CN" sz="2400" dirty="0"/>
              <a:t>F. Shortwave over-the-horizon long-</a:t>
            </a:r>
            <a:endParaRPr lang="en-US" altLang="zh-CN" sz="2400" dirty="0"/>
          </a:p>
          <a:p>
            <a:pPr>
              <a:lnSpc>
                <a:spcPct val="125000"/>
              </a:lnSpc>
            </a:pPr>
            <a:r>
              <a:rPr lang="en-US" altLang="zh-CN" sz="2400" dirty="0"/>
              <a:t>     </a:t>
            </a:r>
            <a:r>
              <a:rPr lang="zh-CN" altLang="zh-CN" sz="2400" dirty="0"/>
              <a:t>distance radio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/>
          <p:cNvSpPr>
            <a:spLocks noGrp="1"/>
          </p:cNvSpPr>
          <p:nvPr>
            <p:ph type="title"/>
          </p:nvPr>
        </p:nvSpPr>
        <p:spPr>
          <a:xfrm>
            <a:off x="126724" y="176656"/>
            <a:ext cx="7238172" cy="439944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Example 1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69635" name="内容占位符 2"/>
          <p:cNvSpPr>
            <a:spLocks noGrp="1"/>
          </p:cNvSpPr>
          <p:nvPr>
            <p:ph idx="1"/>
          </p:nvPr>
        </p:nvSpPr>
        <p:spPr>
          <a:xfrm>
            <a:off x="191466" y="616600"/>
            <a:ext cx="8545168" cy="4351338"/>
          </a:xfrm>
        </p:spPr>
        <p:txBody>
          <a:bodyPr/>
          <a:lstStyle/>
          <a:p>
            <a:r>
              <a:rPr lang="en-US" altLang="zh-C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a wireless link uses line-of-sight propagation for communication, and the heights of the transmitting antenna and the receiving antenna are both 80m.Find the maximum communication distance.</a:t>
            </a:r>
            <a:endParaRPr lang="zh-CN" altLang="zh-CN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323079" y="2825471"/>
          <a:ext cx="2343705" cy="603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1002665" imgH="241300" progId="Equation.DSMT4">
                  <p:embed/>
                </p:oleObj>
              </mc:Choice>
              <mc:Fallback>
                <p:oleObj name="Equation" r:id="rId1" imgW="1002665" imgH="2413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3079" y="2825471"/>
                        <a:ext cx="2343705" cy="6035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883" y="2267792"/>
            <a:ext cx="5000142" cy="3140090"/>
          </a:xfrm>
          <a:prstGeom prst="rect">
            <a:avLst/>
          </a:prstGeom>
          <a:ln w="15875">
            <a:solidFill>
              <a:srgbClr val="00B050"/>
            </a:solidFill>
            <a:prstDash val="lgDash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/>
          <p:cNvSpPr>
            <a:spLocks noGrp="1"/>
          </p:cNvSpPr>
          <p:nvPr>
            <p:ph type="title"/>
          </p:nvPr>
        </p:nvSpPr>
        <p:spPr>
          <a:xfrm>
            <a:off x="0" y="-71668"/>
            <a:ext cx="7620000" cy="762000"/>
          </a:xfrm>
        </p:spPr>
        <p:txBody>
          <a:bodyPr>
            <a:normAutofit/>
          </a:bodyPr>
          <a:lstStyle/>
          <a:p>
            <a:r>
              <a:rPr lang="en-US" altLang="zh-CN" sz="2800" b="1" dirty="0"/>
              <a:t>Example 2</a:t>
            </a:r>
            <a:endParaRPr lang="zh-CN" altLang="en-US" sz="28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57174" y="2150812"/>
            <a:ext cx="2104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理想自由空间传播衰落模型</a:t>
            </a:r>
            <a:r>
              <a:rPr lang="en-US" altLang="zh-CN" dirty="0"/>
              <a:t>(</a:t>
            </a:r>
            <a:r>
              <a:rPr lang="en-US" altLang="zh-CN" dirty="0" err="1"/>
              <a:t>Friis</a:t>
            </a:r>
            <a:r>
              <a:rPr lang="zh-CN" altLang="en-US" dirty="0"/>
              <a:t>方程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98543"/>
            <a:ext cx="9144000" cy="147837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78" y="3030848"/>
            <a:ext cx="3513483" cy="94065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661" y="3128227"/>
            <a:ext cx="3561879" cy="843272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09" y="4528369"/>
            <a:ext cx="3734638" cy="977562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1887" y="2036473"/>
            <a:ext cx="4804286" cy="87500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1999" y="1955848"/>
            <a:ext cx="6403092" cy="762000"/>
          </a:xfrm>
        </p:spPr>
        <p:txBody>
          <a:bodyPr>
            <a:normAutofit fontScale="90000"/>
          </a:bodyPr>
          <a:lstStyle/>
          <a:p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19" name="Picture 4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513" y="1651735"/>
            <a:ext cx="5151933" cy="3132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081" y="2175969"/>
            <a:ext cx="4045406" cy="268088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97567" y="1955848"/>
            <a:ext cx="814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</a:rPr>
              <a:t>62GHz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035877" y="2976292"/>
            <a:ext cx="814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</a:rPr>
              <a:t>23GHz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63315" y="2848852"/>
            <a:ext cx="106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</a:rPr>
              <a:t>120GHz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03545" y="1824844"/>
            <a:ext cx="941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</a:rPr>
              <a:t>180GHz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204549" y="1436177"/>
            <a:ext cx="1495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</a:rPr>
              <a:t>350GHz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74158" y="5588467"/>
            <a:ext cx="73411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Attenuation characteristics of the atmosphere </a:t>
            </a:r>
            <a:endParaRPr lang="zh-CN" altLang="en-US" sz="2800" dirty="0"/>
          </a:p>
        </p:txBody>
      </p:sp>
      <p:sp>
        <p:nvSpPr>
          <p:cNvPr id="12" name="文本框 11"/>
          <p:cNvSpPr txBox="1"/>
          <p:nvPr/>
        </p:nvSpPr>
        <p:spPr>
          <a:xfrm>
            <a:off x="154056" y="339955"/>
            <a:ext cx="84234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Wireless channel: </a:t>
            </a:r>
            <a:r>
              <a:rPr lang="en-US" altLang="zh-CN" sz="3200" b="1" dirty="0"/>
              <a:t>based on free propagation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/>
          </p:cNvSpPr>
          <p:nvPr/>
        </p:nvSpPr>
        <p:spPr>
          <a:xfrm>
            <a:off x="49696" y="0"/>
            <a:ext cx="9094304" cy="736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noFill/>
          </a:ln>
        </p:spPr>
        <p:txBody>
          <a:bodyPr vert="horz" wrap="square" lIns="91440" tIns="45720" rIns="91440" bIns="45720" anchor="ctr" anchorCtr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+mj-lt"/>
                <a:ea typeface="+mj-ea"/>
                <a:cs typeface="楷体_GB231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Chapter 3: Channel — Part I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56366" y="893231"/>
            <a:ext cx="9014791" cy="5362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3.1 The classification of channels 信道的分类</a:t>
            </a: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  --</a:t>
            </a:r>
            <a:r>
              <a: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Wireless channels 无线信道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  --</a:t>
            </a:r>
            <a:r>
              <a: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Wire channel 有线信道</a:t>
            </a: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3.2 Channel models 信道模型</a:t>
            </a: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  --</a:t>
            </a:r>
            <a:r>
              <a: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Modulation channel model（调制解调模型）</a:t>
            </a: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  --</a:t>
            </a:r>
            <a:r>
              <a: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Coding channel model（编码信道模型）</a:t>
            </a: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3.3 Influence of the channel characteristics on transmission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  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rgbClr val="0070C0"/>
                </a:solidFill>
                <a:latin typeface="Calibri" panose="020F0502020204030204"/>
                <a:ea typeface="等线" panose="02010600030101010101" charset="-122"/>
              </a:rPr>
              <a:t>      </a:t>
            </a: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信道特性对传输的影响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3.4 Channel capacity (continuous channel) 信道容量</a:t>
            </a:r>
            <a:endParaRPr kumimoji="0" lang="zh-CN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2" name="Freeform 3"/>
          <p:cNvSpPr/>
          <p:nvPr/>
        </p:nvSpPr>
        <p:spPr>
          <a:xfrm>
            <a:off x="-62296" y="2943106"/>
            <a:ext cx="391233" cy="318646"/>
          </a:xfrm>
          <a:custGeom>
            <a:avLst/>
            <a:gdLst>
              <a:gd name="connsiteX0" fmla="*/ 450595 w 604773"/>
              <a:gd name="connsiteY0" fmla="*/ 6350 h 390652"/>
              <a:gd name="connsiteX1" fmla="*/ 450595 w 604773"/>
              <a:gd name="connsiteY1" fmla="*/ 100838 h 390652"/>
              <a:gd name="connsiteX2" fmla="*/ 6350 w 604773"/>
              <a:gd name="connsiteY2" fmla="*/ 100838 h 390652"/>
              <a:gd name="connsiteX3" fmla="*/ 6350 w 604773"/>
              <a:gd name="connsiteY3" fmla="*/ 289814 h 390652"/>
              <a:gd name="connsiteX4" fmla="*/ 450595 w 604773"/>
              <a:gd name="connsiteY4" fmla="*/ 289814 h 390652"/>
              <a:gd name="connsiteX5" fmla="*/ 450595 w 604773"/>
              <a:gd name="connsiteY5" fmla="*/ 384302 h 390652"/>
              <a:gd name="connsiteX6" fmla="*/ 598423 w 604773"/>
              <a:gd name="connsiteY6" fmla="*/ 195326 h 390652"/>
              <a:gd name="connsiteX7" fmla="*/ 450595 w 604773"/>
              <a:gd name="connsiteY7" fmla="*/ 6350 h 39065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</a:cxnLst>
            <a:rect l="l" t="t" r="r" b="b"/>
            <a:pathLst>
              <a:path w="604773" h="390652">
                <a:moveTo>
                  <a:pt x="450595" y="6350"/>
                </a:moveTo>
                <a:lnTo>
                  <a:pt x="450595" y="100838"/>
                </a:lnTo>
                <a:lnTo>
                  <a:pt x="6350" y="100838"/>
                </a:lnTo>
                <a:lnTo>
                  <a:pt x="6350" y="289814"/>
                </a:lnTo>
                <a:lnTo>
                  <a:pt x="450595" y="289814"/>
                </a:lnTo>
                <a:lnTo>
                  <a:pt x="450595" y="384302"/>
                </a:lnTo>
                <a:lnTo>
                  <a:pt x="598423" y="195326"/>
                </a:lnTo>
                <a:lnTo>
                  <a:pt x="450595" y="6350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-54080" y="2948285"/>
            <a:ext cx="383017" cy="308287"/>
          </a:xfrm>
          <a:custGeom>
            <a:avLst/>
            <a:gdLst>
              <a:gd name="connsiteX0" fmla="*/ 444245 w 592073"/>
              <a:gd name="connsiteY0" fmla="*/ 0 h 377952"/>
              <a:gd name="connsiteX1" fmla="*/ 444245 w 592073"/>
              <a:gd name="connsiteY1" fmla="*/ 94488 h 377952"/>
              <a:gd name="connsiteX2" fmla="*/ 0 w 592073"/>
              <a:gd name="connsiteY2" fmla="*/ 94488 h 377952"/>
              <a:gd name="connsiteX3" fmla="*/ 0 w 592073"/>
              <a:gd name="connsiteY3" fmla="*/ 283464 h 377952"/>
              <a:gd name="connsiteX4" fmla="*/ 444245 w 592073"/>
              <a:gd name="connsiteY4" fmla="*/ 283464 h 377952"/>
              <a:gd name="connsiteX5" fmla="*/ 444245 w 592073"/>
              <a:gd name="connsiteY5" fmla="*/ 377952 h 377952"/>
              <a:gd name="connsiteX6" fmla="*/ 592073 w 592073"/>
              <a:gd name="connsiteY6" fmla="*/ 188976 h 377952"/>
              <a:gd name="connsiteX7" fmla="*/ 444245 w 592073"/>
              <a:gd name="connsiteY7" fmla="*/ 0 h 37795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</a:cxnLst>
            <a:rect l="l" t="t" r="r" b="b"/>
            <a:pathLst>
              <a:path w="592073" h="377952">
                <a:moveTo>
                  <a:pt x="444245" y="0"/>
                </a:moveTo>
                <a:lnTo>
                  <a:pt x="444245" y="94488"/>
                </a:lnTo>
                <a:lnTo>
                  <a:pt x="0" y="94488"/>
                </a:lnTo>
                <a:lnTo>
                  <a:pt x="0" y="283464"/>
                </a:lnTo>
                <a:lnTo>
                  <a:pt x="444245" y="283464"/>
                </a:lnTo>
                <a:lnTo>
                  <a:pt x="444245" y="377952"/>
                </a:lnTo>
                <a:lnTo>
                  <a:pt x="592073" y="188976"/>
                </a:lnTo>
                <a:lnTo>
                  <a:pt x="444245" y="0"/>
                </a:lnTo>
              </a:path>
            </a:pathLst>
          </a:custGeom>
          <a:solidFill>
            <a:srgbClr val="618FFD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99168" y="-135785"/>
            <a:ext cx="9653707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3.2 Channel models 信道模型</a:t>
            </a: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  --</a:t>
            </a:r>
            <a:r>
              <a: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Modulation channel model（调制解调模型）</a:t>
            </a: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  --</a:t>
            </a:r>
            <a:r>
              <a: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Coding channel model（编码信道模型）</a:t>
            </a: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926162" y="3368083"/>
            <a:ext cx="1170943" cy="634817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/>
          </a:ln>
        </p:spPr>
        <p:txBody>
          <a:bodyPr lIns="34286" tIns="34286" rIns="34286" bIns="34286">
            <a:spAutoFit/>
          </a:bodyPr>
          <a:lstStyle>
            <a:lvl1pPr defTabSz="914400">
              <a:defRPr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Channel encoder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852903" y="3385250"/>
            <a:ext cx="1171577" cy="634816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/>
          </a:ln>
        </p:spPr>
        <p:txBody>
          <a:bodyPr lIns="34286" tIns="34286" rIns="34286" bIns="34286">
            <a:spAutoFit/>
          </a:bodyPr>
          <a:lstStyle>
            <a:lvl1pPr defTabSz="914400">
              <a:defRPr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Channel decoder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652212" y="2166108"/>
            <a:ext cx="1718840" cy="377018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/>
          </a:ln>
        </p:spPr>
        <p:txBody>
          <a:bodyPr wrap="square" lIns="34286" tIns="34286" rIns="34286" bIns="34286">
            <a:spAutoFit/>
          </a:bodyPr>
          <a:lstStyle>
            <a:lvl1pPr defTabSz="914400">
              <a:defRPr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Source encoder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494292" y="2194560"/>
            <a:ext cx="1803790" cy="377018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/>
          </a:ln>
        </p:spPr>
        <p:txBody>
          <a:bodyPr wrap="square" lIns="34286" tIns="34286" rIns="34286" bIns="34286">
            <a:spAutoFit/>
          </a:bodyPr>
          <a:lstStyle>
            <a:lvl1pPr defTabSz="914400">
              <a:defRPr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Source  decoder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767062" y="4483895"/>
            <a:ext cx="1337580" cy="377018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/>
          </a:ln>
        </p:spPr>
        <p:txBody>
          <a:bodyPr lIns="34286" tIns="34286" rIns="34286" bIns="34286">
            <a:spAutoFit/>
          </a:bodyPr>
          <a:lstStyle>
            <a:lvl1pPr defTabSz="914400">
              <a:defRPr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Modulator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648715" y="4411844"/>
            <a:ext cx="1685291" cy="392407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/>
          </a:ln>
        </p:spPr>
        <p:txBody>
          <a:bodyPr lIns="34286" tIns="34286" rIns="34286" bIns="34286">
            <a:spAutoFit/>
          </a:bodyPr>
          <a:lstStyle>
            <a:lvl1pPr defTabSz="914400">
              <a:defRPr sz="21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kumimoji="0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Demodulator</a:t>
            </a:r>
            <a:endParaRPr kumimoji="0" sz="2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900634" y="4997672"/>
            <a:ext cx="1117600" cy="352613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/>
          </a:ln>
        </p:spPr>
        <p:txBody>
          <a:bodyPr lIns="34286" tIns="34286" rIns="34286" bIns="34286">
            <a:spAutoFit/>
          </a:bodyPr>
          <a:lstStyle>
            <a:lvl1pPr defTabSz="914400">
              <a:defRPr sz="21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channel</a:t>
            </a:r>
            <a:endParaRPr kumimoji="0" sz="2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275473" y="1582367"/>
            <a:ext cx="2519896" cy="392407"/>
          </a:xfrm>
          <a:prstGeom prst="rect">
            <a:avLst/>
          </a:prstGeom>
          <a:solidFill>
            <a:srgbClr val="FFFFFF"/>
          </a:solidFill>
          <a:ln w="28575">
            <a:solidFill>
              <a:srgbClr val="002060"/>
            </a:solidFill>
            <a:miter/>
          </a:ln>
        </p:spPr>
        <p:txBody>
          <a:bodyPr wrap="square" lIns="34286" tIns="34286" rIns="34286" bIns="34286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1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 kumimoji="0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Source of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information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305901" y="1611382"/>
            <a:ext cx="2221818" cy="377018"/>
          </a:xfrm>
          <a:prstGeom prst="rect">
            <a:avLst/>
          </a:prstGeom>
          <a:solidFill>
            <a:srgbClr val="FFFFFF"/>
          </a:solidFill>
          <a:ln w="28575">
            <a:solidFill>
              <a:srgbClr val="002060"/>
            </a:solidFill>
            <a:miter/>
          </a:ln>
        </p:spPr>
        <p:txBody>
          <a:bodyPr wrap="square" lIns="34286" tIns="34286" rIns="34286" bIns="34286">
            <a:spAutoFit/>
          </a:bodyPr>
          <a:lstStyle>
            <a:lvl1pPr defTabSz="914400">
              <a:defRPr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User of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information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02852" y="2808503"/>
            <a:ext cx="1417561" cy="330016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prstDash val="sysDot"/>
            <a:miter/>
          </a:ln>
        </p:spPr>
        <p:txBody>
          <a:bodyPr lIns="34286" tIns="34286" rIns="34286" bIns="34286">
            <a:spAutoFit/>
          </a:bodyPr>
          <a:lstStyle>
            <a:lvl1pPr defTabSz="914400">
              <a:defRPr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Encryption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754377" y="2783976"/>
            <a:ext cx="1422603" cy="330016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prstDash val="sysDot"/>
            <a:miter/>
          </a:ln>
        </p:spPr>
        <p:txBody>
          <a:bodyPr lIns="34286" tIns="34286" rIns="34286" bIns="34286">
            <a:spAutoFit/>
          </a:bodyPr>
          <a:lstStyle>
            <a:lvl1pPr defTabSz="914400">
              <a:defRPr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Decryption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015468" y="4232464"/>
            <a:ext cx="7315732" cy="2485836"/>
          </a:xfrm>
          <a:prstGeom prst="rect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1469370" y="4970206"/>
            <a:ext cx="6576080" cy="1145764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dash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59" name="箭头: 下 58"/>
          <p:cNvSpPr/>
          <p:nvPr/>
        </p:nvSpPr>
        <p:spPr>
          <a:xfrm>
            <a:off x="2414964" y="1989506"/>
            <a:ext cx="86969" cy="164402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60" name="箭头: 下 59"/>
          <p:cNvSpPr/>
          <p:nvPr/>
        </p:nvSpPr>
        <p:spPr>
          <a:xfrm>
            <a:off x="2423274" y="2571505"/>
            <a:ext cx="45719" cy="205165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63" name="箭头: 下 62"/>
          <p:cNvSpPr/>
          <p:nvPr/>
        </p:nvSpPr>
        <p:spPr>
          <a:xfrm>
            <a:off x="2414964" y="4029271"/>
            <a:ext cx="45719" cy="368702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2048" name="箭头: 下 2047"/>
          <p:cNvSpPr/>
          <p:nvPr/>
        </p:nvSpPr>
        <p:spPr>
          <a:xfrm>
            <a:off x="2435852" y="3150718"/>
            <a:ext cx="45719" cy="205165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2049" name="箭头: 直角上 2048"/>
          <p:cNvSpPr/>
          <p:nvPr/>
        </p:nvSpPr>
        <p:spPr>
          <a:xfrm rot="5400000">
            <a:off x="2952322" y="4304666"/>
            <a:ext cx="403357" cy="1478076"/>
          </a:xfrm>
          <a:prstGeom prst="bentUp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2050" name="箭头: 上 2049"/>
          <p:cNvSpPr/>
          <p:nvPr/>
        </p:nvSpPr>
        <p:spPr>
          <a:xfrm>
            <a:off x="6380749" y="4036034"/>
            <a:ext cx="79545" cy="352613"/>
          </a:xfrm>
          <a:prstGeom prst="up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2051" name="箭头: 上 2050"/>
          <p:cNvSpPr/>
          <p:nvPr/>
        </p:nvSpPr>
        <p:spPr>
          <a:xfrm>
            <a:off x="6396187" y="3147057"/>
            <a:ext cx="45719" cy="221026"/>
          </a:xfrm>
          <a:prstGeom prst="up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2052" name="箭头: 上 2051"/>
          <p:cNvSpPr/>
          <p:nvPr/>
        </p:nvSpPr>
        <p:spPr>
          <a:xfrm>
            <a:off x="6373327" y="2546418"/>
            <a:ext cx="45719" cy="221026"/>
          </a:xfrm>
          <a:prstGeom prst="up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2055" name="箭头: 上 2054"/>
          <p:cNvSpPr/>
          <p:nvPr/>
        </p:nvSpPr>
        <p:spPr>
          <a:xfrm>
            <a:off x="6373326" y="2004932"/>
            <a:ext cx="86969" cy="169338"/>
          </a:xfrm>
          <a:prstGeom prst="up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2056" name="箭头: 直角上 2055"/>
          <p:cNvSpPr/>
          <p:nvPr/>
        </p:nvSpPr>
        <p:spPr>
          <a:xfrm>
            <a:off x="5010257" y="4780425"/>
            <a:ext cx="1530243" cy="403357"/>
          </a:xfrm>
          <a:prstGeom prst="bentUpArrow">
            <a:avLst>
              <a:gd name="adj1" fmla="val 25000"/>
              <a:gd name="adj2" fmla="val 23994"/>
              <a:gd name="adj3" fmla="val 25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2060" name="矩形"/>
          <p:cNvSpPr/>
          <p:nvPr/>
        </p:nvSpPr>
        <p:spPr>
          <a:xfrm>
            <a:off x="3973810" y="5678776"/>
            <a:ext cx="916491" cy="352613"/>
          </a:xfrm>
          <a:prstGeom prst="rect">
            <a:avLst/>
          </a:pr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 lim="800000"/>
          </a:ln>
          <a:effectLst/>
        </p:spPr>
        <p:txBody>
          <a:bodyPr wrap="square" lIns="45718" tIns="45718" rIns="45718" bIns="45718" numCol="1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Noise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61" name="箭头: 上 2060"/>
          <p:cNvSpPr/>
          <p:nvPr/>
        </p:nvSpPr>
        <p:spPr>
          <a:xfrm>
            <a:off x="4409195" y="5433506"/>
            <a:ext cx="45719" cy="221026"/>
          </a:xfrm>
          <a:prstGeom prst="up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2063" name="文本框 2062"/>
          <p:cNvSpPr txBox="1"/>
          <p:nvPr/>
        </p:nvSpPr>
        <p:spPr>
          <a:xfrm>
            <a:off x="4572000" y="5654532"/>
            <a:ext cx="4904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</a:rPr>
              <a:t>    Modulation channel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2066" name="文本框 2065"/>
          <p:cNvSpPr txBox="1"/>
          <p:nvPr/>
        </p:nvSpPr>
        <p:spPr>
          <a:xfrm>
            <a:off x="5775992" y="6131938"/>
            <a:ext cx="5267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Coding channel </a:t>
            </a:r>
            <a:endParaRPr lang="zh-CN" alt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067" name="图片 206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4642" y="4252402"/>
            <a:ext cx="2435971" cy="647055"/>
          </a:xfrm>
          <a:prstGeom prst="rect">
            <a:avLst/>
          </a:prstGeom>
        </p:spPr>
      </p:pic>
      <p:pic>
        <p:nvPicPr>
          <p:cNvPr id="2068" name="图片 20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540" y="5289581"/>
            <a:ext cx="2435971" cy="6553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99168" y="-135785"/>
            <a:ext cx="9653707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3.2 Channel models 信道模型</a:t>
            </a: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  --</a:t>
            </a:r>
            <a:r>
              <a: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Modulation channel model（调制解调模型）</a:t>
            </a: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  --</a:t>
            </a:r>
            <a:r>
              <a: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Coding channel model（编码信道模型）</a:t>
            </a: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926162" y="3368083"/>
            <a:ext cx="1170943" cy="634817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/>
          </a:ln>
        </p:spPr>
        <p:txBody>
          <a:bodyPr lIns="34286" tIns="34286" rIns="34286" bIns="34286">
            <a:spAutoFit/>
          </a:bodyPr>
          <a:lstStyle>
            <a:lvl1pPr defTabSz="914400">
              <a:defRPr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Channel encoder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852903" y="3385250"/>
            <a:ext cx="1171577" cy="634816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/>
          </a:ln>
        </p:spPr>
        <p:txBody>
          <a:bodyPr lIns="34286" tIns="34286" rIns="34286" bIns="34286">
            <a:spAutoFit/>
          </a:bodyPr>
          <a:lstStyle>
            <a:lvl1pPr defTabSz="914400">
              <a:defRPr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Channel decoder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652212" y="2166108"/>
            <a:ext cx="1718840" cy="377018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/>
          </a:ln>
        </p:spPr>
        <p:txBody>
          <a:bodyPr wrap="square" lIns="34286" tIns="34286" rIns="34286" bIns="34286">
            <a:spAutoFit/>
          </a:bodyPr>
          <a:lstStyle>
            <a:lvl1pPr defTabSz="914400">
              <a:defRPr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Source encoder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494292" y="2194560"/>
            <a:ext cx="1803790" cy="377018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/>
          </a:ln>
        </p:spPr>
        <p:txBody>
          <a:bodyPr wrap="square" lIns="34286" tIns="34286" rIns="34286" bIns="34286">
            <a:spAutoFit/>
          </a:bodyPr>
          <a:lstStyle>
            <a:lvl1pPr defTabSz="914400">
              <a:defRPr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Source  decoder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767062" y="4483895"/>
            <a:ext cx="1337580" cy="377018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/>
          </a:ln>
        </p:spPr>
        <p:txBody>
          <a:bodyPr lIns="34286" tIns="34286" rIns="34286" bIns="34286">
            <a:spAutoFit/>
          </a:bodyPr>
          <a:lstStyle>
            <a:lvl1pPr defTabSz="914400">
              <a:defRPr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Modulator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648715" y="4411844"/>
            <a:ext cx="1685291" cy="392407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/>
          </a:ln>
        </p:spPr>
        <p:txBody>
          <a:bodyPr lIns="34286" tIns="34286" rIns="34286" bIns="34286">
            <a:spAutoFit/>
          </a:bodyPr>
          <a:lstStyle>
            <a:lvl1pPr defTabSz="914400">
              <a:defRPr sz="21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kumimoji="0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Demodulator</a:t>
            </a:r>
            <a:endParaRPr kumimoji="0" sz="2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900634" y="4997672"/>
            <a:ext cx="1117600" cy="352613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/>
          </a:ln>
        </p:spPr>
        <p:txBody>
          <a:bodyPr lIns="34286" tIns="34286" rIns="34286" bIns="34286">
            <a:spAutoFit/>
          </a:bodyPr>
          <a:lstStyle>
            <a:lvl1pPr defTabSz="914400">
              <a:defRPr sz="21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channel</a:t>
            </a:r>
            <a:endParaRPr kumimoji="0" sz="2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275473" y="1582367"/>
            <a:ext cx="2519896" cy="392407"/>
          </a:xfrm>
          <a:prstGeom prst="rect">
            <a:avLst/>
          </a:prstGeom>
          <a:solidFill>
            <a:srgbClr val="FFFFFF"/>
          </a:solidFill>
          <a:ln w="28575">
            <a:solidFill>
              <a:srgbClr val="002060"/>
            </a:solidFill>
            <a:miter/>
          </a:ln>
        </p:spPr>
        <p:txBody>
          <a:bodyPr wrap="square" lIns="34286" tIns="34286" rIns="34286" bIns="34286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1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 kumimoji="0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Source of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information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305901" y="1611382"/>
            <a:ext cx="2221818" cy="377018"/>
          </a:xfrm>
          <a:prstGeom prst="rect">
            <a:avLst/>
          </a:prstGeom>
          <a:solidFill>
            <a:srgbClr val="FFFFFF"/>
          </a:solidFill>
          <a:ln w="28575">
            <a:solidFill>
              <a:srgbClr val="002060"/>
            </a:solidFill>
            <a:miter/>
          </a:ln>
        </p:spPr>
        <p:txBody>
          <a:bodyPr wrap="square" lIns="34286" tIns="34286" rIns="34286" bIns="34286">
            <a:spAutoFit/>
          </a:bodyPr>
          <a:lstStyle>
            <a:lvl1pPr defTabSz="914400">
              <a:defRPr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User of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information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02852" y="2808503"/>
            <a:ext cx="1417561" cy="330016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prstDash val="sysDot"/>
            <a:miter/>
          </a:ln>
        </p:spPr>
        <p:txBody>
          <a:bodyPr lIns="34286" tIns="34286" rIns="34286" bIns="34286">
            <a:spAutoFit/>
          </a:bodyPr>
          <a:lstStyle>
            <a:lvl1pPr defTabSz="914400">
              <a:defRPr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Encryption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754377" y="2783976"/>
            <a:ext cx="1422603" cy="330016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prstDash val="sysDot"/>
            <a:miter/>
          </a:ln>
        </p:spPr>
        <p:txBody>
          <a:bodyPr lIns="34286" tIns="34286" rIns="34286" bIns="34286">
            <a:spAutoFit/>
          </a:bodyPr>
          <a:lstStyle>
            <a:lvl1pPr defTabSz="914400">
              <a:defRPr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Decryption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015468" y="4232464"/>
            <a:ext cx="7315732" cy="2485836"/>
          </a:xfrm>
          <a:prstGeom prst="rect">
            <a:avLst/>
          </a:prstGeom>
          <a:solidFill>
            <a:schemeClr val="bg1">
              <a:lumMod val="50000"/>
            </a:schemeClr>
          </a:solidFill>
          <a:ln w="25400" cap="flat">
            <a:solidFill>
              <a:schemeClr val="accent1"/>
            </a:solidFill>
            <a:prstDash val="dash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1469370" y="4970206"/>
            <a:ext cx="6576080" cy="1145764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dash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59" name="箭头: 下 58"/>
          <p:cNvSpPr/>
          <p:nvPr/>
        </p:nvSpPr>
        <p:spPr>
          <a:xfrm>
            <a:off x="2414964" y="1989506"/>
            <a:ext cx="86969" cy="164402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60" name="箭头: 下 59"/>
          <p:cNvSpPr/>
          <p:nvPr/>
        </p:nvSpPr>
        <p:spPr>
          <a:xfrm>
            <a:off x="2423274" y="2571505"/>
            <a:ext cx="45719" cy="205165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63" name="箭头: 下 62"/>
          <p:cNvSpPr/>
          <p:nvPr/>
        </p:nvSpPr>
        <p:spPr>
          <a:xfrm>
            <a:off x="2414964" y="4029271"/>
            <a:ext cx="45719" cy="368702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2048" name="箭头: 下 2047"/>
          <p:cNvSpPr/>
          <p:nvPr/>
        </p:nvSpPr>
        <p:spPr>
          <a:xfrm>
            <a:off x="2435852" y="3150718"/>
            <a:ext cx="45719" cy="205165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2049" name="箭头: 直角上 2048"/>
          <p:cNvSpPr/>
          <p:nvPr/>
        </p:nvSpPr>
        <p:spPr>
          <a:xfrm rot="5400000">
            <a:off x="2952322" y="4304666"/>
            <a:ext cx="403357" cy="1478076"/>
          </a:xfrm>
          <a:prstGeom prst="bentUp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2050" name="箭头: 上 2049"/>
          <p:cNvSpPr/>
          <p:nvPr/>
        </p:nvSpPr>
        <p:spPr>
          <a:xfrm>
            <a:off x="6380749" y="4036034"/>
            <a:ext cx="79545" cy="352613"/>
          </a:xfrm>
          <a:prstGeom prst="up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2051" name="箭头: 上 2050"/>
          <p:cNvSpPr/>
          <p:nvPr/>
        </p:nvSpPr>
        <p:spPr>
          <a:xfrm>
            <a:off x="6396187" y="3147057"/>
            <a:ext cx="45719" cy="221026"/>
          </a:xfrm>
          <a:prstGeom prst="up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2052" name="箭头: 上 2051"/>
          <p:cNvSpPr/>
          <p:nvPr/>
        </p:nvSpPr>
        <p:spPr>
          <a:xfrm>
            <a:off x="6373327" y="2546418"/>
            <a:ext cx="45719" cy="221026"/>
          </a:xfrm>
          <a:prstGeom prst="up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2055" name="箭头: 上 2054"/>
          <p:cNvSpPr/>
          <p:nvPr/>
        </p:nvSpPr>
        <p:spPr>
          <a:xfrm>
            <a:off x="6373326" y="2004932"/>
            <a:ext cx="86969" cy="169338"/>
          </a:xfrm>
          <a:prstGeom prst="up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2056" name="箭头: 直角上 2055"/>
          <p:cNvSpPr/>
          <p:nvPr/>
        </p:nvSpPr>
        <p:spPr>
          <a:xfrm>
            <a:off x="5010257" y="4780425"/>
            <a:ext cx="1530243" cy="403357"/>
          </a:xfrm>
          <a:prstGeom prst="bentUpArrow">
            <a:avLst>
              <a:gd name="adj1" fmla="val 25000"/>
              <a:gd name="adj2" fmla="val 23994"/>
              <a:gd name="adj3" fmla="val 25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2060" name="矩形"/>
          <p:cNvSpPr/>
          <p:nvPr/>
        </p:nvSpPr>
        <p:spPr>
          <a:xfrm>
            <a:off x="3973810" y="5678776"/>
            <a:ext cx="916491" cy="352613"/>
          </a:xfrm>
          <a:prstGeom prst="rect">
            <a:avLst/>
          </a:pr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 lim="800000"/>
          </a:ln>
          <a:effectLst/>
        </p:spPr>
        <p:txBody>
          <a:bodyPr wrap="square" lIns="45718" tIns="45718" rIns="45718" bIns="45718" numCol="1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Noise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61" name="箭头: 上 2060"/>
          <p:cNvSpPr/>
          <p:nvPr/>
        </p:nvSpPr>
        <p:spPr>
          <a:xfrm>
            <a:off x="4409195" y="5433506"/>
            <a:ext cx="45719" cy="221026"/>
          </a:xfrm>
          <a:prstGeom prst="up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2063" name="文本框 2062"/>
          <p:cNvSpPr txBox="1"/>
          <p:nvPr/>
        </p:nvSpPr>
        <p:spPr>
          <a:xfrm>
            <a:off x="4572000" y="5654532"/>
            <a:ext cx="4904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</a:rPr>
              <a:t>    Modulation channel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2066" name="文本框 2065"/>
          <p:cNvSpPr txBox="1"/>
          <p:nvPr/>
        </p:nvSpPr>
        <p:spPr>
          <a:xfrm>
            <a:off x="5775992" y="6131938"/>
            <a:ext cx="5267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Coding channel </a:t>
            </a:r>
            <a:endParaRPr lang="zh-CN" alt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067" name="图片 206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8406" y="3571783"/>
            <a:ext cx="2435971" cy="6470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99168" y="-135785"/>
            <a:ext cx="9653707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3.2 Channel models 信道模型</a:t>
            </a: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  --</a:t>
            </a:r>
            <a:r>
              <a: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Modulation channel model（调制解调模型）</a:t>
            </a: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  --</a:t>
            </a:r>
            <a:r>
              <a: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Coding channel model（编码信道模型）</a:t>
            </a: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926162" y="3368083"/>
            <a:ext cx="1170943" cy="634817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/>
          </a:ln>
        </p:spPr>
        <p:txBody>
          <a:bodyPr lIns="34286" tIns="34286" rIns="34286" bIns="34286">
            <a:spAutoFit/>
          </a:bodyPr>
          <a:lstStyle>
            <a:lvl1pPr defTabSz="914400">
              <a:defRPr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Channel encoder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852903" y="3385250"/>
            <a:ext cx="1171577" cy="634816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/>
          </a:ln>
        </p:spPr>
        <p:txBody>
          <a:bodyPr lIns="34286" tIns="34286" rIns="34286" bIns="34286">
            <a:spAutoFit/>
          </a:bodyPr>
          <a:lstStyle>
            <a:lvl1pPr defTabSz="914400">
              <a:defRPr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Channel decoder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652212" y="2166108"/>
            <a:ext cx="1718840" cy="377018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/>
          </a:ln>
        </p:spPr>
        <p:txBody>
          <a:bodyPr wrap="square" lIns="34286" tIns="34286" rIns="34286" bIns="34286">
            <a:spAutoFit/>
          </a:bodyPr>
          <a:lstStyle>
            <a:lvl1pPr defTabSz="914400">
              <a:defRPr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Source encoder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494292" y="2194560"/>
            <a:ext cx="1803790" cy="377018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/>
          </a:ln>
        </p:spPr>
        <p:txBody>
          <a:bodyPr wrap="square" lIns="34286" tIns="34286" rIns="34286" bIns="34286">
            <a:spAutoFit/>
          </a:bodyPr>
          <a:lstStyle>
            <a:lvl1pPr defTabSz="914400">
              <a:defRPr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Source  decoder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767062" y="4483895"/>
            <a:ext cx="1337580" cy="377018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/>
          </a:ln>
        </p:spPr>
        <p:txBody>
          <a:bodyPr lIns="34286" tIns="34286" rIns="34286" bIns="34286">
            <a:spAutoFit/>
          </a:bodyPr>
          <a:lstStyle>
            <a:lvl1pPr defTabSz="914400">
              <a:defRPr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Modulator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648715" y="4411844"/>
            <a:ext cx="1685291" cy="392407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/>
          </a:ln>
        </p:spPr>
        <p:txBody>
          <a:bodyPr lIns="34286" tIns="34286" rIns="34286" bIns="34286">
            <a:spAutoFit/>
          </a:bodyPr>
          <a:lstStyle>
            <a:lvl1pPr defTabSz="914400">
              <a:defRPr sz="21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kumimoji="0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Demodulator</a:t>
            </a:r>
            <a:endParaRPr kumimoji="0" sz="2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900634" y="4997672"/>
            <a:ext cx="1117600" cy="352613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/>
          </a:ln>
        </p:spPr>
        <p:txBody>
          <a:bodyPr lIns="34286" tIns="34286" rIns="34286" bIns="34286">
            <a:spAutoFit/>
          </a:bodyPr>
          <a:lstStyle>
            <a:lvl1pPr defTabSz="914400">
              <a:defRPr sz="21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channel</a:t>
            </a:r>
            <a:endParaRPr kumimoji="0" sz="2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275473" y="1582367"/>
            <a:ext cx="2519896" cy="392407"/>
          </a:xfrm>
          <a:prstGeom prst="rect">
            <a:avLst/>
          </a:prstGeom>
          <a:solidFill>
            <a:srgbClr val="FFFFFF"/>
          </a:solidFill>
          <a:ln w="28575">
            <a:solidFill>
              <a:srgbClr val="002060"/>
            </a:solidFill>
            <a:miter/>
          </a:ln>
        </p:spPr>
        <p:txBody>
          <a:bodyPr wrap="square" lIns="34286" tIns="34286" rIns="34286" bIns="34286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1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 kumimoji="0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Source of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information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305901" y="1611382"/>
            <a:ext cx="2221818" cy="377018"/>
          </a:xfrm>
          <a:prstGeom prst="rect">
            <a:avLst/>
          </a:prstGeom>
          <a:solidFill>
            <a:srgbClr val="FFFFFF"/>
          </a:solidFill>
          <a:ln w="28575">
            <a:solidFill>
              <a:srgbClr val="002060"/>
            </a:solidFill>
            <a:miter/>
          </a:ln>
        </p:spPr>
        <p:txBody>
          <a:bodyPr wrap="square" lIns="34286" tIns="34286" rIns="34286" bIns="34286">
            <a:spAutoFit/>
          </a:bodyPr>
          <a:lstStyle>
            <a:lvl1pPr defTabSz="914400">
              <a:defRPr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User of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information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02852" y="2808503"/>
            <a:ext cx="1417561" cy="330016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prstDash val="sysDot"/>
            <a:miter/>
          </a:ln>
        </p:spPr>
        <p:txBody>
          <a:bodyPr lIns="34286" tIns="34286" rIns="34286" bIns="34286">
            <a:spAutoFit/>
          </a:bodyPr>
          <a:lstStyle>
            <a:lvl1pPr defTabSz="914400">
              <a:defRPr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Encryption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754377" y="2783976"/>
            <a:ext cx="1422603" cy="330016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prstDash val="sysDot"/>
            <a:miter/>
          </a:ln>
        </p:spPr>
        <p:txBody>
          <a:bodyPr lIns="34286" tIns="34286" rIns="34286" bIns="34286">
            <a:spAutoFit/>
          </a:bodyPr>
          <a:lstStyle>
            <a:lvl1pPr defTabSz="914400">
              <a:defRPr sz="2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Decryption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015468" y="4232464"/>
            <a:ext cx="7315732" cy="2485836"/>
          </a:xfrm>
          <a:prstGeom prst="rect">
            <a:avLst/>
          </a:prstGeom>
          <a:noFill/>
          <a:ln w="25400" cap="flat">
            <a:solidFill>
              <a:schemeClr val="accent1"/>
            </a:solidFill>
            <a:prstDash val="dash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1469370" y="4970206"/>
            <a:ext cx="6576080" cy="1145764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dash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59" name="箭头: 下 58"/>
          <p:cNvSpPr/>
          <p:nvPr/>
        </p:nvSpPr>
        <p:spPr>
          <a:xfrm>
            <a:off x="2414964" y="1989506"/>
            <a:ext cx="86969" cy="164402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60" name="箭头: 下 59"/>
          <p:cNvSpPr/>
          <p:nvPr/>
        </p:nvSpPr>
        <p:spPr>
          <a:xfrm>
            <a:off x="2423274" y="2571505"/>
            <a:ext cx="45719" cy="205165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63" name="箭头: 下 62"/>
          <p:cNvSpPr/>
          <p:nvPr/>
        </p:nvSpPr>
        <p:spPr>
          <a:xfrm>
            <a:off x="2414964" y="4029271"/>
            <a:ext cx="45719" cy="368702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2048" name="箭头: 下 2047"/>
          <p:cNvSpPr/>
          <p:nvPr/>
        </p:nvSpPr>
        <p:spPr>
          <a:xfrm>
            <a:off x="2435852" y="3150718"/>
            <a:ext cx="45719" cy="205165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2049" name="箭头: 直角上 2048"/>
          <p:cNvSpPr/>
          <p:nvPr/>
        </p:nvSpPr>
        <p:spPr>
          <a:xfrm rot="5400000">
            <a:off x="2952322" y="4304666"/>
            <a:ext cx="403357" cy="1478076"/>
          </a:xfrm>
          <a:prstGeom prst="bentUp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2050" name="箭头: 上 2049"/>
          <p:cNvSpPr/>
          <p:nvPr/>
        </p:nvSpPr>
        <p:spPr>
          <a:xfrm>
            <a:off x="6380749" y="4036034"/>
            <a:ext cx="79545" cy="352613"/>
          </a:xfrm>
          <a:prstGeom prst="up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2051" name="箭头: 上 2050"/>
          <p:cNvSpPr/>
          <p:nvPr/>
        </p:nvSpPr>
        <p:spPr>
          <a:xfrm>
            <a:off x="6396187" y="3147057"/>
            <a:ext cx="45719" cy="221026"/>
          </a:xfrm>
          <a:prstGeom prst="up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2052" name="箭头: 上 2051"/>
          <p:cNvSpPr/>
          <p:nvPr/>
        </p:nvSpPr>
        <p:spPr>
          <a:xfrm>
            <a:off x="6373327" y="2546418"/>
            <a:ext cx="45719" cy="221026"/>
          </a:xfrm>
          <a:prstGeom prst="up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2055" name="箭头: 上 2054"/>
          <p:cNvSpPr/>
          <p:nvPr/>
        </p:nvSpPr>
        <p:spPr>
          <a:xfrm>
            <a:off x="6373326" y="2004932"/>
            <a:ext cx="86969" cy="169338"/>
          </a:xfrm>
          <a:prstGeom prst="up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2056" name="箭头: 直角上 2055"/>
          <p:cNvSpPr/>
          <p:nvPr/>
        </p:nvSpPr>
        <p:spPr>
          <a:xfrm>
            <a:off x="5010257" y="4780425"/>
            <a:ext cx="1530243" cy="403357"/>
          </a:xfrm>
          <a:prstGeom prst="bentUpArrow">
            <a:avLst>
              <a:gd name="adj1" fmla="val 25000"/>
              <a:gd name="adj2" fmla="val 23994"/>
              <a:gd name="adj3" fmla="val 25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2060" name="矩形"/>
          <p:cNvSpPr/>
          <p:nvPr/>
        </p:nvSpPr>
        <p:spPr>
          <a:xfrm>
            <a:off x="3973810" y="5678776"/>
            <a:ext cx="916491" cy="352613"/>
          </a:xfrm>
          <a:prstGeom prst="rect">
            <a:avLst/>
          </a:pr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 lim="800000"/>
          </a:ln>
          <a:effectLst/>
        </p:spPr>
        <p:txBody>
          <a:bodyPr wrap="square" lIns="45718" tIns="45718" rIns="45718" bIns="45718" numCol="1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Noise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61" name="箭头: 上 2060"/>
          <p:cNvSpPr/>
          <p:nvPr/>
        </p:nvSpPr>
        <p:spPr>
          <a:xfrm>
            <a:off x="4409195" y="5433506"/>
            <a:ext cx="45719" cy="221026"/>
          </a:xfrm>
          <a:prstGeom prst="up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1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2063" name="文本框 2062"/>
          <p:cNvSpPr txBox="1"/>
          <p:nvPr/>
        </p:nvSpPr>
        <p:spPr>
          <a:xfrm>
            <a:off x="4572000" y="5654532"/>
            <a:ext cx="4904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</a:rPr>
              <a:t>    Modulation channel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2066" name="文本框 2065"/>
          <p:cNvSpPr txBox="1"/>
          <p:nvPr/>
        </p:nvSpPr>
        <p:spPr>
          <a:xfrm>
            <a:off x="5775992" y="6131938"/>
            <a:ext cx="5267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Coding channel </a:t>
            </a:r>
            <a:endParaRPr lang="zh-CN" alt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068" name="图片 206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9540" y="5289581"/>
            <a:ext cx="2435971" cy="6553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09989" y="679153"/>
            <a:ext cx="8105361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3.2 Channel models 信道模型</a:t>
            </a: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  --</a:t>
            </a:r>
            <a:r>
              <a: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Modulation channel model（调制解调模型）</a:t>
            </a: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  --</a:t>
            </a:r>
            <a:r>
              <a: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Coding channel model（编码信道模型）</a:t>
            </a: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08721" y="2864271"/>
            <a:ext cx="8378688" cy="2746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zh-CN" sz="2800" b="1" dirty="0">
                <a:highlight>
                  <a:srgbClr val="FFFF00"/>
                </a:highlight>
              </a:rPr>
              <a:t>The modulation channel is a real physical channel, </a:t>
            </a:r>
            <a:endParaRPr lang="en-US" altLang="zh-CN" sz="2800" b="1" dirty="0">
              <a:highlight>
                <a:srgbClr val="FFFF00"/>
              </a:highlight>
            </a:endParaRPr>
          </a:p>
          <a:p>
            <a:pPr>
              <a:lnSpc>
                <a:spcPct val="125000"/>
              </a:lnSpc>
            </a:pPr>
            <a:r>
              <a:rPr lang="zh-CN" altLang="zh-CN" sz="2800" b="1" dirty="0">
                <a:highlight>
                  <a:srgbClr val="FFFF00"/>
                </a:highlight>
              </a:rPr>
              <a:t>while the coding channel is merely an abstract model with statistical properties. </a:t>
            </a:r>
            <a:endParaRPr lang="en-US" altLang="zh-CN" sz="2800" b="1" dirty="0">
              <a:highlight>
                <a:srgbClr val="FFFF00"/>
              </a:highlight>
            </a:endParaRPr>
          </a:p>
          <a:p>
            <a:pPr>
              <a:lnSpc>
                <a:spcPct val="125000"/>
              </a:lnSpc>
            </a:pPr>
            <a:r>
              <a:rPr lang="zh-CN" altLang="zh-CN" sz="2800" dirty="0"/>
              <a:t>调制信道是真实物理信道，而编码信道仅仅是具有统计特性的</a:t>
            </a:r>
            <a:r>
              <a:rPr lang="zh-CN" altLang="zh-CN" sz="2800" b="1" dirty="0"/>
              <a:t>抽象模型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3" name="Rectangle 19"/>
          <p:cNvSpPr>
            <a:spLocks noChangeArrowheads="1"/>
          </p:cNvSpPr>
          <p:nvPr/>
        </p:nvSpPr>
        <p:spPr bwMode="auto">
          <a:xfrm>
            <a:off x="3" y="-18466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85" name="Rectangle 21"/>
          <p:cNvSpPr>
            <a:spLocks noChangeArrowheads="1"/>
          </p:cNvSpPr>
          <p:nvPr/>
        </p:nvSpPr>
        <p:spPr bwMode="auto">
          <a:xfrm>
            <a:off x="3" y="-18466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86" name="Rectangle 23"/>
          <p:cNvSpPr>
            <a:spLocks noChangeArrowheads="1"/>
          </p:cNvSpPr>
          <p:nvPr/>
        </p:nvSpPr>
        <p:spPr bwMode="auto">
          <a:xfrm>
            <a:off x="3" y="-18466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87" name="Rectangle 25"/>
          <p:cNvSpPr>
            <a:spLocks noChangeArrowheads="1"/>
          </p:cNvSpPr>
          <p:nvPr/>
        </p:nvSpPr>
        <p:spPr bwMode="auto">
          <a:xfrm>
            <a:off x="3" y="-18466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051" y="1364100"/>
            <a:ext cx="6981241" cy="2001324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84734" y="252363"/>
            <a:ext cx="84963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3.2 Channel models 信道模型</a:t>
            </a: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  --</a:t>
            </a:r>
            <a:r>
              <a: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Modulation channel model（调制解调模型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）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913" y="3123716"/>
            <a:ext cx="4889500" cy="76441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34" y="4108860"/>
            <a:ext cx="5479466" cy="2439847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7356" y="3108313"/>
            <a:ext cx="3196644" cy="86004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7356" y="3062552"/>
            <a:ext cx="3196644" cy="8600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3" name="Rectangle 19"/>
          <p:cNvSpPr>
            <a:spLocks noChangeArrowheads="1"/>
          </p:cNvSpPr>
          <p:nvPr/>
        </p:nvSpPr>
        <p:spPr bwMode="auto">
          <a:xfrm>
            <a:off x="3" y="-18466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85" name="Rectangle 21"/>
          <p:cNvSpPr>
            <a:spLocks noChangeArrowheads="1"/>
          </p:cNvSpPr>
          <p:nvPr/>
        </p:nvSpPr>
        <p:spPr bwMode="auto">
          <a:xfrm>
            <a:off x="3" y="-18466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86" name="Rectangle 23"/>
          <p:cNvSpPr>
            <a:spLocks noChangeArrowheads="1"/>
          </p:cNvSpPr>
          <p:nvPr/>
        </p:nvSpPr>
        <p:spPr bwMode="auto">
          <a:xfrm>
            <a:off x="3" y="-18466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87" name="Rectangle 25"/>
          <p:cNvSpPr>
            <a:spLocks noChangeArrowheads="1"/>
          </p:cNvSpPr>
          <p:nvPr/>
        </p:nvSpPr>
        <p:spPr bwMode="auto">
          <a:xfrm>
            <a:off x="3" y="-18466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84734" y="252363"/>
            <a:ext cx="84963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3.2 Channel models 信道模型</a:t>
            </a: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  --</a:t>
            </a:r>
            <a:r>
              <a: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Modulation channel model（调制解调模型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）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4926" y="1492361"/>
            <a:ext cx="4183311" cy="654007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496" y="2439993"/>
            <a:ext cx="3790169" cy="675172"/>
          </a:xfrm>
          <a:prstGeom prst="rect">
            <a:avLst/>
          </a:prstGeom>
        </p:spPr>
      </p:pic>
      <p:sp>
        <p:nvSpPr>
          <p:cNvPr id="3" name="箭头: 下 2"/>
          <p:cNvSpPr/>
          <p:nvPr/>
        </p:nvSpPr>
        <p:spPr>
          <a:xfrm>
            <a:off x="4009106" y="2076472"/>
            <a:ext cx="234950" cy="323851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15165"/>
            <a:ext cx="9144000" cy="11227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0" y="4174458"/>
            <a:ext cx="4314825" cy="1477328"/>
          </a:xfrm>
          <a:prstGeom prst="rect">
            <a:avLst/>
          </a:prstGeom>
          <a:noFill/>
          <a:ln w="19050">
            <a:solidFill>
              <a:srgbClr val="00B050"/>
            </a:solidFill>
            <a:prstDash val="lgDash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 parameter channels（恒参信道）</a:t>
            </a:r>
            <a:endParaRPr lang="zh-CN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Wire line（有线电话线）</a:t>
            </a:r>
            <a:endParaRPr lang="zh-CN" altLang="zh-C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Coaxial cable（同轴电缆）</a:t>
            </a:r>
            <a:endParaRPr lang="zh-CN" altLang="zh-C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Optical fiber（光纤）</a:t>
            </a:r>
            <a:endParaRPr lang="zh-CN" altLang="zh-C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Microwave line-of-sight（视距微波</a:t>
            </a:r>
            <a:r>
              <a:rPr lang="zh-CN" altLang="zh-CN" dirty="0">
                <a:effectLst/>
              </a:rPr>
              <a:t>）</a:t>
            </a:r>
            <a:endParaRPr lang="zh-CN" altLang="zh-CN" dirty="0">
              <a:effectLst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275805" y="5076868"/>
            <a:ext cx="4768267" cy="1450782"/>
          </a:xfrm>
          <a:prstGeom prst="rect">
            <a:avLst/>
          </a:prstGeom>
          <a:noFill/>
          <a:ln w="19050">
            <a:solidFill>
              <a:srgbClr val="00B0F0"/>
            </a:solidFill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lang="zh-C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parameter channels（随参信道）</a:t>
            </a:r>
            <a:endParaRPr lang="zh-CN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zh-C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Shortwave ionospheric channel（短波电离层）</a:t>
            </a:r>
            <a:endParaRPr lang="zh-CN" altLang="zh-C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zh-C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radio channel（移动通信无线信道）</a:t>
            </a:r>
            <a:endParaRPr lang="zh-CN" altLang="zh-C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zh-C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Troposcatter channel（对流层散射信道）</a:t>
            </a:r>
            <a:endParaRPr lang="zh-CN" altLang="zh-C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8004" y="478754"/>
            <a:ext cx="4623533" cy="122812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2463" y="-14705"/>
            <a:ext cx="96537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3.2 Channel models 信道模型</a:t>
            </a: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 --</a:t>
            </a:r>
            <a:r>
              <a: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Coding channel model</a:t>
            </a: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43335" y="3517783"/>
            <a:ext cx="5687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</a:rPr>
              <a:t>Binary coding channel model — Memoryless model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8" name="Group 10"/>
          <p:cNvGrpSpPr>
            <a:grpSpLocks noChangeAspect="1"/>
          </p:cNvGrpSpPr>
          <p:nvPr/>
        </p:nvGrpSpPr>
        <p:grpSpPr bwMode="auto">
          <a:xfrm>
            <a:off x="1452302" y="1113775"/>
            <a:ext cx="5535612" cy="3498851"/>
            <a:chOff x="4042" y="2628"/>
            <a:chExt cx="3825" cy="2710"/>
          </a:xfrm>
        </p:grpSpPr>
        <p:sp>
          <p:nvSpPr>
            <p:cNvPr id="9" name="AutoShape 11"/>
            <p:cNvSpPr>
              <a:spLocks noChangeAspect="1" noChangeArrowheads="1"/>
            </p:cNvSpPr>
            <p:nvPr/>
          </p:nvSpPr>
          <p:spPr bwMode="auto">
            <a:xfrm>
              <a:off x="4042" y="2628"/>
              <a:ext cx="3825" cy="27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/>
            </a:p>
          </p:txBody>
        </p:sp>
        <p:sp>
          <p:nvSpPr>
            <p:cNvPr id="10" name="Text Box 12"/>
            <p:cNvSpPr txBox="1">
              <a:spLocks noChangeArrowheads="1"/>
            </p:cNvSpPr>
            <p:nvPr/>
          </p:nvSpPr>
          <p:spPr bwMode="auto">
            <a:xfrm>
              <a:off x="5292" y="3130"/>
              <a:ext cx="793" cy="4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400" b="1" i="1">
                  <a:latin typeface="Times New Roman" panose="02020603050405020304" pitchFamily="18" charset="0"/>
                </a:rPr>
                <a:t>P</a:t>
              </a:r>
              <a:r>
                <a:rPr lang="en-US" altLang="zh-CN" sz="1400" b="1">
                  <a:latin typeface="Times New Roman" panose="02020603050405020304" pitchFamily="18" charset="0"/>
                </a:rPr>
                <a:t>(1 / 0)</a:t>
              </a:r>
              <a:endParaRPr lang="en-US" altLang="zh-CN" sz="2800" b="1"/>
            </a:p>
          </p:txBody>
        </p:sp>
        <p:sp>
          <p:nvSpPr>
            <p:cNvPr id="11" name="Text Box 13"/>
            <p:cNvSpPr txBox="1">
              <a:spLocks noChangeArrowheads="1"/>
            </p:cNvSpPr>
            <p:nvPr/>
          </p:nvSpPr>
          <p:spPr bwMode="auto">
            <a:xfrm>
              <a:off x="4699" y="3728"/>
              <a:ext cx="793" cy="4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400" b="1" i="1" dirty="0">
                  <a:latin typeface="Times New Roman" panose="02020603050405020304" pitchFamily="18" charset="0"/>
                </a:rPr>
                <a:t>P</a:t>
              </a:r>
              <a:r>
                <a:rPr lang="en-US" altLang="zh-CN" sz="1400" b="1" dirty="0">
                  <a:latin typeface="Times New Roman" panose="02020603050405020304" pitchFamily="18" charset="0"/>
                </a:rPr>
                <a:t>(0 / 1)</a:t>
              </a:r>
              <a:endParaRPr lang="en-US" altLang="zh-CN" sz="2800" b="1" dirty="0"/>
            </a:p>
          </p:txBody>
        </p:sp>
        <p:sp>
          <p:nvSpPr>
            <p:cNvPr id="12" name="Text Box 14"/>
            <p:cNvSpPr txBox="1">
              <a:spLocks noChangeArrowheads="1"/>
            </p:cNvSpPr>
            <p:nvPr/>
          </p:nvSpPr>
          <p:spPr bwMode="auto">
            <a:xfrm>
              <a:off x="4174" y="2886"/>
              <a:ext cx="429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400" b="1">
                  <a:latin typeface="Times New Roman" panose="02020603050405020304" pitchFamily="18" charset="0"/>
                </a:rPr>
                <a:t>0</a:t>
              </a:r>
              <a:endParaRPr lang="en-US" altLang="zh-CN" sz="2800" b="1"/>
            </a:p>
          </p:txBody>
        </p:sp>
        <p:sp>
          <p:nvSpPr>
            <p:cNvPr id="13" name="Text Box 15"/>
            <p:cNvSpPr txBox="1">
              <a:spLocks noChangeArrowheads="1"/>
            </p:cNvSpPr>
            <p:nvPr/>
          </p:nvSpPr>
          <p:spPr bwMode="auto">
            <a:xfrm>
              <a:off x="7438" y="2886"/>
              <a:ext cx="429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400" b="1">
                  <a:latin typeface="Times New Roman" panose="02020603050405020304" pitchFamily="18" charset="0"/>
                </a:rPr>
                <a:t>0</a:t>
              </a:r>
              <a:endParaRPr lang="en-US" altLang="zh-CN" sz="2800" b="1"/>
            </a:p>
          </p:txBody>
        </p:sp>
        <p:sp>
          <p:nvSpPr>
            <p:cNvPr id="14" name="Text Box 16"/>
            <p:cNvSpPr txBox="1">
              <a:spLocks noChangeArrowheads="1"/>
            </p:cNvSpPr>
            <p:nvPr/>
          </p:nvSpPr>
          <p:spPr bwMode="auto">
            <a:xfrm>
              <a:off x="7412" y="3991"/>
              <a:ext cx="429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400" b="1">
                  <a:latin typeface="Times New Roman" panose="02020603050405020304" pitchFamily="18" charset="0"/>
                </a:rPr>
                <a:t>1</a:t>
              </a:r>
              <a:endParaRPr lang="en-US" altLang="zh-CN" sz="2800" b="1"/>
            </a:p>
          </p:txBody>
        </p:sp>
        <p:sp>
          <p:nvSpPr>
            <p:cNvPr id="15" name="Text Box 17"/>
            <p:cNvSpPr txBox="1">
              <a:spLocks noChangeArrowheads="1"/>
            </p:cNvSpPr>
            <p:nvPr/>
          </p:nvSpPr>
          <p:spPr bwMode="auto">
            <a:xfrm>
              <a:off x="4135" y="3991"/>
              <a:ext cx="429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400" b="1">
                  <a:latin typeface="Times New Roman" panose="02020603050405020304" pitchFamily="18" charset="0"/>
                </a:rPr>
                <a:t>1</a:t>
              </a:r>
              <a:endParaRPr lang="en-US" altLang="zh-CN" sz="2800" b="1"/>
            </a:p>
          </p:txBody>
        </p:sp>
        <p:grpSp>
          <p:nvGrpSpPr>
            <p:cNvPr id="16" name="Group 18"/>
            <p:cNvGrpSpPr/>
            <p:nvPr/>
          </p:nvGrpSpPr>
          <p:grpSpPr bwMode="auto">
            <a:xfrm>
              <a:off x="5603" y="2662"/>
              <a:ext cx="807" cy="1935"/>
              <a:chOff x="5604" y="2662"/>
              <a:chExt cx="807" cy="1935"/>
            </a:xfrm>
          </p:grpSpPr>
          <p:sp>
            <p:nvSpPr>
              <p:cNvPr id="26" name="Text Box 19"/>
              <p:cNvSpPr txBox="1">
                <a:spLocks noChangeArrowheads="1"/>
              </p:cNvSpPr>
              <p:nvPr/>
            </p:nvSpPr>
            <p:spPr bwMode="auto">
              <a:xfrm>
                <a:off x="5617" y="2662"/>
                <a:ext cx="794" cy="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1400" b="1" i="1">
                    <a:latin typeface="Times New Roman" panose="02020603050405020304" pitchFamily="18" charset="0"/>
                  </a:rPr>
                  <a:t>P</a:t>
                </a:r>
                <a:r>
                  <a:rPr lang="en-US" altLang="zh-CN" sz="1400" b="1">
                    <a:latin typeface="Times New Roman" panose="02020603050405020304" pitchFamily="18" charset="0"/>
                  </a:rPr>
                  <a:t>(0 / 0)</a:t>
                </a:r>
                <a:endParaRPr lang="en-US" altLang="zh-CN" sz="2800" b="1"/>
              </a:p>
            </p:txBody>
          </p:sp>
          <p:sp>
            <p:nvSpPr>
              <p:cNvPr id="27" name="Text Box 20"/>
              <p:cNvSpPr txBox="1">
                <a:spLocks noChangeArrowheads="1"/>
              </p:cNvSpPr>
              <p:nvPr/>
            </p:nvSpPr>
            <p:spPr bwMode="auto">
              <a:xfrm>
                <a:off x="5604" y="4196"/>
                <a:ext cx="794" cy="4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1400" b="1" i="1" dirty="0">
                    <a:latin typeface="Times New Roman" panose="02020603050405020304" pitchFamily="18" charset="0"/>
                  </a:rPr>
                  <a:t>P</a:t>
                </a:r>
                <a:r>
                  <a:rPr lang="en-US" altLang="zh-CN" sz="1400" b="1" dirty="0">
                    <a:latin typeface="Times New Roman" panose="02020603050405020304" pitchFamily="18" charset="0"/>
                  </a:rPr>
                  <a:t>(1 / 1)</a:t>
                </a:r>
                <a:endParaRPr lang="en-US" altLang="zh-CN" sz="2800" b="1" dirty="0"/>
              </a:p>
            </p:txBody>
          </p:sp>
        </p:grpSp>
        <p:grpSp>
          <p:nvGrpSpPr>
            <p:cNvPr id="17" name="Group 21"/>
            <p:cNvGrpSpPr/>
            <p:nvPr/>
          </p:nvGrpSpPr>
          <p:grpSpPr bwMode="auto">
            <a:xfrm>
              <a:off x="4485" y="3068"/>
              <a:ext cx="2991" cy="1118"/>
              <a:chOff x="4486" y="3068"/>
              <a:chExt cx="2991" cy="1119"/>
            </a:xfrm>
          </p:grpSpPr>
          <p:grpSp>
            <p:nvGrpSpPr>
              <p:cNvPr id="21" name="Group 22"/>
              <p:cNvGrpSpPr/>
              <p:nvPr/>
            </p:nvGrpSpPr>
            <p:grpSpPr bwMode="auto">
              <a:xfrm>
                <a:off x="4486" y="3068"/>
                <a:ext cx="2991" cy="1119"/>
                <a:chOff x="4486" y="3068"/>
                <a:chExt cx="2991" cy="1119"/>
              </a:xfrm>
            </p:grpSpPr>
            <p:sp>
              <p:nvSpPr>
                <p:cNvPr id="24" name="Line 23"/>
                <p:cNvSpPr>
                  <a:spLocks noChangeShapeType="1"/>
                </p:cNvSpPr>
                <p:nvPr/>
              </p:nvSpPr>
              <p:spPr bwMode="auto">
                <a:xfrm>
                  <a:off x="4486" y="3068"/>
                  <a:ext cx="2991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25" name="Line 24"/>
                <p:cNvSpPr>
                  <a:spLocks noChangeShapeType="1"/>
                </p:cNvSpPr>
                <p:nvPr/>
              </p:nvSpPr>
              <p:spPr bwMode="auto">
                <a:xfrm>
                  <a:off x="4486" y="4186"/>
                  <a:ext cx="2991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22" name="Line 25"/>
              <p:cNvSpPr>
                <a:spLocks noChangeShapeType="1"/>
              </p:cNvSpPr>
              <p:nvPr/>
            </p:nvSpPr>
            <p:spPr bwMode="auto">
              <a:xfrm>
                <a:off x="4486" y="3068"/>
                <a:ext cx="2991" cy="111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3" name="Line 26"/>
              <p:cNvSpPr>
                <a:spLocks noChangeShapeType="1"/>
              </p:cNvSpPr>
              <p:nvPr/>
            </p:nvSpPr>
            <p:spPr bwMode="auto">
              <a:xfrm flipV="1">
                <a:off x="4486" y="3068"/>
                <a:ext cx="2965" cy="111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 dirty="0"/>
              </a:p>
            </p:txBody>
          </p:sp>
        </p:grpSp>
        <p:grpSp>
          <p:nvGrpSpPr>
            <p:cNvPr id="18" name="Group 28"/>
            <p:cNvGrpSpPr/>
            <p:nvPr/>
          </p:nvGrpSpPr>
          <p:grpSpPr bwMode="auto">
            <a:xfrm>
              <a:off x="4042" y="3377"/>
              <a:ext cx="3824" cy="364"/>
              <a:chOff x="4043" y="3377"/>
              <a:chExt cx="3824" cy="364"/>
            </a:xfrm>
          </p:grpSpPr>
          <p:sp>
            <p:nvSpPr>
              <p:cNvPr id="19" name="Text Box 29"/>
              <p:cNvSpPr txBox="1">
                <a:spLocks noChangeArrowheads="1"/>
              </p:cNvSpPr>
              <p:nvPr/>
            </p:nvSpPr>
            <p:spPr bwMode="auto">
              <a:xfrm>
                <a:off x="4043" y="3403"/>
                <a:ext cx="859" cy="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1400" b="1" dirty="0">
                    <a:latin typeface="Times New Roman" panose="02020603050405020304" pitchFamily="18" charset="0"/>
                  </a:rPr>
                  <a:t>Transmitter</a:t>
                </a:r>
                <a:endParaRPr lang="zh-CN" altLang="en-US" sz="2800" b="1" dirty="0"/>
              </a:p>
            </p:txBody>
          </p:sp>
          <p:sp>
            <p:nvSpPr>
              <p:cNvPr id="20" name="Text Box 30"/>
              <p:cNvSpPr txBox="1">
                <a:spLocks noChangeArrowheads="1"/>
              </p:cNvSpPr>
              <p:nvPr/>
            </p:nvSpPr>
            <p:spPr bwMode="auto">
              <a:xfrm>
                <a:off x="7126" y="3377"/>
                <a:ext cx="741" cy="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1400" b="1" dirty="0">
                    <a:latin typeface="Times New Roman" panose="02020603050405020304" pitchFamily="18" charset="0"/>
                  </a:rPr>
                  <a:t>Receiver</a:t>
                </a:r>
                <a:endParaRPr lang="zh-CN" altLang="en-US" sz="2800" b="1" dirty="0"/>
              </a:p>
            </p:txBody>
          </p:sp>
        </p:grpSp>
      </p:grpSp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210" y="3931529"/>
            <a:ext cx="5976678" cy="2629739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4689264" y="4352500"/>
            <a:ext cx="2797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</a:t>
            </a:r>
            <a:r>
              <a:rPr lang="zh-CN" altLang="en-US" dirty="0">
                <a:highlight>
                  <a:srgbClr val="FFFF00"/>
                </a:highlight>
              </a:rPr>
              <a:t>转移概率</a:t>
            </a:r>
            <a:endParaRPr lang="zh-CN" altLang="en-US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0"/>
          <p:cNvGrpSpPr>
            <a:grpSpLocks noChangeAspect="1"/>
          </p:cNvGrpSpPr>
          <p:nvPr/>
        </p:nvGrpSpPr>
        <p:grpSpPr bwMode="auto">
          <a:xfrm>
            <a:off x="1526844" y="2092780"/>
            <a:ext cx="5535612" cy="3498851"/>
            <a:chOff x="4042" y="2628"/>
            <a:chExt cx="3825" cy="2710"/>
          </a:xfrm>
        </p:grpSpPr>
        <p:sp>
          <p:nvSpPr>
            <p:cNvPr id="9" name="AutoShape 11"/>
            <p:cNvSpPr>
              <a:spLocks noChangeAspect="1" noChangeArrowheads="1"/>
            </p:cNvSpPr>
            <p:nvPr/>
          </p:nvSpPr>
          <p:spPr bwMode="auto">
            <a:xfrm>
              <a:off x="4042" y="2628"/>
              <a:ext cx="3825" cy="27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/>
            </a:p>
          </p:txBody>
        </p:sp>
        <p:sp>
          <p:nvSpPr>
            <p:cNvPr id="10" name="Text Box 12"/>
            <p:cNvSpPr txBox="1">
              <a:spLocks noChangeArrowheads="1"/>
            </p:cNvSpPr>
            <p:nvPr/>
          </p:nvSpPr>
          <p:spPr bwMode="auto">
            <a:xfrm>
              <a:off x="5292" y="3130"/>
              <a:ext cx="793" cy="4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400" b="1" i="1">
                  <a:latin typeface="Times New Roman" panose="02020603050405020304" pitchFamily="18" charset="0"/>
                </a:rPr>
                <a:t>P</a:t>
              </a:r>
              <a:r>
                <a:rPr lang="en-US" altLang="zh-CN" sz="1400" b="1">
                  <a:latin typeface="Times New Roman" panose="02020603050405020304" pitchFamily="18" charset="0"/>
                </a:rPr>
                <a:t>(1 / 0)</a:t>
              </a:r>
              <a:endParaRPr lang="en-US" altLang="zh-CN" sz="2800" b="1"/>
            </a:p>
          </p:txBody>
        </p:sp>
        <p:sp>
          <p:nvSpPr>
            <p:cNvPr id="11" name="Text Box 13"/>
            <p:cNvSpPr txBox="1">
              <a:spLocks noChangeArrowheads="1"/>
            </p:cNvSpPr>
            <p:nvPr/>
          </p:nvSpPr>
          <p:spPr bwMode="auto">
            <a:xfrm>
              <a:off x="4699" y="3728"/>
              <a:ext cx="793" cy="4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400" b="1" i="1" dirty="0">
                  <a:latin typeface="Times New Roman" panose="02020603050405020304" pitchFamily="18" charset="0"/>
                </a:rPr>
                <a:t>P</a:t>
              </a:r>
              <a:r>
                <a:rPr lang="en-US" altLang="zh-CN" sz="1400" b="1" dirty="0">
                  <a:latin typeface="Times New Roman" panose="02020603050405020304" pitchFamily="18" charset="0"/>
                </a:rPr>
                <a:t>(0 / 1)</a:t>
              </a:r>
              <a:endParaRPr lang="en-US" altLang="zh-CN" sz="2800" b="1" dirty="0"/>
            </a:p>
          </p:txBody>
        </p:sp>
        <p:sp>
          <p:nvSpPr>
            <p:cNvPr id="12" name="Text Box 14"/>
            <p:cNvSpPr txBox="1">
              <a:spLocks noChangeArrowheads="1"/>
            </p:cNvSpPr>
            <p:nvPr/>
          </p:nvSpPr>
          <p:spPr bwMode="auto">
            <a:xfrm>
              <a:off x="4174" y="2886"/>
              <a:ext cx="429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400" b="1">
                  <a:latin typeface="Times New Roman" panose="02020603050405020304" pitchFamily="18" charset="0"/>
                </a:rPr>
                <a:t>0</a:t>
              </a:r>
              <a:endParaRPr lang="en-US" altLang="zh-CN" sz="2800" b="1"/>
            </a:p>
          </p:txBody>
        </p:sp>
        <p:sp>
          <p:nvSpPr>
            <p:cNvPr id="13" name="Text Box 15"/>
            <p:cNvSpPr txBox="1">
              <a:spLocks noChangeArrowheads="1"/>
            </p:cNvSpPr>
            <p:nvPr/>
          </p:nvSpPr>
          <p:spPr bwMode="auto">
            <a:xfrm>
              <a:off x="7438" y="2886"/>
              <a:ext cx="429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400" b="1">
                  <a:latin typeface="Times New Roman" panose="02020603050405020304" pitchFamily="18" charset="0"/>
                </a:rPr>
                <a:t>0</a:t>
              </a:r>
              <a:endParaRPr lang="en-US" altLang="zh-CN" sz="2800" b="1"/>
            </a:p>
          </p:txBody>
        </p:sp>
        <p:sp>
          <p:nvSpPr>
            <p:cNvPr id="14" name="Text Box 16"/>
            <p:cNvSpPr txBox="1">
              <a:spLocks noChangeArrowheads="1"/>
            </p:cNvSpPr>
            <p:nvPr/>
          </p:nvSpPr>
          <p:spPr bwMode="auto">
            <a:xfrm>
              <a:off x="7412" y="3991"/>
              <a:ext cx="429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400" b="1">
                  <a:latin typeface="Times New Roman" panose="02020603050405020304" pitchFamily="18" charset="0"/>
                </a:rPr>
                <a:t>1</a:t>
              </a:r>
              <a:endParaRPr lang="en-US" altLang="zh-CN" sz="2800" b="1"/>
            </a:p>
          </p:txBody>
        </p:sp>
        <p:sp>
          <p:nvSpPr>
            <p:cNvPr id="15" name="Text Box 17"/>
            <p:cNvSpPr txBox="1">
              <a:spLocks noChangeArrowheads="1"/>
            </p:cNvSpPr>
            <p:nvPr/>
          </p:nvSpPr>
          <p:spPr bwMode="auto">
            <a:xfrm>
              <a:off x="4135" y="3991"/>
              <a:ext cx="429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400" b="1">
                  <a:latin typeface="Times New Roman" panose="02020603050405020304" pitchFamily="18" charset="0"/>
                </a:rPr>
                <a:t>1</a:t>
              </a:r>
              <a:endParaRPr lang="en-US" altLang="zh-CN" sz="2800" b="1"/>
            </a:p>
          </p:txBody>
        </p:sp>
        <p:grpSp>
          <p:nvGrpSpPr>
            <p:cNvPr id="16" name="Group 18"/>
            <p:cNvGrpSpPr/>
            <p:nvPr/>
          </p:nvGrpSpPr>
          <p:grpSpPr bwMode="auto">
            <a:xfrm>
              <a:off x="5603" y="2662"/>
              <a:ext cx="807" cy="1935"/>
              <a:chOff x="5604" y="2662"/>
              <a:chExt cx="807" cy="1935"/>
            </a:xfrm>
          </p:grpSpPr>
          <p:sp>
            <p:nvSpPr>
              <p:cNvPr id="26" name="Text Box 19"/>
              <p:cNvSpPr txBox="1">
                <a:spLocks noChangeArrowheads="1"/>
              </p:cNvSpPr>
              <p:nvPr/>
            </p:nvSpPr>
            <p:spPr bwMode="auto">
              <a:xfrm>
                <a:off x="5617" y="2662"/>
                <a:ext cx="794" cy="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1400" b="1" i="1">
                    <a:latin typeface="Times New Roman" panose="02020603050405020304" pitchFamily="18" charset="0"/>
                  </a:rPr>
                  <a:t>P</a:t>
                </a:r>
                <a:r>
                  <a:rPr lang="en-US" altLang="zh-CN" sz="1400" b="1">
                    <a:latin typeface="Times New Roman" panose="02020603050405020304" pitchFamily="18" charset="0"/>
                  </a:rPr>
                  <a:t>(0 / 0)</a:t>
                </a:r>
                <a:endParaRPr lang="en-US" altLang="zh-CN" sz="2800" b="1"/>
              </a:p>
            </p:txBody>
          </p:sp>
          <p:sp>
            <p:nvSpPr>
              <p:cNvPr id="27" name="Text Box 20"/>
              <p:cNvSpPr txBox="1">
                <a:spLocks noChangeArrowheads="1"/>
              </p:cNvSpPr>
              <p:nvPr/>
            </p:nvSpPr>
            <p:spPr bwMode="auto">
              <a:xfrm>
                <a:off x="5604" y="4196"/>
                <a:ext cx="794" cy="4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1400" b="1" i="1" dirty="0">
                    <a:latin typeface="Times New Roman" panose="02020603050405020304" pitchFamily="18" charset="0"/>
                  </a:rPr>
                  <a:t>P</a:t>
                </a:r>
                <a:r>
                  <a:rPr lang="en-US" altLang="zh-CN" sz="1400" b="1" dirty="0">
                    <a:latin typeface="Times New Roman" panose="02020603050405020304" pitchFamily="18" charset="0"/>
                  </a:rPr>
                  <a:t>(1 / 1)</a:t>
                </a:r>
                <a:endParaRPr lang="en-US" altLang="zh-CN" sz="2800" b="1" dirty="0"/>
              </a:p>
            </p:txBody>
          </p:sp>
        </p:grpSp>
        <p:grpSp>
          <p:nvGrpSpPr>
            <p:cNvPr id="17" name="Group 21"/>
            <p:cNvGrpSpPr/>
            <p:nvPr/>
          </p:nvGrpSpPr>
          <p:grpSpPr bwMode="auto">
            <a:xfrm>
              <a:off x="4485" y="3068"/>
              <a:ext cx="2991" cy="1118"/>
              <a:chOff x="4486" y="3068"/>
              <a:chExt cx="2991" cy="1119"/>
            </a:xfrm>
          </p:grpSpPr>
          <p:grpSp>
            <p:nvGrpSpPr>
              <p:cNvPr id="21" name="Group 22"/>
              <p:cNvGrpSpPr/>
              <p:nvPr/>
            </p:nvGrpSpPr>
            <p:grpSpPr bwMode="auto">
              <a:xfrm>
                <a:off x="4486" y="3068"/>
                <a:ext cx="2991" cy="1119"/>
                <a:chOff x="4486" y="3068"/>
                <a:chExt cx="2991" cy="1119"/>
              </a:xfrm>
            </p:grpSpPr>
            <p:sp>
              <p:nvSpPr>
                <p:cNvPr id="24" name="Line 23"/>
                <p:cNvSpPr>
                  <a:spLocks noChangeShapeType="1"/>
                </p:cNvSpPr>
                <p:nvPr/>
              </p:nvSpPr>
              <p:spPr bwMode="auto">
                <a:xfrm>
                  <a:off x="4486" y="3068"/>
                  <a:ext cx="2991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25" name="Line 24"/>
                <p:cNvSpPr>
                  <a:spLocks noChangeShapeType="1"/>
                </p:cNvSpPr>
                <p:nvPr/>
              </p:nvSpPr>
              <p:spPr bwMode="auto">
                <a:xfrm>
                  <a:off x="4486" y="4186"/>
                  <a:ext cx="2991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22" name="Line 25"/>
              <p:cNvSpPr>
                <a:spLocks noChangeShapeType="1"/>
              </p:cNvSpPr>
              <p:nvPr/>
            </p:nvSpPr>
            <p:spPr bwMode="auto">
              <a:xfrm>
                <a:off x="4486" y="3068"/>
                <a:ext cx="2991" cy="111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3" name="Line 26"/>
              <p:cNvSpPr>
                <a:spLocks noChangeShapeType="1"/>
              </p:cNvSpPr>
              <p:nvPr/>
            </p:nvSpPr>
            <p:spPr bwMode="auto">
              <a:xfrm flipV="1">
                <a:off x="4486" y="3068"/>
                <a:ext cx="2965" cy="111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 dirty="0"/>
              </a:p>
            </p:txBody>
          </p:sp>
        </p:grpSp>
        <p:grpSp>
          <p:nvGrpSpPr>
            <p:cNvPr id="18" name="Group 28"/>
            <p:cNvGrpSpPr/>
            <p:nvPr/>
          </p:nvGrpSpPr>
          <p:grpSpPr bwMode="auto">
            <a:xfrm>
              <a:off x="4042" y="3377"/>
              <a:ext cx="3824" cy="364"/>
              <a:chOff x="4043" y="3377"/>
              <a:chExt cx="3824" cy="364"/>
            </a:xfrm>
          </p:grpSpPr>
          <p:sp>
            <p:nvSpPr>
              <p:cNvPr id="19" name="Text Box 29"/>
              <p:cNvSpPr txBox="1">
                <a:spLocks noChangeArrowheads="1"/>
              </p:cNvSpPr>
              <p:nvPr/>
            </p:nvSpPr>
            <p:spPr bwMode="auto">
              <a:xfrm>
                <a:off x="4043" y="3403"/>
                <a:ext cx="859" cy="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1400" b="1" dirty="0">
                    <a:latin typeface="Times New Roman" panose="02020603050405020304" pitchFamily="18" charset="0"/>
                  </a:rPr>
                  <a:t>Transmitter</a:t>
                </a:r>
                <a:endParaRPr lang="zh-CN" altLang="en-US" sz="2800" b="1" dirty="0"/>
              </a:p>
            </p:txBody>
          </p:sp>
          <p:sp>
            <p:nvSpPr>
              <p:cNvPr id="20" name="Text Box 30"/>
              <p:cNvSpPr txBox="1">
                <a:spLocks noChangeArrowheads="1"/>
              </p:cNvSpPr>
              <p:nvPr/>
            </p:nvSpPr>
            <p:spPr bwMode="auto">
              <a:xfrm>
                <a:off x="7126" y="3377"/>
                <a:ext cx="741" cy="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1400" b="1" dirty="0">
                    <a:latin typeface="Times New Roman" panose="02020603050405020304" pitchFamily="18" charset="0"/>
                  </a:rPr>
                  <a:t>Receiver</a:t>
                </a:r>
                <a:endParaRPr lang="zh-CN" altLang="en-US" sz="2800" b="1" dirty="0"/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29954"/>
            <a:ext cx="9054548" cy="152319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773" y="4469987"/>
            <a:ext cx="5351754" cy="70049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3185" y="103878"/>
            <a:ext cx="27581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Example 3</a:t>
            </a:r>
            <a:endParaRPr lang="zh-CN" altLang="en-US" sz="3200" b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68463"/>
            <a:ext cx="9144000" cy="374216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41" name="Group 5"/>
          <p:cNvGrpSpPr>
            <a:grpSpLocks noChangeAspect="1"/>
          </p:cNvGrpSpPr>
          <p:nvPr/>
        </p:nvGrpSpPr>
        <p:grpSpPr bwMode="auto">
          <a:xfrm>
            <a:off x="1129759" y="1738535"/>
            <a:ext cx="6056638" cy="4573587"/>
            <a:chOff x="2283" y="3910"/>
            <a:chExt cx="4001" cy="3020"/>
          </a:xfrm>
        </p:grpSpPr>
        <p:sp>
          <p:nvSpPr>
            <p:cNvPr id="39942" name="AutoShape 6"/>
            <p:cNvSpPr>
              <a:spLocks noChangeAspect="1" noChangeArrowheads="1"/>
            </p:cNvSpPr>
            <p:nvPr/>
          </p:nvSpPr>
          <p:spPr bwMode="auto">
            <a:xfrm>
              <a:off x="2738" y="3910"/>
              <a:ext cx="3420" cy="30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/>
            </a:p>
          </p:txBody>
        </p:sp>
        <p:grpSp>
          <p:nvGrpSpPr>
            <p:cNvPr id="39943" name="Group 7"/>
            <p:cNvGrpSpPr/>
            <p:nvPr/>
          </p:nvGrpSpPr>
          <p:grpSpPr bwMode="auto">
            <a:xfrm>
              <a:off x="3302" y="4095"/>
              <a:ext cx="1743" cy="2238"/>
              <a:chOff x="3302" y="4095"/>
              <a:chExt cx="2185" cy="2238"/>
            </a:xfrm>
          </p:grpSpPr>
          <p:sp>
            <p:nvSpPr>
              <p:cNvPr id="39982" name="Line 8"/>
              <p:cNvSpPr>
                <a:spLocks noChangeShapeType="1"/>
              </p:cNvSpPr>
              <p:nvPr/>
            </p:nvSpPr>
            <p:spPr bwMode="auto">
              <a:xfrm>
                <a:off x="3302" y="4095"/>
                <a:ext cx="218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39983" name="Line 9"/>
              <p:cNvSpPr>
                <a:spLocks noChangeShapeType="1"/>
              </p:cNvSpPr>
              <p:nvPr/>
            </p:nvSpPr>
            <p:spPr bwMode="auto">
              <a:xfrm>
                <a:off x="3302" y="4836"/>
                <a:ext cx="2185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39984" name="Line 10"/>
              <p:cNvSpPr>
                <a:spLocks noChangeShapeType="1"/>
              </p:cNvSpPr>
              <p:nvPr/>
            </p:nvSpPr>
            <p:spPr bwMode="auto">
              <a:xfrm>
                <a:off x="3302" y="5591"/>
                <a:ext cx="218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39985" name="Line 11"/>
              <p:cNvSpPr>
                <a:spLocks noChangeShapeType="1"/>
              </p:cNvSpPr>
              <p:nvPr/>
            </p:nvSpPr>
            <p:spPr bwMode="auto">
              <a:xfrm>
                <a:off x="3302" y="6332"/>
                <a:ext cx="2185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</p:grpSp>
        <p:sp>
          <p:nvSpPr>
            <p:cNvPr id="39944" name="Line 12"/>
            <p:cNvSpPr>
              <a:spLocks noChangeShapeType="1"/>
            </p:cNvSpPr>
            <p:nvPr/>
          </p:nvSpPr>
          <p:spPr bwMode="auto">
            <a:xfrm>
              <a:off x="3302" y="4095"/>
              <a:ext cx="1795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9945" name="Line 13"/>
            <p:cNvSpPr>
              <a:spLocks noChangeShapeType="1"/>
            </p:cNvSpPr>
            <p:nvPr/>
          </p:nvSpPr>
          <p:spPr bwMode="auto">
            <a:xfrm>
              <a:off x="3302" y="4095"/>
              <a:ext cx="1774" cy="12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9946" name="Line 14"/>
            <p:cNvSpPr>
              <a:spLocks noChangeShapeType="1"/>
            </p:cNvSpPr>
            <p:nvPr/>
          </p:nvSpPr>
          <p:spPr bwMode="auto">
            <a:xfrm>
              <a:off x="3302" y="4095"/>
              <a:ext cx="1808" cy="187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9947" name="Line 15"/>
            <p:cNvSpPr>
              <a:spLocks noChangeShapeType="1"/>
            </p:cNvSpPr>
            <p:nvPr/>
          </p:nvSpPr>
          <p:spPr bwMode="auto">
            <a:xfrm flipV="1">
              <a:off x="3302" y="4316"/>
              <a:ext cx="1535" cy="5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9948" name="Line 16"/>
            <p:cNvSpPr>
              <a:spLocks noChangeShapeType="1"/>
            </p:cNvSpPr>
            <p:nvPr/>
          </p:nvSpPr>
          <p:spPr bwMode="auto">
            <a:xfrm>
              <a:off x="3302" y="4836"/>
              <a:ext cx="1691" cy="5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9949" name="Line 17"/>
            <p:cNvSpPr>
              <a:spLocks noChangeShapeType="1"/>
            </p:cNvSpPr>
            <p:nvPr/>
          </p:nvSpPr>
          <p:spPr bwMode="auto">
            <a:xfrm>
              <a:off x="3302" y="4836"/>
              <a:ext cx="1800" cy="12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9950" name="Line 18"/>
            <p:cNvSpPr>
              <a:spLocks noChangeShapeType="1"/>
            </p:cNvSpPr>
            <p:nvPr/>
          </p:nvSpPr>
          <p:spPr bwMode="auto">
            <a:xfrm flipV="1">
              <a:off x="3297" y="4457"/>
              <a:ext cx="1644" cy="113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9951" name="Line 19"/>
            <p:cNvSpPr>
              <a:spLocks noChangeShapeType="1"/>
            </p:cNvSpPr>
            <p:nvPr/>
          </p:nvSpPr>
          <p:spPr bwMode="auto">
            <a:xfrm flipV="1">
              <a:off x="3297" y="4990"/>
              <a:ext cx="1753" cy="6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9952" name="Line 20"/>
            <p:cNvSpPr>
              <a:spLocks noChangeShapeType="1"/>
            </p:cNvSpPr>
            <p:nvPr/>
          </p:nvSpPr>
          <p:spPr bwMode="auto">
            <a:xfrm>
              <a:off x="3297" y="5591"/>
              <a:ext cx="1592" cy="5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9953" name="Line 21"/>
            <p:cNvSpPr>
              <a:spLocks noChangeShapeType="1"/>
            </p:cNvSpPr>
            <p:nvPr/>
          </p:nvSpPr>
          <p:spPr bwMode="auto">
            <a:xfrm flipV="1">
              <a:off x="3297" y="4464"/>
              <a:ext cx="1813" cy="18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9954" name="Line 22"/>
            <p:cNvSpPr>
              <a:spLocks noChangeShapeType="1"/>
            </p:cNvSpPr>
            <p:nvPr/>
          </p:nvSpPr>
          <p:spPr bwMode="auto">
            <a:xfrm flipV="1">
              <a:off x="3297" y="5110"/>
              <a:ext cx="1784" cy="12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9955" name="Line 23"/>
            <p:cNvSpPr>
              <a:spLocks noChangeShapeType="1"/>
            </p:cNvSpPr>
            <p:nvPr/>
          </p:nvSpPr>
          <p:spPr bwMode="auto">
            <a:xfrm flipV="1">
              <a:off x="3297" y="5721"/>
              <a:ext cx="1779" cy="6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9956" name="Text Box 24"/>
            <p:cNvSpPr txBox="1">
              <a:spLocks noChangeArrowheads="1"/>
            </p:cNvSpPr>
            <p:nvPr/>
          </p:nvSpPr>
          <p:spPr bwMode="auto">
            <a:xfrm>
              <a:off x="3024" y="3910"/>
              <a:ext cx="348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b="1" dirty="0">
                  <a:latin typeface="Times New Roman" panose="02020603050405020304" pitchFamily="18" charset="0"/>
                </a:rPr>
                <a:t>0</a:t>
              </a:r>
              <a:endParaRPr lang="en-US" altLang="zh-CN" sz="3600" b="1" dirty="0"/>
            </a:p>
          </p:txBody>
        </p:sp>
        <p:sp>
          <p:nvSpPr>
            <p:cNvPr id="39957" name="Text Box 25"/>
            <p:cNvSpPr txBox="1">
              <a:spLocks noChangeArrowheads="1"/>
            </p:cNvSpPr>
            <p:nvPr/>
          </p:nvSpPr>
          <p:spPr bwMode="auto">
            <a:xfrm>
              <a:off x="3019" y="4665"/>
              <a:ext cx="347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b="1">
                  <a:latin typeface="Times New Roman" panose="02020603050405020304" pitchFamily="18" charset="0"/>
                </a:rPr>
                <a:t>1</a:t>
              </a:r>
              <a:endParaRPr lang="en-US" altLang="zh-CN" sz="3600" b="1"/>
            </a:p>
          </p:txBody>
        </p:sp>
        <p:sp>
          <p:nvSpPr>
            <p:cNvPr id="39958" name="Text Box 26"/>
            <p:cNvSpPr txBox="1">
              <a:spLocks noChangeArrowheads="1"/>
            </p:cNvSpPr>
            <p:nvPr/>
          </p:nvSpPr>
          <p:spPr bwMode="auto">
            <a:xfrm>
              <a:off x="2998" y="5380"/>
              <a:ext cx="348" cy="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b="1">
                  <a:latin typeface="Times New Roman" panose="02020603050405020304" pitchFamily="18" charset="0"/>
                </a:rPr>
                <a:t>2</a:t>
              </a:r>
              <a:endParaRPr lang="en-US" altLang="zh-CN" sz="3600" b="1"/>
            </a:p>
          </p:txBody>
        </p:sp>
        <p:sp>
          <p:nvSpPr>
            <p:cNvPr id="39959" name="Text Box 27"/>
            <p:cNvSpPr txBox="1">
              <a:spLocks noChangeArrowheads="1"/>
            </p:cNvSpPr>
            <p:nvPr/>
          </p:nvSpPr>
          <p:spPr bwMode="auto">
            <a:xfrm>
              <a:off x="3032" y="6121"/>
              <a:ext cx="347" cy="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b="1">
                  <a:latin typeface="Times New Roman" panose="02020603050405020304" pitchFamily="18" charset="0"/>
                </a:rPr>
                <a:t>3</a:t>
              </a:r>
              <a:endParaRPr lang="en-US" altLang="zh-CN" sz="3600" b="1"/>
            </a:p>
          </p:txBody>
        </p:sp>
        <p:sp>
          <p:nvSpPr>
            <p:cNvPr id="39960" name="Text Box 28"/>
            <p:cNvSpPr txBox="1">
              <a:spLocks noChangeArrowheads="1"/>
            </p:cNvSpPr>
            <p:nvPr/>
          </p:nvSpPr>
          <p:spPr bwMode="auto">
            <a:xfrm>
              <a:off x="5498" y="6126"/>
              <a:ext cx="348" cy="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b="1">
                  <a:latin typeface="Times New Roman" panose="02020603050405020304" pitchFamily="18" charset="0"/>
                </a:rPr>
                <a:t>3</a:t>
              </a:r>
              <a:endParaRPr lang="en-US" altLang="zh-CN" sz="3600" b="1"/>
            </a:p>
          </p:txBody>
        </p:sp>
        <p:sp>
          <p:nvSpPr>
            <p:cNvPr id="39961" name="Text Box 29"/>
            <p:cNvSpPr txBox="1">
              <a:spLocks noChangeArrowheads="1"/>
            </p:cNvSpPr>
            <p:nvPr/>
          </p:nvSpPr>
          <p:spPr bwMode="auto">
            <a:xfrm>
              <a:off x="5459" y="5404"/>
              <a:ext cx="348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b="1">
                  <a:latin typeface="Times New Roman" panose="02020603050405020304" pitchFamily="18" charset="0"/>
                </a:rPr>
                <a:t>2</a:t>
              </a:r>
              <a:endParaRPr lang="en-US" altLang="zh-CN" sz="3600" b="1"/>
            </a:p>
          </p:txBody>
        </p:sp>
        <p:sp>
          <p:nvSpPr>
            <p:cNvPr id="39962" name="Text Box 30"/>
            <p:cNvSpPr txBox="1">
              <a:spLocks noChangeArrowheads="1"/>
            </p:cNvSpPr>
            <p:nvPr/>
          </p:nvSpPr>
          <p:spPr bwMode="auto">
            <a:xfrm>
              <a:off x="5472" y="4665"/>
              <a:ext cx="348" cy="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b="1">
                  <a:latin typeface="Times New Roman" panose="02020603050405020304" pitchFamily="18" charset="0"/>
                </a:rPr>
                <a:t>1</a:t>
              </a:r>
              <a:endParaRPr lang="en-US" altLang="zh-CN" sz="3600" b="1"/>
            </a:p>
          </p:txBody>
        </p:sp>
        <p:sp>
          <p:nvSpPr>
            <p:cNvPr id="39963" name="Text Box 31"/>
            <p:cNvSpPr txBox="1">
              <a:spLocks noChangeArrowheads="1"/>
            </p:cNvSpPr>
            <p:nvPr/>
          </p:nvSpPr>
          <p:spPr bwMode="auto">
            <a:xfrm>
              <a:off x="5477" y="3921"/>
              <a:ext cx="348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b="1">
                  <a:latin typeface="Times New Roman" panose="02020603050405020304" pitchFamily="18" charset="0"/>
                </a:rPr>
                <a:t>0</a:t>
              </a:r>
              <a:endParaRPr lang="en-US" altLang="zh-CN" sz="3600" b="1"/>
            </a:p>
          </p:txBody>
        </p:sp>
        <p:sp>
          <p:nvSpPr>
            <p:cNvPr id="39964" name="Line 32"/>
            <p:cNvSpPr>
              <a:spLocks noChangeShapeType="1"/>
            </p:cNvSpPr>
            <p:nvPr/>
          </p:nvSpPr>
          <p:spPr bwMode="auto">
            <a:xfrm flipV="1">
              <a:off x="4837" y="4100"/>
              <a:ext cx="637" cy="2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9965" name="Line 33"/>
            <p:cNvSpPr>
              <a:spLocks noChangeShapeType="1"/>
            </p:cNvSpPr>
            <p:nvPr/>
          </p:nvSpPr>
          <p:spPr bwMode="auto">
            <a:xfrm flipV="1">
              <a:off x="4941" y="4095"/>
              <a:ext cx="541" cy="3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9966" name="Line 34"/>
            <p:cNvSpPr>
              <a:spLocks noChangeShapeType="1"/>
            </p:cNvSpPr>
            <p:nvPr/>
          </p:nvSpPr>
          <p:spPr bwMode="auto">
            <a:xfrm flipV="1">
              <a:off x="5110" y="4095"/>
              <a:ext cx="364" cy="3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9967" name="Line 35"/>
            <p:cNvSpPr>
              <a:spLocks noChangeShapeType="1"/>
            </p:cNvSpPr>
            <p:nvPr/>
          </p:nvSpPr>
          <p:spPr bwMode="auto">
            <a:xfrm flipV="1">
              <a:off x="5045" y="4095"/>
              <a:ext cx="429" cy="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9968" name="Line 36"/>
            <p:cNvSpPr>
              <a:spLocks noChangeShapeType="1"/>
            </p:cNvSpPr>
            <p:nvPr/>
          </p:nvSpPr>
          <p:spPr bwMode="auto">
            <a:xfrm>
              <a:off x="5032" y="4836"/>
              <a:ext cx="42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9969" name="Line 37"/>
            <p:cNvSpPr>
              <a:spLocks noChangeShapeType="1"/>
            </p:cNvSpPr>
            <p:nvPr/>
          </p:nvSpPr>
          <p:spPr bwMode="auto">
            <a:xfrm>
              <a:off x="5097" y="4719"/>
              <a:ext cx="372" cy="1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9970" name="Line 38"/>
            <p:cNvSpPr>
              <a:spLocks noChangeShapeType="1"/>
            </p:cNvSpPr>
            <p:nvPr/>
          </p:nvSpPr>
          <p:spPr bwMode="auto">
            <a:xfrm flipV="1">
              <a:off x="5053" y="4842"/>
              <a:ext cx="421" cy="1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9971" name="Line 39"/>
            <p:cNvSpPr>
              <a:spLocks noChangeShapeType="1"/>
            </p:cNvSpPr>
            <p:nvPr/>
          </p:nvSpPr>
          <p:spPr bwMode="auto">
            <a:xfrm flipV="1">
              <a:off x="5084" y="4842"/>
              <a:ext cx="398" cy="2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9972" name="Line 40"/>
            <p:cNvSpPr>
              <a:spLocks noChangeShapeType="1"/>
            </p:cNvSpPr>
            <p:nvPr/>
          </p:nvSpPr>
          <p:spPr bwMode="auto">
            <a:xfrm>
              <a:off x="5079" y="5336"/>
              <a:ext cx="382" cy="2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9973" name="Line 41"/>
            <p:cNvSpPr>
              <a:spLocks noChangeShapeType="1"/>
            </p:cNvSpPr>
            <p:nvPr/>
          </p:nvSpPr>
          <p:spPr bwMode="auto">
            <a:xfrm>
              <a:off x="4993" y="5422"/>
              <a:ext cx="476" cy="1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9974" name="Line 42"/>
            <p:cNvSpPr>
              <a:spLocks noChangeShapeType="1"/>
            </p:cNvSpPr>
            <p:nvPr/>
          </p:nvSpPr>
          <p:spPr bwMode="auto">
            <a:xfrm>
              <a:off x="5027" y="5591"/>
              <a:ext cx="43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9975" name="Line 43"/>
            <p:cNvSpPr>
              <a:spLocks noChangeShapeType="1"/>
            </p:cNvSpPr>
            <p:nvPr/>
          </p:nvSpPr>
          <p:spPr bwMode="auto">
            <a:xfrm flipV="1">
              <a:off x="5079" y="5596"/>
              <a:ext cx="408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9976" name="Line 44"/>
            <p:cNvSpPr>
              <a:spLocks noChangeShapeType="1"/>
            </p:cNvSpPr>
            <p:nvPr/>
          </p:nvSpPr>
          <p:spPr bwMode="auto">
            <a:xfrm>
              <a:off x="5110" y="5973"/>
              <a:ext cx="364" cy="3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9977" name="Line 45"/>
            <p:cNvSpPr>
              <a:spLocks noChangeShapeType="1"/>
            </p:cNvSpPr>
            <p:nvPr/>
          </p:nvSpPr>
          <p:spPr bwMode="auto">
            <a:xfrm>
              <a:off x="5105" y="6085"/>
              <a:ext cx="377" cy="24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9978" name="Line 46"/>
            <p:cNvSpPr>
              <a:spLocks noChangeShapeType="1"/>
            </p:cNvSpPr>
            <p:nvPr/>
          </p:nvSpPr>
          <p:spPr bwMode="auto">
            <a:xfrm>
              <a:off x="4889" y="6137"/>
              <a:ext cx="593" cy="2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9979" name="Line 47"/>
            <p:cNvSpPr>
              <a:spLocks noChangeShapeType="1"/>
            </p:cNvSpPr>
            <p:nvPr/>
          </p:nvSpPr>
          <p:spPr bwMode="auto">
            <a:xfrm>
              <a:off x="5027" y="6332"/>
              <a:ext cx="442" cy="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9980" name="Text Box 48"/>
            <p:cNvSpPr txBox="1">
              <a:spLocks noChangeArrowheads="1"/>
            </p:cNvSpPr>
            <p:nvPr/>
          </p:nvSpPr>
          <p:spPr bwMode="auto">
            <a:xfrm rot="16200000">
              <a:off x="5673" y="4866"/>
              <a:ext cx="520" cy="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b="1" dirty="0">
                  <a:latin typeface="Times New Roman" panose="02020603050405020304" pitchFamily="18" charset="0"/>
                </a:rPr>
                <a:t>Receiver</a:t>
              </a:r>
              <a:endParaRPr lang="zh-CN" altLang="en-US" b="1" dirty="0"/>
            </a:p>
          </p:txBody>
        </p:sp>
        <p:sp>
          <p:nvSpPr>
            <p:cNvPr id="39981" name="Text Box 49"/>
            <p:cNvSpPr txBox="1">
              <a:spLocks noChangeArrowheads="1"/>
            </p:cNvSpPr>
            <p:nvPr/>
          </p:nvSpPr>
          <p:spPr bwMode="auto">
            <a:xfrm rot="16200000">
              <a:off x="2547" y="4754"/>
              <a:ext cx="536" cy="1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b="1" dirty="0">
                  <a:latin typeface="Times New Roman" panose="02020603050405020304" pitchFamily="18" charset="0"/>
                </a:rPr>
                <a:t>Transmitter</a:t>
              </a:r>
              <a:endParaRPr lang="zh-CN" altLang="en-US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6654906" y="2294332"/>
                <a:ext cx="1280672" cy="4043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altLang="zh-CN" sz="2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</m:oMath>
                </a14:m>
                <a:r>
                  <a:rPr lang="en-US" altLang="zh-CN" sz="24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4906" y="2294332"/>
                <a:ext cx="1280672" cy="404341"/>
              </a:xfrm>
              <a:prstGeom prst="rect">
                <a:avLst/>
              </a:prstGeom>
              <a:blipFill rotWithShape="1">
                <a:blip r:embed="rId1"/>
                <a:stretch>
                  <a:fillRect l="-8" t="-1275" r="-4613" b="1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6327510" y="2650317"/>
            <a:ext cx="2922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Transition probability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97447" y="3822392"/>
            <a:ext cx="958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</a:rPr>
              <a:t>X</a:t>
            </a:r>
            <a:endParaRPr lang="zh-CN" altLang="en-US" b="1" i="1" dirty="0">
              <a:solidFill>
                <a:srgbClr val="FF0000"/>
              </a:solidFill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430454" y="3713450"/>
            <a:ext cx="958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</a:rPr>
              <a:t>Y</a:t>
            </a:r>
            <a:endParaRPr lang="zh-CN" altLang="en-US" b="1" i="1" dirty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235" y="297465"/>
            <a:ext cx="96537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3.2 Channel models 信道模型</a:t>
            </a: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 --</a:t>
            </a:r>
            <a:r>
              <a: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Coding channel model（编码信道模型）</a:t>
            </a: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63581" y="5674285"/>
            <a:ext cx="4904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/>
              <a:t>Quaternary coding channel model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8112" y="71438"/>
            <a:ext cx="3433763" cy="914401"/>
          </a:xfrm>
        </p:spPr>
        <p:txBody>
          <a:bodyPr/>
          <a:lstStyle/>
          <a:p>
            <a:r>
              <a:rPr lang="en-US" altLang="zh-CN" b="1" dirty="0"/>
              <a:t>Example</a:t>
            </a:r>
            <a:endParaRPr lang="zh-CN" altLang="en-US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138112" y="1023156"/>
            <a:ext cx="90058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 </a:t>
            </a:r>
            <a:r>
              <a:rPr lang="zh-CN" altLang="zh-C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modulation channel is located between the output of the modulator and the input of the demodulator.</a:t>
            </a:r>
            <a:endParaRPr lang="en-US" altLang="zh-CN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zh-C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coding channel mainly analyzes waveform distortion and amplitude-frequency distortion of analog signals. </a:t>
            </a:r>
            <a:endParaRPr lang="en-US" altLang="zh-CN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zh-CN" altLang="zh-C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performance of the coding channel depends on the noise and distortion from the modulation channel.</a:t>
            </a:r>
            <a:r>
              <a:rPr lang="en-US" altLang="zh-C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zh-CN" altLang="zh-C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3693109"/>
            <a:ext cx="92086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difference between modulation channel and coding channel?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/>
          </p:cNvSpPr>
          <p:nvPr/>
        </p:nvSpPr>
        <p:spPr>
          <a:xfrm>
            <a:off x="49696" y="0"/>
            <a:ext cx="9094304" cy="736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noFill/>
          </a:ln>
        </p:spPr>
        <p:txBody>
          <a:bodyPr vert="horz" wrap="square" lIns="91440" tIns="45720" rIns="91440" bIns="45720" anchor="ctr" anchorCtr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+mj-lt"/>
                <a:ea typeface="+mj-ea"/>
                <a:cs typeface="楷体_GB231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Chapter 3: Channel — Part I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9452" y="860839"/>
            <a:ext cx="9301291" cy="4789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3.1 The classification of channels 信道的分类</a:t>
            </a:r>
            <a:endParaRPr kumimoji="0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  --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Wireless channels 无线信道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  --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Wire channel 有线信道</a:t>
            </a:r>
            <a:endParaRPr kumimoji="0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3.2 Channel models 信道模型</a:t>
            </a:r>
            <a:endParaRPr kumimoji="0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  --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Modulation channel model（调制解调模型）</a:t>
            </a:r>
            <a:endParaRPr kumimoji="0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  --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Coding channel model（编码信道模型）</a:t>
            </a:r>
            <a:endParaRPr kumimoji="0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3.3 Influence of the channel characteristics on transmission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rgbClr val="C00000"/>
                </a:solidFill>
                <a:latin typeface="Calibri" panose="020F0502020204030204"/>
                <a:ea typeface="等线" panose="02010600030101010101" charset="-122"/>
              </a:rPr>
              <a:t>    </a:t>
            </a: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信道特性对传输的影响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lvl="0">
              <a:lnSpc>
                <a:spcPct val="125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Calibri" panose="020F0502020204030204"/>
                <a:ea typeface="等线" panose="02010600030101010101" charset="-122"/>
              </a:rPr>
              <a:t>--</a:t>
            </a:r>
            <a:r>
              <a:rPr lang="zh-CN" altLang="zh-CN" sz="2800" b="1" dirty="0">
                <a:solidFill>
                  <a:srgbClr val="0070C0"/>
                </a:solidFill>
              </a:rPr>
              <a:t>Influence of </a:t>
            </a:r>
            <a:r>
              <a:rPr lang="zh-CN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 parameter channels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zh-CN" altLang="zh-CN" sz="2800" b="1" dirty="0">
                <a:solidFill>
                  <a:srgbClr val="0070C0"/>
                </a:solidFill>
              </a:rPr>
              <a:t>transmission </a:t>
            </a:r>
            <a:endParaRPr lang="en-US" altLang="zh-CN" sz="2800" dirty="0">
              <a:solidFill>
                <a:srgbClr val="0070C0"/>
              </a:solidFill>
              <a:latin typeface="Calibri" panose="020F0502020204030204"/>
              <a:ea typeface="等线" panose="02010600030101010101" charset="-122"/>
            </a:endParaRPr>
          </a:p>
          <a:p>
            <a:pPr>
              <a:lnSpc>
                <a:spcPct val="125000"/>
              </a:lnSpc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--</a:t>
            </a:r>
            <a:r>
              <a:rPr lang="zh-CN" altLang="zh-CN" sz="2800" b="1" dirty="0">
                <a:solidFill>
                  <a:srgbClr val="0070C0"/>
                </a:solidFill>
              </a:rPr>
              <a:t>Influence of </a:t>
            </a:r>
            <a:r>
              <a:rPr lang="zh-CN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parameter channels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zh-CN" altLang="zh-CN" sz="2800" b="1" dirty="0">
                <a:solidFill>
                  <a:srgbClr val="0070C0"/>
                </a:solidFill>
              </a:rPr>
              <a:t>transmissio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31276" y="-18862"/>
            <a:ext cx="9301291" cy="591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3.3 Influence of the channel characteristics on transmission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2" name="内容占位符 2"/>
          <p:cNvSpPr>
            <a:spLocks noGrp="1"/>
          </p:cNvSpPr>
          <p:nvPr>
            <p:ph idx="1"/>
          </p:nvPr>
        </p:nvSpPr>
        <p:spPr>
          <a:xfrm>
            <a:off x="-65604" y="703864"/>
            <a:ext cx="9398171" cy="460762"/>
          </a:xfrm>
        </p:spPr>
        <p:txBody>
          <a:bodyPr>
            <a:normAutofit fontScale="92500"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Ideal constant parameter channel </a:t>
            </a:r>
            <a:r>
              <a:rPr lang="zh-CN" altLang="zh-CN" b="1" dirty="0"/>
              <a:t>transmission characteristics</a:t>
            </a:r>
            <a:endParaRPr lang="en-US" altLang="zh-CN" dirty="0"/>
          </a:p>
        </p:txBody>
      </p:sp>
      <p:graphicFrame>
        <p:nvGraphicFramePr>
          <p:cNvPr id="3" name="Object 19"/>
          <p:cNvGraphicFramePr>
            <a:graphicFrameLocks noChangeAspect="1"/>
          </p:cNvGraphicFramePr>
          <p:nvPr/>
        </p:nvGraphicFramePr>
        <p:xfrm>
          <a:off x="3048082" y="1408453"/>
          <a:ext cx="2711451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1" imgW="965200" imgH="228600" progId="Equation.DSMT4">
                  <p:embed/>
                </p:oleObj>
              </mc:Choice>
              <mc:Fallback>
                <p:oleObj name="Equation" r:id="rId1" imgW="965200" imgH="2286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82" y="1408453"/>
                        <a:ext cx="2711451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1FFE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5F5F5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9"/>
          <p:cNvGraphicFramePr>
            <a:graphicFrameLocks noChangeAspect="1"/>
          </p:cNvGraphicFramePr>
          <p:nvPr/>
        </p:nvGraphicFramePr>
        <p:xfrm>
          <a:off x="4836402" y="2220082"/>
          <a:ext cx="1846262" cy="656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3" imgW="723900" imgH="254000" progId="Equation.DSMT4">
                  <p:embed/>
                </p:oleObj>
              </mc:Choice>
              <mc:Fallback>
                <p:oleObj name="Equation" r:id="rId3" imgW="723900" imgH="254000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6402" y="2220082"/>
                        <a:ext cx="1846262" cy="6562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0"/>
          <p:cNvGraphicFramePr>
            <a:graphicFrameLocks noChangeAspect="1"/>
          </p:cNvGraphicFramePr>
          <p:nvPr/>
        </p:nvGraphicFramePr>
        <p:xfrm>
          <a:off x="4759791" y="2893949"/>
          <a:ext cx="2111446" cy="668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5" imgW="749300" imgH="228600" progId="Equation.DSMT4">
                  <p:embed/>
                </p:oleObj>
              </mc:Choice>
              <mc:Fallback>
                <p:oleObj name="Equation" r:id="rId5" imgW="749300" imgH="228600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9791" y="2893949"/>
                        <a:ext cx="2111446" cy="6681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AutoShape 44"/>
          <p:cNvSpPr/>
          <p:nvPr/>
        </p:nvSpPr>
        <p:spPr bwMode="auto">
          <a:xfrm rot="10800000">
            <a:off x="6929629" y="2460237"/>
            <a:ext cx="225425" cy="738188"/>
          </a:xfrm>
          <a:prstGeom prst="leftBrace">
            <a:avLst>
              <a:gd name="adj1" fmla="val 27289"/>
              <a:gd name="adj2" fmla="val 50000"/>
            </a:avLst>
          </a:prstGeom>
          <a:noFill/>
          <a:ln w="28575">
            <a:solidFill>
              <a:srgbClr val="5F5F5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" name="AutoShape 56"/>
          <p:cNvSpPr>
            <a:spLocks noChangeArrowheads="1"/>
          </p:cNvSpPr>
          <p:nvPr/>
        </p:nvSpPr>
        <p:spPr bwMode="auto">
          <a:xfrm>
            <a:off x="2858813" y="1344754"/>
            <a:ext cx="3155951" cy="630237"/>
          </a:xfrm>
          <a:prstGeom prst="flowChartAlternateProcess">
            <a:avLst/>
          </a:prstGeom>
          <a:noFill/>
          <a:ln w="9525">
            <a:solidFill>
              <a:srgbClr val="969696"/>
            </a:solidFill>
            <a:miter lim="800000"/>
          </a:ln>
          <a:effectLst>
            <a:prstShdw prst="shdw17" dist="17961" dir="2700000">
              <a:srgbClr val="5A5A5A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/>
          </a:p>
        </p:txBody>
      </p:sp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3" t="29031" r="4263"/>
          <a:stretch>
            <a:fillRect/>
          </a:stretch>
        </p:blipFill>
        <p:spPr bwMode="auto">
          <a:xfrm>
            <a:off x="15638" y="4290703"/>
            <a:ext cx="9112724" cy="231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3" name="Object 18"/>
          <p:cNvGraphicFramePr>
            <a:graphicFrameLocks noChangeAspect="1"/>
          </p:cNvGraphicFramePr>
          <p:nvPr/>
        </p:nvGraphicFramePr>
        <p:xfrm>
          <a:off x="4248424" y="3486378"/>
          <a:ext cx="3036903" cy="995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8" imgW="1193800" imgH="393700" progId="Equation.DSMT4">
                  <p:embed/>
                </p:oleObj>
              </mc:Choice>
              <mc:Fallback>
                <p:oleObj name="Equation" r:id="rId8" imgW="1193800" imgH="3937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8424" y="3486378"/>
                        <a:ext cx="3036903" cy="9959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418757" y="3744905"/>
            <a:ext cx="3935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</a:rPr>
              <a:t>Or </a:t>
            </a:r>
            <a:r>
              <a:rPr lang="en-US" altLang="zh-CN" sz="2400" b="1" dirty="0">
                <a:solidFill>
                  <a:srgbClr val="0070C0"/>
                </a:solidFill>
              </a:rPr>
              <a:t> Group delay</a:t>
            </a:r>
            <a:r>
              <a:rPr lang="zh-CN" altLang="en-US" sz="2400" b="1" dirty="0">
                <a:solidFill>
                  <a:srgbClr val="0070C0"/>
                </a:solidFill>
              </a:rPr>
              <a:t>（群延时）</a:t>
            </a:r>
            <a:r>
              <a:rPr lang="en-US" altLang="zh-CN" sz="2400" b="1" dirty="0">
                <a:solidFill>
                  <a:srgbClr val="0070C0"/>
                </a:solidFill>
              </a:rPr>
              <a:t>:</a:t>
            </a:r>
            <a:endParaRPr lang="zh-CN" altLang="en-US" sz="2400" b="1" dirty="0">
              <a:solidFill>
                <a:srgbClr val="0070C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10455" y="2309777"/>
            <a:ext cx="48801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B050"/>
                </a:solidFill>
              </a:rPr>
              <a:t>A</a:t>
            </a:r>
            <a:r>
              <a:rPr lang="zh-CN" altLang="zh-CN" sz="2400" b="1" dirty="0">
                <a:solidFill>
                  <a:srgbClr val="00B050"/>
                </a:solidFill>
              </a:rPr>
              <a:t>mplitude-frequency characteristic</a:t>
            </a:r>
            <a:r>
              <a:rPr lang="zh-CN" altLang="en-US" sz="2400" b="1" dirty="0">
                <a:solidFill>
                  <a:srgbClr val="00B050"/>
                </a:solidFill>
              </a:rPr>
              <a:t>：</a:t>
            </a:r>
            <a:endParaRPr lang="zh-CN" altLang="en-US" sz="2400" b="1" dirty="0">
              <a:solidFill>
                <a:srgbClr val="00B05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18757" y="2995287"/>
            <a:ext cx="48801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0070C0"/>
                </a:solidFill>
              </a:defRPr>
            </a:lvl1pPr>
          </a:lstStyle>
          <a:p>
            <a:r>
              <a:rPr lang="en-US" altLang="zh-CN" b="1" dirty="0"/>
              <a:t>P</a:t>
            </a:r>
            <a:r>
              <a:rPr lang="zh-CN" altLang="zh-CN" b="1" dirty="0"/>
              <a:t>hase-frequency characteristic</a:t>
            </a:r>
            <a:r>
              <a:rPr lang="zh-CN" altLang="en-US" b="1" dirty="0"/>
              <a:t>：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31276" y="-18862"/>
            <a:ext cx="9301291" cy="591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3.3 Influence of the channel characteristics on transmission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2" name="内容占位符 2"/>
          <p:cNvSpPr>
            <a:spLocks noGrp="1"/>
          </p:cNvSpPr>
          <p:nvPr>
            <p:ph idx="1"/>
          </p:nvPr>
        </p:nvSpPr>
        <p:spPr>
          <a:xfrm>
            <a:off x="0" y="636446"/>
            <a:ext cx="9650791" cy="4876800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</a:rPr>
              <a:t>Ideal constant parameter channel </a:t>
            </a:r>
            <a:r>
              <a:rPr lang="zh-CN" altLang="zh-CN" sz="2600" b="1" dirty="0"/>
              <a:t>transmission characteristics</a:t>
            </a:r>
            <a:endParaRPr lang="en-US" altLang="zh-CN" sz="2600" dirty="0"/>
          </a:p>
        </p:txBody>
      </p:sp>
      <p:graphicFrame>
        <p:nvGraphicFramePr>
          <p:cNvPr id="3" name="Object 19"/>
          <p:cNvGraphicFramePr>
            <a:graphicFrameLocks noChangeAspect="1"/>
          </p:cNvGraphicFramePr>
          <p:nvPr/>
        </p:nvGraphicFramePr>
        <p:xfrm>
          <a:off x="3048082" y="1408453"/>
          <a:ext cx="2711451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1" imgW="965200" imgH="228600" progId="Equation.DSMT4">
                  <p:embed/>
                </p:oleObj>
              </mc:Choice>
              <mc:Fallback>
                <p:oleObj name="Equation" r:id="rId1" imgW="965200" imgH="2286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82" y="1408453"/>
                        <a:ext cx="2711451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1FFE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5F5F5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AutoShape 56"/>
          <p:cNvSpPr>
            <a:spLocks noChangeArrowheads="1"/>
          </p:cNvSpPr>
          <p:nvPr/>
        </p:nvSpPr>
        <p:spPr bwMode="auto">
          <a:xfrm>
            <a:off x="2858813" y="1344754"/>
            <a:ext cx="3155951" cy="630237"/>
          </a:xfrm>
          <a:prstGeom prst="flowChartAlternateProcess">
            <a:avLst/>
          </a:prstGeom>
          <a:noFill/>
          <a:ln w="9525">
            <a:solidFill>
              <a:srgbClr val="969696"/>
            </a:solidFill>
            <a:miter lim="800000"/>
          </a:ln>
          <a:effectLst>
            <a:prstShdw prst="shdw17" dist="17961" dir="2700000">
              <a:srgbClr val="5A5A5A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/>
          </a:p>
        </p:txBody>
      </p:sp>
      <p:graphicFrame>
        <p:nvGraphicFramePr>
          <p:cNvPr id="7" name="Object 12"/>
          <p:cNvGraphicFramePr>
            <a:graphicFrameLocks noChangeAspect="1"/>
          </p:cNvGraphicFramePr>
          <p:nvPr/>
        </p:nvGraphicFramePr>
        <p:xfrm>
          <a:off x="3048082" y="2448251"/>
          <a:ext cx="24304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3" imgW="1040765" imgH="228600" progId="Equation.DSMT4">
                  <p:embed/>
                </p:oleObj>
              </mc:Choice>
              <mc:Fallback>
                <p:oleObj name="Equation" r:id="rId3" imgW="1040765" imgH="2286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82" y="2448251"/>
                        <a:ext cx="24304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008965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-203753" y="3047484"/>
            <a:ext cx="6952421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 hangingPunct="1">
              <a:lnSpc>
                <a:spcPts val="3200"/>
              </a:lnSpc>
              <a:buClr>
                <a:srgbClr val="0000CC"/>
              </a:buClr>
              <a:buNone/>
            </a:pPr>
            <a:r>
              <a:rPr lang="en-US" altLang="zh-CN" sz="2800" dirty="0"/>
              <a:t>If the input signal is </a:t>
            </a:r>
            <a:r>
              <a:rPr lang="en-US" altLang="zh-CN" sz="2800" i="1" dirty="0"/>
              <a:t>s</a:t>
            </a:r>
            <a:r>
              <a:rPr lang="en-US" altLang="zh-CN" sz="2800" dirty="0"/>
              <a:t>(</a:t>
            </a:r>
            <a:r>
              <a:rPr lang="en-US" altLang="zh-CN" sz="2800" i="1" dirty="0"/>
              <a:t>t</a:t>
            </a:r>
            <a:r>
              <a:rPr lang="en-US" altLang="zh-CN" sz="2800" dirty="0"/>
              <a:t>), then output is:</a:t>
            </a:r>
            <a:endParaRPr lang="zh-CN" altLang="en-US" sz="2800" dirty="0"/>
          </a:p>
        </p:txBody>
      </p:sp>
      <p:graphicFrame>
        <p:nvGraphicFramePr>
          <p:cNvPr id="18" name="Object 7"/>
          <p:cNvGraphicFramePr>
            <a:graphicFrameLocks noChangeAspect="1"/>
          </p:cNvGraphicFramePr>
          <p:nvPr/>
        </p:nvGraphicFramePr>
        <p:xfrm>
          <a:off x="2540332" y="3691747"/>
          <a:ext cx="2835226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5" imgW="1091565" imgH="228600" progId="Equation.DSMT4">
                  <p:embed/>
                </p:oleObj>
              </mc:Choice>
              <mc:Fallback>
                <p:oleObj name="Equation" r:id="rId5" imgW="1091565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332" y="3691747"/>
                        <a:ext cx="2835226" cy="639763"/>
                      </a:xfrm>
                      <a:prstGeom prst="rect">
                        <a:avLst/>
                      </a:prstGeom>
                      <a:solidFill>
                        <a:srgbClr val="FF0000">
                          <a:alpha val="22000"/>
                        </a:srgbClr>
                      </a:solidFill>
                      <a:ln w="9525">
                        <a:solidFill>
                          <a:srgbClr val="5F5F5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/>
          <p:cNvSpPr/>
          <p:nvPr/>
        </p:nvSpPr>
        <p:spPr>
          <a:xfrm>
            <a:off x="2499692" y="5610768"/>
            <a:ext cx="6520070" cy="91640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spcBef>
                <a:spcPct val="20000"/>
              </a:spcBef>
              <a:buClr>
                <a:srgbClr val="0000CC"/>
              </a:buClr>
              <a:buSzPct val="55000"/>
              <a:defRPr/>
            </a:pPr>
            <a:r>
              <a:rPr lang="en-US" altLang="zh-CN" sz="2400" kern="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—— </a:t>
            </a:r>
            <a:r>
              <a:rPr lang="zh-CN" altLang="zh-CN" sz="2400" dirty="0"/>
              <a:t>This case is called </a:t>
            </a:r>
            <a:r>
              <a:rPr lang="zh-CN" altLang="zh-CN" sz="2400" b="1" dirty="0">
                <a:solidFill>
                  <a:srgbClr val="C00000"/>
                </a:solidFill>
              </a:rPr>
              <a:t>distortionless</a:t>
            </a:r>
            <a:r>
              <a:rPr lang="en-US" altLang="zh-CN" sz="2400" b="1" dirty="0">
                <a:solidFill>
                  <a:srgbClr val="C00000"/>
                </a:solidFill>
              </a:rPr>
              <a:t> </a:t>
            </a:r>
            <a:r>
              <a:rPr lang="zh-CN" altLang="zh-CN" sz="2400" b="1" dirty="0">
                <a:solidFill>
                  <a:srgbClr val="C00000"/>
                </a:solidFill>
              </a:rPr>
              <a:t>transmission</a:t>
            </a:r>
            <a:r>
              <a:rPr lang="zh-CN" altLang="zh-CN" sz="2400" dirty="0"/>
              <a:t>.</a:t>
            </a:r>
            <a:endParaRPr lang="en-US" altLang="zh-CN" sz="2400" kern="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285750" indent="-285750">
              <a:lnSpc>
                <a:spcPts val="3200"/>
              </a:lnSpc>
              <a:spcBef>
                <a:spcPct val="20000"/>
              </a:spcBef>
              <a:buClr>
                <a:srgbClr val="0000CC"/>
              </a:buClr>
              <a:buSzPct val="55000"/>
              <a:defRPr/>
            </a:pPr>
            <a:r>
              <a:rPr lang="zh-CN" altLang="en-US" sz="2400" kern="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                                 无失真传输</a:t>
            </a:r>
            <a:endParaRPr lang="zh-CN" altLang="en-US" sz="2400" kern="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4" name="AutoShape 14"/>
          <p:cNvSpPr>
            <a:spLocks noChangeArrowheads="1"/>
          </p:cNvSpPr>
          <p:nvPr/>
        </p:nvSpPr>
        <p:spPr bwMode="auto">
          <a:xfrm rot="5400000">
            <a:off x="4048206" y="2129136"/>
            <a:ext cx="488951" cy="222251"/>
          </a:xfrm>
          <a:prstGeom prst="leftRightArrow">
            <a:avLst>
              <a:gd name="adj1" fmla="val 50000"/>
              <a:gd name="adj2" fmla="val 51972"/>
            </a:avLst>
          </a:prstGeom>
          <a:solidFill>
            <a:schemeClr val="bg2">
              <a:lumMod val="10000"/>
              <a:lumOff val="90000"/>
            </a:schemeClr>
          </a:solidFill>
          <a:ln w="9525">
            <a:solidFill>
              <a:srgbClr val="003399"/>
            </a:solidFill>
            <a:miter lim="800000"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541643" y="5030115"/>
            <a:ext cx="2951993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spcBef>
                <a:spcPct val="20000"/>
              </a:spcBef>
              <a:buClr>
                <a:srgbClr val="0000CC"/>
              </a:buClr>
              <a:buSzPct val="55000"/>
              <a:defRPr/>
            </a:pPr>
            <a:r>
              <a:rPr lang="zh-CN" altLang="zh-CN" sz="2400" dirty="0"/>
              <a:t>constant attenuation</a:t>
            </a:r>
            <a:endParaRPr lang="zh-CN" altLang="en-US" sz="2400" kern="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514021" y="4477106"/>
            <a:ext cx="2951993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spcBef>
                <a:spcPct val="20000"/>
              </a:spcBef>
              <a:buClr>
                <a:srgbClr val="0000CC"/>
              </a:buClr>
              <a:buSzPct val="55000"/>
              <a:defRPr/>
            </a:pPr>
            <a:r>
              <a:rPr lang="zh-CN" altLang="zh-CN" sz="2400" dirty="0"/>
              <a:t>constant </a:t>
            </a:r>
            <a:r>
              <a:rPr lang="en-US" altLang="zh-CN" sz="2400" dirty="0"/>
              <a:t>time delay</a:t>
            </a:r>
            <a:endParaRPr lang="zh-CN" altLang="en-US" sz="2400" kern="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4974534" y="4210695"/>
            <a:ext cx="0" cy="31805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3879573" y="4210695"/>
            <a:ext cx="0" cy="81942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5" grpId="0" animBg="1"/>
      <p:bldP spid="2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6058258" y="1735359"/>
          <a:ext cx="1644651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748665" imgH="254000" progId="Equation.DSMT4">
                  <p:embed/>
                </p:oleObj>
              </mc:Choice>
              <mc:Fallback>
                <p:oleObj name="Equation" r:id="rId1" imgW="748665" imgH="254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8258" y="1735359"/>
                        <a:ext cx="1644651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/>
        </p:nvGraphicFramePr>
        <p:xfrm>
          <a:off x="6137633" y="2460626"/>
          <a:ext cx="1485900" cy="552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公式" r:id="rId3" imgW="609600" imgH="228600" progId="Equation.3">
                  <p:embed/>
                </p:oleObj>
              </mc:Choice>
              <mc:Fallback>
                <p:oleObj name="公式" r:id="rId3" imgW="6096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7633" y="2460626"/>
                        <a:ext cx="1485900" cy="5524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7"/>
          <p:cNvGraphicFramePr>
            <a:graphicFrameLocks noChangeAspect="1"/>
          </p:cNvGraphicFramePr>
          <p:nvPr/>
        </p:nvGraphicFramePr>
        <p:xfrm>
          <a:off x="6147159" y="1030509"/>
          <a:ext cx="1555751" cy="552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5" imgW="723900" imgH="254000" progId="Equation.DSMT4">
                  <p:embed/>
                </p:oleObj>
              </mc:Choice>
              <mc:Fallback>
                <p:oleObj name="Equation" r:id="rId5" imgW="723900" imgH="2540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7159" y="1030509"/>
                        <a:ext cx="1555751" cy="5524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9"/>
          <p:cNvGraphicFramePr>
            <a:graphicFrameLocks noChangeAspect="1"/>
          </p:cNvGraphicFramePr>
          <p:nvPr/>
        </p:nvGraphicFramePr>
        <p:xfrm>
          <a:off x="971676" y="1089534"/>
          <a:ext cx="1625600" cy="577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7" imgW="723900" imgH="254000" progId="Equation.DSMT4">
                  <p:embed/>
                </p:oleObj>
              </mc:Choice>
              <mc:Fallback>
                <p:oleObj name="Equation" r:id="rId7" imgW="723900" imgH="254000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76" y="1089534"/>
                        <a:ext cx="1625600" cy="5778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0"/>
          <p:cNvGraphicFramePr>
            <a:graphicFrameLocks noChangeAspect="1"/>
          </p:cNvGraphicFramePr>
          <p:nvPr/>
        </p:nvGraphicFramePr>
        <p:xfrm>
          <a:off x="971679" y="1724533"/>
          <a:ext cx="184626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9" imgW="749300" imgH="228600" progId="Equation.DSMT4">
                  <p:embed/>
                </p:oleObj>
              </mc:Choice>
              <mc:Fallback>
                <p:oleObj name="Equation" r:id="rId9" imgW="749300" imgH="228600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79" y="1724533"/>
                        <a:ext cx="1846263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8"/>
          <p:cNvGraphicFramePr>
            <a:graphicFrameLocks noChangeAspect="1"/>
          </p:cNvGraphicFramePr>
          <p:nvPr/>
        </p:nvGraphicFramePr>
        <p:xfrm>
          <a:off x="1077727" y="2463471"/>
          <a:ext cx="1519237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11" imgW="15849600" imgH="5791200" progId="Equation.DSMT4">
                  <p:embed/>
                </p:oleObj>
              </mc:Choice>
              <mc:Fallback>
                <p:oleObj name="Equation" r:id="rId11" imgW="15849600" imgH="57912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7727" y="2463471"/>
                        <a:ext cx="1519237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Picture 4" descr="t3-14a1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44924"/>
            <a:ext cx="2793980" cy="1825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0" t="51772" r="-537" b="7312"/>
          <a:stretch>
            <a:fillRect/>
          </a:stretch>
        </p:blipFill>
        <p:spPr bwMode="auto">
          <a:xfrm>
            <a:off x="2912024" y="4123888"/>
            <a:ext cx="6231976" cy="1806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-1447535" y="4518072"/>
                <a:ext cx="112058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47535" y="4518072"/>
                <a:ext cx="1120587" cy="369332"/>
              </a:xfrm>
              <a:prstGeom prst="rect">
                <a:avLst/>
              </a:prstGeom>
              <a:blipFill rotWithShape="1">
                <a:blip r:embed="rId15"/>
                <a:stretch>
                  <a:fillRect l="33" t="-13" r="-50" b="1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/>
          <p:cNvSpPr txBox="1"/>
          <p:nvPr/>
        </p:nvSpPr>
        <p:spPr>
          <a:xfrm>
            <a:off x="296591" y="5826949"/>
            <a:ext cx="24973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Insertion loss</a:t>
            </a:r>
            <a:r>
              <a:rPr lang="zh-CN" altLang="en-US" dirty="0">
                <a:latin typeface="Times New Roman" panose="02020603050405020304" pitchFamily="18" charset="0"/>
              </a:rPr>
              <a:t>插入损耗</a:t>
            </a:r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2002867" y="3192699"/>
            <a:ext cx="7260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Typical telephone channel: </a:t>
            </a:r>
            <a:endParaRPr lang="zh-CN" altLang="en-US" sz="2800" dirty="0"/>
          </a:p>
        </p:txBody>
      </p:sp>
      <p:sp>
        <p:nvSpPr>
          <p:cNvPr id="21" name="箭头: 下 20"/>
          <p:cNvSpPr/>
          <p:nvPr/>
        </p:nvSpPr>
        <p:spPr bwMode="auto">
          <a:xfrm rot="16200000">
            <a:off x="4236816" y="811329"/>
            <a:ext cx="381827" cy="2410611"/>
          </a:xfrm>
          <a:prstGeom prst="downArrow">
            <a:avLst/>
          </a:prstGeom>
          <a:solidFill>
            <a:schemeClr val="accent1"/>
          </a:solidFill>
          <a:ln w="12700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532632" y="1582958"/>
            <a:ext cx="136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 practice</a:t>
            </a:r>
            <a:endParaRPr lang="zh-CN" altLang="en-US" dirty="0"/>
          </a:p>
        </p:txBody>
      </p:sp>
      <p:sp>
        <p:nvSpPr>
          <p:cNvPr id="25" name="文本框 24"/>
          <p:cNvSpPr txBox="1"/>
          <p:nvPr/>
        </p:nvSpPr>
        <p:spPr>
          <a:xfrm>
            <a:off x="2483867" y="6338762"/>
            <a:ext cx="7746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Decrease of SNR  and increase ISI 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( Inter-symbol interference</a:t>
            </a:r>
            <a:r>
              <a:rPr lang="en-US" altLang="zh-CN" dirty="0">
                <a:latin typeface="Arial" panose="020B0604020202020204" pitchFamily="34" charset="0"/>
              </a:rPr>
              <a:t>)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31276" y="-18862"/>
            <a:ext cx="9301291" cy="591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3.3 Influence of the channel characteristics on transmission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22" name="内容占位符 2"/>
          <p:cNvSpPr txBox="1"/>
          <p:nvPr/>
        </p:nvSpPr>
        <p:spPr>
          <a:xfrm>
            <a:off x="-65604" y="564654"/>
            <a:ext cx="9398171" cy="460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solidFill>
                  <a:srgbClr val="C00000"/>
                </a:solidFill>
              </a:rPr>
              <a:t>Practical constant parameter channel </a:t>
            </a:r>
            <a:r>
              <a:rPr lang="zh-CN" altLang="zh-CN" dirty="0"/>
              <a:t>are not ideal</a:t>
            </a:r>
            <a:endParaRPr lang="en-US" altLang="zh-CN" dirty="0"/>
          </a:p>
        </p:txBody>
      </p:sp>
      <p:sp>
        <p:nvSpPr>
          <p:cNvPr id="24" name="矩形: 圆角 16"/>
          <p:cNvSpPr/>
          <p:nvPr/>
        </p:nvSpPr>
        <p:spPr>
          <a:xfrm>
            <a:off x="4020411" y="3874159"/>
            <a:ext cx="3563146" cy="80020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L</a:t>
            </a:r>
            <a:r>
              <a:rPr lang="zh-CN" altLang="zh-CN" sz="2000" dirty="0"/>
              <a:t>inear compensation network</a:t>
            </a:r>
            <a:endParaRPr lang="en-US" altLang="zh-CN" sz="2000" dirty="0"/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线性补偿网络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20" grpId="0"/>
      <p:bldP spid="25" grpId="0"/>
      <p:bldP spid="1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276" y="-18862"/>
            <a:ext cx="9301291" cy="591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3.3 Influence of the channel characteristics on transmission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15" name="内容占位符 2"/>
          <p:cNvSpPr txBox="1"/>
          <p:nvPr/>
        </p:nvSpPr>
        <p:spPr>
          <a:xfrm>
            <a:off x="-65604" y="564654"/>
            <a:ext cx="9398171" cy="460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Practical constant parameter channel </a:t>
            </a:r>
            <a:r>
              <a:rPr lang="zh-CN" altLang="zh-CN" dirty="0"/>
              <a:t>are not ideal</a:t>
            </a:r>
            <a:endParaRPr lang="en-US" altLang="zh-CN" dirty="0"/>
          </a:p>
        </p:txBody>
      </p:sp>
      <p:sp>
        <p:nvSpPr>
          <p:cNvPr id="8" name="文本框 7"/>
          <p:cNvSpPr txBox="1"/>
          <p:nvPr/>
        </p:nvSpPr>
        <p:spPr>
          <a:xfrm>
            <a:off x="199405" y="1025416"/>
            <a:ext cx="880047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</a:rPr>
              <a:t>Example:</a:t>
            </a:r>
            <a:r>
              <a:rPr lang="zh-CN" altLang="en-US" sz="2800" b="1" dirty="0">
                <a:solidFill>
                  <a:srgbClr val="0070C0"/>
                </a:solidFill>
              </a:rPr>
              <a:t> </a:t>
            </a:r>
            <a:r>
              <a:rPr lang="zh-CN" altLang="zh-CN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equivalent model of a constant parameter channel is shown in </a:t>
            </a:r>
            <a:r>
              <a:rPr lang="en-US" altLang="zh-CN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</a:t>
            </a:r>
            <a:r>
              <a:rPr lang="zh-CN" altLang="zh-CN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Figure. Analyze what kinds of distortion will occur when the signal transmits through this channel.</a:t>
            </a:r>
            <a:endParaRPr lang="zh-CN" altLang="en-US" sz="28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4483" y="3319644"/>
            <a:ext cx="3732807" cy="2042704"/>
          </a:xfrm>
          <a:prstGeom prst="rect">
            <a:avLst/>
          </a:prstGeom>
        </p:spPr>
      </p:pic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6359456" y="2517004"/>
          <a:ext cx="2640427" cy="1823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2" imgW="1922145" imgH="1330960" progId="Equation.DSMT4">
                  <p:embed/>
                </p:oleObj>
              </mc:Choice>
              <mc:Fallback>
                <p:oleObj name="Equation" r:id="rId2" imgW="1922145" imgH="1330960" progId="Equation.DSMT4">
                  <p:embed/>
                  <p:pic>
                    <p:nvPicPr>
                      <p:cNvPr id="0" name="图片 -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359456" y="2517004"/>
                        <a:ext cx="2640427" cy="1823992"/>
                      </a:xfrm>
                      <a:prstGeom prst="rect">
                        <a:avLst/>
                      </a:prstGeom>
                      <a:ln w="22225">
                        <a:solidFill>
                          <a:srgbClr val="00B0F0"/>
                        </a:solidFill>
                        <a:prstDash val="dash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276" y="-18862"/>
            <a:ext cx="9301291" cy="591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3.3 Influence of the channel characteristics on transmission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15" name="内容占位符 2"/>
          <p:cNvSpPr txBox="1"/>
          <p:nvPr/>
        </p:nvSpPr>
        <p:spPr>
          <a:xfrm>
            <a:off x="-65604" y="564654"/>
            <a:ext cx="9398171" cy="460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Practical constant parameter channel </a:t>
            </a:r>
            <a:r>
              <a:rPr lang="zh-CN" altLang="zh-CN" dirty="0"/>
              <a:t>are not ideal</a:t>
            </a:r>
            <a:endParaRPr lang="en-US" altLang="zh-CN" dirty="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0666" y="923913"/>
            <a:ext cx="3732807" cy="204270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-65604" y="2960443"/>
            <a:ext cx="86116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/>
              <a:t>Solution The transfer function of this channel is:</a:t>
            </a:r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940" y="3322462"/>
            <a:ext cx="4108257" cy="780809"/>
          </a:xfrm>
          <a:prstGeom prst="rect">
            <a:avLst/>
          </a:prstGeom>
        </p:spPr>
      </p:pic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314107" y="1025416"/>
          <a:ext cx="2640427" cy="1823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1922145" imgH="1330960" progId="Equation.DSMT4">
                  <p:embed/>
                </p:oleObj>
              </mc:Choice>
              <mc:Fallback>
                <p:oleObj name="Equation" r:id="rId3" imgW="1922145" imgH="1330960" progId="Equation.DSMT4">
                  <p:embed/>
                  <p:pic>
                    <p:nvPicPr>
                      <p:cNvPr id="0" name="对象 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14107" y="1025416"/>
                        <a:ext cx="2640427" cy="1823992"/>
                      </a:xfrm>
                      <a:prstGeom prst="rect">
                        <a:avLst/>
                      </a:prstGeom>
                      <a:ln w="22225">
                        <a:solidFill>
                          <a:srgbClr val="00B0F0"/>
                        </a:solidFill>
                        <a:prstDash val="dash"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4237" y="4707346"/>
            <a:ext cx="6215080" cy="78228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649" y="5404729"/>
            <a:ext cx="6116458" cy="145327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0397" y="4026183"/>
            <a:ext cx="3269937" cy="87546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2616" y="3613461"/>
            <a:ext cx="5080813" cy="2363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7" name="矩形: 圆角 6"/>
          <p:cNvSpPr/>
          <p:nvPr/>
        </p:nvSpPr>
        <p:spPr bwMode="auto">
          <a:xfrm>
            <a:off x="372718" y="6049836"/>
            <a:ext cx="8572499" cy="480096"/>
          </a:xfrm>
          <a:prstGeom prst="roundRect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2400" b="1" dirty="0"/>
              <a:t>Most wireless channels belong to random parameter channels.</a:t>
            </a:r>
            <a:endParaRPr lang="zh-CN" altLang="en-US" sz="24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9513" y="1218571"/>
            <a:ext cx="9378476" cy="47897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Three characteristics:</a:t>
            </a:r>
            <a:endParaRPr lang="en-US" altLang="zh-CN" sz="2400" dirty="0"/>
          </a:p>
          <a:p>
            <a:pPr marL="0" indent="0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FontTx/>
              <a:buChar char="•"/>
              <a:defRPr/>
            </a:pPr>
            <a:r>
              <a:rPr kumimoji="0" lang="en-US" altLang="zh-CN" sz="2400" b="0" kern="1200" dirty="0">
                <a:solidFill>
                  <a:srgbClr val="7030A0"/>
                </a:solidFill>
                <a:latin typeface="Arial" panose="020B0604020202020204"/>
              </a:rPr>
              <a:t> Transmission attenuation of the signal is varying with time; </a:t>
            </a:r>
            <a:endParaRPr kumimoji="0" lang="zh-CN" altLang="zh-CN" sz="2400" b="0" kern="1200" dirty="0">
              <a:solidFill>
                <a:srgbClr val="7030A0"/>
              </a:solidFill>
              <a:latin typeface="Arial" panose="020B0604020202020204"/>
            </a:endParaRPr>
          </a:p>
          <a:p>
            <a:pPr marL="0" indent="0"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FontTx/>
              <a:buChar char="•"/>
              <a:defRPr/>
            </a:pPr>
            <a:r>
              <a:rPr kumimoji="0" lang="en-US" altLang="zh-CN" sz="2400" b="0" kern="1200" dirty="0">
                <a:solidFill>
                  <a:srgbClr val="7030A0"/>
                </a:solidFill>
                <a:latin typeface="Arial" panose="020B0604020202020204"/>
              </a:rPr>
              <a:t> Transmission delay of the signal varies with time;</a:t>
            </a:r>
            <a:endParaRPr kumimoji="0" lang="zh-CN" altLang="zh-CN" sz="2400" b="0" kern="1200" dirty="0">
              <a:solidFill>
                <a:srgbClr val="7030A0"/>
              </a:solidFill>
              <a:latin typeface="Arial" panose="020B0604020202020204"/>
            </a:endParaRPr>
          </a:p>
          <a:p>
            <a:pPr marL="0" indent="0">
              <a:lnSpc>
                <a:spcPct val="125000"/>
              </a:lnSpc>
              <a:spcBef>
                <a:spcPct val="50000"/>
              </a:spcBef>
              <a:buFontTx/>
              <a:buChar char="•"/>
              <a:defRPr/>
            </a:pPr>
            <a:r>
              <a:rPr kumimoji="0" lang="en-US" altLang="zh-CN" sz="2400" b="0" kern="1200" dirty="0">
                <a:solidFill>
                  <a:srgbClr val="7030A0"/>
                </a:solidFill>
                <a:latin typeface="Arial" panose="020B0604020202020204"/>
              </a:rPr>
              <a:t> Signal arrives at the receiver over several paths, i.e. </a:t>
            </a:r>
            <a:r>
              <a:rPr kumimoji="0" lang="en-US" altLang="zh-CN" sz="2400" b="1" kern="1200" dirty="0">
                <a:solidFill>
                  <a:srgbClr val="FF0000"/>
                </a:solidFill>
                <a:latin typeface="Arial" panose="020B0604020202020204"/>
              </a:rPr>
              <a:t>multi-path </a:t>
            </a:r>
            <a:r>
              <a:rPr kumimoji="0" lang="en-US" altLang="zh-CN" sz="2400" b="1" kern="1200" dirty="0">
                <a:solidFill>
                  <a:srgbClr val="C00000"/>
                </a:solidFill>
                <a:latin typeface="Arial" panose="020B0604020202020204"/>
              </a:rPr>
              <a:t>propagation</a:t>
            </a:r>
            <a:r>
              <a:rPr kumimoji="0" lang="en-US" altLang="zh-CN" sz="2400" b="0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</a:rPr>
              <a:t>(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</a:rPr>
              <a:t>多径传播</a:t>
            </a:r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</a:rPr>
              <a:t>)</a:t>
            </a:r>
            <a:r>
              <a:rPr kumimoji="0" lang="en-US" altLang="zh-CN" sz="2400" b="0" kern="1200" dirty="0">
                <a:solidFill>
                  <a:srgbClr val="7030A0"/>
                </a:solidFill>
                <a:latin typeface="Arial" panose="020B0604020202020204"/>
              </a:rPr>
              <a:t>phenomenon exists.</a:t>
            </a:r>
            <a:endParaRPr kumimoji="0" lang="zh-CN" altLang="zh-CN" sz="2400" b="0" kern="1200" dirty="0">
              <a:solidFill>
                <a:srgbClr val="7030A0"/>
              </a:solidFill>
              <a:latin typeface="Arial" panose="020B0604020202020204"/>
            </a:endParaRPr>
          </a:p>
          <a:p>
            <a:endParaRPr lang="en-US" altLang="zh-CN" sz="2400" dirty="0"/>
          </a:p>
        </p:txBody>
      </p:sp>
      <p:sp>
        <p:nvSpPr>
          <p:cNvPr id="9" name="文本框 8"/>
          <p:cNvSpPr txBox="1"/>
          <p:nvPr/>
        </p:nvSpPr>
        <p:spPr>
          <a:xfrm>
            <a:off x="-64604" y="49727"/>
            <a:ext cx="9755255" cy="112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3.3 Influence of the channel characteristics on transmission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>
              <a:lnSpc>
                <a:spcPct val="125000"/>
              </a:lnSpc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--</a:t>
            </a:r>
            <a:r>
              <a:rPr lang="zh-CN" altLang="zh-CN" sz="2800" b="1" dirty="0">
                <a:solidFill>
                  <a:srgbClr val="0070C0"/>
                </a:solidFill>
              </a:rPr>
              <a:t>Influence of </a:t>
            </a:r>
            <a:r>
              <a:rPr lang="zh-CN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parameter channels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zh-CN" altLang="zh-CN" sz="2800" b="1" dirty="0">
                <a:solidFill>
                  <a:srgbClr val="0070C0"/>
                </a:solidFill>
              </a:rPr>
              <a:t>transmissio</a:t>
            </a:r>
            <a:r>
              <a:rPr lang="en-US" altLang="zh-CN" sz="2800" b="1" dirty="0">
                <a:solidFill>
                  <a:srgbClr val="0070C0"/>
                </a:solidFill>
              </a:rPr>
              <a:t>n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156818" y="339163"/>
            <a:ext cx="8830364" cy="762000"/>
          </a:xfrm>
        </p:spPr>
        <p:txBody>
          <a:bodyPr>
            <a:normAutofit fontScale="90000"/>
          </a:bodyPr>
          <a:lstStyle/>
          <a:p>
            <a:pPr>
              <a:lnSpc>
                <a:spcPct val="125000"/>
              </a:lnSpc>
            </a:pPr>
            <a:r>
              <a:rPr lang="zh-CN" altLang="zh-CN" sz="3100" b="1" dirty="0">
                <a:latin typeface="+mn-lt"/>
                <a:ea typeface="+mn-ea"/>
                <a:cs typeface="+mn-cs"/>
              </a:rPr>
              <a:t>Influence of Random parameter channels</a:t>
            </a:r>
            <a:r>
              <a:rPr lang="en-US" altLang="zh-CN" sz="3100" b="1" dirty="0">
                <a:latin typeface="+mn-lt"/>
                <a:ea typeface="+mn-ea"/>
                <a:cs typeface="+mn-cs"/>
              </a:rPr>
              <a:t> on </a:t>
            </a:r>
            <a:r>
              <a:rPr lang="zh-CN" altLang="zh-CN" sz="3100" b="1" dirty="0">
                <a:latin typeface="+mn-lt"/>
                <a:ea typeface="+mn-ea"/>
                <a:cs typeface="+mn-cs"/>
              </a:rPr>
              <a:t>transmissio</a:t>
            </a:r>
            <a:r>
              <a:rPr lang="en-US" altLang="zh-CN" sz="3100" b="1" dirty="0">
                <a:latin typeface="+mn-lt"/>
                <a:ea typeface="+mn-ea"/>
                <a:cs typeface="+mn-cs"/>
              </a:rPr>
              <a:t>n</a:t>
            </a:r>
            <a:br>
              <a:rPr lang="en-US" altLang="zh-CN" sz="3100" b="1" dirty="0">
                <a:latin typeface="+mn-lt"/>
                <a:ea typeface="+mn-ea"/>
                <a:cs typeface="+mn-cs"/>
              </a:rPr>
            </a:br>
            <a:r>
              <a:rPr lang="en-US" altLang="zh-CN" sz="2800" dirty="0">
                <a:solidFill>
                  <a:srgbClr val="0070C0"/>
                </a:solidFill>
                <a:latin typeface="Comic Sans MS" panose="030F0702030302020204" pitchFamily="66" charset="0"/>
              </a:rPr>
              <a:t>--</a:t>
            </a:r>
            <a:r>
              <a:rPr lang="en-US" altLang="zh-CN" sz="31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Multipath effect</a:t>
            </a:r>
            <a:r>
              <a:rPr lang="en-US" altLang="zh-CN" sz="31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(</a:t>
            </a:r>
            <a:r>
              <a:rPr lang="zh-CN" altLang="en-US" sz="31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多径效应</a:t>
            </a:r>
            <a:r>
              <a:rPr lang="en-US" altLang="zh-CN" sz="31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):</a:t>
            </a:r>
            <a:r>
              <a:rPr lang="zh-CN" altLang="zh-CN" sz="3200" dirty="0"/>
              <a:t> </a:t>
            </a:r>
            <a:br>
              <a:rPr lang="en-US" altLang="zh-CN" sz="3200" dirty="0"/>
            </a:br>
            <a:r>
              <a:rPr lang="en-US" altLang="zh-CN" sz="3200" dirty="0"/>
              <a:t>      </a:t>
            </a:r>
            <a:r>
              <a:rPr lang="zh-CN" altLang="zh-CN" sz="31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The effect of multipath propagation on signals</a:t>
            </a:r>
            <a:r>
              <a:rPr lang="en-US" altLang="zh-CN" sz="31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.</a:t>
            </a:r>
            <a:endParaRPr lang="en-US" altLang="zh-CN" sz="3100" b="1" dirty="0">
              <a:solidFill>
                <a:srgbClr val="0070C0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0964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503" y="1612364"/>
            <a:ext cx="6157639" cy="2864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40965" name="Rectangle 5"/>
          <p:cNvSpPr>
            <a:spLocks noChangeArrowheads="1"/>
          </p:cNvSpPr>
          <p:nvPr/>
        </p:nvSpPr>
        <p:spPr bwMode="auto">
          <a:xfrm>
            <a:off x="1143317" y="5508278"/>
            <a:ext cx="6857366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2"/>
              </a:buBlip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kumimoji="1" sz="2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algn="ctr" defTabSz="914400" fontAlgn="base">
              <a:lnSpc>
                <a:spcPct val="90000"/>
              </a:lnSpc>
              <a:spcAft>
                <a:spcPct val="0"/>
              </a:spcAft>
              <a:buClrTx/>
              <a:buSzPct val="135000"/>
              <a:buNone/>
              <a:defRPr/>
            </a:pPr>
            <a:r>
              <a:rPr lang="en-US" altLang="zh-CN" sz="2000" b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2000" dirty="0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Figure. 3.3.3</a:t>
            </a:r>
            <a:r>
              <a:rPr lang="en-US" altLang="zh-CN" sz="2000" b="0" dirty="0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Model of a multipath channel.</a:t>
            </a:r>
            <a:endParaRPr lang="en-US" altLang="zh-CN" sz="2000" b="0" dirty="0">
              <a:solidFill>
                <a:srgbClr val="00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graphicFrame>
        <p:nvGraphicFramePr>
          <p:cNvPr id="13" name="Object 4"/>
          <p:cNvGraphicFramePr>
            <a:graphicFrameLocks noChangeAspect="1"/>
          </p:cNvGraphicFramePr>
          <p:nvPr/>
        </p:nvGraphicFramePr>
        <p:xfrm>
          <a:off x="344583" y="4165690"/>
          <a:ext cx="2300287" cy="552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22860000" imgH="5486400" progId="Equation.DSMT4">
                  <p:embed/>
                </p:oleObj>
              </mc:Choice>
              <mc:Fallback>
                <p:oleObj name="Equation" r:id="rId3" imgW="22860000" imgH="5486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583" y="4165690"/>
                        <a:ext cx="2300287" cy="5524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485938" y="4581926"/>
            <a:ext cx="243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Constant amplitude </a:t>
            </a:r>
            <a:endParaRPr lang="en-US" altLang="zh-CN" dirty="0"/>
          </a:p>
          <a:p>
            <a:r>
              <a:rPr lang="en-US" altLang="zh-CN" dirty="0"/>
              <a:t>&amp;single frequency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848311" y="4027542"/>
            <a:ext cx="18097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rgbClr val="FF0000"/>
                </a:solidFill>
              </a:rPr>
              <a:t>?</a:t>
            </a:r>
            <a:endParaRPr lang="zh-CN" altLang="en-US" sz="6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8" name="Rectangle 7"/>
          <p:cNvSpPr>
            <a:spLocks noChangeArrowheads="1"/>
          </p:cNvSpPr>
          <p:nvPr/>
        </p:nvSpPr>
        <p:spPr bwMode="auto">
          <a:xfrm>
            <a:off x="3" y="-7532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1"/>
              </a:buBlip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kumimoji="1" sz="2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kumimoji="0" lang="zh-CN" altLang="en-US" sz="18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4042" name="Rectangle 13"/>
          <p:cNvSpPr>
            <a:spLocks noChangeArrowheads="1"/>
          </p:cNvSpPr>
          <p:nvPr/>
        </p:nvSpPr>
        <p:spPr bwMode="auto">
          <a:xfrm>
            <a:off x="3" y="-7532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1"/>
              </a:buBlip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kumimoji="1" sz="2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kumimoji="0" lang="zh-CN" altLang="en-US" sz="18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0" name="Object 4"/>
          <p:cNvGraphicFramePr>
            <a:graphicFrameLocks noChangeAspect="1"/>
          </p:cNvGraphicFramePr>
          <p:nvPr/>
        </p:nvGraphicFramePr>
        <p:xfrm>
          <a:off x="2726970" y="1026731"/>
          <a:ext cx="3281363" cy="552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2" imgW="32613600" imgH="5486400" progId="Equation.DSMT4">
                  <p:embed/>
                </p:oleObj>
              </mc:Choice>
              <mc:Fallback>
                <p:oleObj name="Equation" r:id="rId2" imgW="32613600" imgH="5486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6970" y="1026731"/>
                        <a:ext cx="3281363" cy="55245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1FFE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/>
          <p:cNvSpPr>
            <a:spLocks noGrp="1" noChangeArrowheads="1"/>
          </p:cNvSpPr>
          <p:nvPr/>
        </p:nvSpPr>
        <p:spPr>
          <a:xfrm>
            <a:off x="-115955" y="1444496"/>
            <a:ext cx="9658624" cy="55435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1"/>
              </a:buBlip>
              <a:defRPr kumimoji="1"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kumimoji="1" sz="22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j-lt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j-lt"/>
                <a:ea typeface="宋体" panose="02010600030101010101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j-lt"/>
                <a:ea typeface="宋体" panose="02010600030101010101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j-lt"/>
                <a:ea typeface="宋体" panose="02010600030101010101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j-lt"/>
                <a:ea typeface="宋体" panose="02010600030101010101" pitchFamily="2" charset="-122"/>
              </a:defRPr>
            </a:lvl9pPr>
          </a:lstStyle>
          <a:p>
            <a:pPr lvl="2">
              <a:buFont typeface="Wingdings" panose="05000000000000000000" pitchFamily="2" charset="2"/>
              <a:buNone/>
            </a:pPr>
            <a:r>
              <a:rPr lang="en-US" altLang="zh-CN" dirty="0"/>
              <a:t>The receiving signal is </a:t>
            </a:r>
            <a:endParaRPr lang="en-US" altLang="zh-CN" dirty="0"/>
          </a:p>
          <a:p>
            <a:pPr lvl="2">
              <a:buFont typeface="Wingdings" panose="05000000000000000000" pitchFamily="2" charset="2"/>
              <a:buNone/>
            </a:pPr>
            <a:endParaRPr lang="en-US" altLang="zh-CN" dirty="0"/>
          </a:p>
          <a:p>
            <a:pPr lvl="2">
              <a:buFont typeface="Wingdings" panose="05000000000000000000" pitchFamily="2" charset="2"/>
              <a:buNone/>
            </a:pPr>
            <a:r>
              <a:rPr lang="zh-CN" altLang="en-US" dirty="0"/>
              <a:t>								             </a:t>
            </a:r>
            <a:endParaRPr lang="en-US" altLang="zh-CN" dirty="0"/>
          </a:p>
          <a:p>
            <a:pPr lvl="2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	</a:t>
            </a:r>
            <a:endParaRPr lang="en-US" altLang="zh-CN" dirty="0"/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dirty="0"/>
              <a:t>	</a:t>
            </a:r>
            <a:endParaRPr lang="en-US" altLang="zh-CN" dirty="0"/>
          </a:p>
        </p:txBody>
      </p:sp>
      <p:pic>
        <p:nvPicPr>
          <p:cNvPr id="6" name="Object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07064" y="1722875"/>
            <a:ext cx="5445125" cy="765175"/>
          </a:xfrm>
          <a:noFill/>
          <a:ln>
            <a:noFill/>
          </a:ln>
        </p:spPr>
      </p:pic>
      <p:pic>
        <p:nvPicPr>
          <p:cNvPr id="10" name="Object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75676" y="2689664"/>
            <a:ext cx="6075363" cy="819150"/>
          </a:xfrm>
          <a:noFill/>
          <a:ln>
            <a:noFill/>
          </a:ln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4957" y="1779352"/>
            <a:ext cx="6056745" cy="852391"/>
          </a:xfrm>
          <a:prstGeom prst="rect">
            <a:avLst/>
          </a:prstGeom>
        </p:spPr>
      </p:pic>
      <p:sp>
        <p:nvSpPr>
          <p:cNvPr id="38" name="文本框 37"/>
          <p:cNvSpPr txBox="1"/>
          <p:nvPr/>
        </p:nvSpPr>
        <p:spPr>
          <a:xfrm>
            <a:off x="0" y="15672"/>
            <a:ext cx="9144000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+mn-lt"/>
                <a:ea typeface="+mn-ea"/>
                <a:cs typeface="+mn-cs"/>
              </a:rPr>
              <a:t>Influence of Random parameter channels</a:t>
            </a:r>
            <a:r>
              <a:rPr lang="en-US" altLang="zh-CN" sz="2400" b="1" dirty="0">
                <a:latin typeface="+mn-lt"/>
                <a:ea typeface="+mn-ea"/>
                <a:cs typeface="+mn-cs"/>
              </a:rPr>
              <a:t> on </a:t>
            </a:r>
            <a:r>
              <a:rPr lang="zh-CN" altLang="zh-CN" sz="2400" b="1" dirty="0">
                <a:latin typeface="+mn-lt"/>
                <a:ea typeface="+mn-ea"/>
                <a:cs typeface="+mn-cs"/>
              </a:rPr>
              <a:t>transmissio</a:t>
            </a:r>
            <a:r>
              <a:rPr lang="en-US" altLang="zh-CN" sz="2400" b="1" dirty="0">
                <a:latin typeface="+mn-lt"/>
                <a:ea typeface="+mn-ea"/>
                <a:cs typeface="+mn-cs"/>
              </a:rPr>
              <a:t>n</a:t>
            </a:r>
            <a:br>
              <a:rPr lang="en-US" altLang="zh-CN" sz="2400" b="1" dirty="0">
                <a:latin typeface="+mn-lt"/>
                <a:ea typeface="+mn-ea"/>
                <a:cs typeface="+mn-cs"/>
              </a:rPr>
            </a:br>
            <a:r>
              <a:rPr lang="en-US" altLang="zh-CN" sz="2400" dirty="0">
                <a:solidFill>
                  <a:srgbClr val="0070C0"/>
                </a:solidFill>
                <a:latin typeface="Comic Sans MS" panose="030F0702030302020204" pitchFamily="66" charset="0"/>
              </a:rPr>
              <a:t>--</a:t>
            </a:r>
            <a:r>
              <a:rPr lang="en-US" altLang="zh-CN" sz="24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Multipath effect</a:t>
            </a:r>
            <a:r>
              <a:rPr lang="en-US" altLang="zh-CN" sz="24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(</a:t>
            </a:r>
            <a:r>
              <a:rPr lang="zh-CN" altLang="en-US" sz="24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多径效应</a:t>
            </a:r>
            <a:r>
              <a:rPr lang="en-US" altLang="zh-CN" sz="24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):</a:t>
            </a:r>
            <a:r>
              <a:rPr lang="zh-CN" altLang="zh-CN" sz="2400" dirty="0"/>
              <a:t> 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8" name="Rectangle 7"/>
          <p:cNvSpPr>
            <a:spLocks noChangeArrowheads="1"/>
          </p:cNvSpPr>
          <p:nvPr/>
        </p:nvSpPr>
        <p:spPr bwMode="auto">
          <a:xfrm>
            <a:off x="3" y="-7532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1"/>
              </a:buBlip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kumimoji="1" sz="2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kumimoji="0" lang="zh-CN" altLang="en-US" sz="18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4039" name="Rectangle 9"/>
          <p:cNvSpPr>
            <a:spLocks noChangeArrowheads="1"/>
          </p:cNvSpPr>
          <p:nvPr/>
        </p:nvSpPr>
        <p:spPr bwMode="auto">
          <a:xfrm>
            <a:off x="39760" y="35298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1"/>
              </a:buBlip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kumimoji="1" sz="2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kumimoji="0" lang="zh-CN" altLang="en-US" sz="18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4042" name="Rectangle 13"/>
          <p:cNvSpPr>
            <a:spLocks noChangeArrowheads="1"/>
          </p:cNvSpPr>
          <p:nvPr/>
        </p:nvSpPr>
        <p:spPr bwMode="auto">
          <a:xfrm>
            <a:off x="3" y="-7532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1"/>
              </a:buBlip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kumimoji="1" sz="2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kumimoji="0" lang="zh-CN" altLang="en-US" sz="18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4044" name="Rectangle 15"/>
          <p:cNvSpPr>
            <a:spLocks noChangeArrowheads="1"/>
          </p:cNvSpPr>
          <p:nvPr/>
        </p:nvSpPr>
        <p:spPr bwMode="auto">
          <a:xfrm>
            <a:off x="39760" y="35298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1"/>
              </a:buBlip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kumimoji="1" sz="2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kumimoji="0" lang="zh-CN" altLang="en-US" sz="18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4048" name="Rectangle 19"/>
          <p:cNvSpPr>
            <a:spLocks noChangeArrowheads="1"/>
          </p:cNvSpPr>
          <p:nvPr/>
        </p:nvSpPr>
        <p:spPr bwMode="auto">
          <a:xfrm>
            <a:off x="39760" y="349655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1"/>
              </a:buBlip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kumimoji="1" sz="2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kumimoji="0" lang="zh-CN" altLang="en-US" sz="18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4050" name="Rectangle 21"/>
          <p:cNvSpPr>
            <a:spLocks noChangeArrowheads="1"/>
          </p:cNvSpPr>
          <p:nvPr/>
        </p:nvSpPr>
        <p:spPr bwMode="auto">
          <a:xfrm>
            <a:off x="39760" y="342035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1"/>
              </a:buBlip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kumimoji="1" sz="2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kumimoji="0" lang="zh-CN" altLang="en-US" sz="18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0" name="Object 4"/>
          <p:cNvGraphicFramePr>
            <a:graphicFrameLocks noChangeAspect="1"/>
          </p:cNvGraphicFramePr>
          <p:nvPr/>
        </p:nvGraphicFramePr>
        <p:xfrm>
          <a:off x="2726970" y="1026731"/>
          <a:ext cx="3281363" cy="552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2" imgW="32613600" imgH="5486400" progId="Equation.DSMT4">
                  <p:embed/>
                </p:oleObj>
              </mc:Choice>
              <mc:Fallback>
                <p:oleObj name="Equation" r:id="rId2" imgW="32613600" imgH="5486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6970" y="1026731"/>
                        <a:ext cx="3281363" cy="55245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1FFE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/>
          <p:cNvSpPr>
            <a:spLocks noGrp="1" noChangeArrowheads="1"/>
          </p:cNvSpPr>
          <p:nvPr/>
        </p:nvSpPr>
        <p:spPr>
          <a:xfrm>
            <a:off x="-115955" y="1444496"/>
            <a:ext cx="9658624" cy="55435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1"/>
              </a:buBlip>
              <a:defRPr kumimoji="1"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kumimoji="1" sz="22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j-lt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j-lt"/>
                <a:ea typeface="宋体" panose="02010600030101010101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j-lt"/>
                <a:ea typeface="宋体" panose="02010600030101010101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j-lt"/>
                <a:ea typeface="宋体" panose="02010600030101010101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j-lt"/>
                <a:ea typeface="宋体" panose="02010600030101010101" pitchFamily="2" charset="-122"/>
              </a:defRPr>
            </a:lvl9pPr>
          </a:lstStyle>
          <a:p>
            <a:pPr lvl="2">
              <a:buFont typeface="Wingdings" panose="05000000000000000000" pitchFamily="2" charset="2"/>
              <a:buNone/>
            </a:pPr>
            <a:r>
              <a:rPr lang="en-US" altLang="zh-CN" dirty="0"/>
              <a:t>The receiving signal is </a:t>
            </a:r>
            <a:endParaRPr lang="en-US" altLang="zh-CN" dirty="0"/>
          </a:p>
          <a:p>
            <a:pPr lvl="2">
              <a:buFont typeface="Wingdings" panose="05000000000000000000" pitchFamily="2" charset="2"/>
              <a:buNone/>
            </a:pPr>
            <a:endParaRPr lang="en-US" altLang="zh-CN" dirty="0"/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dirty="0"/>
              <a:t>	It can be written as :</a:t>
            </a:r>
            <a:r>
              <a:rPr lang="zh-CN" altLang="en-US" dirty="0"/>
              <a:t> </a:t>
            </a:r>
            <a:endParaRPr lang="zh-CN" altLang="en-US" dirty="0"/>
          </a:p>
          <a:p>
            <a:pPr lvl="2">
              <a:buFont typeface="Wingdings" panose="05000000000000000000" pitchFamily="2" charset="2"/>
              <a:buNone/>
            </a:pPr>
            <a:r>
              <a:rPr lang="zh-CN" altLang="en-US" dirty="0"/>
              <a:t>								             </a:t>
            </a:r>
            <a:endParaRPr lang="en-US" altLang="zh-CN" dirty="0"/>
          </a:p>
          <a:p>
            <a:pPr lvl="2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	</a:t>
            </a:r>
            <a:endParaRPr lang="zh-CN" altLang="en-US" b="0" dirty="0"/>
          </a:p>
        </p:txBody>
      </p:sp>
      <p:pic>
        <p:nvPicPr>
          <p:cNvPr id="6" name="Object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07064" y="1722875"/>
            <a:ext cx="5445125" cy="765175"/>
          </a:xfrm>
          <a:noFill/>
          <a:ln>
            <a:noFill/>
          </a:ln>
        </p:spPr>
      </p:pic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156014" y="3345302"/>
            <a:ext cx="3098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1"/>
              </a:buBlip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kumimoji="1" sz="2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Object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75676" y="2689664"/>
            <a:ext cx="6075363" cy="819150"/>
          </a:xfrm>
          <a:noFill/>
          <a:ln>
            <a:noFill/>
          </a:ln>
        </p:spPr>
      </p:pic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156014" y="3345302"/>
            <a:ext cx="3098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1"/>
              </a:buBlip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kumimoji="1" sz="2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2" name="Object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02252" y="3643752"/>
            <a:ext cx="5626100" cy="763588"/>
          </a:xfrm>
          <a:noFill/>
          <a:ln>
            <a:noFill/>
          </a:ln>
        </p:spPr>
      </p:pic>
      <p:sp>
        <p:nvSpPr>
          <p:cNvPr id="13" name="AutoShape 16"/>
          <p:cNvSpPr/>
          <p:nvPr/>
        </p:nvSpPr>
        <p:spPr bwMode="auto">
          <a:xfrm rot="16200000">
            <a:off x="2988883" y="2814545"/>
            <a:ext cx="315913" cy="1517600"/>
          </a:xfrm>
          <a:prstGeom prst="leftBrace">
            <a:avLst>
              <a:gd name="adj1" fmla="val 46273"/>
              <a:gd name="adj2" fmla="val 37854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1"/>
              </a:buBlip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kumimoji="1" sz="2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AutoShape 17"/>
          <p:cNvSpPr/>
          <p:nvPr/>
        </p:nvSpPr>
        <p:spPr bwMode="auto">
          <a:xfrm rot="-5400000">
            <a:off x="5820118" y="2796141"/>
            <a:ext cx="315913" cy="1615846"/>
          </a:xfrm>
          <a:prstGeom prst="leftBrace">
            <a:avLst>
              <a:gd name="adj1" fmla="val 46273"/>
              <a:gd name="adj2" fmla="val 26107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1"/>
              </a:buBlip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kumimoji="1" sz="2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/>
          <p:cNvSpPr>
            <a:spLocks noChangeArrowheads="1"/>
          </p:cNvSpPr>
          <p:nvPr/>
        </p:nvSpPr>
        <p:spPr bwMode="auto">
          <a:xfrm>
            <a:off x="156014" y="3311965"/>
            <a:ext cx="3098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1"/>
              </a:buBlip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kumimoji="1" sz="2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6" name="Object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62614" y="4683093"/>
            <a:ext cx="2205038" cy="450850"/>
          </a:xfrm>
          <a:noFill/>
          <a:ln>
            <a:noFill/>
          </a:ln>
        </p:spPr>
      </p:pic>
      <p:sp>
        <p:nvSpPr>
          <p:cNvPr id="17" name="Rectangle 21"/>
          <p:cNvSpPr>
            <a:spLocks noChangeArrowheads="1"/>
          </p:cNvSpPr>
          <p:nvPr/>
        </p:nvSpPr>
        <p:spPr bwMode="auto">
          <a:xfrm>
            <a:off x="156014" y="3235765"/>
            <a:ext cx="3098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1"/>
              </a:buBlip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kumimoji="1" sz="2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8" name="Object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53102" y="5163788"/>
            <a:ext cx="2025650" cy="787400"/>
          </a:xfrm>
          <a:noFill/>
          <a:ln>
            <a:noFill/>
          </a:ln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21022" y="1826926"/>
            <a:ext cx="6075363" cy="822117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90667" y="2770905"/>
            <a:ext cx="6076994" cy="819156"/>
          </a:xfrm>
          <a:prstGeom prst="rect">
            <a:avLst/>
          </a:prstGeom>
        </p:spPr>
      </p:pic>
      <p:sp>
        <p:nvSpPr>
          <p:cNvPr id="38" name="文本框 37"/>
          <p:cNvSpPr txBox="1"/>
          <p:nvPr/>
        </p:nvSpPr>
        <p:spPr>
          <a:xfrm>
            <a:off x="0" y="15672"/>
            <a:ext cx="9144000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+mn-lt"/>
                <a:ea typeface="+mn-ea"/>
                <a:cs typeface="+mn-cs"/>
              </a:rPr>
              <a:t>Influence of Random parameter channels</a:t>
            </a:r>
            <a:r>
              <a:rPr lang="en-US" altLang="zh-CN" sz="2400" b="1" dirty="0">
                <a:latin typeface="+mn-lt"/>
                <a:ea typeface="+mn-ea"/>
                <a:cs typeface="+mn-cs"/>
              </a:rPr>
              <a:t> on </a:t>
            </a:r>
            <a:r>
              <a:rPr lang="zh-CN" altLang="zh-CN" sz="2400" b="1" dirty="0">
                <a:latin typeface="+mn-lt"/>
                <a:ea typeface="+mn-ea"/>
                <a:cs typeface="+mn-cs"/>
              </a:rPr>
              <a:t>transmissio</a:t>
            </a:r>
            <a:r>
              <a:rPr lang="en-US" altLang="zh-CN" sz="2400" b="1" dirty="0">
                <a:latin typeface="+mn-lt"/>
                <a:ea typeface="+mn-ea"/>
                <a:cs typeface="+mn-cs"/>
              </a:rPr>
              <a:t>n</a:t>
            </a:r>
            <a:br>
              <a:rPr lang="en-US" altLang="zh-CN" sz="2400" b="1" dirty="0">
                <a:latin typeface="+mn-lt"/>
                <a:ea typeface="+mn-ea"/>
                <a:cs typeface="+mn-cs"/>
              </a:rPr>
            </a:br>
            <a:r>
              <a:rPr lang="en-US" altLang="zh-CN" sz="2400" dirty="0">
                <a:solidFill>
                  <a:srgbClr val="0070C0"/>
                </a:solidFill>
                <a:latin typeface="Comic Sans MS" panose="030F0702030302020204" pitchFamily="66" charset="0"/>
              </a:rPr>
              <a:t>--</a:t>
            </a:r>
            <a:r>
              <a:rPr lang="en-US" altLang="zh-CN" sz="24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Multipath effect</a:t>
            </a:r>
            <a:r>
              <a:rPr lang="en-US" altLang="zh-CN" sz="24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(</a:t>
            </a:r>
            <a:r>
              <a:rPr lang="zh-CN" altLang="en-US" sz="24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多径效应</a:t>
            </a:r>
            <a:r>
              <a:rPr lang="en-US" altLang="zh-CN" sz="24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):</a:t>
            </a:r>
            <a:r>
              <a:rPr lang="zh-CN" altLang="zh-CN" sz="2400" dirty="0"/>
              <a:t> 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8" name="Rectangle 7"/>
          <p:cNvSpPr>
            <a:spLocks noChangeArrowheads="1"/>
          </p:cNvSpPr>
          <p:nvPr/>
        </p:nvSpPr>
        <p:spPr bwMode="auto">
          <a:xfrm>
            <a:off x="3" y="-7532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1"/>
              </a:buBlip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kumimoji="1" sz="2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kumimoji="0" lang="zh-CN" altLang="en-US" sz="18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4039" name="Rectangle 9"/>
          <p:cNvSpPr>
            <a:spLocks noChangeArrowheads="1"/>
          </p:cNvSpPr>
          <p:nvPr/>
        </p:nvSpPr>
        <p:spPr bwMode="auto">
          <a:xfrm>
            <a:off x="39760" y="35298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1"/>
              </a:buBlip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kumimoji="1" sz="2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kumimoji="0" lang="zh-CN" altLang="en-US" sz="18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4042" name="Rectangle 13"/>
          <p:cNvSpPr>
            <a:spLocks noChangeArrowheads="1"/>
          </p:cNvSpPr>
          <p:nvPr/>
        </p:nvSpPr>
        <p:spPr bwMode="auto">
          <a:xfrm>
            <a:off x="3" y="-7532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1"/>
              </a:buBlip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kumimoji="1" sz="2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kumimoji="0" lang="zh-CN" altLang="en-US" sz="18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4044" name="Rectangle 15"/>
          <p:cNvSpPr>
            <a:spLocks noChangeArrowheads="1"/>
          </p:cNvSpPr>
          <p:nvPr/>
        </p:nvSpPr>
        <p:spPr bwMode="auto">
          <a:xfrm>
            <a:off x="39760" y="35298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1"/>
              </a:buBlip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kumimoji="1" sz="2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kumimoji="0" lang="zh-CN" altLang="en-US" sz="18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4048" name="Rectangle 19"/>
          <p:cNvSpPr>
            <a:spLocks noChangeArrowheads="1"/>
          </p:cNvSpPr>
          <p:nvPr/>
        </p:nvSpPr>
        <p:spPr bwMode="auto">
          <a:xfrm>
            <a:off x="39760" y="349655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1"/>
              </a:buBlip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kumimoji="1" sz="2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kumimoji="0" lang="zh-CN" altLang="en-US" sz="18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4050" name="Rectangle 21"/>
          <p:cNvSpPr>
            <a:spLocks noChangeArrowheads="1"/>
          </p:cNvSpPr>
          <p:nvPr/>
        </p:nvSpPr>
        <p:spPr bwMode="auto">
          <a:xfrm>
            <a:off x="39760" y="342035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1"/>
              </a:buBlip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kumimoji="1" sz="2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kumimoji="0" lang="zh-CN" altLang="en-US" sz="18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0" name="Object 4"/>
          <p:cNvGraphicFramePr>
            <a:graphicFrameLocks noChangeAspect="1"/>
          </p:cNvGraphicFramePr>
          <p:nvPr/>
        </p:nvGraphicFramePr>
        <p:xfrm>
          <a:off x="2726970" y="1026731"/>
          <a:ext cx="3281363" cy="552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2" imgW="32613600" imgH="5486400" progId="Equation.DSMT4">
                  <p:embed/>
                </p:oleObj>
              </mc:Choice>
              <mc:Fallback>
                <p:oleObj name="Equation" r:id="rId2" imgW="32613600" imgH="5486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6970" y="1026731"/>
                        <a:ext cx="3281363" cy="55245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1FFE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2402551" y="6096155"/>
            <a:ext cx="52686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Narrowband signal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/>
        </p:nvSpPr>
        <p:spPr>
          <a:xfrm>
            <a:off x="-115955" y="1444496"/>
            <a:ext cx="9658624" cy="55435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1"/>
              </a:buBlip>
              <a:defRPr kumimoji="1"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kumimoji="1" sz="22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j-lt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j-lt"/>
                <a:ea typeface="宋体" panose="02010600030101010101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j-lt"/>
                <a:ea typeface="宋体" panose="02010600030101010101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j-lt"/>
                <a:ea typeface="宋体" panose="02010600030101010101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j-lt"/>
                <a:ea typeface="宋体" panose="02010600030101010101" pitchFamily="2" charset="-122"/>
              </a:defRPr>
            </a:lvl9pPr>
          </a:lstStyle>
          <a:p>
            <a:pPr lvl="2">
              <a:buFont typeface="Wingdings" panose="05000000000000000000" pitchFamily="2" charset="2"/>
              <a:buNone/>
            </a:pPr>
            <a:r>
              <a:rPr lang="en-US" altLang="zh-CN" dirty="0"/>
              <a:t>The receiving signal is </a:t>
            </a:r>
            <a:endParaRPr lang="en-US" altLang="zh-CN" dirty="0"/>
          </a:p>
          <a:p>
            <a:pPr lvl="2">
              <a:buFont typeface="Wingdings" panose="05000000000000000000" pitchFamily="2" charset="2"/>
              <a:buNone/>
            </a:pPr>
            <a:endParaRPr lang="en-US" altLang="zh-CN" dirty="0"/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dirty="0"/>
              <a:t>	It can be written as :</a:t>
            </a:r>
            <a:r>
              <a:rPr lang="zh-CN" altLang="en-US" dirty="0"/>
              <a:t> </a:t>
            </a:r>
            <a:endParaRPr lang="zh-CN" altLang="en-US" dirty="0"/>
          </a:p>
          <a:p>
            <a:pPr lvl="2">
              <a:buFont typeface="Wingdings" panose="05000000000000000000" pitchFamily="2" charset="2"/>
              <a:buNone/>
            </a:pPr>
            <a:r>
              <a:rPr lang="zh-CN" altLang="en-US" dirty="0"/>
              <a:t>								             </a:t>
            </a:r>
            <a:endParaRPr lang="en-US" altLang="zh-CN" dirty="0"/>
          </a:p>
          <a:p>
            <a:pPr lvl="2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	</a:t>
            </a:r>
            <a:endParaRPr lang="en-US" altLang="zh-CN" dirty="0"/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dirty="0"/>
              <a:t>	</a:t>
            </a:r>
            <a:endParaRPr lang="en-US" altLang="zh-CN" dirty="0"/>
          </a:p>
          <a:p>
            <a:pPr lvl="2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b="0" dirty="0"/>
              <a:t>    where</a:t>
            </a:r>
            <a:r>
              <a:rPr lang="zh-CN" altLang="en-US" b="0" dirty="0"/>
              <a:t> </a:t>
            </a:r>
            <a:r>
              <a:rPr lang="zh-CN" altLang="en-US" dirty="0"/>
              <a:t>                                      </a:t>
            </a:r>
            <a:r>
              <a:rPr lang="zh-CN" altLang="en-US" b="0" dirty="0"/>
              <a:t>             </a:t>
            </a:r>
            <a:r>
              <a:rPr lang="en-US" altLang="zh-CN" b="0" dirty="0"/>
              <a:t>---</a:t>
            </a:r>
            <a:r>
              <a:rPr lang="zh-CN" altLang="en-US" b="0" dirty="0"/>
              <a:t> </a:t>
            </a:r>
            <a:r>
              <a:rPr lang="en-US" altLang="zh-CN" b="0" dirty="0"/>
              <a:t>Receiving envelope</a:t>
            </a:r>
            <a:endParaRPr lang="zh-CN" altLang="en-US" b="0" dirty="0"/>
          </a:p>
          <a:p>
            <a:pPr lvl="2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				     </a:t>
            </a:r>
            <a:r>
              <a:rPr lang="en-US" altLang="zh-CN" dirty="0"/>
              <a:t>                                         </a:t>
            </a:r>
            <a:r>
              <a:rPr lang="en-US" altLang="zh-CN" b="0" dirty="0"/>
              <a:t>---Receiving phase</a:t>
            </a:r>
            <a:endParaRPr lang="zh-CN" altLang="en-US" b="0" dirty="0"/>
          </a:p>
        </p:txBody>
      </p:sp>
      <p:pic>
        <p:nvPicPr>
          <p:cNvPr id="6" name="Object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07064" y="1722875"/>
            <a:ext cx="5445125" cy="765175"/>
          </a:xfrm>
          <a:noFill/>
          <a:ln>
            <a:noFill/>
          </a:ln>
        </p:spPr>
      </p:pic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156014" y="3345302"/>
            <a:ext cx="3098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1"/>
              </a:buBlip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kumimoji="1" sz="2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Object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75676" y="2689664"/>
            <a:ext cx="6075363" cy="819150"/>
          </a:xfrm>
          <a:noFill/>
          <a:ln>
            <a:noFill/>
          </a:ln>
        </p:spPr>
      </p:pic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156014" y="3345302"/>
            <a:ext cx="3098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1"/>
              </a:buBlip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kumimoji="1" sz="2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2" name="Object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02252" y="3643752"/>
            <a:ext cx="5626100" cy="763588"/>
          </a:xfrm>
          <a:noFill/>
          <a:ln>
            <a:noFill/>
          </a:ln>
        </p:spPr>
      </p:pic>
      <p:sp>
        <p:nvSpPr>
          <p:cNvPr id="13" name="AutoShape 16"/>
          <p:cNvSpPr/>
          <p:nvPr/>
        </p:nvSpPr>
        <p:spPr bwMode="auto">
          <a:xfrm rot="16200000">
            <a:off x="2988883" y="2814545"/>
            <a:ext cx="315913" cy="1517600"/>
          </a:xfrm>
          <a:prstGeom prst="leftBrace">
            <a:avLst>
              <a:gd name="adj1" fmla="val 46273"/>
              <a:gd name="adj2" fmla="val 37854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1"/>
              </a:buBlip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kumimoji="1" sz="2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AutoShape 17"/>
          <p:cNvSpPr/>
          <p:nvPr/>
        </p:nvSpPr>
        <p:spPr bwMode="auto">
          <a:xfrm rot="-5400000">
            <a:off x="5820118" y="2796141"/>
            <a:ext cx="315913" cy="1615846"/>
          </a:xfrm>
          <a:prstGeom prst="leftBrace">
            <a:avLst>
              <a:gd name="adj1" fmla="val 46273"/>
              <a:gd name="adj2" fmla="val 26107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1"/>
              </a:buBlip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kumimoji="1" sz="2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/>
          <p:cNvSpPr>
            <a:spLocks noChangeArrowheads="1"/>
          </p:cNvSpPr>
          <p:nvPr/>
        </p:nvSpPr>
        <p:spPr bwMode="auto">
          <a:xfrm>
            <a:off x="156014" y="3311965"/>
            <a:ext cx="3098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1"/>
              </a:buBlip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kumimoji="1" sz="2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6" name="Object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62614" y="4683093"/>
            <a:ext cx="2205038" cy="450850"/>
          </a:xfrm>
          <a:noFill/>
          <a:ln>
            <a:noFill/>
          </a:ln>
        </p:spPr>
      </p:pic>
      <p:sp>
        <p:nvSpPr>
          <p:cNvPr id="17" name="Rectangle 21"/>
          <p:cNvSpPr>
            <a:spLocks noChangeArrowheads="1"/>
          </p:cNvSpPr>
          <p:nvPr/>
        </p:nvSpPr>
        <p:spPr bwMode="auto">
          <a:xfrm>
            <a:off x="156014" y="3235765"/>
            <a:ext cx="3098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1"/>
              </a:buBlip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kumimoji="1" sz="2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8" name="Object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53102" y="5163788"/>
            <a:ext cx="2025650" cy="787400"/>
          </a:xfrm>
          <a:noFill/>
          <a:ln>
            <a:noFill/>
          </a:ln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94958" y="1779352"/>
            <a:ext cx="5841630" cy="822117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90667" y="2770905"/>
            <a:ext cx="6076994" cy="819156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75676" y="3780390"/>
            <a:ext cx="5285468" cy="826455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88039" y="4739489"/>
            <a:ext cx="2438418" cy="1381135"/>
          </a:xfrm>
          <a:prstGeom prst="rect">
            <a:avLst/>
          </a:prstGeom>
        </p:spPr>
      </p:pic>
      <p:sp>
        <p:nvSpPr>
          <p:cNvPr id="33" name="矩形: 圆角 32"/>
          <p:cNvSpPr/>
          <p:nvPr/>
        </p:nvSpPr>
        <p:spPr>
          <a:xfrm>
            <a:off x="2638840" y="3648550"/>
            <a:ext cx="819978" cy="567721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lg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: 圆角 33"/>
          <p:cNvSpPr/>
          <p:nvPr/>
        </p:nvSpPr>
        <p:spPr>
          <a:xfrm>
            <a:off x="5170152" y="3721734"/>
            <a:ext cx="819978" cy="494537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lg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AutoShape 11"/>
          <p:cNvSpPr>
            <a:spLocks noChangeArrowheads="1"/>
          </p:cNvSpPr>
          <p:nvPr/>
        </p:nvSpPr>
        <p:spPr bwMode="auto">
          <a:xfrm flipV="1">
            <a:off x="6904050" y="4286205"/>
            <a:ext cx="1777780" cy="372110"/>
          </a:xfrm>
          <a:prstGeom prst="wedgeRoundRectCallout">
            <a:avLst>
              <a:gd name="adj1" fmla="val -128721"/>
              <a:gd name="adj2" fmla="val 36817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</p:spPr>
        <p:txBody>
          <a:bodyPr rot="10800000"/>
          <a:lstStyle>
            <a:lvl1pPr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1"/>
              </a:buBlip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kumimoji="1" sz="2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缓慢随机变化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AutoShape 10"/>
          <p:cNvSpPr>
            <a:spLocks noChangeArrowheads="1"/>
          </p:cNvSpPr>
          <p:nvPr/>
        </p:nvSpPr>
        <p:spPr bwMode="auto">
          <a:xfrm flipV="1">
            <a:off x="156013" y="4191315"/>
            <a:ext cx="1936174" cy="417830"/>
          </a:xfrm>
          <a:prstGeom prst="wedgeRoundRectCallout">
            <a:avLst>
              <a:gd name="adj1" fmla="val 75250"/>
              <a:gd name="adj2" fmla="val 38697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</p:spPr>
        <p:txBody>
          <a:bodyPr rot="10800000"/>
          <a:lstStyle>
            <a:lvl1pPr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1"/>
              </a:buBlip>
              <a:defRPr kumimoji="1"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kumimoji="1" sz="2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缓慢随机变化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0" y="15672"/>
            <a:ext cx="9144000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+mn-lt"/>
                <a:ea typeface="+mn-ea"/>
                <a:cs typeface="+mn-cs"/>
              </a:rPr>
              <a:t>Influence of Random parameter channels</a:t>
            </a:r>
            <a:r>
              <a:rPr lang="en-US" altLang="zh-CN" sz="2400" b="1" dirty="0">
                <a:latin typeface="+mn-lt"/>
                <a:ea typeface="+mn-ea"/>
                <a:cs typeface="+mn-cs"/>
              </a:rPr>
              <a:t> on </a:t>
            </a:r>
            <a:r>
              <a:rPr lang="zh-CN" altLang="zh-CN" sz="2400" b="1" dirty="0">
                <a:latin typeface="+mn-lt"/>
                <a:ea typeface="+mn-ea"/>
                <a:cs typeface="+mn-cs"/>
              </a:rPr>
              <a:t>transmissio</a:t>
            </a:r>
            <a:r>
              <a:rPr lang="en-US" altLang="zh-CN" sz="2400" b="1" dirty="0">
                <a:latin typeface="+mn-lt"/>
                <a:ea typeface="+mn-ea"/>
                <a:cs typeface="+mn-cs"/>
              </a:rPr>
              <a:t>n</a:t>
            </a:r>
            <a:br>
              <a:rPr lang="en-US" altLang="zh-CN" sz="2400" b="1" dirty="0">
                <a:latin typeface="+mn-lt"/>
                <a:ea typeface="+mn-ea"/>
                <a:cs typeface="+mn-cs"/>
              </a:rPr>
            </a:br>
            <a:r>
              <a:rPr lang="en-US" altLang="zh-CN" sz="2400" dirty="0">
                <a:solidFill>
                  <a:srgbClr val="0070C0"/>
                </a:solidFill>
                <a:latin typeface="Comic Sans MS" panose="030F0702030302020204" pitchFamily="66" charset="0"/>
              </a:rPr>
              <a:t>--</a:t>
            </a:r>
            <a:r>
              <a:rPr lang="en-US" altLang="zh-CN" sz="24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Multipath effect</a:t>
            </a:r>
            <a:r>
              <a:rPr lang="en-US" altLang="zh-CN" sz="24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(</a:t>
            </a:r>
            <a:r>
              <a:rPr lang="zh-CN" altLang="en-US" sz="24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多径效应</a:t>
            </a:r>
            <a:r>
              <a:rPr lang="en-US" altLang="zh-CN" sz="24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):</a:t>
            </a:r>
            <a:r>
              <a:rPr lang="zh-CN" altLang="zh-CN" sz="2400" dirty="0"/>
              <a:t> </a:t>
            </a:r>
            <a:endParaRPr lang="zh-CN" altLang="en-US" sz="2400" dirty="0"/>
          </a:p>
        </p:txBody>
      </p:sp>
      <p:sp>
        <p:nvSpPr>
          <p:cNvPr id="47109" name="椭圆 47108"/>
          <p:cNvSpPr/>
          <p:nvPr/>
        </p:nvSpPr>
        <p:spPr>
          <a:xfrm>
            <a:off x="2512724" y="4221069"/>
            <a:ext cx="819978" cy="339009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110" name="椭圆 47109"/>
          <p:cNvSpPr/>
          <p:nvPr/>
        </p:nvSpPr>
        <p:spPr>
          <a:xfrm>
            <a:off x="4572000" y="4179786"/>
            <a:ext cx="598151" cy="409981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3868" y="3667822"/>
            <a:ext cx="5343525" cy="1552575"/>
          </a:xfrm>
          <a:prstGeom prst="rect">
            <a:avLst/>
          </a:prstGeom>
        </p:spPr>
      </p:pic>
      <p:sp>
        <p:nvSpPr>
          <p:cNvPr id="28684" name="AutoShape 39"/>
          <p:cNvSpPr>
            <a:spLocks noChangeArrowheads="1"/>
          </p:cNvSpPr>
          <p:nvPr/>
        </p:nvSpPr>
        <p:spPr bwMode="auto">
          <a:xfrm>
            <a:off x="2395330" y="997965"/>
            <a:ext cx="1822451" cy="488951"/>
          </a:xfrm>
          <a:prstGeom prst="flowChartAlternateProcess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altLang="zh-CN" sz="2400" dirty="0">
                <a:ea typeface="华文中宋" panose="02010600040101010101" pitchFamily="2" charset="-122"/>
              </a:rPr>
              <a:t>Transmitting</a:t>
            </a:r>
            <a:endParaRPr lang="zh-CN" altLang="en-US" sz="2400" dirty="0">
              <a:ea typeface="华文中宋" panose="02010600040101010101" pitchFamily="2" charset="-122"/>
            </a:endParaRPr>
          </a:p>
        </p:txBody>
      </p:sp>
      <p:sp>
        <p:nvSpPr>
          <p:cNvPr id="28685" name="AutoShape 41"/>
          <p:cNvSpPr>
            <a:spLocks noChangeArrowheads="1"/>
          </p:cNvSpPr>
          <p:nvPr/>
        </p:nvSpPr>
        <p:spPr bwMode="auto">
          <a:xfrm>
            <a:off x="6084337" y="997047"/>
            <a:ext cx="1422400" cy="522288"/>
          </a:xfrm>
          <a:prstGeom prst="flowChartAlternateProcess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2400" dirty="0">
                <a:ea typeface="华文中宋" panose="02010600040101010101" pitchFamily="2" charset="-122"/>
              </a:rPr>
              <a:t>Receiving</a:t>
            </a:r>
            <a:endParaRPr lang="zh-CN" altLang="en-US" sz="2400" dirty="0">
              <a:ea typeface="华文中宋" panose="02010600040101010101" pitchFamily="2" charset="-122"/>
            </a:endParaRPr>
          </a:p>
        </p:txBody>
      </p:sp>
      <p:sp>
        <p:nvSpPr>
          <p:cNvPr id="20494" name="Oval 43"/>
          <p:cNvSpPr>
            <a:spLocks noChangeArrowheads="1"/>
          </p:cNvSpPr>
          <p:nvPr/>
        </p:nvSpPr>
        <p:spPr bwMode="auto">
          <a:xfrm>
            <a:off x="183349" y="4131344"/>
            <a:ext cx="1727755" cy="574675"/>
          </a:xfrm>
          <a:prstGeom prst="ellipse">
            <a:avLst/>
          </a:prstGeom>
          <a:solidFill>
            <a:schemeClr val="bg2">
              <a:lumMod val="10000"/>
              <a:lumOff val="90000"/>
            </a:schemeClr>
          </a:solidFill>
          <a:ln w="9525">
            <a:solidFill>
              <a:srgbClr val="969696"/>
            </a:solidFill>
            <a:round/>
          </a:ln>
          <a:effectLst>
            <a:glow rad="63500">
              <a:schemeClr val="accent4">
                <a:satMod val="175000"/>
                <a:alpha val="40000"/>
              </a:schemeClr>
            </a:glow>
            <a:prstShdw prst="shdw17" dist="17961" dir="13500000">
              <a:srgbClr val="5A5A5A"/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dirty="0">
                <a:ea typeface="隶书" panose="02010509060101010101" pitchFamily="49" charset="-122"/>
              </a:rPr>
              <a:t>Spectrum</a:t>
            </a:r>
            <a:endParaRPr lang="zh-CN" altLang="en-US" sz="2800" dirty="0">
              <a:ea typeface="隶书" panose="02010509060101010101" pitchFamily="49" charset="-122"/>
            </a:endParaRPr>
          </a:p>
        </p:txBody>
      </p:sp>
      <p:graphicFrame>
        <p:nvGraphicFramePr>
          <p:cNvPr id="37905" name="Object 20"/>
          <p:cNvGraphicFramePr>
            <a:graphicFrameLocks noChangeAspect="1"/>
          </p:cNvGraphicFramePr>
          <p:nvPr/>
        </p:nvGraphicFramePr>
        <p:xfrm>
          <a:off x="4744418" y="1546921"/>
          <a:ext cx="3879851" cy="615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2" imgW="38404800" imgH="6096000" progId="Equation.DSMT4">
                  <p:embed/>
                </p:oleObj>
              </mc:Choice>
              <mc:Fallback>
                <p:oleObj name="Equation" r:id="rId2" imgW="38404800" imgH="60960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4418" y="1546921"/>
                        <a:ext cx="3879851" cy="6159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008965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6" name="Object 21"/>
          <p:cNvGraphicFramePr>
            <a:graphicFrameLocks noChangeAspect="1"/>
          </p:cNvGraphicFramePr>
          <p:nvPr/>
        </p:nvGraphicFramePr>
        <p:xfrm>
          <a:off x="1817482" y="1532528"/>
          <a:ext cx="2511425" cy="603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4" imgW="22860000" imgH="5486400" progId="Equation.DSMT4">
                  <p:embed/>
                </p:oleObj>
              </mc:Choice>
              <mc:Fallback>
                <p:oleObj name="Equation" r:id="rId4" imgW="22860000" imgH="54864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7482" y="1532528"/>
                        <a:ext cx="2511425" cy="6032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008965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圆角矩形 13"/>
          <p:cNvSpPr/>
          <p:nvPr/>
        </p:nvSpPr>
        <p:spPr bwMode="auto">
          <a:xfrm>
            <a:off x="54665" y="5079912"/>
            <a:ext cx="9089335" cy="1778088"/>
          </a:xfrm>
          <a:prstGeom prst="roundRect">
            <a:avLst/>
          </a:prstGeom>
          <a:solidFill>
            <a:schemeClr val="bg2">
              <a:lumMod val="10000"/>
              <a:lumOff val="90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lvl="0"/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Conclusion: 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When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 constant amplitude single tone sine wave  propagates to the receiver over 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paths, the received signal can be regarded as a narrowband signal  with random varying envelope and phase. Its spectrum is diffused (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弥散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pic>
        <p:nvPicPr>
          <p:cNvPr id="6349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r="56706" b="12500"/>
          <a:stretch>
            <a:fillRect/>
          </a:stretch>
        </p:blipFill>
        <p:spPr bwMode="auto">
          <a:xfrm>
            <a:off x="1817482" y="2093733"/>
            <a:ext cx="28448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19" t="12500" b="12500"/>
          <a:stretch>
            <a:fillRect/>
          </a:stretch>
        </p:blipFill>
        <p:spPr bwMode="auto">
          <a:xfrm>
            <a:off x="4928982" y="2093733"/>
            <a:ext cx="34163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91" name="Oval 38"/>
          <p:cNvSpPr>
            <a:spLocks noChangeArrowheads="1"/>
          </p:cNvSpPr>
          <p:nvPr/>
        </p:nvSpPr>
        <p:spPr bwMode="auto">
          <a:xfrm>
            <a:off x="183348" y="2565048"/>
            <a:ext cx="1727755" cy="574675"/>
          </a:xfrm>
          <a:prstGeom prst="ellipse">
            <a:avLst/>
          </a:prstGeom>
          <a:solidFill>
            <a:schemeClr val="bg2">
              <a:lumMod val="10000"/>
              <a:lumOff val="90000"/>
            </a:schemeClr>
          </a:solidFill>
          <a:ln w="9525">
            <a:solidFill>
              <a:srgbClr val="969696"/>
            </a:solidFill>
            <a:round/>
          </a:ln>
          <a:effectLst>
            <a:glow rad="63500">
              <a:schemeClr val="accent4">
                <a:satMod val="175000"/>
                <a:alpha val="40000"/>
              </a:schemeClr>
            </a:glow>
            <a:prstShdw prst="shdw17" dist="17961" dir="2700000">
              <a:srgbClr val="5A5A5A"/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dirty="0">
                <a:ea typeface="隶书" panose="02010509060101010101" pitchFamily="49" charset="-122"/>
              </a:rPr>
              <a:t>waveform</a:t>
            </a:r>
            <a:endParaRPr lang="zh-CN" altLang="en-US" sz="2800" dirty="0">
              <a:ea typeface="隶书" panose="020105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15672"/>
            <a:ext cx="9144000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+mn-lt"/>
                <a:ea typeface="+mn-ea"/>
                <a:cs typeface="+mn-cs"/>
              </a:rPr>
              <a:t>Influence of Random parameter channels</a:t>
            </a:r>
            <a:r>
              <a:rPr lang="en-US" altLang="zh-CN" sz="2400" b="1" dirty="0">
                <a:latin typeface="+mn-lt"/>
                <a:ea typeface="+mn-ea"/>
                <a:cs typeface="+mn-cs"/>
              </a:rPr>
              <a:t> on </a:t>
            </a:r>
            <a:r>
              <a:rPr lang="zh-CN" altLang="zh-CN" sz="2400" b="1" dirty="0">
                <a:latin typeface="+mn-lt"/>
                <a:ea typeface="+mn-ea"/>
                <a:cs typeface="+mn-cs"/>
              </a:rPr>
              <a:t>transmissio</a:t>
            </a:r>
            <a:r>
              <a:rPr lang="en-US" altLang="zh-CN" sz="2400" b="1" dirty="0">
                <a:latin typeface="+mn-lt"/>
                <a:ea typeface="+mn-ea"/>
                <a:cs typeface="+mn-cs"/>
              </a:rPr>
              <a:t>n</a:t>
            </a:r>
            <a:br>
              <a:rPr lang="en-US" altLang="zh-CN" sz="2400" b="1" dirty="0">
                <a:latin typeface="+mn-lt"/>
                <a:ea typeface="+mn-ea"/>
                <a:cs typeface="+mn-cs"/>
              </a:rPr>
            </a:br>
            <a:r>
              <a:rPr lang="en-US" altLang="zh-CN" sz="2400" dirty="0">
                <a:solidFill>
                  <a:srgbClr val="0070C0"/>
                </a:solidFill>
                <a:latin typeface="Comic Sans MS" panose="030F0702030302020204" pitchFamily="66" charset="0"/>
              </a:rPr>
              <a:t>--</a:t>
            </a:r>
            <a:r>
              <a:rPr lang="en-US" altLang="zh-CN" sz="24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Multipath effect</a:t>
            </a:r>
            <a:r>
              <a:rPr lang="en-US" altLang="zh-CN" sz="24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(</a:t>
            </a:r>
            <a:r>
              <a:rPr lang="zh-CN" altLang="en-US" sz="24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多径效应</a:t>
            </a:r>
            <a:r>
              <a:rPr lang="en-US" altLang="zh-CN" sz="24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):</a:t>
            </a:r>
            <a:r>
              <a:rPr lang="zh-CN" altLang="zh-CN" sz="2400" dirty="0"/>
              <a:t> </a:t>
            </a:r>
            <a:endParaRPr lang="zh-CN" alt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0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2" dur="1000"/>
                                        <p:tgtEl>
                                          <p:spTgt spid="2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3868" y="3667822"/>
            <a:ext cx="5343525" cy="1552575"/>
          </a:xfrm>
          <a:prstGeom prst="rect">
            <a:avLst/>
          </a:prstGeom>
        </p:spPr>
      </p:pic>
      <p:sp>
        <p:nvSpPr>
          <p:cNvPr id="28684" name="AutoShape 39"/>
          <p:cNvSpPr>
            <a:spLocks noChangeArrowheads="1"/>
          </p:cNvSpPr>
          <p:nvPr/>
        </p:nvSpPr>
        <p:spPr bwMode="auto">
          <a:xfrm>
            <a:off x="2395330" y="997965"/>
            <a:ext cx="1822451" cy="488951"/>
          </a:xfrm>
          <a:prstGeom prst="flowChartAlternateProcess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altLang="zh-CN" sz="2400" dirty="0">
                <a:ea typeface="华文中宋" panose="02010600040101010101" pitchFamily="2" charset="-122"/>
              </a:rPr>
              <a:t>Transmitting</a:t>
            </a:r>
            <a:endParaRPr lang="zh-CN" altLang="en-US" sz="2400" dirty="0">
              <a:ea typeface="华文中宋" panose="02010600040101010101" pitchFamily="2" charset="-122"/>
            </a:endParaRPr>
          </a:p>
        </p:txBody>
      </p:sp>
      <p:sp>
        <p:nvSpPr>
          <p:cNvPr id="28685" name="AutoShape 41"/>
          <p:cNvSpPr>
            <a:spLocks noChangeArrowheads="1"/>
          </p:cNvSpPr>
          <p:nvPr/>
        </p:nvSpPr>
        <p:spPr bwMode="auto">
          <a:xfrm>
            <a:off x="6084337" y="997047"/>
            <a:ext cx="1422400" cy="522288"/>
          </a:xfrm>
          <a:prstGeom prst="flowChartAlternateProcess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2400" dirty="0">
                <a:ea typeface="华文中宋" panose="02010600040101010101" pitchFamily="2" charset="-122"/>
              </a:rPr>
              <a:t>Receiving</a:t>
            </a:r>
            <a:endParaRPr lang="zh-CN" altLang="en-US" sz="2400" dirty="0">
              <a:ea typeface="华文中宋" panose="02010600040101010101" pitchFamily="2" charset="-122"/>
            </a:endParaRPr>
          </a:p>
        </p:txBody>
      </p:sp>
      <p:sp>
        <p:nvSpPr>
          <p:cNvPr id="20494" name="Oval 43"/>
          <p:cNvSpPr>
            <a:spLocks noChangeArrowheads="1"/>
          </p:cNvSpPr>
          <p:nvPr/>
        </p:nvSpPr>
        <p:spPr bwMode="auto">
          <a:xfrm>
            <a:off x="183349" y="4131344"/>
            <a:ext cx="1727755" cy="574675"/>
          </a:xfrm>
          <a:prstGeom prst="ellipse">
            <a:avLst/>
          </a:prstGeom>
          <a:solidFill>
            <a:schemeClr val="bg2">
              <a:lumMod val="10000"/>
              <a:lumOff val="90000"/>
            </a:schemeClr>
          </a:solidFill>
          <a:ln w="9525">
            <a:solidFill>
              <a:srgbClr val="969696"/>
            </a:solidFill>
            <a:round/>
          </a:ln>
          <a:effectLst>
            <a:glow rad="63500">
              <a:schemeClr val="accent4">
                <a:satMod val="175000"/>
                <a:alpha val="40000"/>
              </a:schemeClr>
            </a:glow>
            <a:prstShdw prst="shdw17" dist="17961" dir="13500000">
              <a:srgbClr val="5A5A5A"/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dirty="0">
                <a:ea typeface="隶书" panose="02010509060101010101" pitchFamily="49" charset="-122"/>
              </a:rPr>
              <a:t>Spectrum</a:t>
            </a:r>
            <a:endParaRPr lang="zh-CN" altLang="en-US" sz="2800" dirty="0">
              <a:ea typeface="隶书" panose="02010509060101010101" pitchFamily="49" charset="-122"/>
            </a:endParaRPr>
          </a:p>
        </p:txBody>
      </p:sp>
      <p:graphicFrame>
        <p:nvGraphicFramePr>
          <p:cNvPr id="37905" name="Object 20"/>
          <p:cNvGraphicFramePr>
            <a:graphicFrameLocks noChangeAspect="1"/>
          </p:cNvGraphicFramePr>
          <p:nvPr/>
        </p:nvGraphicFramePr>
        <p:xfrm>
          <a:off x="4744418" y="1546921"/>
          <a:ext cx="3879851" cy="615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2" imgW="38404800" imgH="6096000" progId="Equation.DSMT4">
                  <p:embed/>
                </p:oleObj>
              </mc:Choice>
              <mc:Fallback>
                <p:oleObj name="Equation" r:id="rId2" imgW="38404800" imgH="60960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4418" y="1546921"/>
                        <a:ext cx="3879851" cy="6159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008965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6" name="Object 21"/>
          <p:cNvGraphicFramePr>
            <a:graphicFrameLocks noChangeAspect="1"/>
          </p:cNvGraphicFramePr>
          <p:nvPr/>
        </p:nvGraphicFramePr>
        <p:xfrm>
          <a:off x="1817482" y="1532528"/>
          <a:ext cx="2511425" cy="603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4" imgW="22860000" imgH="5486400" progId="Equation.DSMT4">
                  <p:embed/>
                </p:oleObj>
              </mc:Choice>
              <mc:Fallback>
                <p:oleObj name="Equation" r:id="rId4" imgW="22860000" imgH="54864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7482" y="1532528"/>
                        <a:ext cx="2511425" cy="6032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008965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349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r="56706" b="12500"/>
          <a:stretch>
            <a:fillRect/>
          </a:stretch>
        </p:blipFill>
        <p:spPr bwMode="auto">
          <a:xfrm>
            <a:off x="1817482" y="2093733"/>
            <a:ext cx="28448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19" t="12500" b="12500"/>
          <a:stretch>
            <a:fillRect/>
          </a:stretch>
        </p:blipFill>
        <p:spPr bwMode="auto">
          <a:xfrm>
            <a:off x="4928982" y="2093733"/>
            <a:ext cx="34163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91" name="Oval 38"/>
          <p:cNvSpPr>
            <a:spLocks noChangeArrowheads="1"/>
          </p:cNvSpPr>
          <p:nvPr/>
        </p:nvSpPr>
        <p:spPr bwMode="auto">
          <a:xfrm>
            <a:off x="183348" y="2565048"/>
            <a:ext cx="1727755" cy="574675"/>
          </a:xfrm>
          <a:prstGeom prst="ellipse">
            <a:avLst/>
          </a:prstGeom>
          <a:solidFill>
            <a:schemeClr val="bg2">
              <a:lumMod val="10000"/>
              <a:lumOff val="90000"/>
            </a:schemeClr>
          </a:solidFill>
          <a:ln w="9525">
            <a:solidFill>
              <a:srgbClr val="969696"/>
            </a:solidFill>
            <a:round/>
          </a:ln>
          <a:effectLst>
            <a:glow rad="63500">
              <a:schemeClr val="accent4">
                <a:satMod val="175000"/>
                <a:alpha val="40000"/>
              </a:schemeClr>
            </a:glow>
            <a:prstShdw prst="shdw17" dist="17961" dir="2700000">
              <a:srgbClr val="5A5A5A"/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dirty="0">
                <a:ea typeface="隶书" panose="02010509060101010101" pitchFamily="49" charset="-122"/>
              </a:rPr>
              <a:t>waveform</a:t>
            </a:r>
            <a:endParaRPr lang="zh-CN" altLang="en-US" sz="2800" dirty="0">
              <a:ea typeface="隶书" panose="020105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15672"/>
            <a:ext cx="9144000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zh-CN" sz="2400" b="1" dirty="0">
                <a:latin typeface="+mn-lt"/>
                <a:ea typeface="+mn-ea"/>
                <a:cs typeface="+mn-cs"/>
              </a:rPr>
              <a:t>fluence of Random parameter channels</a:t>
            </a:r>
            <a:r>
              <a:rPr lang="en-US" altLang="zh-CN" sz="2400" b="1" dirty="0">
                <a:latin typeface="+mn-lt"/>
                <a:ea typeface="+mn-ea"/>
                <a:cs typeface="+mn-cs"/>
              </a:rPr>
              <a:t> on </a:t>
            </a:r>
            <a:r>
              <a:rPr lang="zh-CN" altLang="zh-CN" sz="2400" b="1" dirty="0">
                <a:latin typeface="+mn-lt"/>
                <a:ea typeface="+mn-ea"/>
                <a:cs typeface="+mn-cs"/>
              </a:rPr>
              <a:t>transmissio</a:t>
            </a:r>
            <a:r>
              <a:rPr lang="en-US" altLang="zh-CN" sz="2400" b="1" dirty="0">
                <a:latin typeface="+mn-lt"/>
                <a:ea typeface="+mn-ea"/>
                <a:cs typeface="+mn-cs"/>
              </a:rPr>
              <a:t>n</a:t>
            </a:r>
            <a:br>
              <a:rPr lang="en-US" altLang="zh-CN" sz="2400" b="1" dirty="0">
                <a:latin typeface="+mn-lt"/>
                <a:ea typeface="+mn-ea"/>
                <a:cs typeface="+mn-cs"/>
              </a:rPr>
            </a:br>
            <a:r>
              <a:rPr lang="en-US" altLang="zh-CN" sz="2400" dirty="0">
                <a:solidFill>
                  <a:srgbClr val="0070C0"/>
                </a:solidFill>
                <a:latin typeface="Comic Sans MS" panose="030F0702030302020204" pitchFamily="66" charset="0"/>
              </a:rPr>
              <a:t>--</a:t>
            </a:r>
            <a:r>
              <a:rPr lang="en-US" altLang="zh-CN" sz="24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Multipath effect</a:t>
            </a:r>
            <a:r>
              <a:rPr lang="en-US" altLang="zh-CN" sz="24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(</a:t>
            </a:r>
            <a:r>
              <a:rPr lang="zh-CN" altLang="en-US" sz="24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多径效应</a:t>
            </a:r>
            <a:r>
              <a:rPr lang="en-US" altLang="zh-CN" sz="24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):</a:t>
            </a:r>
            <a:r>
              <a:rPr lang="zh-CN" altLang="zh-CN" sz="2400" dirty="0"/>
              <a:t> </a:t>
            </a:r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715135" y="5412312"/>
            <a:ext cx="78942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This envelope fluctuation is called fast fading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快衰落</a:t>
            </a:r>
            <a:r>
              <a:rPr lang="zh-CN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en-US" altLang="zh-CN" sz="2400" b="1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 the fading period is comparable to the symbol period.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34607" y="6193565"/>
            <a:ext cx="46192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i.e.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fading period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≈</a:t>
            </a:r>
            <a:r>
              <a:rPr lang="zh-CN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symbol period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294" y="778008"/>
            <a:ext cx="6157639" cy="2864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5680214" y="1346752"/>
            <a:ext cx="1376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i="1" dirty="0">
                <a:solidFill>
                  <a:srgbClr val="C00000"/>
                </a:solidFill>
              </a:rPr>
              <a:t>n</a:t>
            </a:r>
            <a:r>
              <a:rPr lang="en-US" altLang="zh-CN" sz="3600" dirty="0">
                <a:solidFill>
                  <a:srgbClr val="C00000"/>
                </a:solidFill>
              </a:rPr>
              <a:t>=2</a:t>
            </a:r>
            <a:endParaRPr lang="zh-CN" altLang="en-US" sz="3600" dirty="0">
              <a:solidFill>
                <a:srgbClr val="C0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676229" y="3404869"/>
            <a:ext cx="4619210" cy="1052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lnSpc>
                <a:spcPct val="150000"/>
              </a:lnSpc>
              <a:buNone/>
            </a:pPr>
            <a:r>
              <a:rPr lang="en-US" altLang="zh-CN" sz="2200" b="1" i="1" dirty="0">
                <a:solidFill>
                  <a:srgbClr val="7030A0"/>
                </a:solidFill>
              </a:rPr>
              <a:t>  A f</a:t>
            </a:r>
            <a:r>
              <a:rPr lang="en-US" altLang="zh-CN" sz="2200" b="1" dirty="0">
                <a:solidFill>
                  <a:srgbClr val="7030A0"/>
                </a:solidFill>
              </a:rPr>
              <a:t>(</a:t>
            </a:r>
            <a:r>
              <a:rPr lang="en-US" altLang="zh-CN" sz="2200" b="1" i="1" dirty="0">
                <a:solidFill>
                  <a:srgbClr val="7030A0"/>
                </a:solidFill>
              </a:rPr>
              <a:t>t</a:t>
            </a:r>
            <a:r>
              <a:rPr lang="en-US" altLang="zh-CN" sz="2200" b="1" dirty="0">
                <a:solidFill>
                  <a:srgbClr val="7030A0"/>
                </a:solidFill>
              </a:rPr>
              <a:t> </a:t>
            </a:r>
            <a:r>
              <a:rPr lang="zh-CN" altLang="en-US" sz="1200" b="1" dirty="0">
                <a:solidFill>
                  <a:srgbClr val="7030A0"/>
                </a:solidFill>
              </a:rPr>
              <a:t>➖</a:t>
            </a:r>
            <a:r>
              <a:rPr lang="en-US" altLang="zh-CN" sz="1200" b="1" dirty="0">
                <a:solidFill>
                  <a:srgbClr val="7030A0"/>
                </a:solidFill>
              </a:rPr>
              <a:t> </a:t>
            </a:r>
            <a:r>
              <a:rPr lang="en-US" altLang="zh-CN" sz="2200" b="1" i="1" dirty="0">
                <a:solidFill>
                  <a:srgbClr val="7030A0"/>
                </a:solidFill>
                <a:sym typeface="Symbol" panose="05050102010706020507" pitchFamily="18" charset="2"/>
              </a:rPr>
              <a:t></a:t>
            </a:r>
            <a:r>
              <a:rPr lang="en-US" altLang="zh-CN" sz="2200" b="1" baseline="-25000" dirty="0">
                <a:solidFill>
                  <a:srgbClr val="7030A0"/>
                </a:solidFill>
              </a:rPr>
              <a:t>0</a:t>
            </a:r>
            <a:r>
              <a:rPr lang="en-US" altLang="zh-CN" sz="2200" b="1" dirty="0">
                <a:solidFill>
                  <a:srgbClr val="7030A0"/>
                </a:solidFill>
              </a:rPr>
              <a:t>) </a:t>
            </a:r>
            <a:r>
              <a:rPr lang="zh-CN" altLang="en-US" sz="2200" b="1" dirty="0">
                <a:solidFill>
                  <a:srgbClr val="7030A0"/>
                </a:solidFill>
              </a:rPr>
              <a:t> </a:t>
            </a:r>
            <a:endParaRPr lang="en-US" altLang="zh-CN" sz="2200" b="1" dirty="0">
              <a:solidFill>
                <a:srgbClr val="7030A0"/>
              </a:solidFill>
            </a:endParaRPr>
          </a:p>
          <a:p>
            <a:pPr lvl="2">
              <a:lnSpc>
                <a:spcPct val="150000"/>
              </a:lnSpc>
              <a:buNone/>
            </a:pPr>
            <a:r>
              <a:rPr lang="en-US" altLang="zh-CN" sz="2200" b="1" i="1" dirty="0">
                <a:solidFill>
                  <a:srgbClr val="7030A0"/>
                </a:solidFill>
              </a:rPr>
              <a:t>A f</a:t>
            </a:r>
            <a:r>
              <a:rPr lang="en-US" altLang="zh-CN" sz="2200" b="1" dirty="0">
                <a:solidFill>
                  <a:srgbClr val="7030A0"/>
                </a:solidFill>
              </a:rPr>
              <a:t>(</a:t>
            </a:r>
            <a:r>
              <a:rPr lang="en-US" altLang="zh-CN" sz="2200" b="1" i="1" dirty="0">
                <a:solidFill>
                  <a:srgbClr val="7030A0"/>
                </a:solidFill>
              </a:rPr>
              <a:t>t</a:t>
            </a:r>
            <a:r>
              <a:rPr lang="en-US" altLang="zh-CN" sz="2200" b="1" dirty="0">
                <a:solidFill>
                  <a:srgbClr val="7030A0"/>
                </a:solidFill>
              </a:rPr>
              <a:t> </a:t>
            </a:r>
            <a:r>
              <a:rPr lang="zh-CN" altLang="en-US" sz="1200" b="1" dirty="0">
                <a:solidFill>
                  <a:srgbClr val="7030A0"/>
                </a:solidFill>
                <a:cs typeface="+mn-cs"/>
              </a:rPr>
              <a:t>➖</a:t>
            </a:r>
            <a:r>
              <a:rPr lang="en-US" altLang="zh-CN" sz="1200" b="1" dirty="0">
                <a:solidFill>
                  <a:srgbClr val="7030A0"/>
                </a:solidFill>
                <a:cs typeface="+mn-cs"/>
              </a:rPr>
              <a:t> </a:t>
            </a:r>
            <a:r>
              <a:rPr lang="en-US" altLang="zh-CN" sz="2200" b="1" i="1" dirty="0">
                <a:solidFill>
                  <a:srgbClr val="7030A0"/>
                </a:solidFill>
                <a:sym typeface="Symbol" panose="05050102010706020507" pitchFamily="18" charset="2"/>
              </a:rPr>
              <a:t></a:t>
            </a:r>
            <a:r>
              <a:rPr lang="en-US" altLang="zh-CN" sz="2200" b="1" baseline="-25000" dirty="0">
                <a:solidFill>
                  <a:srgbClr val="7030A0"/>
                </a:solidFill>
              </a:rPr>
              <a:t>0</a:t>
            </a:r>
            <a:r>
              <a:rPr lang="en-US" altLang="zh-CN" sz="2200" b="1" dirty="0">
                <a:solidFill>
                  <a:srgbClr val="7030A0"/>
                </a:solidFill>
              </a:rPr>
              <a:t> </a:t>
            </a:r>
            <a:r>
              <a:rPr lang="zh-CN" altLang="en-US" sz="1200" b="1" dirty="0">
                <a:solidFill>
                  <a:srgbClr val="7030A0"/>
                </a:solidFill>
                <a:cs typeface="+mn-cs"/>
              </a:rPr>
              <a:t>➖</a:t>
            </a:r>
            <a:r>
              <a:rPr lang="en-US" altLang="zh-CN" sz="1200" b="1" dirty="0">
                <a:solidFill>
                  <a:srgbClr val="7030A0"/>
                </a:solidFill>
                <a:cs typeface="+mn-cs"/>
              </a:rPr>
              <a:t> </a:t>
            </a:r>
            <a:r>
              <a:rPr lang="en-US" altLang="zh-CN" sz="2200" b="1" i="1" dirty="0">
                <a:solidFill>
                  <a:srgbClr val="7030A0"/>
                </a:solidFill>
                <a:sym typeface="Symbol" panose="05050102010706020507" pitchFamily="18" charset="2"/>
              </a:rPr>
              <a:t></a:t>
            </a:r>
            <a:r>
              <a:rPr lang="en-US" altLang="zh-CN" sz="2200" b="1" dirty="0">
                <a:solidFill>
                  <a:srgbClr val="7030A0"/>
                </a:solidFill>
              </a:rPr>
              <a:t>) </a:t>
            </a:r>
            <a:endParaRPr lang="en-US" altLang="zh-CN" sz="2200" b="1" dirty="0">
              <a:solidFill>
                <a:srgbClr val="7030A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29852" y="3500312"/>
            <a:ext cx="47285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altLang="zh-CN" sz="2200" b="1" i="1" dirty="0">
                <a:solidFill>
                  <a:srgbClr val="7030A0"/>
                </a:solidFill>
              </a:rPr>
              <a:t>f</a:t>
            </a:r>
            <a:r>
              <a:rPr lang="en-US" altLang="zh-CN" sz="2200" b="1" dirty="0">
                <a:solidFill>
                  <a:srgbClr val="7030A0"/>
                </a:solidFill>
              </a:rPr>
              <a:t>(</a:t>
            </a:r>
            <a:r>
              <a:rPr lang="en-US" altLang="zh-CN" sz="2200" b="1" i="1" dirty="0">
                <a:solidFill>
                  <a:srgbClr val="7030A0"/>
                </a:solidFill>
              </a:rPr>
              <a:t>t</a:t>
            </a:r>
            <a:r>
              <a:rPr lang="en-US" altLang="zh-CN" sz="2200" b="1" dirty="0">
                <a:solidFill>
                  <a:srgbClr val="7030A0"/>
                </a:solidFill>
              </a:rPr>
              <a:t>)</a:t>
            </a:r>
            <a:endParaRPr lang="en-US" altLang="zh-CN" sz="2200" b="1" dirty="0">
              <a:solidFill>
                <a:srgbClr val="7030A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024410" y="3454145"/>
            <a:ext cx="4728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箭头: 右 13"/>
          <p:cNvSpPr/>
          <p:nvPr/>
        </p:nvSpPr>
        <p:spPr>
          <a:xfrm>
            <a:off x="1818862" y="3671788"/>
            <a:ext cx="268357" cy="110809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6497701" y="4049020"/>
          <a:ext cx="1744576" cy="4085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2" imgW="982980" imgH="234950" progId="Equation.KSEE3">
                  <p:embed/>
                </p:oleObj>
              </mc:Choice>
              <mc:Fallback>
                <p:oleObj name="公式" r:id="rId2" imgW="982980" imgH="234950" progId="Equation.KSEE3">
                  <p:embed/>
                  <p:pic>
                    <p:nvPicPr>
                      <p:cNvPr id="0" name="对象 1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497701" y="4049020"/>
                        <a:ext cx="1744576" cy="4085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6558713" y="3500312"/>
          <a:ext cx="1491062" cy="408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4" imgW="793115" imgH="218440" progId="Equation.DSMT4">
                  <p:embed/>
                </p:oleObj>
              </mc:Choice>
              <mc:Fallback>
                <p:oleObj name="Equation" r:id="rId4" imgW="793115" imgH="218440" progId="Equation.DSMT4">
                  <p:embed/>
                  <p:pic>
                    <p:nvPicPr>
                      <p:cNvPr id="0" name="对象 1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558713" y="3500312"/>
                        <a:ext cx="1491062" cy="4085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箭头: 右 16"/>
          <p:cNvSpPr/>
          <p:nvPr/>
        </p:nvSpPr>
        <p:spPr>
          <a:xfrm>
            <a:off x="6229344" y="3712959"/>
            <a:ext cx="268357" cy="110809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/>
          <p:cNvSpPr/>
          <p:nvPr/>
        </p:nvSpPr>
        <p:spPr>
          <a:xfrm>
            <a:off x="6271584" y="4211604"/>
            <a:ext cx="268357" cy="110809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15672"/>
            <a:ext cx="9144000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zh-CN" sz="2400" b="1" dirty="0">
                <a:latin typeface="+mn-lt"/>
                <a:ea typeface="+mn-ea"/>
                <a:cs typeface="+mn-cs"/>
              </a:rPr>
              <a:t>fluence of Random parameter channels</a:t>
            </a:r>
            <a:r>
              <a:rPr lang="en-US" altLang="zh-CN" sz="2400" b="1" dirty="0">
                <a:latin typeface="+mn-lt"/>
                <a:ea typeface="+mn-ea"/>
                <a:cs typeface="+mn-cs"/>
              </a:rPr>
              <a:t> on </a:t>
            </a:r>
            <a:r>
              <a:rPr lang="zh-CN" altLang="zh-CN" sz="2400" b="1" dirty="0">
                <a:latin typeface="+mn-lt"/>
                <a:ea typeface="+mn-ea"/>
                <a:cs typeface="+mn-cs"/>
              </a:rPr>
              <a:t>transmissio</a:t>
            </a:r>
            <a:r>
              <a:rPr lang="en-US" altLang="zh-CN" sz="2400" b="1" dirty="0">
                <a:latin typeface="+mn-lt"/>
                <a:ea typeface="+mn-ea"/>
                <a:cs typeface="+mn-cs"/>
              </a:rPr>
              <a:t>n</a:t>
            </a:r>
            <a:br>
              <a:rPr lang="en-US" altLang="zh-CN" sz="2400" b="1" dirty="0">
                <a:latin typeface="+mn-lt"/>
                <a:ea typeface="+mn-ea"/>
                <a:cs typeface="+mn-cs"/>
              </a:rPr>
            </a:br>
            <a:r>
              <a:rPr lang="en-US" altLang="zh-CN" sz="2400" dirty="0">
                <a:solidFill>
                  <a:srgbClr val="0070C0"/>
                </a:solidFill>
                <a:latin typeface="Comic Sans MS" panose="030F0702030302020204" pitchFamily="66" charset="0"/>
              </a:rPr>
              <a:t>--</a:t>
            </a:r>
            <a:r>
              <a:rPr lang="en-US" altLang="zh-CN" sz="24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Multipath effect</a:t>
            </a:r>
            <a:r>
              <a:rPr lang="en-US" altLang="zh-CN" sz="24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(</a:t>
            </a:r>
            <a:r>
              <a:rPr lang="zh-CN" altLang="en-US" sz="24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多径效应</a:t>
            </a:r>
            <a:r>
              <a:rPr lang="en-US" altLang="zh-CN" sz="24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):</a:t>
            </a:r>
            <a:r>
              <a:rPr lang="zh-CN" altLang="zh-CN" sz="2400" dirty="0"/>
              <a:t> </a:t>
            </a:r>
            <a:r>
              <a:rPr lang="en-US" altLang="zh-CN" sz="2400" dirty="0"/>
              <a:t>——</a:t>
            </a:r>
            <a:r>
              <a:rPr lang="zh-CN" altLang="en-US" sz="2400" b="1" dirty="0"/>
              <a:t>简化场景： 只有两条传播路径</a:t>
            </a:r>
            <a:endParaRPr lang="zh-CN" altLang="en-US" sz="2400" b="1" dirty="0"/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294" y="778008"/>
            <a:ext cx="6157639" cy="2864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5680214" y="1346752"/>
            <a:ext cx="1376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i="1" dirty="0">
                <a:solidFill>
                  <a:srgbClr val="C00000"/>
                </a:solidFill>
              </a:rPr>
              <a:t>n</a:t>
            </a:r>
            <a:r>
              <a:rPr lang="en-US" altLang="zh-CN" sz="3600" dirty="0">
                <a:solidFill>
                  <a:srgbClr val="C00000"/>
                </a:solidFill>
              </a:rPr>
              <a:t>=2</a:t>
            </a:r>
            <a:endParaRPr lang="zh-CN" altLang="en-US" sz="3600" dirty="0">
              <a:solidFill>
                <a:srgbClr val="C0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676229" y="3404869"/>
            <a:ext cx="4619210" cy="1052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lnSpc>
                <a:spcPct val="150000"/>
              </a:lnSpc>
              <a:buNone/>
            </a:pPr>
            <a:r>
              <a:rPr lang="en-US" altLang="zh-CN" sz="2200" b="1" i="1" dirty="0">
                <a:solidFill>
                  <a:srgbClr val="7030A0"/>
                </a:solidFill>
              </a:rPr>
              <a:t>  A f</a:t>
            </a:r>
            <a:r>
              <a:rPr lang="en-US" altLang="zh-CN" sz="2200" b="1" dirty="0">
                <a:solidFill>
                  <a:srgbClr val="7030A0"/>
                </a:solidFill>
              </a:rPr>
              <a:t>(</a:t>
            </a:r>
            <a:r>
              <a:rPr lang="en-US" altLang="zh-CN" sz="2200" b="1" i="1" dirty="0">
                <a:solidFill>
                  <a:srgbClr val="7030A0"/>
                </a:solidFill>
              </a:rPr>
              <a:t>t</a:t>
            </a:r>
            <a:r>
              <a:rPr lang="en-US" altLang="zh-CN" sz="2200" b="1" dirty="0">
                <a:solidFill>
                  <a:srgbClr val="7030A0"/>
                </a:solidFill>
              </a:rPr>
              <a:t> </a:t>
            </a:r>
            <a:r>
              <a:rPr lang="zh-CN" altLang="en-US" sz="1200" b="1" dirty="0">
                <a:solidFill>
                  <a:srgbClr val="7030A0"/>
                </a:solidFill>
              </a:rPr>
              <a:t>➖</a:t>
            </a:r>
            <a:r>
              <a:rPr lang="en-US" altLang="zh-CN" sz="1200" b="1" dirty="0">
                <a:solidFill>
                  <a:srgbClr val="7030A0"/>
                </a:solidFill>
              </a:rPr>
              <a:t> </a:t>
            </a:r>
            <a:r>
              <a:rPr lang="en-US" altLang="zh-CN" sz="2200" b="1" i="1" dirty="0">
                <a:solidFill>
                  <a:srgbClr val="7030A0"/>
                </a:solidFill>
                <a:sym typeface="Symbol" panose="05050102010706020507" pitchFamily="18" charset="2"/>
              </a:rPr>
              <a:t></a:t>
            </a:r>
            <a:r>
              <a:rPr lang="en-US" altLang="zh-CN" sz="2200" b="1" baseline="-25000" dirty="0">
                <a:solidFill>
                  <a:srgbClr val="7030A0"/>
                </a:solidFill>
              </a:rPr>
              <a:t>0</a:t>
            </a:r>
            <a:r>
              <a:rPr lang="en-US" altLang="zh-CN" sz="2200" b="1" dirty="0">
                <a:solidFill>
                  <a:srgbClr val="7030A0"/>
                </a:solidFill>
              </a:rPr>
              <a:t>) </a:t>
            </a:r>
            <a:r>
              <a:rPr lang="zh-CN" altLang="en-US" sz="2200" b="1" dirty="0">
                <a:solidFill>
                  <a:srgbClr val="7030A0"/>
                </a:solidFill>
              </a:rPr>
              <a:t> </a:t>
            </a:r>
            <a:endParaRPr lang="en-US" altLang="zh-CN" sz="2200" b="1" dirty="0">
              <a:solidFill>
                <a:srgbClr val="7030A0"/>
              </a:solidFill>
            </a:endParaRPr>
          </a:p>
          <a:p>
            <a:pPr lvl="2">
              <a:lnSpc>
                <a:spcPct val="150000"/>
              </a:lnSpc>
              <a:buNone/>
            </a:pPr>
            <a:r>
              <a:rPr lang="en-US" altLang="zh-CN" sz="2200" b="1" i="1" dirty="0">
                <a:solidFill>
                  <a:srgbClr val="7030A0"/>
                </a:solidFill>
              </a:rPr>
              <a:t>A f</a:t>
            </a:r>
            <a:r>
              <a:rPr lang="en-US" altLang="zh-CN" sz="2200" b="1" dirty="0">
                <a:solidFill>
                  <a:srgbClr val="7030A0"/>
                </a:solidFill>
              </a:rPr>
              <a:t>(</a:t>
            </a:r>
            <a:r>
              <a:rPr lang="en-US" altLang="zh-CN" sz="2200" b="1" i="1" dirty="0">
                <a:solidFill>
                  <a:srgbClr val="7030A0"/>
                </a:solidFill>
              </a:rPr>
              <a:t>t</a:t>
            </a:r>
            <a:r>
              <a:rPr lang="en-US" altLang="zh-CN" sz="2200" b="1" dirty="0">
                <a:solidFill>
                  <a:srgbClr val="7030A0"/>
                </a:solidFill>
              </a:rPr>
              <a:t> </a:t>
            </a:r>
            <a:r>
              <a:rPr lang="zh-CN" altLang="en-US" sz="1200" b="1" dirty="0">
                <a:solidFill>
                  <a:srgbClr val="7030A0"/>
                </a:solidFill>
                <a:cs typeface="+mn-cs"/>
              </a:rPr>
              <a:t>➖</a:t>
            </a:r>
            <a:r>
              <a:rPr lang="en-US" altLang="zh-CN" sz="1200" b="1" dirty="0">
                <a:solidFill>
                  <a:srgbClr val="7030A0"/>
                </a:solidFill>
                <a:cs typeface="+mn-cs"/>
              </a:rPr>
              <a:t> </a:t>
            </a:r>
            <a:r>
              <a:rPr lang="en-US" altLang="zh-CN" sz="2200" b="1" i="1" dirty="0">
                <a:solidFill>
                  <a:srgbClr val="7030A0"/>
                </a:solidFill>
                <a:sym typeface="Symbol" panose="05050102010706020507" pitchFamily="18" charset="2"/>
              </a:rPr>
              <a:t></a:t>
            </a:r>
            <a:r>
              <a:rPr lang="en-US" altLang="zh-CN" sz="2200" b="1" baseline="-25000" dirty="0">
                <a:solidFill>
                  <a:srgbClr val="7030A0"/>
                </a:solidFill>
              </a:rPr>
              <a:t>0</a:t>
            </a:r>
            <a:r>
              <a:rPr lang="en-US" altLang="zh-CN" sz="2200" b="1" dirty="0">
                <a:solidFill>
                  <a:srgbClr val="7030A0"/>
                </a:solidFill>
              </a:rPr>
              <a:t> </a:t>
            </a:r>
            <a:r>
              <a:rPr lang="zh-CN" altLang="en-US" sz="1200" b="1" dirty="0">
                <a:solidFill>
                  <a:srgbClr val="7030A0"/>
                </a:solidFill>
                <a:cs typeface="+mn-cs"/>
              </a:rPr>
              <a:t>➖</a:t>
            </a:r>
            <a:r>
              <a:rPr lang="en-US" altLang="zh-CN" sz="1200" b="1" dirty="0">
                <a:solidFill>
                  <a:srgbClr val="7030A0"/>
                </a:solidFill>
                <a:cs typeface="+mn-cs"/>
              </a:rPr>
              <a:t> </a:t>
            </a:r>
            <a:r>
              <a:rPr lang="en-US" altLang="zh-CN" sz="2200" b="1" i="1" dirty="0">
                <a:solidFill>
                  <a:srgbClr val="7030A0"/>
                </a:solidFill>
                <a:sym typeface="Symbol" panose="05050102010706020507" pitchFamily="18" charset="2"/>
              </a:rPr>
              <a:t></a:t>
            </a:r>
            <a:r>
              <a:rPr lang="en-US" altLang="zh-CN" sz="2200" b="1" dirty="0">
                <a:solidFill>
                  <a:srgbClr val="7030A0"/>
                </a:solidFill>
              </a:rPr>
              <a:t>) </a:t>
            </a:r>
            <a:endParaRPr lang="en-US" altLang="zh-CN" sz="2200" b="1" dirty="0">
              <a:solidFill>
                <a:srgbClr val="7030A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29852" y="3500312"/>
            <a:ext cx="47285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altLang="zh-CN" sz="2200" b="1" i="1" dirty="0">
                <a:solidFill>
                  <a:srgbClr val="7030A0"/>
                </a:solidFill>
              </a:rPr>
              <a:t>f</a:t>
            </a:r>
            <a:r>
              <a:rPr lang="en-US" altLang="zh-CN" sz="2200" b="1" dirty="0">
                <a:solidFill>
                  <a:srgbClr val="7030A0"/>
                </a:solidFill>
              </a:rPr>
              <a:t>(</a:t>
            </a:r>
            <a:r>
              <a:rPr lang="en-US" altLang="zh-CN" sz="2200" b="1" i="1" dirty="0">
                <a:solidFill>
                  <a:srgbClr val="7030A0"/>
                </a:solidFill>
              </a:rPr>
              <a:t>t</a:t>
            </a:r>
            <a:r>
              <a:rPr lang="en-US" altLang="zh-CN" sz="2200" b="1" dirty="0">
                <a:solidFill>
                  <a:srgbClr val="7030A0"/>
                </a:solidFill>
              </a:rPr>
              <a:t>)</a:t>
            </a:r>
            <a:endParaRPr lang="en-US" altLang="zh-CN" sz="2200" b="1" dirty="0">
              <a:solidFill>
                <a:srgbClr val="7030A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024410" y="3454145"/>
            <a:ext cx="4728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箭头: 右 13"/>
          <p:cNvSpPr/>
          <p:nvPr/>
        </p:nvSpPr>
        <p:spPr>
          <a:xfrm>
            <a:off x="1818862" y="3671788"/>
            <a:ext cx="268357" cy="110809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6497701" y="4049020"/>
          <a:ext cx="1744576" cy="4085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2" imgW="982980" imgH="234950" progId="Equation.KSEE3">
                  <p:embed/>
                </p:oleObj>
              </mc:Choice>
              <mc:Fallback>
                <p:oleObj name="公式" r:id="rId2" imgW="982980" imgH="234950" progId="Equation.KSEE3">
                  <p:embed/>
                  <p:pic>
                    <p:nvPicPr>
                      <p:cNvPr id="0" name="对象 1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497701" y="4049020"/>
                        <a:ext cx="1744576" cy="4085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6558713" y="3500312"/>
          <a:ext cx="1491062" cy="408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4" imgW="793115" imgH="218440" progId="Equation.DSMT4">
                  <p:embed/>
                </p:oleObj>
              </mc:Choice>
              <mc:Fallback>
                <p:oleObj name="Equation" r:id="rId4" imgW="793115" imgH="218440" progId="Equation.DSMT4">
                  <p:embed/>
                  <p:pic>
                    <p:nvPicPr>
                      <p:cNvPr id="0" name="对象 1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558713" y="3500312"/>
                        <a:ext cx="1491062" cy="4085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箭头: 右 16"/>
          <p:cNvSpPr/>
          <p:nvPr/>
        </p:nvSpPr>
        <p:spPr>
          <a:xfrm>
            <a:off x="6229344" y="3712959"/>
            <a:ext cx="268357" cy="110809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/>
          <p:cNvSpPr/>
          <p:nvPr/>
        </p:nvSpPr>
        <p:spPr>
          <a:xfrm>
            <a:off x="6271584" y="4211604"/>
            <a:ext cx="268357" cy="110809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15672"/>
            <a:ext cx="9144000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zh-CN" sz="2400" b="1" dirty="0">
                <a:latin typeface="+mn-lt"/>
                <a:ea typeface="+mn-ea"/>
                <a:cs typeface="+mn-cs"/>
              </a:rPr>
              <a:t>fluence of Random parameter channels</a:t>
            </a:r>
            <a:r>
              <a:rPr lang="en-US" altLang="zh-CN" sz="2400" b="1" dirty="0">
                <a:latin typeface="+mn-lt"/>
                <a:ea typeface="+mn-ea"/>
                <a:cs typeface="+mn-cs"/>
              </a:rPr>
              <a:t> on </a:t>
            </a:r>
            <a:r>
              <a:rPr lang="zh-CN" altLang="zh-CN" sz="2400" b="1" dirty="0">
                <a:latin typeface="+mn-lt"/>
                <a:ea typeface="+mn-ea"/>
                <a:cs typeface="+mn-cs"/>
              </a:rPr>
              <a:t>transmissio</a:t>
            </a:r>
            <a:r>
              <a:rPr lang="en-US" altLang="zh-CN" sz="2400" b="1" dirty="0">
                <a:latin typeface="+mn-lt"/>
                <a:ea typeface="+mn-ea"/>
                <a:cs typeface="+mn-cs"/>
              </a:rPr>
              <a:t>n</a:t>
            </a:r>
            <a:br>
              <a:rPr lang="en-US" altLang="zh-CN" sz="2400" b="1" dirty="0">
                <a:latin typeface="+mn-lt"/>
                <a:ea typeface="+mn-ea"/>
                <a:cs typeface="+mn-cs"/>
              </a:rPr>
            </a:br>
            <a:r>
              <a:rPr lang="en-US" altLang="zh-CN" sz="2400" dirty="0">
                <a:solidFill>
                  <a:srgbClr val="0070C0"/>
                </a:solidFill>
                <a:latin typeface="Comic Sans MS" panose="030F0702030302020204" pitchFamily="66" charset="0"/>
              </a:rPr>
              <a:t>--</a:t>
            </a:r>
            <a:r>
              <a:rPr lang="en-US" altLang="zh-CN" sz="24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Multipath effect</a:t>
            </a:r>
            <a:r>
              <a:rPr lang="en-US" altLang="zh-CN" sz="24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(</a:t>
            </a:r>
            <a:r>
              <a:rPr lang="zh-CN" altLang="en-US" sz="24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多径效应</a:t>
            </a:r>
            <a:r>
              <a:rPr lang="en-US" altLang="zh-CN" sz="24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):</a:t>
            </a:r>
            <a:r>
              <a:rPr lang="zh-CN" altLang="zh-CN" sz="2400" dirty="0"/>
              <a:t> </a:t>
            </a:r>
            <a:r>
              <a:rPr lang="en-US" altLang="zh-CN" sz="2400" dirty="0"/>
              <a:t>——</a:t>
            </a:r>
            <a:r>
              <a:rPr lang="zh-CN" altLang="en-US" sz="2400" b="1" dirty="0"/>
              <a:t>简化场景： 只有两条传播路径</a:t>
            </a:r>
            <a:endParaRPr lang="zh-CN" altLang="en-US" sz="2400" b="1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801" y="4766578"/>
            <a:ext cx="7520398" cy="10526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29852" y="5819238"/>
            <a:ext cx="17592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highlight>
                  <a:srgbClr val="FFFF00"/>
                </a:highlight>
              </a:rPr>
              <a:t>Discuss</a:t>
            </a:r>
            <a:r>
              <a:rPr lang="zh-CN" altLang="en-US" sz="4000" dirty="0">
                <a:highlight>
                  <a:srgbClr val="FFFF00"/>
                </a:highlight>
              </a:rPr>
              <a:t>？</a:t>
            </a:r>
            <a:r>
              <a:rPr lang="en-US" altLang="zh-CN" dirty="0"/>
              <a:t> 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15672"/>
            <a:ext cx="9144000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zh-CN" sz="2400" b="1" dirty="0">
                <a:latin typeface="+mn-lt"/>
                <a:ea typeface="+mn-ea"/>
                <a:cs typeface="+mn-cs"/>
              </a:rPr>
              <a:t>fluence of Random parameter channels</a:t>
            </a:r>
            <a:r>
              <a:rPr lang="en-US" altLang="zh-CN" sz="2400" b="1" dirty="0">
                <a:latin typeface="+mn-lt"/>
                <a:ea typeface="+mn-ea"/>
                <a:cs typeface="+mn-cs"/>
              </a:rPr>
              <a:t> on </a:t>
            </a:r>
            <a:r>
              <a:rPr lang="zh-CN" altLang="zh-CN" sz="2400" b="1" dirty="0">
                <a:latin typeface="+mn-lt"/>
                <a:ea typeface="+mn-ea"/>
                <a:cs typeface="+mn-cs"/>
              </a:rPr>
              <a:t>transmissio</a:t>
            </a:r>
            <a:r>
              <a:rPr lang="en-US" altLang="zh-CN" sz="2400" b="1" dirty="0">
                <a:latin typeface="+mn-lt"/>
                <a:ea typeface="+mn-ea"/>
                <a:cs typeface="+mn-cs"/>
              </a:rPr>
              <a:t>n</a:t>
            </a:r>
            <a:br>
              <a:rPr lang="en-US" altLang="zh-CN" sz="2400" b="1" dirty="0">
                <a:latin typeface="+mn-lt"/>
                <a:ea typeface="+mn-ea"/>
                <a:cs typeface="+mn-cs"/>
              </a:rPr>
            </a:br>
            <a:r>
              <a:rPr lang="en-US" altLang="zh-CN" sz="2400" dirty="0">
                <a:solidFill>
                  <a:srgbClr val="0070C0"/>
                </a:solidFill>
                <a:latin typeface="Comic Sans MS" panose="030F0702030302020204" pitchFamily="66" charset="0"/>
              </a:rPr>
              <a:t>--</a:t>
            </a:r>
            <a:r>
              <a:rPr lang="en-US" altLang="zh-CN" sz="24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Multipath effect</a:t>
            </a:r>
            <a:r>
              <a:rPr lang="en-US" altLang="zh-CN" sz="24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(</a:t>
            </a:r>
            <a:r>
              <a:rPr lang="zh-CN" altLang="en-US" sz="24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多径效应</a:t>
            </a:r>
            <a:r>
              <a:rPr lang="en-US" altLang="zh-CN" sz="24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):</a:t>
            </a:r>
            <a:r>
              <a:rPr lang="zh-CN" altLang="zh-CN" sz="2400" dirty="0"/>
              <a:t> </a:t>
            </a:r>
            <a:r>
              <a:rPr lang="en-US" altLang="zh-CN" sz="2400" dirty="0"/>
              <a:t>——</a:t>
            </a:r>
            <a:r>
              <a:rPr lang="zh-CN" altLang="en-US" sz="2400" b="1" dirty="0"/>
              <a:t>简化场景：只有两条传播路径</a:t>
            </a:r>
            <a:endParaRPr lang="zh-CN" altLang="en-US" sz="2400" b="1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497" y="1347033"/>
            <a:ext cx="7520398" cy="1052660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5171661" y="2900057"/>
            <a:ext cx="2951993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spcBef>
                <a:spcPct val="20000"/>
              </a:spcBef>
              <a:buClr>
                <a:srgbClr val="0000CC"/>
              </a:buClr>
              <a:buSzPct val="55000"/>
              <a:defRPr/>
            </a:pPr>
            <a:r>
              <a:rPr lang="en-US" altLang="zh-CN" sz="2400" dirty="0"/>
              <a:t>C</a:t>
            </a:r>
            <a:r>
              <a:rPr lang="zh-CN" altLang="zh-CN" sz="2400" dirty="0"/>
              <a:t>onstant attenuation</a:t>
            </a:r>
            <a:endParaRPr lang="zh-CN" altLang="en-US" sz="2400" kern="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154190" y="2299713"/>
            <a:ext cx="2289313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spcBef>
                <a:spcPct val="20000"/>
              </a:spcBef>
              <a:buClr>
                <a:srgbClr val="0000CC"/>
              </a:buClr>
              <a:buSzPct val="55000"/>
              <a:defRPr/>
            </a:pPr>
            <a:r>
              <a:rPr lang="en-US" altLang="zh-CN" sz="2400" dirty="0"/>
              <a:t>Fixed time delay</a:t>
            </a:r>
            <a:endParaRPr lang="zh-CN" altLang="en-US" sz="2400" kern="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6525038" y="1876472"/>
            <a:ext cx="0" cy="31805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5792855" y="1989983"/>
            <a:ext cx="0" cy="81942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矩形: 圆角 31"/>
          <p:cNvSpPr/>
          <p:nvPr/>
        </p:nvSpPr>
        <p:spPr bwMode="auto">
          <a:xfrm>
            <a:off x="6727111" y="1570917"/>
            <a:ext cx="1493781" cy="567071"/>
          </a:xfrm>
          <a:prstGeom prst="roundRect">
            <a:avLst/>
          </a:prstGeom>
          <a:noFill/>
          <a:ln w="25400" cap="rnd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3" name="Object 9"/>
          <p:cNvGraphicFramePr>
            <a:graphicFrameLocks noChangeAspect="1"/>
          </p:cNvGraphicFramePr>
          <p:nvPr/>
        </p:nvGraphicFramePr>
        <p:xfrm>
          <a:off x="106361" y="3648894"/>
          <a:ext cx="8961096" cy="8662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2" imgW="4432300" imgH="431800" progId="Equation.3">
                  <p:embed/>
                </p:oleObj>
              </mc:Choice>
              <mc:Fallback>
                <p:oleObj name="公式" r:id="rId2" imgW="4432300" imgH="431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61" y="3648894"/>
                        <a:ext cx="8961096" cy="8662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椭圆 33"/>
          <p:cNvSpPr/>
          <p:nvPr/>
        </p:nvSpPr>
        <p:spPr bwMode="auto">
          <a:xfrm>
            <a:off x="446263" y="3735767"/>
            <a:ext cx="825627" cy="621437"/>
          </a:xfrm>
          <a:prstGeom prst="ellipse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6352" y="3406366"/>
            <a:ext cx="2275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      欧拉公式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6" name="椭圆 35"/>
          <p:cNvSpPr/>
          <p:nvPr/>
        </p:nvSpPr>
        <p:spPr bwMode="auto">
          <a:xfrm>
            <a:off x="2024044" y="3756762"/>
            <a:ext cx="2046030" cy="579445"/>
          </a:xfrm>
          <a:prstGeom prst="ellipse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462" y="4515153"/>
            <a:ext cx="3812612" cy="2234979"/>
          </a:xfrm>
          <a:prstGeom prst="rect">
            <a:avLst/>
          </a:prstGeom>
        </p:spPr>
      </p:pic>
      <p:sp>
        <p:nvSpPr>
          <p:cNvPr id="39" name="矩形 38"/>
          <p:cNvSpPr/>
          <p:nvPr/>
        </p:nvSpPr>
        <p:spPr>
          <a:xfrm>
            <a:off x="3351501" y="6368471"/>
            <a:ext cx="869674" cy="33158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4171957" y="4655662"/>
            <a:ext cx="4793617" cy="1815882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zh-CN" altLang="zh-CN" sz="2800" dirty="0"/>
              <a:t>Since this fading depends on frequency, it is often referred to as </a:t>
            </a:r>
            <a:r>
              <a:rPr lang="zh-CN" altLang="zh-CN" sz="2800" b="1" dirty="0">
                <a:solidFill>
                  <a:srgbClr val="C00000"/>
                </a:solidFill>
              </a:rPr>
              <a:t>frequency-selective fading</a:t>
            </a:r>
            <a:r>
              <a:rPr lang="zh-CN" altLang="en-US" sz="2800" b="1" dirty="0"/>
              <a:t>（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频率选择性衰落）</a:t>
            </a:r>
            <a:r>
              <a:rPr lang="zh-CN" altLang="zh-CN" sz="2800" b="1" dirty="0"/>
              <a:t>.</a:t>
            </a:r>
            <a:endParaRPr lang="zh-CN" altLang="en-US" sz="28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4" grpId="0" animBg="1"/>
      <p:bldP spid="35" grpId="0"/>
      <p:bldP spid="36" grpId="0" animBg="1"/>
      <p:bldP spid="4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15672"/>
            <a:ext cx="9144000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zh-CN" sz="2400" b="1" dirty="0">
                <a:latin typeface="+mn-lt"/>
                <a:ea typeface="+mn-ea"/>
                <a:cs typeface="+mn-cs"/>
              </a:rPr>
              <a:t>fluence of Random parameter channels</a:t>
            </a:r>
            <a:r>
              <a:rPr lang="en-US" altLang="zh-CN" sz="2400" b="1" dirty="0">
                <a:latin typeface="+mn-lt"/>
                <a:ea typeface="+mn-ea"/>
                <a:cs typeface="+mn-cs"/>
              </a:rPr>
              <a:t> on </a:t>
            </a:r>
            <a:r>
              <a:rPr lang="zh-CN" altLang="zh-CN" sz="2400" b="1" dirty="0">
                <a:latin typeface="+mn-lt"/>
                <a:ea typeface="+mn-ea"/>
                <a:cs typeface="+mn-cs"/>
              </a:rPr>
              <a:t>transmissio</a:t>
            </a:r>
            <a:r>
              <a:rPr lang="en-US" altLang="zh-CN" sz="2400" b="1" dirty="0">
                <a:latin typeface="+mn-lt"/>
                <a:ea typeface="+mn-ea"/>
                <a:cs typeface="+mn-cs"/>
              </a:rPr>
              <a:t>n</a:t>
            </a:r>
            <a:br>
              <a:rPr lang="en-US" altLang="zh-CN" sz="2400" b="1" dirty="0">
                <a:latin typeface="+mn-lt"/>
                <a:ea typeface="+mn-ea"/>
                <a:cs typeface="+mn-cs"/>
              </a:rPr>
            </a:br>
            <a:r>
              <a:rPr lang="en-US" altLang="zh-CN" sz="2400" dirty="0">
                <a:solidFill>
                  <a:srgbClr val="0070C0"/>
                </a:solidFill>
                <a:latin typeface="Comic Sans MS" panose="030F0702030302020204" pitchFamily="66" charset="0"/>
              </a:rPr>
              <a:t>--</a:t>
            </a:r>
            <a:r>
              <a:rPr lang="en-US" altLang="zh-CN" sz="24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Multipath effect</a:t>
            </a:r>
            <a:r>
              <a:rPr lang="en-US" altLang="zh-CN" sz="24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(</a:t>
            </a:r>
            <a:r>
              <a:rPr lang="zh-CN" altLang="en-US" sz="24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多径效应</a:t>
            </a:r>
            <a:r>
              <a:rPr lang="en-US" altLang="zh-CN" sz="24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):</a:t>
            </a:r>
            <a:r>
              <a:rPr lang="zh-CN" altLang="zh-CN" sz="2400" dirty="0"/>
              <a:t> </a:t>
            </a:r>
            <a:r>
              <a:rPr lang="en-US" altLang="zh-CN" sz="2400" dirty="0"/>
              <a:t>——</a:t>
            </a:r>
            <a:r>
              <a:rPr lang="zh-CN" altLang="en-US" sz="2400" b="1" dirty="0"/>
              <a:t>简化场景：只有两条传播路径</a:t>
            </a:r>
            <a:endParaRPr lang="zh-CN" altLang="en-US" sz="2400" b="1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497" y="1347033"/>
            <a:ext cx="7520398" cy="1052660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5171661" y="2900057"/>
            <a:ext cx="2951993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spcBef>
                <a:spcPct val="20000"/>
              </a:spcBef>
              <a:buClr>
                <a:srgbClr val="0000CC"/>
              </a:buClr>
              <a:buSzPct val="55000"/>
              <a:defRPr/>
            </a:pPr>
            <a:r>
              <a:rPr lang="en-US" altLang="zh-CN" sz="2400" dirty="0"/>
              <a:t>C</a:t>
            </a:r>
            <a:r>
              <a:rPr lang="zh-CN" altLang="zh-CN" sz="2400" dirty="0"/>
              <a:t>onstant attenuation</a:t>
            </a:r>
            <a:endParaRPr lang="zh-CN" altLang="en-US" sz="2400" kern="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154190" y="2299713"/>
            <a:ext cx="2289313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spcBef>
                <a:spcPct val="20000"/>
              </a:spcBef>
              <a:buClr>
                <a:srgbClr val="0000CC"/>
              </a:buClr>
              <a:buSzPct val="55000"/>
              <a:defRPr/>
            </a:pPr>
            <a:r>
              <a:rPr lang="en-US" altLang="zh-CN" sz="2400" dirty="0"/>
              <a:t>Fixed time delay</a:t>
            </a:r>
            <a:endParaRPr lang="zh-CN" altLang="en-US" sz="2400" kern="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6525038" y="1876472"/>
            <a:ext cx="0" cy="31805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5792855" y="1989983"/>
            <a:ext cx="0" cy="81942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矩形: 圆角 31"/>
          <p:cNvSpPr/>
          <p:nvPr/>
        </p:nvSpPr>
        <p:spPr bwMode="auto">
          <a:xfrm>
            <a:off x="6727111" y="1570917"/>
            <a:ext cx="1493781" cy="567071"/>
          </a:xfrm>
          <a:prstGeom prst="roundRect">
            <a:avLst/>
          </a:prstGeom>
          <a:noFill/>
          <a:ln w="25400" cap="rnd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3" name="Object 9"/>
          <p:cNvGraphicFramePr>
            <a:graphicFrameLocks noChangeAspect="1"/>
          </p:cNvGraphicFramePr>
          <p:nvPr/>
        </p:nvGraphicFramePr>
        <p:xfrm>
          <a:off x="106361" y="3648894"/>
          <a:ext cx="8961096" cy="8662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2" imgW="4432300" imgH="431800" progId="Equation.3">
                  <p:embed/>
                </p:oleObj>
              </mc:Choice>
              <mc:Fallback>
                <p:oleObj name="公式" r:id="rId2" imgW="4432300" imgH="431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61" y="3648894"/>
                        <a:ext cx="8961096" cy="8662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椭圆 33"/>
          <p:cNvSpPr/>
          <p:nvPr/>
        </p:nvSpPr>
        <p:spPr bwMode="auto">
          <a:xfrm>
            <a:off x="446263" y="3735767"/>
            <a:ext cx="825627" cy="621437"/>
          </a:xfrm>
          <a:prstGeom prst="ellipse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6352" y="3406366"/>
            <a:ext cx="2275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      欧拉公式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6" name="椭圆 35"/>
          <p:cNvSpPr/>
          <p:nvPr/>
        </p:nvSpPr>
        <p:spPr bwMode="auto">
          <a:xfrm>
            <a:off x="2024044" y="3756762"/>
            <a:ext cx="2046030" cy="579445"/>
          </a:xfrm>
          <a:prstGeom prst="ellipse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462" y="4515153"/>
            <a:ext cx="3812612" cy="2234979"/>
          </a:xfrm>
          <a:prstGeom prst="rect">
            <a:avLst/>
          </a:prstGeom>
        </p:spPr>
      </p:pic>
      <p:sp>
        <p:nvSpPr>
          <p:cNvPr id="39" name="矩形 38"/>
          <p:cNvSpPr/>
          <p:nvPr/>
        </p:nvSpPr>
        <p:spPr>
          <a:xfrm>
            <a:off x="3351501" y="6368471"/>
            <a:ext cx="869674" cy="33158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4002848" y="4444075"/>
            <a:ext cx="5082241" cy="1938992"/>
          </a:xfrm>
          <a:prstGeom prst="rect">
            <a:avLst/>
          </a:prstGeom>
          <a:noFill/>
          <a:ln w="19050">
            <a:solidFill>
              <a:srgbClr val="C00000"/>
            </a:solidFill>
            <a:prstDash val="lgDash"/>
          </a:ln>
        </p:spPr>
        <p:txBody>
          <a:bodyPr wrap="square">
            <a:spAutoFit/>
          </a:bodyPr>
          <a:lstStyle/>
          <a:p>
            <a:r>
              <a:rPr lang="zh-CN" altLang="zh-CN" sz="2400" dirty="0"/>
              <a:t>In mobile 4G and 5G communications, this frequency-selective fading has a great impact on signals and degrades communication quality.</a:t>
            </a:r>
            <a:r>
              <a:rPr lang="en-US" altLang="zh-CN" sz="2400" dirty="0"/>
              <a:t> S</a:t>
            </a:r>
            <a:r>
              <a:rPr lang="zh-CN" altLang="zh-CN" sz="2400" dirty="0"/>
              <a:t>o we need ways to solve this problem.</a:t>
            </a:r>
            <a:endParaRPr lang="zh-CN" altLang="en-US" sz="24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69383"/>
            <a:ext cx="9144000" cy="3706659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0" y="163203"/>
            <a:ext cx="934775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4400" b="1" dirty="0">
                <a:latin typeface="+mj-lt"/>
                <a:ea typeface="+mj-ea"/>
                <a:cs typeface="+mj-cs"/>
              </a:rPr>
              <a:t>Condition for frequency‑selective fading</a:t>
            </a:r>
            <a:endParaRPr lang="zh-CN" altLang="en-US" sz="4400" b="1" dirty="0">
              <a:latin typeface="+mj-lt"/>
              <a:ea typeface="+mj-ea"/>
              <a:cs typeface="+mj-cs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464" y="4623021"/>
            <a:ext cx="3812612" cy="223497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82483" y="35409"/>
            <a:ext cx="7793037" cy="919162"/>
          </a:xfrm>
        </p:spPr>
        <p:txBody>
          <a:bodyPr>
            <a:normAutofit/>
          </a:bodyPr>
          <a:lstStyle/>
          <a:p>
            <a:r>
              <a:rPr lang="en-US" altLang="zh-CN" b="1" dirty="0"/>
              <a:t>Example</a:t>
            </a:r>
            <a:endParaRPr lang="zh-CN" altLang="en-US" b="1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77662"/>
            <a:ext cx="9144000" cy="3005519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640" y="342925"/>
            <a:ext cx="6480720" cy="648072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2EwNjhmY2Y3YTFlZWM0NGNhMDM0MDkwZTU1ZDZkNTMifQ=="/>
</p:tagLst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10390</Words>
  <Application>WPS 演示</Application>
  <PresentationFormat>全屏显示(4:3)</PresentationFormat>
  <Paragraphs>579</Paragraphs>
  <Slides>45</Slides>
  <Notes>3</Notes>
  <HiddenSlides>0</HiddenSlides>
  <MMClips>2</MMClips>
  <ScaleCrop>false</ScaleCrop>
  <HeadingPairs>
    <vt:vector size="8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31</vt:i4>
      </vt:variant>
      <vt:variant>
        <vt:lpstr>幻灯片标题</vt:lpstr>
      </vt:variant>
      <vt:variant>
        <vt:i4>45</vt:i4>
      </vt:variant>
    </vt:vector>
  </HeadingPairs>
  <TitlesOfParts>
    <vt:vector size="101" baseType="lpstr">
      <vt:lpstr>Arial</vt:lpstr>
      <vt:lpstr>宋体</vt:lpstr>
      <vt:lpstr>Wingdings</vt:lpstr>
      <vt:lpstr>Times New Roman</vt:lpstr>
      <vt:lpstr>黑体</vt:lpstr>
      <vt:lpstr>楷体_GB2312</vt:lpstr>
      <vt:lpstr>新宋体</vt:lpstr>
      <vt:lpstr>楷体_GB2312</vt:lpstr>
      <vt:lpstr>等线 Light</vt:lpstr>
      <vt:lpstr>Helvetica</vt:lpstr>
      <vt:lpstr>Arial</vt:lpstr>
      <vt:lpstr>Calibri</vt:lpstr>
      <vt:lpstr>Calibri Light</vt:lpstr>
      <vt:lpstr>微软雅黑</vt:lpstr>
      <vt:lpstr>Arial Unicode MS</vt:lpstr>
      <vt:lpstr>等线</vt:lpstr>
      <vt:lpstr>Calibri</vt:lpstr>
      <vt:lpstr>Tahoma</vt:lpstr>
      <vt:lpstr>Cambria Math</vt:lpstr>
      <vt:lpstr>华文中宋</vt:lpstr>
      <vt:lpstr>Comic Sans MS</vt:lpstr>
      <vt:lpstr>隶书</vt:lpstr>
      <vt:lpstr>Symbol</vt:lpstr>
      <vt:lpstr>Office 2013 - 2022 主题</vt:lpstr>
      <vt:lpstr>1_Office 2013 - 2022 主题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Equation.KSEE3</vt:lpstr>
      <vt:lpstr>Equation.DSMT4</vt:lpstr>
      <vt:lpstr>Equation.KSEE3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             Principles of communications                   Chapter 3  Channel—Part I                                                                               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Summary</vt:lpstr>
      <vt:lpstr>Summary</vt:lpstr>
      <vt:lpstr>Matching Question</vt:lpstr>
      <vt:lpstr>Example 1 </vt:lpstr>
      <vt:lpstr>Example 2</vt:lpstr>
      <vt:lpstr>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Example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Influence of Random parameter channels on transmission --Multipath effect(多径效应):        The effect of multipath propagation on signals.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Example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2.14 Computer Experiments: Flat-Fading Channel</dc:title>
  <dc:creator>zhuzhu</dc:creator>
  <cp:lastModifiedBy>董鑫瑞</cp:lastModifiedBy>
  <cp:revision>531</cp:revision>
  <cp:lastPrinted>2022-10-03T07:59:00Z</cp:lastPrinted>
  <dcterms:created xsi:type="dcterms:W3CDTF">2019-07-27T08:10:00Z</dcterms:created>
  <dcterms:modified xsi:type="dcterms:W3CDTF">2026-10-17T12:51:47Z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2ABFCAAA8190482E98FCE8682E22AD92</vt:lpwstr>
  </property>
  <property fmtid="{D5CDD505-2E9C-101B-9397-08002B2CF9AE}" pid="3" name="KSOProductBuildVer">
    <vt:lpwstr>2052-12.1.0.19302</vt:lpwstr>
  </property>
</Properties>
</file>