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10"/>
  </p:notesMasterIdLst>
  <p:handoutMasterIdLst>
    <p:handoutMasterId r:id="rId57"/>
  </p:handoutMasterIdLst>
  <p:sldIdLst>
    <p:sldId id="412" r:id="rId5"/>
    <p:sldId id="731" r:id="rId6"/>
    <p:sldId id="732" r:id="rId7"/>
    <p:sldId id="769" r:id="rId8"/>
    <p:sldId id="734" r:id="rId9"/>
    <p:sldId id="770" r:id="rId11"/>
    <p:sldId id="736" r:id="rId12"/>
    <p:sldId id="738" r:id="rId13"/>
    <p:sldId id="739" r:id="rId14"/>
    <p:sldId id="707" r:id="rId15"/>
    <p:sldId id="747" r:id="rId16"/>
    <p:sldId id="748" r:id="rId17"/>
    <p:sldId id="749" r:id="rId18"/>
    <p:sldId id="771" r:id="rId19"/>
    <p:sldId id="750" r:id="rId20"/>
    <p:sldId id="773" r:id="rId21"/>
    <p:sldId id="777" r:id="rId22"/>
    <p:sldId id="723" r:id="rId23"/>
    <p:sldId id="740" r:id="rId24"/>
    <p:sldId id="742" r:id="rId25"/>
    <p:sldId id="745" r:id="rId26"/>
    <p:sldId id="744" r:id="rId27"/>
    <p:sldId id="762" r:id="rId28"/>
    <p:sldId id="763" r:id="rId29"/>
    <p:sldId id="776" r:id="rId30"/>
    <p:sldId id="764" r:id="rId31"/>
    <p:sldId id="788" r:id="rId32"/>
    <p:sldId id="778" r:id="rId33"/>
    <p:sldId id="775" r:id="rId34"/>
    <p:sldId id="746" r:id="rId35"/>
    <p:sldId id="755" r:id="rId36"/>
    <p:sldId id="756" r:id="rId37"/>
    <p:sldId id="758" r:id="rId38"/>
    <p:sldId id="754" r:id="rId39"/>
    <p:sldId id="727" r:id="rId40"/>
    <p:sldId id="726" r:id="rId41"/>
    <p:sldId id="752" r:id="rId42"/>
    <p:sldId id="757" r:id="rId43"/>
    <p:sldId id="784" r:id="rId44"/>
    <p:sldId id="753" r:id="rId45"/>
    <p:sldId id="789" r:id="rId46"/>
    <p:sldId id="780" r:id="rId47"/>
    <p:sldId id="781" r:id="rId48"/>
    <p:sldId id="782" r:id="rId49"/>
    <p:sldId id="785" r:id="rId50"/>
    <p:sldId id="787" r:id="rId51"/>
    <p:sldId id="786" r:id="rId52"/>
    <p:sldId id="751" r:id="rId53"/>
    <p:sldId id="759" r:id="rId54"/>
    <p:sldId id="570" r:id="rId55"/>
    <p:sldId id="790" r:id="rId56"/>
  </p:sldIdLst>
  <p:sldSz cx="9144000" cy="6858000" type="screen4x3"/>
  <p:notesSz cx="6829425" cy="10001250"/>
  <p:kinsoku lang="zh-TW" invalStChars="!),.:;?]}，、。．；：？！︰…‥﹐﹑﹒﹔﹕﹖﹗｜–︱—︳?︴﹏）︶﹜︸〕︺】︼》︾〉﹀」﹂』﹄﹚﹜﹞’”〞′·" invalEndChars="([{（︵﹛︷〔︹【︻《︽〈︿「﹁『﹃﹙﹛﹝‘“〝‵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9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FF0000"/>
    <a:srgbClr val="114FFB"/>
    <a:srgbClr val="FF5050"/>
    <a:srgbClr val="FF66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4743" autoAdjust="0"/>
  </p:normalViewPr>
  <p:slideViewPr>
    <p:cSldViewPr showGuides="1">
      <p:cViewPr varScale="1">
        <p:scale>
          <a:sx n="91" d="100"/>
          <a:sy n="91" d="100"/>
        </p:scale>
        <p:origin x="993" y="57"/>
      </p:cViewPr>
      <p:guideLst>
        <p:guide orient="horz" pos="2199"/>
        <p:guide pos="2886"/>
      </p:guideLst>
    </p:cSldViewPr>
  </p:slideViewPr>
  <p:outlineViewPr>
    <p:cViewPr>
      <p:scale>
        <a:sx n="33" d="100"/>
        <a:sy n="33" d="100"/>
      </p:scale>
      <p:origin x="0" y="-36355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3147" y="69"/>
      </p:cViewPr>
      <p:guideLst/>
    </p:cSldViewPr>
  </p:notes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0" Type="http://schemas.openxmlformats.org/officeDocument/2006/relationships/tableStyles" Target="tableStyles.xml"/><Relationship Id="rId6" Type="http://schemas.openxmlformats.org/officeDocument/2006/relationships/slide" Target="slides/slide2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handoutMaster" Target="handoutMasters/handoutMaster1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147480000" units="dev"/>
        </inkml:traceFormat>
        <inkml:channelProperties>
          <inkml:channelProperty channel="X" name="resolution" value="89.04348" units="1/cm"/>
          <inkml:channelProperty channel="Y" name="resolution" value="89.30232" units="1/cm"/>
          <inkml:channelProperty channel="T" name="resolution" value="1" units="1/dev"/>
        </inkml:channelProperties>
      </inkml:inkSource>
      <inkml:timestamp xml:id="ts0" timeString="2026-09-17T01:00:48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7134.000 17175.000 0,'10.000'0.000'172,"-1.000"0.000"-125,1.000 0.000 0,0.000 0.000-16,0.000 0.000 16,0.000 0.000 422,10.000 0.000-454,0.000 0.000 1,-10.000 0.000 0,0.000 0.000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8:08: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0.000 6175.000 24575,'1.000'-10.000'0,"0.000"0.000"0,1.000 1.000 0,0.000-1.000 0,0.000 1.000 0,7.000-18.000 0,-2.000 8.000 0,48.000-139.000-265,7.000 1.000 0,7.000 4.000 1,117.000-190.000-1,221.000-277.000 242,-330.000 508.000-37,382.000-663.000-351,-390.000 639.000 409,58.000-106.000 176,-29.000 75.000 982,77.000-128.000-931,49.000-77.000-225,-7.000 76.000 0,-91.000 135.000 0,168.000-213.000 0,-137.000 179.000 0,22.000-34.000 0,-111.000 144.000 0,105.000-136.000 0,-69.000 85.000 0,22.000-28.000 0,-14.000-9.000 0,-24.000 0.000 0,-24.000 55.000 0,-31.000 56.000 0,-18.000 36.000 0,-1.000-1.000 0,-2.000 0.000 0,15.000-45.000 0,-27.000 71.000 0,1.000 1.000 0,-1.000-1.000 0,0.000 1.000 0,0.000-1.000 0,0.000 1.000 0,0.000 0.000 0,0.000-1.000 0,0.000 1.000 0,0.000-1.000 0,0.000 1.000 0,0.000-1.000 0,0.000 1.000 0,0.000-1.000 0,0.000 1.000 0,0.000-1.000 0,0.000 1.000 0,0.000-1.000 0,0.000 1.000 0,0.000 0.000 0,-1.000-1.000 0,1.000 1.000 0,0.000-1.000 0,0.000 1.000 0,-1.000-1.000 0,1.000 1.000 0,-1.000 0.000 0,1.000 0.000 0,0.000 0.000 0,-1.000 0.000 0,1.000 0.000 0,-1.000 0.000 0,1.000 0.000 0,0.000 0.000 0,-1.000 0.000 0,1.000 0.000 0,-1.000 0.000 0,1.000 0.000 0,0.000 1.000 0,-1.000-1.000 0,1.000 0.000 0,0.000 0.000 0,-1.000 0.000 0,1.000 0.000 0,-1.000 1.000 0,-22.000 17.000 0,19.000-15.000 0,-59.000 48.000 0,-64.000 58.000 0,72.000-58.000 0,-10.000 10.000 0,57.000-50.000-1365,1.000-1.000-5461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8:08: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24575,'9.000'194.000'0,"-4.000"-151.000"-73,-3.000-16.000-358,2.000-1.000 1,11.000 43.000-1,-11.000-59.000-6395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8:08: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0.000 0.000 24575,'0.000'0.000'-8191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147480000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19T08:49:40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15822.000 8987.000 0,'14.000'0.000'110,"25.000"-13.000"-95,-12.000 13.000-15,12.000 0.000 16,-12.000 0.000 0,26.000 0.000-1,-13.000 0.000 1,12.000-13.000 0,-38.000 13.000-16,38.000-14.000 15,1.000 2.000 1,-26.000 12.000-1,-1.000 0.000 1,14.000 0.000 0,-13.000 0.000-1,-15.000 0.000 1,15.000 0.000 15,-14.000 0.000-15,27.000 0.000-1,26.000 0.000 1,-26.000 0.000 0,-14.000 0.000-1,14.000 0.000 1,-13.000 0.000 0,52.000 0.000-1,27.000 0.000 1,-66.000 0.000-1,-28.000 0.000 79</inkml:trace>
  <inkml:trace contextRef="#ctx0" brushRef="#br0">16735.000 8710.000 0,'0.000'26.000'47,"13.000"0.000"-47,27.000 1.000 31,0.000 26.000-16,0.000-40.000 1,-14.000 13.000 0,-13.000-26.000-1,0.000 0.000 1,1.000 14.000 0,12.000-14.000-1,40.000 13.000 1,0.000 0.000-1,-53.000-13.000 1,-13.000 14.000 93,-13.000-14.000-77,0.000 12.000-32,-14.000 2.000 15,-25.000 12.000 1,12.000-26.000 0,0.000 26.000-1,-26.000-12.000 1,26.000 12.000-1,-13.000 1.000 1,14.000-14.000 0,26.000 0.000-1,-14.000 1.000 1,14.000-14.000 0,13.000 13.000-1,0.000 0.000 1</inkml:trace>
  <inkml:trace contextRef="#ctx0" brushRef="#br0">17185.000 8048.000 0,'0.000'0.000'16,"0.000"212.000"0,0.000-53.000-1,0.000-133.000 1,0.000 27.000-16,0.000 105.000 16,0.000-65.000-1,0.000 26.000 1,0.000-26.000-1,0.000-27.000 1,0.000 13.000 0,0.000 14.000-1,0.000 0.000 1,13.000 52.000 15,0.000-53.000-15,-13.000 1.000-1,14.000-40.000-15,-2.000 40.000 16,2.000 52.000 0,-1.000-92.000-1,-13.000-26.000 1,13.000 25.000 0,-13.000 2.000-1,0.000-28.000 1,0.000 0.000-1</inkml:trace>
  <inkml:trace contextRef="#ctx0" brushRef="#br0">17264.000 7863.000 0,'0.000'-14.000'16,"13.000"14.000"15,1.000 0.000-15,25.000 0.000 15,14.000 0.000-16,40.000 0.000 1,26.000 0.000 0,27.000 0.000-1,-41.000 0.000 1,-25.000 0.000 0,-1.000 0.000-1,27.000 0.000 1,-14.000 0.000-16,54.000 0.000 15,-14.000-12.000 1,67.000 12.000 0,52.000 0.000-1,-132.000 0.000 1,0.000 0.000 0,-53.000 12.000 15,80.000 2.000-16,-14.000-14.000 1,27.000 0.000 0,13.000 0.000-1,-27.000 0.000 1,-26.000 0.000 0,27.000 0.000-1,39.000 0.000 1,27.000 0.000-1,-67.000 0.000 1,-26.000 0.000 0,1.000 0.000-1,65.000 0.000 1,-53.000 0.000 15,27.000 0.000-15,-80.000 0.000-1,-66.000 0.000 1,1.000 0.000 15,52.000 0.000-15,0.000 0.000 0,-27.000 0.000-1,1.000 0.000 1,26.000 0.000-1,-39.000 0.000 1,-14.000 0.000 47,0.000 0.000-63,1.000 0.000 15,-1.000 0.000 1,0.000 0.000-1,0.000 0.000 17,0.000 0.000-17,1.000 13.000 32,-14.000 14.000-31,13.000 12.000-16,14.000 27.000 15,-1.000 40.000 1,0.000-14.000 0,-12.000 54.000-1,-2.000-27.000 1,28.000 106.000 0,-40.000-40.000 15,0.000-92.000-16,0.000 0.000 1,0.000-14.000 0,14.000 13.000-1,-14.000 28.000 1,0.000-54.000 0,0.000 27.000-1,0.000-1.000 1,0.000-52.000-16,0.000 13.000 15,0.000-1.000 1,0.000 2.000 0,0.000 12.000-1,0.000-13.000 1,0.000 13.000 15,0.000-14.000-15,0.000-25.000-1,0.000-14.000 1,0.000 13.000 0,0.000-12.000-1,0.000 12.000 1,0.000 1.000 15,0.000-14.000-15,0.000 0.000-16,0.000 1.000 15,0.000-1.000 32</inkml:trace>
  <inkml:trace contextRef="#ctx0" brushRef="#br0">17079.000 10310.000 0,'0.000'-13.000'15,"0.000"0.000"17,13.000 13.000-32,27.000 0.000 15,39.000 0.000 1,27.000 0.000 0,-13.000 0.000 15,25.000 0.000-16,41.000 0.000 1,-39.000 0.000 0,51.000-14.000-1,94.000 14.000 1,-66.000 0.000 0,-107.000 0.000-16,14.000 0.000 15,13.000 0.000 1,-27.000 0.000-1,41.000 0.000 1,52.000 0.000 0,13.000 0.000-1,93.000 0.000 1,-92.000 0.000 15,26.000 0.000-15,-106.000 0.000-1,-26.000 14.000 1,12.000-14.000 0,147.000 0.000-1,-14.000 0.000 1,-80.000 0.000 0,81.000 0.000-1,-147.000 0.000 1,1.000 13.000-1,-27.000-13.000 1,0.000 0.000 0,93.000 0.000-1,-40.000 0.000 1,-66.000 0.000 15,-13.000 0.000-15,-1.000 0.000-1,-25.000 0.000 1,-1.000 0.000-16,0.000 0.000 31,1.000 0.000-15,-2.000 0.000 0</inkml:trace>
  <inkml:trace contextRef="#ctx0" brushRef="#br0">19526.000 8379.000 0,'0.000'-14.000'31,"0.000"1.000"-31,0.000 0.000 94,0.000 0.000-79,27.000 0.000 17,-14.000 13.000-32,13.000 0.000 15,14.000 0.000 1,-14.000-14.000-1,-12.000 14.000-15,12.000 0.000 16,14.000 0.000 0,26.000 0.000-1,-39.000 0.000 1,-1.000 0.000 0,14.000 0.000 15,-27.000 14.000-16,0.000-1.000 1,-13.000 0.000 0,0.000 0.000 15,14.000 0.000-15,-14.000 1.000-1,0.000-1.000 1,0.000 14.000-1,0.000-15.000-15,-27.000 15.000 16,0.000 0.000 0,1.000-1.000-1,13.000-13.000 1,0.000 14.000 0,-1.000-27.000 15,-12.000 13.000-16,26.000 13.000 1,-27.000-12.000 0,14.000-1.000-1,0.000 0.000 1,0.000 1.000 0,13.000 12.000-1,0.000-13.000 1,0.000 14.000-1,-13.000 12.000 1,13.000-12.000 0,0.000-14.000-1,0.000 13.000 1,0.000-13.000 15,0.000 14.000-15,0.000-14.000-1,0.000 0.000 1,0.000 1.000 0,0.000-1.000-1,0.000 14.000 1,0.000-15.000 15</inkml:trace>
  <inkml:trace contextRef="#ctx0" brushRef="#br0">19712.000 9199.000 0,'0.000'-13.000'187,"-14.000"13.000"-171,14.000-14.000 62,14.000 14.000 110,-14.000 14.000-157,0.000-1.000 16,0.000 0.000-16,-14.000-13.000 94,1.000 0.000-94,13.000-13.000 0,0.000 0.000 16</inkml:trace>
  <inkml:trace contextRef="#ctx0" brushRef="#br0">21961.000 10257.000 0,'13.000'0.000'78,"0.000"0.000"1,0.000 0.000 30,0.000 0.000-93,1.000 0.000 15,-1.000 0.000 16,0.000 0.000-32,1.000 0.000 17,-2.000 0.000-32,2.000 0.000 31,-1.000 0.000 0,0.000 0.000-15,1.000 0.000 93,-14.000-13.000-93,12.000 13.000-1,2.000 0.000 32,-14.000-13.000-31,0.000 0.000-1,13.000 13.000 1,0.000-14.000 0,-13.000 1.000-1,0.000 0.000 1,14.000 0.000 0,-1.000-1.000-1,-13.000 1.000 1</inkml:trace>
  <inkml:trace contextRef="#ctx0" brushRef="#br0">22252.000 9040.000 0,'0.000'0.000'0,"-14.000"0.000"16,14.000-13.000 0,14.000 13.000 93,12.000 0.000-109,27.000 0.000 16,-14.000 0.000-16,54.000 0.000 15,-27.000 0.000 1,14.000 0.000 0,-67.000 0.000 30,0.000 0.000-30,1.000 0.000 0,52.000 0.000-1,-14.000 0.000 1,-12.000 0.000 0,-13.000 13.000-1,-1.000-13.000 1,14.000 0.000-1,26.000 0.000 1,27.000 0.000 0,-27.000 13.000-1,-40.000-13.000 1,-12.000 0.000 0,-2.000 0.000 15,2.000 0.000-16,12.000 0.000 1,27.000 0.000 0,-40.000 0.000 31,1.000 0.000-1</inkml:trace>
  <inkml:trace contextRef="#ctx0" brushRef="#br0">23243.000 8881.000 0,'0.000'27.000'110,"27.000"0.000"-110,-27.000-15.000 15,27.000-12.000-15,-14.000 14.000 16,27.000 12.000-16,12.000 0.000 16,-38.000-26.000 15,-1.000 0.000-16,0.000 14.000 189,-13.000-1.000-204,0.000 0.000 15,14.000-13.000 32,-14.000 14.000 31,-14.000 12.000-62,-12.000-13.000-16,0.000 1.000 15,-28.000 12.000-15,1.000 0.000 16,40.000-12.000 0,0.000-14.000-1,13.000 13.000 1,-26.000 14.000 0,12.000-27.000 15,1.000 26.000-16,0.000-26.000 1,13.000 13.000 0,-14.000 0.000-1,14.000 1.000 1,-12.000-14.000 0</inkml:trace>
  <inkml:trace contextRef="#ctx0" brushRef="#br0">23323.000 7942.000 0,'0.000'13.000'31,"0.000"14.000"-15,13.000-1.000 0,-13.000 14.000-1,14.000-14.000-15,-14.000 1.000 16,0.000-14.000-1,0.000 27.000 1,0.000 12.000 0,-14.000-25.000-1,14.000 13.000 1,0.000-14.000 0,0.000-12.000 15,0.000-28.000 94,0.000-12.000-110,0.000 13.000-15,0.000-41.000 16,14.000 2.000 0,-1.000 12.000-1,0.000 0.000 1,1.000 27.000 0,-14.000-13.000-1,12.000-1.000 16,2.000 14.000-15,-1.000-13.000 0,-13.000 12.000-1,0.000 1.000 17,13.000 13.000-17,1.000-13.000-15,-2.000-1.000 16,15.000 2.000-1,-14.000-2.000 1,1.000 1.000 0,-14.000 0.000-1,13.000 13.000 17,0.000 13.000-1,0.000 0.000-16,0.000 27.000 1,1.000 0.000 0,-14.000 13.000-1,13.000 13.000 1,-13.000-26.000 0,0.000-1.000-1,0.000-26.000-15,0.000 1.000 16,0.000 12.000-1,0.000-13.000 32,-13.000-40.000 47,13.000 1.000-78,0.000 13.000-16,0.000-26.000 15,0.000 12.000 1,0.000-13.000 0,13.000 14.000-1,0.000 13.000-15,0.000-14.000 16,1.000 1.000-1,12.000-14.000 1,-12.000 26.000 0,-2.000 2.000-1,-12.000-2.000 1,27.000 1.000 0,0.000 0.000 15,-15.000 13.000-16,15.000-14.000 1,-14.000 14.000 0,1.000 0.000-1,-1.000 0.000 1,13.000 27.000 15,-12.000-14.000-31,-14.000 27.000 16,0.000-14.000-1,0.000 14.000 1,0.000 26.000 0,0.000-26.000-1,0.000-13.000 1,0.000-15.000 0,0.000 2.000 46,0.000-1.000-31,0.000 0.000-15,0.000 1.000 31,0.000-2.000-32</inkml:trace>
  <inkml:trace contextRef="#ctx0" brushRef="#br0">24117.000 7863.000 0,'-13.000'26.000'78,"-1.000"-12.000"-62,14.000 12.000-1,-13.000 14.000 1,0.000-1.000 0,13.000 1.000-1,0.000-14.000 1,0.000 1.000 0,0.000-14.000-1,0.000 1.000 1,13.000 12.000-1,-13.000-13.000 1,13.000-13.000 0,1.000 13.000-1,-1.000-13.000 48,0.000 0.000-32,0.000 0.000-31,14.000 0.000 16,-1.000 0.000-1,-13.000-13.000 1,1.000 13.000 0,-1.000-13.000-1</inkml:trace>
  <inkml:trace contextRef="#ctx0" brushRef="#br0">24540.000 7691.000 0,'14.000'0.000'47,"-14.000"13.000"-47,0.000 0.000 16,0.000 14.000-1,0.000-1.000 16,0.000-13.000-15,-14.000 14.000 0,1.000 12.000-1,13.000-12.000 1,0.000 0.000 0,0.000-1.000-1,0.000 0.000 1,-13.000 1.000-1,13.000-1.000 1,0.000-12.000 0,0.000 12.000-1,0.000-13.000 1,0.000 0.000 0,0.000 1.000 15,0.000-1.000-16,0.000 0.000 1,0.000 1.000 0,13.000-14.000-1,0.000 12.000 1,1.000-12.000 0,-14.000 14.000 15,12.000-14.000-16,2.000 13.000-15,-1.000-13.000 16,0.000 0.000 0,1.000 0.000-1,12.000 0.000 1,-13.000-13.000 0,14.000-1.000-1,-27.000 2.000 16,13.000-15.000-15,0.000 14.000 0,-13.000-1.000-1,0.000 1.000 1,0.000 0.000 0,0.000-13.000-1,0.000-41.000 1,0.000 54.000-1,0.000 0.000 17</inkml:trace>
  <inkml:trace contextRef="#ctx0" brushRef="#br0">24223.000 7863.000 0,'-14.000'0.000'16,"14.000"-14.000"15,14.000 14.000 16,38.000 0.000-31,-25.000 0.000-1,13.000 0.000 1,-14.000 0.000-1,1.000 0.000 1,-1.000 0.000 0,-13.000 0.000-1,14.000 0.000 1,-14.000 0.000 0,13.000 0.000-1,14.000 0.000 1,26.000 0.000-1,-39.000 0.000 1,-1.000 0.000 0,-13.000 0.000-1,1.000 0.000 17,-1.000 0.000-1,0.000 0.000 0,0.000 0.000 16,1.000 0.000-16</inkml:trace>
  <inkml:trace contextRef="#ctx0" brushRef="#br0">24937.000 7810.000 0,'0.000'13.000'78,"0.000"13.000"-78,0.000 1.000 16,13.000-14.000-16,1.000 13.000 15,-1.000 1.000 1,-13.000-14.000 0,0.000 1.000-1,0.000-1.000 16,0.000 13.000-15,0.000 1.000 0,0.000-1.000-1,0.000 14.000 1,-13.000-13.000 0,-1.000-1.000-16,1.000 0.000 15,-27.000-12.000 1,27.000 25.000-1,-14.000-26.000 1,15.000 1.000 0,-2.000-1.000-1,1.000 13.000 1,0.000-26.000 0,-13.000 27.000 15,-1.000-14.000-16,14.000-13.000 17,-1.000 0.000-17,1.000 0.000 32,0.000 0.000-31,0.000 0.000-1</inkml:trace>
  <inkml:trace contextRef="#ctx0" brushRef="#br0">17211.000 7823.000 0,'-13.000'0.000'16,"13.000"14.000"-1,0.000-2.000 32,0.000 2.000-31,0.000-1.000-1,-13.000 0.000 1,13.000 13.000 0,0.000-12.000-1,0.000 12.000 1,0.000 1.000 0,0.000-14.000-1,0.000 0.000 16,0.000 1.000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84263" y="877888"/>
            <a:ext cx="4660900" cy="3495675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9638" y="4754563"/>
            <a:ext cx="5008563" cy="42100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0488" tIns="44450" rIns="90488" bIns="4445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PMingLiU" pitchFamily="18" charset="-120"/>
                <a:cs typeface="+mn-cs"/>
              </a:rPr>
              <a:t>Click to edit Master text styles</a:t>
            </a:r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PMingLiU" pitchFamily="18" charset="-120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PMingLiU" pitchFamily="18" charset="-120"/>
                <a:cs typeface="+mn-cs"/>
              </a:rPr>
              <a:t>Second level</a:t>
            </a:r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PMingLiU" pitchFamily="18" charset="-120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PMingLiU" pitchFamily="18" charset="-120"/>
                <a:cs typeface="+mn-cs"/>
              </a:rPr>
              <a:t>Third level</a:t>
            </a:r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PMingLiU" pitchFamily="18" charset="-120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PMingLiU" pitchFamily="18" charset="-120"/>
                <a:cs typeface="+mn-cs"/>
              </a:rPr>
              <a:t>Fourth level</a:t>
            </a:r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PMingLiU" pitchFamily="18" charset="-120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PMingLiU" pitchFamily="18" charset="-120"/>
                <a:cs typeface="+mn-cs"/>
              </a:rPr>
              <a:t>Fifth level</a:t>
            </a:r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PMingLiU" pitchFamily="18" charset="-12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PMingLiU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PMingLiU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PMingLiU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PMingLiU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PMingLiU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84263" y="877888"/>
            <a:ext cx="4660900" cy="34956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84263" y="877888"/>
            <a:ext cx="4660900" cy="34956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5" name="文本框 6"/>
          <p:cNvSpPr txBox="1"/>
          <p:nvPr userDrawn="1"/>
        </p:nvSpPr>
        <p:spPr>
          <a:xfrm>
            <a:off x="143828" y="1"/>
            <a:ext cx="7398503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 eaLnBrk="0" hangingPunct="0"/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Principles of Communications      Chapter 2  Random Processes—— Part 1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455074"/>
            <a:ext cx="7772400" cy="110251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r>
              <a:rPr lang="en-US" altLang="zh-CN" dirty="0">
                <a:sym typeface="+mn-ea"/>
              </a:rPr>
              <a:t>/81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r>
              <a:rPr lang="en-US" altLang="zh-CN" dirty="0"/>
              <a:t>/81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099" name="文本框 6"/>
          <p:cNvSpPr txBox="1"/>
          <p:nvPr userDrawn="1"/>
        </p:nvSpPr>
        <p:spPr>
          <a:xfrm>
            <a:off x="143830" y="2"/>
            <a:ext cx="6714173" cy="30008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 eaLnBrk="0" hangingPunct="0"/>
            <a:r>
              <a:rPr lang="en-US" altLang="zh-CN" sz="135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Principles of Communications         Chapter 2  Random Processes ——Part 1</a:t>
            </a:r>
            <a:endParaRPr lang="en-US" altLang="zh-CN" sz="1350" dirty="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4099" name="文本框 6"/>
          <p:cNvSpPr txBox="1"/>
          <p:nvPr userDrawn="1"/>
        </p:nvSpPr>
        <p:spPr>
          <a:xfrm>
            <a:off x="143830" y="2"/>
            <a:ext cx="7398503" cy="30008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 eaLnBrk="0" hangingPunct="0"/>
            <a:r>
              <a:rPr lang="en-US" altLang="zh-CN" sz="135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Principles of Communications      Chapter 2  Random Processes—— Part III</a:t>
            </a:r>
            <a:endParaRPr lang="en-US" altLang="zh-CN" sz="1350" dirty="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1085850"/>
            <a:ext cx="5715000" cy="5715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9751" y="1771650"/>
            <a:ext cx="395605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71650"/>
            <a:ext cx="395605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r>
              <a:rPr lang="en-US" altLang="zh-CN" dirty="0">
                <a:sym typeface="+mn-ea"/>
              </a:rPr>
              <a:t>/81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099" name="文本框 6"/>
          <p:cNvSpPr txBox="1"/>
          <p:nvPr userDrawn="1"/>
        </p:nvSpPr>
        <p:spPr>
          <a:xfrm>
            <a:off x="143830" y="0"/>
            <a:ext cx="7452509" cy="30008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 eaLnBrk="0" hangingPunct="0"/>
            <a:r>
              <a:rPr lang="en-US" altLang="zh-CN" sz="135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Principles of Communications     Chapter 2  Random Processes  Part 1</a:t>
            </a:r>
            <a:endParaRPr lang="en-US" altLang="zh-CN" sz="1350" dirty="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1085850"/>
            <a:ext cx="5715000" cy="5715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9751" y="1771650"/>
            <a:ext cx="395605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771650"/>
            <a:ext cx="3956050" cy="17716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657600"/>
            <a:ext cx="3956050" cy="17716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4099" name="文本框 6"/>
          <p:cNvSpPr txBox="1"/>
          <p:nvPr userDrawn="1"/>
        </p:nvSpPr>
        <p:spPr>
          <a:xfrm>
            <a:off x="143830" y="2"/>
            <a:ext cx="7560521" cy="30008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 eaLnBrk="0" hangingPunct="0"/>
            <a:r>
              <a:rPr lang="en-US" altLang="zh-CN" sz="135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Principles of Communications          Chapter 2  Random Processes    Part 1</a:t>
            </a:r>
            <a:endParaRPr lang="en-US" altLang="zh-CN" sz="1350" dirty="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2138" y="1559724"/>
            <a:ext cx="7887066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6" name="图片 3" descr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44260" y="857352"/>
            <a:ext cx="2999745" cy="70219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5" name="文本框 9"/>
          <p:cNvSpPr txBox="1"/>
          <p:nvPr userDrawn="1"/>
        </p:nvSpPr>
        <p:spPr>
          <a:xfrm>
            <a:off x="263524" y="214318"/>
            <a:ext cx="6685916" cy="173186"/>
          </a:xfrm>
          <a:prstGeom prst="rect">
            <a:avLst/>
          </a:prstGeom>
          <a:ln w="12700">
            <a:miter lim="400000"/>
          </a:ln>
        </p:spPr>
        <p:txBody>
          <a:bodyPr lIns="25716" tIns="25716" rIns="25716" bIns="25716">
            <a:spAutoFit/>
          </a:bodyPr>
          <a:lstStyle/>
          <a:p>
            <a:pPr>
              <a:defRPr sz="1400">
                <a:solidFill>
                  <a:srgbClr val="4472C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790">
                <a:solidFill>
                  <a:schemeClr val="tx2"/>
                </a:solidFill>
              </a:rPr>
              <a:t>Principle of Communications  Chapter 1 Introduction part </a:t>
            </a:r>
            <a:r>
              <a:rPr lang="en-US" sz="790">
                <a:solidFill>
                  <a:schemeClr val="tx2"/>
                </a:solidFill>
              </a:rPr>
              <a:t>2</a:t>
            </a:r>
            <a:r>
              <a:rPr sz="790">
                <a:solidFill>
                  <a:schemeClr val="tx2"/>
                </a:solidFill>
              </a:rPr>
              <a:t> </a:t>
            </a:r>
            <a:endParaRPr sz="79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smtClean="0"/>
            </a:fld>
            <a:r>
              <a:rPr lang="en-US" altLang="zh-CN">
                <a:sym typeface="+mn-ea"/>
              </a:rPr>
              <a:t>/81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143000" y="1085850"/>
            <a:ext cx="57150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lstStyle/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539355" y="1771650"/>
            <a:ext cx="8065294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first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/>
              <a:t>second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/>
              <a:t>third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r>
              <a:rPr lang="en-US" altLang="zh-CN" dirty="0"/>
              <a:t>forth</a:t>
            </a:r>
            <a:endParaRPr lang="en-US" altLang="zh-CN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5543550"/>
            <a:ext cx="19050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200" b="0">
                <a:solidFill>
                  <a:srgbClr val="FF00FF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5543550"/>
            <a:ext cx="43434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350" b="0">
                <a:solidFill>
                  <a:srgbClr val="FF00FF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1pPr>
          </a:lstStyle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5543550"/>
            <a:ext cx="19050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rgbClr val="FF00FF"/>
                </a:solidFill>
                <a:latin typeface="Tahoma" panose="020B060403050404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r>
              <a:rPr lang="en-US" altLang="zh-CN" dirty="0">
                <a:sym typeface="+mn-ea"/>
              </a:rPr>
              <a:t>/81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031" name="Freeform 7"/>
          <p:cNvSpPr/>
          <p:nvPr/>
        </p:nvSpPr>
        <p:spPr>
          <a:xfrm>
            <a:off x="0" y="0"/>
            <a:ext cx="9144000" cy="228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rect l="0" t="0" r="0" b="0"/>
            <a:pathLst>
              <a:path w="5495" h="106">
                <a:moveTo>
                  <a:pt x="0" y="0"/>
                </a:moveTo>
                <a:lnTo>
                  <a:pt x="5494" y="0"/>
                </a:lnTo>
                <a:lnTo>
                  <a:pt x="5494" y="105"/>
                </a:lnTo>
                <a:lnTo>
                  <a:pt x="0" y="105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rgbClr val="B2D5FF">
                  <a:alpha val="100000"/>
                </a:srgbClr>
              </a:gs>
              <a:gs pos="100000">
                <a:srgbClr val="0073FF">
                  <a:alpha val="100000"/>
                </a:srgbClr>
              </a:gs>
            </a:gsLst>
            <a:lin ang="0" scaled="1"/>
            <a:tileRect/>
          </a:gradFill>
          <a:ln w="12700">
            <a:noFill/>
          </a:ln>
        </p:spPr>
        <p:txBody>
          <a:bodyPr/>
          <a:lstStyle/>
          <a:p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3300"/>
          </a:solidFill>
          <a:latin typeface="+mj-lt"/>
          <a:ea typeface="+mj-ea"/>
          <a:cs typeface="楷体_GB231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342900" algn="ctr" rtl="0" fontAlgn="base">
        <a:spcBef>
          <a:spcPct val="0"/>
        </a:spcBef>
        <a:spcAft>
          <a:spcPct val="0"/>
        </a:spcAft>
        <a:defRPr kumimoji="1"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kumimoji="1"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kumimoji="1"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kumimoji="1"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257175" indent="-257175" algn="l" rtl="0" eaLnBrk="0" fontAlgn="base" hangingPunct="0">
        <a:lnSpc>
          <a:spcPct val="115000"/>
        </a:lnSpc>
        <a:spcBef>
          <a:spcPct val="20000"/>
        </a:spcBef>
        <a:spcAft>
          <a:spcPct val="20000"/>
        </a:spcAft>
        <a:buClr>
          <a:srgbClr val="FF3300"/>
        </a:buClr>
        <a:buFont typeface="Wingdings" panose="05000000000000000000" pitchFamily="2" charset="2"/>
        <a:buBlip>
          <a:blip r:embed="rId7"/>
        </a:buBlip>
        <a:defRPr sz="2100" b="1">
          <a:solidFill>
            <a:schemeClr val="tx1"/>
          </a:solidFill>
          <a:latin typeface="+mn-lt"/>
          <a:ea typeface="+mn-ea"/>
          <a:cs typeface="楷体_GB2312"/>
        </a:defRPr>
      </a:lvl1pPr>
      <a:lvl2pPr marL="557530" indent="-214630" algn="l" rtl="0" eaLnBrk="0" fontAlgn="base" hangingPunct="0">
        <a:lnSpc>
          <a:spcPct val="115000"/>
        </a:lnSpc>
        <a:spcBef>
          <a:spcPct val="20000"/>
        </a:spcBef>
        <a:spcAft>
          <a:spcPct val="20000"/>
        </a:spcAft>
        <a:buClr>
          <a:srgbClr val="FF3300"/>
        </a:buClr>
        <a:buFont typeface="Wingdings" panose="05000000000000000000" pitchFamily="2" charset="2"/>
        <a:buChar char="v"/>
        <a:defRPr sz="1800" b="1">
          <a:solidFill>
            <a:schemeClr val="tx1"/>
          </a:solidFill>
          <a:latin typeface="+mn-lt"/>
          <a:ea typeface="+mn-ea"/>
          <a:cs typeface="楷体_GB2312"/>
        </a:defRPr>
      </a:lvl2pPr>
      <a:lvl3pPr marL="857250" indent="-171450" algn="l" rtl="0" eaLnBrk="0" fontAlgn="base" hangingPunct="0">
        <a:lnSpc>
          <a:spcPct val="115000"/>
        </a:lnSpc>
        <a:spcBef>
          <a:spcPct val="20000"/>
        </a:spcBef>
        <a:spcAft>
          <a:spcPct val="20000"/>
        </a:spcAft>
        <a:buClr>
          <a:srgbClr val="0000FF"/>
        </a:buClr>
        <a:buFont typeface="Wingdings" panose="05000000000000000000" pitchFamily="2" charset="2"/>
        <a:buChar char="Ø"/>
        <a:defRPr sz="1650" b="1">
          <a:solidFill>
            <a:schemeClr val="tx1"/>
          </a:solidFill>
          <a:latin typeface="+mn-lt"/>
          <a:ea typeface="+mn-ea"/>
          <a:cs typeface="楷体_GB2312"/>
        </a:defRPr>
      </a:lvl3pPr>
      <a:lvl4pPr marL="1200150" indent="-171450" algn="l" rtl="0" eaLnBrk="0" fontAlgn="base" hangingPunct="0">
        <a:lnSpc>
          <a:spcPct val="115000"/>
        </a:lnSpc>
        <a:spcBef>
          <a:spcPct val="20000"/>
        </a:spcBef>
        <a:spcAft>
          <a:spcPct val="20000"/>
        </a:spcAft>
        <a:buClr>
          <a:srgbClr val="FF3300"/>
        </a:buClr>
        <a:buChar char="•"/>
        <a:defRPr sz="1500" b="1">
          <a:solidFill>
            <a:schemeClr val="tx1"/>
          </a:solidFill>
          <a:latin typeface="+mn-lt"/>
          <a:ea typeface="+mn-ea"/>
          <a:cs typeface="楷体_GB2312"/>
        </a:defRPr>
      </a:lvl4pPr>
      <a:lvl5pPr marL="1543050" indent="-1714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j-lt"/>
          <a:ea typeface="宋体" panose="02010600030101010101" pitchFamily="2" charset="-122"/>
          <a:cs typeface="楷体_GB2312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j-lt"/>
          <a:ea typeface="宋体" panose="02010600030101010101" pitchFamily="2" charset="-122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j-lt"/>
          <a:ea typeface="宋体" panose="02010600030101010101" pitchFamily="2" charset="-122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j-lt"/>
          <a:ea typeface="宋体" panose="02010600030101010101" pitchFamily="2" charset="-122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j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5.xml"/><Relationship Id="rId5" Type="http://schemas.openxmlformats.org/officeDocument/2006/relationships/image" Target="../media/image30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32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5.xml"/><Relationship Id="rId4" Type="http://schemas.openxmlformats.org/officeDocument/2006/relationships/image" Target="../media/image32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32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customXml" Target="../ink/ink1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customXml" Target="../ink/ink4.xml"/><Relationship Id="rId7" Type="http://schemas.openxmlformats.org/officeDocument/2006/relationships/image" Target="../media/image58.png"/><Relationship Id="rId6" Type="http://schemas.openxmlformats.org/officeDocument/2006/relationships/customXml" Target="../ink/ink3.xml"/><Relationship Id="rId5" Type="http://schemas.openxmlformats.org/officeDocument/2006/relationships/image" Target="../media/image57.png"/><Relationship Id="rId4" Type="http://schemas.openxmlformats.org/officeDocument/2006/relationships/customXml" Target="../ink/ink2.xml"/><Relationship Id="rId3" Type="http://schemas.openxmlformats.org/officeDocument/2006/relationships/image" Target="../media/image51.png"/><Relationship Id="rId2" Type="http://schemas.openxmlformats.org/officeDocument/2006/relationships/image" Target="../media/image56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0.png"/><Relationship Id="rId1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image" Target="../media/image61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wmf"/><Relationship Id="rId8" Type="http://schemas.openxmlformats.org/officeDocument/2006/relationships/oleObject" Target="../embeddings/oleObject3.bin"/><Relationship Id="rId7" Type="http://schemas.openxmlformats.org/officeDocument/2006/relationships/image" Target="../media/image67.wmf"/><Relationship Id="rId6" Type="http://schemas.openxmlformats.org/officeDocument/2006/relationships/oleObject" Target="../embeddings/oleObject2.bin"/><Relationship Id="rId5" Type="http://schemas.openxmlformats.org/officeDocument/2006/relationships/image" Target="../media/image66.w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2.png"/><Relationship Id="rId2" Type="http://schemas.openxmlformats.org/officeDocument/2006/relationships/image" Target="../media/image65.png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64.wmf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1.png"/><Relationship Id="rId6" Type="http://schemas.openxmlformats.org/officeDocument/2006/relationships/image" Target="../media/image7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2.png"/><Relationship Id="rId1" Type="http://schemas.openxmlformats.org/officeDocument/2006/relationships/image" Target="../media/image6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w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6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64.wmf"/><Relationship Id="rId1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3.png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93.png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87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6.png"/><Relationship Id="rId7" Type="http://schemas.openxmlformats.org/officeDocument/2006/relationships/image" Target="../media/image92.png"/><Relationship Id="rId6" Type="http://schemas.openxmlformats.org/officeDocument/2006/relationships/image" Target="../media/image89.png"/><Relationship Id="rId5" Type="http://schemas.openxmlformats.org/officeDocument/2006/relationships/image" Target="../media/image94.png"/><Relationship Id="rId4" Type="http://schemas.openxmlformats.org/officeDocument/2006/relationships/image" Target="../media/image98.png"/><Relationship Id="rId3" Type="http://schemas.openxmlformats.org/officeDocument/2006/relationships/image" Target="../media/image93.png"/><Relationship Id="rId2" Type="http://schemas.openxmlformats.org/officeDocument/2006/relationships/image" Target="../media/image87.png"/><Relationship Id="rId1" Type="http://schemas.openxmlformats.org/officeDocument/2006/relationships/image" Target="../media/image9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6.png"/><Relationship Id="rId6" Type="http://schemas.openxmlformats.org/officeDocument/2006/relationships/image" Target="../media/image99.png"/><Relationship Id="rId5" Type="http://schemas.openxmlformats.org/officeDocument/2006/relationships/image" Target="../media/image81.png"/><Relationship Id="rId4" Type="http://schemas.openxmlformats.org/officeDocument/2006/relationships/image" Target="../media/image94.png"/><Relationship Id="rId3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image" Target="../media/image8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customXml" Target="../ink/ink5.xml"/><Relationship Id="rId3" Type="http://schemas.openxmlformats.org/officeDocument/2006/relationships/image" Target="../media/image101.wmf"/><Relationship Id="rId2" Type="http://schemas.openxmlformats.org/officeDocument/2006/relationships/oleObject" Target="../embeddings/oleObject8.bin"/><Relationship Id="rId1" Type="http://schemas.openxmlformats.org/officeDocument/2006/relationships/image" Target="../media/image10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5.png"/><Relationship Id="rId2" Type="http://schemas.openxmlformats.org/officeDocument/2006/relationships/image" Target="../media/image104.emf"/><Relationship Id="rId1" Type="http://schemas.openxmlformats.org/officeDocument/2006/relationships/oleObject" Target="../embeddings/oleObject9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3" Type="http://schemas.openxmlformats.org/officeDocument/2006/relationships/image" Target="../media/image106.png"/><Relationship Id="rId2" Type="http://schemas.openxmlformats.org/officeDocument/2006/relationships/image" Target="../media/image104.emf"/><Relationship Id="rId1" Type="http://schemas.openxmlformats.org/officeDocument/2006/relationships/oleObject" Target="../embeddings/oleObject10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0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/>
          </p:cNvSpPr>
          <p:nvPr>
            <p:ph type="ctrTitle"/>
          </p:nvPr>
        </p:nvSpPr>
        <p:spPr>
          <a:xfrm>
            <a:off x="-687064" y="665540"/>
            <a:ext cx="9577064" cy="4724400"/>
          </a:xfrm>
        </p:spPr>
        <p:txBody>
          <a:bodyPr vert="horz" wrap="square" lIns="91440" tIns="45720" rIns="91440" bIns="45720" anchor="ctr" anchorCtr="1"/>
          <a:lstStyle/>
          <a:p>
            <a:pPr algn="l" eaLnBrk="1" hangingPunct="1">
              <a:buClrTx/>
              <a:buSzTx/>
              <a:buFontTx/>
            </a:pPr>
            <a:b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4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Principles of communications </a:t>
            </a:r>
            <a:b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b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sz="36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Chapter2  Random processes—Part III </a:t>
            </a:r>
            <a:br>
              <a:rPr lang="en-US" altLang="zh-CN" sz="4400" dirty="0">
                <a:ea typeface="黑体" panose="02010609060101010101" pitchFamily="49" charset="-122"/>
              </a:rPr>
            </a:br>
            <a:r>
              <a:rPr lang="en-US" altLang="zh-CN" sz="4400" dirty="0">
                <a:ea typeface="黑体" panose="02010609060101010101" pitchFamily="49" charset="-122"/>
              </a:rPr>
              <a:t>                                              </a:t>
            </a:r>
            <a:br>
              <a:rPr lang="en-US" altLang="zh-CN" sz="4400" dirty="0">
                <a:ea typeface="黑体" panose="02010609060101010101" pitchFamily="49" charset="-122"/>
              </a:rPr>
            </a:br>
            <a:r>
              <a:rPr lang="en-US" altLang="zh-CN" sz="4400" dirty="0">
                <a:ea typeface="黑体" panose="02010609060101010101" pitchFamily="49" charset="-122"/>
              </a:rPr>
              <a:t>                                 </a:t>
            </a:r>
            <a:endParaRPr lang="en-US" altLang="zh-CN" sz="4400" dirty="0"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/>
          <a:srcRect t="51528"/>
          <a:stretch>
            <a:fillRect/>
          </a:stretch>
        </p:blipFill>
        <p:spPr>
          <a:xfrm>
            <a:off x="424836" y="4725108"/>
            <a:ext cx="8448136" cy="17281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060" y="3578133"/>
            <a:ext cx="2163438" cy="142198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96" y="1340826"/>
            <a:ext cx="5374832" cy="1906097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828" y="1253331"/>
            <a:ext cx="8963172" cy="4351338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Narrowband Random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窄带随机过程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窄带噪声</a:t>
            </a:r>
            <a:endParaRPr kumimoji="1"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Sine Wave Plus Narrowband Noise                    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噪声</a:t>
            </a:r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CN" dirty="0"/>
              <a:t>     </a:t>
            </a:r>
            <a:endParaRPr kumimoji="1" lang="en-US" altLang="zh-CN" dirty="0"/>
          </a:p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white noise and band pass white noise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2：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Random Processes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——Part III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772" y="3789030"/>
            <a:ext cx="1800150" cy="108273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372" y="3789030"/>
            <a:ext cx="1800150" cy="108273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543" y="5289874"/>
            <a:ext cx="3362795" cy="12336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40425" y="551688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通信系统中不同阶段的噪声</a:t>
            </a:r>
            <a:endParaRPr kumimoji="1"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47198" y="1550111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Or 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各路信号反射信号干涉</a:t>
            </a:r>
            <a:endParaRPr kumimoji="1"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2：Random Processes——Part III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内容占位符 2"/>
          <p:cNvSpPr txBox="1"/>
          <p:nvPr/>
        </p:nvSpPr>
        <p:spPr>
          <a:xfrm>
            <a:off x="360045" y="1196975"/>
            <a:ext cx="9218930" cy="54203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Narrowband Random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窄带随机过程</a:t>
            </a:r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--</a:t>
            </a:r>
            <a:r>
              <a:rPr lang="en-US" altLang="zh-CN" b="1" dirty="0">
                <a:solidFill>
                  <a:srgbClr val="0070C0"/>
                </a:solidFill>
              </a:rPr>
              <a:t>Definition</a:t>
            </a:r>
            <a:endParaRPr lang="en-US" altLang="zh-CN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600" b="1" dirty="0">
                <a:solidFill>
                  <a:srgbClr val="0070C0"/>
                </a:solidFill>
              </a:rPr>
              <a:t>   --</a:t>
            </a:r>
            <a:r>
              <a:rPr lang="zh-CN" altLang="zh-CN" sz="2600" b="1" dirty="0">
                <a:solidFill>
                  <a:srgbClr val="0070C0"/>
                </a:solidFill>
              </a:rPr>
              <a:t>In-phase and quadrature component form</a:t>
            </a:r>
            <a:r>
              <a:rPr lang="en-US" altLang="zh-CN" sz="2600" b="1" dirty="0">
                <a:solidFill>
                  <a:srgbClr val="0070C0"/>
                </a:solidFill>
              </a:rPr>
              <a:t> </a:t>
            </a:r>
            <a:r>
              <a:rPr lang="zh-CN" altLang="en-US" sz="2600" b="1" dirty="0">
                <a:solidFill>
                  <a:srgbClr val="0070C0"/>
                </a:solidFill>
              </a:rPr>
              <a:t>同相分量正交分量</a:t>
            </a:r>
            <a:endParaRPr lang="en-US" altLang="zh-CN" sz="2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600" b="1" dirty="0">
                <a:solidFill>
                  <a:srgbClr val="0070C0"/>
                </a:solidFill>
              </a:rPr>
              <a:t>   --</a:t>
            </a:r>
            <a:r>
              <a:rPr lang="zh-CN" altLang="zh-CN" sz="2600" b="1" dirty="0">
                <a:solidFill>
                  <a:srgbClr val="0070C0"/>
                </a:solidFill>
              </a:rPr>
              <a:t>Envelope-phase form</a:t>
            </a:r>
            <a:r>
              <a:rPr lang="zh-CN" altLang="en-US" sz="2600" b="1" dirty="0">
                <a:solidFill>
                  <a:srgbClr val="0070C0"/>
                </a:solidFill>
              </a:rPr>
              <a:t>包络相位</a:t>
            </a:r>
            <a:endParaRPr lang="en-US" altLang="zh-CN" sz="2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600" b="1" dirty="0">
                <a:solidFill>
                  <a:srgbClr val="0070C0"/>
                </a:solidFill>
              </a:rPr>
              <a:t>   --Narrowband Stationary Gaussian</a:t>
            </a:r>
            <a:r>
              <a:rPr lang="zh-CN" altLang="en-US" sz="2600" b="1" dirty="0">
                <a:solidFill>
                  <a:srgbClr val="0070C0"/>
                </a:solidFill>
              </a:rPr>
              <a:t>窄带平稳高斯</a:t>
            </a:r>
            <a:endParaRPr lang="en-US" altLang="zh-CN" sz="2600" b="1" dirty="0">
              <a:solidFill>
                <a:srgbClr val="0070C0"/>
              </a:solidFill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Sine Wave Plus Narrowband Noise</a:t>
            </a:r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00B050"/>
                </a:solidFill>
              </a:rPr>
              <a:t>   --</a:t>
            </a:r>
            <a:r>
              <a:rPr lang="zh-CN" altLang="zh-CN" b="1" dirty="0">
                <a:solidFill>
                  <a:srgbClr val="00B050"/>
                </a:solidFill>
              </a:rPr>
              <a:t>Rician distribution</a:t>
            </a:r>
            <a:r>
              <a:rPr lang="zh-CN" altLang="en-US" b="1" dirty="0">
                <a:solidFill>
                  <a:srgbClr val="00B050"/>
                </a:solidFill>
              </a:rPr>
              <a:t>莱斯分布</a:t>
            </a:r>
            <a:r>
              <a:rPr lang="zh-CN" altLang="zh-CN" b="1" dirty="0">
                <a:solidFill>
                  <a:srgbClr val="00B050"/>
                </a:solidFill>
              </a:rPr>
              <a:t> (</a:t>
            </a:r>
            <a:r>
              <a:rPr lang="zh-CN" altLang="en-US" b="1" dirty="0">
                <a:solidFill>
                  <a:srgbClr val="00B050"/>
                </a:solidFill>
              </a:rPr>
              <a:t>广义</a:t>
            </a:r>
            <a:r>
              <a:rPr lang="zh-CN" altLang="zh-CN" b="1" dirty="0">
                <a:solidFill>
                  <a:srgbClr val="00B050"/>
                </a:solidFill>
              </a:rPr>
              <a:t>Rayleigh distribution).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00B050"/>
                </a:solidFill>
              </a:rPr>
              <a:t>   --</a:t>
            </a:r>
            <a:r>
              <a:rPr lang="zh-CN" altLang="zh-CN" b="1" dirty="0">
                <a:solidFill>
                  <a:srgbClr val="00B050"/>
                </a:solidFill>
              </a:rPr>
              <a:t>Rayleigh distribution</a:t>
            </a:r>
            <a:r>
              <a:rPr lang="en-US" altLang="zh-CN" b="1" dirty="0">
                <a:solidFill>
                  <a:srgbClr val="00B050"/>
                </a:solidFill>
              </a:rPr>
              <a:t> </a:t>
            </a:r>
            <a:r>
              <a:rPr lang="zh-CN" altLang="en-US" b="1" dirty="0">
                <a:solidFill>
                  <a:srgbClr val="00B050"/>
                </a:solidFill>
              </a:rPr>
              <a:t>瑞利分布</a:t>
            </a:r>
            <a:endParaRPr lang="en-US" altLang="zh-CN" b="1" dirty="0">
              <a:solidFill>
                <a:srgbClr val="00B050"/>
              </a:solidFill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white noise and band pass white noise</a:t>
            </a:r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--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White noise </a:t>
            </a:r>
            <a:r>
              <a:rPr lang="zh-CN" alt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白噪声</a:t>
            </a:r>
            <a:endParaRPr lang="en-US" altLang="zh-CN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-- Low-pass Gaussian noise </a:t>
            </a:r>
            <a:r>
              <a:rPr lang="zh-CN" alt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低通型</a:t>
            </a:r>
            <a:endParaRPr lang="en-US" altLang="zh-CN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-- Band-pass Gaussian noise </a:t>
            </a:r>
            <a:r>
              <a:rPr kumimoji="1" lang="zh-CN" alt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带通型</a:t>
            </a:r>
            <a:endParaRPr kumimoji="1" lang="en-US" altLang="zh-CN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2：Random Processes——Part III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内容占位符 2"/>
          <p:cNvSpPr txBox="1"/>
          <p:nvPr/>
        </p:nvSpPr>
        <p:spPr>
          <a:xfrm>
            <a:off x="35560" y="1844675"/>
            <a:ext cx="9323705" cy="5184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Narrowband Random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窄带随机过程</a:t>
            </a:r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--</a:t>
            </a:r>
            <a:r>
              <a:rPr lang="en-US" altLang="zh-CN" b="1" dirty="0">
                <a:solidFill>
                  <a:srgbClr val="0070C0"/>
                </a:solidFill>
              </a:rPr>
              <a:t>Definition</a:t>
            </a:r>
            <a:endParaRPr lang="en-US" altLang="zh-CN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600" b="1" dirty="0">
                <a:solidFill>
                  <a:srgbClr val="0070C0"/>
                </a:solidFill>
              </a:rPr>
              <a:t>   --</a:t>
            </a:r>
            <a:r>
              <a:rPr lang="zh-CN" altLang="zh-CN" sz="2600" b="1" dirty="0">
                <a:solidFill>
                  <a:srgbClr val="0070C0"/>
                </a:solidFill>
              </a:rPr>
              <a:t>In-phase and quadrature component form</a:t>
            </a:r>
            <a:r>
              <a:rPr lang="en-US" altLang="zh-CN" sz="2600" b="1" dirty="0">
                <a:solidFill>
                  <a:srgbClr val="0070C0"/>
                </a:solidFill>
              </a:rPr>
              <a:t> </a:t>
            </a:r>
            <a:endParaRPr lang="en-US" altLang="zh-CN" sz="2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600" b="1" dirty="0">
                <a:solidFill>
                  <a:srgbClr val="0070C0"/>
                </a:solidFill>
              </a:rPr>
              <a:t>   --</a:t>
            </a:r>
            <a:r>
              <a:rPr lang="zh-CN" altLang="zh-CN" sz="2600" b="1" dirty="0">
                <a:solidFill>
                  <a:srgbClr val="0070C0"/>
                </a:solidFill>
              </a:rPr>
              <a:t>Envelope-phase form</a:t>
            </a:r>
            <a:endParaRPr lang="en-US" altLang="zh-CN" sz="2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600" b="1" dirty="0">
                <a:solidFill>
                  <a:srgbClr val="0070C0"/>
                </a:solidFill>
              </a:rPr>
              <a:t>   --Narrowband Stationary Gaussian</a:t>
            </a:r>
            <a:r>
              <a:rPr lang="zh-CN" altLang="en-US" sz="2600" b="1" dirty="0">
                <a:solidFill>
                  <a:srgbClr val="0070C0"/>
                </a:solidFill>
              </a:rPr>
              <a:t>窄带平稳高斯</a:t>
            </a:r>
            <a:endParaRPr lang="en-US" altLang="zh-CN" sz="2600" b="1" dirty="0">
              <a:solidFill>
                <a:srgbClr val="0070C0"/>
              </a:solidFill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3707" y="2433843"/>
            <a:ext cx="383017" cy="308287"/>
          </a:xfrm>
          <a:custGeom>
            <a:avLst/>
            <a:gdLst>
              <a:gd name="connsiteX0" fmla="*/ 444245 w 592073"/>
              <a:gd name="connsiteY0" fmla="*/ 0 h 377952"/>
              <a:gd name="connsiteX1" fmla="*/ 444245 w 592073"/>
              <a:gd name="connsiteY1" fmla="*/ 94488 h 377952"/>
              <a:gd name="connsiteX2" fmla="*/ 0 w 592073"/>
              <a:gd name="connsiteY2" fmla="*/ 94488 h 377952"/>
              <a:gd name="connsiteX3" fmla="*/ 0 w 592073"/>
              <a:gd name="connsiteY3" fmla="*/ 283464 h 377952"/>
              <a:gd name="connsiteX4" fmla="*/ 444245 w 592073"/>
              <a:gd name="connsiteY4" fmla="*/ 283464 h 377952"/>
              <a:gd name="connsiteX5" fmla="*/ 444245 w 592073"/>
              <a:gd name="connsiteY5" fmla="*/ 377952 h 377952"/>
              <a:gd name="connsiteX6" fmla="*/ 592073 w 592073"/>
              <a:gd name="connsiteY6" fmla="*/ 188976 h 377952"/>
              <a:gd name="connsiteX7" fmla="*/ 444245 w 592073"/>
              <a:gd name="connsiteY7" fmla="*/ 0 h 3779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592073" h="377952">
                <a:moveTo>
                  <a:pt x="444245" y="0"/>
                </a:moveTo>
                <a:lnTo>
                  <a:pt x="444245" y="94488"/>
                </a:lnTo>
                <a:lnTo>
                  <a:pt x="0" y="94488"/>
                </a:lnTo>
                <a:lnTo>
                  <a:pt x="0" y="283464"/>
                </a:lnTo>
                <a:lnTo>
                  <a:pt x="444245" y="283464"/>
                </a:lnTo>
                <a:lnTo>
                  <a:pt x="444245" y="377952"/>
                </a:lnTo>
                <a:lnTo>
                  <a:pt x="592073" y="188976"/>
                </a:lnTo>
                <a:lnTo>
                  <a:pt x="444245" y="0"/>
                </a:lnTo>
              </a:path>
            </a:pathLst>
          </a:custGeom>
          <a:solidFill>
            <a:srgbClr val="618FF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5489" y="2420984"/>
            <a:ext cx="391233" cy="318646"/>
          </a:xfrm>
          <a:custGeom>
            <a:avLst/>
            <a:gdLst>
              <a:gd name="connsiteX0" fmla="*/ 450595 w 604773"/>
              <a:gd name="connsiteY0" fmla="*/ 6350 h 390652"/>
              <a:gd name="connsiteX1" fmla="*/ 450595 w 604773"/>
              <a:gd name="connsiteY1" fmla="*/ 100838 h 390652"/>
              <a:gd name="connsiteX2" fmla="*/ 6350 w 604773"/>
              <a:gd name="connsiteY2" fmla="*/ 100838 h 390652"/>
              <a:gd name="connsiteX3" fmla="*/ 6350 w 604773"/>
              <a:gd name="connsiteY3" fmla="*/ 289814 h 390652"/>
              <a:gd name="connsiteX4" fmla="*/ 450595 w 604773"/>
              <a:gd name="connsiteY4" fmla="*/ 289814 h 390652"/>
              <a:gd name="connsiteX5" fmla="*/ 450595 w 604773"/>
              <a:gd name="connsiteY5" fmla="*/ 384302 h 390652"/>
              <a:gd name="connsiteX6" fmla="*/ 598423 w 604773"/>
              <a:gd name="connsiteY6" fmla="*/ 195326 h 390652"/>
              <a:gd name="connsiteX7" fmla="*/ 450595 w 604773"/>
              <a:gd name="connsiteY7" fmla="*/ 6350 h 3906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604773" h="390652">
                <a:moveTo>
                  <a:pt x="450595" y="6350"/>
                </a:moveTo>
                <a:lnTo>
                  <a:pt x="450595" y="100838"/>
                </a:lnTo>
                <a:lnTo>
                  <a:pt x="6350" y="100838"/>
                </a:lnTo>
                <a:lnTo>
                  <a:pt x="6350" y="289814"/>
                </a:lnTo>
                <a:lnTo>
                  <a:pt x="450595" y="289814"/>
                </a:lnTo>
                <a:lnTo>
                  <a:pt x="450595" y="384302"/>
                </a:lnTo>
                <a:lnTo>
                  <a:pt x="598423" y="195326"/>
                </a:lnTo>
                <a:lnTo>
                  <a:pt x="450595" y="6350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" name="右大括号 4"/>
          <p:cNvSpPr/>
          <p:nvPr/>
        </p:nvSpPr>
        <p:spPr>
          <a:xfrm>
            <a:off x="6372150" y="3068970"/>
            <a:ext cx="144012" cy="50404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516162" y="3133592"/>
            <a:ext cx="4748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Two formulas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628" y="1062878"/>
            <a:ext cx="8963172" cy="5460655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Narrowband Random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窄带随机过程</a:t>
            </a:r>
            <a:r>
              <a:rPr kumimoji="1" lang="en-US" altLang="zh-CN" sz="3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CN" dirty="0"/>
              <a:t>     </a:t>
            </a:r>
            <a:endParaRPr kumimoji="1" lang="en-US" altLang="zh-CN" dirty="0"/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2：Random Processes——Part III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694" y="2852952"/>
            <a:ext cx="7725604" cy="273976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802" y="5375627"/>
            <a:ext cx="6840570" cy="4808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59" y="1755145"/>
            <a:ext cx="9144000" cy="124576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804186" y="5850171"/>
            <a:ext cx="27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随机缓慢变化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82256" y="4892452"/>
            <a:ext cx="288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Frequency domain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148048" y="4937711"/>
            <a:ext cx="288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Time domain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628" y="1062878"/>
            <a:ext cx="8963172" cy="5460655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Narrowband Random</a:t>
            </a:r>
            <a:r>
              <a:rPr kumimoji="1"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kumimoji="1"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两种表达式</a:t>
            </a:r>
            <a:endParaRPr kumimoji="1" lang="en-US" altLang="zh-C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500" dirty="0">
                <a:solidFill>
                  <a:srgbClr val="C00000"/>
                </a:solidFill>
              </a:rPr>
              <a:t>--</a:t>
            </a:r>
            <a:r>
              <a:rPr lang="zh-CN" altLang="zh-CN" sz="3500" dirty="0">
                <a:solidFill>
                  <a:srgbClr val="C00000"/>
                </a:solidFill>
              </a:rPr>
              <a:t>In-phase and quadrature (I/Q) component form</a:t>
            </a:r>
            <a:endParaRPr lang="en-US" altLang="zh-CN" sz="35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kumimoji="1" lang="en-US" altLang="zh-CN" sz="35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sz="35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sz="35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CN" sz="3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zh-CN" altLang="zh-CN" sz="3500" dirty="0">
                <a:solidFill>
                  <a:srgbClr val="C00000"/>
                </a:solidFill>
              </a:rPr>
              <a:t>Envelope-phase form</a:t>
            </a:r>
            <a:endParaRPr kumimoji="1" lang="en-US" altLang="zh-CN" sz="35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CN" dirty="0"/>
              <a:t>     </a:t>
            </a:r>
            <a:endParaRPr kumimoji="1" lang="en-US" altLang="zh-CN" dirty="0"/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2：Random Processes——Part III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46532" y="2867060"/>
            <a:ext cx="158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同相分量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771696" y="3252965"/>
            <a:ext cx="158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正交分量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670" y="4869120"/>
            <a:ext cx="6876192" cy="6641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94" y="5536649"/>
            <a:ext cx="3772590" cy="98688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82" y="2743909"/>
            <a:ext cx="3899119" cy="107601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98" y="2112313"/>
            <a:ext cx="7310543" cy="631596"/>
          </a:xfrm>
          <a:prstGeom prst="rect">
            <a:avLst/>
          </a:prstGeom>
          <a:ln w="22225">
            <a:solidFill>
              <a:schemeClr val="accent6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330" y="4149060"/>
            <a:ext cx="5257649" cy="801774"/>
          </a:xfrm>
          <a:prstGeom prst="rect">
            <a:avLst/>
          </a:prstGeom>
          <a:ln w="22225"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36384" y="-7101"/>
            <a:ext cx="8963172" cy="5460655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Narrowband Random</a:t>
            </a:r>
            <a:r>
              <a:rPr kumimoji="1"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CN" dirty="0"/>
              <a:t>     </a:t>
            </a:r>
            <a:endParaRPr kumimoji="1" lang="en-US" altLang="zh-CN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" y="638570"/>
            <a:ext cx="8584914" cy="1292295"/>
          </a:xfrm>
          <a:prstGeom prst="rect">
            <a:avLst/>
          </a:prstGeom>
          <a:ln w="19050">
            <a:solidFill>
              <a:srgbClr val="FF0000"/>
            </a:solidFill>
            <a:prstDash val="dash"/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2" y="2001596"/>
            <a:ext cx="9123244" cy="151992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6935"/>
            <a:ext cx="9144000" cy="156523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86" y="5373162"/>
            <a:ext cx="7009013" cy="1368114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35622" y="3616935"/>
            <a:ext cx="910837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-3047" y="5301156"/>
            <a:ext cx="910837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511" y="2564928"/>
            <a:ext cx="8426252" cy="264099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68949" y="11949"/>
            <a:ext cx="8963172" cy="5460655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Narrowband Random</a:t>
            </a:r>
            <a:r>
              <a:rPr kumimoji="1"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kumimoji="1" lang="en-US" altLang="zh-C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Conclusion</a:t>
            </a:r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CN" dirty="0"/>
              <a:t>     </a:t>
            </a:r>
            <a:endParaRPr kumimoji="1" lang="en-US" altLang="zh-CN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80" y="702200"/>
            <a:ext cx="8584914" cy="1292295"/>
          </a:xfrm>
          <a:prstGeom prst="rect">
            <a:avLst/>
          </a:prstGeom>
          <a:ln w="19050">
            <a:solidFill>
              <a:srgbClr val="FF0000"/>
            </a:solidFill>
            <a:prstDash val="dash"/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48608"/>
            <a:ext cx="9144000" cy="1183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68949" y="11949"/>
            <a:ext cx="8963172" cy="546065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zh-CN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CN" dirty="0"/>
              <a:t>     </a:t>
            </a:r>
            <a:endParaRPr kumimoji="1" lang="en-US" altLang="zh-CN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01" y="397653"/>
            <a:ext cx="8584914" cy="1292295"/>
          </a:xfrm>
          <a:prstGeom prst="rect">
            <a:avLst/>
          </a:prstGeom>
          <a:ln w="19050">
            <a:solidFill>
              <a:srgbClr val="FF0000"/>
            </a:solidFill>
            <a:prstDash val="dash"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38" y="1826650"/>
            <a:ext cx="7147440" cy="10184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648" y="3047960"/>
            <a:ext cx="4476950" cy="10725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705" y="2968588"/>
            <a:ext cx="3672306" cy="120443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338101" y="2391535"/>
            <a:ext cx="3240088" cy="420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5"/>
              </a:buBlip>
              <a:defRPr sz="28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24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楷体_GB2312"/>
              </a:defRPr>
            </a:lvl5pPr>
          </a:lstStyle>
          <a:p>
            <a:pPr marL="0" inden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2000" dirty="0">
                <a:solidFill>
                  <a:srgbClr val="C00000"/>
                </a:solidFill>
                <a:ea typeface="宋体" panose="02010600030101010101" pitchFamily="2" charset="-122"/>
              </a:rPr>
              <a:t>统计独立 </a:t>
            </a:r>
            <a:r>
              <a:rPr lang="en-US" altLang="zh-CN" sz="2000" dirty="0">
                <a:solidFill>
                  <a:srgbClr val="C00000"/>
                </a:solidFill>
                <a:ea typeface="宋体" panose="02010600030101010101" pitchFamily="2" charset="-122"/>
              </a:rPr>
              <a:t>independent</a:t>
            </a:r>
            <a:endParaRPr lang="en-US" altLang="zh-CN" sz="2000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2826" y="4616506"/>
            <a:ext cx="9144000" cy="148424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71700" y="4007263"/>
            <a:ext cx="4702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</a:rPr>
              <a:t>Rayleigh distribution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56132" y="4023253"/>
            <a:ext cx="4702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</a:rPr>
              <a:t>uniform distribution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0913" y="2881339"/>
            <a:ext cx="1739573" cy="144964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11150" y="1982546"/>
            <a:ext cx="3244832" cy="569378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5311464" cy="831688"/>
          </a:xfrm>
        </p:spPr>
        <p:txBody>
          <a:bodyPr/>
          <a:lstStyle/>
          <a:p>
            <a:r>
              <a:rPr kumimoji="1" lang="en-US" altLang="zh-CN" sz="2600" b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Rayleigh distribution</a:t>
            </a:r>
            <a:r>
              <a:rPr kumimoji="1" lang="zh-CN" altLang="en-US" sz="2600" b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（场景）</a:t>
            </a:r>
            <a:endParaRPr kumimoji="1" lang="zh-CN" altLang="en-US" sz="2600" b="1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内容占位符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79634" y="5805198"/>
            <a:ext cx="8280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个多径信道</a:t>
            </a:r>
            <a:r>
              <a:rPr lang="zh-CN" alt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，它们彼此相互独立且没有一个信道的信号占支配地位；没有直射波信号，仅有许多反射波信号，接收到的信号包络的衰落变化服从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瑞利分布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842" y="1233551"/>
            <a:ext cx="7848273" cy="33085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87643" y="4532863"/>
            <a:ext cx="8568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/>
              <a:t>There are N independent multipath channels without dominant line-of-sight component. Only reflected waves exist, and the envelope of the received signal follows </a:t>
            </a:r>
            <a:r>
              <a:rPr lang="zh-CN" altLang="zh-CN" sz="2400" b="1" dirty="0">
                <a:solidFill>
                  <a:srgbClr val="C00000"/>
                </a:solidFill>
              </a:rPr>
              <a:t>Rayleigh distribution</a:t>
            </a:r>
            <a:r>
              <a:rPr lang="zh-CN" altLang="zh-CN" sz="2400" dirty="0"/>
              <a:t>.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3203886" y="355099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各路信号反射信号干涉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2141" y="1989780"/>
            <a:ext cx="92869" cy="17859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641" y="2102280"/>
            <a:ext cx="92869" cy="17859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82" y="649929"/>
            <a:ext cx="7835462" cy="2679701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47343" y="836784"/>
            <a:ext cx="22899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Example 2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楷体_GB2312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" y="3424094"/>
            <a:ext cx="7711058" cy="621646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7536" y="3528371"/>
            <a:ext cx="1337975" cy="4613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043" y="2418632"/>
            <a:ext cx="8611914" cy="22074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90" y="4626070"/>
            <a:ext cx="4847338" cy="5889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18" y="5503752"/>
            <a:ext cx="7256080" cy="1152007"/>
          </a:xfrm>
          <a:prstGeom prst="rect">
            <a:avLst/>
          </a:prstGeom>
          <a:ln w="19050">
            <a:solidFill>
              <a:schemeClr val="accent1"/>
            </a:solidFill>
            <a:prstDash val="dash"/>
          </a:ln>
        </p:spPr>
      </p:pic>
      <p:sp>
        <p:nvSpPr>
          <p:cNvPr id="8" name="矩形 7"/>
          <p:cNvSpPr/>
          <p:nvPr/>
        </p:nvSpPr>
        <p:spPr bwMode="auto">
          <a:xfrm>
            <a:off x="0" y="-171299"/>
            <a:ext cx="9144000" cy="432036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108" y="-159070"/>
            <a:ext cx="8424702" cy="219452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634" y="1979791"/>
            <a:ext cx="6984582" cy="5630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 bwMode="auto">
          <a:xfrm>
            <a:off x="0" y="857250"/>
            <a:ext cx="9144000" cy="248307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804" y="2849029"/>
            <a:ext cx="7090444" cy="128536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768" y="4294221"/>
            <a:ext cx="6528480" cy="59534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560"/>
            <a:ext cx="9163836" cy="2348910"/>
          </a:xfrm>
          <a:prstGeom prst="rect">
            <a:avLst/>
          </a:prstGeom>
          <a:ln w="19050">
            <a:solidFill>
              <a:schemeClr val="accent1"/>
            </a:solidFill>
            <a:prstDash val="dash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 bwMode="auto">
          <a:xfrm>
            <a:off x="0" y="857250"/>
            <a:ext cx="9144000" cy="248307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804" y="2849029"/>
            <a:ext cx="7090444" cy="128536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768" y="4294221"/>
            <a:ext cx="6528480" cy="59534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84" y="4889565"/>
            <a:ext cx="4808805" cy="108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8560"/>
            <a:ext cx="9163836" cy="2348910"/>
          </a:xfrm>
          <a:prstGeom prst="rect">
            <a:avLst/>
          </a:prstGeom>
          <a:ln w="19050">
            <a:solidFill>
              <a:schemeClr val="accent1"/>
            </a:solidFill>
            <a:prstDash val="dash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 bwMode="auto">
          <a:xfrm>
            <a:off x="0" y="857250"/>
            <a:ext cx="9144000" cy="248307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25" y="2585388"/>
            <a:ext cx="9006148" cy="108880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5" y="3569770"/>
            <a:ext cx="7867730" cy="11045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28" y="260736"/>
            <a:ext cx="8427543" cy="2160180"/>
          </a:xfrm>
          <a:prstGeom prst="rect">
            <a:avLst/>
          </a:prstGeom>
          <a:ln w="19050">
            <a:solidFill>
              <a:schemeClr val="accent1"/>
            </a:solidFill>
            <a:prstDash val="dash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2141" y="1989780"/>
            <a:ext cx="92869" cy="17859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641" y="2102280"/>
            <a:ext cx="92869" cy="17859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82" y="649929"/>
            <a:ext cx="7835462" cy="2679701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47343" y="836784"/>
            <a:ext cx="22899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Example 2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楷体_GB2312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" y="3424094"/>
            <a:ext cx="7711058" cy="621646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7536" y="3528371"/>
            <a:ext cx="1337975" cy="46137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0" y="4452686"/>
            <a:ext cx="932439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+mj-lt"/>
              </a:rPr>
              <a:t>Conclusion: </a:t>
            </a:r>
            <a:r>
              <a:rPr lang="en-US" altLang="zh-CN" sz="2700" b="1" dirty="0">
                <a:latin typeface="+mj-lt"/>
              </a:rPr>
              <a:t>F</a:t>
            </a:r>
            <a:r>
              <a:rPr lang="zh-CN" altLang="zh-CN" sz="2700" b="1" dirty="0">
                <a:latin typeface="+mj-lt"/>
              </a:rPr>
              <a:t>or a fixed instant of time </a:t>
            </a:r>
            <a:r>
              <a:rPr lang="zh-CN" altLang="zh-CN" sz="2700" b="1" i="1" dirty="0">
                <a:latin typeface="+mj-lt"/>
              </a:rPr>
              <a:t>t</a:t>
            </a:r>
            <a:r>
              <a:rPr lang="en-US" altLang="zh-CN" sz="2700" b="1" i="1" dirty="0">
                <a:latin typeface="+mj-lt"/>
              </a:rPr>
              <a:t>,</a:t>
            </a:r>
            <a:r>
              <a:rPr lang="zh-CN" altLang="zh-CN" sz="2700" b="1" dirty="0">
                <a:latin typeface="+mj-lt"/>
              </a:rPr>
              <a:t> </a:t>
            </a:r>
            <a:r>
              <a:rPr lang="en-US" altLang="zh-CN" sz="2700" b="1" dirty="0">
                <a:latin typeface="+mj-lt"/>
              </a:rPr>
              <a:t>l</a:t>
            </a:r>
            <a:r>
              <a:rPr lang="zh-CN" altLang="zh-CN" sz="2700" b="1" dirty="0">
                <a:latin typeface="+mj-lt"/>
              </a:rPr>
              <a:t>inear combinations of stationary Gaussian random processes are also stationary Gaussian random processes with the same distribution.</a:t>
            </a:r>
            <a:endParaRPr lang="zh-CN" altLang="en-US" sz="2700" b="1" dirty="0">
              <a:latin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2：Random Processes——Part III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内容占位符 2"/>
          <p:cNvSpPr txBox="1"/>
          <p:nvPr/>
        </p:nvSpPr>
        <p:spPr>
          <a:xfrm>
            <a:off x="35560" y="1844675"/>
            <a:ext cx="9323705" cy="5184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Narrowband Random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窄带随机过程</a:t>
            </a:r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--</a:t>
            </a:r>
            <a:r>
              <a:rPr lang="en-US" altLang="zh-CN" b="1" dirty="0">
                <a:solidFill>
                  <a:srgbClr val="0070C0"/>
                </a:solidFill>
              </a:rPr>
              <a:t>Definition</a:t>
            </a:r>
            <a:endParaRPr lang="en-US" altLang="zh-CN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600" b="1" dirty="0">
                <a:solidFill>
                  <a:srgbClr val="0070C0"/>
                </a:solidFill>
              </a:rPr>
              <a:t>   --</a:t>
            </a:r>
            <a:r>
              <a:rPr lang="zh-CN" altLang="zh-CN" sz="2600" b="1" dirty="0">
                <a:solidFill>
                  <a:srgbClr val="0070C0"/>
                </a:solidFill>
              </a:rPr>
              <a:t>In-phase and quadrature component form</a:t>
            </a:r>
            <a:r>
              <a:rPr lang="en-US" altLang="zh-CN" sz="2600" b="1" dirty="0">
                <a:solidFill>
                  <a:srgbClr val="0070C0"/>
                </a:solidFill>
              </a:rPr>
              <a:t> </a:t>
            </a:r>
            <a:endParaRPr lang="en-US" altLang="zh-CN" sz="2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600" b="1" dirty="0">
                <a:solidFill>
                  <a:srgbClr val="0070C0"/>
                </a:solidFill>
              </a:rPr>
              <a:t>   --</a:t>
            </a:r>
            <a:r>
              <a:rPr lang="zh-CN" altLang="zh-CN" sz="2600" b="1" dirty="0">
                <a:solidFill>
                  <a:srgbClr val="0070C0"/>
                </a:solidFill>
              </a:rPr>
              <a:t>Envelope-phase form</a:t>
            </a:r>
            <a:endParaRPr lang="en-US" altLang="zh-CN" sz="2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2600" b="1" dirty="0">
                <a:solidFill>
                  <a:srgbClr val="0070C0"/>
                </a:solidFill>
              </a:rPr>
              <a:t>   --Narrowband Stationary Gaussian</a:t>
            </a:r>
            <a:r>
              <a:rPr lang="zh-CN" altLang="en-US" sz="2600" b="1" dirty="0">
                <a:solidFill>
                  <a:srgbClr val="0070C0"/>
                </a:solidFill>
              </a:rPr>
              <a:t>窄带平稳高斯</a:t>
            </a:r>
            <a:endParaRPr lang="en-US" altLang="zh-CN" sz="2600" b="1" dirty="0">
              <a:solidFill>
                <a:srgbClr val="0070C0"/>
              </a:solidFill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7163995" y="3141360"/>
            <a:ext cx="144012" cy="50404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308007" y="3244082"/>
            <a:ext cx="4748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Two formulas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2：Random Processes——Part III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内容占位符 2"/>
          <p:cNvSpPr txBox="1"/>
          <p:nvPr/>
        </p:nvSpPr>
        <p:spPr>
          <a:xfrm>
            <a:off x="251640" y="1268820"/>
            <a:ext cx="8963172" cy="51844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Narrowband Random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Process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窄带随机过程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--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Definition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--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In-phase and quadrature component form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同相分量正交分量</a:t>
            </a:r>
            <a:endParaRPr kumimoji="1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--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Envelope-phase form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包络相位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--Narrowband Stationary Gaussian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窄带平稳高斯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Sine Wave Plus Narrowband Noise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Rician distribution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莱斯分布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广义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Rayleigh distribution).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--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Rayleigh distribution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瑞利分布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Gaussian white noise and band pass white noise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--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White noise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-- Low-pass  noise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低通型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-- Band-pass  noise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带通型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16197" y="3269677"/>
            <a:ext cx="391233" cy="318646"/>
          </a:xfrm>
          <a:custGeom>
            <a:avLst/>
            <a:gdLst>
              <a:gd name="connsiteX0" fmla="*/ 450595 w 604773"/>
              <a:gd name="connsiteY0" fmla="*/ 6350 h 390652"/>
              <a:gd name="connsiteX1" fmla="*/ 450595 w 604773"/>
              <a:gd name="connsiteY1" fmla="*/ 100838 h 390652"/>
              <a:gd name="connsiteX2" fmla="*/ 6350 w 604773"/>
              <a:gd name="connsiteY2" fmla="*/ 100838 h 390652"/>
              <a:gd name="connsiteX3" fmla="*/ 6350 w 604773"/>
              <a:gd name="connsiteY3" fmla="*/ 289814 h 390652"/>
              <a:gd name="connsiteX4" fmla="*/ 450595 w 604773"/>
              <a:gd name="connsiteY4" fmla="*/ 289814 h 390652"/>
              <a:gd name="connsiteX5" fmla="*/ 450595 w 604773"/>
              <a:gd name="connsiteY5" fmla="*/ 384302 h 390652"/>
              <a:gd name="connsiteX6" fmla="*/ 598423 w 604773"/>
              <a:gd name="connsiteY6" fmla="*/ 195326 h 390652"/>
              <a:gd name="connsiteX7" fmla="*/ 450595 w 604773"/>
              <a:gd name="connsiteY7" fmla="*/ 6350 h 3906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604773" h="390652">
                <a:moveTo>
                  <a:pt x="450595" y="6350"/>
                </a:moveTo>
                <a:lnTo>
                  <a:pt x="450595" y="100838"/>
                </a:lnTo>
                <a:lnTo>
                  <a:pt x="6350" y="100838"/>
                </a:lnTo>
                <a:lnTo>
                  <a:pt x="6350" y="289814"/>
                </a:lnTo>
                <a:lnTo>
                  <a:pt x="450595" y="289814"/>
                </a:lnTo>
                <a:lnTo>
                  <a:pt x="450595" y="384302"/>
                </a:lnTo>
                <a:lnTo>
                  <a:pt x="598423" y="195326"/>
                </a:lnTo>
                <a:lnTo>
                  <a:pt x="450595" y="6350"/>
                </a:lnTo>
              </a:path>
            </a:pathLst>
          </a:custGeom>
          <a:solidFill>
            <a:srgbClr val="00B0F0"/>
          </a:solidFill>
          <a:ln w="127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+mj-cs"/>
              <a:sym typeface="Helvetic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2：Random Processes——Part III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内容占位符 2"/>
          <p:cNvSpPr txBox="1"/>
          <p:nvPr/>
        </p:nvSpPr>
        <p:spPr>
          <a:xfrm>
            <a:off x="21163" y="1058773"/>
            <a:ext cx="8963172" cy="5184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Sine Wave Plus Narrowband Noise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694" y="1484838"/>
            <a:ext cx="6120510" cy="35493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52" y="5225185"/>
            <a:ext cx="8100294" cy="162279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400069" y="1695792"/>
            <a:ext cx="3240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b="1" dirty="0">
                <a:solidFill>
                  <a:srgbClr val="00B050"/>
                </a:solidFill>
              </a:rPr>
              <a:t>正弦波加载窄带</a:t>
            </a:r>
            <a:r>
              <a:rPr lang="zh-CN" altLang="en-US" b="1" dirty="0">
                <a:solidFill>
                  <a:srgbClr val="C00000"/>
                </a:solidFill>
              </a:rPr>
              <a:t>高斯</a:t>
            </a:r>
            <a:r>
              <a:rPr lang="zh-CN" altLang="en-US" b="1" dirty="0">
                <a:solidFill>
                  <a:srgbClr val="00B050"/>
                </a:solidFill>
              </a:rPr>
              <a:t>噪声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773676"/>
            <a:ext cx="324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 Properties: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2568240" y="6183000"/>
              <a:ext cx="43200" cy="3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2568240" y="6183000"/>
                <a:ext cx="43200" cy="360"/>
              </a:xfrm>
              <a:prstGeom prst="rect"/>
            </p:spPr>
          </p:pic>
        </mc:Fallback>
      </mc:AlternateContent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557" y="2060485"/>
            <a:ext cx="5111443" cy="500941"/>
          </a:xfrm>
          <a:prstGeom prst="rect">
            <a:avLst/>
          </a:prstGeom>
          <a:ln w="19050">
            <a:solidFill>
              <a:schemeClr val="accent6"/>
            </a:solidFill>
            <a:prstDash val="lgDash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0" y="2872772"/>
                <a:ext cx="46508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𝐩𝐫𝐢𝐦𝐞</m:t>
                      </m:r>
                    </m:oMath>
                  </m:oMathPara>
                </a14:m>
                <a:endParaRPr lang="zh-CN" alt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72772"/>
                <a:ext cx="4650826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9" r="2" b="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2：Random Processes——Part III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内容占位符 2"/>
          <p:cNvSpPr txBox="1"/>
          <p:nvPr/>
        </p:nvSpPr>
        <p:spPr>
          <a:xfrm>
            <a:off x="21163" y="1058773"/>
            <a:ext cx="8963172" cy="5184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Sine Wave Plus Narrowband Noise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82712" y="1124808"/>
            <a:ext cx="3240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b="1" dirty="0">
                <a:solidFill>
                  <a:srgbClr val="00B050"/>
                </a:solidFill>
              </a:rPr>
              <a:t>正弦波加载窄带</a:t>
            </a:r>
            <a:r>
              <a:rPr lang="zh-CN" altLang="en-US" b="1" dirty="0">
                <a:solidFill>
                  <a:srgbClr val="C00000"/>
                </a:solidFill>
              </a:rPr>
              <a:t>高斯</a:t>
            </a:r>
            <a:r>
              <a:rPr lang="zh-CN" altLang="en-US" b="1" dirty="0">
                <a:solidFill>
                  <a:srgbClr val="00B050"/>
                </a:solidFill>
              </a:rPr>
              <a:t>噪声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772" y="1573989"/>
            <a:ext cx="4586668" cy="7399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99" y="2850452"/>
            <a:ext cx="6732180" cy="14107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251640" y="4147854"/>
            <a:ext cx="8640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is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zero-order modified Bessel function of the first kind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/>
              <a:t>                                 </a:t>
            </a:r>
            <a:r>
              <a:rPr lang="zh-CN" altLang="zh-CN" dirty="0"/>
              <a:t>零阶修正贝塞尔函数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718" y="4147853"/>
            <a:ext cx="597154" cy="46166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13956"/>
            <a:ext cx="9144000" cy="412167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30" y="5010594"/>
            <a:ext cx="9144000" cy="1129452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619754" y="5224542"/>
            <a:ext cx="2304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只有窄带高斯噪声时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372150" y="5273494"/>
            <a:ext cx="2304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退化为瑞利分布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884276" y="3153206"/>
            <a:ext cx="1401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莱斯分布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0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6054" y="3828488"/>
            <a:ext cx="4125505" cy="2424701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7130911" y="4782806"/>
            <a:ext cx="1625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强信号时，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接近高斯分布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2：Random Processes——Part III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内容占位符 2"/>
          <p:cNvSpPr txBox="1"/>
          <p:nvPr/>
        </p:nvSpPr>
        <p:spPr>
          <a:xfrm>
            <a:off x="41275" y="1124808"/>
            <a:ext cx="8963172" cy="5184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Sine Wave Plus Narrowband Noise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92835" y="1212648"/>
            <a:ext cx="3240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b="1" dirty="0">
                <a:solidFill>
                  <a:srgbClr val="00B050"/>
                </a:solidFill>
              </a:rPr>
              <a:t>正弦波加载窄带</a:t>
            </a:r>
            <a:r>
              <a:rPr lang="zh-CN" altLang="en-US" b="1" dirty="0">
                <a:solidFill>
                  <a:srgbClr val="C00000"/>
                </a:solidFill>
              </a:rPr>
              <a:t>高斯</a:t>
            </a:r>
            <a:r>
              <a:rPr lang="zh-CN" altLang="en-US" b="1" dirty="0">
                <a:solidFill>
                  <a:srgbClr val="00B050"/>
                </a:solidFill>
              </a:rPr>
              <a:t>噪声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772" y="1734286"/>
            <a:ext cx="4586668" cy="73996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0" y="2378587"/>
            <a:ext cx="9144000" cy="180567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00131"/>
            <a:ext cx="9144000" cy="16439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235058" y="3883784"/>
            <a:ext cx="2383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集中在有用信号附近</a:t>
            </a:r>
            <a:endParaRPr lang="zh-CN" altLang="en-US" dirty="0">
              <a:solidFill>
                <a:srgbClr val="00B050"/>
              </a:solidFill>
            </a:endParaRPr>
          </a:p>
        </p:txBody>
      </p:sp>
      <p:grpSp>
        <p:nvGrpSpPr>
          <p:cNvPr id="12" name="Group 10"/>
          <p:cNvGrpSpPr/>
          <p:nvPr/>
        </p:nvGrpSpPr>
        <p:grpSpPr>
          <a:xfrm>
            <a:off x="4564670" y="4184260"/>
            <a:ext cx="4599561" cy="2541097"/>
            <a:chOff x="1192" y="3924"/>
            <a:chExt cx="3977" cy="2183"/>
          </a:xfrm>
        </p:grpSpPr>
        <p:pic>
          <p:nvPicPr>
            <p:cNvPr id="13" name="Picture 4" descr="t0206"/>
            <p:cNvPicPr>
              <a:picLocks noChangeAspect="1"/>
            </p:cNvPicPr>
            <p:nvPr/>
          </p:nvPicPr>
          <p:blipFill>
            <a:blip r:embed="rId4"/>
            <a:srcRect l="8563" t="46252" b="4366"/>
            <a:stretch>
              <a:fillRect/>
            </a:stretch>
          </p:blipFill>
          <p:spPr>
            <a:xfrm>
              <a:off x="1229" y="3924"/>
              <a:ext cx="3940" cy="2183"/>
            </a:xfrm>
            <a:prstGeom prst="rect">
              <a:avLst/>
            </a:prstGeom>
            <a:noFill/>
            <a:ln w="9525">
              <a:solidFill>
                <a:srgbClr val="0070C0"/>
              </a:solidFill>
            </a:ln>
          </p:spPr>
        </p:pic>
        <p:sp>
          <p:nvSpPr>
            <p:cNvPr id="14" name="Text Box 5"/>
            <p:cNvSpPr txBox="1"/>
            <p:nvPr/>
          </p:nvSpPr>
          <p:spPr>
            <a:xfrm>
              <a:off x="1192" y="4900"/>
              <a:ext cx="568" cy="5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20000"/>
                </a:spcAft>
                <a:buClr>
                  <a:srgbClr val="FF3300"/>
                </a:buClr>
                <a:buFont typeface="Wingdings" panose="05000000000000000000" pitchFamily="2" charset="2"/>
                <a:buBlip>
                  <a:blip r:embed="rId5"/>
                </a:buBlip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20000"/>
                </a:spcAft>
                <a:buClr>
                  <a:srgbClr val="FF3300"/>
                </a:buClr>
                <a:buFont typeface="Wingdings" panose="05000000000000000000" pitchFamily="2" charset="2"/>
                <a:buChar char="v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20000"/>
                </a:spcAft>
                <a:buClr>
                  <a:srgbClr val="0000FF"/>
                </a:buClr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20000"/>
                </a:spcAft>
                <a:buClr>
                  <a:srgbClr val="FF3300"/>
                </a:buClr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  <a:ea typeface="宋体" panose="02010600030101010101" pitchFamily="2" charset="-122"/>
                  <a:cs typeface="楷体_GB2312"/>
                </a:defRPr>
              </a:lvl5pPr>
            </a:lstStyle>
            <a:p>
              <a:pPr marL="0" indent="0"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lang="en-US" altLang="zh-CN" sz="1800" b="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1800" b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1800" b="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</a:t>
              </a:r>
              <a:r>
                <a:rPr lang="en-US" altLang="zh-CN" sz="1800" b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1800" b="0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6" name="Rectangle 7"/>
            <p:cNvSpPr/>
            <p:nvPr/>
          </p:nvSpPr>
          <p:spPr>
            <a:xfrm>
              <a:off x="4723" y="3974"/>
              <a:ext cx="170" cy="8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20000"/>
                </a:spcAft>
                <a:buClr>
                  <a:srgbClr val="FF3300"/>
                </a:buClr>
                <a:buFont typeface="Wingdings" panose="05000000000000000000" pitchFamily="2" charset="2"/>
                <a:buBlip>
                  <a:blip r:embed="rId5"/>
                </a:buBlip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20000"/>
                </a:spcAft>
                <a:buClr>
                  <a:srgbClr val="FF3300"/>
                </a:buClr>
                <a:buFont typeface="Wingdings" panose="05000000000000000000" pitchFamily="2" charset="2"/>
                <a:buChar char="v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20000"/>
                </a:spcAft>
                <a:buClr>
                  <a:srgbClr val="0000FF"/>
                </a:buClr>
                <a:buFont typeface="Wingdings" panose="05000000000000000000" pitchFamily="2" charset="2"/>
                <a:buChar char="Ø"/>
                <a:defRPr sz="2200" b="1">
                  <a:solidFill>
                    <a:schemeClr val="tx1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20000"/>
                </a:spcAft>
                <a:buClr>
                  <a:srgbClr val="FF3300"/>
                </a:buClr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j-lt"/>
                  <a:ea typeface="宋体" panose="02010600030101010101" pitchFamily="2" charset="-122"/>
                  <a:cs typeface="楷体_GB2312"/>
                </a:defRPr>
              </a:lvl5pPr>
            </a:lstStyle>
            <a:p>
              <a:pPr marL="0" indent="0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endParaRPr lang="zh-CN" altLang="en-US" sz="1800" b="0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cxnSp>
        <p:nvCxnSpPr>
          <p:cNvPr id="19" name="直接箭头连接符 18"/>
          <p:cNvCxnSpPr/>
          <p:nvPr/>
        </p:nvCxnSpPr>
        <p:spPr>
          <a:xfrm flipH="1">
            <a:off x="6588168" y="4134992"/>
            <a:ext cx="144012" cy="5901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5076042" y="6237234"/>
            <a:ext cx="376898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107628" y="1142974"/>
            <a:ext cx="10753725" cy="4876800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/>
              <a:t>Multi-path propagation</a:t>
            </a:r>
            <a:r>
              <a:rPr lang="zh-CN" altLang="en-US" dirty="0"/>
              <a:t>（多径传播）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5196433" y="3726425"/>
            <a:ext cx="4392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Rician distribution </a:t>
            </a:r>
            <a:r>
              <a:rPr lang="zh-CN" altLang="en-US" dirty="0"/>
              <a:t>莱斯分布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0630" y="4095757"/>
            <a:ext cx="8895143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zh-CN" altLang="zh-CN" sz="2800" dirty="0"/>
              <a:t>In a multipath channel: </a:t>
            </a:r>
            <a:endParaRPr lang="en-US" altLang="zh-CN" sz="2800" dirty="0"/>
          </a:p>
          <a:p>
            <a:r>
              <a:rPr lang="zh-CN" altLang="zh-CN" sz="2400" dirty="0"/>
              <a:t>① There are </a:t>
            </a:r>
            <a:r>
              <a:rPr lang="zh-CN" altLang="zh-CN" sz="2400" i="1" dirty="0"/>
              <a:t>N</a:t>
            </a:r>
            <a:r>
              <a:rPr lang="zh-CN" altLang="zh-CN" sz="2400" dirty="0"/>
              <a:t> independent multipath components. None of them dominates. There is </a:t>
            </a:r>
            <a:r>
              <a:rPr lang="zh-CN" altLang="zh-CN" sz="2400" b="1" dirty="0">
                <a:solidFill>
                  <a:srgbClr val="FF0000"/>
                </a:solidFill>
              </a:rPr>
              <a:t>no direct wave</a:t>
            </a:r>
            <a:r>
              <a:rPr lang="zh-CN" altLang="zh-CN" sz="2400" dirty="0"/>
              <a:t>, only many reflected waves. The envelope of the received signal follows </a:t>
            </a:r>
            <a:r>
              <a:rPr lang="zh-CN" altLang="zh-CN" sz="2400" b="1" dirty="0">
                <a:solidFill>
                  <a:srgbClr val="FF0000"/>
                </a:solidFill>
              </a:rPr>
              <a:t>Rayleigh distribution</a:t>
            </a:r>
            <a:r>
              <a:rPr lang="zh-CN" altLang="zh-CN" sz="2400" dirty="0"/>
              <a:t>.</a:t>
            </a:r>
            <a:endParaRPr lang="en-US" altLang="zh-CN" sz="2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个多径信道</a:t>
            </a:r>
            <a:r>
              <a:rPr lang="zh-CN" altLang="en-US" sz="2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，它们彼此相互独立且没有一个信道的信号占支配地位；没有直射波信号，仅有许多反射波信号，接收到的信号包络的衰落变化服从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瑞利分布</a:t>
            </a:r>
            <a:r>
              <a:rPr lang="zh-CN" altLang="en-US" sz="2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2810" y="1688277"/>
            <a:ext cx="4415987" cy="2038148"/>
          </a:xfrm>
          <a:prstGeom prst="rect">
            <a:avLst/>
          </a:prstGeom>
        </p:spPr>
      </p:pic>
      <p:sp>
        <p:nvSpPr>
          <p:cNvPr id="11" name="Rectangle 2"/>
          <p:cNvSpPr>
            <a:spLocks noGrp="1"/>
          </p:cNvSpPr>
          <p:nvPr/>
        </p:nvSpPr>
        <p:spPr>
          <a:xfrm>
            <a:off x="54318" y="226781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2：Random Processes——Part III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164" y="3674586"/>
            <a:ext cx="640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      </a:t>
            </a:r>
            <a:r>
              <a:rPr lang="en-US" altLang="zh-CN" b="1" dirty="0">
                <a:solidFill>
                  <a:srgbClr val="C00000"/>
                </a:solidFill>
              </a:rPr>
              <a:t>Rayleigh distribution </a:t>
            </a:r>
            <a:r>
              <a:rPr lang="zh-CN" altLang="en-US" b="1" dirty="0">
                <a:solidFill>
                  <a:srgbClr val="C00000"/>
                </a:solidFill>
              </a:rPr>
              <a:t>瑞利分布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7" y="1651668"/>
            <a:ext cx="4369779" cy="184216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107628" y="1142974"/>
            <a:ext cx="10753725" cy="4876800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/>
              <a:t>Multi-path propagation</a:t>
            </a:r>
            <a:r>
              <a:rPr lang="zh-CN" altLang="en-US" dirty="0"/>
              <a:t>（多径传播）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5196433" y="3726425"/>
            <a:ext cx="4392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Rician distribution </a:t>
            </a:r>
            <a:r>
              <a:rPr lang="zh-CN" altLang="en-US" b="1" dirty="0">
                <a:solidFill>
                  <a:srgbClr val="C00000"/>
                </a:solidFill>
              </a:rPr>
              <a:t>莱斯分布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630" y="4095757"/>
            <a:ext cx="889514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zh-CN" altLang="zh-CN" sz="2800" dirty="0"/>
              <a:t>In a multipath channel: </a:t>
            </a:r>
            <a:endParaRPr lang="en-US" altLang="zh-CN" sz="2800" dirty="0"/>
          </a:p>
          <a:p>
            <a:r>
              <a:rPr lang="zh-CN" altLang="en-US" sz="2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zh-CN" sz="2800" dirty="0"/>
              <a:t>If </a:t>
            </a:r>
            <a:r>
              <a:rPr lang="zh-CN" altLang="zh-CN" sz="2800" b="1" dirty="0">
                <a:solidFill>
                  <a:srgbClr val="FF0000"/>
                </a:solidFill>
              </a:rPr>
              <a:t>a strong direct wave </a:t>
            </a:r>
            <a:r>
              <a:rPr lang="zh-CN" altLang="zh-CN" sz="2800" dirty="0"/>
              <a:t>exists and dominates the received signal, the envelope of the received signal follows </a:t>
            </a:r>
            <a:r>
              <a:rPr lang="zh-CN" altLang="zh-CN" sz="2800" b="1" dirty="0">
                <a:solidFill>
                  <a:srgbClr val="FF0000"/>
                </a:solidFill>
              </a:rPr>
              <a:t>Rician distribution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当接收到较强的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直射波信号且它占有支配地位时</a:t>
            </a:r>
            <a:r>
              <a:rPr lang="zh-CN" altLang="en-US" sz="2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，接收信号包络的衰落变化服从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莱斯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(Rician)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</a:t>
            </a:r>
            <a:r>
              <a:rPr lang="zh-CN" altLang="en-US" sz="2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2810" y="1688277"/>
            <a:ext cx="4415987" cy="2038148"/>
          </a:xfrm>
          <a:prstGeom prst="rect">
            <a:avLst/>
          </a:prstGeom>
        </p:spPr>
      </p:pic>
      <p:sp>
        <p:nvSpPr>
          <p:cNvPr id="11" name="Rectangle 2"/>
          <p:cNvSpPr>
            <a:spLocks noGrp="1"/>
          </p:cNvSpPr>
          <p:nvPr/>
        </p:nvSpPr>
        <p:spPr>
          <a:xfrm>
            <a:off x="54318" y="226781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2：Random Processes——Part III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164" y="3674586"/>
            <a:ext cx="640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      Rayleigh distribution </a:t>
            </a:r>
            <a:r>
              <a:rPr lang="zh-CN" altLang="en-US" dirty="0"/>
              <a:t>瑞利分布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7" y="1651668"/>
            <a:ext cx="4369779" cy="18421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334" y="1340826"/>
            <a:ext cx="5841487" cy="122410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34" y="4204694"/>
            <a:ext cx="4597744" cy="1224102"/>
          </a:xfrm>
          <a:prstGeom prst="rect">
            <a:avLst/>
          </a:prstGeom>
        </p:spPr>
      </p:pic>
      <p:pic>
        <p:nvPicPr>
          <p:cNvPr id="6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458" y="1337915"/>
            <a:ext cx="4125505" cy="2424701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179633" y="609014"/>
            <a:ext cx="4392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B050"/>
                </a:solidFill>
              </a:rPr>
              <a:t>Rician distribution </a:t>
            </a:r>
            <a:r>
              <a:rPr lang="zh-CN" altLang="en-US" sz="2800" b="1" dirty="0">
                <a:solidFill>
                  <a:srgbClr val="00B050"/>
                </a:solidFill>
              </a:rPr>
              <a:t>莱斯分布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7628" y="3501006"/>
            <a:ext cx="5400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B050"/>
                </a:solidFill>
              </a:rPr>
              <a:t>Rayleigh distribution </a:t>
            </a:r>
            <a:r>
              <a:rPr lang="zh-CN" altLang="en-US" sz="2800" b="1" dirty="0">
                <a:solidFill>
                  <a:srgbClr val="00B050"/>
                </a:solidFill>
              </a:rPr>
              <a:t>瑞利分布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225722" y="2047695"/>
            <a:ext cx="1871280" cy="2223360"/>
            <a:chOff x="4303858" y="2096872"/>
            <a:chExt cx="1871280" cy="222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4" p14:bwMode="auto">
              <p14:nvContentPartPr>
                <p14:cNvPr id="12" name="墨迹 11"/>
                <p14:cNvContentPartPr/>
                <p14:nvPr/>
              </p14:nvContentPartPr>
              <p14:xfrm>
                <a:off x="4303858" y="2096872"/>
                <a:ext cx="1383480" cy="2223360"/>
              </p14:xfrm>
            </p:contentPart>
          </mc:Choice>
          <mc:Fallback xmlns="">
            <p:pic>
              <p:nvPicPr>
                <p:cNvPr id="12" name="墨迹 11"/>
              </p:nvPicPr>
              <p:blipFill>
                <a:blip r:embed="rId5"/>
              </p:blipFill>
              <p:spPr>
                <a:xfrm>
                  <a:off x="4303858" y="2096872"/>
                  <a:ext cx="1383480" cy="2223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6" p14:bwMode="auto">
              <p14:nvContentPartPr>
                <p14:cNvPr id="13" name="墨迹 12"/>
                <p14:cNvContentPartPr/>
                <p14:nvPr/>
              </p14:nvContentPartPr>
              <p14:xfrm>
                <a:off x="5696338" y="2122792"/>
                <a:ext cx="14400" cy="133200"/>
              </p14:xfrm>
            </p:contentPart>
          </mc:Choice>
          <mc:Fallback xmlns="">
            <p:pic>
              <p:nvPicPr>
                <p:cNvPr id="13" name="墨迹 12"/>
              </p:nvPicPr>
              <p:blipFill>
                <a:blip r:embed="rId7"/>
              </p:blipFill>
              <p:spPr>
                <a:xfrm>
                  <a:off x="5696338" y="2122792"/>
                  <a:ext cx="14400" cy="1332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8" p14:bwMode="auto">
              <p14:nvContentPartPr>
                <p14:cNvPr id="14" name="墨迹 13"/>
                <p14:cNvContentPartPr/>
                <p14:nvPr/>
              </p14:nvContentPartPr>
              <p14:xfrm>
                <a:off x="6174778" y="3368392"/>
                <a:ext cx="360" cy="360"/>
              </p14:xfrm>
            </p:contentPart>
          </mc:Choice>
          <mc:Fallback xmlns="">
            <p:pic>
              <p:nvPicPr>
                <p:cNvPr id="14" name="墨迹 13"/>
              </p:nvPicPr>
              <p:blipFill>
                <a:blip r:embed="rId9"/>
              </p:blipFill>
              <p:spPr>
                <a:xfrm>
                  <a:off x="6174778" y="3368392"/>
                  <a:ext cx="360" cy="360"/>
                </a:xfrm>
                <a:prstGeom prst="rect"/>
              </p:spPr>
            </p:pic>
          </mc:Fallback>
        </mc:AlternateContent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4270" y="4107213"/>
            <a:ext cx="3978332" cy="26201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628" y="332742"/>
            <a:ext cx="9000750" cy="4539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True / False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    ) Rician distribution can be regarded as a generalized Rayleigh distribution.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    ) When there is no direct wave and only reflected waves, the envelope of received signal follows Rician distribution.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    ) A narrowband random process can be expressed by in-phase and quadrature components.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628" y="332742"/>
            <a:ext cx="8928744" cy="4551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True / False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4. (   ) </a:t>
            </a:r>
            <a:r>
              <a:rPr kumimoji="0" lang="zh-CN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Gaussian noise includes low-pass Gaussian noise and band-pass Gaussian noise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5.(   ) Rayleigh distribution occurs when there exists a strong direct wave. 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6. (   ) Envelope-phase form is one representation of narrowband random process.           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" y="188595"/>
            <a:ext cx="3126740" cy="5845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0260" y="188595"/>
            <a:ext cx="2905760" cy="588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2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980" y="260350"/>
            <a:ext cx="2660650" cy="5764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564255" y="6274435"/>
            <a:ext cx="43046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张大千山水画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2：Random Processes——Part III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内容占位符 2"/>
          <p:cNvSpPr txBox="1"/>
          <p:nvPr/>
        </p:nvSpPr>
        <p:spPr>
          <a:xfrm>
            <a:off x="251640" y="1268820"/>
            <a:ext cx="8963172" cy="51844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Narrowband Random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Process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窄带随机过程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--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Definition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--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In-phase and quadrature component form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同相分量正交分量</a:t>
            </a:r>
            <a:endParaRPr kumimoji="1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--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Envelope-phase form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包络相位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--Narrowband Stationary Gaussian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窄带平稳高斯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Sine Wave Plus Narrowband Noise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--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Rician distribution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莱斯分布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广义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Rayleigh distribution).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--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Rayleigh distribution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瑞利分布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Gaussian white noise and band pass white noise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--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White noise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-- Low-pass Gaussian noise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低通型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-- Band-pass </a:t>
            </a:r>
            <a:r>
              <a:rPr lang="en-US" altLang="zh-CN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Gaussian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noise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带通型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108390" y="4509090"/>
            <a:ext cx="391233" cy="318646"/>
          </a:xfrm>
          <a:custGeom>
            <a:avLst/>
            <a:gdLst>
              <a:gd name="connsiteX0" fmla="*/ 450595 w 604773"/>
              <a:gd name="connsiteY0" fmla="*/ 6350 h 390652"/>
              <a:gd name="connsiteX1" fmla="*/ 450595 w 604773"/>
              <a:gd name="connsiteY1" fmla="*/ 100838 h 390652"/>
              <a:gd name="connsiteX2" fmla="*/ 6350 w 604773"/>
              <a:gd name="connsiteY2" fmla="*/ 100838 h 390652"/>
              <a:gd name="connsiteX3" fmla="*/ 6350 w 604773"/>
              <a:gd name="connsiteY3" fmla="*/ 289814 h 390652"/>
              <a:gd name="connsiteX4" fmla="*/ 450595 w 604773"/>
              <a:gd name="connsiteY4" fmla="*/ 289814 h 390652"/>
              <a:gd name="connsiteX5" fmla="*/ 450595 w 604773"/>
              <a:gd name="connsiteY5" fmla="*/ 384302 h 390652"/>
              <a:gd name="connsiteX6" fmla="*/ 598423 w 604773"/>
              <a:gd name="connsiteY6" fmla="*/ 195326 h 390652"/>
              <a:gd name="connsiteX7" fmla="*/ 450595 w 604773"/>
              <a:gd name="connsiteY7" fmla="*/ 6350 h 3906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604773" h="390652">
                <a:moveTo>
                  <a:pt x="450595" y="6350"/>
                </a:moveTo>
                <a:lnTo>
                  <a:pt x="450595" y="100838"/>
                </a:lnTo>
                <a:lnTo>
                  <a:pt x="6350" y="100838"/>
                </a:lnTo>
                <a:lnTo>
                  <a:pt x="6350" y="289814"/>
                </a:lnTo>
                <a:lnTo>
                  <a:pt x="450595" y="289814"/>
                </a:lnTo>
                <a:lnTo>
                  <a:pt x="450595" y="384302"/>
                </a:lnTo>
                <a:lnTo>
                  <a:pt x="598423" y="195326"/>
                </a:lnTo>
                <a:lnTo>
                  <a:pt x="450595" y="6350"/>
                </a:lnTo>
              </a:path>
            </a:pathLst>
          </a:custGeom>
          <a:solidFill>
            <a:srgbClr val="00B0F0"/>
          </a:solidFill>
          <a:ln w="127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+mj-cs"/>
              <a:sym typeface="Helvetic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0" y="220035"/>
            <a:ext cx="972081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Gaussian white noise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高斯白噪声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对象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613" y="4250586"/>
            <a:ext cx="1495425" cy="508000"/>
          </a:xfr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57" y="1981247"/>
            <a:ext cx="8568698" cy="2895506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" name="Text Box 5"/>
          <p:cNvSpPr txBox="1"/>
          <p:nvPr/>
        </p:nvSpPr>
        <p:spPr>
          <a:xfrm>
            <a:off x="377857" y="695867"/>
            <a:ext cx="8295084" cy="147117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24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楷体_GB2312"/>
              </a:defRPr>
            </a:lvl5pPr>
          </a:lstStyle>
          <a:p>
            <a:pPr marL="0" indent="0" defTabSz="685800" eaLnBrk="1" hangingPunct="1">
              <a:lnSpc>
                <a:spcPct val="100000"/>
              </a:lnSpc>
              <a:spcAft>
                <a:spcPct val="0"/>
              </a:spcAft>
              <a:buClrTx/>
              <a:buNone/>
            </a:pPr>
            <a:r>
              <a:rPr lang="en-US" altLang="zh-CN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An 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idealized</a:t>
            </a:r>
            <a:r>
              <a:rPr lang="en-US" altLang="zh-CN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form of noise for noise analysis of communication systems.</a:t>
            </a:r>
            <a:endParaRPr lang="en-US" altLang="zh-CN" dirty="0">
              <a:solidFill>
                <a:srgbClr val="0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0" indent="0" defTabSz="685800" eaLnBrk="1" hangingPunct="1">
              <a:lnSpc>
                <a:spcPct val="100000"/>
              </a:lnSpc>
              <a:spcAft>
                <a:spcPct val="0"/>
              </a:spcAft>
              <a:buClrTx/>
              <a:buNone/>
            </a:pP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white</a:t>
            </a: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all frequency</a:t>
            </a:r>
            <a:endParaRPr lang="en-US" altLang="zh-CN" dirty="0">
              <a:solidFill>
                <a:srgbClr val="0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1835772" y="4782540"/>
            <a:ext cx="5829300" cy="533400"/>
          </a:xfrm>
          <a:prstGeom prst="rect">
            <a:avLst/>
          </a:prstGeom>
          <a:noFill/>
          <a:ln w="9525">
            <a:noFill/>
          </a:ln>
        </p:spPr>
        <p:txBody>
          <a:bodyPr lIns="69056" tIns="34529" rIns="69056" bIns="34529" anchor="ctr" anchorCtr="0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24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楷体_GB2312"/>
              </a:defRPr>
            </a:lvl5pPr>
          </a:lstStyle>
          <a:p>
            <a:pPr marL="1143000" indent="-1143000" defTabSz="6858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zh-CN" sz="12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                        Figure  </a:t>
            </a: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</a:rPr>
              <a:t>Characteristics of white noise.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1143000" indent="-1143000" defTabSz="6858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</a:rPr>
              <a:t>       (</a:t>
            </a:r>
            <a:r>
              <a:rPr lang="en-US" altLang="zh-CN" sz="1200" i="1" dirty="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</a:rPr>
              <a:t>) Power spectral density. (</a:t>
            </a:r>
            <a:r>
              <a:rPr lang="en-US" altLang="zh-CN" sz="1200" i="1" dirty="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</a:rPr>
              <a:t>) Autocorrelation function.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1578031" y="5400207"/>
          <a:ext cx="1444822" cy="724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4" imgW="786765" imgH="393700" progId="Equation.DSMT4">
                  <p:embed/>
                </p:oleObj>
              </mc:Choice>
              <mc:Fallback>
                <p:oleObj name="" r:id="rId4" imgW="786765" imgH="3937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78031" y="5400207"/>
                        <a:ext cx="1444822" cy="7246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796102" y="5339894"/>
          <a:ext cx="2347511" cy="879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6" imgW="1054100" imgH="393700" progId="Equation.DSMT4">
                  <p:embed/>
                </p:oleObj>
              </mc:Choice>
              <mc:Fallback>
                <p:oleObj name="" r:id="rId6" imgW="1054100" imgH="3937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96102" y="5339894"/>
                        <a:ext cx="2347511" cy="87900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979651" y="2585931"/>
          <a:ext cx="84772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8" imgW="558800" imgH="228600" progId="Equation.DSMT4">
                  <p:embed/>
                </p:oleObj>
              </mc:Choice>
              <mc:Fallback>
                <p:oleObj name="" r:id="rId8" imgW="558800" imgH="2286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79651" y="2585931"/>
                        <a:ext cx="847725" cy="347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/>
          <p:nvPr/>
        </p:nvSpPr>
        <p:spPr>
          <a:xfrm>
            <a:off x="3331951" y="2153734"/>
            <a:ext cx="2066591" cy="32316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24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楷体_GB2312"/>
              </a:defRPr>
            </a:lvl5pPr>
          </a:lstStyle>
          <a:p>
            <a:pPr marL="0" indent="0" defTabSz="6858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zh-CN" sz="1500" b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Boltzmann’s constant</a:t>
            </a:r>
            <a:endParaRPr lang="en-US" altLang="zh-CN" sz="1500" b="0" dirty="0">
              <a:solidFill>
                <a:srgbClr val="0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3" name="Text Box 11"/>
          <p:cNvSpPr txBox="1"/>
          <p:nvPr/>
        </p:nvSpPr>
        <p:spPr>
          <a:xfrm>
            <a:off x="4249922" y="3018128"/>
            <a:ext cx="1619250" cy="55399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24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楷体_GB2312"/>
              </a:defRPr>
            </a:lvl5pPr>
          </a:lstStyle>
          <a:p>
            <a:pPr marL="0" indent="0" defTabSz="6858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zh-CN" sz="1500" b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Equivalent noise temperature</a:t>
            </a:r>
            <a:endParaRPr lang="en-US" altLang="zh-CN" sz="1500" b="0" dirty="0">
              <a:solidFill>
                <a:srgbClr val="0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5" name="Line 12"/>
          <p:cNvSpPr/>
          <p:nvPr/>
        </p:nvSpPr>
        <p:spPr>
          <a:xfrm>
            <a:off x="4411847" y="2477584"/>
            <a:ext cx="161925" cy="1619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" name="Line 14"/>
          <p:cNvSpPr/>
          <p:nvPr/>
        </p:nvSpPr>
        <p:spPr>
          <a:xfrm flipH="1" flipV="1">
            <a:off x="4844044" y="2801434"/>
            <a:ext cx="270272" cy="216694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0" y="220035"/>
            <a:ext cx="9720810" cy="47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Low pass noise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低通型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对象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5766" y="5154377"/>
            <a:ext cx="1495425" cy="508000"/>
          </a:xfrm>
        </p:spPr>
      </p:pic>
      <p:sp>
        <p:nvSpPr>
          <p:cNvPr id="2" name="Rectangle 5"/>
          <p:cNvSpPr/>
          <p:nvPr/>
        </p:nvSpPr>
        <p:spPr>
          <a:xfrm>
            <a:off x="1702004" y="3764036"/>
            <a:ext cx="6156722" cy="857250"/>
          </a:xfrm>
          <a:prstGeom prst="rect">
            <a:avLst/>
          </a:prstGeom>
          <a:noFill/>
          <a:ln w="9525">
            <a:noFill/>
          </a:ln>
        </p:spPr>
        <p:txBody>
          <a:bodyPr lIns="69056" tIns="34529" rIns="69056" bIns="34529" anchor="ctr" anchorCtr="0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24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楷体_GB2312"/>
              </a:defRPr>
            </a:lvl5pPr>
          </a:lstStyle>
          <a:p>
            <a:pPr marL="1143000" indent="-1143000" defTabSz="6858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zh-CN" sz="1200" b="0" dirty="0">
                <a:solidFill>
                  <a:srgbClr val="000000"/>
                </a:solidFill>
                <a:latin typeface="Comic Sans MS" panose="030F0702030302020204" pitchFamily="66" charset="0"/>
              </a:rPr>
              <a:t>Figure   </a:t>
            </a: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</a:rPr>
              <a:t>Characteristics of low-pass filtered noise. 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1143000" indent="-1143000" defTabSz="6858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</a:rPr>
              <a:t>         (</a:t>
            </a:r>
            <a:r>
              <a:rPr lang="en-US" altLang="zh-CN" sz="1200" i="1" dirty="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</a:rPr>
              <a:t>) Power spectral density. (</a:t>
            </a:r>
            <a:r>
              <a:rPr lang="en-US" altLang="zh-CN" sz="1200" i="1" dirty="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  <a:r>
              <a:rPr lang="en-US" altLang="zh-CN" sz="1200" dirty="0">
                <a:solidFill>
                  <a:srgbClr val="000000"/>
                </a:solidFill>
                <a:latin typeface="Comic Sans MS" panose="030F0702030302020204" pitchFamily="66" charset="0"/>
              </a:rPr>
              <a:t>) Autocorrelation function.</a:t>
            </a:r>
            <a:endParaRPr lang="en-US" altLang="zh-CN" sz="12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755682" y="4823770"/>
          <a:ext cx="3201237" cy="1134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46329600" imgH="16459200" progId="Equation.DSMT4">
                  <p:embed/>
                </p:oleObj>
              </mc:Choice>
              <mc:Fallback>
                <p:oleObj name="Equation" r:id="rId3" imgW="46329600" imgH="164592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682" y="4823770"/>
                        <a:ext cx="3201237" cy="11346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4355982" y="4652616"/>
          <a:ext cx="4283075" cy="181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5" imgW="47244000" imgH="20116800" progId="Equation.DSMT4">
                  <p:embed/>
                </p:oleObj>
              </mc:Choice>
              <mc:Fallback>
                <p:oleObj name="Equation" r:id="rId5" imgW="47244000" imgH="201168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55982" y="4652616"/>
                        <a:ext cx="4283075" cy="181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380234" y="842767"/>
            <a:ext cx="113409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35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傅里叶变换及欧拉公式</a:t>
            </a:r>
            <a:endParaRPr lang="zh-CN" altLang="en-US" sz="135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34" y="1356090"/>
            <a:ext cx="8735252" cy="2648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0" y="220035"/>
            <a:ext cx="9720810" cy="47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Low pass noise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低通型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对象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5766" y="5154377"/>
            <a:ext cx="1495425" cy="508000"/>
          </a:xfrm>
        </p:spPr>
      </p:pic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1259724" y="2591032"/>
          <a:ext cx="5656861" cy="3780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2" imgW="47244000" imgH="31699200" progId="Equation.DSMT4">
                  <p:embed/>
                </p:oleObj>
              </mc:Choice>
              <mc:Fallback>
                <p:oleObj name="Equation" r:id="rId2" imgW="47244000" imgH="316992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59724" y="2591032"/>
                        <a:ext cx="5656861" cy="378032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706" y="965453"/>
            <a:ext cx="1986454" cy="6801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76" y="1645598"/>
            <a:ext cx="3114632" cy="93797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7123" y="1239077"/>
            <a:ext cx="3316790" cy="827367"/>
          </a:xfrm>
          <a:prstGeom prst="rect">
            <a:avLst/>
          </a:prstGeom>
        </p:spPr>
      </p:pic>
      <p:sp>
        <p:nvSpPr>
          <p:cNvPr id="15" name="箭头: 右 14"/>
          <p:cNvSpPr/>
          <p:nvPr/>
        </p:nvSpPr>
        <p:spPr>
          <a:xfrm>
            <a:off x="4078975" y="1519397"/>
            <a:ext cx="493025" cy="1674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3976" y="1168997"/>
            <a:ext cx="4752396" cy="161554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0" y="220035"/>
            <a:ext cx="9720810" cy="47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Band pass noise: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带通型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对象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766" y="5154377"/>
            <a:ext cx="1495425" cy="508000"/>
          </a:xfrm>
        </p:spPr>
      </p:pic>
      <p:graphicFrame>
        <p:nvGraphicFramePr>
          <p:cNvPr id="14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395652" y="749328"/>
          <a:ext cx="6931281" cy="4479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80162400" imgH="51816000" progId="Equation.DSMT4">
                  <p:embed/>
                </p:oleObj>
              </mc:Choice>
              <mc:Fallback>
                <p:oleObj name="Equation" r:id="rId3" imgW="80162400" imgH="518160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395652" y="749328"/>
                        <a:ext cx="6931281" cy="447982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023" y="3677898"/>
            <a:ext cx="4271161" cy="31353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683676" y="5268778"/>
                <a:ext cx="453637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Power:</a:t>
                </a:r>
                <a:r>
                  <a:rPr lang="zh-CN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32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76" y="5268778"/>
                <a:ext cx="4536378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9" t="-31" r="8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/>
          <p:cNvGraphicFramePr>
            <a:graphicFrameLocks noGrp="1"/>
          </p:cNvGraphicFramePr>
          <p:nvPr>
            <p:ph idx="1"/>
          </p:nvPr>
        </p:nvGraphicFramePr>
        <p:xfrm>
          <a:off x="197826" y="836784"/>
          <a:ext cx="8748348" cy="571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341"/>
                <a:gridCol w="3110891"/>
                <a:gridCol w="2916116"/>
              </a:tblGrid>
              <a:tr h="825536">
                <a:tc>
                  <a:txBody>
                    <a:bodyPr/>
                    <a:lstStyle/>
                    <a:p>
                      <a:r>
                        <a:rPr lang="zh-CN" altLang="zh-CN" sz="3200" dirty="0"/>
                        <a:t>Gaussian distribution</a:t>
                      </a:r>
                      <a:endParaRPr lang="zh-CN" altLang="en-US" sz="32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solidFill>
                            <a:schemeClr val="bg1"/>
                          </a:solidFill>
                        </a:rPr>
                        <a:t>            PSD</a:t>
                      </a:r>
                      <a:endParaRPr lang="zh-CN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solidFill>
                            <a:schemeClr val="bg1"/>
                          </a:solidFill>
                        </a:rPr>
                        <a:t>       </a:t>
                      </a:r>
                      <a:r>
                        <a:rPr lang="en-US" altLang="zh-CN" sz="3200" b="1" i="1" dirty="0">
                          <a:solidFill>
                            <a:schemeClr val="bg1"/>
                          </a:solidFill>
                          <a:latin typeface="+mj-lt"/>
                        </a:rPr>
                        <a:t>R</a:t>
                      </a:r>
                      <a:r>
                        <a:rPr lang="en-US" altLang="zh-CN" sz="3200" b="1" dirty="0">
                          <a:solidFill>
                            <a:schemeClr val="bg1"/>
                          </a:solidFill>
                          <a:latin typeface="+mj-lt"/>
                        </a:rPr>
                        <a:t>(τ</a:t>
                      </a:r>
                      <a:r>
                        <a:rPr lang="zh-CN" altLang="en-US" sz="3200" b="1" dirty="0">
                          <a:solidFill>
                            <a:schemeClr val="bg1"/>
                          </a:solidFill>
                          <a:latin typeface="+mj-lt"/>
                        </a:rPr>
                        <a:t>）</a:t>
                      </a:r>
                      <a:endParaRPr lang="zh-CN" altLang="en-US" sz="3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/>
                </a:tc>
              </a:tr>
              <a:tr h="141931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32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     AGWN</a:t>
                      </a:r>
                      <a:endParaRPr lang="en-US" altLang="zh-CN" sz="32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26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加性高斯白噪声</a:t>
                      </a:r>
                      <a:endParaRPr lang="zh-CN" altLang="en-US" sz="26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CN" sz="3200" b="1" i="1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</a:t>
                      </a:r>
                      <a:endParaRPr kumimoji="0" lang="zh-CN" altLang="en-US" sz="3200" b="1" i="1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zh-CN" altLang="en-US" sz="3600" b="1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86458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zh-CN" altLang="en-US" sz="3200" b="1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楷体_GB2312"/>
                          <a:sym typeface="Symbol" panose="05050102010706020507" pitchFamily="18" charset="2"/>
                        </a:rPr>
                        <a:t>     </a:t>
                      </a:r>
                      <a:endParaRPr kumimoji="0" lang="en-US" altLang="zh-CN" sz="3200" b="1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楷体_GB2312"/>
                        <a:sym typeface="Symbol" panose="05050102010706020507" pitchFamily="18" charset="2"/>
                      </a:endParaRPr>
                    </a:p>
                    <a:p>
                      <a:pPr marL="0" algn="l" defTabSz="914400" rtl="0" eaLnBrk="1" latinLnBrk="0" hangingPunct="1"/>
                      <a:r>
                        <a:rPr kumimoji="0" lang="en-US" altLang="zh-CN" sz="3200" b="1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   </a:t>
                      </a:r>
                      <a:endParaRPr lang="en-US" altLang="zh-CN" sz="32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32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低通型：</a:t>
                      </a:r>
                      <a:r>
                        <a:rPr lang="en-US" altLang="zh-CN" sz="32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LP</a:t>
                      </a:r>
                      <a:endParaRPr lang="en-US" altLang="zh-CN" sz="32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zh-CN" altLang="en-US" sz="32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CN" sz="36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+mn-ea"/>
                          <a:cs typeface="+mn-cs"/>
                        </a:rPr>
                        <a:t>  </a:t>
                      </a:r>
                      <a:endParaRPr kumimoji="0" lang="zh-CN" altLang="en-US" sz="3600" b="1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300" dirty="0"/>
                    </a:p>
                  </a:txBody>
                  <a:tcPr/>
                </a:tc>
              </a:tr>
              <a:tr h="118309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32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带通型：</a:t>
                      </a:r>
                      <a:r>
                        <a:rPr lang="en-US" altLang="zh-CN" sz="32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BP</a:t>
                      </a:r>
                      <a:endParaRPr lang="zh-CN" altLang="en-US" sz="32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zh-CN" altLang="en-US" sz="3600" b="1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3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1867" y="1978992"/>
            <a:ext cx="2232187" cy="128802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0" y="220035"/>
            <a:ext cx="9720810" cy="47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Gaussian noise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904" y="3674408"/>
            <a:ext cx="1978187" cy="182920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74" y="5503610"/>
            <a:ext cx="2766515" cy="116256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/>
          <p:cNvGraphicFramePr>
            <a:graphicFrameLocks noGrp="1"/>
          </p:cNvGraphicFramePr>
          <p:nvPr>
            <p:ph idx="1"/>
          </p:nvPr>
        </p:nvGraphicFramePr>
        <p:xfrm>
          <a:off x="65615" y="654795"/>
          <a:ext cx="9144000" cy="6203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7342"/>
                <a:gridCol w="3198790"/>
                <a:gridCol w="3337868"/>
              </a:tblGrid>
              <a:tr h="691838">
                <a:tc>
                  <a:txBody>
                    <a:bodyPr/>
                    <a:lstStyle/>
                    <a:p>
                      <a:r>
                        <a:rPr lang="zh-CN" altLang="zh-CN" sz="2800" dirty="0"/>
                        <a:t>Gaussian distribution</a:t>
                      </a:r>
                      <a:endParaRPr lang="zh-CN" altLang="en-US" sz="2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solidFill>
                            <a:schemeClr val="bg1"/>
                          </a:solidFill>
                        </a:rPr>
                        <a:t>            PSD</a:t>
                      </a:r>
                      <a:endParaRPr lang="zh-CN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b="1" dirty="0">
                          <a:solidFill>
                            <a:schemeClr val="bg1"/>
                          </a:solidFill>
                        </a:rPr>
                        <a:t>          </a:t>
                      </a:r>
                      <a:r>
                        <a:rPr lang="en-US" altLang="zh-CN" sz="3200" b="1" i="1" dirty="0">
                          <a:solidFill>
                            <a:schemeClr val="bg1"/>
                          </a:solidFill>
                          <a:latin typeface="+mj-lt"/>
                        </a:rPr>
                        <a:t>R</a:t>
                      </a:r>
                      <a:r>
                        <a:rPr lang="en-US" altLang="zh-CN" sz="3200" b="1" dirty="0">
                          <a:solidFill>
                            <a:schemeClr val="bg1"/>
                          </a:solidFill>
                          <a:latin typeface="+mj-lt"/>
                        </a:rPr>
                        <a:t>(τ</a:t>
                      </a:r>
                      <a:r>
                        <a:rPr lang="zh-CN" altLang="en-US" sz="3200" b="1" dirty="0">
                          <a:solidFill>
                            <a:schemeClr val="bg1"/>
                          </a:solidFill>
                          <a:latin typeface="+mj-lt"/>
                        </a:rPr>
                        <a:t>）</a:t>
                      </a:r>
                      <a:endParaRPr lang="zh-CN" altLang="en-US" sz="3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/>
                </a:tc>
              </a:tr>
              <a:tr h="137552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28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     AGWN</a:t>
                      </a:r>
                      <a:endParaRPr lang="en-US" altLang="zh-CN" sz="28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26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加性高斯白噪声</a:t>
                      </a:r>
                      <a:endParaRPr lang="zh-CN" altLang="en-US" sz="26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CN" sz="3200" b="1" i="1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</a:t>
                      </a:r>
                      <a:endParaRPr kumimoji="0" lang="zh-CN" altLang="en-US" sz="3200" b="1" i="1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zh-CN" altLang="en-US" sz="3600" b="1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86413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zh-CN" altLang="en-US" sz="2800" b="1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楷体_GB2312"/>
                          <a:sym typeface="Symbol" panose="05050102010706020507" pitchFamily="18" charset="2"/>
                        </a:rPr>
                        <a:t>     </a:t>
                      </a:r>
                      <a:endParaRPr kumimoji="0" lang="en-US" altLang="zh-CN" sz="2800" b="1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楷体_GB2312"/>
                        <a:sym typeface="Symbol" panose="05050102010706020507" pitchFamily="18" charset="2"/>
                      </a:endParaRPr>
                    </a:p>
                    <a:p>
                      <a:pPr marL="0" algn="l" defTabSz="914400" rtl="0" eaLnBrk="1" latinLnBrk="0" hangingPunct="1"/>
                      <a:r>
                        <a:rPr kumimoji="0" lang="en-US" altLang="zh-CN" sz="2800" b="1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    </a:t>
                      </a:r>
                      <a:endParaRPr lang="en-US" altLang="zh-CN" sz="28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28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低通型：</a:t>
                      </a:r>
                      <a:r>
                        <a:rPr lang="en-US" altLang="zh-CN" sz="28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LP</a:t>
                      </a:r>
                      <a:endParaRPr lang="en-US" altLang="zh-CN" sz="28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zh-CN" altLang="en-US" sz="28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CN" sz="36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+mn-ea"/>
                          <a:cs typeface="+mn-cs"/>
                        </a:rPr>
                        <a:t>  </a:t>
                      </a:r>
                      <a:endParaRPr kumimoji="0" lang="zh-CN" altLang="en-US" sz="3600" b="1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300" dirty="0"/>
                    </a:p>
                  </a:txBody>
                  <a:tcPr/>
                </a:tc>
              </a:tr>
              <a:tr h="20186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28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endParaRPr lang="en-US" altLang="zh-CN" sz="28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28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带通型：</a:t>
                      </a:r>
                      <a:r>
                        <a:rPr lang="en-US" altLang="zh-CN" sz="28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BP</a:t>
                      </a:r>
                      <a:endParaRPr lang="zh-CN" altLang="en-US" sz="28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zh-CN" altLang="en-US" sz="3600" b="1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3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9268" y="1679761"/>
            <a:ext cx="2065686" cy="119194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241" y="1640764"/>
            <a:ext cx="2232187" cy="119688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220035"/>
            <a:ext cx="9720810" cy="47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Gaussian  noise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241" y="3272695"/>
            <a:ext cx="2304193" cy="12427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6767" y="2979449"/>
            <a:ext cx="1978187" cy="182920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5895" y="5085138"/>
            <a:ext cx="3166741" cy="133075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7073" y="4950164"/>
            <a:ext cx="2579416" cy="186311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36784"/>
            <a:ext cx="9068605" cy="57604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801" y="452207"/>
            <a:ext cx="9036372" cy="236138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7643" y="2652332"/>
            <a:ext cx="8568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noise distribution at different receiver stages is critical for noise power calculation.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掌握接收机不同阶段的噪声分布，对噪声功率计算十分关键。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4706" y="4598214"/>
            <a:ext cx="87847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this framework and derive input/output signals, noise variations and noise power changes.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认真分析这个框架，推导输入输出信号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噪声的变化，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不同阶段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噪声功率的变化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622" y="3852661"/>
            <a:ext cx="404469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zh-CN" sz="3600" b="1" cap="none" spc="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Thinking Question:</a:t>
            </a:r>
            <a:endParaRPr lang="zh-CN" altLang="en-US" sz="3600" b="1" cap="none" spc="0" dirty="0">
              <a:solidFill>
                <a:schemeClr val="accent2">
                  <a:lumMod val="75000"/>
                </a:schemeClr>
              </a:solidFill>
              <a:effectLst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48048" y="603693"/>
            <a:ext cx="2880240" cy="20191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801" y="452207"/>
            <a:ext cx="9036372" cy="236138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7643" y="2652332"/>
            <a:ext cx="8568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noise distribution at different receiver stages is critical for noise power calculation.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掌握接收机不同阶段的噪声分布，对噪声功率计算十分关键。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4706" y="4598214"/>
            <a:ext cx="87847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this framework and derive input/output signals, noise variations and noise power changes.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认真分析这个框架，推导输入输出信号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噪声的变化，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不同阶段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噪声功率的变化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622" y="3852661"/>
            <a:ext cx="404469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zh-CN" sz="3600" b="1" cap="none" spc="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Thinking Question:</a:t>
            </a:r>
            <a:endParaRPr lang="zh-CN" altLang="en-US" sz="3600" b="1" cap="none" spc="0" dirty="0">
              <a:solidFill>
                <a:schemeClr val="accent2">
                  <a:lumMod val="75000"/>
                </a:schemeClr>
              </a:solidFill>
              <a:effectLst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48048" y="603693"/>
            <a:ext cx="1584132" cy="20191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634" y="476754"/>
            <a:ext cx="7886700" cy="1325563"/>
          </a:xfrm>
        </p:spPr>
        <p:txBody>
          <a:bodyPr/>
          <a:lstStyle/>
          <a:p>
            <a:r>
              <a:rPr lang="zh-CN" altLang="en-US" dirty="0"/>
              <a:t>猜一猜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14" y="621626"/>
            <a:ext cx="9036372" cy="236138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23646" y="2665271"/>
            <a:ext cx="21226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zh-CN" sz="5400" b="1" cap="none" spc="0" dirty="0">
                <a:solidFill>
                  <a:schemeClr val="accent4"/>
                </a:solidFill>
                <a:effectLst/>
              </a:rPr>
              <a:t>Guess!</a:t>
            </a:r>
            <a:endParaRPr lang="zh-CN" altLang="en-US" sz="5400" b="1" cap="none" spc="0" dirty="0">
              <a:solidFill>
                <a:schemeClr val="accent4"/>
              </a:solidFill>
              <a:effectLst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1978" y="5229150"/>
            <a:ext cx="8568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noise distribution at different receiver stages is critical for noise power calculation.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dirty="0"/>
              <a:t>掌握接收机不同阶段的噪声分布，对噪声功率计算十分关键。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4998432" y="749195"/>
            <a:ext cx="1584132" cy="20191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28040" y="3500755"/>
            <a:ext cx="5859145" cy="1677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-- </a:t>
            </a:r>
            <a:r>
              <a:rPr lang="en-US" altLang="zh-CN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White noise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-- Low-pass gaussian noise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-- Band-pass gaussian noise</a:t>
            </a:r>
            <a:endParaRPr kumimoji="1" lang="en-US" altLang="zh-CN" sz="32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14" y="578069"/>
            <a:ext cx="9036372" cy="236138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1118" y="2582076"/>
            <a:ext cx="5758996" cy="16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--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White noise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-- Low-pass gaussian noise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-- Band-pass gaussian noise</a:t>
            </a:r>
            <a:endParaRPr lang="zh-CN" altLang="en-US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98432" y="749195"/>
            <a:ext cx="1584132" cy="20191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53814" y="4269519"/>
            <a:ext cx="900075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000" b="1" dirty="0"/>
              <a:t>All three cases are Gaussian random processes. </a:t>
            </a:r>
            <a:endParaRPr lang="en-US" altLang="zh-CN" sz="3000" b="1" dirty="0"/>
          </a:p>
          <a:p>
            <a:r>
              <a:rPr lang="zh-CN" altLang="zh-CN" sz="3000" dirty="0"/>
              <a:t>Reason: A Gaussian random process passing through a </a:t>
            </a:r>
            <a:r>
              <a:rPr lang="zh-CN" altLang="zh-CN" sz="3000" b="1" dirty="0"/>
              <a:t>linear system</a:t>
            </a:r>
            <a:r>
              <a:rPr lang="en-US" altLang="zh-CN" sz="3000" b="1" dirty="0"/>
              <a:t> (BPF or LPF)</a:t>
            </a:r>
            <a:r>
              <a:rPr lang="zh-CN" altLang="zh-CN" sz="3000" dirty="0"/>
              <a:t> remains Gaussian. </a:t>
            </a:r>
            <a:endParaRPr lang="en-US" altLang="zh-CN" sz="3000" dirty="0"/>
          </a:p>
          <a:p>
            <a:r>
              <a:rPr lang="zh-CN" altLang="zh-CN" sz="3000" dirty="0"/>
              <a:t>Filtering only modifies PSD and autocorrelation function, without changing the Gaussian property.</a:t>
            </a:r>
            <a:endParaRPr lang="zh-CN" altLang="en-US" sz="3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-48433" y="54849"/>
            <a:ext cx="46245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Gaussian noise </a:t>
            </a:r>
            <a:endParaRPr kumimoji="1" lang="zh-CN" altLang="en-US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634" y="476754"/>
            <a:ext cx="7886700" cy="1325563"/>
          </a:xfrm>
        </p:spPr>
        <p:txBody>
          <a:bodyPr/>
          <a:lstStyle/>
          <a:p>
            <a:r>
              <a:rPr lang="zh-CN" altLang="en-US" dirty="0"/>
              <a:t>猜一猜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8" y="414372"/>
            <a:ext cx="9036372" cy="236138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9664" y="3144150"/>
            <a:ext cx="4606158" cy="857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White noise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242" y="3572985"/>
            <a:ext cx="2592216" cy="129954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42" y="2996964"/>
            <a:ext cx="3753374" cy="202910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8062" y="60429"/>
            <a:ext cx="4320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噪声功率的计算</a:t>
            </a:r>
            <a:endParaRPr lang="zh-CN" altLang="en-US" sz="40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730" y="5064167"/>
            <a:ext cx="3523404" cy="107988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134" y="5240817"/>
            <a:ext cx="1495634" cy="87642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317" y="2951763"/>
            <a:ext cx="938902" cy="55199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4180" y="3372438"/>
            <a:ext cx="377275" cy="600211"/>
          </a:xfrm>
          <a:prstGeom prst="rect">
            <a:avLst/>
          </a:prstGeom>
        </p:spPr>
      </p:pic>
      <p:cxnSp>
        <p:nvCxnSpPr>
          <p:cNvPr id="21" name="直接连接符 20"/>
          <p:cNvCxnSpPr/>
          <p:nvPr/>
        </p:nvCxnSpPr>
        <p:spPr>
          <a:xfrm>
            <a:off x="68062" y="2775753"/>
            <a:ext cx="9041278" cy="0"/>
          </a:xfrm>
          <a:prstGeom prst="line">
            <a:avLst/>
          </a:prstGeom>
          <a:ln w="190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004036" y="537837"/>
            <a:ext cx="1584132" cy="20191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634" y="476754"/>
            <a:ext cx="7886700" cy="1325563"/>
          </a:xfrm>
        </p:spPr>
        <p:txBody>
          <a:bodyPr/>
          <a:lstStyle/>
          <a:p>
            <a:r>
              <a:rPr lang="zh-CN" altLang="en-US" dirty="0"/>
              <a:t>猜一猜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60" y="621626"/>
            <a:ext cx="9036372" cy="236138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7658" y="3678459"/>
            <a:ext cx="4606158" cy="900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Calibri" panose="020F0502020204030204"/>
                <a:ea typeface="等线" panose="02010600030101010101" pitchFamily="2" charset="-122"/>
              </a:rPr>
              <a:t>-- Band-pass gaussian noise</a:t>
            </a:r>
            <a:endParaRPr lang="zh-CN" altLang="zh-CN" sz="2800" b="1" dirty="0">
              <a:solidFill>
                <a:srgbClr val="C00000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8062" y="60429"/>
            <a:ext cx="4320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噪声功率的计算</a:t>
            </a:r>
            <a:endParaRPr lang="zh-CN" altLang="en-US" sz="4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594" y="3963309"/>
            <a:ext cx="4286400" cy="158515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82" y="4395345"/>
            <a:ext cx="3888324" cy="109591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282" y="3998579"/>
            <a:ext cx="377275" cy="600211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>
            <a:off x="48908" y="3224817"/>
            <a:ext cx="9041278" cy="0"/>
          </a:xfrm>
          <a:prstGeom prst="line">
            <a:avLst/>
          </a:prstGeom>
          <a:ln w="190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4998432" y="749195"/>
            <a:ext cx="1584132" cy="20191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0498" y="3551302"/>
            <a:ext cx="1072829" cy="53916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9874" y="5147987"/>
            <a:ext cx="3168264" cy="96332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634" y="476754"/>
            <a:ext cx="7886700" cy="1325563"/>
          </a:xfrm>
        </p:spPr>
        <p:txBody>
          <a:bodyPr/>
          <a:lstStyle/>
          <a:p>
            <a:r>
              <a:rPr lang="zh-CN" altLang="en-US" dirty="0"/>
              <a:t>猜一猜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0" y="621626"/>
            <a:ext cx="9036372" cy="2361381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8062" y="60429"/>
            <a:ext cx="4320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噪声功率的计算</a:t>
            </a:r>
            <a:endParaRPr lang="zh-CN" altLang="en-US" sz="40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282" y="3998579"/>
            <a:ext cx="377275" cy="60021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272" y="3662188"/>
            <a:ext cx="514422" cy="46679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>
            <a:off x="48908" y="3224817"/>
            <a:ext cx="9041278" cy="0"/>
          </a:xfrm>
          <a:prstGeom prst="line">
            <a:avLst/>
          </a:prstGeom>
          <a:ln w="190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74936" y="5893560"/>
            <a:ext cx="92167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/>
              <a:t>The BPF limits the noise bandwidth, turning infinite-power ideal white noise into finite-power band-pass noise for demodulation.</a:t>
            </a:r>
            <a:endParaRPr lang="zh-CN" altLang="en-US" sz="24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632" y="3571918"/>
            <a:ext cx="4286400" cy="158515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320" y="3607188"/>
            <a:ext cx="377275" cy="60021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980" y="3290271"/>
            <a:ext cx="3753374" cy="202910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255" y="3245070"/>
            <a:ext cx="938902" cy="55199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118" y="3573012"/>
            <a:ext cx="377275" cy="60021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629797" y="3652067"/>
            <a:ext cx="1439271" cy="707886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C00000"/>
                </a:solidFill>
              </a:rPr>
              <a:t>  BPF </a:t>
            </a:r>
            <a:endParaRPr lang="zh-CN" altLang="en-US" sz="4000" dirty="0">
              <a:solidFill>
                <a:srgbClr val="C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568889" y="5195733"/>
            <a:ext cx="3015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B</a:t>
            </a:r>
            <a:r>
              <a:rPr lang="en-US" altLang="zh-CN" dirty="0"/>
              <a:t> depends on signal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4998432" y="749195"/>
            <a:ext cx="1584132" cy="20191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1157" y="3319450"/>
            <a:ext cx="1094446" cy="55002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634" y="476754"/>
            <a:ext cx="7886700" cy="1325563"/>
          </a:xfrm>
        </p:spPr>
        <p:txBody>
          <a:bodyPr/>
          <a:lstStyle/>
          <a:p>
            <a:r>
              <a:rPr lang="zh-CN" altLang="en-US" dirty="0"/>
              <a:t>猜一猜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60" y="621626"/>
            <a:ext cx="9036372" cy="2361381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8062" y="60429"/>
            <a:ext cx="82482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LPF</a:t>
            </a:r>
            <a:r>
              <a:rPr lang="zh-CN" altLang="en-US" sz="4000" dirty="0"/>
              <a:t>后噪声功率的计算：</a:t>
            </a:r>
            <a:r>
              <a:rPr lang="zh-CN" altLang="en-US" sz="4000" b="1" dirty="0"/>
              <a:t>思考</a:t>
            </a:r>
            <a:endParaRPr lang="zh-CN" altLang="en-US" sz="4000" b="1" dirty="0"/>
          </a:p>
        </p:txBody>
      </p:sp>
      <p:cxnSp>
        <p:nvCxnSpPr>
          <p:cNvPr id="17" name="直接连接符 16"/>
          <p:cNvCxnSpPr/>
          <p:nvPr/>
        </p:nvCxnSpPr>
        <p:spPr>
          <a:xfrm>
            <a:off x="0" y="2983007"/>
            <a:ext cx="9041278" cy="0"/>
          </a:xfrm>
          <a:prstGeom prst="line">
            <a:avLst/>
          </a:prstGeom>
          <a:ln w="190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427988" y="4272004"/>
            <a:ext cx="1045122" cy="52322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B050"/>
                </a:solidFill>
              </a:rPr>
              <a:t>  LPF </a:t>
            </a:r>
            <a:endParaRPr lang="zh-CN" altLang="en-US" sz="2800" dirty="0">
              <a:solidFill>
                <a:srgbClr val="00B05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98432" y="749195"/>
            <a:ext cx="1584132" cy="20191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278" y="4503715"/>
            <a:ext cx="377275" cy="6002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268" y="4167324"/>
            <a:ext cx="514422" cy="4667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" y="4077054"/>
            <a:ext cx="4286400" cy="1585159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316" y="4018759"/>
            <a:ext cx="377275" cy="600211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8538" y="3722572"/>
            <a:ext cx="1978187" cy="182920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704" y="3643358"/>
            <a:ext cx="915984" cy="425433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45" y="3819100"/>
            <a:ext cx="1094446" cy="550029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7275788" y="3856074"/>
            <a:ext cx="432036" cy="29654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？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06169" y="3135493"/>
            <a:ext cx="4606158" cy="900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Calibri" panose="020F0502020204030204"/>
                <a:ea typeface="等线" panose="02010600030101010101" pitchFamily="2" charset="-122"/>
              </a:rPr>
              <a:t>-- Low  pass gaussian noise</a:t>
            </a:r>
            <a:endParaRPr lang="zh-CN" altLang="zh-CN" sz="2800" b="1" dirty="0">
              <a:solidFill>
                <a:srgbClr val="C00000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/>
          <p:cNvSpPr txBox="1"/>
          <p:nvPr/>
        </p:nvSpPr>
        <p:spPr>
          <a:xfrm>
            <a:off x="827688" y="785885"/>
            <a:ext cx="7848654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/>
              <a:t>调制解调的框架及数学推导 </a:t>
            </a:r>
            <a:endParaRPr lang="en-US" altLang="zh-CN" sz="3600" dirty="0"/>
          </a:p>
          <a:p>
            <a:r>
              <a:rPr lang="zh-CN" altLang="en-US" sz="3600" dirty="0">
                <a:solidFill>
                  <a:srgbClr val="FF0000"/>
                </a:solidFill>
              </a:rPr>
              <a:t>  全书最核心的数学推导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02" y="2524334"/>
            <a:ext cx="4422608" cy="2269804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298352" y="4945503"/>
          <a:ext cx="2943150" cy="441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2" imgW="36576000" imgH="5486400" progId="Equation.DSMT4">
                  <p:embed/>
                </p:oleObj>
              </mc:Choice>
              <mc:Fallback>
                <p:oleObj name="Equation" r:id="rId2" imgW="36576000" imgH="5486400" progId="Equation.DSMT4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98352" y="4945503"/>
                        <a:ext cx="2943150" cy="441473"/>
                      </a:xfrm>
                      <a:prstGeom prst="rect">
                        <a:avLst/>
                      </a:prstGeom>
                      <a:ln w="15875"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箭头: 下 6"/>
          <p:cNvSpPr/>
          <p:nvPr/>
        </p:nvSpPr>
        <p:spPr bwMode="auto">
          <a:xfrm>
            <a:off x="2769927" y="3429000"/>
            <a:ext cx="108009" cy="1314450"/>
          </a:xfrm>
          <a:prstGeom prst="downArrow">
            <a:avLst/>
          </a:prstGeom>
          <a:solidFill>
            <a:schemeClr val="accent1"/>
          </a:solidFill>
          <a:ln w="12700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8580" tIns="34290" rIns="68580" bIns="34290" numCol="1" rtlCol="0" anchor="t" anchorCtr="0" compatLnSpc="1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8" name="墨迹 7"/>
              <p14:cNvContentPartPr/>
              <p14:nvPr/>
            </p14:nvContentPartPr>
            <p14:xfrm>
              <a:off x="5783636" y="2875590"/>
              <a:ext cx="3295890" cy="94311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5"/>
            </p:blipFill>
            <p:spPr>
              <a:xfrm>
                <a:off x="5783636" y="2875590"/>
                <a:ext cx="3295890" cy="943110"/>
              </a:xfrm>
              <a:prstGeom prst="rect"/>
            </p:spPr>
          </p:pic>
        </mc:Fallback>
      </mc:AlternateContent>
      <p:sp>
        <p:nvSpPr>
          <p:cNvPr id="9" name="文本框 8"/>
          <p:cNvSpPr txBox="1"/>
          <p:nvPr/>
        </p:nvSpPr>
        <p:spPr>
          <a:xfrm>
            <a:off x="6071660" y="3883674"/>
            <a:ext cx="25326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哪个模块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+LPF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可以恢复出</a:t>
            </a:r>
            <a:r>
              <a:rPr lang="en-US" altLang="zh-CN" sz="2100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？</a:t>
            </a:r>
            <a:endParaRPr lang="zh-CN" altLang="en-US" sz="21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62822" y="2965305"/>
            <a:ext cx="1007126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 </a:t>
            </a:r>
            <a:r>
              <a:rPr lang="en-US" altLang="zh-CN" sz="2800" dirty="0"/>
              <a:t>BPF </a:t>
            </a:r>
            <a:endParaRPr lang="zh-CN" altLang="en-US" sz="2800" dirty="0"/>
          </a:p>
        </p:txBody>
      </p:sp>
      <p:cxnSp>
        <p:nvCxnSpPr>
          <p:cNvPr id="12" name="直接箭头连接符 11"/>
          <p:cNvCxnSpPr>
            <a:endCxn id="10" idx="1"/>
          </p:cNvCxnSpPr>
          <p:nvPr/>
        </p:nvCxnSpPr>
        <p:spPr>
          <a:xfrm>
            <a:off x="4461110" y="3319248"/>
            <a:ext cx="3017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4306" y="2608293"/>
            <a:ext cx="931905" cy="67669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08390" y="188730"/>
            <a:ext cx="972081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                            Example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3"/>
          <p:cNvGraphicFramePr/>
          <p:nvPr/>
        </p:nvGraphicFramePr>
        <p:xfrm>
          <a:off x="2267808" y="3789030"/>
          <a:ext cx="4248354" cy="2952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icture" r:id="rId1" imgW="2047240" imgH="1445260" progId="Word.Picture.8">
                  <p:embed/>
                </p:oleObj>
              </mc:Choice>
              <mc:Fallback>
                <p:oleObj name="Picture" r:id="rId1" imgW="2047240" imgH="1445260" progId="Word.Picture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808" y="3789030"/>
                        <a:ext cx="4248354" cy="295224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3707928" y="5341810"/>
            <a:ext cx="43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0</a:t>
            </a:r>
            <a:endParaRPr lang="zh-CN" altLang="en-US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6299"/>
            <a:ext cx="9144000" cy="293914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391985" y="4509090"/>
            <a:ext cx="36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2771850" y="4797114"/>
            <a:ext cx="3168264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3"/>
          <p:cNvGraphicFramePr/>
          <p:nvPr/>
        </p:nvGraphicFramePr>
        <p:xfrm>
          <a:off x="16675" y="62588"/>
          <a:ext cx="4248354" cy="2952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icture" r:id="rId1" imgW="2047240" imgH="1445260" progId="Word.Picture.8">
                  <p:embed/>
                </p:oleObj>
              </mc:Choice>
              <mc:Fallback>
                <p:oleObj name="Picture" r:id="rId1" imgW="2047240" imgH="1445260" progId="Word.Picture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75" y="62588"/>
                        <a:ext cx="4248354" cy="295224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472" y="3143210"/>
            <a:ext cx="1467055" cy="5715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42" y="3054036"/>
            <a:ext cx="7125660" cy="113414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76" y="4188177"/>
            <a:ext cx="7437940" cy="243509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7628" y="251388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/>
              <a:t>(1) Autocorrelation function</a:t>
            </a:r>
            <a:endParaRPr lang="zh-CN" altLang="en-US" sz="2800" b="1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8973" y="0"/>
            <a:ext cx="4047414" cy="29234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159799" y="768601"/>
            <a:ext cx="36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539664" y="1056625"/>
            <a:ext cx="3168264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1475742" y="188730"/>
            <a:ext cx="5599488" cy="543664"/>
          </a:xfrm>
        </p:spPr>
        <p:txBody>
          <a:bodyPr vert="horz" wrap="square" lIns="91440" tIns="45720" rIns="91440" bIns="45720" anchor="ctr" anchorCtr="1"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 map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891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583" y="1272038"/>
            <a:ext cx="9080833" cy="5087531"/>
          </a:xfr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640" y="342925"/>
            <a:ext cx="6480720" cy="648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通信原理二">
  <a:themeElements>
    <a:clrScheme name="通信原理二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通信原理二">
      <a:majorFont>
        <a:latin typeface="Times New Roman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rnd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rnd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通信原理二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信原理二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信原理二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信原理二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信原理二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信原理二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信原理二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7053</Words>
  <Application>WPS 演示</Application>
  <PresentationFormat>全屏显示(4:3)</PresentationFormat>
  <Paragraphs>436</Paragraphs>
  <Slides>51</Slides>
  <Notes>7</Notes>
  <HiddenSlides>1</HiddenSlides>
  <MMClips>0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10</vt:i4>
      </vt:variant>
      <vt:variant>
        <vt:lpstr>幻灯片标题</vt:lpstr>
      </vt:variant>
      <vt:variant>
        <vt:i4>51</vt:i4>
      </vt:variant>
    </vt:vector>
  </HeadingPairs>
  <TitlesOfParts>
    <vt:vector size="89" baseType="lpstr">
      <vt:lpstr>Arial</vt:lpstr>
      <vt:lpstr>宋体</vt:lpstr>
      <vt:lpstr>Wingdings</vt:lpstr>
      <vt:lpstr>Tahoma</vt:lpstr>
      <vt:lpstr>华文新魏</vt:lpstr>
      <vt:lpstr>楷体_GB2312</vt:lpstr>
      <vt:lpstr>新宋体</vt:lpstr>
      <vt:lpstr>Times New Roman</vt:lpstr>
      <vt:lpstr>楷体_GB2312</vt:lpstr>
      <vt:lpstr>Calibri</vt:lpstr>
      <vt:lpstr>PMingLiU</vt:lpstr>
      <vt:lpstr>MingLiU-ExtB</vt:lpstr>
      <vt:lpstr>黑体</vt:lpstr>
      <vt:lpstr>等线 Light</vt:lpstr>
      <vt:lpstr>Helvetica</vt:lpstr>
      <vt:lpstr>等线</vt:lpstr>
      <vt:lpstr>微软雅黑</vt:lpstr>
      <vt:lpstr>Calibri Light</vt:lpstr>
      <vt:lpstr>Arial Unicode MS</vt:lpstr>
      <vt:lpstr>Arial</vt:lpstr>
      <vt:lpstr>Calibri Light</vt:lpstr>
      <vt:lpstr>Cambria Math</vt:lpstr>
      <vt:lpstr>Symbol</vt:lpstr>
      <vt:lpstr>Comic Sans MS</vt:lpstr>
      <vt:lpstr>Times New Roman</vt:lpstr>
      <vt:lpstr>Office 2013 - 2022 主题</vt:lpstr>
      <vt:lpstr>1_Office 2013 - 2022 主题</vt:lpstr>
      <vt:lpstr>通信原理二</vt:lpstr>
      <vt:lpstr>Equation.DSMT4</vt:lpstr>
      <vt:lpstr>Word.Picture.8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Word.Picture.8</vt:lpstr>
      <vt:lpstr>             Principles of communications          Chapter2  Random processes—Part III                                                                                  </vt:lpstr>
      <vt:lpstr> </vt:lpstr>
      <vt:lpstr> </vt:lpstr>
      <vt:lpstr> </vt:lpstr>
      <vt:lpstr> </vt:lpstr>
      <vt:lpstr> </vt:lpstr>
      <vt:lpstr> </vt:lpstr>
      <vt:lpstr> </vt:lpstr>
      <vt:lpstr> </vt:lpstr>
      <vt:lpstr>Rayleigh distribution（场景）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 </vt:lpstr>
      <vt:lpstr> </vt:lpstr>
      <vt:lpstr> 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猜一猜</vt:lpstr>
      <vt:lpstr>PowerPoint 演示文稿</vt:lpstr>
      <vt:lpstr>猜一猜</vt:lpstr>
      <vt:lpstr>猜一猜</vt:lpstr>
      <vt:lpstr>猜一猜</vt:lpstr>
      <vt:lpstr>猜一猜</vt:lpstr>
      <vt:lpstr>PowerPoint 演示文稿</vt:lpstr>
      <vt:lpstr>PowerPoint 演示文稿</vt:lpstr>
      <vt:lpstr>PowerPoint 演示文稿</vt:lpstr>
      <vt:lpstr>PowerPoint 演示文稿</vt:lpstr>
      <vt:lpstr>Mind map</vt:lpstr>
      <vt:lpstr>PowerPoint 演示文稿</vt:lpstr>
    </vt:vector>
  </TitlesOfParts>
  <LinksUpToDate>false</LinksUpToDate>
  <SharedDoc>false</SharedDoc>
  <HyperlinksChanged>false</HyperlinksChanged>
  <AppVersion>14.0000</AppVersion>
  <Pages>46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Implementation of Bluetooth Technology</dc:title>
  <dc:creator>Ming, Zi Corporation</dc:creator>
  <dc:subject>Bluetooth</dc:subject>
  <cp:lastModifiedBy>zyp</cp:lastModifiedBy>
  <cp:revision>767</cp:revision>
  <cp:lastPrinted>2022-09-02T08:09:00Z</cp:lastPrinted>
  <dcterms:created xsi:type="dcterms:W3CDTF">2022-09-02T08:09:00Z</dcterms:created>
  <dcterms:modified xsi:type="dcterms:W3CDTF">2026-09-19T12:04:59Z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B39E0D6AE65C45B7BD4B56F07928569A_13</vt:lpwstr>
  </property>
  <property fmtid="{D5CDD505-2E9C-101B-9397-08002B2CF9AE}" pid="3" name="KSOProductBuildVer">
    <vt:lpwstr>2052-12.1.0.28043</vt:lpwstr>
  </property>
</Properties>
</file>