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9"/>
  </p:notesMasterIdLst>
  <p:sldIdLst>
    <p:sldId id="257" r:id="rId3"/>
    <p:sldId id="315" r:id="rId4"/>
    <p:sldId id="339" r:id="rId5"/>
    <p:sldId id="340" r:id="rId6"/>
    <p:sldId id="342" r:id="rId7"/>
    <p:sldId id="344" r:id="rId8"/>
    <p:sldId id="359" r:id="rId9"/>
    <p:sldId id="363" r:id="rId10"/>
    <p:sldId id="364" r:id="rId11"/>
    <p:sldId id="355" r:id="rId12"/>
    <p:sldId id="343" r:id="rId13"/>
    <p:sldId id="345" r:id="rId14"/>
    <p:sldId id="346" r:id="rId15"/>
    <p:sldId id="347" r:id="rId16"/>
    <p:sldId id="348" r:id="rId17"/>
    <p:sldId id="362" r:id="rId18"/>
  </p:sldIdLst>
  <p:sldSz cx="9144000" cy="6858000" type="screen4x3"/>
  <p:notesSz cx="6858000" cy="9144000"/>
  <p:custDataLst>
    <p:tags r:id="rId20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6" userDrawn="1">
          <p15:clr>
            <a:srgbClr val="A4A3A4"/>
          </p15:clr>
        </p15:guide>
        <p15:guide id="2" pos="28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2"/>
    <p:restoredTop sz="95244"/>
  </p:normalViewPr>
  <p:slideViewPr>
    <p:cSldViewPr showGuides="1">
      <p:cViewPr varScale="1">
        <p:scale>
          <a:sx n="92" d="100"/>
          <a:sy n="92" d="100"/>
        </p:scale>
        <p:origin x="963" y="45"/>
      </p:cViewPr>
      <p:guideLst>
        <p:guide orient="horz" pos="2216"/>
        <p:guide pos="2896"/>
      </p:guideLst>
    </p:cSldViewPr>
  </p:slideViewPr>
  <p:outlineViewPr>
    <p:cViewPr>
      <p:scale>
        <a:sx n="33" d="100"/>
        <a:sy n="33" d="100"/>
      </p:scale>
      <p:origin x="0" y="-1248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200" d="100"/>
        <a:sy n="200" d="100"/>
      </p:scale>
      <p:origin x="0" y="-6014"/>
    </p:cViewPr>
  </p:sorterViewPr>
  <p:gridSpacing cx="45003" cy="45003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09-11T06:39:09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8837 17004 0,'0'-33'62,"29"-66"-46,0 49-1,14-49 1,0 15 0,102-114-1,-88 115 1,-57 66-16,15-33 15,0 50 1,-1-17 0,-14 1 15,29-18 0,-15 34-15,-14-16-1,15 16 1,-1-17 0,15-16-1,58 0 1,-44-16 0,-14 32-1,-15 17 1,44-33-1,29-17 1,-15 17 0,0 16-1,-14 17 1,101-17 15,202 17-15,-174 0-1,131 0 1,86-16 0,-115 16-1,-116 0 1,-57 0 0,-73 0-16,-14 0 15,71 0 1,-41 0-1,-16 0 1,14 16 0,-13 1-1,28 0 17,58-17-17,15 16 1,-1 1-1,-130-1 1,44-16 0,-30 0-1,16 17 1,14-17 0,-1 17-1,-42-1 1,0 1-1,28 0 1,-29 15 0,15 18 15,14 16-15,15 18-1,-14-1 1,-1-17-1,-29 17 1,1-34 0,-1 1-1,0 34 1,-14-1 0,0-17-1,0 0 1,-28 17-1,-1 0 1,14-16 0,-28-1-1,43-49 17,-29 33-17,0-1 1,0-16-1,-14 34 1,29-51 0,-1 18-1,-14 16 1,-29 16 0,44-33-1,-44 1 1,30-1-1,-31 0 1,31-1 0,-16 2-1,-28-1 17,44-16-17,-44 16 1,-58 0-1,-1-16 1,31-1 0,56-16-1,-14 0 1,1 0 0,-30 0-1,58 0 1,-57 0-1,-1 0 1,-43-16 0,-44-1-1,16 1 17,-1-51-17,43 67 1,-28-33-1,43 16 1,44 0 0,-15 1-1,13 0 1,1-17 0,-14 16-1,29 1 1,-43-1-1,28 17 1,-44-17 0,30 17-1,-28-33 17,56 16-17,-28-16 1,-29 17-1,0-1 1,14-16 0,1-1-1,42 34 1,-86-50 0,44 34-1,43-1 1,-15-16-1,43 17 1,1 16 0,-15-16-1,15-1 17,-1 0-17,1-16 1,-1 33-1,-13-50 1,13 0 0,0 0-1,1 0 1,-1-33 0,15 34-1,0 16 1,0-17-1,0 33 1,0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buNone/>
            </a:pPr>
            <a:fld id="{9A0DB2DC-4C9A-4742-B13C-FB6460FD3503}" type="slidenum">
              <a:rPr lang="en-US" altLang="zh-CN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z="1200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27100" y="1268413"/>
            <a:ext cx="3944938" cy="5221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24438" y="1268413"/>
            <a:ext cx="3944937" cy="5221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59600" y="214313"/>
            <a:ext cx="2009775" cy="6275387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27100" y="214313"/>
            <a:ext cx="5880100" cy="627538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27100" y="1268413"/>
            <a:ext cx="3944938" cy="5221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24438" y="1268413"/>
            <a:ext cx="3944937" cy="5221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59600" y="214313"/>
            <a:ext cx="2009775" cy="6275387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27100" y="214313"/>
            <a:ext cx="5880100" cy="627538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28" name="Group 14"/>
          <p:cNvGrpSpPr/>
          <p:nvPr userDrawn="1"/>
        </p:nvGrpSpPr>
        <p:grpSpPr>
          <a:xfrm>
            <a:off x="0" y="368300"/>
            <a:ext cx="8542338" cy="1052513"/>
            <a:chOff x="80" y="629"/>
            <a:chExt cx="5381" cy="663"/>
          </a:xfrm>
        </p:grpSpPr>
        <p:sp>
          <p:nvSpPr>
            <p:cNvPr id="1034" name="Rectangle 2"/>
            <p:cNvSpPr>
              <a:spLocks noChangeArrowheads="1"/>
            </p:cNvSpPr>
            <p:nvPr/>
          </p:nvSpPr>
          <p:spPr bwMode="ltGray">
            <a:xfrm>
              <a:off x="263" y="692"/>
              <a:ext cx="276" cy="2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5" name="Rectangle 5"/>
            <p:cNvSpPr>
              <a:spLocks noChangeArrowheads="1"/>
            </p:cNvSpPr>
            <p:nvPr/>
          </p:nvSpPr>
          <p:spPr bwMode="ltGray">
            <a:xfrm>
              <a:off x="574" y="958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6" name="Rectangle 6"/>
            <p:cNvSpPr>
              <a:spLocks noChangeArrowheads="1"/>
            </p:cNvSpPr>
            <p:nvPr/>
          </p:nvSpPr>
          <p:spPr bwMode="ltGray">
            <a:xfrm>
              <a:off x="80" y="912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7" name="Rectangle 7"/>
            <p:cNvSpPr>
              <a:spLocks noChangeArrowheads="1"/>
            </p:cNvSpPr>
            <p:nvPr/>
          </p:nvSpPr>
          <p:spPr bwMode="gray">
            <a:xfrm>
              <a:off x="470" y="629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8" name="Rectangle 8"/>
            <p:cNvSpPr>
              <a:spLocks noChangeArrowheads="1"/>
            </p:cNvSpPr>
            <p:nvPr/>
          </p:nvSpPr>
          <p:spPr bwMode="gray">
            <a:xfrm>
              <a:off x="279" y="1122"/>
              <a:ext cx="5182" cy="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Rectangle 9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91916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en-US" dirty="0"/>
              <a:t>通信原理</a:t>
            </a:r>
            <a:r>
              <a:rPr lang="en-US" altLang="zh-CN" dirty="0"/>
              <a:t>(</a:t>
            </a:r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版</a:t>
            </a:r>
            <a:r>
              <a:rPr lang="en-US" altLang="zh-CN" dirty="0"/>
              <a:t>)</a:t>
            </a:r>
          </a:p>
        </p:txBody>
      </p:sp>
      <p:sp>
        <p:nvSpPr>
          <p:cNvPr id="3" name="Rectangle 10"/>
          <p:cNvSpPr>
            <a:spLocks noGrp="1"/>
          </p:cNvSpPr>
          <p:nvPr>
            <p:ph type="body"/>
          </p:nvPr>
        </p:nvSpPr>
        <p:spPr>
          <a:xfrm>
            <a:off x="927100" y="1268413"/>
            <a:ext cx="8042275" cy="52212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639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l"/>
        <a:defRPr sz="32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u"/>
        <a:defRPr sz="2400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p"/>
        <a:defRPr sz="2000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52" name="Group 14"/>
          <p:cNvGrpSpPr/>
          <p:nvPr userDrawn="1"/>
        </p:nvGrpSpPr>
        <p:grpSpPr>
          <a:xfrm>
            <a:off x="0" y="368300"/>
            <a:ext cx="8542338" cy="1052513"/>
            <a:chOff x="80" y="629"/>
            <a:chExt cx="5381" cy="663"/>
          </a:xfrm>
        </p:grpSpPr>
        <p:sp>
          <p:nvSpPr>
            <p:cNvPr id="1034" name="Rectangle 2"/>
            <p:cNvSpPr>
              <a:spLocks noChangeArrowheads="1"/>
            </p:cNvSpPr>
            <p:nvPr/>
          </p:nvSpPr>
          <p:spPr bwMode="ltGray">
            <a:xfrm>
              <a:off x="263" y="692"/>
              <a:ext cx="276" cy="2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5" name="Rectangle 5"/>
            <p:cNvSpPr>
              <a:spLocks noChangeArrowheads="1"/>
            </p:cNvSpPr>
            <p:nvPr/>
          </p:nvSpPr>
          <p:spPr bwMode="ltGray">
            <a:xfrm>
              <a:off x="574" y="958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6" name="Rectangle 6"/>
            <p:cNvSpPr>
              <a:spLocks noChangeArrowheads="1"/>
            </p:cNvSpPr>
            <p:nvPr/>
          </p:nvSpPr>
          <p:spPr bwMode="ltGray">
            <a:xfrm>
              <a:off x="80" y="912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7" name="Rectangle 7"/>
            <p:cNvSpPr>
              <a:spLocks noChangeArrowheads="1"/>
            </p:cNvSpPr>
            <p:nvPr/>
          </p:nvSpPr>
          <p:spPr bwMode="gray">
            <a:xfrm>
              <a:off x="470" y="629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8" name="Rectangle 8"/>
            <p:cNvSpPr>
              <a:spLocks noChangeArrowheads="1"/>
            </p:cNvSpPr>
            <p:nvPr/>
          </p:nvSpPr>
          <p:spPr bwMode="gray">
            <a:xfrm>
              <a:off x="279" y="1122"/>
              <a:ext cx="5182" cy="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058" name="Rectangle 9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91916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en-US" dirty="0"/>
              <a:t>通信原理</a:t>
            </a:r>
            <a:r>
              <a:rPr lang="en-US" altLang="zh-CN" dirty="0"/>
              <a:t>(</a:t>
            </a:r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版</a:t>
            </a:r>
            <a:r>
              <a:rPr lang="en-US" altLang="zh-CN" dirty="0"/>
              <a:t>)</a:t>
            </a:r>
          </a:p>
        </p:txBody>
      </p:sp>
      <p:sp>
        <p:nvSpPr>
          <p:cNvPr id="2059" name="Rectangle 10"/>
          <p:cNvSpPr>
            <a:spLocks noGrp="1"/>
          </p:cNvSpPr>
          <p:nvPr>
            <p:ph type="body"/>
          </p:nvPr>
        </p:nvSpPr>
        <p:spPr>
          <a:xfrm>
            <a:off x="927100" y="1268413"/>
            <a:ext cx="8042275" cy="52212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639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l"/>
        <a:defRPr sz="32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u"/>
        <a:defRPr sz="2400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p"/>
        <a:defRPr sz="2000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0.png"/><Relationship Id="rId4" Type="http://schemas.openxmlformats.org/officeDocument/2006/relationships/customXml" Target="../ink/ink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/>
          <p:cNvSpPr>
            <a:spLocks noGrp="1"/>
          </p:cNvSpPr>
          <p:nvPr>
            <p:ph type="subTitle" idx="1"/>
          </p:nvPr>
        </p:nvSpPr>
        <p:spPr>
          <a:xfrm>
            <a:off x="71700" y="163632"/>
            <a:ext cx="8435340" cy="335470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SzPct val="60000"/>
            </a:pPr>
            <a:r>
              <a:rPr lang="en-US" altLang="zh-CN" sz="4800" dirty="0">
                <a:latin typeface="+mn-lt"/>
                <a:ea typeface="+mn-ea"/>
                <a:cs typeface="楷体_GB2312"/>
              </a:rPr>
              <a:t>From Deterministic Signals </a:t>
            </a:r>
          </a:p>
          <a:p>
            <a:pPr eaLnBrk="1" hangingPunct="1"/>
            <a:r>
              <a:rPr lang="en-US" altLang="zh-CN" sz="4800" dirty="0">
                <a:latin typeface="+mn-lt"/>
                <a:ea typeface="+mn-ea"/>
                <a:cs typeface="楷体_GB2312"/>
              </a:rPr>
              <a:t>to Random Process</a:t>
            </a:r>
          </a:p>
          <a:p>
            <a:pPr eaLnBrk="1" hangingPunct="1"/>
            <a:r>
              <a:rPr lang="zh-CN" altLang="zh-CN" dirty="0"/>
              <a:t>从确知信号 到随机信号：预备知识</a:t>
            </a:r>
            <a:endParaRPr lang="en-US" altLang="zh-CN" dirty="0">
              <a:latin typeface="+mn-lt"/>
              <a:ea typeface="+mn-ea"/>
              <a:cs typeface="楷体_GB2312"/>
            </a:endParaRPr>
          </a:p>
          <a:p>
            <a:pPr eaLnBrk="1" hangingPunct="1">
              <a:buSzPct val="60000"/>
            </a:pPr>
            <a:endParaRPr lang="zh-CN" altLang="en-US" sz="4800" dirty="0">
              <a:latin typeface="+mn-lt"/>
              <a:ea typeface="+mn-ea"/>
              <a:cs typeface="楷体_GB2312"/>
            </a:endParaRPr>
          </a:p>
          <a:p>
            <a:pPr eaLnBrk="1" hangingPunct="1">
              <a:buSzPct val="60000"/>
            </a:pPr>
            <a:endParaRPr lang="zh-CN" altLang="en-US" sz="4800" dirty="0">
              <a:latin typeface="+mn-lt"/>
              <a:ea typeface="+mn-ea"/>
              <a:cs typeface="楷体_GB231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975" y="3248988"/>
            <a:ext cx="2061210" cy="1579880"/>
          </a:xfrm>
          <a:prstGeom prst="rect">
            <a:avLst/>
          </a:prstGeom>
        </p:spPr>
      </p:pic>
      <p:sp>
        <p:nvSpPr>
          <p:cNvPr id="2" name="箭头: 右 1">
            <a:extLst>
              <a:ext uri="{FF2B5EF4-FFF2-40B4-BE49-F238E27FC236}">
                <a16:creationId xmlns:a16="http://schemas.microsoft.com/office/drawing/2014/main" id="{51DC70DB-6C1B-0972-566B-5C94D773F3EA}"/>
              </a:ext>
            </a:extLst>
          </p:cNvPr>
          <p:cNvSpPr/>
          <p:nvPr/>
        </p:nvSpPr>
        <p:spPr>
          <a:xfrm>
            <a:off x="3806949" y="3834027"/>
            <a:ext cx="1305087" cy="405027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AFBB7E1-DB72-502C-A6B4-89068D391F2F}"/>
              </a:ext>
            </a:extLst>
          </p:cNvPr>
          <p:cNvSpPr txBox="1"/>
          <p:nvPr/>
        </p:nvSpPr>
        <p:spPr>
          <a:xfrm>
            <a:off x="1696278" y="4828868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200" dirty="0"/>
              <a:t>确知信号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677F0C-6A26-CD37-3189-77918DF5D2E2}"/>
              </a:ext>
            </a:extLst>
          </p:cNvPr>
          <p:cNvSpPr txBox="1"/>
          <p:nvPr/>
        </p:nvSpPr>
        <p:spPr>
          <a:xfrm>
            <a:off x="5972701" y="4872678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200" dirty="0"/>
              <a:t>随机</a:t>
            </a:r>
            <a:r>
              <a:rPr lang="zh-CN" altLang="en-US" sz="3200" dirty="0"/>
              <a:t>过程</a:t>
            </a:r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E6077E-AD42-E077-656B-531F062D3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7722" y="2976823"/>
            <a:ext cx="2792639" cy="1939664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7" name="Group 3"/>
          <p:cNvGrpSpPr/>
          <p:nvPr/>
        </p:nvGrpSpPr>
        <p:grpSpPr>
          <a:xfrm>
            <a:off x="350520" y="1268413"/>
            <a:ext cx="7886700" cy="1914525"/>
            <a:chOff x="-1" y="1604"/>
            <a:chExt cx="5770142" cy="972460"/>
          </a:xfrm>
        </p:grpSpPr>
        <p:grpSp>
          <p:nvGrpSpPr>
            <p:cNvPr id="9218" name="Rectangle 4"/>
            <p:cNvGrpSpPr/>
            <p:nvPr/>
          </p:nvGrpSpPr>
          <p:grpSpPr>
            <a:xfrm>
              <a:off x="268178" y="6908"/>
              <a:ext cx="796623" cy="424990"/>
              <a:chOff x="19133" y="6910"/>
              <a:chExt cx="796622" cy="424988"/>
            </a:xfrm>
          </p:grpSpPr>
          <p:sp>
            <p:nvSpPr>
              <p:cNvPr id="9219" name="矩形"/>
              <p:cNvSpPr/>
              <p:nvPr/>
            </p:nvSpPr>
            <p:spPr>
              <a:xfrm>
                <a:off x="19133" y="6910"/>
                <a:ext cx="796622" cy="424988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45718" tIns="45718" rIns="45718" bIns="45718" anchor="ctr" anchorCtr="0"/>
              <a:lstStyle/>
              <a:p>
                <a:pPr algn="ctr" eaLnBrk="0" hangingPunct="0">
                  <a:buClrTx/>
                  <a:buFontTx/>
                </a:pPr>
                <a:endParaRPr lang="zh-CN" altLang="zh-CN" sz="1200" dirty="0"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9220" name="Source of…"/>
              <p:cNvSpPr txBox="1"/>
              <p:nvPr/>
            </p:nvSpPr>
            <p:spPr>
              <a:xfrm>
                <a:off x="21212" y="70977"/>
                <a:ext cx="792461" cy="29684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45718" tIns="45718" rIns="45718" bIns="45718" anchor="ctr" anchorCtr="0">
                <a:spAutoFit/>
              </a:bodyPr>
              <a:lstStyle/>
              <a:p>
                <a:pPr algn="ctr" eaLnBrk="0" hangingPunct="0">
                  <a:buClrTx/>
                  <a:buFontTx/>
                </a:pPr>
                <a:r>
                  <a:rPr lang="zh-CN" altLang="zh-CN" sz="1600" dirty="0"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rPr>
                  <a:t>Source of </a:t>
                </a:r>
              </a:p>
              <a:p>
                <a:pPr algn="ctr" eaLnBrk="0" hangingPunct="0">
                  <a:buClrTx/>
                  <a:buFontTx/>
                </a:pPr>
                <a:r>
                  <a:rPr lang="zh-CN" altLang="zh-CN" sz="1600" dirty="0"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rPr>
                  <a:t>information</a:t>
                </a:r>
              </a:p>
            </p:txBody>
          </p:sp>
        </p:grpSp>
        <p:grpSp>
          <p:nvGrpSpPr>
            <p:cNvPr id="9221" name="Rectangle 5"/>
            <p:cNvGrpSpPr/>
            <p:nvPr/>
          </p:nvGrpSpPr>
          <p:grpSpPr>
            <a:xfrm>
              <a:off x="1390082" y="6909"/>
              <a:ext cx="873397" cy="424989"/>
              <a:chOff x="-28892" y="0"/>
              <a:chExt cx="873395" cy="424987"/>
            </a:xfrm>
          </p:grpSpPr>
          <p:sp>
            <p:nvSpPr>
              <p:cNvPr id="9222" name="矩形"/>
              <p:cNvSpPr/>
              <p:nvPr/>
            </p:nvSpPr>
            <p:spPr>
              <a:xfrm>
                <a:off x="4054" y="0"/>
                <a:ext cx="807508" cy="424987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45718" tIns="45718" rIns="45718" bIns="45718" anchor="ctr" anchorCtr="0"/>
              <a:lstStyle/>
              <a:p>
                <a:pPr algn="ctr" eaLnBrk="0" hangingPunct="0">
                  <a:buClrTx/>
                  <a:buFontTx/>
                </a:pPr>
                <a:endParaRPr lang="zh-CN" altLang="zh-CN" sz="1200" dirty="0"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9223" name="Transmitter"/>
              <p:cNvSpPr txBox="1"/>
              <p:nvPr/>
            </p:nvSpPr>
            <p:spPr>
              <a:xfrm>
                <a:off x="-28892" y="118750"/>
                <a:ext cx="873395" cy="18748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45718" tIns="45718" rIns="45718" bIns="45718" anchor="ctr" anchorCtr="0">
                <a:spAutoFit/>
              </a:bodyPr>
              <a:lstStyle/>
              <a:p>
                <a:pPr algn="ctr" eaLnBrk="0" hangingPunct="0">
                  <a:buClrTx/>
                  <a:buFontTx/>
                </a:pPr>
                <a:r>
                  <a:rPr lang="zh-CN" altLang="zh-CN" dirty="0"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rPr>
                  <a:t>Transmitter</a:t>
                </a:r>
              </a:p>
            </p:txBody>
          </p:sp>
        </p:grpSp>
        <p:grpSp>
          <p:nvGrpSpPr>
            <p:cNvPr id="9224" name="Rectangle 6"/>
            <p:cNvGrpSpPr/>
            <p:nvPr/>
          </p:nvGrpSpPr>
          <p:grpSpPr>
            <a:xfrm>
              <a:off x="2545222" y="6907"/>
              <a:ext cx="717457" cy="389835"/>
              <a:chOff x="-1" y="-2"/>
              <a:chExt cx="717456" cy="389833"/>
            </a:xfrm>
          </p:grpSpPr>
          <p:sp>
            <p:nvSpPr>
              <p:cNvPr id="9225" name="矩形"/>
              <p:cNvSpPr/>
              <p:nvPr/>
            </p:nvSpPr>
            <p:spPr>
              <a:xfrm>
                <a:off x="-1" y="-2"/>
                <a:ext cx="717456" cy="389833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45718" tIns="45718" rIns="45718" bIns="45718" anchor="ctr" anchorCtr="0"/>
              <a:lstStyle/>
              <a:p>
                <a:pPr algn="ctr" eaLnBrk="0" hangingPunct="0">
                  <a:buClrTx/>
                  <a:buFontTx/>
                </a:pPr>
                <a:endParaRPr lang="zh-CN" altLang="zh-CN" sz="1200" dirty="0"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9226" name="Channel"/>
              <p:cNvSpPr txBox="1"/>
              <p:nvPr/>
            </p:nvSpPr>
            <p:spPr>
              <a:xfrm>
                <a:off x="44016" y="101173"/>
                <a:ext cx="629417" cy="18748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45718" tIns="45718" rIns="45718" bIns="45718" anchor="ctr" anchorCtr="0">
                <a:spAutoFit/>
              </a:bodyPr>
              <a:lstStyle/>
              <a:p>
                <a:pPr algn="ctr" eaLnBrk="0" hangingPunct="0">
                  <a:buClrTx/>
                  <a:buFontTx/>
                </a:pPr>
                <a:r>
                  <a:rPr lang="zh-CN" altLang="zh-CN" dirty="0"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rPr>
                  <a:t>Channel</a:t>
                </a:r>
              </a:p>
            </p:txBody>
          </p:sp>
        </p:grpSp>
        <p:sp>
          <p:nvSpPr>
            <p:cNvPr id="9227" name="Line 7"/>
            <p:cNvSpPr/>
            <p:nvPr/>
          </p:nvSpPr>
          <p:spPr>
            <a:xfrm>
              <a:off x="-1" y="219402"/>
              <a:ext cx="269169" cy="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228" name="Rectangle 8"/>
            <p:cNvGrpSpPr/>
            <p:nvPr/>
          </p:nvGrpSpPr>
          <p:grpSpPr>
            <a:xfrm>
              <a:off x="3577364" y="6907"/>
              <a:ext cx="717457" cy="389835"/>
              <a:chOff x="-1" y="-2"/>
              <a:chExt cx="717456" cy="389833"/>
            </a:xfrm>
          </p:grpSpPr>
          <p:sp>
            <p:nvSpPr>
              <p:cNvPr id="9229" name="矩形"/>
              <p:cNvSpPr/>
              <p:nvPr/>
            </p:nvSpPr>
            <p:spPr>
              <a:xfrm>
                <a:off x="-1" y="-2"/>
                <a:ext cx="717456" cy="389833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45718" tIns="45718" rIns="45718" bIns="45718" anchor="ctr" anchorCtr="0"/>
              <a:lstStyle/>
              <a:p>
                <a:pPr algn="ctr" eaLnBrk="0" hangingPunct="0">
                  <a:buClrTx/>
                  <a:buFontTx/>
                </a:pPr>
                <a:endParaRPr lang="zh-CN" altLang="zh-CN" sz="1200" dirty="0"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9230" name="Receiver"/>
              <p:cNvSpPr txBox="1"/>
              <p:nvPr/>
            </p:nvSpPr>
            <p:spPr>
              <a:xfrm>
                <a:off x="29941" y="101173"/>
                <a:ext cx="657569" cy="18748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45718" tIns="45718" rIns="45718" bIns="45718" anchor="ctr" anchorCtr="0">
                <a:spAutoFit/>
              </a:bodyPr>
              <a:lstStyle/>
              <a:p>
                <a:pPr algn="ctr" eaLnBrk="0" hangingPunct="0">
                  <a:buClrTx/>
                  <a:buFontTx/>
                </a:pPr>
                <a:r>
                  <a:rPr lang="zh-CN" altLang="zh-CN" dirty="0"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rPr>
                  <a:t>Receiver</a:t>
                </a:r>
              </a:p>
            </p:txBody>
          </p:sp>
        </p:grpSp>
        <p:grpSp>
          <p:nvGrpSpPr>
            <p:cNvPr id="9231" name="Rectangle 9"/>
            <p:cNvGrpSpPr/>
            <p:nvPr/>
          </p:nvGrpSpPr>
          <p:grpSpPr>
            <a:xfrm>
              <a:off x="4688587" y="1604"/>
              <a:ext cx="1081554" cy="424990"/>
              <a:chOff x="95904" y="1606"/>
              <a:chExt cx="1081553" cy="424988"/>
            </a:xfrm>
          </p:grpSpPr>
          <p:sp>
            <p:nvSpPr>
              <p:cNvPr id="9232" name="矩形"/>
              <p:cNvSpPr/>
              <p:nvPr/>
            </p:nvSpPr>
            <p:spPr>
              <a:xfrm>
                <a:off x="159167" y="1606"/>
                <a:ext cx="1018290" cy="424988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45718" tIns="45718" rIns="45718" bIns="45718" anchor="ctr" anchorCtr="0"/>
              <a:lstStyle/>
              <a:p>
                <a:pPr algn="ctr" eaLnBrk="0" hangingPunct="0">
                  <a:buClrTx/>
                  <a:buFontTx/>
                </a:pPr>
                <a:endParaRPr lang="zh-CN" altLang="zh-CN" sz="1200" dirty="0"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9233" name="User of…"/>
              <p:cNvSpPr txBox="1"/>
              <p:nvPr/>
            </p:nvSpPr>
            <p:spPr>
              <a:xfrm>
                <a:off x="95904" y="70977"/>
                <a:ext cx="826477" cy="29684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45718" tIns="45718" rIns="45718" bIns="45718" anchor="ctr" anchorCtr="0">
                <a:spAutoFit/>
              </a:bodyPr>
              <a:lstStyle/>
              <a:p>
                <a:pPr algn="ctr" eaLnBrk="0" hangingPunct="0">
                  <a:buClrTx/>
                  <a:buFontTx/>
                </a:pPr>
                <a:r>
                  <a:rPr lang="zh-CN" altLang="zh-CN" sz="1600" dirty="0"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rPr>
                  <a:t>User of</a:t>
                </a:r>
              </a:p>
              <a:p>
                <a:pPr algn="ctr" eaLnBrk="0" hangingPunct="0">
                  <a:buClrTx/>
                  <a:buFontTx/>
                </a:pPr>
                <a:r>
                  <a:rPr lang="zh-CN" altLang="zh-CN" sz="1600" dirty="0"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rPr>
                  <a:t> information</a:t>
                </a:r>
              </a:p>
            </p:txBody>
          </p:sp>
        </p:grpSp>
        <p:grpSp>
          <p:nvGrpSpPr>
            <p:cNvPr id="9234" name="Rectangle 10"/>
            <p:cNvGrpSpPr/>
            <p:nvPr/>
          </p:nvGrpSpPr>
          <p:grpSpPr>
            <a:xfrm>
              <a:off x="2562260" y="659228"/>
              <a:ext cx="683375" cy="314836"/>
              <a:chOff x="-19577" y="-1"/>
              <a:chExt cx="683374" cy="314835"/>
            </a:xfrm>
          </p:grpSpPr>
          <p:sp>
            <p:nvSpPr>
              <p:cNvPr id="9235" name="矩形"/>
              <p:cNvSpPr/>
              <p:nvPr/>
            </p:nvSpPr>
            <p:spPr>
              <a:xfrm>
                <a:off x="-2" y="-1"/>
                <a:ext cx="644227" cy="314835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45718" tIns="45718" rIns="45718" bIns="45718" anchor="ctr" anchorCtr="0"/>
              <a:lstStyle/>
              <a:p>
                <a:pPr algn="ctr" eaLnBrk="0" hangingPunct="0">
                  <a:buClrTx/>
                  <a:buFontTx/>
                </a:pPr>
                <a:endParaRPr lang="zh-CN" altLang="zh-CN" sz="1200" dirty="0"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9236" name="Noise"/>
              <p:cNvSpPr txBox="1"/>
              <p:nvPr/>
            </p:nvSpPr>
            <p:spPr>
              <a:xfrm>
                <a:off x="-19577" y="24615"/>
                <a:ext cx="683374" cy="2656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45718" tIns="45718" rIns="45718" bIns="45718" anchor="ctr" anchorCtr="0">
                <a:spAutoFit/>
              </a:bodyPr>
              <a:lstStyle/>
              <a:p>
                <a:pPr algn="ctr" eaLnBrk="0" hangingPunct="0">
                  <a:buClrTx/>
                  <a:buFontTx/>
                </a:pPr>
                <a:r>
                  <a:rPr lang="zh-CN" altLang="zh-CN" sz="28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rPr>
                  <a:t>Noise</a:t>
                </a:r>
              </a:p>
            </p:txBody>
          </p:sp>
        </p:grpSp>
        <p:sp>
          <p:nvSpPr>
            <p:cNvPr id="9237" name="Line 11"/>
            <p:cNvSpPr/>
            <p:nvPr/>
          </p:nvSpPr>
          <p:spPr>
            <a:xfrm>
              <a:off x="1063808" y="219402"/>
              <a:ext cx="359222" cy="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8" name="Line 12"/>
            <p:cNvSpPr/>
            <p:nvPr/>
          </p:nvSpPr>
          <p:spPr>
            <a:xfrm>
              <a:off x="4295807" y="218622"/>
              <a:ext cx="45604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9" name="Line 13"/>
            <p:cNvSpPr/>
            <p:nvPr/>
          </p:nvSpPr>
          <p:spPr>
            <a:xfrm>
              <a:off x="3262676" y="184247"/>
              <a:ext cx="314691" cy="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0" name="Line 14"/>
            <p:cNvSpPr/>
            <p:nvPr/>
          </p:nvSpPr>
          <p:spPr>
            <a:xfrm>
              <a:off x="2209752" y="220183"/>
              <a:ext cx="335472" cy="78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1" name="Line 15"/>
            <p:cNvSpPr/>
            <p:nvPr/>
          </p:nvSpPr>
          <p:spPr>
            <a:xfrm flipV="1">
              <a:off x="2858923" y="396740"/>
              <a:ext cx="2" cy="2484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42" name="标题 1"/>
          <p:cNvSpPr>
            <a:spLocks noGrp="1"/>
          </p:cNvSpPr>
          <p:nvPr>
            <p:ph type="title"/>
          </p:nvPr>
        </p:nvSpPr>
        <p:spPr>
          <a:xfrm>
            <a:off x="250825" y="214313"/>
            <a:ext cx="8693150" cy="919162"/>
          </a:xfrm>
        </p:spPr>
        <p:txBody>
          <a:bodyPr vert="horz" wrap="square" lIns="91440" tIns="45720" rIns="91440" bIns="45720" anchor="b" anchorCtr="0"/>
          <a:lstStyle/>
          <a:p>
            <a:pPr algn="l"/>
            <a:r>
              <a:rPr lang="zh-CN" altLang="en-US" dirty="0"/>
              <a:t>问题的引入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015" y="2483485"/>
            <a:ext cx="1990725" cy="169481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986" y="2290882"/>
            <a:ext cx="2082800" cy="180911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930" y="4501515"/>
            <a:ext cx="2228850" cy="103949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86715" y="564864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   </a:t>
            </a:r>
            <a:r>
              <a:rPr lang="zh-CN" altLang="en-US" sz="1600"/>
              <a:t>数字信号：</a:t>
            </a:r>
            <a:r>
              <a:rPr lang="en-US" altLang="zh-CN" sz="1600"/>
              <a:t>binary random sequence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11505" y="399383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    </a:t>
            </a:r>
            <a:r>
              <a:rPr lang="zh-CN" altLang="en-US" sz="1600"/>
              <a:t>模拟信号：</a:t>
            </a:r>
            <a:r>
              <a:rPr lang="en-US" altLang="zh-CN" sz="1600"/>
              <a:t>speech signal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157039" y="3856950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 dirty="0"/>
              <a:t>random noise</a:t>
            </a:r>
          </a:p>
        </p:txBody>
      </p:sp>
      <p:sp>
        <p:nvSpPr>
          <p:cNvPr id="18" name="左大括号 17"/>
          <p:cNvSpPr/>
          <p:nvPr/>
        </p:nvSpPr>
        <p:spPr>
          <a:xfrm>
            <a:off x="161925" y="3192780"/>
            <a:ext cx="513715" cy="2475230"/>
          </a:xfrm>
          <a:prstGeom prst="leftBrace">
            <a:avLst/>
          </a:prstGeom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26670" y="2348865"/>
            <a:ext cx="4095115" cy="382524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1755" y="239395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发送端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173202" y="4430395"/>
            <a:ext cx="4953864" cy="1477328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zh-CN" altLang="zh-CN" b="1" dirty="0"/>
              <a:t>In a communication system, not only the channel noise </a:t>
            </a:r>
            <a:r>
              <a:rPr lang="en-US" altLang="zh-CN" b="1" dirty="0"/>
              <a:t>is </a:t>
            </a:r>
            <a:r>
              <a:rPr lang="zh-CN" altLang="zh-CN" b="1" dirty="0"/>
              <a:t>a random process, but the useful signal carrying information is also a random process, for the message itself is inherently uncertain.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内容占位符 5"/>
          <p:cNvGraphicFramePr>
            <a:graphicFrameLocks noGrp="1"/>
          </p:cNvGraphicFramePr>
          <p:nvPr>
            <p:ph idx="1"/>
          </p:nvPr>
        </p:nvGraphicFramePr>
        <p:xfrm>
          <a:off x="185420" y="721995"/>
          <a:ext cx="8606790" cy="5944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8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706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zh-CN" altLang="zh-CN" dirty="0">
                          <a:solidFill>
                            <a:schemeClr val="tx1"/>
                          </a:solidFill>
                        </a:rPr>
                        <a:t>Comparison Dimension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38417" marR="38417" marT="38417" marB="38417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       </a:t>
                      </a:r>
                      <a:r>
                        <a:rPr lang="zh-CN" altLang="zh-CN" dirty="0">
                          <a:solidFill>
                            <a:schemeClr val="tx1"/>
                          </a:solidFill>
                        </a:rPr>
                        <a:t>Deterministic Signal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38417" marR="38417" marT="38417" marB="38417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dirty="0">
                          <a:solidFill>
                            <a:schemeClr val="tx1"/>
                          </a:solidFill>
                        </a:rPr>
                        <a:t>Random Signal </a:t>
                      </a:r>
                    </a:p>
                    <a:p>
                      <a:pPr algn="l"/>
                      <a:r>
                        <a:rPr lang="zh-CN" altLang="zh-CN" dirty="0">
                          <a:solidFill>
                            <a:schemeClr val="tx1"/>
                          </a:solidFill>
                        </a:rPr>
                        <a:t>(Random Process)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38417" marR="38417" marT="38417" marB="38417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4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dirty="0"/>
                        <a:t>       </a:t>
                      </a:r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Core Nature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417" marR="38417" marT="38417" marB="3841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dirty="0"/>
                        <a:t>   </a:t>
                      </a:r>
                      <a:r>
                        <a:rPr lang="zh-CN" altLang="zh-CN" dirty="0"/>
                        <a:t>Definite function of time</a:t>
                      </a:r>
                      <a:endParaRPr lang="zh-CN" altLang="en-US" sz="1800" dirty="0"/>
                    </a:p>
                    <a:p>
                      <a:pPr algn="l"/>
                      <a:endParaRPr lang="zh-CN" altLang="en-US" sz="1800" dirty="0"/>
                    </a:p>
                    <a:p>
                      <a:pPr algn="l"/>
                      <a:endParaRPr lang="zh-CN" altLang="en-US" sz="1800" dirty="0"/>
                    </a:p>
                    <a:p>
                      <a:pPr algn="l"/>
                      <a:endParaRPr lang="zh-CN" altLang="en-US" sz="1800" dirty="0"/>
                    </a:p>
                    <a:p>
                      <a:pPr algn="l"/>
                      <a:endParaRPr lang="zh-CN" altLang="en-US" sz="1800" dirty="0"/>
                    </a:p>
                    <a:p>
                      <a:pPr algn="l"/>
                      <a:endParaRPr lang="zh-CN" altLang="en-US" sz="1800" dirty="0"/>
                    </a:p>
                  </a:txBody>
                  <a:tcPr marL="38417" marR="38417" marT="38417" marB="38417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Ensemble of sample functions; the value at each time instant is a random variable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endParaRPr lang="zh-CN" altLang="en-US" sz="1800" dirty="0"/>
                    </a:p>
                    <a:p>
                      <a:pPr algn="l"/>
                      <a:endParaRPr lang="zh-CN" altLang="en-US" sz="1800" dirty="0"/>
                    </a:p>
                    <a:p>
                      <a:pPr algn="l"/>
                      <a:endParaRPr lang="zh-CN" altLang="en-US" sz="1800" dirty="0"/>
                    </a:p>
                    <a:p>
                      <a:pPr algn="l"/>
                      <a:endParaRPr lang="zh-CN" altLang="en-US" sz="1800" dirty="0"/>
                    </a:p>
                  </a:txBody>
                  <a:tcPr marL="38417" marR="38417" marT="38417" marB="384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i="1" dirty="0"/>
                        <a:t>      </a:t>
                      </a:r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Value at time </a:t>
                      </a:r>
                      <a:r>
                        <a:rPr lang="zh-CN" altLang="zh-CN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417" marR="38417" marT="38417" marB="38417"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sz="1600" dirty="0"/>
                        <a:t>At a given time instant </a:t>
                      </a:r>
                      <a:r>
                        <a:rPr lang="zh-CN" altLang="zh-CN" sz="1600" i="1" dirty="0"/>
                        <a:t>t</a:t>
                      </a:r>
                      <a:r>
                        <a:rPr lang="zh-CN" altLang="zh-CN" sz="1600" dirty="0"/>
                        <a:t>, the value is unique and deterministic, fully</a:t>
                      </a:r>
                      <a:r>
                        <a:rPr lang="en-US" altLang="zh-CN" sz="1600" dirty="0"/>
                        <a:t> </a:t>
                      </a:r>
                      <a:r>
                        <a:rPr lang="zh-CN" altLang="zh-CN" sz="1600" dirty="0"/>
                        <a:t>predictable</a:t>
                      </a:r>
                      <a:endParaRPr lang="zh-CN" altLang="en-US" sz="1600" dirty="0"/>
                    </a:p>
                  </a:txBody>
                  <a:tcPr marL="38417" marR="38417" marT="38417" marB="38417"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At a given time instant </a:t>
                      </a:r>
                      <a:r>
                        <a:rPr lang="zh-CN" altLang="zh-CN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the value is a random variable; </a:t>
                      </a:r>
                    </a:p>
                    <a:p>
                      <a:pPr marL="0" algn="l" defTabSz="914400" rtl="0" eaLnBrk="1" latinLnBrk="0" hangingPunct="1"/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instantaneous value cannot be predicted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417" marR="38417" marT="38417" marB="38417"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70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800" dirty="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 dirty="0">
                          <a:sym typeface="+mn-ea"/>
                        </a:rPr>
                        <a:t> </a:t>
                      </a:r>
                      <a:r>
                        <a:rPr lang="en-US" altLang="zh-CN" sz="1800" dirty="0">
                          <a:sym typeface="+mn-ea"/>
                        </a:rPr>
                        <a:t>    </a:t>
                      </a:r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Waveform Quantity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Only one unique deterministic waveform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endParaRPr lang="zh-CN" altLang="en-US" sz="1800" dirty="0"/>
                    </a:p>
                    <a:p>
                      <a:pPr algn="l"/>
                      <a:endParaRPr lang="zh-CN" altLang="en-US" sz="1800" dirty="0"/>
                    </a:p>
                    <a:p>
                      <a:pPr algn="l"/>
                      <a:endParaRPr lang="zh-CN" altLang="en-US" sz="1800" dirty="0"/>
                    </a:p>
                    <a:p>
                      <a:pPr algn="l"/>
                      <a:endParaRPr lang="zh-CN" altLang="en-US" sz="1800" dirty="0"/>
                    </a:p>
                  </a:txBody>
                  <a:tcPr marL="38417" marR="38417" marT="38417" marB="38417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Infinitely many sample‑waveforms; measurement yields only one of the samples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417" marR="38417" marT="38417" marB="384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560" y="1943901"/>
            <a:ext cx="1372870" cy="105219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768" y="2154868"/>
            <a:ext cx="1305087" cy="1059529"/>
          </a:xfrm>
          <a:prstGeom prst="rect">
            <a:avLst/>
          </a:prstGeom>
        </p:spPr>
      </p:pic>
      <p:pic>
        <p:nvPicPr>
          <p:cNvPr id="14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768" y="5287683"/>
            <a:ext cx="1834887" cy="12744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560" y="5364129"/>
            <a:ext cx="1662430" cy="1274445"/>
          </a:xfrm>
          <a:prstGeom prst="rect">
            <a:avLst/>
          </a:prstGeom>
        </p:spPr>
      </p:pic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62635" y="-128701"/>
            <a:ext cx="8693150" cy="919162"/>
          </a:xfrm>
        </p:spPr>
        <p:txBody>
          <a:bodyPr vert="horz" wrap="square" lIns="91440" tIns="45720" rIns="91440" bIns="45720" anchor="b" anchorCtr="0"/>
          <a:lstStyle/>
          <a:p>
            <a:pPr algn="l"/>
            <a:r>
              <a:rPr lang="zh-CN" altLang="en-US" dirty="0"/>
              <a:t>确知信号</a:t>
            </a:r>
            <a:r>
              <a:rPr lang="en-US" altLang="zh-CN" dirty="0"/>
              <a:t>vs </a:t>
            </a:r>
            <a:r>
              <a:rPr lang="zh-CN" altLang="en-US" dirty="0"/>
              <a:t>随机过程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431724" y="1284826"/>
          <a:ext cx="8042910" cy="5306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0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altLang="zh-CN" dirty="0">
                          <a:solidFill>
                            <a:schemeClr val="tx1"/>
                          </a:solidFill>
                        </a:rPr>
                        <a:t>Comparison Dimension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38417" marR="38417" marT="38417" marB="38417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dirty="0">
                          <a:solidFill>
                            <a:schemeClr val="tx1"/>
                          </a:solidFill>
                        </a:rPr>
                        <a:t>Deterministic Signal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38417" marR="38417" marT="38417" marB="38417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dirty="0">
                          <a:solidFill>
                            <a:schemeClr val="tx1"/>
                          </a:solidFill>
                        </a:rPr>
                        <a:t>Random Signal </a:t>
                      </a:r>
                    </a:p>
                    <a:p>
                      <a:pPr algn="l"/>
                      <a:r>
                        <a:rPr lang="zh-CN" altLang="zh-CN" dirty="0">
                          <a:solidFill>
                            <a:schemeClr val="tx1"/>
                          </a:solidFill>
                        </a:rPr>
                        <a:t>(Random Process)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38417" marR="38417" marT="38417" marB="38417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en-US" altLang="zh-CN" sz="1800" dirty="0"/>
                    </a:p>
                    <a:p>
                      <a:pPr algn="l"/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Energy /</a:t>
                      </a:r>
                    </a:p>
                    <a:p>
                      <a:pPr algn="l"/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Power Signal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417" marR="38417" marT="38417" marB="3841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Integrate over the single unique waveform to classify as energy‑signal or power‑signal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endParaRPr lang="zh-CN" altLang="en-US" sz="1800" dirty="0"/>
                    </a:p>
                    <a:p>
                      <a:pPr algn="l"/>
                      <a:endParaRPr lang="zh-CN" altLang="en-US" sz="1800" dirty="0"/>
                    </a:p>
                    <a:p>
                      <a:pPr algn="l"/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417" marR="38417" marT="38417" marB="3841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Stationary random process is a power signal.Analyzed by means of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power spectral density.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endParaRPr lang="zh-CN" altLang="en-US" sz="1800" dirty="0"/>
                    </a:p>
                    <a:p>
                      <a:pPr algn="l"/>
                      <a:endParaRPr lang="zh-CN" altLang="en-US" sz="1800" dirty="0"/>
                    </a:p>
                  </a:txBody>
                  <a:tcPr marL="38417" marR="38417" marT="38417" marB="384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Description Method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417" marR="38417" marT="38417" marB="3841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Explicit time‑domain function s(t)</a:t>
                      </a:r>
                      <a:endParaRPr lang="en-US" altLang="zh-CN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417" marR="38417" marT="38417" marB="3841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Characterized by probabilistic‑statistical quantities:</a:t>
                      </a:r>
                    </a:p>
                    <a:p>
                      <a:pPr algn="l"/>
                      <a:r>
                        <a:rPr lang="zh-CN" altLang="zh-CN" sz="16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mean value, variance, probability distribution and other statistical features</a:t>
                      </a:r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algn="l"/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single sample is insufficient for full characterization.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417" marR="38417" marT="38417" marB="384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altLang="zh-CN" dirty="0"/>
                        <a:t>Predictability</a:t>
                      </a:r>
                      <a:endParaRPr lang="zh-CN" altLang="en-US" sz="1800" dirty="0"/>
                    </a:p>
                  </a:txBody>
                  <a:tcPr marL="38417" marR="38417" marT="38417" marB="3841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Instantaneous value is fully predictable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417" marR="38417" marT="38417" marB="3841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Instantaneous value is unpredictable; statistical regularities can be characterized.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417" marR="38417" marT="38417" marB="384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866" y="2438934"/>
            <a:ext cx="2520168" cy="5126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850" y="2951569"/>
            <a:ext cx="3062214" cy="57241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9774" y="2906855"/>
            <a:ext cx="2456180" cy="562610"/>
          </a:xfrm>
          <a:prstGeom prst="rect">
            <a:avLst/>
          </a:prstGeom>
        </p:spPr>
      </p:pic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46745" y="317979"/>
            <a:ext cx="8693150" cy="919162"/>
          </a:xfrm>
        </p:spPr>
        <p:txBody>
          <a:bodyPr vert="horz" wrap="square" lIns="91440" tIns="45720" rIns="91440" bIns="45720" anchor="b" anchorCtr="0"/>
          <a:lstStyle/>
          <a:p>
            <a:pPr algn="l"/>
            <a:r>
              <a:rPr lang="zh-CN" altLang="en-US" dirty="0"/>
              <a:t>确知信号</a:t>
            </a:r>
            <a:r>
              <a:rPr lang="en-US" altLang="zh-CN" dirty="0"/>
              <a:t>vs </a:t>
            </a:r>
            <a:r>
              <a:rPr lang="zh-CN" altLang="en-US" dirty="0"/>
              <a:t>随机过程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/>
              <a:t>       </a:t>
            </a:r>
            <a:r>
              <a:rPr lang="zh-CN" altLang="en-US"/>
              <a:t>常用公式表</a:t>
            </a:r>
          </a:p>
        </p:txBody>
      </p:sp>
      <p:sp>
        <p:nvSpPr>
          <p:cNvPr id="15" name="矩形 14"/>
          <p:cNvSpPr/>
          <p:nvPr/>
        </p:nvSpPr>
        <p:spPr>
          <a:xfrm>
            <a:off x="4436990" y="1853895"/>
            <a:ext cx="2160145" cy="44102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820" y="1150672"/>
            <a:ext cx="5400360" cy="57061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480" y="-8643"/>
            <a:ext cx="7793037" cy="919162"/>
          </a:xfrm>
        </p:spPr>
        <p:txBody>
          <a:bodyPr/>
          <a:lstStyle/>
          <a:p>
            <a:pPr algn="l"/>
            <a:r>
              <a:rPr lang="en-US" altLang="zh-CN" dirty="0"/>
              <a:t>       </a:t>
            </a:r>
            <a:r>
              <a:rPr lang="zh-CN" altLang="en-US" dirty="0"/>
              <a:t>常用公式表</a:t>
            </a:r>
          </a:p>
        </p:txBody>
      </p:sp>
      <p:pic>
        <p:nvPicPr>
          <p:cNvPr id="14" name="内容占位符 1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6811" y="1043841"/>
            <a:ext cx="4711161" cy="52212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739" y="600196"/>
            <a:ext cx="9144000" cy="385748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732144" y="2456328"/>
            <a:ext cx="2025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>
                <a:solidFill>
                  <a:srgbClr val="FF0000"/>
                </a:solidFill>
              </a:rPr>
              <a:t>帕塞瓦尔定理：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zh-CN" altLang="en-US" sz="1800" b="1" dirty="0">
                <a:solidFill>
                  <a:srgbClr val="FF0000"/>
                </a:solidFill>
              </a:rPr>
              <a:t>时域频域能量守恒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6781" y="4375525"/>
            <a:ext cx="6030167" cy="2067213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64220" y="5178000"/>
            <a:ext cx="8550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i="1" dirty="0">
                <a:latin typeface="+mj-lt"/>
              </a:rPr>
              <a:t>s</a:t>
            </a:r>
            <a:r>
              <a:rPr lang="en-US" altLang="zh-CN" sz="3200" dirty="0">
                <a:latin typeface="+mj-lt"/>
              </a:rPr>
              <a:t>(</a:t>
            </a:r>
            <a:r>
              <a:rPr lang="en-US" altLang="zh-CN" sz="3200" i="1" dirty="0">
                <a:latin typeface="+mj-lt"/>
              </a:rPr>
              <a:t>t</a:t>
            </a:r>
            <a:r>
              <a:rPr lang="en-US" altLang="zh-CN" sz="3200" dirty="0">
                <a:latin typeface="+mj-lt"/>
              </a:rPr>
              <a:t>)</a:t>
            </a:r>
            <a:endParaRPr lang="zh-CN" altLang="en-US" sz="3200" dirty="0">
              <a:latin typeface="+mj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2276847" y="4194051"/>
            <a:ext cx="0" cy="2430162"/>
          </a:xfrm>
          <a:prstGeom prst="line">
            <a:avLst/>
          </a:prstGeom>
          <a:ln w="2222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3401922" y="4194051"/>
            <a:ext cx="0" cy="2430162"/>
          </a:xfrm>
          <a:prstGeom prst="line">
            <a:avLst/>
          </a:prstGeom>
          <a:ln w="2222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2501862" y="6053715"/>
            <a:ext cx="4582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i="1" dirty="0" err="1">
                <a:latin typeface="+mj-lt"/>
              </a:rPr>
              <a:t>s</a:t>
            </a:r>
            <a:r>
              <a:rPr lang="en-US" altLang="zh-CN" sz="1200" i="1" dirty="0" err="1">
                <a:latin typeface="+mj-lt"/>
              </a:rPr>
              <a:t>T</a:t>
            </a:r>
            <a:r>
              <a:rPr lang="en-US" altLang="zh-CN" sz="2800" dirty="0">
                <a:latin typeface="+mj-lt"/>
              </a:rPr>
              <a:t>(</a:t>
            </a:r>
            <a:r>
              <a:rPr lang="en-US" altLang="zh-CN" sz="2800" i="1" dirty="0">
                <a:latin typeface="+mj-lt"/>
              </a:rPr>
              <a:t>t</a:t>
            </a:r>
            <a:r>
              <a:rPr lang="en-US" altLang="zh-CN" sz="2800" dirty="0">
                <a:latin typeface="+mj-lt"/>
              </a:rPr>
              <a:t>)</a:t>
            </a:r>
            <a:endParaRPr lang="zh-CN" altLang="en-US" sz="2800" dirty="0">
              <a:latin typeface="+mj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47955" y="-126365"/>
            <a:ext cx="94837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4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确知信号</a:t>
            </a:r>
            <a:r>
              <a:rPr lang="zh-CN" altLang="zh-CN" sz="4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Power Spectral Density</a:t>
            </a:r>
            <a:r>
              <a:rPr lang="en-US" altLang="zh-CN" sz="4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:PSD</a:t>
            </a:r>
            <a:endParaRPr lang="zh-CN" altLang="en-US" sz="44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57020" y="953453"/>
            <a:ext cx="3048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1800" b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</a:rPr>
              <a:t>截断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C406A0B-12D4-D3B6-7395-E279B32A2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3811"/>
            <a:ext cx="5967093" cy="447531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CDCEC4A-2F55-8A1E-2B09-2745A6B7B074}"/>
              </a:ext>
            </a:extLst>
          </p:cNvPr>
          <p:cNvSpPr txBox="1"/>
          <p:nvPr/>
        </p:nvSpPr>
        <p:spPr>
          <a:xfrm>
            <a:off x="147955" y="-126365"/>
            <a:ext cx="94837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4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确知信号</a:t>
            </a:r>
            <a:r>
              <a:rPr lang="zh-CN" altLang="zh-CN" sz="4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Power Spectral Density</a:t>
            </a:r>
            <a:r>
              <a:rPr lang="en-US" altLang="zh-CN" sz="4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:PSD</a:t>
            </a:r>
            <a:endParaRPr lang="zh-CN" altLang="en-US" sz="44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E75C8E4-4842-A0B9-4EE4-AF0D63F46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6" y="5717747"/>
            <a:ext cx="9144000" cy="74634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46F40E4-1667-F0A7-AA6C-50923C69FD9F}"/>
              </a:ext>
            </a:extLst>
          </p:cNvPr>
          <p:cNvSpPr txBox="1"/>
          <p:nvPr/>
        </p:nvSpPr>
        <p:spPr>
          <a:xfrm>
            <a:off x="206709" y="5184117"/>
            <a:ext cx="1935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</a:t>
            </a:r>
            <a:endParaRPr lang="zh-CN" altLang="en-US" sz="2400" b="1" dirty="0">
              <a:latin typeface="Calibri" panose="020F0502020204030204" pitchFamily="34" charset="0"/>
              <a:ea typeface="Noto Serif SC SemiBold" panose="02020200000000000000" pitchFamily="18" charset="-122"/>
              <a:cs typeface="Calibri" panose="020F050202020403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C14DE38-B2E1-FA84-4A08-6C2EB173B821}"/>
              </a:ext>
            </a:extLst>
          </p:cNvPr>
          <p:cNvSpPr txBox="1"/>
          <p:nvPr/>
        </p:nvSpPr>
        <p:spPr>
          <a:xfrm>
            <a:off x="6147105" y="1808892"/>
            <a:ext cx="2655177" cy="304698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zh-CN" altLang="zh-CN" sz="2400" dirty="0">
                <a:latin typeface="+mj-lt"/>
              </a:rPr>
              <a:t>In communication systems, we care about signal detection and SNR, which depend on </a:t>
            </a:r>
            <a:r>
              <a:rPr lang="zh-CN" altLang="zh-CN" sz="2400" b="1" dirty="0">
                <a:solidFill>
                  <a:srgbClr val="FF0000"/>
                </a:solidFill>
                <a:latin typeface="+mj-lt"/>
              </a:rPr>
              <a:t>power </a:t>
            </a:r>
            <a:r>
              <a:rPr lang="zh-CN" altLang="zh-CN" sz="2400" dirty="0">
                <a:latin typeface="+mj-lt"/>
              </a:rPr>
              <a:t>instead of instantaneous amplitude.</a:t>
            </a:r>
            <a:endParaRPr lang="zh-CN" altLang="en-US" sz="2400" dirty="0">
              <a:latin typeface="+mj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52437EC-2397-F432-1A79-966F34A12743}"/>
              </a:ext>
            </a:extLst>
          </p:cNvPr>
          <p:cNvSpPr txBox="1"/>
          <p:nvPr/>
        </p:nvSpPr>
        <p:spPr>
          <a:xfrm>
            <a:off x="6138543" y="4927845"/>
            <a:ext cx="27987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通信核心指标就是功率</a:t>
            </a:r>
            <a:r>
              <a:rPr lang="zh-CN" altLang="zh-CN" dirty="0"/>
              <a:t>。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77B22AD-A60F-6C70-3707-0EA66B6E86F3}"/>
              </a:ext>
            </a:extLst>
          </p:cNvPr>
          <p:cNvSpPr/>
          <p:nvPr/>
        </p:nvSpPr>
        <p:spPr>
          <a:xfrm>
            <a:off x="476727" y="953835"/>
            <a:ext cx="675045" cy="126008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811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71CE6-71AF-FBF3-A61F-692A7B707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B4E92A4-85DC-008F-36F0-44747E55A46F}"/>
              </a:ext>
            </a:extLst>
          </p:cNvPr>
          <p:cNvSpPr/>
          <p:nvPr/>
        </p:nvSpPr>
        <p:spPr>
          <a:xfrm>
            <a:off x="132724" y="1736927"/>
            <a:ext cx="9072300" cy="49503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ECAC3B-A839-FA20-B9BD-B9FF67B88FCE}"/>
              </a:ext>
            </a:extLst>
          </p:cNvPr>
          <p:cNvSpPr txBox="1"/>
          <p:nvPr/>
        </p:nvSpPr>
        <p:spPr>
          <a:xfrm>
            <a:off x="147955" y="-126365"/>
            <a:ext cx="94837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4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确知信号</a:t>
            </a:r>
            <a:r>
              <a:rPr lang="zh-CN" altLang="zh-CN" sz="4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Power Spectral Density</a:t>
            </a:r>
            <a:r>
              <a:rPr lang="en-US" altLang="zh-CN" sz="4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:PSD</a:t>
            </a:r>
            <a:endParaRPr lang="zh-CN" altLang="en-US" sz="44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D072B15-7C4E-5789-D413-DF28471D2752}"/>
              </a:ext>
            </a:extLst>
          </p:cNvPr>
          <p:cNvSpPr txBox="1"/>
          <p:nvPr/>
        </p:nvSpPr>
        <p:spPr>
          <a:xfrm>
            <a:off x="6147105" y="1808892"/>
            <a:ext cx="2655177" cy="304698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zh-CN" altLang="zh-CN" sz="2400" dirty="0">
                <a:latin typeface="+mj-lt"/>
              </a:rPr>
              <a:t>In communication systems, we care about signal detection and SNR, which depend on </a:t>
            </a:r>
            <a:r>
              <a:rPr lang="zh-CN" altLang="zh-CN" sz="2400" b="1" dirty="0">
                <a:solidFill>
                  <a:srgbClr val="FF0000"/>
                </a:solidFill>
                <a:latin typeface="+mj-lt"/>
              </a:rPr>
              <a:t>power </a:t>
            </a:r>
            <a:r>
              <a:rPr lang="zh-CN" altLang="zh-CN" sz="2400" dirty="0">
                <a:latin typeface="+mj-lt"/>
              </a:rPr>
              <a:t>instead of instantaneous amplitude.</a:t>
            </a:r>
            <a:endParaRPr lang="zh-CN" altLang="en-US" sz="2400" dirty="0">
              <a:latin typeface="+mj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C0A39F-CAEA-C441-907E-C034357FDD9F}"/>
              </a:ext>
            </a:extLst>
          </p:cNvPr>
          <p:cNvSpPr txBox="1"/>
          <p:nvPr/>
        </p:nvSpPr>
        <p:spPr>
          <a:xfrm>
            <a:off x="6138543" y="4927845"/>
            <a:ext cx="27987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通信核心指标就是功率</a:t>
            </a:r>
            <a:r>
              <a:rPr lang="zh-CN" altLang="zh-CN" dirty="0"/>
              <a:t>。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7511D49-362E-CD18-8B9D-0F1B2031C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547" y="1201300"/>
            <a:ext cx="4815321" cy="524055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DB03CB7-8752-5341-1B07-FC3A0B92D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958" y="5634462"/>
            <a:ext cx="900060" cy="72120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1588E57-EFEA-A744-EF8D-3A7FDF65AF69}"/>
              </a:ext>
            </a:extLst>
          </p:cNvPr>
          <p:cNvSpPr txBox="1"/>
          <p:nvPr/>
        </p:nvSpPr>
        <p:spPr>
          <a:xfrm>
            <a:off x="5999865" y="5778478"/>
            <a:ext cx="48811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: </a:t>
            </a:r>
            <a:r>
              <a:rPr lang="zh-CN" altLang="zh-CN" sz="2000" dirty="0"/>
              <a:t>angular frequency</a:t>
            </a:r>
            <a:endParaRPr lang="zh-CN" altLang="en-US" sz="20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945D2EA-E315-1F6A-0C46-9A898DB90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7081" y="5827887"/>
            <a:ext cx="270018" cy="30129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73E9493B-ACA7-AE2B-FA8B-70F6CC0FED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7752" y="6200907"/>
            <a:ext cx="1514193" cy="51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290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" y="541066"/>
            <a:ext cx="9144000" cy="51435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251712" y="5769156"/>
            <a:ext cx="9000599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i="1" dirty="0">
                <a:solidFill>
                  <a:srgbClr val="FF0000"/>
                </a:solidFill>
                <a:latin typeface="+mj-lt"/>
              </a:rPr>
              <a:t>R</a:t>
            </a:r>
            <a:r>
              <a:rPr lang="en-US" altLang="zh-CN" sz="3200" b="1" dirty="0">
                <a:solidFill>
                  <a:srgbClr val="FF0000"/>
                </a:solidFill>
                <a:latin typeface="+mj-lt"/>
              </a:rPr>
              <a:t>(</a:t>
            </a:r>
            <a:r>
              <a:rPr lang="en-US" altLang="zh-CN" sz="3200" b="1" i="1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</a:t>
            </a:r>
            <a:r>
              <a:rPr lang="en-US" altLang="zh-CN" sz="3200" b="1" dirty="0">
                <a:solidFill>
                  <a:srgbClr val="FF0000"/>
                </a:solidFill>
                <a:latin typeface="+mj-lt"/>
              </a:rPr>
              <a:t>)</a:t>
            </a:r>
            <a:r>
              <a:rPr lang="zh-CN" altLang="en-US" sz="3200" b="1" dirty="0">
                <a:solidFill>
                  <a:srgbClr val="FF0000"/>
                </a:solidFill>
              </a:rPr>
              <a:t>和功率谱密度</a:t>
            </a:r>
            <a:r>
              <a:rPr lang="en-US" altLang="zh-CN" sz="3200" b="1" i="1" dirty="0">
                <a:solidFill>
                  <a:srgbClr val="FF0000"/>
                </a:solidFill>
                <a:latin typeface="+mj-lt"/>
              </a:rPr>
              <a:t>P</a:t>
            </a:r>
            <a:r>
              <a:rPr lang="en-US" altLang="zh-CN" sz="3200" b="1" dirty="0">
                <a:solidFill>
                  <a:srgbClr val="FF0000"/>
                </a:solidFill>
                <a:latin typeface="+mj-lt"/>
              </a:rPr>
              <a:t>(</a:t>
            </a:r>
            <a:r>
              <a:rPr lang="en-US" altLang="zh-CN" sz="3200" b="1" i="1" dirty="0">
                <a:solidFill>
                  <a:srgbClr val="FF0000"/>
                </a:solidFill>
                <a:latin typeface="+mj-lt"/>
              </a:rPr>
              <a:t>f</a:t>
            </a:r>
            <a:r>
              <a:rPr lang="en-US" altLang="zh-CN" sz="3200" b="1" dirty="0">
                <a:solidFill>
                  <a:srgbClr val="FF0000"/>
                </a:solidFill>
                <a:latin typeface="+mj-lt"/>
              </a:rPr>
              <a:t>)</a:t>
            </a:r>
            <a:r>
              <a:rPr lang="zh-CN" altLang="en-US" sz="3200" b="1" dirty="0">
                <a:solidFill>
                  <a:srgbClr val="FF0000"/>
                </a:solidFill>
              </a:rPr>
              <a:t>之间是傅里叶变换关系。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42265" y="1583690"/>
            <a:ext cx="944880" cy="720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700955B5-699B-6D59-A4AC-0AB53B26DACA}"/>
              </a:ext>
            </a:extLst>
          </p:cNvPr>
          <p:cNvSpPr/>
          <p:nvPr/>
        </p:nvSpPr>
        <p:spPr>
          <a:xfrm>
            <a:off x="1736811" y="4779090"/>
            <a:ext cx="5040336" cy="810054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FD9C47-AEAD-92B5-0EA1-2BBAF4A603A3}"/>
              </a:ext>
            </a:extLst>
          </p:cNvPr>
          <p:cNvSpPr/>
          <p:nvPr/>
        </p:nvSpPr>
        <p:spPr>
          <a:xfrm>
            <a:off x="0" y="98778"/>
            <a:ext cx="9072300" cy="49503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0" y="3242945"/>
            <a:ext cx="9050020" cy="371983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" y="-171450"/>
            <a:ext cx="9144000" cy="34499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096" y="-666273"/>
            <a:ext cx="9144000" cy="375860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6" y="3023973"/>
            <a:ext cx="7695513" cy="35933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718" y="0"/>
            <a:ext cx="8235549" cy="85275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3835"/>
            <a:ext cx="9144000" cy="512284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775"/>
            <a:ext cx="9144000" cy="185278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68916"/>
            <a:ext cx="6957159" cy="200097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757" y="4277417"/>
            <a:ext cx="5670378" cy="105041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1A03646-CCA6-5F85-CC8D-43ACED28EA6D}"/>
              </a:ext>
            </a:extLst>
          </p:cNvPr>
          <p:cNvSpPr/>
          <p:nvPr/>
        </p:nvSpPr>
        <p:spPr>
          <a:xfrm>
            <a:off x="476727" y="1763889"/>
            <a:ext cx="675045" cy="45002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0" y="818826"/>
            <a:ext cx="9144000" cy="3143432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4C2031B-021C-FEDF-6F58-F3AF6D65772E}"/>
              </a:ext>
            </a:extLst>
          </p:cNvPr>
          <p:cNvSpPr/>
          <p:nvPr/>
        </p:nvSpPr>
        <p:spPr>
          <a:xfrm>
            <a:off x="431724" y="1313859"/>
            <a:ext cx="675045" cy="126008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7C6E1D-B299-8CAE-A06B-7E46366E1E82}"/>
              </a:ext>
            </a:extLst>
          </p:cNvPr>
          <p:cNvSpPr/>
          <p:nvPr/>
        </p:nvSpPr>
        <p:spPr>
          <a:xfrm>
            <a:off x="0" y="143781"/>
            <a:ext cx="2002634" cy="80327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3500" y="1101407"/>
            <a:ext cx="9170035" cy="55010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7465" y="215513"/>
            <a:ext cx="1004379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Wide-Sense Stationary Random Processes</a:t>
            </a:r>
          </a:p>
          <a:p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广义平稳随机过程</a:t>
            </a:r>
            <a:endParaRPr lang="en-US" altLang="zh-C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87081" y="5274123"/>
            <a:ext cx="2694940" cy="60833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32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维纳辛钦定理</a:t>
            </a:r>
          </a:p>
        </p:txBody>
      </p:sp>
      <p:pic>
        <p:nvPicPr>
          <p:cNvPr id="27649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860" y="2708910"/>
            <a:ext cx="3114675" cy="1338580"/>
          </a:xfrm>
          <a:prstGeom prst="rect">
            <a:avLst/>
          </a:prstGeom>
          <a:noFill/>
          <a:ln w="9525"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墨迹 7"/>
              <p14:cNvContentPartPr/>
              <p14:nvPr/>
            </p14:nvContentPartPr>
            <p14:xfrm>
              <a:off x="6687185" y="3105150"/>
              <a:ext cx="1621790" cy="7467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5"/>
            </p:blipFill>
            <p:spPr>
              <a:xfrm>
                <a:off x="6687185" y="3105150"/>
                <a:ext cx="1621790" cy="7467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kwZTBkYWE1ZDc3OWExZWJlZmQ3ZmY3ZmZmMmQ3YjEifQ==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隶书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隶书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33</TotalTime>
  <Words>1747</Words>
  <Application>Microsoft Office PowerPoint</Application>
  <PresentationFormat>全屏显示(4:3)</PresentationFormat>
  <Paragraphs>85</Paragraphs>
  <Slides>16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Arial</vt:lpstr>
      <vt:lpstr>Calibri</vt:lpstr>
      <vt:lpstr>Tahoma</vt:lpstr>
      <vt:lpstr>Times New Roman</vt:lpstr>
      <vt:lpstr>Wingdings</vt:lpstr>
      <vt:lpstr>Blends</vt:lpstr>
      <vt:lpstr>1_Blends</vt:lpstr>
      <vt:lpstr>PowerPoint 演示文稿</vt:lpstr>
      <vt:lpstr>问题的引入</vt:lpstr>
      <vt:lpstr>确知信号vs 随机过程</vt:lpstr>
      <vt:lpstr>确知信号vs 随机过程</vt:lpstr>
      <vt:lpstr>       常用公式表</vt:lpstr>
      <vt:lpstr>       常用公式表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Xidian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通信原理</dc:title>
  <dc:creator>Fan</dc:creator>
  <cp:lastModifiedBy>Z YP</cp:lastModifiedBy>
  <cp:revision>130</cp:revision>
  <dcterms:created xsi:type="dcterms:W3CDTF">2005-12-13T08:40:00Z</dcterms:created>
  <dcterms:modified xsi:type="dcterms:W3CDTF">2026-09-09T06:33:53Z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17FE85AC42C24BFAB6A33D67E05D7347_12</vt:lpwstr>
  </property>
  <property fmtid="{D5CDD505-2E9C-101B-9397-08002B2CF9AE}" pid="3" name="KSOProductBuildVer">
    <vt:lpwstr>2052-12.1.0.28043</vt:lpwstr>
  </property>
</Properties>
</file>